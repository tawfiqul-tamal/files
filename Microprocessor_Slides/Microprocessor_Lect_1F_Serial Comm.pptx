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69"/>
  </p:notesMasterIdLst>
  <p:handoutMasterIdLst>
    <p:handoutMasterId r:id="rId70"/>
  </p:handoutMasterIdLst>
  <p:sldIdLst>
    <p:sldId id="266" r:id="rId5"/>
    <p:sldId id="420" r:id="rId6"/>
    <p:sldId id="421" r:id="rId7"/>
    <p:sldId id="491" r:id="rId8"/>
    <p:sldId id="492" r:id="rId9"/>
    <p:sldId id="422" r:id="rId10"/>
    <p:sldId id="423" r:id="rId11"/>
    <p:sldId id="424" r:id="rId12"/>
    <p:sldId id="425" r:id="rId13"/>
    <p:sldId id="426" r:id="rId14"/>
    <p:sldId id="452" r:id="rId15"/>
    <p:sldId id="428" r:id="rId16"/>
    <p:sldId id="429" r:id="rId17"/>
    <p:sldId id="453" r:id="rId18"/>
    <p:sldId id="475" r:id="rId19"/>
    <p:sldId id="478" r:id="rId20"/>
    <p:sldId id="430" r:id="rId21"/>
    <p:sldId id="464" r:id="rId22"/>
    <p:sldId id="431" r:id="rId23"/>
    <p:sldId id="432" r:id="rId24"/>
    <p:sldId id="433" r:id="rId25"/>
    <p:sldId id="466" r:id="rId26"/>
    <p:sldId id="467" r:id="rId27"/>
    <p:sldId id="434" r:id="rId28"/>
    <p:sldId id="469" r:id="rId29"/>
    <p:sldId id="468" r:id="rId30"/>
    <p:sldId id="473" r:id="rId31"/>
    <p:sldId id="474" r:id="rId32"/>
    <p:sldId id="470" r:id="rId33"/>
    <p:sldId id="471" r:id="rId34"/>
    <p:sldId id="472" r:id="rId35"/>
    <p:sldId id="476" r:id="rId36"/>
    <p:sldId id="477" r:id="rId37"/>
    <p:sldId id="435" r:id="rId38"/>
    <p:sldId id="454" r:id="rId39"/>
    <p:sldId id="463" r:id="rId40"/>
    <p:sldId id="455" r:id="rId41"/>
    <p:sldId id="439" r:id="rId42"/>
    <p:sldId id="440" r:id="rId43"/>
    <p:sldId id="441" r:id="rId44"/>
    <p:sldId id="458" r:id="rId45"/>
    <p:sldId id="461" r:id="rId46"/>
    <p:sldId id="479" r:id="rId47"/>
    <p:sldId id="480" r:id="rId48"/>
    <p:sldId id="481" r:id="rId49"/>
    <p:sldId id="459" r:id="rId50"/>
    <p:sldId id="460" r:id="rId51"/>
    <p:sldId id="482" r:id="rId52"/>
    <p:sldId id="483" r:id="rId53"/>
    <p:sldId id="484" r:id="rId54"/>
    <p:sldId id="442" r:id="rId55"/>
    <p:sldId id="456" r:id="rId56"/>
    <p:sldId id="447" r:id="rId57"/>
    <p:sldId id="485" r:id="rId58"/>
    <p:sldId id="486" r:id="rId59"/>
    <p:sldId id="487" r:id="rId60"/>
    <p:sldId id="488" r:id="rId61"/>
    <p:sldId id="489" r:id="rId62"/>
    <p:sldId id="490" r:id="rId63"/>
    <p:sldId id="457" r:id="rId64"/>
    <p:sldId id="449" r:id="rId65"/>
    <p:sldId id="451" r:id="rId66"/>
    <p:sldId id="462" r:id="rId67"/>
    <p:sldId id="329" r:id="rId68"/>
  </p:sldIdLst>
  <p:sldSz cx="16459200" cy="82296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99"/>
    <a:srgbClr val="FFFFFF"/>
    <a:srgbClr val="FFA3FF"/>
    <a:srgbClr val="FC64D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93" autoAdjust="0"/>
    <p:restoredTop sz="94660"/>
  </p:normalViewPr>
  <p:slideViewPr>
    <p:cSldViewPr snapToGrid="0">
      <p:cViewPr varScale="1">
        <p:scale>
          <a:sx n="53" d="100"/>
          <a:sy n="53" d="100"/>
        </p:scale>
        <p:origin x="648" y="24"/>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74" Type="http://schemas.openxmlformats.org/officeDocument/2006/relationships/tableStyles" Target="tableStyle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9959C53-1F47-4EC3-BD04-DCF7D9853FE2}" type="datetimeFigureOut">
              <a:rPr lang="en-US" smtClean="0"/>
              <a:t>12/3/2025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5966561-935E-43F2-AA27-F6429D640CD0}" type="slidenum">
              <a:rPr lang="en-US" smtClean="0"/>
              <a:t>‹#›</a:t>
            </a:fld>
            <a:endParaRPr lang="en-US"/>
          </a:p>
        </p:txBody>
      </p:sp>
    </p:spTree>
    <p:extLst>
      <p:ext uri="{BB962C8B-B14F-4D97-AF65-F5344CB8AC3E}">
        <p14:creationId xmlns:p14="http://schemas.microsoft.com/office/powerpoint/2010/main" val="285837984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3753D4-FC42-4AF9-9F67-FF67B8A220EF}" type="datetimeFigureOut">
              <a:rPr lang="en-US" smtClean="0"/>
              <a:t>12/3/2025</a:t>
            </a:fld>
            <a:endParaRPr lang="en-US"/>
          </a:p>
        </p:txBody>
      </p:sp>
      <p:sp>
        <p:nvSpPr>
          <p:cNvPr id="4" name="Slide Image Placeholder 3"/>
          <p:cNvSpPr>
            <a:spLocks noGrp="1" noRot="1" noChangeAspect="1"/>
          </p:cNvSpPr>
          <p:nvPr>
            <p:ph type="sldImg" idx="2"/>
          </p:nvPr>
        </p:nvSpPr>
        <p:spPr>
          <a:xfrm>
            <a:off x="342900" y="1143000"/>
            <a:ext cx="61722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CD5281-AB0E-4AE5-96D1-620E2E6C6426}" type="slidenum">
              <a:rPr lang="en-US" smtClean="0"/>
              <a:t>‹#›</a:t>
            </a:fld>
            <a:endParaRPr lang="en-US"/>
          </a:p>
        </p:txBody>
      </p:sp>
    </p:spTree>
    <p:extLst>
      <p:ext uri="{BB962C8B-B14F-4D97-AF65-F5344CB8AC3E}">
        <p14:creationId xmlns:p14="http://schemas.microsoft.com/office/powerpoint/2010/main" val="3235946233"/>
      </p:ext>
    </p:extLst>
  </p:cSld>
  <p:clrMap bg1="lt1" tx1="dk1" bg2="lt2" tx2="dk2" accent1="accent1" accent2="accent2" accent3="accent3" accent4="accent4" accent5="accent5" accent6="accent6" hlink="hlink" folHlink="folHlink"/>
  <p:hf hdr="0" ftr="0" dt="0"/>
  <p:notesStyle>
    <a:lvl1pPr marL="0" algn="l" defTabSz="1185062" rtl="0" eaLnBrk="1" latinLnBrk="0" hangingPunct="1">
      <a:defRPr sz="1555" kern="1200">
        <a:solidFill>
          <a:schemeClr val="tx1"/>
        </a:solidFill>
        <a:latin typeface="+mn-lt"/>
        <a:ea typeface="+mn-ea"/>
        <a:cs typeface="+mn-cs"/>
      </a:defRPr>
    </a:lvl1pPr>
    <a:lvl2pPr marL="592531" algn="l" defTabSz="1185062" rtl="0" eaLnBrk="1" latinLnBrk="0" hangingPunct="1">
      <a:defRPr sz="1555" kern="1200">
        <a:solidFill>
          <a:schemeClr val="tx1"/>
        </a:solidFill>
        <a:latin typeface="+mn-lt"/>
        <a:ea typeface="+mn-ea"/>
        <a:cs typeface="+mn-cs"/>
      </a:defRPr>
    </a:lvl2pPr>
    <a:lvl3pPr marL="1185062" algn="l" defTabSz="1185062" rtl="0" eaLnBrk="1" latinLnBrk="0" hangingPunct="1">
      <a:defRPr sz="1555" kern="1200">
        <a:solidFill>
          <a:schemeClr val="tx1"/>
        </a:solidFill>
        <a:latin typeface="+mn-lt"/>
        <a:ea typeface="+mn-ea"/>
        <a:cs typeface="+mn-cs"/>
      </a:defRPr>
    </a:lvl3pPr>
    <a:lvl4pPr marL="1777594" algn="l" defTabSz="1185062" rtl="0" eaLnBrk="1" latinLnBrk="0" hangingPunct="1">
      <a:defRPr sz="1555" kern="1200">
        <a:solidFill>
          <a:schemeClr val="tx1"/>
        </a:solidFill>
        <a:latin typeface="+mn-lt"/>
        <a:ea typeface="+mn-ea"/>
        <a:cs typeface="+mn-cs"/>
      </a:defRPr>
    </a:lvl4pPr>
    <a:lvl5pPr marL="2370125" algn="l" defTabSz="1185062" rtl="0" eaLnBrk="1" latinLnBrk="0" hangingPunct="1">
      <a:defRPr sz="1555" kern="1200">
        <a:solidFill>
          <a:schemeClr val="tx1"/>
        </a:solidFill>
        <a:latin typeface="+mn-lt"/>
        <a:ea typeface="+mn-ea"/>
        <a:cs typeface="+mn-cs"/>
      </a:defRPr>
    </a:lvl5pPr>
    <a:lvl6pPr marL="2962656" algn="l" defTabSz="1185062" rtl="0" eaLnBrk="1" latinLnBrk="0" hangingPunct="1">
      <a:defRPr sz="1555" kern="1200">
        <a:solidFill>
          <a:schemeClr val="tx1"/>
        </a:solidFill>
        <a:latin typeface="+mn-lt"/>
        <a:ea typeface="+mn-ea"/>
        <a:cs typeface="+mn-cs"/>
      </a:defRPr>
    </a:lvl6pPr>
    <a:lvl7pPr marL="3555187" algn="l" defTabSz="1185062" rtl="0" eaLnBrk="1" latinLnBrk="0" hangingPunct="1">
      <a:defRPr sz="1555" kern="1200">
        <a:solidFill>
          <a:schemeClr val="tx1"/>
        </a:solidFill>
        <a:latin typeface="+mn-lt"/>
        <a:ea typeface="+mn-ea"/>
        <a:cs typeface="+mn-cs"/>
      </a:defRPr>
    </a:lvl7pPr>
    <a:lvl8pPr marL="4147718" algn="l" defTabSz="1185062" rtl="0" eaLnBrk="1" latinLnBrk="0" hangingPunct="1">
      <a:defRPr sz="1555" kern="1200">
        <a:solidFill>
          <a:schemeClr val="tx1"/>
        </a:solidFill>
        <a:latin typeface="+mn-lt"/>
        <a:ea typeface="+mn-ea"/>
        <a:cs typeface="+mn-cs"/>
      </a:defRPr>
    </a:lvl8pPr>
    <a:lvl9pPr marL="4740250" algn="l" defTabSz="1185062" rtl="0" eaLnBrk="1" latinLnBrk="0" hangingPunct="1">
      <a:defRPr sz="1555"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057400" y="1346836"/>
            <a:ext cx="12344400" cy="2865120"/>
          </a:xfrm>
        </p:spPr>
        <p:txBody>
          <a:bodyPr anchor="b"/>
          <a:lstStyle>
            <a:lvl1pPr algn="ctr">
              <a:defRPr sz="7200"/>
            </a:lvl1pPr>
          </a:lstStyle>
          <a:p>
            <a:r>
              <a:rPr lang="en-US"/>
              <a:t>Click to edit Master title style</a:t>
            </a:r>
            <a:endParaRPr lang="en-US" dirty="0"/>
          </a:p>
        </p:txBody>
      </p:sp>
      <p:sp>
        <p:nvSpPr>
          <p:cNvPr id="3" name="Subtitle 2"/>
          <p:cNvSpPr>
            <a:spLocks noGrp="1"/>
          </p:cNvSpPr>
          <p:nvPr>
            <p:ph type="subTitle" idx="1"/>
          </p:nvPr>
        </p:nvSpPr>
        <p:spPr>
          <a:xfrm>
            <a:off x="2057400" y="4322446"/>
            <a:ext cx="12344400" cy="1986914"/>
          </a:xfrm>
        </p:spPr>
        <p:txBody>
          <a:bodyPr/>
          <a:lstStyle>
            <a:lvl1pPr marL="0" indent="0" algn="ctr">
              <a:buNone/>
              <a:defRPr sz="2880"/>
            </a:lvl1pPr>
            <a:lvl2pPr marL="548640" indent="0" algn="ctr">
              <a:buNone/>
              <a:defRPr sz="2400"/>
            </a:lvl2pPr>
            <a:lvl3pPr marL="1097280" indent="0" algn="ctr">
              <a:buNone/>
              <a:defRPr sz="2160"/>
            </a:lvl3pPr>
            <a:lvl4pPr marL="1645920" indent="0" algn="ctr">
              <a:buNone/>
              <a:defRPr sz="1920"/>
            </a:lvl4pPr>
            <a:lvl5pPr marL="2194560" indent="0" algn="ctr">
              <a:buNone/>
              <a:defRPr sz="1920"/>
            </a:lvl5pPr>
            <a:lvl6pPr marL="2743200" indent="0" algn="ctr">
              <a:buNone/>
              <a:defRPr sz="1920"/>
            </a:lvl6pPr>
            <a:lvl7pPr marL="3291840" indent="0" algn="ctr">
              <a:buNone/>
              <a:defRPr sz="1920"/>
            </a:lvl7pPr>
            <a:lvl8pPr marL="3840480" indent="0" algn="ctr">
              <a:buNone/>
              <a:defRPr sz="1920"/>
            </a:lvl8pPr>
            <a:lvl9pPr marL="4389120" indent="0" algn="ctr">
              <a:buNone/>
              <a:defRPr sz="1920"/>
            </a:lvl9pPr>
          </a:lstStyle>
          <a:p>
            <a:r>
              <a:rPr lang="en-US"/>
              <a:t>Click to edit Master subtitle style</a:t>
            </a:r>
            <a:endParaRPr lang="en-US" dirty="0"/>
          </a:p>
        </p:txBody>
      </p:sp>
      <p:sp>
        <p:nvSpPr>
          <p:cNvPr id="4" name="Date Placeholder 3"/>
          <p:cNvSpPr>
            <a:spLocks noGrp="1"/>
          </p:cNvSpPr>
          <p:nvPr>
            <p:ph type="dt" sz="half" idx="10"/>
          </p:nvPr>
        </p:nvSpPr>
        <p:spPr>
          <a:xfrm>
            <a:off x="10521" y="7950630"/>
            <a:ext cx="3703320" cy="278969"/>
          </a:xfrm>
        </p:spPr>
        <p:txBody>
          <a:bodyPr/>
          <a:lstStyle>
            <a:lvl1pPr>
              <a:defRPr>
                <a:solidFill>
                  <a:srgbClr val="0070C0"/>
                </a:solidFill>
              </a:defRPr>
            </a:lvl1pPr>
          </a:lstStyle>
          <a:p>
            <a:fld id="{F1CA4BB4-85BE-4904-A213-0A8AEE36A0E0}" type="datetime3">
              <a:rPr lang="en-US" smtClean="0"/>
              <a:t>3 December 2025</a:t>
            </a:fld>
            <a:endParaRPr lang="en-US" dirty="0"/>
          </a:p>
        </p:txBody>
      </p:sp>
      <p:sp>
        <p:nvSpPr>
          <p:cNvPr id="5" name="Footer Placeholder 4"/>
          <p:cNvSpPr>
            <a:spLocks noGrp="1"/>
          </p:cNvSpPr>
          <p:nvPr>
            <p:ph type="ftr" sz="quarter" idx="11"/>
          </p:nvPr>
        </p:nvSpPr>
        <p:spPr>
          <a:xfrm>
            <a:off x="5452110" y="7950630"/>
            <a:ext cx="5554980" cy="267212"/>
          </a:xfrm>
        </p:spPr>
        <p:txBody>
          <a:bodyPr/>
          <a:lstStyle>
            <a:lvl1pPr>
              <a:defRPr sz="1600">
                <a:solidFill>
                  <a:srgbClr val="0070C0"/>
                </a:solidFill>
              </a:defRPr>
            </a:lvl1pPr>
          </a:lstStyle>
          <a:p>
            <a:r>
              <a:rPr lang="en-US" dirty="0"/>
              <a:t>Course Teacher: Prof. Dr. Engr. </a:t>
            </a:r>
            <a:r>
              <a:rPr lang="en-US" dirty="0" err="1"/>
              <a:t>Muhibul</a:t>
            </a:r>
            <a:r>
              <a:rPr lang="en-US" dirty="0"/>
              <a:t> </a:t>
            </a:r>
            <a:r>
              <a:rPr lang="en-US" dirty="0" err="1"/>
              <a:t>Haque</a:t>
            </a:r>
            <a:r>
              <a:rPr lang="en-US" dirty="0"/>
              <a:t> </a:t>
            </a:r>
            <a:r>
              <a:rPr lang="en-US" dirty="0" err="1"/>
              <a:t>Bhuyan</a:t>
            </a:r>
            <a:endParaRPr lang="en-US" dirty="0"/>
          </a:p>
        </p:txBody>
      </p:sp>
      <p:sp>
        <p:nvSpPr>
          <p:cNvPr id="6" name="Slide Number Placeholder 5"/>
          <p:cNvSpPr>
            <a:spLocks noGrp="1"/>
          </p:cNvSpPr>
          <p:nvPr>
            <p:ph type="sldNum" sz="quarter" idx="12"/>
          </p:nvPr>
        </p:nvSpPr>
        <p:spPr>
          <a:xfrm>
            <a:off x="14401799" y="7950630"/>
            <a:ext cx="2031381" cy="278970"/>
          </a:xfrm>
        </p:spPr>
        <p:txBody>
          <a:bodyPr/>
          <a:lstStyle>
            <a:lvl1pPr>
              <a:defRPr>
                <a:solidFill>
                  <a:srgbClr val="0070C0"/>
                </a:solidFill>
              </a:defRPr>
            </a:lvl1pPr>
          </a:lstStyle>
          <a:p>
            <a:fld id="{48F63A3B-78C7-47BE-AE5E-E10140E04643}" type="slidenum">
              <a:rPr lang="en-US" smtClean="0"/>
              <a:pPr/>
              <a:t>‹#›</a:t>
            </a:fld>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521" y="11980"/>
            <a:ext cx="2046879" cy="2012367"/>
          </a:xfrm>
          <a:prstGeom prst="rect">
            <a:avLst/>
          </a:prstGeom>
        </p:spPr>
      </p:pic>
      <p:sp>
        <p:nvSpPr>
          <p:cNvPr id="8" name="TextBox 7"/>
          <p:cNvSpPr txBox="1"/>
          <p:nvPr userDrawn="1"/>
        </p:nvSpPr>
        <p:spPr>
          <a:xfrm>
            <a:off x="2355742" y="405040"/>
            <a:ext cx="13331330" cy="941796"/>
          </a:xfrm>
          <a:prstGeom prst="rect">
            <a:avLst/>
          </a:prstGeom>
          <a:noFill/>
        </p:spPr>
        <p:txBody>
          <a:bodyPr wrap="square" rtlCol="0">
            <a:spAutoFit/>
          </a:bodyPr>
          <a:lstStyle/>
          <a:p>
            <a:pPr algn="l"/>
            <a:r>
              <a:rPr lang="en-US" sz="3600" b="1" dirty="0">
                <a:solidFill>
                  <a:schemeClr val="accent1">
                    <a:lumMod val="75000"/>
                  </a:schemeClr>
                </a:solidFill>
              </a:rPr>
              <a:t>AMERICAN INTERNATIONAL UNIVERSITY-BANGLADESH (AIUB)</a:t>
            </a:r>
          </a:p>
          <a:p>
            <a:pPr algn="l"/>
            <a:r>
              <a:rPr lang="en-US" sz="1920" dirty="0">
                <a:solidFill>
                  <a:srgbClr val="0070C0"/>
                </a:solidFill>
              </a:rPr>
              <a:t>Where leaders are created</a:t>
            </a:r>
          </a:p>
        </p:txBody>
      </p:sp>
      <p:sp>
        <p:nvSpPr>
          <p:cNvPr id="9" name="TextBox 8"/>
          <p:cNvSpPr txBox="1"/>
          <p:nvPr userDrawn="1"/>
        </p:nvSpPr>
        <p:spPr>
          <a:xfrm>
            <a:off x="11301557" y="7813972"/>
            <a:ext cx="2905681" cy="400110"/>
          </a:xfrm>
          <a:prstGeom prst="rect">
            <a:avLst/>
          </a:prstGeom>
          <a:noFill/>
        </p:spPr>
        <p:txBody>
          <a:bodyPr wrap="square" rtlCol="0">
            <a:spAutoFit/>
          </a:bodyPr>
          <a:lstStyle/>
          <a:p>
            <a:pPr algn="r"/>
            <a:r>
              <a:rPr lang="en-US" sz="2000" b="1" dirty="0">
                <a:solidFill>
                  <a:schemeClr val="accent1">
                    <a:lumMod val="75000"/>
                  </a:schemeClr>
                </a:solidFill>
              </a:rPr>
              <a:t>Department of EEE</a:t>
            </a:r>
          </a:p>
        </p:txBody>
      </p:sp>
    </p:spTree>
    <p:extLst>
      <p:ext uri="{BB962C8B-B14F-4D97-AF65-F5344CB8AC3E}">
        <p14:creationId xmlns:p14="http://schemas.microsoft.com/office/powerpoint/2010/main" val="40497159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6274" y="7919634"/>
            <a:ext cx="2788920" cy="309966"/>
          </a:xfrm>
        </p:spPr>
        <p:txBody>
          <a:bodyPr/>
          <a:lstStyle>
            <a:lvl1pPr>
              <a:defRPr sz="1400">
                <a:solidFill>
                  <a:srgbClr val="0070C0"/>
                </a:solidFill>
              </a:defRPr>
            </a:lvl1pPr>
          </a:lstStyle>
          <a:p>
            <a:fld id="{149D4EF9-913A-4BD1-82F8-5C66921348E7}" type="datetime3">
              <a:rPr lang="en-US" smtClean="0"/>
              <a:t>3 December 2025</a:t>
            </a:fld>
            <a:endParaRPr lang="en-US"/>
          </a:p>
        </p:txBody>
      </p:sp>
      <p:sp>
        <p:nvSpPr>
          <p:cNvPr id="5" name="Footer Placeholder 4"/>
          <p:cNvSpPr>
            <a:spLocks noGrp="1"/>
          </p:cNvSpPr>
          <p:nvPr>
            <p:ph type="ftr" sz="quarter" idx="11"/>
          </p:nvPr>
        </p:nvSpPr>
        <p:spPr>
          <a:xfrm>
            <a:off x="5452110" y="7919634"/>
            <a:ext cx="6636568" cy="325464"/>
          </a:xfrm>
        </p:spPr>
        <p:txBody>
          <a:bodyPr/>
          <a:lstStyle>
            <a:lvl1pPr>
              <a:defRPr sz="1600">
                <a:solidFill>
                  <a:srgbClr val="0070C0"/>
                </a:solidFill>
              </a:defRPr>
            </a:lvl1pPr>
          </a:lstStyle>
          <a:p>
            <a:r>
              <a:rPr lang="en-US"/>
              <a:t>Course Teacher: Prof. Dr. Engr. Muhibul Haque Bhuyan</a:t>
            </a:r>
            <a:endParaRPr lang="en-US" dirty="0"/>
          </a:p>
        </p:txBody>
      </p:sp>
      <p:sp>
        <p:nvSpPr>
          <p:cNvPr id="6" name="Slide Number Placeholder 5"/>
          <p:cNvSpPr>
            <a:spLocks noGrp="1"/>
          </p:cNvSpPr>
          <p:nvPr>
            <p:ph type="sldNum" sz="quarter" idx="12"/>
          </p:nvPr>
        </p:nvSpPr>
        <p:spPr>
          <a:xfrm>
            <a:off x="15141845" y="7919634"/>
            <a:ext cx="1317356" cy="290270"/>
          </a:xfrm>
        </p:spPr>
        <p:txBody>
          <a:bodyPr/>
          <a:lstStyle>
            <a:lvl1pPr>
              <a:defRPr>
                <a:solidFill>
                  <a:srgbClr val="0070C0"/>
                </a:solidFill>
              </a:defRPr>
            </a:lvl1pPr>
          </a:lstStyle>
          <a:p>
            <a:fld id="{48F63A3B-78C7-47BE-AE5E-E10140E04643}" type="slidenum">
              <a:rPr lang="en-US" smtClean="0"/>
              <a:pPr/>
              <a:t>‹#›</a:t>
            </a:fld>
            <a:endParaRPr lang="en-US" dirty="0"/>
          </a:p>
        </p:txBody>
      </p:sp>
      <p:pic>
        <p:nvPicPr>
          <p:cNvPr id="7" name="Picture 6"/>
          <p:cNvPicPr>
            <a:picLocks noChangeAspect="1"/>
          </p:cNvPicPr>
          <p:nvPr userDrawn="1"/>
        </p:nvPicPr>
        <p:blipFill>
          <a:blip r:embed="rId2"/>
          <a:stretch>
            <a:fillRect/>
          </a:stretch>
        </p:blipFill>
        <p:spPr>
          <a:xfrm>
            <a:off x="0" y="18938"/>
            <a:ext cx="1689315" cy="645504"/>
          </a:xfrm>
          <a:prstGeom prst="rect">
            <a:avLst/>
          </a:prstGeom>
        </p:spPr>
      </p:pic>
      <p:sp>
        <p:nvSpPr>
          <p:cNvPr id="8" name="Rectangle 7"/>
          <p:cNvSpPr/>
          <p:nvPr userDrawn="1"/>
        </p:nvSpPr>
        <p:spPr>
          <a:xfrm>
            <a:off x="11794210" y="-16858"/>
            <a:ext cx="4682591" cy="46386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en-US" sz="2000" b="1" dirty="0">
                <a:solidFill>
                  <a:srgbClr val="FFFF00"/>
                </a:solidFill>
              </a:rPr>
              <a:t>Microprocessor and Embedded Systems</a:t>
            </a:r>
          </a:p>
        </p:txBody>
      </p:sp>
      <p:sp>
        <p:nvSpPr>
          <p:cNvPr id="9" name="TextBox 8"/>
          <p:cNvSpPr txBox="1"/>
          <p:nvPr userDrawn="1"/>
        </p:nvSpPr>
        <p:spPr>
          <a:xfrm>
            <a:off x="12241563" y="7635430"/>
            <a:ext cx="607859" cy="523220"/>
          </a:xfrm>
          <a:prstGeom prst="rect">
            <a:avLst/>
          </a:prstGeom>
          <a:noFill/>
        </p:spPr>
        <p:txBody>
          <a:bodyPr wrap="none" rtlCol="0">
            <a:spAutoFit/>
          </a:bodyPr>
          <a:lstStyle/>
          <a:p>
            <a:fld id="{4B2552B2-E763-405A-8E5A-B8DDC8F7B503}" type="slidenum">
              <a:rPr lang="en-US" sz="2800" smtClean="0">
                <a:solidFill>
                  <a:schemeClr val="bg1"/>
                </a:solidFill>
              </a:rPr>
              <a:t>‹#›</a:t>
            </a:fld>
            <a:endParaRPr lang="en-US" sz="2800" dirty="0">
              <a:solidFill>
                <a:schemeClr val="bg1"/>
              </a:solidFill>
            </a:endParaRPr>
          </a:p>
        </p:txBody>
      </p:sp>
      <p:sp>
        <p:nvSpPr>
          <p:cNvPr id="10" name="Rectangle 9"/>
          <p:cNvSpPr/>
          <p:nvPr userDrawn="1"/>
        </p:nvSpPr>
        <p:spPr>
          <a:xfrm>
            <a:off x="13931" y="622845"/>
            <a:ext cx="1529265" cy="169277"/>
          </a:xfrm>
          <a:prstGeom prst="rect">
            <a:avLst/>
          </a:prstGeom>
        </p:spPr>
        <p:txBody>
          <a:bodyPr wrap="none" lIns="0" tIns="0" rIns="0" bIns="0">
            <a:spAutoFit/>
          </a:bodyPr>
          <a:lstStyle/>
          <a:p>
            <a:pPr algn="l"/>
            <a:r>
              <a:rPr lang="en-US" sz="1100" dirty="0">
                <a:solidFill>
                  <a:srgbClr val="0070C0"/>
                </a:solidFill>
              </a:rPr>
              <a:t>Where leaders are created</a:t>
            </a:r>
          </a:p>
        </p:txBody>
      </p:sp>
    </p:spTree>
    <p:extLst>
      <p:ext uri="{BB962C8B-B14F-4D97-AF65-F5344CB8AC3E}">
        <p14:creationId xmlns:p14="http://schemas.microsoft.com/office/powerpoint/2010/main" val="43230489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31570" y="438150"/>
            <a:ext cx="14196060" cy="159067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31570" y="2190750"/>
            <a:ext cx="14196060" cy="522160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31570" y="7627621"/>
            <a:ext cx="3703320" cy="438150"/>
          </a:xfrm>
          <a:prstGeom prst="rect">
            <a:avLst/>
          </a:prstGeom>
        </p:spPr>
        <p:txBody>
          <a:bodyPr vert="horz" lIns="91440" tIns="45720" rIns="91440" bIns="45720" rtlCol="0" anchor="ctr"/>
          <a:lstStyle>
            <a:lvl1pPr algn="l">
              <a:defRPr sz="1440">
                <a:solidFill>
                  <a:schemeClr val="tx1">
                    <a:tint val="75000"/>
                  </a:schemeClr>
                </a:solidFill>
              </a:defRPr>
            </a:lvl1pPr>
          </a:lstStyle>
          <a:p>
            <a:fld id="{05C7171A-9ACA-41EF-B583-62063757CF2C}" type="datetime3">
              <a:rPr lang="en-US" smtClean="0"/>
              <a:t>3 December 2025</a:t>
            </a:fld>
            <a:endParaRPr lang="en-US"/>
          </a:p>
        </p:txBody>
      </p:sp>
      <p:sp>
        <p:nvSpPr>
          <p:cNvPr id="5" name="Footer Placeholder 4"/>
          <p:cNvSpPr>
            <a:spLocks noGrp="1"/>
          </p:cNvSpPr>
          <p:nvPr>
            <p:ph type="ftr" sz="quarter" idx="3"/>
          </p:nvPr>
        </p:nvSpPr>
        <p:spPr>
          <a:xfrm>
            <a:off x="5452110" y="7627621"/>
            <a:ext cx="5554980" cy="438150"/>
          </a:xfrm>
          <a:prstGeom prst="rect">
            <a:avLst/>
          </a:prstGeom>
        </p:spPr>
        <p:txBody>
          <a:bodyPr vert="horz" lIns="91440" tIns="45720" rIns="91440" bIns="45720" rtlCol="0" anchor="ctr"/>
          <a:lstStyle>
            <a:lvl1pPr algn="ctr">
              <a:defRPr sz="1440">
                <a:solidFill>
                  <a:schemeClr val="tx1">
                    <a:tint val="75000"/>
                  </a:schemeClr>
                </a:solidFill>
              </a:defRPr>
            </a:lvl1pPr>
          </a:lstStyle>
          <a:p>
            <a:r>
              <a:rPr lang="en-US"/>
              <a:t>Course Teacher: Prof. Dr. Engr. Muhibul Haque Bhuyan</a:t>
            </a:r>
          </a:p>
        </p:txBody>
      </p:sp>
      <p:sp>
        <p:nvSpPr>
          <p:cNvPr id="6" name="Slide Number Placeholder 5"/>
          <p:cNvSpPr>
            <a:spLocks noGrp="1"/>
          </p:cNvSpPr>
          <p:nvPr>
            <p:ph type="sldNum" sz="quarter" idx="4"/>
          </p:nvPr>
        </p:nvSpPr>
        <p:spPr>
          <a:xfrm>
            <a:off x="11624310" y="7627621"/>
            <a:ext cx="3703320" cy="438150"/>
          </a:xfrm>
          <a:prstGeom prst="rect">
            <a:avLst/>
          </a:prstGeom>
        </p:spPr>
        <p:txBody>
          <a:bodyPr vert="horz" lIns="91440" tIns="45720" rIns="91440" bIns="45720" rtlCol="0" anchor="ctr"/>
          <a:lstStyle>
            <a:lvl1pPr algn="r">
              <a:defRPr sz="1440">
                <a:solidFill>
                  <a:schemeClr val="tx1">
                    <a:tint val="75000"/>
                  </a:schemeClr>
                </a:solidFill>
              </a:defRPr>
            </a:lvl1pPr>
          </a:lstStyle>
          <a:p>
            <a:fld id="{C9C7C91F-6875-4C79-9E49-C73FDE57945E}" type="slidenum">
              <a:rPr lang="en-US" smtClean="0"/>
              <a:t>‹#›</a:t>
            </a:fld>
            <a:endParaRPr lang="en-US"/>
          </a:p>
        </p:txBody>
      </p:sp>
    </p:spTree>
    <p:extLst>
      <p:ext uri="{BB962C8B-B14F-4D97-AF65-F5344CB8AC3E}">
        <p14:creationId xmlns:p14="http://schemas.microsoft.com/office/powerpoint/2010/main" val="2637165226"/>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p:txStyles>
    <p:title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p:titleStyle>
    <p:body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p:bodyStyle>
    <p:otherStyle>
      <a:defPPr>
        <a:defRPr lang="en-US"/>
      </a:defPPr>
      <a:lvl1pPr marL="0" algn="l" defTabSz="1097280" rtl="0" eaLnBrk="1" latinLnBrk="0" hangingPunct="1">
        <a:defRPr sz="2160" kern="1200">
          <a:solidFill>
            <a:schemeClr val="tx1"/>
          </a:solidFill>
          <a:latin typeface="+mn-lt"/>
          <a:ea typeface="+mn-ea"/>
          <a:cs typeface="+mn-cs"/>
        </a:defRPr>
      </a:lvl1pPr>
      <a:lvl2pPr marL="548640" algn="l" defTabSz="1097280" rtl="0" eaLnBrk="1" latinLnBrk="0" hangingPunct="1">
        <a:defRPr sz="2160" kern="1200">
          <a:solidFill>
            <a:schemeClr val="tx1"/>
          </a:solidFill>
          <a:latin typeface="+mn-lt"/>
          <a:ea typeface="+mn-ea"/>
          <a:cs typeface="+mn-cs"/>
        </a:defRPr>
      </a:lvl2pPr>
      <a:lvl3pPr marL="1097280" algn="l" defTabSz="1097280" rtl="0" eaLnBrk="1" latinLnBrk="0" hangingPunct="1">
        <a:defRPr sz="2160" kern="1200">
          <a:solidFill>
            <a:schemeClr val="tx1"/>
          </a:solidFill>
          <a:latin typeface="+mn-lt"/>
          <a:ea typeface="+mn-ea"/>
          <a:cs typeface="+mn-cs"/>
        </a:defRPr>
      </a:lvl3pPr>
      <a:lvl4pPr marL="1645920" algn="l" defTabSz="1097280" rtl="0" eaLnBrk="1" latinLnBrk="0" hangingPunct="1">
        <a:defRPr sz="2160" kern="1200">
          <a:solidFill>
            <a:schemeClr val="tx1"/>
          </a:solidFill>
          <a:latin typeface="+mn-lt"/>
          <a:ea typeface="+mn-ea"/>
          <a:cs typeface="+mn-cs"/>
        </a:defRPr>
      </a:lvl4pPr>
      <a:lvl5pPr marL="2194560" algn="l" defTabSz="1097280" rtl="0" eaLnBrk="1" latinLnBrk="0" hangingPunct="1">
        <a:defRPr sz="2160" kern="1200">
          <a:solidFill>
            <a:schemeClr val="tx1"/>
          </a:solidFill>
          <a:latin typeface="+mn-lt"/>
          <a:ea typeface="+mn-ea"/>
          <a:cs typeface="+mn-cs"/>
        </a:defRPr>
      </a:lvl5pPr>
      <a:lvl6pPr marL="2743200" algn="l" defTabSz="1097280" rtl="0" eaLnBrk="1" latinLnBrk="0" hangingPunct="1">
        <a:defRPr sz="2160" kern="1200">
          <a:solidFill>
            <a:schemeClr val="tx1"/>
          </a:solidFill>
          <a:latin typeface="+mn-lt"/>
          <a:ea typeface="+mn-ea"/>
          <a:cs typeface="+mn-cs"/>
        </a:defRPr>
      </a:lvl6pPr>
      <a:lvl7pPr marL="3291840" algn="l" defTabSz="1097280" rtl="0" eaLnBrk="1" latinLnBrk="0" hangingPunct="1">
        <a:defRPr sz="2160" kern="1200">
          <a:solidFill>
            <a:schemeClr val="tx1"/>
          </a:solidFill>
          <a:latin typeface="+mn-lt"/>
          <a:ea typeface="+mn-ea"/>
          <a:cs typeface="+mn-cs"/>
        </a:defRPr>
      </a:lvl7pPr>
      <a:lvl8pPr marL="3840480" algn="l" defTabSz="1097280" rtl="0" eaLnBrk="1" latinLnBrk="0" hangingPunct="1">
        <a:defRPr sz="2160" kern="1200">
          <a:solidFill>
            <a:schemeClr val="tx1"/>
          </a:solidFill>
          <a:latin typeface="+mn-lt"/>
          <a:ea typeface="+mn-ea"/>
          <a:cs typeface="+mn-cs"/>
        </a:defRPr>
      </a:lvl8pPr>
      <a:lvl9pPr marL="4389120" algn="l" defTabSz="109728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jpeg"/><Relationship Id="rId1" Type="http://schemas.openxmlformats.org/officeDocument/2006/relationships/slideLayout" Target="../slideLayouts/slideLayout2.xml"/><Relationship Id="rId4" Type="http://schemas.microsoft.com/office/2007/relationships/hdphoto" Target="../media/hdphoto4.wdp"/></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7.png"/><Relationship Id="rId1" Type="http://schemas.openxmlformats.org/officeDocument/2006/relationships/slideLayout" Target="../slideLayouts/slideLayout2.xml"/><Relationship Id="rId4" Type="http://schemas.microsoft.com/office/2007/relationships/hdphoto" Target="../media/hdphoto2.wdp"/></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50.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4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hyperlink" Target="https://www.totalphase.com/support/articles/200349176-7-bit-8-bit-and-10-bit-I2C-Slave-Addressing#references"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hyperlink" Target="https://playground.arduino.cc/Main/I2cScanner/"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3.gif"/><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4.w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3F83542-990E-4AD7-9205-9BAC0D2B3160}"/>
              </a:ext>
            </a:extLst>
          </p:cNvPr>
          <p:cNvSpPr>
            <a:spLocks noGrp="1"/>
          </p:cNvSpPr>
          <p:nvPr>
            <p:ph type="ctrTitle"/>
          </p:nvPr>
        </p:nvSpPr>
        <p:spPr>
          <a:xfrm>
            <a:off x="1762298" y="2111433"/>
            <a:ext cx="13283738" cy="3138631"/>
          </a:xfrm>
        </p:spPr>
        <p:txBody>
          <a:bodyPr>
            <a:noAutofit/>
          </a:bodyPr>
          <a:lstStyle/>
          <a:p>
            <a:r>
              <a:rPr lang="en-US" b="1" dirty="0">
                <a:solidFill>
                  <a:srgbClr val="0070C0"/>
                </a:solidFill>
              </a:rPr>
              <a:t>Lecture # 1 (Final)</a:t>
            </a:r>
            <a:br>
              <a:rPr lang="en-US" b="1" dirty="0">
                <a:solidFill>
                  <a:srgbClr val="0070C0"/>
                </a:solidFill>
              </a:rPr>
            </a:br>
            <a:r>
              <a:rPr lang="en-US" b="1" dirty="0">
                <a:solidFill>
                  <a:srgbClr val="0070C0"/>
                </a:solidFill>
              </a:rPr>
              <a:t>Serial Communications Interfaces</a:t>
            </a:r>
            <a:endParaRPr lang="en-US" sz="6000" b="1" dirty="0">
              <a:solidFill>
                <a:srgbClr val="0070C0"/>
              </a:solidFill>
            </a:endParaRPr>
          </a:p>
        </p:txBody>
      </p:sp>
      <p:sp>
        <p:nvSpPr>
          <p:cNvPr id="3" name="Footer Placeholder 5"/>
          <p:cNvSpPr>
            <a:spLocks noGrp="1"/>
          </p:cNvSpPr>
          <p:nvPr>
            <p:ph type="ftr" sz="quarter" idx="11"/>
          </p:nvPr>
        </p:nvSpPr>
        <p:spPr>
          <a:xfrm>
            <a:off x="5685905" y="5808199"/>
            <a:ext cx="10507287" cy="1407247"/>
          </a:xfrm>
        </p:spPr>
        <p:txBody>
          <a:bodyPr/>
          <a:lstStyle/>
          <a:p>
            <a:pPr algn="r"/>
            <a:r>
              <a:rPr lang="en-US" sz="2800" dirty="0">
                <a:solidFill>
                  <a:srgbClr val="00B050"/>
                </a:solidFill>
              </a:rPr>
              <a:t>Course Teacher: Debraj Das, EEE Department, AIUB</a:t>
            </a:r>
          </a:p>
        </p:txBody>
      </p:sp>
    </p:spTree>
    <p:extLst>
      <p:ext uri="{BB962C8B-B14F-4D97-AF65-F5344CB8AC3E}">
        <p14:creationId xmlns:p14="http://schemas.microsoft.com/office/powerpoint/2010/main" val="22019699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DD8548-1F8F-4001-A6C7-CC5AB257F2BF}"/>
              </a:ext>
            </a:extLst>
          </p:cNvPr>
          <p:cNvSpPr>
            <a:spLocks noGrp="1"/>
          </p:cNvSpPr>
          <p:nvPr>
            <p:ph type="title"/>
          </p:nvPr>
        </p:nvSpPr>
        <p:spPr>
          <a:xfrm>
            <a:off x="1883559" y="189766"/>
            <a:ext cx="7360193" cy="723902"/>
          </a:xfrm>
        </p:spPr>
        <p:txBody>
          <a:bodyPr>
            <a:noAutofit/>
          </a:bodyPr>
          <a:lstStyle/>
          <a:p>
            <a:r>
              <a:rPr lang="en-US" sz="6000" b="1" dirty="0">
                <a:solidFill>
                  <a:srgbClr val="0070C0"/>
                </a:solidFill>
              </a:rPr>
              <a:t>Data Transmission</a:t>
            </a:r>
          </a:p>
        </p:txBody>
      </p:sp>
      <p:sp>
        <p:nvSpPr>
          <p:cNvPr id="3" name="Content Placeholder 2">
            <a:extLst>
              <a:ext uri="{FF2B5EF4-FFF2-40B4-BE49-F238E27FC236}">
                <a16:creationId xmlns:a16="http://schemas.microsoft.com/office/drawing/2014/main" id="{18D99DBB-13E4-48D0-8981-FAADD61D266B}"/>
              </a:ext>
            </a:extLst>
          </p:cNvPr>
          <p:cNvSpPr>
            <a:spLocks noGrp="1"/>
          </p:cNvSpPr>
          <p:nvPr>
            <p:ph idx="1"/>
          </p:nvPr>
        </p:nvSpPr>
        <p:spPr>
          <a:xfrm>
            <a:off x="221015" y="913668"/>
            <a:ext cx="8607101" cy="5417613"/>
          </a:xfrm>
        </p:spPr>
        <p:txBody>
          <a:bodyPr>
            <a:noAutofit/>
          </a:bodyPr>
          <a:lstStyle/>
          <a:p>
            <a:r>
              <a:rPr lang="en-US" sz="4000" dirty="0"/>
              <a:t>Data transmission can be performed two ways. </a:t>
            </a:r>
          </a:p>
          <a:p>
            <a:pPr marL="487295" indent="-487295">
              <a:buAutoNum type="arabicPeriod"/>
            </a:pPr>
            <a:r>
              <a:rPr lang="en-US" sz="4000" b="1" dirty="0"/>
              <a:t>Parallel Communications</a:t>
            </a:r>
            <a:r>
              <a:rPr lang="en-US" sz="4000" dirty="0"/>
              <a:t>, where </a:t>
            </a:r>
            <a:r>
              <a:rPr lang="en-US" sz="4000" dirty="0">
                <a:solidFill>
                  <a:srgbClr val="FF0000"/>
                </a:solidFill>
              </a:rPr>
              <a:t>several bits </a:t>
            </a:r>
            <a:r>
              <a:rPr lang="en-US" sz="4000" dirty="0"/>
              <a:t>of data are transmitted/ received, on a link with </a:t>
            </a:r>
            <a:r>
              <a:rPr lang="en-US" sz="4000" dirty="0">
                <a:solidFill>
                  <a:srgbClr val="FF0000"/>
                </a:solidFill>
              </a:rPr>
              <a:t>several parallel channels</a:t>
            </a:r>
            <a:r>
              <a:rPr lang="en-US" sz="4000" dirty="0"/>
              <a:t>.</a:t>
            </a:r>
          </a:p>
          <a:p>
            <a:pPr marL="487295" indent="-487295">
              <a:buAutoNum type="arabicPeriod"/>
            </a:pPr>
            <a:r>
              <a:rPr lang="en-US" sz="4000" b="1" dirty="0"/>
              <a:t>Serial Communications</a:t>
            </a:r>
            <a:r>
              <a:rPr lang="en-US" sz="4000" dirty="0"/>
              <a:t>, where data is transmitted/ received </a:t>
            </a:r>
            <a:r>
              <a:rPr lang="en-US" sz="4000" dirty="0">
                <a:solidFill>
                  <a:srgbClr val="FF0000"/>
                </a:solidFill>
              </a:rPr>
              <a:t>bit by bit </a:t>
            </a:r>
            <a:r>
              <a:rPr lang="en-US" sz="4000" dirty="0"/>
              <a:t>through</a:t>
            </a:r>
            <a:r>
              <a:rPr lang="en-US" sz="4000" dirty="0">
                <a:solidFill>
                  <a:srgbClr val="FF0000"/>
                </a:solidFill>
              </a:rPr>
              <a:t> a single </a:t>
            </a:r>
            <a:r>
              <a:rPr lang="en-US" sz="4000" dirty="0"/>
              <a:t>channel.</a:t>
            </a:r>
          </a:p>
          <a:p>
            <a:pPr marL="0" indent="0">
              <a:buNone/>
            </a:pPr>
            <a:endParaRPr lang="en-US" sz="4000" dirty="0"/>
          </a:p>
        </p:txBody>
      </p:sp>
      <p:sp>
        <p:nvSpPr>
          <p:cNvPr id="4" name="Date Placeholder 3"/>
          <p:cNvSpPr>
            <a:spLocks noGrp="1"/>
          </p:cNvSpPr>
          <p:nvPr>
            <p:ph type="dt" sz="half" idx="10"/>
          </p:nvPr>
        </p:nvSpPr>
        <p:spPr/>
        <p:txBody>
          <a:bodyPr/>
          <a:lstStyle/>
          <a:p>
            <a:fld id="{9E208AB7-3358-4413-BE6C-0FE7E5C433C1}" type="datetime3">
              <a:rPr lang="en-US" smtClean="0"/>
              <a:t>3 December 2025</a:t>
            </a:fld>
            <a:endParaRPr lang="en-US"/>
          </a:p>
        </p:txBody>
      </p:sp>
      <p:sp>
        <p:nvSpPr>
          <p:cNvPr id="7" name="Slide Number Placeholder 6"/>
          <p:cNvSpPr>
            <a:spLocks noGrp="1"/>
          </p:cNvSpPr>
          <p:nvPr>
            <p:ph type="sldNum" sz="quarter" idx="12"/>
          </p:nvPr>
        </p:nvSpPr>
        <p:spPr/>
        <p:txBody>
          <a:bodyPr/>
          <a:lstStyle/>
          <a:p>
            <a:fld id="{90416D69-EFB9-4734-9DF5-4234A5F1A98A}" type="slidenum">
              <a:rPr lang="en-US" smtClean="0"/>
              <a:t>2</a:t>
            </a:fld>
            <a:endParaRPr lang="en-US"/>
          </a:p>
        </p:txBody>
      </p:sp>
      <p:pic>
        <p:nvPicPr>
          <p:cNvPr id="5" name="Picture 4" descr="A screenshot of a cell phone&#10;&#10;Description automatically generated">
            <a:extLst>
              <a:ext uri="{FF2B5EF4-FFF2-40B4-BE49-F238E27FC236}">
                <a16:creationId xmlns:a16="http://schemas.microsoft.com/office/drawing/2014/main" id="{4B555096-479C-4F25-9ED7-082EB0B82D5A}"/>
              </a:ext>
            </a:extLst>
          </p:cNvPr>
          <p:cNvPicPr>
            <a:picLocks noChangeAspect="1"/>
          </p:cNvPicPr>
          <p:nvPr/>
        </p:nvPicPr>
        <p:blipFill rotWithShape="1">
          <a:blip r:embed="rId2">
            <a:extLst>
              <a:ext uri="{28A0092B-C50C-407E-A947-70E740481C1C}">
                <a14:useLocalDpi xmlns:a14="http://schemas.microsoft.com/office/drawing/2010/main" val="0"/>
              </a:ext>
            </a:extLst>
          </a:blip>
          <a:srcRect l="5637" t="1802" r="4821" b="4557"/>
          <a:stretch/>
        </p:blipFill>
        <p:spPr>
          <a:xfrm>
            <a:off x="8927871" y="537383"/>
            <a:ext cx="7321321" cy="7429666"/>
          </a:xfrm>
          <a:prstGeom prst="rect">
            <a:avLst/>
          </a:prstGeom>
          <a:effectLst/>
        </p:spPr>
      </p:pic>
    </p:spTree>
    <p:extLst>
      <p:ext uri="{BB962C8B-B14F-4D97-AF65-F5344CB8AC3E}">
        <p14:creationId xmlns:p14="http://schemas.microsoft.com/office/powerpoint/2010/main" val="385869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3FE3B-4BB1-4A49-BCB8-97C1028FC5FF}"/>
              </a:ext>
            </a:extLst>
          </p:cNvPr>
          <p:cNvSpPr>
            <a:spLocks noGrp="1"/>
          </p:cNvSpPr>
          <p:nvPr>
            <p:ph type="title"/>
          </p:nvPr>
        </p:nvSpPr>
        <p:spPr>
          <a:xfrm>
            <a:off x="1989364" y="263081"/>
            <a:ext cx="9282693" cy="753774"/>
          </a:xfrm>
        </p:spPr>
        <p:txBody>
          <a:bodyPr>
            <a:noAutofit/>
          </a:bodyPr>
          <a:lstStyle/>
          <a:p>
            <a:r>
              <a:rPr lang="en-US" sz="6000" b="1" dirty="0">
                <a:solidFill>
                  <a:srgbClr val="0070C0"/>
                </a:solidFill>
              </a:rPr>
              <a:t>Serial Data Communication</a:t>
            </a:r>
          </a:p>
        </p:txBody>
      </p:sp>
      <p:sp>
        <p:nvSpPr>
          <p:cNvPr id="3" name="Content Placeholder 2">
            <a:extLst>
              <a:ext uri="{FF2B5EF4-FFF2-40B4-BE49-F238E27FC236}">
                <a16:creationId xmlns:a16="http://schemas.microsoft.com/office/drawing/2014/main" id="{39969453-331D-4AEC-B2DC-317864E17704}"/>
              </a:ext>
            </a:extLst>
          </p:cNvPr>
          <p:cNvSpPr>
            <a:spLocks noGrp="1"/>
          </p:cNvSpPr>
          <p:nvPr>
            <p:ph idx="1"/>
          </p:nvPr>
        </p:nvSpPr>
        <p:spPr>
          <a:xfrm>
            <a:off x="276943" y="1238277"/>
            <a:ext cx="15916250" cy="6243178"/>
          </a:xfrm>
        </p:spPr>
        <p:txBody>
          <a:bodyPr anchor="t">
            <a:noAutofit/>
          </a:bodyPr>
          <a:lstStyle/>
          <a:p>
            <a:pPr>
              <a:buFont typeface="Wingdings" panose="05000000000000000000" pitchFamily="2" charset="2"/>
              <a:buChar char="q"/>
            </a:pPr>
            <a:r>
              <a:rPr lang="en-US" sz="3600" b="1" dirty="0">
                <a:solidFill>
                  <a:srgbClr val="00B050"/>
                </a:solidFill>
              </a:rPr>
              <a:t> Advantage of serial communication:</a:t>
            </a:r>
            <a:endParaRPr lang="en-US" sz="3600" b="1" i="1" dirty="0">
              <a:solidFill>
                <a:srgbClr val="00B050"/>
              </a:solidFill>
            </a:endParaRPr>
          </a:p>
          <a:p>
            <a:pPr lvl="1"/>
            <a:r>
              <a:rPr lang="en-US" sz="3200" b="1" i="1" dirty="0"/>
              <a:t>Smaller number of communication lines </a:t>
            </a:r>
            <a:r>
              <a:rPr lang="en-US" sz="3200" dirty="0"/>
              <a:t>is required compared to parallel communication.</a:t>
            </a:r>
          </a:p>
          <a:p>
            <a:pPr lvl="1">
              <a:buFont typeface="Wingdings" panose="05000000000000000000" pitchFamily="2" charset="2"/>
              <a:buChar char="§"/>
            </a:pPr>
            <a:r>
              <a:rPr lang="en-US" sz="3200" dirty="0"/>
              <a:t>2 lines (transmit &amp; receive) are required in asynchronous full duplex serial comm.</a:t>
            </a:r>
          </a:p>
          <a:p>
            <a:pPr lvl="1">
              <a:buFont typeface="Wingdings" panose="05000000000000000000" pitchFamily="2" charset="2"/>
              <a:buChar char="§"/>
            </a:pPr>
            <a:r>
              <a:rPr lang="en-US" sz="3200" dirty="0"/>
              <a:t>3 lines (transmit, receive &amp; clock) are required in synchronous serial communication.</a:t>
            </a:r>
          </a:p>
          <a:p>
            <a:pPr lvl="1"/>
            <a:r>
              <a:rPr lang="en-US" sz="3200" b="1" i="1" dirty="0"/>
              <a:t>Less interference &amp; higher reliability: </a:t>
            </a:r>
            <a:r>
              <a:rPr lang="en-US" sz="3200" dirty="0"/>
              <a:t>Serial communication uses fewer wires, so there is almost no issue with noise, crosstalk, or signal skew between lines—making it more stable for long-distance data transfer.</a:t>
            </a:r>
          </a:p>
          <a:p>
            <a:pPr lvl="1"/>
            <a:r>
              <a:rPr lang="en-US" sz="3200" b="1" i="1" dirty="0"/>
              <a:t>Cheaper and simpler hardware: </a:t>
            </a:r>
            <a:r>
              <a:rPr lang="en-US" sz="3200" dirty="0"/>
              <a:t>With only one data line (plus ground), serial communication requires fewer pins, less cabling, and simpler connectors—reducing cost and making the design easier.</a:t>
            </a:r>
          </a:p>
          <a:p>
            <a:pPr marL="1097280" lvl="2" indent="0">
              <a:buNone/>
            </a:pPr>
            <a:endParaRPr lang="en-US" sz="2800" dirty="0"/>
          </a:p>
          <a:p>
            <a:pPr>
              <a:buFont typeface="Wingdings" panose="05000000000000000000" pitchFamily="2" charset="2"/>
              <a:buChar char="q"/>
            </a:pPr>
            <a:r>
              <a:rPr lang="en-US" sz="3600" b="1" dirty="0">
                <a:solidFill>
                  <a:srgbClr val="FF0000"/>
                </a:solidFill>
              </a:rPr>
              <a:t> Disadvantage of serial communication:</a:t>
            </a:r>
          </a:p>
          <a:p>
            <a:pPr lvl="1"/>
            <a:r>
              <a:rPr lang="en-US" sz="3200" b="1" i="1" dirty="0"/>
              <a:t>More time</a:t>
            </a:r>
            <a:r>
              <a:rPr lang="en-US" sz="3200" b="1" dirty="0"/>
              <a:t> </a:t>
            </a:r>
            <a:r>
              <a:rPr lang="en-US" sz="3200" dirty="0"/>
              <a:t>is</a:t>
            </a:r>
            <a:r>
              <a:rPr lang="en-US" sz="3200" b="1" dirty="0"/>
              <a:t> </a:t>
            </a:r>
            <a:r>
              <a:rPr lang="en-US" sz="3200" dirty="0"/>
              <a:t>required to transmit/receive compared to parallel communication.</a:t>
            </a:r>
          </a:p>
        </p:txBody>
      </p:sp>
      <p:sp>
        <p:nvSpPr>
          <p:cNvPr id="4" name="Date Placeholder 3"/>
          <p:cNvSpPr>
            <a:spLocks noGrp="1"/>
          </p:cNvSpPr>
          <p:nvPr>
            <p:ph type="dt" sz="half" idx="10"/>
          </p:nvPr>
        </p:nvSpPr>
        <p:spPr/>
        <p:txBody>
          <a:bodyPr/>
          <a:lstStyle/>
          <a:p>
            <a:fld id="{F5F85A3E-DD5B-4C16-9B4B-FFB75B297631}" type="datetime3">
              <a:rPr lang="en-US" smtClean="0"/>
              <a:t>3 December 2025</a:t>
            </a:fld>
            <a:endParaRPr lang="en-US"/>
          </a:p>
        </p:txBody>
      </p:sp>
      <p:sp>
        <p:nvSpPr>
          <p:cNvPr id="6" name="Slide Number Placeholder 5"/>
          <p:cNvSpPr>
            <a:spLocks noGrp="1"/>
          </p:cNvSpPr>
          <p:nvPr>
            <p:ph type="sldNum" sz="quarter" idx="12"/>
          </p:nvPr>
        </p:nvSpPr>
        <p:spPr/>
        <p:txBody>
          <a:bodyPr/>
          <a:lstStyle/>
          <a:p>
            <a:fld id="{90416D69-EFB9-4734-9DF5-4234A5F1A98A}" type="slidenum">
              <a:rPr lang="en-US" smtClean="0"/>
              <a:t>3</a:t>
            </a:fld>
            <a:endParaRPr lang="en-US"/>
          </a:p>
        </p:txBody>
      </p:sp>
    </p:spTree>
    <p:extLst>
      <p:ext uri="{BB962C8B-B14F-4D97-AF65-F5344CB8AC3E}">
        <p14:creationId xmlns:p14="http://schemas.microsoft.com/office/powerpoint/2010/main" val="28357305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D7BFF-23A1-1B9D-9845-83DAB369F7EA}"/>
              </a:ext>
            </a:extLst>
          </p:cNvPr>
          <p:cNvSpPr>
            <a:spLocks noGrp="1"/>
          </p:cNvSpPr>
          <p:nvPr>
            <p:ph type="title"/>
          </p:nvPr>
        </p:nvSpPr>
        <p:spPr/>
        <p:txBody>
          <a:bodyPr/>
          <a:lstStyle/>
          <a:p>
            <a:r>
              <a:rPr lang="en-US" b="1" dirty="0">
                <a:solidFill>
                  <a:schemeClr val="accent1"/>
                </a:solidFill>
              </a:rPr>
              <a:t>Synchronous transmission</a:t>
            </a:r>
          </a:p>
        </p:txBody>
      </p:sp>
      <p:sp>
        <p:nvSpPr>
          <p:cNvPr id="3" name="Content Placeholder 2">
            <a:extLst>
              <a:ext uri="{FF2B5EF4-FFF2-40B4-BE49-F238E27FC236}">
                <a16:creationId xmlns:a16="http://schemas.microsoft.com/office/drawing/2014/main" id="{72B3D751-0C7C-2609-B61C-E90478BB5B5C}"/>
              </a:ext>
            </a:extLst>
          </p:cNvPr>
          <p:cNvSpPr>
            <a:spLocks noGrp="1"/>
          </p:cNvSpPr>
          <p:nvPr>
            <p:ph idx="1"/>
          </p:nvPr>
        </p:nvSpPr>
        <p:spPr/>
        <p:txBody>
          <a:bodyPr/>
          <a:lstStyle/>
          <a:p>
            <a:r>
              <a:rPr lang="en-US" dirty="0"/>
              <a:t>In synchronous transmission, bits are sent one after another without start or stop bits or gaps. It is the responsibility of the receiver to group the bits.</a:t>
            </a:r>
          </a:p>
          <a:p>
            <a:endParaRPr lang="en-US" dirty="0"/>
          </a:p>
        </p:txBody>
      </p:sp>
      <p:sp>
        <p:nvSpPr>
          <p:cNvPr id="4" name="Date Placeholder 3">
            <a:extLst>
              <a:ext uri="{FF2B5EF4-FFF2-40B4-BE49-F238E27FC236}">
                <a16:creationId xmlns:a16="http://schemas.microsoft.com/office/drawing/2014/main" id="{6B42F3B9-E07C-2997-80C0-5A566B8F094A}"/>
              </a:ext>
            </a:extLst>
          </p:cNvPr>
          <p:cNvSpPr>
            <a:spLocks noGrp="1"/>
          </p:cNvSpPr>
          <p:nvPr>
            <p:ph type="dt" sz="half" idx="10"/>
          </p:nvPr>
        </p:nvSpPr>
        <p:spPr/>
        <p:txBody>
          <a:bodyPr/>
          <a:lstStyle/>
          <a:p>
            <a:fld id="{149D4EF9-913A-4BD1-82F8-5C66921348E7}" type="datetime3">
              <a:rPr lang="en-US" smtClean="0"/>
              <a:t>3 December 2025</a:t>
            </a:fld>
            <a:endParaRPr lang="en-US"/>
          </a:p>
        </p:txBody>
      </p:sp>
      <p:sp>
        <p:nvSpPr>
          <p:cNvPr id="6" name="Slide Number Placeholder 5">
            <a:extLst>
              <a:ext uri="{FF2B5EF4-FFF2-40B4-BE49-F238E27FC236}">
                <a16:creationId xmlns:a16="http://schemas.microsoft.com/office/drawing/2014/main" id="{4CB47154-C6DE-B750-4E30-F0317EB246E6}"/>
              </a:ext>
            </a:extLst>
          </p:cNvPr>
          <p:cNvSpPr>
            <a:spLocks noGrp="1"/>
          </p:cNvSpPr>
          <p:nvPr>
            <p:ph type="sldNum" sz="quarter" idx="12"/>
          </p:nvPr>
        </p:nvSpPr>
        <p:spPr/>
        <p:txBody>
          <a:bodyPr/>
          <a:lstStyle/>
          <a:p>
            <a:fld id="{48F63A3B-78C7-47BE-AE5E-E10140E04643}" type="slidenum">
              <a:rPr lang="en-US" smtClean="0"/>
              <a:pPr/>
              <a:t>4</a:t>
            </a:fld>
            <a:endParaRPr lang="en-US" dirty="0"/>
          </a:p>
        </p:txBody>
      </p:sp>
      <p:pic>
        <p:nvPicPr>
          <p:cNvPr id="7" name="Picture 6">
            <a:extLst>
              <a:ext uri="{FF2B5EF4-FFF2-40B4-BE49-F238E27FC236}">
                <a16:creationId xmlns:a16="http://schemas.microsoft.com/office/drawing/2014/main" id="{A88F98E5-867D-86BE-CC3C-1B6AF914384B}"/>
              </a:ext>
            </a:extLst>
          </p:cNvPr>
          <p:cNvPicPr>
            <a:picLocks noChangeAspect="1"/>
          </p:cNvPicPr>
          <p:nvPr/>
        </p:nvPicPr>
        <p:blipFill>
          <a:blip r:embed="rId2"/>
          <a:stretch>
            <a:fillRect/>
          </a:stretch>
        </p:blipFill>
        <p:spPr>
          <a:xfrm>
            <a:off x="4740183" y="3448477"/>
            <a:ext cx="7017104" cy="2523963"/>
          </a:xfrm>
          <a:prstGeom prst="rect">
            <a:avLst/>
          </a:prstGeom>
        </p:spPr>
      </p:pic>
      <p:sp>
        <p:nvSpPr>
          <p:cNvPr id="8" name="TextBox 7">
            <a:extLst>
              <a:ext uri="{FF2B5EF4-FFF2-40B4-BE49-F238E27FC236}">
                <a16:creationId xmlns:a16="http://schemas.microsoft.com/office/drawing/2014/main" id="{9C562499-BA1C-7982-3746-7759B94C2551}"/>
              </a:ext>
            </a:extLst>
          </p:cNvPr>
          <p:cNvSpPr txBox="1"/>
          <p:nvPr/>
        </p:nvSpPr>
        <p:spPr>
          <a:xfrm>
            <a:off x="671001" y="5717659"/>
            <a:ext cx="3608613" cy="1477328"/>
          </a:xfrm>
          <a:prstGeom prst="rect">
            <a:avLst/>
          </a:prstGeom>
          <a:noFill/>
        </p:spPr>
        <p:txBody>
          <a:bodyPr wrap="square">
            <a:spAutoFit/>
          </a:bodyPr>
          <a:lstStyle/>
          <a:p>
            <a:pPr algn="just"/>
            <a:r>
              <a:rPr lang="en-US" b="1" dirty="0"/>
              <a:t>Synchronous transmission</a:t>
            </a:r>
            <a:r>
              <a:rPr lang="en-US" dirty="0"/>
              <a:t> is a data transmission method where </a:t>
            </a:r>
            <a:r>
              <a:rPr lang="en-US" b="1" dirty="0"/>
              <a:t>data is sent in a continuous stream</a:t>
            </a:r>
            <a:r>
              <a:rPr lang="en-US" dirty="0"/>
              <a:t> along with a </a:t>
            </a:r>
            <a:r>
              <a:rPr lang="en-US" b="1" dirty="0"/>
              <a:t>clock signal</a:t>
            </a:r>
            <a:r>
              <a:rPr lang="en-US" dirty="0"/>
              <a:t> to synchronize the sender and receiver.</a:t>
            </a:r>
          </a:p>
        </p:txBody>
      </p:sp>
      <p:sp>
        <p:nvSpPr>
          <p:cNvPr id="9" name="TextBox 8">
            <a:extLst>
              <a:ext uri="{FF2B5EF4-FFF2-40B4-BE49-F238E27FC236}">
                <a16:creationId xmlns:a16="http://schemas.microsoft.com/office/drawing/2014/main" id="{B78BE4CE-F6E9-0737-25DD-0E606517DD85}"/>
              </a:ext>
            </a:extLst>
          </p:cNvPr>
          <p:cNvSpPr txBox="1"/>
          <p:nvPr/>
        </p:nvSpPr>
        <p:spPr>
          <a:xfrm>
            <a:off x="11626307" y="5856158"/>
            <a:ext cx="3926628" cy="1200329"/>
          </a:xfrm>
          <a:prstGeom prst="rect">
            <a:avLst/>
          </a:prstGeom>
          <a:noFill/>
        </p:spPr>
        <p:txBody>
          <a:bodyPr wrap="square">
            <a:spAutoFit/>
          </a:bodyPr>
          <a:lstStyle/>
          <a:p>
            <a:pPr algn="just"/>
            <a:r>
              <a:rPr lang="en-US" b="1" dirty="0"/>
              <a:t>Example: Transferring files between computers using a USB or Ethernet connection</a:t>
            </a:r>
            <a:r>
              <a:rPr lang="en-US" dirty="0"/>
              <a:t> is a real-world example of synchronous transmission.</a:t>
            </a:r>
          </a:p>
        </p:txBody>
      </p:sp>
    </p:spTree>
    <p:extLst>
      <p:ext uri="{BB962C8B-B14F-4D97-AF65-F5344CB8AC3E}">
        <p14:creationId xmlns:p14="http://schemas.microsoft.com/office/powerpoint/2010/main" val="37991298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5B91A-20D4-C750-9C16-D8D2C5187C3D}"/>
              </a:ext>
            </a:extLst>
          </p:cNvPr>
          <p:cNvSpPr>
            <a:spLocks noGrp="1"/>
          </p:cNvSpPr>
          <p:nvPr>
            <p:ph type="title"/>
          </p:nvPr>
        </p:nvSpPr>
        <p:spPr>
          <a:xfrm>
            <a:off x="1672364" y="119738"/>
            <a:ext cx="14196060" cy="644023"/>
          </a:xfrm>
        </p:spPr>
        <p:txBody>
          <a:bodyPr>
            <a:normAutofit fontScale="90000"/>
          </a:bodyPr>
          <a:lstStyle/>
          <a:p>
            <a:r>
              <a:rPr lang="en-US" b="1" dirty="0">
                <a:solidFill>
                  <a:schemeClr val="accent1"/>
                </a:solidFill>
              </a:rPr>
              <a:t>Asynchronous transmission</a:t>
            </a:r>
          </a:p>
        </p:txBody>
      </p:sp>
      <p:sp>
        <p:nvSpPr>
          <p:cNvPr id="3" name="Content Placeholder 2">
            <a:extLst>
              <a:ext uri="{FF2B5EF4-FFF2-40B4-BE49-F238E27FC236}">
                <a16:creationId xmlns:a16="http://schemas.microsoft.com/office/drawing/2014/main" id="{23FF78C1-CD30-B489-62D4-4BE135A01D10}"/>
              </a:ext>
            </a:extLst>
          </p:cNvPr>
          <p:cNvSpPr>
            <a:spLocks noGrp="1"/>
          </p:cNvSpPr>
          <p:nvPr>
            <p:ph idx="1"/>
          </p:nvPr>
        </p:nvSpPr>
        <p:spPr>
          <a:xfrm>
            <a:off x="945785" y="838831"/>
            <a:ext cx="14196060" cy="5221606"/>
          </a:xfrm>
        </p:spPr>
        <p:txBody>
          <a:bodyPr/>
          <a:lstStyle/>
          <a:p>
            <a:r>
              <a:rPr lang="en-US" sz="2400" dirty="0"/>
              <a:t>In asynchronous transmission, one start bit (0) at the beginning, followed by a byte and one or two stop bits (1) at the end of each byte. There may be a gap between each byte. This is also known as framing.</a:t>
            </a:r>
          </a:p>
          <a:p>
            <a:r>
              <a:rPr lang="en-US" sz="2400" dirty="0"/>
              <a:t>Generally use in low speed data transmission.</a:t>
            </a:r>
          </a:p>
          <a:p>
            <a:r>
              <a:rPr lang="en-US" sz="2400" dirty="0"/>
              <a:t>Send one start bit (0) at beginning of the byte and one or two stop bits (1) at end of each byte. </a:t>
            </a:r>
          </a:p>
          <a:p>
            <a:r>
              <a:rPr lang="en-US" sz="2400" dirty="0"/>
              <a:t>There are variable–length gaps between each byte.</a:t>
            </a:r>
          </a:p>
          <a:p>
            <a:endParaRPr lang="en-US" dirty="0"/>
          </a:p>
        </p:txBody>
      </p:sp>
      <p:sp>
        <p:nvSpPr>
          <p:cNvPr id="4" name="Date Placeholder 3">
            <a:extLst>
              <a:ext uri="{FF2B5EF4-FFF2-40B4-BE49-F238E27FC236}">
                <a16:creationId xmlns:a16="http://schemas.microsoft.com/office/drawing/2014/main" id="{3A44F788-9F4C-B775-EA6C-1A1FAABF11D0}"/>
              </a:ext>
            </a:extLst>
          </p:cNvPr>
          <p:cNvSpPr>
            <a:spLocks noGrp="1"/>
          </p:cNvSpPr>
          <p:nvPr>
            <p:ph type="dt" sz="half" idx="10"/>
          </p:nvPr>
        </p:nvSpPr>
        <p:spPr/>
        <p:txBody>
          <a:bodyPr/>
          <a:lstStyle/>
          <a:p>
            <a:fld id="{149D4EF9-913A-4BD1-82F8-5C66921348E7}" type="datetime3">
              <a:rPr lang="en-US" smtClean="0"/>
              <a:t>3 December 2025</a:t>
            </a:fld>
            <a:endParaRPr lang="en-US"/>
          </a:p>
        </p:txBody>
      </p:sp>
      <p:sp>
        <p:nvSpPr>
          <p:cNvPr id="6" name="Slide Number Placeholder 5">
            <a:extLst>
              <a:ext uri="{FF2B5EF4-FFF2-40B4-BE49-F238E27FC236}">
                <a16:creationId xmlns:a16="http://schemas.microsoft.com/office/drawing/2014/main" id="{56874EAF-8792-5947-378A-BE61CFAC1B66}"/>
              </a:ext>
            </a:extLst>
          </p:cNvPr>
          <p:cNvSpPr>
            <a:spLocks noGrp="1"/>
          </p:cNvSpPr>
          <p:nvPr>
            <p:ph type="sldNum" sz="quarter" idx="12"/>
          </p:nvPr>
        </p:nvSpPr>
        <p:spPr/>
        <p:txBody>
          <a:bodyPr/>
          <a:lstStyle/>
          <a:p>
            <a:fld id="{48F63A3B-78C7-47BE-AE5E-E10140E04643}" type="slidenum">
              <a:rPr lang="en-US" smtClean="0"/>
              <a:pPr/>
              <a:t>5</a:t>
            </a:fld>
            <a:endParaRPr lang="en-US" dirty="0"/>
          </a:p>
        </p:txBody>
      </p:sp>
      <p:sp>
        <p:nvSpPr>
          <p:cNvPr id="7" name="TextBox 6">
            <a:extLst>
              <a:ext uri="{FF2B5EF4-FFF2-40B4-BE49-F238E27FC236}">
                <a16:creationId xmlns:a16="http://schemas.microsoft.com/office/drawing/2014/main" id="{C1257519-F981-A9E5-56F3-31910C606AD1}"/>
              </a:ext>
            </a:extLst>
          </p:cNvPr>
          <p:cNvSpPr txBox="1"/>
          <p:nvPr/>
        </p:nvSpPr>
        <p:spPr>
          <a:xfrm>
            <a:off x="16274" y="6409360"/>
            <a:ext cx="7526721" cy="1200329"/>
          </a:xfrm>
          <a:prstGeom prst="rect">
            <a:avLst/>
          </a:prstGeom>
          <a:noFill/>
        </p:spPr>
        <p:txBody>
          <a:bodyPr wrap="square">
            <a:spAutoFit/>
          </a:bodyPr>
          <a:lstStyle/>
          <a:p>
            <a:pPr algn="just"/>
            <a:r>
              <a:rPr lang="en-US" b="1" dirty="0"/>
              <a:t>Asynchronous transmission</a:t>
            </a:r>
            <a:r>
              <a:rPr lang="en-US" dirty="0"/>
              <a:t> is a method of data communication in which data is sent </a:t>
            </a:r>
            <a:r>
              <a:rPr lang="en-US" b="1" dirty="0"/>
              <a:t>one character or byte at a time</a:t>
            </a:r>
            <a:r>
              <a:rPr lang="en-US" dirty="0"/>
              <a:t>, with </a:t>
            </a:r>
            <a:r>
              <a:rPr lang="en-US" b="1" dirty="0"/>
              <a:t>start and stop bits</a:t>
            </a:r>
            <a:r>
              <a:rPr lang="en-US" dirty="0"/>
              <a:t> used to indicate the beginning and end of each character, allowing the receiver to identify when new data begins.</a:t>
            </a:r>
          </a:p>
        </p:txBody>
      </p:sp>
      <p:sp>
        <p:nvSpPr>
          <p:cNvPr id="8" name="TextBox 7">
            <a:extLst>
              <a:ext uri="{FF2B5EF4-FFF2-40B4-BE49-F238E27FC236}">
                <a16:creationId xmlns:a16="http://schemas.microsoft.com/office/drawing/2014/main" id="{8686D4BC-7574-FA4A-6B8A-A945616B5DA0}"/>
              </a:ext>
            </a:extLst>
          </p:cNvPr>
          <p:cNvSpPr txBox="1"/>
          <p:nvPr/>
        </p:nvSpPr>
        <p:spPr>
          <a:xfrm>
            <a:off x="11687505" y="6409360"/>
            <a:ext cx="3951890" cy="1200329"/>
          </a:xfrm>
          <a:prstGeom prst="rect">
            <a:avLst/>
          </a:prstGeom>
          <a:noFill/>
        </p:spPr>
        <p:txBody>
          <a:bodyPr wrap="square">
            <a:spAutoFit/>
          </a:bodyPr>
          <a:lstStyle/>
          <a:p>
            <a:pPr algn="just"/>
            <a:r>
              <a:rPr lang="en-US" b="1" dirty="0"/>
              <a:t>Keyboard to computer communication</a:t>
            </a:r>
            <a:r>
              <a:rPr lang="en-US" dirty="0"/>
              <a:t> (via serial port): Each keystroke sends a character using asynchronous transmission.</a:t>
            </a:r>
          </a:p>
        </p:txBody>
      </p:sp>
      <p:pic>
        <p:nvPicPr>
          <p:cNvPr id="9" name="Picture 8">
            <a:extLst>
              <a:ext uri="{FF2B5EF4-FFF2-40B4-BE49-F238E27FC236}">
                <a16:creationId xmlns:a16="http://schemas.microsoft.com/office/drawing/2014/main" id="{09816B49-ADFA-2C8E-486F-0920D45D6603}"/>
              </a:ext>
            </a:extLst>
          </p:cNvPr>
          <p:cNvPicPr>
            <a:picLocks noChangeAspect="1"/>
          </p:cNvPicPr>
          <p:nvPr/>
        </p:nvPicPr>
        <p:blipFill rotWithShape="1">
          <a:blip r:embed="rId2"/>
          <a:srcRect b="10049"/>
          <a:stretch/>
        </p:blipFill>
        <p:spPr>
          <a:xfrm>
            <a:off x="4314800" y="2910256"/>
            <a:ext cx="8239747" cy="3499104"/>
          </a:xfrm>
          <a:prstGeom prst="rect">
            <a:avLst/>
          </a:prstGeom>
        </p:spPr>
      </p:pic>
    </p:spTree>
    <p:extLst>
      <p:ext uri="{BB962C8B-B14F-4D97-AF65-F5344CB8AC3E}">
        <p14:creationId xmlns:p14="http://schemas.microsoft.com/office/powerpoint/2010/main" val="1840485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BE603-E617-4756-94EF-876F98207324}"/>
              </a:ext>
            </a:extLst>
          </p:cNvPr>
          <p:cNvSpPr>
            <a:spLocks noGrp="1"/>
          </p:cNvSpPr>
          <p:nvPr>
            <p:ph type="title"/>
          </p:nvPr>
        </p:nvSpPr>
        <p:spPr>
          <a:xfrm>
            <a:off x="1849363" y="357210"/>
            <a:ext cx="9962147" cy="965825"/>
          </a:xfrm>
        </p:spPr>
        <p:txBody>
          <a:bodyPr>
            <a:normAutofit/>
          </a:bodyPr>
          <a:lstStyle/>
          <a:p>
            <a:r>
              <a:rPr lang="en-US" sz="6000" b="1" dirty="0">
                <a:solidFill>
                  <a:srgbClr val="0070C0"/>
                </a:solidFill>
              </a:rPr>
              <a:t>Types of Serial Communication</a:t>
            </a:r>
          </a:p>
        </p:txBody>
      </p:sp>
      <p:sp>
        <p:nvSpPr>
          <p:cNvPr id="3" name="Content Placeholder 2">
            <a:extLst>
              <a:ext uri="{FF2B5EF4-FFF2-40B4-BE49-F238E27FC236}">
                <a16:creationId xmlns:a16="http://schemas.microsoft.com/office/drawing/2014/main" id="{5690FE0B-9E40-46C8-A12F-8DA04A613014}"/>
              </a:ext>
            </a:extLst>
          </p:cNvPr>
          <p:cNvSpPr>
            <a:spLocks noGrp="1"/>
          </p:cNvSpPr>
          <p:nvPr>
            <p:ph idx="1"/>
          </p:nvPr>
        </p:nvSpPr>
        <p:spPr>
          <a:xfrm>
            <a:off x="365761" y="1608094"/>
            <a:ext cx="15760930" cy="3715888"/>
          </a:xfrm>
        </p:spPr>
        <p:txBody>
          <a:bodyPr>
            <a:noAutofit/>
          </a:bodyPr>
          <a:lstStyle/>
          <a:p>
            <a:pPr marL="0" indent="0">
              <a:buNone/>
            </a:pPr>
            <a:r>
              <a:rPr lang="en-US" sz="4000" dirty="0">
                <a:solidFill>
                  <a:srgbClr val="FF0000"/>
                </a:solidFill>
              </a:rPr>
              <a:t>ATmega328</a:t>
            </a:r>
            <a:r>
              <a:rPr lang="en-US" sz="4000" dirty="0"/>
              <a:t> has </a:t>
            </a:r>
            <a:r>
              <a:rPr lang="en-US" sz="4000" dirty="0">
                <a:solidFill>
                  <a:srgbClr val="FF0000"/>
                </a:solidFill>
              </a:rPr>
              <a:t>3 types of serial communication</a:t>
            </a:r>
            <a:r>
              <a:rPr lang="en-US" sz="4000" dirty="0"/>
              <a:t> interfaces:</a:t>
            </a:r>
          </a:p>
          <a:p>
            <a:pPr marL="0" indent="0">
              <a:buNone/>
            </a:pPr>
            <a:endParaRPr lang="en-US" sz="4000" dirty="0"/>
          </a:p>
          <a:p>
            <a:pPr marL="0" indent="0">
              <a:buNone/>
            </a:pPr>
            <a:r>
              <a:rPr lang="en-US" sz="4000" dirty="0"/>
              <a:t>1. </a:t>
            </a:r>
            <a:r>
              <a:rPr lang="en-US" sz="4000" dirty="0">
                <a:highlight>
                  <a:srgbClr val="FFFF00"/>
                </a:highlight>
              </a:rPr>
              <a:t>Universal Synchronous Asynchronous Receiver &amp; Transmitter </a:t>
            </a:r>
            <a:r>
              <a:rPr lang="en-US" sz="4000" dirty="0"/>
              <a:t>(USART). </a:t>
            </a:r>
          </a:p>
          <a:p>
            <a:pPr marL="0" indent="0">
              <a:buNone/>
            </a:pPr>
            <a:r>
              <a:rPr lang="en-US" sz="4000" dirty="0"/>
              <a:t>2. </a:t>
            </a:r>
            <a:r>
              <a:rPr lang="en-US" sz="4000" dirty="0">
                <a:highlight>
                  <a:srgbClr val="FFFF00"/>
                </a:highlight>
              </a:rPr>
              <a:t>Serial Peripheral Interface </a:t>
            </a:r>
            <a:r>
              <a:rPr lang="en-US" sz="4000" dirty="0"/>
              <a:t>(SPI).</a:t>
            </a:r>
          </a:p>
          <a:p>
            <a:pPr marL="0" indent="0">
              <a:buNone/>
            </a:pPr>
            <a:r>
              <a:rPr lang="en-US" sz="4000" dirty="0"/>
              <a:t>3. </a:t>
            </a:r>
            <a:r>
              <a:rPr lang="en-US" sz="4000" dirty="0">
                <a:highlight>
                  <a:srgbClr val="FFFF00"/>
                </a:highlight>
              </a:rPr>
              <a:t>Two Wire Interface </a:t>
            </a:r>
            <a:r>
              <a:rPr lang="en-US" sz="4000" dirty="0"/>
              <a:t>(TWI)/ </a:t>
            </a:r>
            <a:r>
              <a:rPr lang="en-US" sz="4000" dirty="0">
                <a:highlight>
                  <a:srgbClr val="FFFF00"/>
                </a:highlight>
              </a:rPr>
              <a:t>Inter-Integrated Circuit </a:t>
            </a:r>
            <a:r>
              <a:rPr lang="en-US" sz="4000" dirty="0"/>
              <a:t>(I2C).</a:t>
            </a:r>
          </a:p>
          <a:p>
            <a:endParaRPr lang="en-US" sz="4000" dirty="0"/>
          </a:p>
        </p:txBody>
      </p:sp>
      <p:sp>
        <p:nvSpPr>
          <p:cNvPr id="4" name="Date Placeholder 3"/>
          <p:cNvSpPr>
            <a:spLocks noGrp="1"/>
          </p:cNvSpPr>
          <p:nvPr>
            <p:ph type="dt" sz="half" idx="10"/>
          </p:nvPr>
        </p:nvSpPr>
        <p:spPr/>
        <p:txBody>
          <a:bodyPr/>
          <a:lstStyle/>
          <a:p>
            <a:fld id="{2900341A-8963-4354-8A7C-82F95E72ED73}" type="datetime3">
              <a:rPr lang="en-US" smtClean="0"/>
              <a:t>3 December 2025</a:t>
            </a:fld>
            <a:endParaRPr lang="en-US"/>
          </a:p>
        </p:txBody>
      </p:sp>
      <p:sp>
        <p:nvSpPr>
          <p:cNvPr id="6" name="Slide Number Placeholder 5"/>
          <p:cNvSpPr>
            <a:spLocks noGrp="1"/>
          </p:cNvSpPr>
          <p:nvPr>
            <p:ph type="sldNum" sz="quarter" idx="12"/>
          </p:nvPr>
        </p:nvSpPr>
        <p:spPr/>
        <p:txBody>
          <a:bodyPr/>
          <a:lstStyle/>
          <a:p>
            <a:fld id="{90416D69-EFB9-4734-9DF5-4234A5F1A98A}" type="slidenum">
              <a:rPr lang="en-US" smtClean="0"/>
              <a:t>6</a:t>
            </a:fld>
            <a:endParaRPr lang="en-US"/>
          </a:p>
        </p:txBody>
      </p:sp>
    </p:spTree>
    <p:extLst>
      <p:ext uri="{BB962C8B-B14F-4D97-AF65-F5344CB8AC3E}">
        <p14:creationId xmlns:p14="http://schemas.microsoft.com/office/powerpoint/2010/main" val="40610551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C920E-CBF2-455D-B8A2-97092B640933}"/>
              </a:ext>
            </a:extLst>
          </p:cNvPr>
          <p:cNvSpPr>
            <a:spLocks noGrp="1"/>
          </p:cNvSpPr>
          <p:nvPr>
            <p:ph type="title"/>
          </p:nvPr>
        </p:nvSpPr>
        <p:spPr>
          <a:xfrm>
            <a:off x="1949889" y="247137"/>
            <a:ext cx="9962147" cy="708165"/>
          </a:xfrm>
        </p:spPr>
        <p:txBody>
          <a:bodyPr>
            <a:noAutofit/>
          </a:bodyPr>
          <a:lstStyle/>
          <a:p>
            <a:r>
              <a:rPr lang="en-US" sz="6000" b="1" dirty="0">
                <a:solidFill>
                  <a:srgbClr val="0070C0"/>
                </a:solidFill>
              </a:rPr>
              <a:t>USART vs. UART</a:t>
            </a:r>
          </a:p>
        </p:txBody>
      </p:sp>
      <p:sp>
        <p:nvSpPr>
          <p:cNvPr id="3" name="Date Placeholder 2"/>
          <p:cNvSpPr>
            <a:spLocks noGrp="1"/>
          </p:cNvSpPr>
          <p:nvPr>
            <p:ph type="dt" sz="half" idx="10"/>
          </p:nvPr>
        </p:nvSpPr>
        <p:spPr/>
        <p:txBody>
          <a:bodyPr/>
          <a:lstStyle/>
          <a:p>
            <a:fld id="{12CD9F85-8E3B-40C6-8C40-7D4D338925A5}" type="datetime3">
              <a:rPr lang="en-US" smtClean="0"/>
              <a:t>3 December 2025</a:t>
            </a:fld>
            <a:endParaRPr lang="en-US"/>
          </a:p>
        </p:txBody>
      </p:sp>
      <p:sp>
        <p:nvSpPr>
          <p:cNvPr id="6" name="Slide Number Placeholder 5"/>
          <p:cNvSpPr>
            <a:spLocks noGrp="1"/>
          </p:cNvSpPr>
          <p:nvPr>
            <p:ph type="sldNum" sz="quarter" idx="12"/>
          </p:nvPr>
        </p:nvSpPr>
        <p:spPr/>
        <p:txBody>
          <a:bodyPr/>
          <a:lstStyle/>
          <a:p>
            <a:fld id="{90416D69-EFB9-4734-9DF5-4234A5F1A98A}" type="slidenum">
              <a:rPr lang="en-US" smtClean="0"/>
              <a:t>7</a:t>
            </a:fld>
            <a:endParaRPr lang="en-US"/>
          </a:p>
        </p:txBody>
      </p:sp>
      <p:graphicFrame>
        <p:nvGraphicFramePr>
          <p:cNvPr id="5" name="Table 4">
            <a:extLst>
              <a:ext uri="{FF2B5EF4-FFF2-40B4-BE49-F238E27FC236}">
                <a16:creationId xmlns:a16="http://schemas.microsoft.com/office/drawing/2014/main" id="{391EF274-C7A4-4493-BE83-334816810599}"/>
              </a:ext>
            </a:extLst>
          </p:cNvPr>
          <p:cNvGraphicFramePr>
            <a:graphicFrameLocks noGrp="1"/>
          </p:cNvGraphicFramePr>
          <p:nvPr>
            <p:extLst>
              <p:ext uri="{D42A27DB-BD31-4B8C-83A1-F6EECF244321}">
                <p14:modId xmlns:p14="http://schemas.microsoft.com/office/powerpoint/2010/main" val="3458805401"/>
              </p:ext>
            </p:extLst>
          </p:nvPr>
        </p:nvGraphicFramePr>
        <p:xfrm>
          <a:off x="274309" y="966298"/>
          <a:ext cx="15968761" cy="6920568"/>
        </p:xfrm>
        <a:graphic>
          <a:graphicData uri="http://schemas.openxmlformats.org/drawingml/2006/table">
            <a:tbl>
              <a:tblPr firstRow="1" bandRow="1">
                <a:tableStyleId>{D7AC3CCA-C797-4891-BE02-D94E43425B78}</a:tableStyleId>
              </a:tblPr>
              <a:tblGrid>
                <a:gridCol w="1704120">
                  <a:extLst>
                    <a:ext uri="{9D8B030D-6E8A-4147-A177-3AD203B41FA5}">
                      <a16:colId xmlns:a16="http://schemas.microsoft.com/office/drawing/2014/main" val="2476640134"/>
                    </a:ext>
                  </a:extLst>
                </a:gridCol>
                <a:gridCol w="8129847">
                  <a:extLst>
                    <a:ext uri="{9D8B030D-6E8A-4147-A177-3AD203B41FA5}">
                      <a16:colId xmlns:a16="http://schemas.microsoft.com/office/drawing/2014/main" val="2004802023"/>
                    </a:ext>
                  </a:extLst>
                </a:gridCol>
                <a:gridCol w="6134794">
                  <a:extLst>
                    <a:ext uri="{9D8B030D-6E8A-4147-A177-3AD203B41FA5}">
                      <a16:colId xmlns:a16="http://schemas.microsoft.com/office/drawing/2014/main" val="4043409299"/>
                    </a:ext>
                  </a:extLst>
                </a:gridCol>
              </a:tblGrid>
              <a:tr h="486749">
                <a:tc>
                  <a:txBody>
                    <a:bodyPr/>
                    <a:lstStyle/>
                    <a:p>
                      <a:endParaRPr lang="en-US" sz="2800" dirty="0"/>
                    </a:p>
                  </a:txBody>
                  <a:tcPr marL="86627" marR="86627" marT="43314" marB="43314">
                    <a:noFill/>
                  </a:tcPr>
                </a:tc>
                <a:tc>
                  <a:txBody>
                    <a:bodyPr/>
                    <a:lstStyle/>
                    <a:p>
                      <a:pPr algn="ctr"/>
                      <a:r>
                        <a:rPr lang="en-US" sz="2800" dirty="0"/>
                        <a:t>UART</a:t>
                      </a:r>
                    </a:p>
                  </a:txBody>
                  <a:tcPr marL="86627" marR="86627" marT="43314" marB="43314">
                    <a:noFill/>
                  </a:tcPr>
                </a:tc>
                <a:tc>
                  <a:txBody>
                    <a:bodyPr/>
                    <a:lstStyle/>
                    <a:p>
                      <a:pPr algn="ctr"/>
                      <a:r>
                        <a:rPr lang="en-US" sz="2800" dirty="0"/>
                        <a:t>USART</a:t>
                      </a:r>
                    </a:p>
                  </a:txBody>
                  <a:tcPr marL="86627" marR="86627" marT="43314" marB="43314">
                    <a:noFill/>
                  </a:tcPr>
                </a:tc>
                <a:extLst>
                  <a:ext uri="{0D108BD9-81ED-4DB2-BD59-A6C34878D82A}">
                    <a16:rowId xmlns:a16="http://schemas.microsoft.com/office/drawing/2014/main" val="1225554378"/>
                  </a:ext>
                </a:extLst>
              </a:tr>
              <a:tr h="861410">
                <a:tc>
                  <a:txBody>
                    <a:bodyPr/>
                    <a:lstStyle/>
                    <a:p>
                      <a:r>
                        <a:rPr lang="en-US" sz="2800" b="1" dirty="0"/>
                        <a:t>Full Name</a:t>
                      </a:r>
                    </a:p>
                  </a:txBody>
                  <a:tcPr marL="86627" marR="86627" marT="43314" marB="43314">
                    <a:noFill/>
                  </a:tcPr>
                </a:tc>
                <a:tc>
                  <a:txBody>
                    <a:bodyPr/>
                    <a:lstStyle/>
                    <a:p>
                      <a:pPr algn="l"/>
                      <a:r>
                        <a:rPr lang="en-US" sz="2800" b="0" i="0" kern="1200" dirty="0">
                          <a:solidFill>
                            <a:schemeClr val="dk1"/>
                          </a:solidFill>
                          <a:effectLst/>
                          <a:latin typeface="+mn-lt"/>
                          <a:ea typeface="+mn-ea"/>
                          <a:cs typeface="+mn-cs"/>
                        </a:rPr>
                        <a:t>Universal Asynchronous Receiver/Transmitter</a:t>
                      </a:r>
                      <a:endParaRPr lang="en-US" sz="2800" dirty="0"/>
                    </a:p>
                  </a:txBody>
                  <a:tcPr marL="86627" marR="86627" marT="43314" marB="43314">
                    <a:noFill/>
                  </a:tcPr>
                </a:tc>
                <a:tc>
                  <a:txBody>
                    <a:bodyPr/>
                    <a:lstStyle/>
                    <a:p>
                      <a:pPr algn="l"/>
                      <a:r>
                        <a:rPr lang="en-US" sz="2800" b="0" i="0" kern="1200" dirty="0">
                          <a:solidFill>
                            <a:schemeClr val="dk1"/>
                          </a:solidFill>
                          <a:effectLst/>
                          <a:latin typeface="+mn-lt"/>
                          <a:ea typeface="+mn-ea"/>
                          <a:cs typeface="+mn-cs"/>
                        </a:rPr>
                        <a:t>Universal Synchronous/Asynchronous Receiver/Transmitter</a:t>
                      </a:r>
                      <a:endParaRPr lang="en-US" sz="2800" dirty="0"/>
                    </a:p>
                  </a:txBody>
                  <a:tcPr marL="86627" marR="86627" marT="43314" marB="43314">
                    <a:noFill/>
                  </a:tcPr>
                </a:tc>
                <a:extLst>
                  <a:ext uri="{0D108BD9-81ED-4DB2-BD59-A6C34878D82A}">
                    <a16:rowId xmlns:a16="http://schemas.microsoft.com/office/drawing/2014/main" val="3204338519"/>
                  </a:ext>
                </a:extLst>
              </a:tr>
              <a:tr h="861410">
                <a:tc>
                  <a:txBody>
                    <a:bodyPr/>
                    <a:lstStyle/>
                    <a:p>
                      <a:r>
                        <a:rPr lang="en-US" sz="2800" b="1" dirty="0"/>
                        <a:t>Data type and rate</a:t>
                      </a:r>
                    </a:p>
                  </a:txBody>
                  <a:tcPr marL="86627" marR="86627" marT="43314" marB="43314">
                    <a:noFill/>
                  </a:tcPr>
                </a:tc>
                <a:tc>
                  <a:txBody>
                    <a:bodyPr/>
                    <a:lstStyle/>
                    <a:p>
                      <a:pPr algn="l"/>
                      <a:r>
                        <a:rPr lang="en-US" sz="2800" dirty="0"/>
                        <a:t>It generates asynchronous data, hence has </a:t>
                      </a:r>
                      <a:r>
                        <a:rPr lang="en-US" sz="2800" b="1" dirty="0">
                          <a:solidFill>
                            <a:srgbClr val="FF0000"/>
                          </a:solidFill>
                        </a:rPr>
                        <a:t>low data rate</a:t>
                      </a:r>
                      <a:r>
                        <a:rPr lang="en-US" sz="2800" b="0" dirty="0">
                          <a:solidFill>
                            <a:schemeClr val="tx1"/>
                          </a:solidFill>
                        </a:rPr>
                        <a:t>.</a:t>
                      </a:r>
                    </a:p>
                  </a:txBody>
                  <a:tcPr marL="86627" marR="86627" marT="43314" marB="43314">
                    <a:noFill/>
                  </a:tcPr>
                </a:tc>
                <a:tc>
                  <a:txBody>
                    <a:bodyPr/>
                    <a:lstStyle/>
                    <a:p>
                      <a:pPr algn="l"/>
                      <a:r>
                        <a:rPr lang="en-US" sz="2800" dirty="0"/>
                        <a:t>It </a:t>
                      </a:r>
                      <a:r>
                        <a:rPr lang="en-US" sz="2800" b="0" i="0" kern="1200" dirty="0">
                          <a:solidFill>
                            <a:schemeClr val="dk1"/>
                          </a:solidFill>
                          <a:effectLst/>
                          <a:latin typeface="+mn-lt"/>
                          <a:ea typeface="+mn-ea"/>
                          <a:cs typeface="+mn-cs"/>
                        </a:rPr>
                        <a:t>generates clocked/synchronous data, hence has </a:t>
                      </a:r>
                      <a:r>
                        <a:rPr lang="en-US" sz="2800" b="1" i="0" kern="1200" dirty="0">
                          <a:solidFill>
                            <a:srgbClr val="FF0000"/>
                          </a:solidFill>
                          <a:effectLst/>
                          <a:latin typeface="+mn-lt"/>
                          <a:ea typeface="+mn-ea"/>
                          <a:cs typeface="+mn-cs"/>
                        </a:rPr>
                        <a:t>higher data rate</a:t>
                      </a:r>
                      <a:r>
                        <a:rPr lang="en-US" sz="2800" b="0" i="0" kern="1200" dirty="0">
                          <a:solidFill>
                            <a:schemeClr val="dk1"/>
                          </a:solidFill>
                          <a:effectLst/>
                          <a:latin typeface="+mn-lt"/>
                          <a:ea typeface="+mn-ea"/>
                          <a:cs typeface="+mn-cs"/>
                        </a:rPr>
                        <a:t>.</a:t>
                      </a:r>
                      <a:endParaRPr lang="en-US" sz="2800" dirty="0"/>
                    </a:p>
                  </a:txBody>
                  <a:tcPr marL="86627" marR="86627" marT="43314" marB="43314">
                    <a:noFill/>
                  </a:tcPr>
                </a:tc>
                <a:extLst>
                  <a:ext uri="{0D108BD9-81ED-4DB2-BD59-A6C34878D82A}">
                    <a16:rowId xmlns:a16="http://schemas.microsoft.com/office/drawing/2014/main" val="2156639631"/>
                  </a:ext>
                </a:extLst>
              </a:tr>
              <a:tr h="1727607">
                <a:tc>
                  <a:txBody>
                    <a:bodyPr/>
                    <a:lstStyle/>
                    <a:p>
                      <a:r>
                        <a:rPr lang="en-US" sz="2800" b="1" dirty="0"/>
                        <a:t>Baud rate</a:t>
                      </a:r>
                    </a:p>
                  </a:txBody>
                  <a:tcPr marL="86627" marR="86627" marT="43314" marB="43314">
                    <a:noFill/>
                  </a:tcPr>
                </a:tc>
                <a:tc>
                  <a:txBody>
                    <a:bodyPr/>
                    <a:lstStyle/>
                    <a:p>
                      <a:pPr algn="l"/>
                      <a:r>
                        <a:rPr lang="en-US" sz="2800" b="0" i="0" kern="1200" dirty="0">
                          <a:solidFill>
                            <a:srgbClr val="FF0000"/>
                          </a:solidFill>
                          <a:effectLst/>
                          <a:latin typeface="+mn-lt"/>
                          <a:ea typeface="+mn-ea"/>
                          <a:cs typeface="+mn-cs"/>
                        </a:rPr>
                        <a:t>Receiver </a:t>
                      </a:r>
                      <a:r>
                        <a:rPr lang="en-US" sz="2800" b="1" i="0" kern="1200" dirty="0">
                          <a:solidFill>
                            <a:srgbClr val="FF0000"/>
                          </a:solidFill>
                          <a:effectLst/>
                          <a:latin typeface="+mn-lt"/>
                          <a:ea typeface="+mn-ea"/>
                          <a:cs typeface="+mn-cs"/>
                        </a:rPr>
                        <a:t>need to know baud rate </a:t>
                      </a:r>
                      <a:r>
                        <a:rPr lang="en-US" sz="2800" b="0" i="0" kern="1200" dirty="0">
                          <a:solidFill>
                            <a:schemeClr val="dk1"/>
                          </a:solidFill>
                          <a:effectLst/>
                          <a:latin typeface="+mn-lt"/>
                          <a:ea typeface="+mn-ea"/>
                          <a:cs typeface="+mn-cs"/>
                        </a:rPr>
                        <a:t>of the transmitter before communication to be established so that UART can generate clock internally and synchronize it with data stream with the help of transition of start bit.</a:t>
                      </a:r>
                      <a:endParaRPr lang="en-US" sz="2800" dirty="0"/>
                    </a:p>
                  </a:txBody>
                  <a:tcPr marL="86627" marR="86627" marT="43314" marB="43314">
                    <a:noFill/>
                  </a:tcPr>
                </a:tc>
                <a:tc>
                  <a:txBody>
                    <a:bodyPr/>
                    <a:lstStyle/>
                    <a:p>
                      <a:pPr algn="l"/>
                      <a:r>
                        <a:rPr lang="en-US" sz="2800" b="0" i="0" kern="1200" dirty="0">
                          <a:solidFill>
                            <a:srgbClr val="FF0000"/>
                          </a:solidFill>
                          <a:effectLst/>
                          <a:latin typeface="+mn-lt"/>
                          <a:ea typeface="+mn-ea"/>
                          <a:cs typeface="+mn-cs"/>
                        </a:rPr>
                        <a:t>Receiver </a:t>
                      </a:r>
                      <a:r>
                        <a:rPr lang="en-US" sz="2800" b="1" i="0" kern="1200" dirty="0">
                          <a:solidFill>
                            <a:srgbClr val="FF0000"/>
                          </a:solidFill>
                          <a:effectLst/>
                          <a:latin typeface="+mn-lt"/>
                          <a:ea typeface="+mn-ea"/>
                          <a:cs typeface="+mn-cs"/>
                        </a:rPr>
                        <a:t>need not be required to know the baud rate</a:t>
                      </a:r>
                      <a:r>
                        <a:rPr lang="en-US" sz="2800" b="0" i="0" kern="1200" dirty="0">
                          <a:solidFill>
                            <a:schemeClr val="dk1"/>
                          </a:solidFill>
                          <a:effectLst/>
                          <a:latin typeface="+mn-lt"/>
                          <a:ea typeface="+mn-ea"/>
                          <a:cs typeface="+mn-cs"/>
                        </a:rPr>
                        <a:t> of the transmitter. This is derived from the clock signal and data line.</a:t>
                      </a:r>
                      <a:endParaRPr lang="en-US" sz="2800" dirty="0"/>
                    </a:p>
                  </a:txBody>
                  <a:tcPr marL="86627" marR="86627" marT="43314" marB="43314">
                    <a:noFill/>
                  </a:tcPr>
                </a:tc>
                <a:extLst>
                  <a:ext uri="{0D108BD9-81ED-4DB2-BD59-A6C34878D82A}">
                    <a16:rowId xmlns:a16="http://schemas.microsoft.com/office/drawing/2014/main" val="1982867759"/>
                  </a:ext>
                </a:extLst>
              </a:tr>
              <a:tr h="1356051">
                <a:tc>
                  <a:txBody>
                    <a:bodyPr/>
                    <a:lstStyle/>
                    <a:p>
                      <a:r>
                        <a:rPr lang="en-US" sz="2800" b="1" dirty="0"/>
                        <a:t>Data Structure</a:t>
                      </a:r>
                    </a:p>
                  </a:txBody>
                  <a:tcPr marL="86627" marR="86627" marT="43314" marB="43314">
                    <a:noFill/>
                  </a:tcPr>
                </a:tc>
                <a:tc>
                  <a:txBody>
                    <a:bodyPr/>
                    <a:lstStyle/>
                    <a:p>
                      <a:pPr algn="l"/>
                      <a:r>
                        <a:rPr lang="en-US" sz="2800" b="0" i="0" kern="1200" dirty="0">
                          <a:solidFill>
                            <a:schemeClr val="dk1"/>
                          </a:solidFill>
                          <a:effectLst/>
                          <a:latin typeface="+mn-lt"/>
                          <a:ea typeface="+mn-ea"/>
                          <a:cs typeface="+mn-cs"/>
                        </a:rPr>
                        <a:t>It uses </a:t>
                      </a:r>
                      <a:r>
                        <a:rPr lang="en-US" sz="2800" b="1" i="0" kern="1200" dirty="0">
                          <a:solidFill>
                            <a:srgbClr val="FF0000"/>
                          </a:solidFill>
                          <a:effectLst/>
                          <a:latin typeface="+mn-lt"/>
                          <a:ea typeface="+mn-ea"/>
                          <a:cs typeface="+mn-cs"/>
                        </a:rPr>
                        <a:t>start bit (before data word), stop bits (one or two, after data word), parity bit (even or odd)</a:t>
                      </a:r>
                      <a:r>
                        <a:rPr lang="en-US" sz="2800" b="0" i="0" kern="1200" dirty="0">
                          <a:solidFill>
                            <a:schemeClr val="dk1"/>
                          </a:solidFill>
                          <a:effectLst/>
                          <a:latin typeface="+mn-lt"/>
                          <a:ea typeface="+mn-ea"/>
                          <a:cs typeface="+mn-cs"/>
                        </a:rPr>
                        <a:t> in its base format for data formatting.</a:t>
                      </a:r>
                      <a:endParaRPr lang="en-US" sz="2800" dirty="0"/>
                    </a:p>
                  </a:txBody>
                  <a:tcPr marL="86627" marR="86627" marT="43314" marB="43314">
                    <a:noFill/>
                  </a:tcPr>
                </a:tc>
                <a:tc>
                  <a:txBody>
                    <a:bodyPr/>
                    <a:lstStyle/>
                    <a:p>
                      <a:pPr algn="l"/>
                      <a:r>
                        <a:rPr lang="en-US" sz="2800" b="0" i="0" kern="1200" dirty="0">
                          <a:solidFill>
                            <a:schemeClr val="dk1"/>
                          </a:solidFill>
                          <a:effectLst/>
                          <a:latin typeface="+mn-lt"/>
                          <a:ea typeface="+mn-ea"/>
                          <a:cs typeface="+mn-cs"/>
                        </a:rPr>
                        <a:t>USART can also generate data like UART. Hence </a:t>
                      </a:r>
                      <a:r>
                        <a:rPr lang="en-US" sz="2800" b="1" i="0" kern="1200" dirty="0">
                          <a:solidFill>
                            <a:schemeClr val="dk1"/>
                          </a:solidFill>
                          <a:effectLst/>
                          <a:latin typeface="+mn-lt"/>
                          <a:ea typeface="+mn-ea"/>
                          <a:cs typeface="+mn-cs"/>
                        </a:rPr>
                        <a:t>USART can be used as UART, but reverse is not possible.</a:t>
                      </a:r>
                      <a:endParaRPr lang="en-US" sz="2800" b="1" dirty="0"/>
                    </a:p>
                  </a:txBody>
                  <a:tcPr marL="86627" marR="86627" marT="43314" marB="43314">
                    <a:noFill/>
                  </a:tcPr>
                </a:tc>
                <a:extLst>
                  <a:ext uri="{0D108BD9-81ED-4DB2-BD59-A6C34878D82A}">
                    <a16:rowId xmlns:a16="http://schemas.microsoft.com/office/drawing/2014/main" val="4211226812"/>
                  </a:ext>
                </a:extLst>
              </a:tr>
              <a:tr h="1236072">
                <a:tc>
                  <a:txBody>
                    <a:bodyPr/>
                    <a:lstStyle/>
                    <a:p>
                      <a:r>
                        <a:rPr lang="en-US" sz="2800" b="1" dirty="0"/>
                        <a:t>Protocol</a:t>
                      </a:r>
                    </a:p>
                  </a:txBody>
                  <a:tcPr marL="86627" marR="86627" marT="43314" marB="43314">
                    <a:noFill/>
                  </a:tcPr>
                </a:tc>
                <a:tc>
                  <a:txBody>
                    <a:bodyPr/>
                    <a:lstStyle/>
                    <a:p>
                      <a:pPr algn="l"/>
                      <a:r>
                        <a:rPr lang="en-US" sz="2800" b="0" i="0" kern="1200" dirty="0">
                          <a:solidFill>
                            <a:schemeClr val="dk1"/>
                          </a:solidFill>
                          <a:effectLst/>
                          <a:latin typeface="+mn-lt"/>
                          <a:ea typeface="+mn-ea"/>
                          <a:cs typeface="+mn-cs"/>
                        </a:rPr>
                        <a:t>UART is </a:t>
                      </a:r>
                      <a:r>
                        <a:rPr lang="en-US" sz="2800" b="1" i="0" kern="1200" dirty="0">
                          <a:solidFill>
                            <a:srgbClr val="FF0000"/>
                          </a:solidFill>
                          <a:effectLst/>
                          <a:latin typeface="+mn-lt"/>
                          <a:ea typeface="+mn-ea"/>
                          <a:cs typeface="+mn-cs"/>
                        </a:rPr>
                        <a:t>simple protocol </a:t>
                      </a:r>
                      <a:r>
                        <a:rPr lang="en-US" sz="2800" b="0" i="0" kern="1200" dirty="0">
                          <a:solidFill>
                            <a:schemeClr val="dk1"/>
                          </a:solidFill>
                          <a:effectLst/>
                          <a:latin typeface="+mn-lt"/>
                          <a:ea typeface="+mn-ea"/>
                          <a:cs typeface="+mn-cs"/>
                        </a:rPr>
                        <a:t>to generate data.</a:t>
                      </a:r>
                      <a:endParaRPr lang="en-US" sz="2800" dirty="0"/>
                    </a:p>
                  </a:txBody>
                  <a:tcPr marL="86627" marR="86627" marT="43314" marB="43314">
                    <a:noFill/>
                  </a:tcPr>
                </a:tc>
                <a:tc>
                  <a:txBody>
                    <a:bodyPr/>
                    <a:lstStyle/>
                    <a:p>
                      <a:pPr algn="l"/>
                      <a:r>
                        <a:rPr lang="en-US" sz="2800" b="0" i="0" kern="1200" dirty="0">
                          <a:solidFill>
                            <a:schemeClr val="dk1"/>
                          </a:solidFill>
                          <a:effectLst/>
                          <a:latin typeface="+mn-lt"/>
                          <a:ea typeface="+mn-ea"/>
                          <a:cs typeface="+mn-cs"/>
                        </a:rPr>
                        <a:t>USART is </a:t>
                      </a:r>
                      <a:r>
                        <a:rPr lang="en-US" sz="2800" b="1" i="0" kern="1200" dirty="0">
                          <a:solidFill>
                            <a:srgbClr val="FF0000"/>
                          </a:solidFill>
                          <a:effectLst/>
                          <a:latin typeface="+mn-lt"/>
                          <a:ea typeface="+mn-ea"/>
                          <a:cs typeface="+mn-cs"/>
                        </a:rPr>
                        <a:t>complex and uses many different protocols </a:t>
                      </a:r>
                      <a:r>
                        <a:rPr lang="en-US" sz="2800" b="0" i="0" kern="1200" dirty="0">
                          <a:solidFill>
                            <a:schemeClr val="dk1"/>
                          </a:solidFill>
                          <a:effectLst/>
                          <a:latin typeface="+mn-lt"/>
                          <a:ea typeface="+mn-ea"/>
                          <a:cs typeface="+mn-cs"/>
                        </a:rPr>
                        <a:t>to generate the data for transmissions.</a:t>
                      </a:r>
                      <a:endParaRPr lang="en-US" sz="2800" dirty="0"/>
                    </a:p>
                  </a:txBody>
                  <a:tcPr marL="86627" marR="86627" marT="43314" marB="43314">
                    <a:noFill/>
                  </a:tcPr>
                </a:tc>
                <a:extLst>
                  <a:ext uri="{0D108BD9-81ED-4DB2-BD59-A6C34878D82A}">
                    <a16:rowId xmlns:a16="http://schemas.microsoft.com/office/drawing/2014/main" val="3456959763"/>
                  </a:ext>
                </a:extLst>
              </a:tr>
            </a:tbl>
          </a:graphicData>
        </a:graphic>
      </p:graphicFrame>
    </p:spTree>
    <p:extLst>
      <p:ext uri="{BB962C8B-B14F-4D97-AF65-F5344CB8AC3E}">
        <p14:creationId xmlns:p14="http://schemas.microsoft.com/office/powerpoint/2010/main" val="39382506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05490-3E06-4664-A0F9-5A0E12EEAD5D}"/>
              </a:ext>
            </a:extLst>
          </p:cNvPr>
          <p:cNvSpPr>
            <a:spLocks noGrp="1"/>
          </p:cNvSpPr>
          <p:nvPr>
            <p:ph type="title"/>
          </p:nvPr>
        </p:nvSpPr>
        <p:spPr>
          <a:xfrm>
            <a:off x="1787224" y="197492"/>
            <a:ext cx="10608802" cy="773786"/>
          </a:xfrm>
        </p:spPr>
        <p:txBody>
          <a:bodyPr>
            <a:noAutofit/>
          </a:bodyPr>
          <a:lstStyle/>
          <a:p>
            <a:r>
              <a:rPr lang="en-US" sz="6000" b="1" dirty="0">
                <a:solidFill>
                  <a:srgbClr val="0070C0"/>
                </a:solidFill>
              </a:rPr>
              <a:t>UART/USART</a:t>
            </a:r>
          </a:p>
        </p:txBody>
      </p:sp>
      <p:sp>
        <p:nvSpPr>
          <p:cNvPr id="3" name="Content Placeholder 2">
            <a:extLst>
              <a:ext uri="{FF2B5EF4-FFF2-40B4-BE49-F238E27FC236}">
                <a16:creationId xmlns:a16="http://schemas.microsoft.com/office/drawing/2014/main" id="{C0281081-DA63-4E12-9E58-ABC58B25018F}"/>
              </a:ext>
            </a:extLst>
          </p:cNvPr>
          <p:cNvSpPr>
            <a:spLocks noGrp="1"/>
          </p:cNvSpPr>
          <p:nvPr>
            <p:ph idx="1"/>
          </p:nvPr>
        </p:nvSpPr>
        <p:spPr>
          <a:xfrm>
            <a:off x="322958" y="971278"/>
            <a:ext cx="11284842" cy="3143521"/>
          </a:xfrm>
        </p:spPr>
        <p:txBody>
          <a:bodyPr>
            <a:noAutofit/>
          </a:bodyPr>
          <a:lstStyle/>
          <a:p>
            <a:r>
              <a:rPr lang="en-US" sz="3600" dirty="0"/>
              <a:t>It is an asynchronous/synchronous serial communication.</a:t>
            </a:r>
          </a:p>
          <a:p>
            <a:r>
              <a:rPr lang="en-US" sz="3600" dirty="0"/>
              <a:t>It uses 2 pins in Port D:</a:t>
            </a:r>
          </a:p>
          <a:p>
            <a:pPr marL="0" indent="0">
              <a:buNone/>
            </a:pPr>
            <a:r>
              <a:rPr lang="en-US" sz="3600" dirty="0"/>
              <a:t>                       1. </a:t>
            </a:r>
            <a:r>
              <a:rPr lang="en-US" sz="3600" dirty="0">
                <a:solidFill>
                  <a:schemeClr val="accent1"/>
                </a:solidFill>
              </a:rPr>
              <a:t>TXD/PD1 – The serial data transmission line.</a:t>
            </a:r>
          </a:p>
          <a:p>
            <a:pPr marL="0" indent="0">
              <a:buNone/>
            </a:pPr>
            <a:r>
              <a:rPr lang="en-US" sz="3600" dirty="0"/>
              <a:t>                       2. </a:t>
            </a:r>
            <a:r>
              <a:rPr lang="en-US" sz="3600" dirty="0">
                <a:solidFill>
                  <a:schemeClr val="accent1"/>
                </a:solidFill>
              </a:rPr>
              <a:t>RXD/PD0 – The serial data reception line.  </a:t>
            </a:r>
          </a:p>
          <a:p>
            <a:r>
              <a:rPr lang="en-US" sz="3600" dirty="0"/>
              <a:t>Data is transmitted/received in a serial frame as follows:</a:t>
            </a:r>
          </a:p>
        </p:txBody>
      </p:sp>
      <p:sp>
        <p:nvSpPr>
          <p:cNvPr id="4" name="Date Placeholder 3"/>
          <p:cNvSpPr>
            <a:spLocks noGrp="1"/>
          </p:cNvSpPr>
          <p:nvPr>
            <p:ph type="dt" sz="half" idx="10"/>
          </p:nvPr>
        </p:nvSpPr>
        <p:spPr/>
        <p:txBody>
          <a:bodyPr/>
          <a:lstStyle/>
          <a:p>
            <a:fld id="{029CADFF-EDA5-45FD-B3A8-CE82DFB3C204}" type="datetime3">
              <a:rPr lang="en-US" smtClean="0"/>
              <a:t>3 December 2025</a:t>
            </a:fld>
            <a:endParaRPr lang="en-US"/>
          </a:p>
        </p:txBody>
      </p:sp>
      <p:sp>
        <p:nvSpPr>
          <p:cNvPr id="6" name="Slide Number Placeholder 5"/>
          <p:cNvSpPr>
            <a:spLocks noGrp="1"/>
          </p:cNvSpPr>
          <p:nvPr>
            <p:ph type="sldNum" sz="quarter" idx="12"/>
          </p:nvPr>
        </p:nvSpPr>
        <p:spPr/>
        <p:txBody>
          <a:bodyPr/>
          <a:lstStyle/>
          <a:p>
            <a:fld id="{90416D69-EFB9-4734-9DF5-4234A5F1A98A}" type="slidenum">
              <a:rPr lang="en-US" smtClean="0"/>
              <a:t>8</a:t>
            </a:fld>
            <a:endParaRPr lang="en-US"/>
          </a:p>
        </p:txBody>
      </p:sp>
      <p:pic>
        <p:nvPicPr>
          <p:cNvPr id="9" name="Picture 8">
            <a:extLst>
              <a:ext uri="{FF2B5EF4-FFF2-40B4-BE49-F238E27FC236}">
                <a16:creationId xmlns:a16="http://schemas.microsoft.com/office/drawing/2014/main" id="{B757772E-06EE-4F94-87F2-077DD1075BB5}"/>
              </a:ext>
            </a:extLst>
          </p:cNvPr>
          <p:cNvPicPr>
            <a:picLocks noChangeAspect="1"/>
          </p:cNvPicPr>
          <p:nvPr/>
        </p:nvPicPr>
        <p:blipFill rotWithShape="1">
          <a:blip r:embed="rId2">
            <a:duotone>
              <a:schemeClr val="accent5">
                <a:shade val="45000"/>
                <a:satMod val="135000"/>
              </a:schemeClr>
              <a:prstClr val="white"/>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rcRect l="5778" t="9874" r="13060" b="9865"/>
          <a:stretch/>
        </p:blipFill>
        <p:spPr>
          <a:xfrm>
            <a:off x="698500" y="4114799"/>
            <a:ext cx="10136446" cy="3804834"/>
          </a:xfrm>
          <a:prstGeom prst="rect">
            <a:avLst/>
          </a:prstGeom>
        </p:spPr>
      </p:pic>
      <p:pic>
        <p:nvPicPr>
          <p:cNvPr id="7" name="Picture 2">
            <a:extLst>
              <a:ext uri="{FF2B5EF4-FFF2-40B4-BE49-F238E27FC236}">
                <a16:creationId xmlns:a16="http://schemas.microsoft.com/office/drawing/2014/main" id="{FD57F241-C3C9-B0E4-98E4-A969B6B4C94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9590" t="20882" r="6652" b="18737"/>
          <a:stretch/>
        </p:blipFill>
        <p:spPr bwMode="auto">
          <a:xfrm rot="16200000">
            <a:off x="10371841" y="1710440"/>
            <a:ext cx="7043921" cy="48767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TextBox 7">
            <a:extLst>
              <a:ext uri="{FF2B5EF4-FFF2-40B4-BE49-F238E27FC236}">
                <a16:creationId xmlns:a16="http://schemas.microsoft.com/office/drawing/2014/main" id="{BC2A0845-8047-3816-CE8C-55E4C76EBFB2}"/>
              </a:ext>
            </a:extLst>
          </p:cNvPr>
          <p:cNvSpPr txBox="1"/>
          <p:nvPr/>
        </p:nvSpPr>
        <p:spPr>
          <a:xfrm>
            <a:off x="15363304" y="6840718"/>
            <a:ext cx="816496" cy="588781"/>
          </a:xfrm>
          <a:prstGeom prst="rect">
            <a:avLst/>
          </a:prstGeom>
          <a:noFill/>
          <a:ln w="57150">
            <a:solidFill>
              <a:srgbClr val="FF0000"/>
            </a:solidFill>
            <a:prstDash val="sysDash"/>
          </a:ln>
        </p:spPr>
        <p:txBody>
          <a:bodyPr wrap="square" rtlCol="0">
            <a:spAutoFit/>
          </a:bodyPr>
          <a:lstStyle/>
          <a:p>
            <a:endParaRPr lang="en-US" dirty="0"/>
          </a:p>
        </p:txBody>
      </p:sp>
      <p:cxnSp>
        <p:nvCxnSpPr>
          <p:cNvPr id="12" name="Straight Arrow Connector 11">
            <a:extLst>
              <a:ext uri="{FF2B5EF4-FFF2-40B4-BE49-F238E27FC236}">
                <a16:creationId xmlns:a16="http://schemas.microsoft.com/office/drawing/2014/main" id="{24A2733F-1D68-975F-EB66-FE4D08CC8BCB}"/>
              </a:ext>
            </a:extLst>
          </p:cNvPr>
          <p:cNvCxnSpPr>
            <a:cxnSpLocks/>
          </p:cNvCxnSpPr>
          <p:nvPr/>
        </p:nvCxnSpPr>
        <p:spPr>
          <a:xfrm>
            <a:off x="10820400" y="2895600"/>
            <a:ext cx="4445000" cy="3932418"/>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32157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1"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wheel(1)">
                                      <p:cBhvr>
                                        <p:cTn id="14" dur="2000"/>
                                        <p:tgtEl>
                                          <p:spTgt spid="8"/>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up)">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7837E-70B8-46B7-8AFA-539085F7413E}"/>
              </a:ext>
            </a:extLst>
          </p:cNvPr>
          <p:cNvSpPr>
            <a:spLocks noGrp="1"/>
          </p:cNvSpPr>
          <p:nvPr>
            <p:ph type="title"/>
          </p:nvPr>
        </p:nvSpPr>
        <p:spPr>
          <a:xfrm>
            <a:off x="1936854" y="164986"/>
            <a:ext cx="9962147" cy="762482"/>
          </a:xfrm>
        </p:spPr>
        <p:txBody>
          <a:bodyPr>
            <a:noAutofit/>
          </a:bodyPr>
          <a:lstStyle/>
          <a:p>
            <a:r>
              <a:rPr lang="en-US" sz="6000" b="1" dirty="0">
                <a:solidFill>
                  <a:srgbClr val="0070C0"/>
                </a:solidFill>
              </a:rPr>
              <a:t>USART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75D36A7-5838-4265-9271-99473B5BE135}"/>
                  </a:ext>
                </a:extLst>
              </p:cNvPr>
              <p:cNvSpPr>
                <a:spLocks noGrp="1"/>
              </p:cNvSpPr>
              <p:nvPr>
                <p:ph idx="1"/>
              </p:nvPr>
            </p:nvSpPr>
            <p:spPr>
              <a:xfrm>
                <a:off x="207807" y="927468"/>
                <a:ext cx="16068513" cy="6662052"/>
              </a:xfrm>
            </p:spPr>
            <p:txBody>
              <a:bodyPr>
                <a:noAutofit/>
              </a:bodyPr>
              <a:lstStyle/>
              <a:p>
                <a:r>
                  <a:rPr lang="en-US" sz="4000" dirty="0">
                    <a:solidFill>
                      <a:schemeClr val="accent1"/>
                    </a:solidFill>
                  </a:rPr>
                  <a:t>Each bit is sent with a specific time duration τ</a:t>
                </a:r>
                <a:r>
                  <a:rPr lang="en-US" sz="4000" dirty="0"/>
                  <a:t>, called </a:t>
                </a:r>
                <a:r>
                  <a:rPr lang="en-US" sz="4000" b="1" dirty="0">
                    <a:solidFill>
                      <a:srgbClr val="FF0000"/>
                    </a:solidFill>
                  </a:rPr>
                  <a:t>bit-time</a:t>
                </a:r>
                <a:r>
                  <a:rPr lang="en-US" sz="4000" dirty="0"/>
                  <a:t>. </a:t>
                </a:r>
                <a:r>
                  <a:rPr lang="en-US" sz="4000" dirty="0">
                    <a:solidFill>
                      <a:schemeClr val="accent1"/>
                    </a:solidFill>
                    <a:highlight>
                      <a:srgbClr val="FFFF00"/>
                    </a:highlight>
                  </a:rPr>
                  <a:t>The smaller is τ, the faster is data transmission</a:t>
                </a:r>
                <a:r>
                  <a:rPr lang="en-US" sz="4000" dirty="0"/>
                  <a:t>. The rate of data transmission/reception is called the </a:t>
                </a:r>
                <a:r>
                  <a:rPr lang="en-US" sz="4000" b="1" dirty="0">
                    <a:solidFill>
                      <a:srgbClr val="FF0000"/>
                    </a:solidFill>
                  </a:rPr>
                  <a:t>Baud rate</a:t>
                </a:r>
                <a:r>
                  <a:rPr lang="en-US" sz="4000" dirty="0"/>
                  <a:t>.</a:t>
                </a:r>
              </a:p>
              <a:p>
                <a:r>
                  <a:rPr lang="en-US" sz="4000" b="1" dirty="0">
                    <a:solidFill>
                      <a:srgbClr val="0070C0"/>
                    </a:solidFill>
                  </a:rPr>
                  <a:t>Standard Baud rates are: </a:t>
                </a:r>
                <a:r>
                  <a:rPr lang="en-US" sz="4000" dirty="0"/>
                  <a:t>300, 600, 1200, 2400, 4800, 9600, 14400,19200, 38400, 57600, 115200, 230400, ... bps  </a:t>
                </a:r>
                <a:r>
                  <a:rPr lang="en-US" sz="4000" i="1" dirty="0"/>
                  <a:t> </a:t>
                </a:r>
                <a:endParaRPr lang="en-US" sz="4000" dirty="0"/>
              </a:p>
              <a:p>
                <a:r>
                  <a:rPr lang="en-US" sz="4000" dirty="0"/>
                  <a:t>In the ATmega328, the Baud rate is generated from internal clock. The Baud rates at the transmitter and receptor </a:t>
                </a:r>
                <a:r>
                  <a:rPr lang="en-US" sz="4000" b="1" dirty="0">
                    <a:solidFill>
                      <a:srgbClr val="FF0000"/>
                    </a:solidFill>
                  </a:rPr>
                  <a:t>must be the same </a:t>
                </a:r>
                <a:r>
                  <a:rPr lang="en-US" sz="4000" dirty="0"/>
                  <a:t>to avoid communication error.</a:t>
                </a:r>
              </a:p>
              <a:p>
                <a:r>
                  <a:rPr lang="en-US" sz="4000" b="1" dirty="0">
                    <a:solidFill>
                      <a:srgbClr val="00B050"/>
                    </a:solidFill>
                  </a:rPr>
                  <a:t>The baud error should be &lt; ± 2% </a:t>
                </a:r>
                <a:r>
                  <a:rPr lang="en-US" sz="4000" b="1" dirty="0">
                    <a:solidFill>
                      <a:srgbClr val="FF0000"/>
                    </a:solidFill>
                  </a:rPr>
                  <a:t>to avoid communication error.</a:t>
                </a:r>
              </a:p>
              <a:p>
                <a14:m>
                  <m:oMath xmlns:m="http://schemas.openxmlformats.org/officeDocument/2006/math">
                    <m:r>
                      <a:rPr lang="en-US" sz="4000" b="1" i="1" smtClean="0">
                        <a:solidFill>
                          <a:srgbClr val="0070C0"/>
                        </a:solidFill>
                        <a:latin typeface="Cambria Math" panose="02040503050406030204" pitchFamily="18" charset="0"/>
                      </a:rPr>
                      <m:t>𝑩𝒂𝒖𝒅</m:t>
                    </m:r>
                    <m:r>
                      <a:rPr lang="en-US" sz="4000" b="1" i="1" smtClean="0">
                        <a:solidFill>
                          <a:srgbClr val="0070C0"/>
                        </a:solidFill>
                        <a:latin typeface="Cambria Math" panose="02040503050406030204" pitchFamily="18" charset="0"/>
                      </a:rPr>
                      <m:t> </m:t>
                    </m:r>
                    <m:r>
                      <a:rPr lang="en-US" sz="4000" b="1" i="1" smtClean="0">
                        <a:solidFill>
                          <a:srgbClr val="0070C0"/>
                        </a:solidFill>
                        <a:latin typeface="Cambria Math" panose="02040503050406030204" pitchFamily="18" charset="0"/>
                      </a:rPr>
                      <m:t>𝒆𝒓𝒓𝒐𝒓</m:t>
                    </m:r>
                    <m:r>
                      <a:rPr lang="en-US" sz="4000" b="1" i="1" smtClean="0">
                        <a:solidFill>
                          <a:srgbClr val="0070C0"/>
                        </a:solidFill>
                        <a:latin typeface="Cambria Math" panose="02040503050406030204" pitchFamily="18" charset="0"/>
                      </a:rPr>
                      <m:t> </m:t>
                    </m:r>
                    <m:r>
                      <a:rPr lang="en-US" sz="4000" b="1" i="1" smtClean="0">
                        <a:solidFill>
                          <a:srgbClr val="0070C0"/>
                        </a:solidFill>
                        <a:latin typeface="Cambria Math" panose="02040503050406030204" pitchFamily="18" charset="0"/>
                      </a:rPr>
                      <m:t>𝒓𝒂𝒕𝒆</m:t>
                    </m:r>
                    <m:r>
                      <a:rPr lang="en-US" sz="4000" b="1" i="1" smtClean="0">
                        <a:solidFill>
                          <a:srgbClr val="0070C0"/>
                        </a:solidFill>
                        <a:latin typeface="Cambria Math" panose="02040503050406030204" pitchFamily="18" charset="0"/>
                      </a:rPr>
                      <m:t>=</m:t>
                    </m:r>
                    <m:f>
                      <m:fPr>
                        <m:ctrlPr>
                          <a:rPr lang="en-US" sz="4000" b="1" i="1" smtClean="0">
                            <a:solidFill>
                              <a:srgbClr val="0070C0"/>
                            </a:solidFill>
                            <a:latin typeface="Cambria Math" panose="02040503050406030204" pitchFamily="18" charset="0"/>
                          </a:rPr>
                        </m:ctrlPr>
                      </m:fPr>
                      <m:num>
                        <m:r>
                          <a:rPr lang="en-US" sz="4000" b="1" i="1" smtClean="0">
                            <a:solidFill>
                              <a:srgbClr val="0070C0"/>
                            </a:solidFill>
                            <a:latin typeface="Cambria Math" panose="02040503050406030204" pitchFamily="18" charset="0"/>
                          </a:rPr>
                          <m:t>𝑺𝒕𝒂𝒏𝒅𝒂𝒓𝒅</m:t>
                        </m:r>
                        <m:r>
                          <a:rPr lang="en-US" sz="4000" b="1" i="1" smtClean="0">
                            <a:solidFill>
                              <a:srgbClr val="0070C0"/>
                            </a:solidFill>
                            <a:latin typeface="Cambria Math" panose="02040503050406030204" pitchFamily="18" charset="0"/>
                          </a:rPr>
                          <m:t> </m:t>
                        </m:r>
                        <m:r>
                          <a:rPr lang="en-US" sz="4000" b="1" i="1" smtClean="0">
                            <a:solidFill>
                              <a:srgbClr val="0070C0"/>
                            </a:solidFill>
                            <a:latin typeface="Cambria Math" panose="02040503050406030204" pitchFamily="18" charset="0"/>
                          </a:rPr>
                          <m:t>𝒃𝒂𝒖𝒅</m:t>
                        </m:r>
                        <m:r>
                          <a:rPr lang="en-US" sz="4000" b="1" i="1" smtClean="0">
                            <a:solidFill>
                              <a:srgbClr val="0070C0"/>
                            </a:solidFill>
                            <a:latin typeface="Cambria Math" panose="02040503050406030204" pitchFamily="18" charset="0"/>
                          </a:rPr>
                          <m:t> </m:t>
                        </m:r>
                        <m:r>
                          <a:rPr lang="en-US" sz="4000" b="1" i="1" smtClean="0">
                            <a:solidFill>
                              <a:srgbClr val="0070C0"/>
                            </a:solidFill>
                            <a:latin typeface="Cambria Math" panose="02040503050406030204" pitchFamily="18" charset="0"/>
                          </a:rPr>
                          <m:t>𝒓𝒂𝒕𝒆</m:t>
                        </m:r>
                        <m:r>
                          <a:rPr lang="en-US" sz="4000" b="1" i="1" smtClean="0">
                            <a:solidFill>
                              <a:srgbClr val="0070C0"/>
                            </a:solidFill>
                            <a:latin typeface="Cambria Math" panose="02040503050406030204" pitchFamily="18" charset="0"/>
                          </a:rPr>
                          <m:t>−</m:t>
                        </m:r>
                        <m:r>
                          <a:rPr lang="en-US" sz="4000" b="1" i="1" smtClean="0">
                            <a:solidFill>
                              <a:srgbClr val="0070C0"/>
                            </a:solidFill>
                            <a:latin typeface="Cambria Math" panose="02040503050406030204" pitchFamily="18" charset="0"/>
                          </a:rPr>
                          <m:t>𝑪𝒂𝒍𝒄𝒖𝒍𝒂𝒕𝒆𝒅</m:t>
                        </m:r>
                        <m:r>
                          <a:rPr lang="en-US" sz="4000" b="1" i="1" smtClean="0">
                            <a:solidFill>
                              <a:srgbClr val="0070C0"/>
                            </a:solidFill>
                            <a:latin typeface="Cambria Math" panose="02040503050406030204" pitchFamily="18" charset="0"/>
                          </a:rPr>
                          <m:t> </m:t>
                        </m:r>
                        <m:r>
                          <a:rPr lang="en-US" sz="4000" b="1" i="1" smtClean="0">
                            <a:solidFill>
                              <a:srgbClr val="0070C0"/>
                            </a:solidFill>
                            <a:latin typeface="Cambria Math" panose="02040503050406030204" pitchFamily="18" charset="0"/>
                          </a:rPr>
                          <m:t>𝒃𝒂𝒖𝒅</m:t>
                        </m:r>
                        <m:r>
                          <a:rPr lang="en-US" sz="4000" b="1" i="1" smtClean="0">
                            <a:solidFill>
                              <a:srgbClr val="0070C0"/>
                            </a:solidFill>
                            <a:latin typeface="Cambria Math" panose="02040503050406030204" pitchFamily="18" charset="0"/>
                          </a:rPr>
                          <m:t> </m:t>
                        </m:r>
                        <m:r>
                          <a:rPr lang="en-US" sz="4000" b="1" i="1" smtClean="0">
                            <a:solidFill>
                              <a:srgbClr val="0070C0"/>
                            </a:solidFill>
                            <a:latin typeface="Cambria Math" panose="02040503050406030204" pitchFamily="18" charset="0"/>
                          </a:rPr>
                          <m:t>𝒓𝒂𝒕𝒆</m:t>
                        </m:r>
                      </m:num>
                      <m:den>
                        <m:r>
                          <a:rPr lang="en-US" sz="4000" b="1" i="1">
                            <a:solidFill>
                              <a:srgbClr val="0070C0"/>
                            </a:solidFill>
                            <a:latin typeface="Cambria Math" panose="02040503050406030204" pitchFamily="18" charset="0"/>
                          </a:rPr>
                          <m:t>𝑺𝒕𝒂𝒏𝒅𝒂𝒓𝒅</m:t>
                        </m:r>
                        <m:r>
                          <a:rPr lang="en-US" sz="4000" b="1" i="1">
                            <a:solidFill>
                              <a:srgbClr val="0070C0"/>
                            </a:solidFill>
                            <a:latin typeface="Cambria Math" panose="02040503050406030204" pitchFamily="18" charset="0"/>
                          </a:rPr>
                          <m:t> </m:t>
                        </m:r>
                        <m:r>
                          <a:rPr lang="en-US" sz="4000" b="1" i="1">
                            <a:solidFill>
                              <a:srgbClr val="0070C0"/>
                            </a:solidFill>
                            <a:latin typeface="Cambria Math" panose="02040503050406030204" pitchFamily="18" charset="0"/>
                          </a:rPr>
                          <m:t>𝒃𝒂𝒖𝒅</m:t>
                        </m:r>
                        <m:r>
                          <a:rPr lang="en-US" sz="4000" b="1" i="1">
                            <a:solidFill>
                              <a:srgbClr val="0070C0"/>
                            </a:solidFill>
                            <a:latin typeface="Cambria Math" panose="02040503050406030204" pitchFamily="18" charset="0"/>
                          </a:rPr>
                          <m:t> </m:t>
                        </m:r>
                        <m:r>
                          <a:rPr lang="en-US" sz="4000" b="1" i="1">
                            <a:solidFill>
                              <a:srgbClr val="0070C0"/>
                            </a:solidFill>
                            <a:latin typeface="Cambria Math" panose="02040503050406030204" pitchFamily="18" charset="0"/>
                          </a:rPr>
                          <m:t>𝒓𝒂𝒕𝒆</m:t>
                        </m:r>
                      </m:den>
                    </m:f>
                    <m:r>
                      <a:rPr lang="en-US" sz="4000" b="1" i="1" smtClean="0">
                        <a:solidFill>
                          <a:srgbClr val="0070C0"/>
                        </a:solidFill>
                        <a:latin typeface="Cambria Math" panose="02040503050406030204" pitchFamily="18" charset="0"/>
                        <a:ea typeface="Cambria Math" panose="02040503050406030204" pitchFamily="18" charset="0"/>
                      </a:rPr>
                      <m:t>×</m:t>
                    </m:r>
                    <m:r>
                      <a:rPr lang="en-US" sz="4000" b="1" i="1" smtClean="0">
                        <a:solidFill>
                          <a:srgbClr val="0070C0"/>
                        </a:solidFill>
                        <a:latin typeface="Cambria Math" panose="02040503050406030204" pitchFamily="18" charset="0"/>
                        <a:ea typeface="Cambria Math" panose="02040503050406030204" pitchFamily="18" charset="0"/>
                      </a:rPr>
                      <m:t>𝟏𝟎𝟎</m:t>
                    </m:r>
                    <m:r>
                      <a:rPr lang="en-US" sz="4000" b="1" i="1" smtClean="0">
                        <a:solidFill>
                          <a:srgbClr val="0070C0"/>
                        </a:solidFill>
                        <a:latin typeface="Cambria Math" panose="02040503050406030204" pitchFamily="18" charset="0"/>
                        <a:ea typeface="Cambria Math" panose="02040503050406030204" pitchFamily="18" charset="0"/>
                      </a:rPr>
                      <m:t>%</m:t>
                    </m:r>
                  </m:oMath>
                </a14:m>
                <a:endParaRPr lang="en-US" sz="4000" b="1" dirty="0">
                  <a:solidFill>
                    <a:srgbClr val="0070C0"/>
                  </a:solidFill>
                </a:endParaRPr>
              </a:p>
            </p:txBody>
          </p:sp>
        </mc:Choice>
        <mc:Fallback xmlns="">
          <p:sp>
            <p:nvSpPr>
              <p:cNvPr id="3" name="Content Placeholder 2">
                <a:extLst>
                  <a:ext uri="{FF2B5EF4-FFF2-40B4-BE49-F238E27FC236}">
                    <a16:creationId xmlns:a16="http://schemas.microsoft.com/office/drawing/2014/main" id="{B75D36A7-5838-4265-9271-99473B5BE135}"/>
                  </a:ext>
                </a:extLst>
              </p:cNvPr>
              <p:cNvSpPr>
                <a:spLocks noGrp="1" noRot="1" noChangeAspect="1" noMove="1" noResize="1" noEditPoints="1" noAdjustHandles="1" noChangeArrowheads="1" noChangeShapeType="1" noTextEdit="1"/>
              </p:cNvSpPr>
              <p:nvPr>
                <p:ph idx="1"/>
              </p:nvPr>
            </p:nvSpPr>
            <p:spPr>
              <a:xfrm>
                <a:off x="207807" y="927468"/>
                <a:ext cx="16068513" cy="6662052"/>
              </a:xfrm>
              <a:blipFill>
                <a:blip r:embed="rId2"/>
                <a:stretch>
                  <a:fillRect l="-1214" t="-2562" r="-1517"/>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2D5A470A-880F-4601-98B1-D969CE1335CC}" type="datetime3">
              <a:rPr lang="en-US" smtClean="0"/>
              <a:t>3 December 2025</a:t>
            </a:fld>
            <a:endParaRPr lang="en-US"/>
          </a:p>
        </p:txBody>
      </p:sp>
      <p:sp>
        <p:nvSpPr>
          <p:cNvPr id="6" name="Slide Number Placeholder 5"/>
          <p:cNvSpPr>
            <a:spLocks noGrp="1"/>
          </p:cNvSpPr>
          <p:nvPr>
            <p:ph type="sldNum" sz="quarter" idx="12"/>
          </p:nvPr>
        </p:nvSpPr>
        <p:spPr/>
        <p:txBody>
          <a:bodyPr/>
          <a:lstStyle/>
          <a:p>
            <a:fld id="{90416D69-EFB9-4734-9DF5-4234A5F1A98A}" type="slidenum">
              <a:rPr lang="en-US" smtClean="0"/>
              <a:t>9</a:t>
            </a:fld>
            <a:endParaRPr lang="en-US"/>
          </a:p>
        </p:txBody>
      </p:sp>
    </p:spTree>
    <p:extLst>
      <p:ext uri="{BB962C8B-B14F-4D97-AF65-F5344CB8AC3E}">
        <p14:creationId xmlns:p14="http://schemas.microsoft.com/office/powerpoint/2010/main" val="108547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7837E-70B8-46B7-8AFA-539085F7413E}"/>
              </a:ext>
            </a:extLst>
          </p:cNvPr>
          <p:cNvSpPr>
            <a:spLocks noGrp="1"/>
          </p:cNvSpPr>
          <p:nvPr>
            <p:ph type="title"/>
          </p:nvPr>
        </p:nvSpPr>
        <p:spPr>
          <a:xfrm>
            <a:off x="1737349" y="138713"/>
            <a:ext cx="11140379" cy="1255797"/>
          </a:xfrm>
        </p:spPr>
        <p:txBody>
          <a:bodyPr>
            <a:noAutofit/>
          </a:bodyPr>
          <a:lstStyle/>
          <a:p>
            <a:r>
              <a:rPr lang="en-US" sz="5400" b="1" dirty="0">
                <a:solidFill>
                  <a:srgbClr val="0070C0"/>
                </a:solidFill>
              </a:rPr>
              <a:t>USART: </a:t>
            </a:r>
            <a:r>
              <a:rPr lang="en-CA" sz="5400" b="1" dirty="0">
                <a:solidFill>
                  <a:srgbClr val="0070C0"/>
                </a:solidFill>
              </a:rPr>
              <a:t>Internal Clock Generation –</a:t>
            </a:r>
            <a:br>
              <a:rPr lang="en-CA" sz="5400" b="1" dirty="0">
                <a:solidFill>
                  <a:srgbClr val="0070C0"/>
                </a:solidFill>
              </a:rPr>
            </a:br>
            <a:r>
              <a:rPr lang="en-CA" sz="5400" b="1" dirty="0">
                <a:solidFill>
                  <a:srgbClr val="0070C0"/>
                </a:solidFill>
              </a:rPr>
              <a:t>The Baud Rate Generator</a:t>
            </a:r>
            <a:endParaRPr lang="en-US" sz="5400" b="1" dirty="0">
              <a:solidFill>
                <a:srgbClr val="0070C0"/>
              </a:solidFill>
            </a:endParaRPr>
          </a:p>
        </p:txBody>
      </p:sp>
      <p:sp>
        <p:nvSpPr>
          <p:cNvPr id="3" name="Content Placeholder 2">
            <a:extLst>
              <a:ext uri="{FF2B5EF4-FFF2-40B4-BE49-F238E27FC236}">
                <a16:creationId xmlns:a16="http://schemas.microsoft.com/office/drawing/2014/main" id="{B75D36A7-5838-4265-9271-99473B5BE135}"/>
              </a:ext>
            </a:extLst>
          </p:cNvPr>
          <p:cNvSpPr>
            <a:spLocks noGrp="1"/>
          </p:cNvSpPr>
          <p:nvPr>
            <p:ph idx="1"/>
          </p:nvPr>
        </p:nvSpPr>
        <p:spPr>
          <a:xfrm>
            <a:off x="257681" y="1497566"/>
            <a:ext cx="16002012" cy="6183391"/>
          </a:xfrm>
        </p:spPr>
        <p:txBody>
          <a:bodyPr>
            <a:noAutofit/>
          </a:bodyPr>
          <a:lstStyle/>
          <a:p>
            <a:pPr>
              <a:spcBef>
                <a:spcPts val="0"/>
              </a:spcBef>
            </a:pPr>
            <a:r>
              <a:rPr lang="en-CA" sz="4000" dirty="0"/>
              <a:t>Internal clock generation is used for the asynchronous and the synchronous master modes of operation. </a:t>
            </a:r>
          </a:p>
          <a:p>
            <a:pPr>
              <a:spcBef>
                <a:spcPts val="0"/>
              </a:spcBef>
            </a:pPr>
            <a:r>
              <a:rPr lang="en-CA" sz="4000" dirty="0"/>
              <a:t>The </a:t>
            </a:r>
            <a:r>
              <a:rPr lang="en-CA" sz="4000" b="1" dirty="0">
                <a:solidFill>
                  <a:srgbClr val="FF0000"/>
                </a:solidFill>
              </a:rPr>
              <a:t>USART Baud Rate Register (</a:t>
            </a:r>
            <a:r>
              <a:rPr lang="en-CA" sz="4000" b="1" dirty="0" err="1">
                <a:solidFill>
                  <a:srgbClr val="FF0000"/>
                </a:solidFill>
              </a:rPr>
              <a:t>UBRRn</a:t>
            </a:r>
            <a:r>
              <a:rPr lang="en-CA" sz="4000" b="1" dirty="0">
                <a:solidFill>
                  <a:srgbClr val="FF0000"/>
                </a:solidFill>
              </a:rPr>
              <a:t>)</a:t>
            </a:r>
            <a:r>
              <a:rPr lang="en-CA" sz="4000" dirty="0"/>
              <a:t> and the down-counter connected to it functions as a baud rate generator. </a:t>
            </a:r>
          </a:p>
          <a:p>
            <a:pPr>
              <a:spcBef>
                <a:spcPts val="0"/>
              </a:spcBef>
            </a:pPr>
            <a:r>
              <a:rPr lang="en-CA" sz="4000" dirty="0"/>
              <a:t>The down-counter, running at </a:t>
            </a:r>
            <a:r>
              <a:rPr lang="en-CA" sz="4000" dirty="0">
                <a:solidFill>
                  <a:srgbClr val="FF0000"/>
                </a:solidFill>
              </a:rPr>
              <a:t>system oscillator clock frequency (</a:t>
            </a:r>
            <a:r>
              <a:rPr lang="en-CA" sz="4000" i="1" dirty="0" err="1">
                <a:solidFill>
                  <a:srgbClr val="FF0000"/>
                </a:solidFill>
              </a:rPr>
              <a:t>f</a:t>
            </a:r>
            <a:r>
              <a:rPr lang="en-CA" sz="4000" i="1" baseline="-25000" dirty="0" err="1">
                <a:solidFill>
                  <a:srgbClr val="FF0000"/>
                </a:solidFill>
              </a:rPr>
              <a:t>osc</a:t>
            </a:r>
            <a:r>
              <a:rPr lang="en-CA" sz="4000" dirty="0">
                <a:solidFill>
                  <a:srgbClr val="FF0000"/>
                </a:solidFill>
              </a:rPr>
              <a:t>)</a:t>
            </a:r>
            <a:r>
              <a:rPr lang="en-CA" sz="4000" dirty="0"/>
              <a:t>, is loaded with the </a:t>
            </a:r>
            <a:r>
              <a:rPr lang="en-CA" sz="4000" b="1" dirty="0" err="1">
                <a:solidFill>
                  <a:srgbClr val="FF0000"/>
                </a:solidFill>
              </a:rPr>
              <a:t>UBRRn</a:t>
            </a:r>
            <a:r>
              <a:rPr lang="en-CA" sz="4000" b="1" dirty="0">
                <a:solidFill>
                  <a:srgbClr val="FF0000"/>
                </a:solidFill>
              </a:rPr>
              <a:t> value</a:t>
            </a:r>
            <a:r>
              <a:rPr lang="en-CA" sz="4000" dirty="0"/>
              <a:t>, </a:t>
            </a:r>
            <a:r>
              <a:rPr lang="en-CA" sz="4000" b="1" dirty="0">
                <a:solidFill>
                  <a:srgbClr val="0070C0"/>
                </a:solidFill>
              </a:rPr>
              <a:t>each time the counter has counted down to zero</a:t>
            </a:r>
            <a:r>
              <a:rPr lang="en-CA" sz="4000" dirty="0"/>
              <a:t>, thus a clock is generated. </a:t>
            </a:r>
          </a:p>
          <a:p>
            <a:pPr>
              <a:spcBef>
                <a:spcPts val="0"/>
              </a:spcBef>
            </a:pPr>
            <a:r>
              <a:rPr lang="en-CA" sz="4000" dirty="0"/>
              <a:t>The </a:t>
            </a:r>
            <a:r>
              <a:rPr lang="en-CA" sz="4000" dirty="0">
                <a:solidFill>
                  <a:srgbClr val="FF0000"/>
                </a:solidFill>
              </a:rPr>
              <a:t>Transmitter divides the baud rate generator clock output </a:t>
            </a:r>
            <a:r>
              <a:rPr lang="en-CA" sz="4000" dirty="0"/>
              <a:t>by </a:t>
            </a:r>
            <a:r>
              <a:rPr lang="en-CA" sz="4000" dirty="0">
                <a:solidFill>
                  <a:srgbClr val="0070C0"/>
                </a:solidFill>
              </a:rPr>
              <a:t>2, 8, or 16 </a:t>
            </a:r>
            <a:r>
              <a:rPr lang="en-CA" sz="4000" dirty="0"/>
              <a:t>depending on mode. </a:t>
            </a:r>
          </a:p>
          <a:p>
            <a:pPr>
              <a:spcBef>
                <a:spcPts val="0"/>
              </a:spcBef>
            </a:pPr>
            <a:r>
              <a:rPr lang="en-CA" sz="4000" dirty="0"/>
              <a:t>The </a:t>
            </a:r>
            <a:r>
              <a:rPr lang="en-CA" sz="4000" dirty="0">
                <a:solidFill>
                  <a:srgbClr val="FF0000"/>
                </a:solidFill>
              </a:rPr>
              <a:t>baud rate generator output is used directly by the </a:t>
            </a:r>
            <a:r>
              <a:rPr lang="en-CA" sz="4000" b="1" dirty="0">
                <a:solidFill>
                  <a:srgbClr val="FF0000"/>
                </a:solidFill>
              </a:rPr>
              <a:t>Receiver’s clock </a:t>
            </a:r>
            <a:r>
              <a:rPr lang="en-CA" sz="4000" dirty="0"/>
              <a:t>and </a:t>
            </a:r>
            <a:r>
              <a:rPr lang="en-CA" sz="4000" b="1" dirty="0">
                <a:solidFill>
                  <a:srgbClr val="FF0000"/>
                </a:solidFill>
              </a:rPr>
              <a:t>data recovery units</a:t>
            </a:r>
            <a:r>
              <a:rPr lang="en-CA" sz="4000" dirty="0"/>
              <a:t>.</a:t>
            </a:r>
          </a:p>
          <a:p>
            <a:pPr marL="0" indent="0">
              <a:spcBef>
                <a:spcPts val="0"/>
              </a:spcBef>
              <a:buNone/>
            </a:pPr>
            <a:endParaRPr lang="en-US" sz="4000" dirty="0"/>
          </a:p>
        </p:txBody>
      </p:sp>
      <p:sp>
        <p:nvSpPr>
          <p:cNvPr id="4" name="Date Placeholder 3"/>
          <p:cNvSpPr>
            <a:spLocks noGrp="1"/>
          </p:cNvSpPr>
          <p:nvPr>
            <p:ph type="dt" sz="half" idx="10"/>
          </p:nvPr>
        </p:nvSpPr>
        <p:spPr/>
        <p:txBody>
          <a:bodyPr/>
          <a:lstStyle/>
          <a:p>
            <a:fld id="{68FC32D6-C293-4B16-9B39-153E703B5A11}" type="datetime3">
              <a:rPr lang="en-US" smtClean="0"/>
              <a:t>3 December 2025</a:t>
            </a:fld>
            <a:endParaRPr lang="en-US"/>
          </a:p>
        </p:txBody>
      </p:sp>
      <p:sp>
        <p:nvSpPr>
          <p:cNvPr id="6" name="Slide Number Placeholder 5"/>
          <p:cNvSpPr>
            <a:spLocks noGrp="1"/>
          </p:cNvSpPr>
          <p:nvPr>
            <p:ph type="sldNum" sz="quarter" idx="12"/>
          </p:nvPr>
        </p:nvSpPr>
        <p:spPr/>
        <p:txBody>
          <a:bodyPr/>
          <a:lstStyle/>
          <a:p>
            <a:fld id="{90416D69-EFB9-4734-9DF5-4234A5F1A98A}" type="slidenum">
              <a:rPr lang="en-US" smtClean="0"/>
              <a:t>10</a:t>
            </a:fld>
            <a:endParaRPr lang="en-US"/>
          </a:p>
        </p:txBody>
      </p:sp>
    </p:spTree>
    <p:extLst>
      <p:ext uri="{BB962C8B-B14F-4D97-AF65-F5344CB8AC3E}">
        <p14:creationId xmlns:p14="http://schemas.microsoft.com/office/powerpoint/2010/main" val="1264112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7837E-70B8-46B7-8AFA-539085F7413E}"/>
              </a:ext>
            </a:extLst>
          </p:cNvPr>
          <p:cNvSpPr>
            <a:spLocks noGrp="1"/>
          </p:cNvSpPr>
          <p:nvPr>
            <p:ph type="title"/>
          </p:nvPr>
        </p:nvSpPr>
        <p:spPr>
          <a:xfrm>
            <a:off x="1737349" y="122088"/>
            <a:ext cx="11140379" cy="930333"/>
          </a:xfrm>
        </p:spPr>
        <p:txBody>
          <a:bodyPr>
            <a:noAutofit/>
          </a:bodyPr>
          <a:lstStyle/>
          <a:p>
            <a:r>
              <a:rPr lang="en-US" sz="6000" b="1" dirty="0">
                <a:solidFill>
                  <a:srgbClr val="0070C0"/>
                </a:solidFill>
              </a:rPr>
              <a:t>Calcul</a:t>
            </a:r>
            <a:r>
              <a:rPr lang="en-CA" sz="6000" b="1" dirty="0">
                <a:solidFill>
                  <a:srgbClr val="0070C0"/>
                </a:solidFill>
              </a:rPr>
              <a:t>ation of the Baud Rate</a:t>
            </a:r>
            <a:endParaRPr lang="en-US" sz="6000" b="1" dirty="0">
              <a:solidFill>
                <a:srgbClr val="0070C0"/>
              </a:solidFill>
            </a:endParaRPr>
          </a:p>
        </p:txBody>
      </p:sp>
      <p:sp>
        <p:nvSpPr>
          <p:cNvPr id="4" name="Date Placeholder 3"/>
          <p:cNvSpPr>
            <a:spLocks noGrp="1"/>
          </p:cNvSpPr>
          <p:nvPr>
            <p:ph type="dt" sz="half" idx="10"/>
          </p:nvPr>
        </p:nvSpPr>
        <p:spPr/>
        <p:txBody>
          <a:bodyPr/>
          <a:lstStyle/>
          <a:p>
            <a:fld id="{68FC32D6-C293-4B16-9B39-153E703B5A11}" type="datetime3">
              <a:rPr lang="en-US" smtClean="0"/>
              <a:t>3 December 2025</a:t>
            </a:fld>
            <a:endParaRPr lang="en-US"/>
          </a:p>
        </p:txBody>
      </p:sp>
      <p:sp>
        <p:nvSpPr>
          <p:cNvPr id="6" name="Slide Number Placeholder 5"/>
          <p:cNvSpPr>
            <a:spLocks noGrp="1"/>
          </p:cNvSpPr>
          <p:nvPr>
            <p:ph type="sldNum" sz="quarter" idx="12"/>
          </p:nvPr>
        </p:nvSpPr>
        <p:spPr/>
        <p:txBody>
          <a:bodyPr/>
          <a:lstStyle/>
          <a:p>
            <a:fld id="{90416D69-EFB9-4734-9DF5-4234A5F1A98A}" type="slidenum">
              <a:rPr lang="en-US" smtClean="0"/>
              <a:t>11</a:t>
            </a:fld>
            <a:endParaRPr lang="en-US"/>
          </a:p>
        </p:txBody>
      </p:sp>
      <mc:AlternateContent xmlns:mc="http://schemas.openxmlformats.org/markup-compatibility/2006">
        <mc:Choice xmlns:a14="http://schemas.microsoft.com/office/drawing/2010/main" Requires="a14">
          <p:graphicFrame>
            <p:nvGraphicFramePr>
              <p:cNvPr id="3" name="Table 2"/>
              <p:cNvGraphicFramePr>
                <a:graphicFrameLocks noGrp="1"/>
              </p:cNvGraphicFramePr>
              <p:nvPr>
                <p:extLst>
                  <p:ext uri="{D42A27DB-BD31-4B8C-83A1-F6EECF244321}">
                    <p14:modId xmlns:p14="http://schemas.microsoft.com/office/powerpoint/2010/main" val="3439092105"/>
                  </p:ext>
                </p:extLst>
              </p:nvPr>
            </p:nvGraphicFramePr>
            <p:xfrm>
              <a:off x="237181" y="1435505"/>
              <a:ext cx="16047309" cy="3902775"/>
            </p:xfrm>
            <a:graphic>
              <a:graphicData uri="http://schemas.openxmlformats.org/drawingml/2006/table">
                <a:tbl>
                  <a:tblPr firstRow="1" bandRow="1">
                    <a:tableStyleId>{5C22544A-7EE6-4342-B048-85BDC9FD1C3A}</a:tableStyleId>
                  </a:tblPr>
                  <a:tblGrid>
                    <a:gridCol w="4230473">
                      <a:extLst>
                        <a:ext uri="{9D8B030D-6E8A-4147-A177-3AD203B41FA5}">
                          <a16:colId xmlns:a16="http://schemas.microsoft.com/office/drawing/2014/main" val="2641424193"/>
                        </a:ext>
                      </a:extLst>
                    </a:gridCol>
                    <a:gridCol w="5835534">
                      <a:extLst>
                        <a:ext uri="{9D8B030D-6E8A-4147-A177-3AD203B41FA5}">
                          <a16:colId xmlns:a16="http://schemas.microsoft.com/office/drawing/2014/main" val="3623014000"/>
                        </a:ext>
                      </a:extLst>
                    </a:gridCol>
                    <a:gridCol w="5981302">
                      <a:extLst>
                        <a:ext uri="{9D8B030D-6E8A-4147-A177-3AD203B41FA5}">
                          <a16:colId xmlns:a16="http://schemas.microsoft.com/office/drawing/2014/main" val="2016046415"/>
                        </a:ext>
                      </a:extLst>
                    </a:gridCol>
                  </a:tblGrid>
                  <a:tr h="370840">
                    <a:tc>
                      <a:txBody>
                        <a:bodyPr/>
                        <a:lstStyle/>
                        <a:p>
                          <a:pPr algn="ctr"/>
                          <a:r>
                            <a:rPr lang="en-US" sz="3600" dirty="0"/>
                            <a:t>Operating Mode</a:t>
                          </a:r>
                        </a:p>
                      </a:txBody>
                      <a:tcPr anchor="ctr"/>
                    </a:tc>
                    <a:tc>
                      <a:txBody>
                        <a:bodyPr/>
                        <a:lstStyle/>
                        <a:p>
                          <a:pPr algn="ctr"/>
                          <a:r>
                            <a:rPr lang="en-US" sz="3600" baseline="0" dirty="0"/>
                            <a:t>Baud Rate </a:t>
                          </a:r>
                          <a:r>
                            <a:rPr lang="en-US" sz="3600" dirty="0"/>
                            <a:t>Equations</a:t>
                          </a:r>
                        </a:p>
                      </a:txBody>
                      <a:tcPr anchor="ctr"/>
                    </a:tc>
                    <a:tc>
                      <a:txBody>
                        <a:bodyPr/>
                        <a:lstStyle/>
                        <a:p>
                          <a:pPr algn="ctr"/>
                          <a:r>
                            <a:rPr lang="en-US" sz="3600" dirty="0"/>
                            <a:t>Equations for </a:t>
                          </a:r>
                          <a:r>
                            <a:rPr lang="en-US" sz="3600" dirty="0" err="1"/>
                            <a:t>UBRRn</a:t>
                          </a:r>
                          <a:r>
                            <a:rPr lang="en-US" sz="3600" baseline="0" dirty="0"/>
                            <a:t> Values</a:t>
                          </a:r>
                          <a:endParaRPr lang="en-US" sz="3600" dirty="0"/>
                        </a:p>
                      </a:txBody>
                      <a:tcPr anchor="ctr"/>
                    </a:tc>
                    <a:extLst>
                      <a:ext uri="{0D108BD9-81ED-4DB2-BD59-A6C34878D82A}">
                        <a16:rowId xmlns:a16="http://schemas.microsoft.com/office/drawing/2014/main" val="467052719"/>
                      </a:ext>
                    </a:extLst>
                  </a:tr>
                  <a:tr h="370840">
                    <a:tc>
                      <a:txBody>
                        <a:bodyPr/>
                        <a:lstStyle/>
                        <a:p>
                          <a:r>
                            <a:rPr lang="en-US" sz="3200" b="1" dirty="0"/>
                            <a:t>Asynchronous Normal Mode (U2Xn = 0)</a:t>
                          </a:r>
                        </a:p>
                      </a:txBody>
                      <a:tcPr/>
                    </a:tc>
                    <a:tc>
                      <a:txBody>
                        <a:bodyPr/>
                        <a:lstStyle/>
                        <a:p>
                          <a:pPr/>
                          <a14:m>
                            <m:oMathPara xmlns:m="http://schemas.openxmlformats.org/officeDocument/2006/math">
                              <m:oMathParaPr>
                                <m:jc m:val="centerGroup"/>
                              </m:oMathParaPr>
                              <m:oMath xmlns:m="http://schemas.openxmlformats.org/officeDocument/2006/math">
                                <m:r>
                                  <a:rPr lang="en-US" sz="3200" b="1" i="1" smtClean="0">
                                    <a:latin typeface="Cambria Math" panose="02040503050406030204" pitchFamily="18" charset="0"/>
                                  </a:rPr>
                                  <m:t>𝑩𝒂𝒖𝒅</m:t>
                                </m:r>
                                <m:r>
                                  <a:rPr lang="en-US" sz="3200" b="1" i="1" smtClean="0">
                                    <a:latin typeface="Cambria Math" panose="02040503050406030204" pitchFamily="18" charset="0"/>
                                  </a:rPr>
                                  <m:t> </m:t>
                                </m:r>
                                <m:r>
                                  <a:rPr lang="en-US" sz="3200" b="1" i="1" smtClean="0">
                                    <a:latin typeface="Cambria Math" panose="02040503050406030204" pitchFamily="18" charset="0"/>
                                  </a:rPr>
                                  <m:t>𝒓𝒂𝒕𝒆</m:t>
                                </m:r>
                                <m:r>
                                  <a:rPr lang="en-US" sz="3200" b="1" i="1" smtClean="0">
                                    <a:latin typeface="Cambria Math" panose="02040503050406030204" pitchFamily="18" charset="0"/>
                                  </a:rPr>
                                  <m:t>=</m:t>
                                </m:r>
                                <m:f>
                                  <m:fPr>
                                    <m:ctrlPr>
                                      <a:rPr lang="en-US" sz="3200" b="1" i="1" smtClean="0">
                                        <a:latin typeface="Cambria Math" panose="02040503050406030204" pitchFamily="18" charset="0"/>
                                      </a:rPr>
                                    </m:ctrlPr>
                                  </m:fPr>
                                  <m:num>
                                    <m:sSub>
                                      <m:sSubPr>
                                        <m:ctrlPr>
                                          <a:rPr lang="en-US" sz="3200" b="1" i="1" smtClean="0">
                                            <a:latin typeface="Cambria Math" panose="02040503050406030204" pitchFamily="18" charset="0"/>
                                          </a:rPr>
                                        </m:ctrlPr>
                                      </m:sSubPr>
                                      <m:e>
                                        <m:r>
                                          <a:rPr lang="en-US" sz="3200" b="1" i="1" smtClean="0">
                                            <a:latin typeface="Cambria Math" panose="02040503050406030204" pitchFamily="18" charset="0"/>
                                          </a:rPr>
                                          <m:t>𝒇</m:t>
                                        </m:r>
                                      </m:e>
                                      <m:sub>
                                        <m:r>
                                          <a:rPr lang="en-US" sz="3200" b="1" i="1" smtClean="0">
                                            <a:latin typeface="Cambria Math" panose="02040503050406030204" pitchFamily="18" charset="0"/>
                                          </a:rPr>
                                          <m:t>𝒐𝒔𝒄</m:t>
                                        </m:r>
                                      </m:sub>
                                    </m:sSub>
                                  </m:num>
                                  <m:den>
                                    <m:r>
                                      <a:rPr lang="en-US" sz="3200" b="1" i="1" smtClean="0">
                                        <a:latin typeface="Cambria Math" panose="02040503050406030204" pitchFamily="18" charset="0"/>
                                      </a:rPr>
                                      <m:t>𝟏𝟔</m:t>
                                    </m:r>
                                    <m:d>
                                      <m:dPr>
                                        <m:ctrlPr>
                                          <a:rPr lang="en-US" sz="3200" b="1" i="1" smtClean="0">
                                            <a:latin typeface="Cambria Math" panose="02040503050406030204" pitchFamily="18" charset="0"/>
                                          </a:rPr>
                                        </m:ctrlPr>
                                      </m:dPr>
                                      <m:e>
                                        <m:r>
                                          <a:rPr lang="en-US" sz="3200" b="1" i="1" smtClean="0">
                                            <a:latin typeface="Cambria Math" panose="02040503050406030204" pitchFamily="18" charset="0"/>
                                          </a:rPr>
                                          <m:t>𝑼𝑩𝑹𝑹𝒏</m:t>
                                        </m:r>
                                        <m:r>
                                          <a:rPr lang="en-US" sz="3200" b="1" i="1" smtClean="0">
                                            <a:latin typeface="Cambria Math" panose="02040503050406030204" pitchFamily="18" charset="0"/>
                                          </a:rPr>
                                          <m:t>+</m:t>
                                        </m:r>
                                        <m:r>
                                          <a:rPr lang="en-US" sz="3200" b="1" i="1" smtClean="0">
                                            <a:latin typeface="Cambria Math" panose="02040503050406030204" pitchFamily="18" charset="0"/>
                                          </a:rPr>
                                          <m:t>𝟏</m:t>
                                        </m:r>
                                      </m:e>
                                    </m:d>
                                  </m:den>
                                </m:f>
                              </m:oMath>
                            </m:oMathPara>
                          </a14:m>
                          <a:endParaRPr lang="en-US" sz="3200" b="1" dirty="0"/>
                        </a:p>
                      </a:txBody>
                      <a:tcPr/>
                    </a:tc>
                    <a:tc>
                      <a:txBody>
                        <a:bodyPr/>
                        <a:lstStyle/>
                        <a:p>
                          <a:pPr/>
                          <a14:m>
                            <m:oMathPara xmlns:m="http://schemas.openxmlformats.org/officeDocument/2006/math">
                              <m:oMathParaPr>
                                <m:jc m:val="centerGroup"/>
                              </m:oMathParaPr>
                              <m:oMath xmlns:m="http://schemas.openxmlformats.org/officeDocument/2006/math">
                                <m:r>
                                  <a:rPr lang="en-US" sz="3200" b="1" i="1" smtClean="0">
                                    <a:latin typeface="Cambria Math" panose="02040503050406030204" pitchFamily="18" charset="0"/>
                                  </a:rPr>
                                  <m:t>𝑼𝑩𝑹𝑹𝒏</m:t>
                                </m:r>
                                <m:r>
                                  <a:rPr lang="en-US" sz="3200" b="1" i="1" smtClean="0">
                                    <a:latin typeface="Cambria Math" panose="02040503050406030204" pitchFamily="18" charset="0"/>
                                  </a:rPr>
                                  <m:t>=</m:t>
                                </m:r>
                                <m:f>
                                  <m:fPr>
                                    <m:ctrlPr>
                                      <a:rPr lang="en-US" sz="3200" b="1" i="1" smtClean="0">
                                        <a:latin typeface="Cambria Math" panose="02040503050406030204" pitchFamily="18" charset="0"/>
                                      </a:rPr>
                                    </m:ctrlPr>
                                  </m:fPr>
                                  <m:num>
                                    <m:sSub>
                                      <m:sSubPr>
                                        <m:ctrlPr>
                                          <a:rPr lang="en-US" sz="3200" b="1" i="1" smtClean="0">
                                            <a:latin typeface="Cambria Math" panose="02040503050406030204" pitchFamily="18" charset="0"/>
                                          </a:rPr>
                                        </m:ctrlPr>
                                      </m:sSubPr>
                                      <m:e>
                                        <m:r>
                                          <a:rPr lang="en-US" sz="3200" b="1" i="1" smtClean="0">
                                            <a:latin typeface="Cambria Math" panose="02040503050406030204" pitchFamily="18" charset="0"/>
                                          </a:rPr>
                                          <m:t>𝒇</m:t>
                                        </m:r>
                                      </m:e>
                                      <m:sub>
                                        <m:r>
                                          <a:rPr lang="en-US" sz="3200" b="1" i="1" smtClean="0">
                                            <a:latin typeface="Cambria Math" panose="02040503050406030204" pitchFamily="18" charset="0"/>
                                          </a:rPr>
                                          <m:t>𝒐𝒔𝒄</m:t>
                                        </m:r>
                                      </m:sub>
                                    </m:sSub>
                                  </m:num>
                                  <m:den>
                                    <m:r>
                                      <a:rPr lang="en-US" sz="3200" b="1" i="1" smtClean="0">
                                        <a:latin typeface="Cambria Math" panose="02040503050406030204" pitchFamily="18" charset="0"/>
                                      </a:rPr>
                                      <m:t>𝟏𝟔</m:t>
                                    </m:r>
                                    <m:r>
                                      <a:rPr lang="en-US" sz="3200" b="1" i="1" smtClean="0">
                                        <a:latin typeface="Cambria Math" panose="02040503050406030204" pitchFamily="18" charset="0"/>
                                        <a:ea typeface="Cambria Math" panose="02040503050406030204" pitchFamily="18" charset="0"/>
                                      </a:rPr>
                                      <m:t>×</m:t>
                                    </m:r>
                                    <m:r>
                                      <a:rPr lang="en-US" sz="3200" b="1" i="1" smtClean="0">
                                        <a:latin typeface="Cambria Math" panose="02040503050406030204" pitchFamily="18" charset="0"/>
                                      </a:rPr>
                                      <m:t>𝑩𝒂𝒖𝒅</m:t>
                                    </m:r>
                                    <m:r>
                                      <a:rPr lang="en-US" sz="3200" b="1" i="1" smtClean="0">
                                        <a:latin typeface="Cambria Math" panose="02040503050406030204" pitchFamily="18" charset="0"/>
                                      </a:rPr>
                                      <m:t> </m:t>
                                    </m:r>
                                    <m:r>
                                      <a:rPr lang="en-US" sz="3200" b="1" i="1" smtClean="0">
                                        <a:latin typeface="Cambria Math" panose="02040503050406030204" pitchFamily="18" charset="0"/>
                                      </a:rPr>
                                      <m:t>𝒓𝒂𝒕𝒆</m:t>
                                    </m:r>
                                  </m:den>
                                </m:f>
                                <m:r>
                                  <a:rPr lang="en-US" sz="3200" b="1" i="1" smtClean="0">
                                    <a:latin typeface="Cambria Math" panose="02040503050406030204" pitchFamily="18" charset="0"/>
                                  </a:rPr>
                                  <m:t>−</m:t>
                                </m:r>
                                <m:r>
                                  <a:rPr lang="en-US" sz="3200" b="1" i="1" smtClean="0">
                                    <a:latin typeface="Cambria Math" panose="02040503050406030204" pitchFamily="18" charset="0"/>
                                  </a:rPr>
                                  <m:t>𝟏</m:t>
                                </m:r>
                              </m:oMath>
                            </m:oMathPara>
                          </a14:m>
                          <a:endParaRPr lang="en-US" sz="3200" b="1" dirty="0"/>
                        </a:p>
                      </a:txBody>
                      <a:tcPr/>
                    </a:tc>
                    <a:extLst>
                      <a:ext uri="{0D108BD9-81ED-4DB2-BD59-A6C34878D82A}">
                        <a16:rowId xmlns:a16="http://schemas.microsoft.com/office/drawing/2014/main" val="1302255449"/>
                      </a:ext>
                    </a:extLst>
                  </a:tr>
                  <a:tr h="370840">
                    <a:tc>
                      <a:txBody>
                        <a:bodyPr/>
                        <a:lstStyle/>
                        <a:p>
                          <a:r>
                            <a:rPr lang="en-US" sz="3200" b="1" dirty="0">
                              <a:solidFill>
                                <a:srgbClr val="0070C0"/>
                              </a:solidFill>
                            </a:rPr>
                            <a:t>Asynchronous Double Speed Mode (U2Xn = 1)</a:t>
                          </a:r>
                        </a:p>
                      </a:txBody>
                      <a:tcPr/>
                    </a:tc>
                    <a:tc>
                      <a:txBody>
                        <a:bodyPr/>
                        <a:lstStyle/>
                        <a:p>
                          <a:pPr/>
                          <a14:m>
                            <m:oMathPara xmlns:m="http://schemas.openxmlformats.org/officeDocument/2006/math">
                              <m:oMathParaPr>
                                <m:jc m:val="centerGroup"/>
                              </m:oMathParaPr>
                              <m:oMath xmlns:m="http://schemas.openxmlformats.org/officeDocument/2006/math">
                                <m:r>
                                  <a:rPr lang="en-US" sz="3200" b="1" i="1" smtClean="0">
                                    <a:solidFill>
                                      <a:srgbClr val="0070C0"/>
                                    </a:solidFill>
                                    <a:latin typeface="Cambria Math" panose="02040503050406030204" pitchFamily="18" charset="0"/>
                                  </a:rPr>
                                  <m:t>𝑩𝒂𝒖𝒅</m:t>
                                </m:r>
                                <m:r>
                                  <a:rPr lang="en-US" sz="3200" b="1" i="1" smtClean="0">
                                    <a:solidFill>
                                      <a:srgbClr val="0070C0"/>
                                    </a:solidFill>
                                    <a:latin typeface="Cambria Math" panose="02040503050406030204" pitchFamily="18" charset="0"/>
                                  </a:rPr>
                                  <m:t> </m:t>
                                </m:r>
                                <m:r>
                                  <a:rPr lang="en-US" sz="3200" b="1" i="1" smtClean="0">
                                    <a:solidFill>
                                      <a:srgbClr val="0070C0"/>
                                    </a:solidFill>
                                    <a:latin typeface="Cambria Math" panose="02040503050406030204" pitchFamily="18" charset="0"/>
                                  </a:rPr>
                                  <m:t>𝒓𝒂𝒕𝒆</m:t>
                                </m:r>
                                <m:r>
                                  <a:rPr lang="en-US" sz="3200" b="1" i="1" smtClean="0">
                                    <a:solidFill>
                                      <a:srgbClr val="0070C0"/>
                                    </a:solidFill>
                                    <a:latin typeface="Cambria Math" panose="02040503050406030204" pitchFamily="18" charset="0"/>
                                  </a:rPr>
                                  <m:t>=</m:t>
                                </m:r>
                                <m:f>
                                  <m:fPr>
                                    <m:ctrlPr>
                                      <a:rPr lang="en-US" sz="3200" b="1" i="1" smtClean="0">
                                        <a:solidFill>
                                          <a:srgbClr val="0070C0"/>
                                        </a:solidFill>
                                        <a:latin typeface="Cambria Math" panose="02040503050406030204" pitchFamily="18" charset="0"/>
                                      </a:rPr>
                                    </m:ctrlPr>
                                  </m:fPr>
                                  <m:num>
                                    <m:sSub>
                                      <m:sSubPr>
                                        <m:ctrlPr>
                                          <a:rPr lang="en-US" sz="3200" b="1" i="1" smtClean="0">
                                            <a:solidFill>
                                              <a:srgbClr val="0070C0"/>
                                            </a:solidFill>
                                            <a:latin typeface="Cambria Math" panose="02040503050406030204" pitchFamily="18" charset="0"/>
                                          </a:rPr>
                                        </m:ctrlPr>
                                      </m:sSubPr>
                                      <m:e>
                                        <m:r>
                                          <a:rPr lang="en-US" sz="3200" b="1" i="1" smtClean="0">
                                            <a:solidFill>
                                              <a:srgbClr val="0070C0"/>
                                            </a:solidFill>
                                            <a:latin typeface="Cambria Math" panose="02040503050406030204" pitchFamily="18" charset="0"/>
                                          </a:rPr>
                                          <m:t>𝒇</m:t>
                                        </m:r>
                                      </m:e>
                                      <m:sub>
                                        <m:r>
                                          <a:rPr lang="en-US" sz="3200" b="1" i="1" smtClean="0">
                                            <a:solidFill>
                                              <a:srgbClr val="0070C0"/>
                                            </a:solidFill>
                                            <a:latin typeface="Cambria Math" panose="02040503050406030204" pitchFamily="18" charset="0"/>
                                          </a:rPr>
                                          <m:t>𝒐𝒔𝒄</m:t>
                                        </m:r>
                                      </m:sub>
                                    </m:sSub>
                                  </m:num>
                                  <m:den>
                                    <m:r>
                                      <a:rPr lang="en-US" sz="3200" b="1" i="1" smtClean="0">
                                        <a:solidFill>
                                          <a:srgbClr val="0070C0"/>
                                        </a:solidFill>
                                        <a:latin typeface="Cambria Math" panose="02040503050406030204" pitchFamily="18" charset="0"/>
                                      </a:rPr>
                                      <m:t>𝟖</m:t>
                                    </m:r>
                                    <m:d>
                                      <m:dPr>
                                        <m:ctrlPr>
                                          <a:rPr lang="en-US" sz="3200" b="1" i="1" smtClean="0">
                                            <a:solidFill>
                                              <a:srgbClr val="0070C0"/>
                                            </a:solidFill>
                                            <a:latin typeface="Cambria Math" panose="02040503050406030204" pitchFamily="18" charset="0"/>
                                          </a:rPr>
                                        </m:ctrlPr>
                                      </m:dPr>
                                      <m:e>
                                        <m:r>
                                          <a:rPr lang="en-US" sz="3200" b="1" i="1" smtClean="0">
                                            <a:solidFill>
                                              <a:srgbClr val="0070C0"/>
                                            </a:solidFill>
                                            <a:latin typeface="Cambria Math" panose="02040503050406030204" pitchFamily="18" charset="0"/>
                                          </a:rPr>
                                          <m:t>𝑼𝑩𝑹𝑹𝒏</m:t>
                                        </m:r>
                                        <m:r>
                                          <a:rPr lang="en-US" sz="3200" b="1" i="1" smtClean="0">
                                            <a:solidFill>
                                              <a:srgbClr val="0070C0"/>
                                            </a:solidFill>
                                            <a:latin typeface="Cambria Math" panose="02040503050406030204" pitchFamily="18" charset="0"/>
                                          </a:rPr>
                                          <m:t>+</m:t>
                                        </m:r>
                                        <m:r>
                                          <a:rPr lang="en-US" sz="3200" b="1" i="1" smtClean="0">
                                            <a:solidFill>
                                              <a:srgbClr val="0070C0"/>
                                            </a:solidFill>
                                            <a:latin typeface="Cambria Math" panose="02040503050406030204" pitchFamily="18" charset="0"/>
                                          </a:rPr>
                                          <m:t>𝟏</m:t>
                                        </m:r>
                                      </m:e>
                                    </m:d>
                                  </m:den>
                                </m:f>
                              </m:oMath>
                            </m:oMathPara>
                          </a14:m>
                          <a:endParaRPr lang="en-US" sz="3200" b="1" dirty="0">
                            <a:solidFill>
                              <a:srgbClr val="0070C0"/>
                            </a:solidFill>
                          </a:endParaRPr>
                        </a:p>
                      </a:txBody>
                      <a:tcPr/>
                    </a:tc>
                    <a:tc>
                      <a:txBody>
                        <a:bodyPr/>
                        <a:lstStyle/>
                        <a:p>
                          <a:pPr/>
                          <a14:m>
                            <m:oMathPara xmlns:m="http://schemas.openxmlformats.org/officeDocument/2006/math">
                              <m:oMathParaPr>
                                <m:jc m:val="centerGroup"/>
                              </m:oMathParaPr>
                              <m:oMath xmlns:m="http://schemas.openxmlformats.org/officeDocument/2006/math">
                                <m:r>
                                  <a:rPr lang="en-US" sz="3200" b="1" i="1" smtClean="0">
                                    <a:solidFill>
                                      <a:srgbClr val="0070C0"/>
                                    </a:solidFill>
                                    <a:latin typeface="Cambria Math" panose="02040503050406030204" pitchFamily="18" charset="0"/>
                                  </a:rPr>
                                  <m:t>𝑼𝑩𝑹𝑹𝒏</m:t>
                                </m:r>
                                <m:r>
                                  <a:rPr lang="en-US" sz="3200" b="1" i="1" smtClean="0">
                                    <a:solidFill>
                                      <a:srgbClr val="0070C0"/>
                                    </a:solidFill>
                                    <a:latin typeface="Cambria Math" panose="02040503050406030204" pitchFamily="18" charset="0"/>
                                  </a:rPr>
                                  <m:t>=</m:t>
                                </m:r>
                                <m:f>
                                  <m:fPr>
                                    <m:ctrlPr>
                                      <a:rPr lang="en-US" sz="3200" b="1" i="1" smtClean="0">
                                        <a:solidFill>
                                          <a:srgbClr val="0070C0"/>
                                        </a:solidFill>
                                        <a:latin typeface="Cambria Math" panose="02040503050406030204" pitchFamily="18" charset="0"/>
                                      </a:rPr>
                                    </m:ctrlPr>
                                  </m:fPr>
                                  <m:num>
                                    <m:sSub>
                                      <m:sSubPr>
                                        <m:ctrlPr>
                                          <a:rPr lang="en-US" sz="3200" b="1" i="1" smtClean="0">
                                            <a:solidFill>
                                              <a:srgbClr val="0070C0"/>
                                            </a:solidFill>
                                            <a:latin typeface="Cambria Math" panose="02040503050406030204" pitchFamily="18" charset="0"/>
                                          </a:rPr>
                                        </m:ctrlPr>
                                      </m:sSubPr>
                                      <m:e>
                                        <m:r>
                                          <a:rPr lang="en-US" sz="3200" b="1" i="1" smtClean="0">
                                            <a:solidFill>
                                              <a:srgbClr val="0070C0"/>
                                            </a:solidFill>
                                            <a:latin typeface="Cambria Math" panose="02040503050406030204" pitchFamily="18" charset="0"/>
                                          </a:rPr>
                                          <m:t>𝒇</m:t>
                                        </m:r>
                                      </m:e>
                                      <m:sub>
                                        <m:r>
                                          <a:rPr lang="en-US" sz="3200" b="1" i="1" smtClean="0">
                                            <a:solidFill>
                                              <a:srgbClr val="0070C0"/>
                                            </a:solidFill>
                                            <a:latin typeface="Cambria Math" panose="02040503050406030204" pitchFamily="18" charset="0"/>
                                          </a:rPr>
                                          <m:t>𝒐𝒔𝒄</m:t>
                                        </m:r>
                                      </m:sub>
                                    </m:sSub>
                                  </m:num>
                                  <m:den>
                                    <m:r>
                                      <a:rPr lang="en-US" sz="3200" b="1" i="1" smtClean="0">
                                        <a:solidFill>
                                          <a:srgbClr val="0070C0"/>
                                        </a:solidFill>
                                        <a:latin typeface="Cambria Math" panose="02040503050406030204" pitchFamily="18" charset="0"/>
                                      </a:rPr>
                                      <m:t>𝟖</m:t>
                                    </m:r>
                                    <m:r>
                                      <a:rPr lang="en-US" sz="3200" b="1" i="1" smtClean="0">
                                        <a:solidFill>
                                          <a:srgbClr val="0070C0"/>
                                        </a:solidFill>
                                        <a:latin typeface="Cambria Math" panose="02040503050406030204" pitchFamily="18" charset="0"/>
                                        <a:ea typeface="Cambria Math" panose="02040503050406030204" pitchFamily="18" charset="0"/>
                                      </a:rPr>
                                      <m:t>×</m:t>
                                    </m:r>
                                    <m:r>
                                      <a:rPr lang="en-US" sz="3200" b="1" i="1" smtClean="0">
                                        <a:solidFill>
                                          <a:srgbClr val="0070C0"/>
                                        </a:solidFill>
                                        <a:latin typeface="Cambria Math" panose="02040503050406030204" pitchFamily="18" charset="0"/>
                                      </a:rPr>
                                      <m:t>𝑩𝒂𝒖𝒅</m:t>
                                    </m:r>
                                    <m:r>
                                      <a:rPr lang="en-US" sz="3200" b="1" i="1" smtClean="0">
                                        <a:solidFill>
                                          <a:srgbClr val="0070C0"/>
                                        </a:solidFill>
                                        <a:latin typeface="Cambria Math" panose="02040503050406030204" pitchFamily="18" charset="0"/>
                                      </a:rPr>
                                      <m:t> </m:t>
                                    </m:r>
                                    <m:r>
                                      <a:rPr lang="en-US" sz="3200" b="1" i="1" smtClean="0">
                                        <a:solidFill>
                                          <a:srgbClr val="0070C0"/>
                                        </a:solidFill>
                                        <a:latin typeface="Cambria Math" panose="02040503050406030204" pitchFamily="18" charset="0"/>
                                      </a:rPr>
                                      <m:t>𝒓𝒂𝒕𝒆</m:t>
                                    </m:r>
                                  </m:den>
                                </m:f>
                                <m:r>
                                  <a:rPr lang="en-US" sz="3200" b="1" i="1" smtClean="0">
                                    <a:solidFill>
                                      <a:srgbClr val="0070C0"/>
                                    </a:solidFill>
                                    <a:latin typeface="Cambria Math" panose="02040503050406030204" pitchFamily="18" charset="0"/>
                                  </a:rPr>
                                  <m:t>−</m:t>
                                </m:r>
                                <m:r>
                                  <a:rPr lang="en-US" sz="3200" b="1" i="1" smtClean="0">
                                    <a:solidFill>
                                      <a:srgbClr val="0070C0"/>
                                    </a:solidFill>
                                    <a:latin typeface="Cambria Math" panose="02040503050406030204" pitchFamily="18" charset="0"/>
                                  </a:rPr>
                                  <m:t>𝟏</m:t>
                                </m:r>
                              </m:oMath>
                            </m:oMathPara>
                          </a14:m>
                          <a:endParaRPr lang="en-US" sz="3200" b="1" dirty="0">
                            <a:solidFill>
                              <a:srgbClr val="0070C0"/>
                            </a:solidFill>
                          </a:endParaRPr>
                        </a:p>
                      </a:txBody>
                      <a:tcPr/>
                    </a:tc>
                    <a:extLst>
                      <a:ext uri="{0D108BD9-81ED-4DB2-BD59-A6C34878D82A}">
                        <a16:rowId xmlns:a16="http://schemas.microsoft.com/office/drawing/2014/main" val="994906688"/>
                      </a:ext>
                    </a:extLst>
                  </a:tr>
                  <a:tr h="370840">
                    <a:tc>
                      <a:txBody>
                        <a:bodyPr/>
                        <a:lstStyle/>
                        <a:p>
                          <a:r>
                            <a:rPr lang="en-US" sz="3200" b="1" dirty="0"/>
                            <a:t>Synchronous Master Mode</a:t>
                          </a:r>
                        </a:p>
                      </a:txBody>
                      <a:tcPr/>
                    </a:tc>
                    <a:tc>
                      <a:txBody>
                        <a:bodyPr/>
                        <a:lstStyle/>
                        <a:p>
                          <a:pPr/>
                          <a14:m>
                            <m:oMathPara xmlns:m="http://schemas.openxmlformats.org/officeDocument/2006/math">
                              <m:oMathParaPr>
                                <m:jc m:val="centerGroup"/>
                              </m:oMathParaPr>
                              <m:oMath xmlns:m="http://schemas.openxmlformats.org/officeDocument/2006/math">
                                <m:r>
                                  <a:rPr lang="en-US" sz="3200" b="1" i="1" smtClean="0">
                                    <a:latin typeface="Cambria Math" panose="02040503050406030204" pitchFamily="18" charset="0"/>
                                  </a:rPr>
                                  <m:t>𝑩𝒂𝒖𝒅</m:t>
                                </m:r>
                                <m:r>
                                  <a:rPr lang="en-US" sz="3200" b="1" i="1" smtClean="0">
                                    <a:latin typeface="Cambria Math" panose="02040503050406030204" pitchFamily="18" charset="0"/>
                                  </a:rPr>
                                  <m:t> </m:t>
                                </m:r>
                                <m:r>
                                  <a:rPr lang="en-US" sz="3200" b="1" i="1" smtClean="0">
                                    <a:latin typeface="Cambria Math" panose="02040503050406030204" pitchFamily="18" charset="0"/>
                                  </a:rPr>
                                  <m:t>𝒓𝒂𝒕𝒆</m:t>
                                </m:r>
                                <m:r>
                                  <a:rPr lang="en-US" sz="3200" b="1" i="1" smtClean="0">
                                    <a:latin typeface="Cambria Math" panose="02040503050406030204" pitchFamily="18" charset="0"/>
                                  </a:rPr>
                                  <m:t>=</m:t>
                                </m:r>
                                <m:f>
                                  <m:fPr>
                                    <m:ctrlPr>
                                      <a:rPr lang="en-US" sz="3200" b="1" i="1" smtClean="0">
                                        <a:latin typeface="Cambria Math" panose="02040503050406030204" pitchFamily="18" charset="0"/>
                                      </a:rPr>
                                    </m:ctrlPr>
                                  </m:fPr>
                                  <m:num>
                                    <m:sSub>
                                      <m:sSubPr>
                                        <m:ctrlPr>
                                          <a:rPr lang="en-US" sz="3200" b="1" i="1" smtClean="0">
                                            <a:latin typeface="Cambria Math" panose="02040503050406030204" pitchFamily="18" charset="0"/>
                                          </a:rPr>
                                        </m:ctrlPr>
                                      </m:sSubPr>
                                      <m:e>
                                        <m:r>
                                          <a:rPr lang="en-US" sz="3200" b="1" i="1" smtClean="0">
                                            <a:latin typeface="Cambria Math" panose="02040503050406030204" pitchFamily="18" charset="0"/>
                                          </a:rPr>
                                          <m:t>𝒇</m:t>
                                        </m:r>
                                      </m:e>
                                      <m:sub>
                                        <m:r>
                                          <a:rPr lang="en-US" sz="3200" b="1" i="1" smtClean="0">
                                            <a:latin typeface="Cambria Math" panose="02040503050406030204" pitchFamily="18" charset="0"/>
                                          </a:rPr>
                                          <m:t>𝒐𝒔𝒄</m:t>
                                        </m:r>
                                      </m:sub>
                                    </m:sSub>
                                  </m:num>
                                  <m:den>
                                    <m:r>
                                      <a:rPr lang="en-US" sz="3200" b="1" i="1" smtClean="0">
                                        <a:latin typeface="Cambria Math" panose="02040503050406030204" pitchFamily="18" charset="0"/>
                                      </a:rPr>
                                      <m:t>𝟐</m:t>
                                    </m:r>
                                    <m:d>
                                      <m:dPr>
                                        <m:ctrlPr>
                                          <a:rPr lang="en-US" sz="3200" b="1" i="1" smtClean="0">
                                            <a:latin typeface="Cambria Math" panose="02040503050406030204" pitchFamily="18" charset="0"/>
                                          </a:rPr>
                                        </m:ctrlPr>
                                      </m:dPr>
                                      <m:e>
                                        <m:r>
                                          <a:rPr lang="en-US" sz="3200" b="1" i="1" smtClean="0">
                                            <a:latin typeface="Cambria Math" panose="02040503050406030204" pitchFamily="18" charset="0"/>
                                          </a:rPr>
                                          <m:t>𝑼𝑩𝑹𝑹𝒏</m:t>
                                        </m:r>
                                        <m:r>
                                          <a:rPr lang="en-US" sz="3200" b="1" i="1" smtClean="0">
                                            <a:latin typeface="Cambria Math" panose="02040503050406030204" pitchFamily="18" charset="0"/>
                                          </a:rPr>
                                          <m:t>+</m:t>
                                        </m:r>
                                        <m:r>
                                          <a:rPr lang="en-US" sz="3200" b="1" i="1" smtClean="0">
                                            <a:latin typeface="Cambria Math" panose="02040503050406030204" pitchFamily="18" charset="0"/>
                                          </a:rPr>
                                          <m:t>𝟏</m:t>
                                        </m:r>
                                      </m:e>
                                    </m:d>
                                  </m:den>
                                </m:f>
                              </m:oMath>
                            </m:oMathPara>
                          </a14:m>
                          <a:endParaRPr lang="en-US" sz="3200" b="1" dirty="0"/>
                        </a:p>
                      </a:txBody>
                      <a:tcPr/>
                    </a:tc>
                    <a:tc>
                      <a:txBody>
                        <a:bodyPr/>
                        <a:lstStyle/>
                        <a:p>
                          <a:pPr/>
                          <a14:m>
                            <m:oMathPara xmlns:m="http://schemas.openxmlformats.org/officeDocument/2006/math">
                              <m:oMathParaPr>
                                <m:jc m:val="centerGroup"/>
                              </m:oMathParaPr>
                              <m:oMath xmlns:m="http://schemas.openxmlformats.org/officeDocument/2006/math">
                                <m:r>
                                  <a:rPr lang="en-US" sz="3200" b="1" i="1" smtClean="0">
                                    <a:latin typeface="Cambria Math" panose="02040503050406030204" pitchFamily="18" charset="0"/>
                                  </a:rPr>
                                  <m:t>𝑼𝑩𝑹𝑹𝒏</m:t>
                                </m:r>
                                <m:r>
                                  <a:rPr lang="en-US" sz="3200" b="1" i="1" smtClean="0">
                                    <a:latin typeface="Cambria Math" panose="02040503050406030204" pitchFamily="18" charset="0"/>
                                  </a:rPr>
                                  <m:t>=</m:t>
                                </m:r>
                                <m:f>
                                  <m:fPr>
                                    <m:ctrlPr>
                                      <a:rPr lang="en-US" sz="3200" b="1" i="1" smtClean="0">
                                        <a:latin typeface="Cambria Math" panose="02040503050406030204" pitchFamily="18" charset="0"/>
                                      </a:rPr>
                                    </m:ctrlPr>
                                  </m:fPr>
                                  <m:num>
                                    <m:sSub>
                                      <m:sSubPr>
                                        <m:ctrlPr>
                                          <a:rPr lang="en-US" sz="3200" b="1" i="1" smtClean="0">
                                            <a:latin typeface="Cambria Math" panose="02040503050406030204" pitchFamily="18" charset="0"/>
                                          </a:rPr>
                                        </m:ctrlPr>
                                      </m:sSubPr>
                                      <m:e>
                                        <m:r>
                                          <a:rPr lang="en-US" sz="3200" b="1" i="1" smtClean="0">
                                            <a:latin typeface="Cambria Math" panose="02040503050406030204" pitchFamily="18" charset="0"/>
                                          </a:rPr>
                                          <m:t>𝒇</m:t>
                                        </m:r>
                                      </m:e>
                                      <m:sub>
                                        <m:r>
                                          <a:rPr lang="en-US" sz="3200" b="1" i="1" smtClean="0">
                                            <a:latin typeface="Cambria Math" panose="02040503050406030204" pitchFamily="18" charset="0"/>
                                          </a:rPr>
                                          <m:t>𝒐𝒔𝒄</m:t>
                                        </m:r>
                                      </m:sub>
                                    </m:sSub>
                                  </m:num>
                                  <m:den>
                                    <m:r>
                                      <a:rPr lang="en-US" sz="3200" b="1" i="1" smtClean="0">
                                        <a:latin typeface="Cambria Math" panose="02040503050406030204" pitchFamily="18" charset="0"/>
                                      </a:rPr>
                                      <m:t>𝟐</m:t>
                                    </m:r>
                                    <m:r>
                                      <a:rPr lang="en-US" sz="3200" b="1" i="1" smtClean="0">
                                        <a:latin typeface="Cambria Math" panose="02040503050406030204" pitchFamily="18" charset="0"/>
                                        <a:ea typeface="Cambria Math" panose="02040503050406030204" pitchFamily="18" charset="0"/>
                                      </a:rPr>
                                      <m:t>×</m:t>
                                    </m:r>
                                    <m:r>
                                      <a:rPr lang="en-US" sz="3200" b="1" i="1" smtClean="0">
                                        <a:latin typeface="Cambria Math" panose="02040503050406030204" pitchFamily="18" charset="0"/>
                                      </a:rPr>
                                      <m:t>𝑩𝒂𝒖𝒅</m:t>
                                    </m:r>
                                    <m:r>
                                      <a:rPr lang="en-US" sz="3200" b="1" i="1" smtClean="0">
                                        <a:latin typeface="Cambria Math" panose="02040503050406030204" pitchFamily="18" charset="0"/>
                                      </a:rPr>
                                      <m:t> </m:t>
                                    </m:r>
                                    <m:r>
                                      <a:rPr lang="en-US" sz="3200" b="1" i="1" smtClean="0">
                                        <a:latin typeface="Cambria Math" panose="02040503050406030204" pitchFamily="18" charset="0"/>
                                      </a:rPr>
                                      <m:t>𝒓𝒂𝒕𝒆</m:t>
                                    </m:r>
                                  </m:den>
                                </m:f>
                                <m:r>
                                  <a:rPr lang="en-US" sz="3200" b="1" i="1" smtClean="0">
                                    <a:latin typeface="Cambria Math" panose="02040503050406030204" pitchFamily="18" charset="0"/>
                                  </a:rPr>
                                  <m:t>−</m:t>
                                </m:r>
                                <m:r>
                                  <a:rPr lang="en-US" sz="3200" b="1" i="1" smtClean="0">
                                    <a:latin typeface="Cambria Math" panose="02040503050406030204" pitchFamily="18" charset="0"/>
                                  </a:rPr>
                                  <m:t>𝟏</m:t>
                                </m:r>
                              </m:oMath>
                            </m:oMathPara>
                          </a14:m>
                          <a:endParaRPr lang="en-US" sz="3200" b="1" dirty="0"/>
                        </a:p>
                      </a:txBody>
                      <a:tcPr/>
                    </a:tc>
                    <a:extLst>
                      <a:ext uri="{0D108BD9-81ED-4DB2-BD59-A6C34878D82A}">
                        <a16:rowId xmlns:a16="http://schemas.microsoft.com/office/drawing/2014/main" val="3903016856"/>
                      </a:ext>
                    </a:extLst>
                  </a:tr>
                </a:tbl>
              </a:graphicData>
            </a:graphic>
          </p:graphicFrame>
        </mc:Choice>
        <mc:Fallback>
          <p:graphicFrame>
            <p:nvGraphicFramePr>
              <p:cNvPr id="3" name="Table 2"/>
              <p:cNvGraphicFramePr>
                <a:graphicFrameLocks noGrp="1"/>
              </p:cNvGraphicFramePr>
              <p:nvPr>
                <p:extLst>
                  <p:ext uri="{D42A27DB-BD31-4B8C-83A1-F6EECF244321}">
                    <p14:modId xmlns:p14="http://schemas.microsoft.com/office/powerpoint/2010/main" val="3439092105"/>
                  </p:ext>
                </p:extLst>
              </p:nvPr>
            </p:nvGraphicFramePr>
            <p:xfrm>
              <a:off x="237181" y="1435505"/>
              <a:ext cx="16047309" cy="3902775"/>
            </p:xfrm>
            <a:graphic>
              <a:graphicData uri="http://schemas.openxmlformats.org/drawingml/2006/table">
                <a:tbl>
                  <a:tblPr firstRow="1" bandRow="1">
                    <a:tableStyleId>{5C22544A-7EE6-4342-B048-85BDC9FD1C3A}</a:tableStyleId>
                  </a:tblPr>
                  <a:tblGrid>
                    <a:gridCol w="4230473">
                      <a:extLst>
                        <a:ext uri="{9D8B030D-6E8A-4147-A177-3AD203B41FA5}">
                          <a16:colId xmlns:a16="http://schemas.microsoft.com/office/drawing/2014/main" val="2641424193"/>
                        </a:ext>
                      </a:extLst>
                    </a:gridCol>
                    <a:gridCol w="5835534">
                      <a:extLst>
                        <a:ext uri="{9D8B030D-6E8A-4147-A177-3AD203B41FA5}">
                          <a16:colId xmlns:a16="http://schemas.microsoft.com/office/drawing/2014/main" val="3623014000"/>
                        </a:ext>
                      </a:extLst>
                    </a:gridCol>
                    <a:gridCol w="5981302">
                      <a:extLst>
                        <a:ext uri="{9D8B030D-6E8A-4147-A177-3AD203B41FA5}">
                          <a16:colId xmlns:a16="http://schemas.microsoft.com/office/drawing/2014/main" val="2016046415"/>
                        </a:ext>
                      </a:extLst>
                    </a:gridCol>
                  </a:tblGrid>
                  <a:tr h="640080">
                    <a:tc>
                      <a:txBody>
                        <a:bodyPr/>
                        <a:lstStyle/>
                        <a:p>
                          <a:pPr algn="ctr"/>
                          <a:r>
                            <a:rPr lang="en-US" sz="3600" dirty="0"/>
                            <a:t>Operating Mode</a:t>
                          </a:r>
                        </a:p>
                      </a:txBody>
                      <a:tcPr anchor="ctr"/>
                    </a:tc>
                    <a:tc>
                      <a:txBody>
                        <a:bodyPr/>
                        <a:lstStyle/>
                        <a:p>
                          <a:pPr algn="ctr"/>
                          <a:r>
                            <a:rPr lang="en-US" sz="3600" baseline="0" dirty="0"/>
                            <a:t>Baud Rate </a:t>
                          </a:r>
                          <a:r>
                            <a:rPr lang="en-US" sz="3600" dirty="0"/>
                            <a:t>Equations</a:t>
                          </a:r>
                        </a:p>
                      </a:txBody>
                      <a:tcPr anchor="ctr"/>
                    </a:tc>
                    <a:tc>
                      <a:txBody>
                        <a:bodyPr/>
                        <a:lstStyle/>
                        <a:p>
                          <a:pPr algn="ctr"/>
                          <a:r>
                            <a:rPr lang="en-US" sz="3600" dirty="0"/>
                            <a:t>Equations for </a:t>
                          </a:r>
                          <a:r>
                            <a:rPr lang="en-US" sz="3600" dirty="0" err="1"/>
                            <a:t>UBRRn</a:t>
                          </a:r>
                          <a:r>
                            <a:rPr lang="en-US" sz="3600" baseline="0" dirty="0"/>
                            <a:t> Values</a:t>
                          </a:r>
                          <a:endParaRPr lang="en-US" sz="3600" dirty="0"/>
                        </a:p>
                      </a:txBody>
                      <a:tcPr anchor="ctr"/>
                    </a:tc>
                    <a:extLst>
                      <a:ext uri="{0D108BD9-81ED-4DB2-BD59-A6C34878D82A}">
                        <a16:rowId xmlns:a16="http://schemas.microsoft.com/office/drawing/2014/main" val="467052719"/>
                      </a:ext>
                    </a:extLst>
                  </a:tr>
                  <a:tr h="1087565">
                    <a:tc>
                      <a:txBody>
                        <a:bodyPr/>
                        <a:lstStyle/>
                        <a:p>
                          <a:r>
                            <a:rPr lang="en-US" sz="3200" b="1" dirty="0"/>
                            <a:t>Asynchronous Normal Mode (U2Xn = 0)</a:t>
                          </a:r>
                        </a:p>
                      </a:txBody>
                      <a:tcPr/>
                    </a:tc>
                    <a:tc>
                      <a:txBody>
                        <a:bodyPr/>
                        <a:lstStyle/>
                        <a:p>
                          <a:endParaRPr lang="en-US"/>
                        </a:p>
                      </a:txBody>
                      <a:tcPr>
                        <a:blipFill>
                          <a:blip r:embed="rId2"/>
                          <a:stretch>
                            <a:fillRect l="-72547" t="-67039" r="-102923" b="-215642"/>
                          </a:stretch>
                        </a:blipFill>
                      </a:tcPr>
                    </a:tc>
                    <a:tc>
                      <a:txBody>
                        <a:bodyPr/>
                        <a:lstStyle/>
                        <a:p>
                          <a:endParaRPr lang="en-US"/>
                        </a:p>
                      </a:txBody>
                      <a:tcPr>
                        <a:blipFill>
                          <a:blip r:embed="rId2"/>
                          <a:stretch>
                            <a:fillRect l="-168330" t="-67039" r="-407" b="-215642"/>
                          </a:stretch>
                        </a:blipFill>
                      </a:tcPr>
                    </a:tc>
                    <a:extLst>
                      <a:ext uri="{0D108BD9-81ED-4DB2-BD59-A6C34878D82A}">
                        <a16:rowId xmlns:a16="http://schemas.microsoft.com/office/drawing/2014/main" val="1302255449"/>
                      </a:ext>
                    </a:extLst>
                  </a:tr>
                  <a:tr h="1087565">
                    <a:tc>
                      <a:txBody>
                        <a:bodyPr/>
                        <a:lstStyle/>
                        <a:p>
                          <a:r>
                            <a:rPr lang="en-US" sz="3200" b="1" dirty="0">
                              <a:solidFill>
                                <a:srgbClr val="0070C0"/>
                              </a:solidFill>
                            </a:rPr>
                            <a:t>Asynchronous Double Speed Mode (U2Xn = 1)</a:t>
                          </a:r>
                        </a:p>
                      </a:txBody>
                      <a:tcPr/>
                    </a:tc>
                    <a:tc>
                      <a:txBody>
                        <a:bodyPr/>
                        <a:lstStyle/>
                        <a:p>
                          <a:endParaRPr lang="en-US"/>
                        </a:p>
                      </a:txBody>
                      <a:tcPr>
                        <a:blipFill>
                          <a:blip r:embed="rId2"/>
                          <a:stretch>
                            <a:fillRect l="-72547" t="-167978" r="-102923" b="-116854"/>
                          </a:stretch>
                        </a:blipFill>
                      </a:tcPr>
                    </a:tc>
                    <a:tc>
                      <a:txBody>
                        <a:bodyPr/>
                        <a:lstStyle/>
                        <a:p>
                          <a:endParaRPr lang="en-US"/>
                        </a:p>
                      </a:txBody>
                      <a:tcPr>
                        <a:blipFill>
                          <a:blip r:embed="rId2"/>
                          <a:stretch>
                            <a:fillRect l="-168330" t="-167978" r="-407" b="-116854"/>
                          </a:stretch>
                        </a:blipFill>
                      </a:tcPr>
                    </a:tc>
                    <a:extLst>
                      <a:ext uri="{0D108BD9-81ED-4DB2-BD59-A6C34878D82A}">
                        <a16:rowId xmlns:a16="http://schemas.microsoft.com/office/drawing/2014/main" val="994906688"/>
                      </a:ext>
                    </a:extLst>
                  </a:tr>
                  <a:tr h="1087565">
                    <a:tc>
                      <a:txBody>
                        <a:bodyPr/>
                        <a:lstStyle/>
                        <a:p>
                          <a:r>
                            <a:rPr lang="en-US" sz="3200" b="1" dirty="0"/>
                            <a:t>Synchronous Master Mode</a:t>
                          </a:r>
                        </a:p>
                      </a:txBody>
                      <a:tcPr/>
                    </a:tc>
                    <a:tc>
                      <a:txBody>
                        <a:bodyPr/>
                        <a:lstStyle/>
                        <a:p>
                          <a:endParaRPr lang="en-US"/>
                        </a:p>
                      </a:txBody>
                      <a:tcPr>
                        <a:blipFill>
                          <a:blip r:embed="rId2"/>
                          <a:stretch>
                            <a:fillRect l="-72547" t="-266480" r="-102923" b="-16201"/>
                          </a:stretch>
                        </a:blipFill>
                      </a:tcPr>
                    </a:tc>
                    <a:tc>
                      <a:txBody>
                        <a:bodyPr/>
                        <a:lstStyle/>
                        <a:p>
                          <a:endParaRPr lang="en-US"/>
                        </a:p>
                      </a:txBody>
                      <a:tcPr>
                        <a:blipFill>
                          <a:blip r:embed="rId2"/>
                          <a:stretch>
                            <a:fillRect l="-168330" t="-266480" r="-407" b="-16201"/>
                          </a:stretch>
                        </a:blipFill>
                      </a:tcPr>
                    </a:tc>
                    <a:extLst>
                      <a:ext uri="{0D108BD9-81ED-4DB2-BD59-A6C34878D82A}">
                        <a16:rowId xmlns:a16="http://schemas.microsoft.com/office/drawing/2014/main" val="3903016856"/>
                      </a:ext>
                    </a:extLst>
                  </a:tr>
                </a:tbl>
              </a:graphicData>
            </a:graphic>
          </p:graphicFrame>
        </mc:Fallback>
      </mc:AlternateContent>
      <p:sp>
        <p:nvSpPr>
          <p:cNvPr id="7" name="TextBox 6"/>
          <p:cNvSpPr txBox="1"/>
          <p:nvPr/>
        </p:nvSpPr>
        <p:spPr>
          <a:xfrm>
            <a:off x="173302" y="761378"/>
            <a:ext cx="15770509" cy="646331"/>
          </a:xfrm>
          <a:prstGeom prst="rect">
            <a:avLst/>
          </a:prstGeom>
          <a:noFill/>
        </p:spPr>
        <p:txBody>
          <a:bodyPr wrap="square" rtlCol="0">
            <a:spAutoFit/>
          </a:bodyPr>
          <a:lstStyle/>
          <a:p>
            <a:r>
              <a:rPr lang="en-US" sz="3600" dirty="0">
                <a:solidFill>
                  <a:srgbClr val="00B050"/>
                </a:solidFill>
              </a:rPr>
              <a:t>Table 17.1 Equations to calculate Baud Rate Register Setting</a:t>
            </a:r>
          </a:p>
        </p:txBody>
      </p:sp>
      <mc:AlternateContent xmlns:mc="http://schemas.openxmlformats.org/markup-compatibility/2006" xmlns:a14="http://schemas.microsoft.com/office/drawing/2010/main">
        <mc:Choice Requires="a14">
          <p:sp>
            <p:nvSpPr>
              <p:cNvPr id="11" name="TextBox 10"/>
              <p:cNvSpPr txBox="1"/>
              <p:nvPr/>
            </p:nvSpPr>
            <p:spPr>
              <a:xfrm>
                <a:off x="225149" y="5366076"/>
                <a:ext cx="16047309" cy="2616101"/>
              </a:xfrm>
              <a:prstGeom prst="rect">
                <a:avLst/>
              </a:prstGeom>
              <a:noFill/>
            </p:spPr>
            <p:txBody>
              <a:bodyPr wrap="square" rtlCol="0">
                <a:spAutoFit/>
              </a:bodyPr>
              <a:lstStyle/>
              <a:p>
                <a:r>
                  <a:rPr lang="en-US" sz="3600" b="1" dirty="0">
                    <a:solidFill>
                      <a:srgbClr val="FF0000"/>
                    </a:solidFill>
                  </a:rPr>
                  <a:t>Note:</a:t>
                </a:r>
              </a:p>
              <a:p>
                <a:pPr marL="514350" indent="-514350">
                  <a:buAutoNum type="arabicPeriod"/>
                </a:pPr>
                <a:r>
                  <a:rPr lang="en-US" sz="3200" dirty="0"/>
                  <a:t>The </a:t>
                </a:r>
                <a:r>
                  <a:rPr lang="en-US" sz="3200" i="1" dirty="0">
                    <a:solidFill>
                      <a:srgbClr val="FF0000"/>
                    </a:solidFill>
                  </a:rPr>
                  <a:t>Baud rate </a:t>
                </a:r>
                <a:r>
                  <a:rPr lang="en-US" sz="3200" dirty="0"/>
                  <a:t>is defined as the data transfer rate in bits per second (</a:t>
                </a:r>
                <a:r>
                  <a:rPr lang="en-US" sz="3200" dirty="0">
                    <a:solidFill>
                      <a:srgbClr val="FF0000"/>
                    </a:solidFill>
                  </a:rPr>
                  <a:t>bps</a:t>
                </a:r>
                <a:r>
                  <a:rPr lang="en-US" sz="3200" dirty="0"/>
                  <a:t>)</a:t>
                </a:r>
              </a:p>
              <a:p>
                <a:pPr marL="514350" indent="-514350">
                  <a:buAutoNum type="arabicPeriod"/>
                </a:pPr>
                <a:r>
                  <a:rPr lang="en-US" sz="3200" dirty="0"/>
                  <a:t>System oscillator clock frequency (</a:t>
                </a:r>
                <a14:m>
                  <m:oMath xmlns:m="http://schemas.openxmlformats.org/officeDocument/2006/math">
                    <m:sSub>
                      <m:sSubPr>
                        <m:ctrlPr>
                          <a:rPr lang="en-US" sz="3200" i="1" smtClean="0">
                            <a:solidFill>
                              <a:srgbClr val="FF0000"/>
                            </a:solidFill>
                            <a:latin typeface="Cambria Math" panose="02040503050406030204" pitchFamily="18" charset="0"/>
                          </a:rPr>
                        </m:ctrlPr>
                      </m:sSubPr>
                      <m:e>
                        <m:r>
                          <a:rPr lang="en-US" sz="3200" i="1">
                            <a:solidFill>
                              <a:srgbClr val="FF0000"/>
                            </a:solidFill>
                            <a:latin typeface="Cambria Math" panose="02040503050406030204" pitchFamily="18" charset="0"/>
                          </a:rPr>
                          <m:t>𝑓</m:t>
                        </m:r>
                      </m:e>
                      <m:sub>
                        <m:r>
                          <a:rPr lang="en-US" sz="3200" i="1">
                            <a:solidFill>
                              <a:srgbClr val="FF0000"/>
                            </a:solidFill>
                            <a:latin typeface="Cambria Math" panose="02040503050406030204" pitchFamily="18" charset="0"/>
                          </a:rPr>
                          <m:t>𝑜𝑠𝑐</m:t>
                        </m:r>
                      </m:sub>
                    </m:sSub>
                  </m:oMath>
                </a14:m>
                <a:r>
                  <a:rPr lang="en-US" sz="3200" dirty="0"/>
                  <a:t>) should be set in </a:t>
                </a:r>
                <a:r>
                  <a:rPr lang="en-US" sz="3200" dirty="0">
                    <a:solidFill>
                      <a:srgbClr val="FF0000"/>
                    </a:solidFill>
                  </a:rPr>
                  <a:t>Hz</a:t>
                </a:r>
              </a:p>
              <a:p>
                <a:pPr marL="514350" indent="-514350">
                  <a:buAutoNum type="arabicPeriod"/>
                </a:pPr>
                <a:r>
                  <a:rPr lang="en-US" sz="3200" dirty="0" err="1">
                    <a:solidFill>
                      <a:srgbClr val="FF0000"/>
                    </a:solidFill>
                  </a:rPr>
                  <a:t>UBRRn</a:t>
                </a:r>
                <a:r>
                  <a:rPr lang="en-US" sz="3200" dirty="0"/>
                  <a:t> means contents of the </a:t>
                </a:r>
                <a:r>
                  <a:rPr lang="en-US" sz="3200" dirty="0" err="1"/>
                  <a:t>UBRRnH</a:t>
                </a:r>
                <a:r>
                  <a:rPr lang="en-US" sz="3200" dirty="0"/>
                  <a:t> and </a:t>
                </a:r>
                <a:r>
                  <a:rPr lang="en-US" sz="3200" dirty="0" err="1"/>
                  <a:t>UBRRnL</a:t>
                </a:r>
                <a:r>
                  <a:rPr lang="en-US" sz="3200" dirty="0"/>
                  <a:t> registers, and their values may vary from </a:t>
                </a:r>
                <a:r>
                  <a:rPr lang="en-US" sz="3200" dirty="0">
                    <a:solidFill>
                      <a:srgbClr val="FF0000"/>
                    </a:solidFill>
                  </a:rPr>
                  <a:t>0 to 4095; there are 12 bits data, so the total values can be 2</a:t>
                </a:r>
                <a:r>
                  <a:rPr lang="en-US" sz="3200" baseline="30000" dirty="0">
                    <a:solidFill>
                      <a:srgbClr val="FF0000"/>
                    </a:solidFill>
                  </a:rPr>
                  <a:t>12</a:t>
                </a:r>
                <a:r>
                  <a:rPr lang="en-US" sz="3200" dirty="0">
                    <a:solidFill>
                      <a:srgbClr val="FF0000"/>
                    </a:solidFill>
                  </a:rPr>
                  <a:t> = 4096.</a:t>
                </a:r>
              </a:p>
            </p:txBody>
          </p:sp>
        </mc:Choice>
        <mc:Fallback xmlns="">
          <p:sp>
            <p:nvSpPr>
              <p:cNvPr id="11" name="TextBox 10"/>
              <p:cNvSpPr txBox="1">
                <a:spLocks noRot="1" noChangeAspect="1" noMove="1" noResize="1" noEditPoints="1" noAdjustHandles="1" noChangeArrowheads="1" noChangeShapeType="1" noTextEdit="1"/>
              </p:cNvSpPr>
              <p:nvPr/>
            </p:nvSpPr>
            <p:spPr>
              <a:xfrm>
                <a:off x="225149" y="5366076"/>
                <a:ext cx="16047309" cy="2616101"/>
              </a:xfrm>
              <a:prstGeom prst="rect">
                <a:avLst/>
              </a:prstGeom>
              <a:blipFill>
                <a:blip r:embed="rId3"/>
                <a:stretch>
                  <a:fillRect l="-1178" t="-3497" r="-1368" b="-6760"/>
                </a:stretch>
              </a:blipFill>
            </p:spPr>
            <p:txBody>
              <a:bodyPr/>
              <a:lstStyle/>
              <a:p>
                <a:r>
                  <a:rPr lang="en-US">
                    <a:noFill/>
                  </a:rPr>
                  <a:t> </a:t>
                </a:r>
              </a:p>
            </p:txBody>
          </p:sp>
        </mc:Fallback>
      </mc:AlternateContent>
    </p:spTree>
    <p:extLst>
      <p:ext uri="{BB962C8B-B14F-4D97-AF65-F5344CB8AC3E}">
        <p14:creationId xmlns:p14="http://schemas.microsoft.com/office/powerpoint/2010/main" val="9793416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E243D-75AE-42B3-8EDA-ED7023A593CD}"/>
              </a:ext>
            </a:extLst>
          </p:cNvPr>
          <p:cNvSpPr>
            <a:spLocks noGrp="1"/>
          </p:cNvSpPr>
          <p:nvPr>
            <p:ph type="title"/>
          </p:nvPr>
        </p:nvSpPr>
        <p:spPr>
          <a:xfrm>
            <a:off x="299259" y="999415"/>
            <a:ext cx="15893934" cy="1519341"/>
          </a:xfrm>
        </p:spPr>
        <p:txBody>
          <a:bodyPr anchor="t">
            <a:noAutofit/>
          </a:bodyPr>
          <a:lstStyle/>
          <a:p>
            <a:r>
              <a:rPr lang="en-US" sz="3600" b="1" dirty="0">
                <a:solidFill>
                  <a:schemeClr val="accent1"/>
                </a:solidFill>
              </a:rPr>
              <a:t>Find the baud rate for the three operating modes when </a:t>
            </a:r>
            <a:r>
              <a:rPr lang="en-US" sz="3600" b="1" i="1" dirty="0" err="1">
                <a:solidFill>
                  <a:schemeClr val="accent1"/>
                </a:solidFill>
              </a:rPr>
              <a:t>f</a:t>
            </a:r>
            <a:r>
              <a:rPr lang="en-US" sz="3600" b="1" i="1" baseline="-25000" dirty="0" err="1">
                <a:solidFill>
                  <a:schemeClr val="accent1"/>
                </a:solidFill>
              </a:rPr>
              <a:t>OSC</a:t>
            </a:r>
            <a:r>
              <a:rPr lang="en-US" sz="3600" b="1" i="1" dirty="0">
                <a:solidFill>
                  <a:schemeClr val="accent1"/>
                </a:solidFill>
              </a:rPr>
              <a:t> </a:t>
            </a:r>
            <a:r>
              <a:rPr lang="en-US" sz="3600" b="1" dirty="0">
                <a:solidFill>
                  <a:schemeClr val="accent1"/>
                </a:solidFill>
              </a:rPr>
              <a:t> = 1 MHz and </a:t>
            </a:r>
            <a:r>
              <a:rPr lang="en-US" sz="3600" b="1" dirty="0" err="1">
                <a:solidFill>
                  <a:schemeClr val="accent1"/>
                </a:solidFill>
              </a:rPr>
              <a:t>UBRRn</a:t>
            </a:r>
            <a:r>
              <a:rPr lang="en-US" sz="3600" b="1" dirty="0">
                <a:solidFill>
                  <a:schemeClr val="accent1"/>
                </a:solidFill>
              </a:rPr>
              <a:t> = 25. Calculate the baud error and comment whether there will be any communication error or not.</a:t>
            </a:r>
            <a:endParaRPr lang="en-US" sz="3600" b="1" dirty="0">
              <a:solidFill>
                <a:srgbClr val="002060"/>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3337018-38FE-4ADC-BE79-99BE522B63C3}"/>
                  </a:ext>
                </a:extLst>
              </p:cNvPr>
              <p:cNvSpPr>
                <a:spLocks noGrp="1"/>
              </p:cNvSpPr>
              <p:nvPr>
                <p:ph idx="1"/>
              </p:nvPr>
            </p:nvSpPr>
            <p:spPr>
              <a:xfrm>
                <a:off x="386225" y="2518755"/>
                <a:ext cx="15806968" cy="5245331"/>
              </a:xfrm>
            </p:spPr>
            <p:txBody>
              <a:bodyPr>
                <a:noAutofit/>
              </a:bodyPr>
              <a:lstStyle/>
              <a:p>
                <a:pPr marL="0" indent="0" algn="just">
                  <a:lnSpc>
                    <a:spcPct val="110000"/>
                  </a:lnSpc>
                  <a:spcBef>
                    <a:spcPts val="0"/>
                  </a:spcBef>
                  <a:buNone/>
                </a:pPr>
                <a:r>
                  <a:rPr lang="en-US" sz="3600" b="1" i="1" dirty="0">
                    <a:solidFill>
                      <a:srgbClr val="0070C0"/>
                    </a:solidFill>
                  </a:rPr>
                  <a:t>Solution:  </a:t>
                </a:r>
              </a:p>
              <a:p>
                <a:pPr marL="0" indent="0" algn="just">
                  <a:lnSpc>
                    <a:spcPct val="110000"/>
                  </a:lnSpc>
                  <a:spcBef>
                    <a:spcPts val="0"/>
                  </a:spcBef>
                  <a:buNone/>
                </a:pPr>
                <a:r>
                  <a:rPr lang="en-US" sz="3600" b="1" i="1" dirty="0">
                    <a:solidFill>
                      <a:srgbClr val="00B050"/>
                    </a:solidFill>
                  </a:rPr>
                  <a:t>For asynchronous normal mode:</a:t>
                </a:r>
              </a:p>
              <a:p>
                <a:pPr marL="0" indent="0" algn="just">
                  <a:lnSpc>
                    <a:spcPct val="110000"/>
                  </a:lnSpc>
                  <a:spcBef>
                    <a:spcPts val="0"/>
                  </a:spcBef>
                  <a:buNone/>
                </a:pPr>
                <a14:m>
                  <m:oMath xmlns:m="http://schemas.openxmlformats.org/officeDocument/2006/math">
                    <m:r>
                      <a:rPr lang="en-US" sz="3600" b="0" i="1" smtClean="0">
                        <a:latin typeface="Cambria Math" panose="02040503050406030204" pitchFamily="18" charset="0"/>
                      </a:rPr>
                      <m:t>𝐵𝑎𝑢𝑑</m:t>
                    </m:r>
                    <m:r>
                      <a:rPr lang="en-US" sz="3600" b="0" i="1" smtClean="0">
                        <a:latin typeface="Cambria Math" panose="02040503050406030204" pitchFamily="18" charset="0"/>
                      </a:rPr>
                      <m:t> </m:t>
                    </m:r>
                    <m:r>
                      <a:rPr lang="en-US" sz="3600" b="0" i="1" smtClean="0">
                        <a:latin typeface="Cambria Math" panose="02040503050406030204" pitchFamily="18" charset="0"/>
                      </a:rPr>
                      <m:t>𝑟𝑎𝑡𝑒</m:t>
                    </m:r>
                    <m:r>
                      <a:rPr lang="en-US" sz="3600" b="0" i="1" smtClean="0">
                        <a:latin typeface="Cambria Math" panose="02040503050406030204" pitchFamily="18" charset="0"/>
                      </a:rPr>
                      <m:t>=</m:t>
                    </m:r>
                    <m:f>
                      <m:fPr>
                        <m:ctrlPr>
                          <a:rPr lang="en-US" sz="3600" b="0" i="1" smtClean="0">
                            <a:latin typeface="Cambria Math" panose="02040503050406030204" pitchFamily="18" charset="0"/>
                          </a:rPr>
                        </m:ctrlPr>
                      </m:fPr>
                      <m:num>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𝑓</m:t>
                            </m:r>
                          </m:e>
                          <m:sub>
                            <m:r>
                              <a:rPr lang="en-US" sz="3600" b="0" i="1" smtClean="0">
                                <a:latin typeface="Cambria Math" panose="02040503050406030204" pitchFamily="18" charset="0"/>
                              </a:rPr>
                              <m:t>𝑜𝑠𝑐</m:t>
                            </m:r>
                          </m:sub>
                        </m:sSub>
                      </m:num>
                      <m:den>
                        <m:r>
                          <a:rPr lang="en-US" sz="3600" b="0" i="1" smtClean="0">
                            <a:latin typeface="Cambria Math" panose="02040503050406030204" pitchFamily="18" charset="0"/>
                          </a:rPr>
                          <m:t>16</m:t>
                        </m:r>
                        <m:d>
                          <m:dPr>
                            <m:ctrlPr>
                              <a:rPr lang="en-US" sz="3600" b="0" i="1" smtClean="0">
                                <a:latin typeface="Cambria Math" panose="02040503050406030204" pitchFamily="18" charset="0"/>
                              </a:rPr>
                            </m:ctrlPr>
                          </m:dPr>
                          <m:e>
                            <m:r>
                              <a:rPr lang="en-US" sz="3600" b="0" i="1" smtClean="0">
                                <a:latin typeface="Cambria Math" panose="02040503050406030204" pitchFamily="18" charset="0"/>
                              </a:rPr>
                              <m:t>𝑈𝐵𝑅𝑅𝑛</m:t>
                            </m:r>
                            <m:r>
                              <a:rPr lang="en-US" sz="3600" b="0" i="1" smtClean="0">
                                <a:latin typeface="Cambria Math" panose="02040503050406030204" pitchFamily="18" charset="0"/>
                              </a:rPr>
                              <m:t>+1</m:t>
                            </m:r>
                          </m:e>
                        </m:d>
                      </m:den>
                    </m:f>
                    <m:r>
                      <a:rPr lang="en-US" sz="3600" b="0" i="1" smtClean="0">
                        <a:latin typeface="Cambria Math" panose="02040503050406030204" pitchFamily="18" charset="0"/>
                      </a:rPr>
                      <m:t>=</m:t>
                    </m:r>
                    <m:f>
                      <m:fPr>
                        <m:ctrlPr>
                          <a:rPr lang="en-US" sz="3600" b="0" i="1" smtClean="0">
                            <a:latin typeface="Cambria Math" panose="02040503050406030204" pitchFamily="18" charset="0"/>
                          </a:rPr>
                        </m:ctrlPr>
                      </m:fPr>
                      <m:num>
                        <m:r>
                          <a:rPr lang="en-US" sz="3600" b="0" i="1" smtClean="0">
                            <a:latin typeface="Cambria Math" panose="02040503050406030204" pitchFamily="18" charset="0"/>
                          </a:rPr>
                          <m:t>1</m:t>
                        </m:r>
                        <m:r>
                          <a:rPr lang="en-US" sz="3600" b="0" i="1" smtClean="0">
                            <a:latin typeface="Cambria Math" panose="02040503050406030204" pitchFamily="18" charset="0"/>
                            <a:ea typeface="Cambria Math" panose="02040503050406030204" pitchFamily="18" charset="0"/>
                          </a:rPr>
                          <m:t>×</m:t>
                        </m:r>
                        <m:sSup>
                          <m:sSupPr>
                            <m:ctrlPr>
                              <a:rPr lang="en-US" sz="3600" b="0" i="1" smtClean="0">
                                <a:latin typeface="Cambria Math" panose="02040503050406030204" pitchFamily="18" charset="0"/>
                                <a:ea typeface="Cambria Math" panose="02040503050406030204" pitchFamily="18" charset="0"/>
                              </a:rPr>
                            </m:ctrlPr>
                          </m:sSupPr>
                          <m:e>
                            <m:r>
                              <a:rPr lang="en-US" sz="3600" b="0" i="1" smtClean="0">
                                <a:latin typeface="Cambria Math" panose="02040503050406030204" pitchFamily="18" charset="0"/>
                                <a:ea typeface="Cambria Math" panose="02040503050406030204" pitchFamily="18" charset="0"/>
                              </a:rPr>
                              <m:t>10</m:t>
                            </m:r>
                          </m:e>
                          <m:sup>
                            <m:r>
                              <a:rPr lang="en-US" sz="3600" b="0" i="1" smtClean="0">
                                <a:latin typeface="Cambria Math" panose="02040503050406030204" pitchFamily="18" charset="0"/>
                                <a:ea typeface="Cambria Math" panose="02040503050406030204" pitchFamily="18" charset="0"/>
                              </a:rPr>
                              <m:t>6</m:t>
                            </m:r>
                          </m:sup>
                        </m:sSup>
                      </m:num>
                      <m:den>
                        <m:r>
                          <a:rPr lang="en-US" sz="3600" b="0" i="1" smtClean="0">
                            <a:latin typeface="Cambria Math" panose="02040503050406030204" pitchFamily="18" charset="0"/>
                          </a:rPr>
                          <m:t>16</m:t>
                        </m:r>
                        <m:d>
                          <m:dPr>
                            <m:ctrlPr>
                              <a:rPr lang="en-US" sz="3600" b="0" i="1" smtClean="0">
                                <a:latin typeface="Cambria Math" panose="02040503050406030204" pitchFamily="18" charset="0"/>
                              </a:rPr>
                            </m:ctrlPr>
                          </m:dPr>
                          <m:e>
                            <m:r>
                              <a:rPr lang="en-US" sz="3600" b="0" i="1" smtClean="0">
                                <a:latin typeface="Cambria Math" panose="02040503050406030204" pitchFamily="18" charset="0"/>
                              </a:rPr>
                              <m:t>25+1</m:t>
                            </m:r>
                          </m:e>
                        </m:d>
                      </m:den>
                    </m:f>
                    <m:r>
                      <a:rPr lang="en-US" sz="3600" b="0" i="1" smtClean="0">
                        <a:latin typeface="Cambria Math" panose="02040503050406030204" pitchFamily="18" charset="0"/>
                      </a:rPr>
                      <m:t>=2404</m:t>
                    </m:r>
                  </m:oMath>
                </a14:m>
                <a:r>
                  <a:rPr lang="en-US" sz="3600" dirty="0"/>
                  <a:t> bps</a:t>
                </a:r>
              </a:p>
              <a:p>
                <a:pPr marL="0" indent="0" algn="just">
                  <a:lnSpc>
                    <a:spcPct val="110000"/>
                  </a:lnSpc>
                  <a:spcBef>
                    <a:spcPts val="0"/>
                  </a:spcBef>
                  <a:buNone/>
                </a:pPr>
                <a14:m>
                  <m:oMathPara xmlns:m="http://schemas.openxmlformats.org/officeDocument/2006/math">
                    <m:oMathParaPr>
                      <m:jc m:val="left"/>
                    </m:oMathParaPr>
                    <m:oMath xmlns:m="http://schemas.openxmlformats.org/officeDocument/2006/math">
                      <m:r>
                        <a:rPr lang="en-US" sz="3600" b="0" i="1">
                          <a:solidFill>
                            <a:srgbClr val="0070C0"/>
                          </a:solidFill>
                          <a:latin typeface="Cambria Math" panose="02040503050406030204" pitchFamily="18" charset="0"/>
                        </a:rPr>
                        <m:t>𝐵𝑎𝑢𝑑</m:t>
                      </m:r>
                      <m:r>
                        <a:rPr lang="en-US" sz="3600" b="0" i="1">
                          <a:solidFill>
                            <a:srgbClr val="0070C0"/>
                          </a:solidFill>
                          <a:latin typeface="Cambria Math" panose="02040503050406030204" pitchFamily="18" charset="0"/>
                        </a:rPr>
                        <m:t> </m:t>
                      </m:r>
                      <m:r>
                        <a:rPr lang="en-US" sz="3600" b="0" i="1">
                          <a:solidFill>
                            <a:srgbClr val="0070C0"/>
                          </a:solidFill>
                          <a:latin typeface="Cambria Math" panose="02040503050406030204" pitchFamily="18" charset="0"/>
                        </a:rPr>
                        <m:t>𝑒𝑟𝑟𝑜𝑟</m:t>
                      </m:r>
                      <m:r>
                        <a:rPr lang="en-US" sz="3600" b="0" i="1">
                          <a:solidFill>
                            <a:srgbClr val="0070C0"/>
                          </a:solidFill>
                          <a:latin typeface="Cambria Math" panose="02040503050406030204" pitchFamily="18" charset="0"/>
                        </a:rPr>
                        <m:t> </m:t>
                      </m:r>
                      <m:r>
                        <a:rPr lang="en-US" sz="3600" b="0" i="1">
                          <a:solidFill>
                            <a:srgbClr val="0070C0"/>
                          </a:solidFill>
                          <a:latin typeface="Cambria Math" panose="02040503050406030204" pitchFamily="18" charset="0"/>
                        </a:rPr>
                        <m:t>𝑟𝑎𝑡𝑒</m:t>
                      </m:r>
                      <m:r>
                        <a:rPr lang="en-US" sz="3600" b="0" i="1">
                          <a:solidFill>
                            <a:srgbClr val="0070C0"/>
                          </a:solidFill>
                          <a:latin typeface="Cambria Math" panose="02040503050406030204" pitchFamily="18" charset="0"/>
                        </a:rPr>
                        <m:t>=</m:t>
                      </m:r>
                      <m:f>
                        <m:fPr>
                          <m:ctrlPr>
                            <a:rPr lang="en-US" sz="3600" i="1">
                              <a:solidFill>
                                <a:srgbClr val="0070C0"/>
                              </a:solidFill>
                              <a:latin typeface="Cambria Math" panose="02040503050406030204" pitchFamily="18" charset="0"/>
                            </a:rPr>
                          </m:ctrlPr>
                        </m:fPr>
                        <m:num>
                          <m:r>
                            <a:rPr lang="en-US" sz="3600" b="0" i="1">
                              <a:solidFill>
                                <a:srgbClr val="0070C0"/>
                              </a:solidFill>
                              <a:latin typeface="Cambria Math" panose="02040503050406030204" pitchFamily="18" charset="0"/>
                            </a:rPr>
                            <m:t>𝑆𝑡𝑎𝑛𝑑𝑎𝑟𝑑</m:t>
                          </m:r>
                          <m:r>
                            <a:rPr lang="en-US" sz="3600" b="0" i="1">
                              <a:solidFill>
                                <a:srgbClr val="0070C0"/>
                              </a:solidFill>
                              <a:latin typeface="Cambria Math" panose="02040503050406030204" pitchFamily="18" charset="0"/>
                            </a:rPr>
                            <m:t> </m:t>
                          </m:r>
                          <m:r>
                            <a:rPr lang="en-US" sz="3600" b="0" i="1">
                              <a:solidFill>
                                <a:srgbClr val="0070C0"/>
                              </a:solidFill>
                              <a:latin typeface="Cambria Math" panose="02040503050406030204" pitchFamily="18" charset="0"/>
                            </a:rPr>
                            <m:t>𝑏𝑎𝑢𝑑</m:t>
                          </m:r>
                          <m:r>
                            <a:rPr lang="en-US" sz="3600" b="0" i="1">
                              <a:solidFill>
                                <a:srgbClr val="0070C0"/>
                              </a:solidFill>
                              <a:latin typeface="Cambria Math" panose="02040503050406030204" pitchFamily="18" charset="0"/>
                            </a:rPr>
                            <m:t> </m:t>
                          </m:r>
                          <m:r>
                            <a:rPr lang="en-US" sz="3600" b="0" i="1">
                              <a:solidFill>
                                <a:srgbClr val="0070C0"/>
                              </a:solidFill>
                              <a:latin typeface="Cambria Math" panose="02040503050406030204" pitchFamily="18" charset="0"/>
                            </a:rPr>
                            <m:t>𝑟𝑎𝑡𝑒</m:t>
                          </m:r>
                          <m:r>
                            <a:rPr lang="en-US" sz="3600" b="0" i="1">
                              <a:solidFill>
                                <a:srgbClr val="0070C0"/>
                              </a:solidFill>
                              <a:latin typeface="Cambria Math" panose="02040503050406030204" pitchFamily="18" charset="0"/>
                            </a:rPr>
                            <m:t>−</m:t>
                          </m:r>
                          <m:r>
                            <a:rPr lang="en-US" sz="3600" b="0" i="1">
                              <a:solidFill>
                                <a:srgbClr val="0070C0"/>
                              </a:solidFill>
                              <a:latin typeface="Cambria Math" panose="02040503050406030204" pitchFamily="18" charset="0"/>
                            </a:rPr>
                            <m:t>𝐶𝑎𝑙𝑐𝑢𝑙𝑎𝑡𝑒𝑑</m:t>
                          </m:r>
                          <m:r>
                            <a:rPr lang="en-US" sz="3600" b="0" i="1">
                              <a:solidFill>
                                <a:srgbClr val="0070C0"/>
                              </a:solidFill>
                              <a:latin typeface="Cambria Math" panose="02040503050406030204" pitchFamily="18" charset="0"/>
                            </a:rPr>
                            <m:t> </m:t>
                          </m:r>
                          <m:r>
                            <a:rPr lang="en-US" sz="3600" b="0" i="1">
                              <a:solidFill>
                                <a:srgbClr val="0070C0"/>
                              </a:solidFill>
                              <a:latin typeface="Cambria Math" panose="02040503050406030204" pitchFamily="18" charset="0"/>
                            </a:rPr>
                            <m:t>𝑏𝑎𝑢𝑑</m:t>
                          </m:r>
                          <m:r>
                            <a:rPr lang="en-US" sz="3600" b="0" i="1">
                              <a:solidFill>
                                <a:srgbClr val="0070C0"/>
                              </a:solidFill>
                              <a:latin typeface="Cambria Math" panose="02040503050406030204" pitchFamily="18" charset="0"/>
                            </a:rPr>
                            <m:t> </m:t>
                          </m:r>
                          <m:r>
                            <a:rPr lang="en-US" sz="3600" b="0" i="1">
                              <a:solidFill>
                                <a:srgbClr val="0070C0"/>
                              </a:solidFill>
                              <a:latin typeface="Cambria Math" panose="02040503050406030204" pitchFamily="18" charset="0"/>
                            </a:rPr>
                            <m:t>𝑟𝑎𝑡𝑒</m:t>
                          </m:r>
                        </m:num>
                        <m:den>
                          <m:r>
                            <a:rPr lang="en-US" sz="3600" b="0" i="1">
                              <a:solidFill>
                                <a:srgbClr val="0070C0"/>
                              </a:solidFill>
                              <a:latin typeface="Cambria Math" panose="02040503050406030204" pitchFamily="18" charset="0"/>
                            </a:rPr>
                            <m:t>𝑆𝑡𝑎𝑛𝑑𝑎𝑟𝑑</m:t>
                          </m:r>
                          <m:r>
                            <a:rPr lang="en-US" sz="3600" b="0" i="1">
                              <a:solidFill>
                                <a:srgbClr val="0070C0"/>
                              </a:solidFill>
                              <a:latin typeface="Cambria Math" panose="02040503050406030204" pitchFamily="18" charset="0"/>
                            </a:rPr>
                            <m:t> </m:t>
                          </m:r>
                          <m:r>
                            <a:rPr lang="en-US" sz="3600" b="0" i="1">
                              <a:solidFill>
                                <a:srgbClr val="0070C0"/>
                              </a:solidFill>
                              <a:latin typeface="Cambria Math" panose="02040503050406030204" pitchFamily="18" charset="0"/>
                            </a:rPr>
                            <m:t>𝑏𝑎𝑢𝑑</m:t>
                          </m:r>
                          <m:r>
                            <a:rPr lang="en-US" sz="3600" b="0" i="1">
                              <a:solidFill>
                                <a:srgbClr val="0070C0"/>
                              </a:solidFill>
                              <a:latin typeface="Cambria Math" panose="02040503050406030204" pitchFamily="18" charset="0"/>
                            </a:rPr>
                            <m:t> </m:t>
                          </m:r>
                          <m:r>
                            <a:rPr lang="en-US" sz="3600" b="0" i="1">
                              <a:solidFill>
                                <a:srgbClr val="0070C0"/>
                              </a:solidFill>
                              <a:latin typeface="Cambria Math" panose="02040503050406030204" pitchFamily="18" charset="0"/>
                            </a:rPr>
                            <m:t>𝑟𝑎𝑡𝑒</m:t>
                          </m:r>
                        </m:den>
                      </m:f>
                      <m:r>
                        <a:rPr lang="en-US" sz="3600" b="0" i="1">
                          <a:solidFill>
                            <a:srgbClr val="0070C0"/>
                          </a:solidFill>
                          <a:latin typeface="Cambria Math" panose="02040503050406030204" pitchFamily="18" charset="0"/>
                          <a:ea typeface="Cambria Math" panose="02040503050406030204" pitchFamily="18" charset="0"/>
                        </a:rPr>
                        <m:t>×100%</m:t>
                      </m:r>
                      <m:r>
                        <a:rPr lang="en-US" sz="3600" b="0" i="1" smtClean="0">
                          <a:solidFill>
                            <a:srgbClr val="0070C0"/>
                          </a:solidFill>
                          <a:latin typeface="Cambria Math" panose="02040503050406030204" pitchFamily="18" charset="0"/>
                          <a:ea typeface="Cambria Math" panose="02040503050406030204" pitchFamily="18" charset="0"/>
                        </a:rPr>
                        <m:t>=</m:t>
                      </m:r>
                      <m:f>
                        <m:fPr>
                          <m:ctrlPr>
                            <a:rPr lang="en-US" sz="3600" b="0" i="1" smtClean="0">
                              <a:solidFill>
                                <a:srgbClr val="0070C0"/>
                              </a:solidFill>
                              <a:latin typeface="Cambria Math" panose="02040503050406030204" pitchFamily="18" charset="0"/>
                              <a:ea typeface="Cambria Math" panose="02040503050406030204" pitchFamily="18" charset="0"/>
                            </a:rPr>
                          </m:ctrlPr>
                        </m:fPr>
                        <m:num>
                          <m:r>
                            <a:rPr lang="en-US" sz="3600" b="0" i="1" smtClean="0">
                              <a:solidFill>
                                <a:srgbClr val="0070C0"/>
                              </a:solidFill>
                              <a:latin typeface="Cambria Math" panose="02040503050406030204" pitchFamily="18" charset="0"/>
                              <a:ea typeface="Cambria Math" panose="02040503050406030204" pitchFamily="18" charset="0"/>
                            </a:rPr>
                            <m:t>2400−2404</m:t>
                          </m:r>
                        </m:num>
                        <m:den>
                          <m:r>
                            <a:rPr lang="en-US" sz="3600" b="0" i="1" smtClean="0">
                              <a:solidFill>
                                <a:srgbClr val="0070C0"/>
                              </a:solidFill>
                              <a:latin typeface="Cambria Math" panose="02040503050406030204" pitchFamily="18" charset="0"/>
                              <a:ea typeface="Cambria Math" panose="02040503050406030204" pitchFamily="18" charset="0"/>
                            </a:rPr>
                            <m:t>2400</m:t>
                          </m:r>
                        </m:den>
                      </m:f>
                      <m:r>
                        <a:rPr lang="en-US" sz="3600" b="0" i="1" smtClean="0">
                          <a:solidFill>
                            <a:srgbClr val="0070C0"/>
                          </a:solidFill>
                          <a:latin typeface="Cambria Math" panose="02040503050406030204" pitchFamily="18" charset="0"/>
                          <a:ea typeface="Cambria Math" panose="02040503050406030204" pitchFamily="18" charset="0"/>
                        </a:rPr>
                        <m:t>×100%=−0.167%&lt;±2%</m:t>
                      </m:r>
                    </m:oMath>
                  </m:oMathPara>
                </a14:m>
                <a:endParaRPr lang="en-US" sz="3600" dirty="0"/>
              </a:p>
              <a:p>
                <a:pPr marL="0" indent="0">
                  <a:lnSpc>
                    <a:spcPct val="110000"/>
                  </a:lnSpc>
                  <a:spcBef>
                    <a:spcPts val="0"/>
                  </a:spcBef>
                  <a:buNone/>
                </a:pPr>
                <a:r>
                  <a:rPr lang="en-US" sz="3600" b="1" dirty="0">
                    <a:solidFill>
                      <a:srgbClr val="00B050"/>
                    </a:solidFill>
                  </a:rPr>
                  <a:t>So, there will be no communication error for the given information.</a:t>
                </a:r>
                <a:endParaRPr lang="en-US" sz="3600" dirty="0">
                  <a:solidFill>
                    <a:srgbClr val="00B050"/>
                  </a:solidFill>
                </a:endParaRPr>
              </a:p>
              <a:p>
                <a:pPr marL="0" indent="0">
                  <a:lnSpc>
                    <a:spcPct val="110000"/>
                  </a:lnSpc>
                  <a:spcBef>
                    <a:spcPts val="0"/>
                  </a:spcBef>
                  <a:buNone/>
                </a:pPr>
                <a:endParaRPr lang="en-US" sz="2400" i="1" dirty="0"/>
              </a:p>
            </p:txBody>
          </p:sp>
        </mc:Choice>
        <mc:Fallback xmlns="">
          <p:sp>
            <p:nvSpPr>
              <p:cNvPr id="3" name="Content Placeholder 2">
                <a:extLst>
                  <a:ext uri="{FF2B5EF4-FFF2-40B4-BE49-F238E27FC236}">
                    <a16:creationId xmlns:a16="http://schemas.microsoft.com/office/drawing/2014/main" id="{13337018-38FE-4ADC-BE79-99BE522B63C3}"/>
                  </a:ext>
                </a:extLst>
              </p:cNvPr>
              <p:cNvSpPr>
                <a:spLocks noGrp="1" noRot="1" noChangeAspect="1" noMove="1" noResize="1" noEditPoints="1" noAdjustHandles="1" noChangeArrowheads="1" noChangeShapeType="1" noTextEdit="1"/>
              </p:cNvSpPr>
              <p:nvPr>
                <p:ph idx="1"/>
              </p:nvPr>
            </p:nvSpPr>
            <p:spPr>
              <a:xfrm>
                <a:off x="386225" y="2518755"/>
                <a:ext cx="15806968" cy="5245331"/>
              </a:xfrm>
              <a:blipFill>
                <a:blip r:embed="rId2"/>
                <a:stretch>
                  <a:fillRect l="-1157" t="-1278" b="-2671"/>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84BDDB45-C0CE-467D-9465-00DB55FFB151}" type="datetime3">
              <a:rPr lang="en-US" smtClean="0"/>
              <a:t>3 December 2025</a:t>
            </a:fld>
            <a:endParaRPr lang="en-US"/>
          </a:p>
        </p:txBody>
      </p:sp>
      <p:sp>
        <p:nvSpPr>
          <p:cNvPr id="6" name="Slide Number Placeholder 5"/>
          <p:cNvSpPr>
            <a:spLocks noGrp="1"/>
          </p:cNvSpPr>
          <p:nvPr>
            <p:ph type="sldNum" sz="quarter" idx="12"/>
          </p:nvPr>
        </p:nvSpPr>
        <p:spPr/>
        <p:txBody>
          <a:bodyPr/>
          <a:lstStyle/>
          <a:p>
            <a:fld id="{90416D69-EFB9-4734-9DF5-4234A5F1A98A}" type="slidenum">
              <a:rPr lang="en-US" smtClean="0"/>
              <a:t>12</a:t>
            </a:fld>
            <a:endParaRPr lang="en-US"/>
          </a:p>
        </p:txBody>
      </p:sp>
      <p:sp>
        <p:nvSpPr>
          <p:cNvPr id="7" name="Rectangle 6"/>
          <p:cNvSpPr/>
          <p:nvPr/>
        </p:nvSpPr>
        <p:spPr>
          <a:xfrm>
            <a:off x="1787444" y="106720"/>
            <a:ext cx="6171177" cy="923330"/>
          </a:xfrm>
          <a:prstGeom prst="rect">
            <a:avLst/>
          </a:prstGeom>
        </p:spPr>
        <p:txBody>
          <a:bodyPr wrap="none">
            <a:spAutoFit/>
          </a:bodyPr>
          <a:lstStyle/>
          <a:p>
            <a:r>
              <a:rPr lang="en-US" sz="5400" b="1" dirty="0">
                <a:solidFill>
                  <a:srgbClr val="0070C0"/>
                </a:solidFill>
              </a:rPr>
              <a:t>Example to Practice </a:t>
            </a:r>
            <a:endParaRPr lang="en-US" sz="5400" dirty="0">
              <a:solidFill>
                <a:srgbClr val="0070C0"/>
              </a:solidFill>
            </a:endParaRPr>
          </a:p>
        </p:txBody>
      </p:sp>
    </p:spTree>
    <p:extLst>
      <p:ext uri="{BB962C8B-B14F-4D97-AF65-F5344CB8AC3E}">
        <p14:creationId xmlns:p14="http://schemas.microsoft.com/office/powerpoint/2010/main" val="5949286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E243D-75AE-42B3-8EDA-ED7023A593CD}"/>
              </a:ext>
            </a:extLst>
          </p:cNvPr>
          <p:cNvSpPr>
            <a:spLocks noGrp="1"/>
          </p:cNvSpPr>
          <p:nvPr>
            <p:ph type="title"/>
          </p:nvPr>
        </p:nvSpPr>
        <p:spPr>
          <a:xfrm>
            <a:off x="1837773" y="462319"/>
            <a:ext cx="10250905" cy="623395"/>
          </a:xfrm>
        </p:spPr>
        <p:txBody>
          <a:bodyPr>
            <a:noAutofit/>
          </a:bodyPr>
          <a:lstStyle/>
          <a:p>
            <a:pPr algn="just"/>
            <a:r>
              <a:rPr lang="en-US" sz="5400" b="1" dirty="0">
                <a:solidFill>
                  <a:srgbClr val="002060"/>
                </a:solidFill>
              </a:rPr>
              <a:t>Continuation..</a:t>
            </a:r>
            <a:r>
              <a:rPr lang="en-US" sz="5400" dirty="0"/>
              <a:t>.</a:t>
            </a:r>
            <a:endParaRPr lang="en-US" sz="5400" b="1" dirty="0">
              <a:solidFill>
                <a:srgbClr val="002060"/>
              </a:solidFill>
            </a:endParaRPr>
          </a:p>
        </p:txBody>
      </p:sp>
      <p:sp>
        <p:nvSpPr>
          <p:cNvPr id="3" name="Date Placeholder 2"/>
          <p:cNvSpPr>
            <a:spLocks noGrp="1"/>
          </p:cNvSpPr>
          <p:nvPr>
            <p:ph type="dt" sz="half" idx="10"/>
          </p:nvPr>
        </p:nvSpPr>
        <p:spPr/>
        <p:txBody>
          <a:bodyPr/>
          <a:lstStyle/>
          <a:p>
            <a:fld id="{C89A64A2-F4C3-46F3-8F8E-369987CB5716}" type="datetime3">
              <a:rPr lang="en-US" smtClean="0"/>
              <a:t>3 December 2025</a:t>
            </a:fld>
            <a:endParaRPr lang="en-US"/>
          </a:p>
        </p:txBody>
      </p:sp>
      <p:sp>
        <p:nvSpPr>
          <p:cNvPr id="7" name="Slide Number Placeholder 6"/>
          <p:cNvSpPr>
            <a:spLocks noGrp="1"/>
          </p:cNvSpPr>
          <p:nvPr>
            <p:ph type="sldNum" sz="quarter" idx="12"/>
          </p:nvPr>
        </p:nvSpPr>
        <p:spPr/>
        <p:txBody>
          <a:bodyPr/>
          <a:lstStyle/>
          <a:p>
            <a:fld id="{90416D69-EFB9-4734-9DF5-4234A5F1A98A}" type="slidenum">
              <a:rPr lang="en-US" smtClean="0"/>
              <a:t>13</a:t>
            </a:fld>
            <a:endParaRPr lang="en-US"/>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13337018-38FE-4ADC-BE79-99BE522B63C3}"/>
                  </a:ext>
                </a:extLst>
              </p:cNvPr>
              <p:cNvSpPr>
                <a:spLocks noGrp="1"/>
              </p:cNvSpPr>
              <p:nvPr>
                <p:ph idx="1"/>
              </p:nvPr>
            </p:nvSpPr>
            <p:spPr>
              <a:xfrm>
                <a:off x="338317" y="1194562"/>
                <a:ext cx="15806968" cy="5245331"/>
              </a:xfrm>
            </p:spPr>
            <p:txBody>
              <a:bodyPr>
                <a:noAutofit/>
              </a:bodyPr>
              <a:lstStyle/>
              <a:p>
                <a:pPr marL="0" indent="0" algn="just">
                  <a:lnSpc>
                    <a:spcPct val="114000"/>
                  </a:lnSpc>
                  <a:spcBef>
                    <a:spcPts val="0"/>
                  </a:spcBef>
                  <a:buNone/>
                </a:pPr>
                <a:r>
                  <a:rPr lang="en-US" sz="3600" b="1" i="1" dirty="0">
                    <a:solidFill>
                      <a:srgbClr val="0070C0"/>
                    </a:solidFill>
                  </a:rPr>
                  <a:t>Solution:  </a:t>
                </a:r>
              </a:p>
              <a:p>
                <a:pPr marL="0" indent="0" algn="just">
                  <a:lnSpc>
                    <a:spcPct val="114000"/>
                  </a:lnSpc>
                  <a:spcBef>
                    <a:spcPts val="0"/>
                  </a:spcBef>
                  <a:buNone/>
                </a:pPr>
                <a:r>
                  <a:rPr lang="en-US" sz="3600" b="1" i="1" dirty="0">
                    <a:solidFill>
                      <a:srgbClr val="00B050"/>
                    </a:solidFill>
                  </a:rPr>
                  <a:t>For asynchronous double speed mode:</a:t>
                </a:r>
              </a:p>
              <a:p>
                <a:pPr marL="0" indent="0" algn="just">
                  <a:lnSpc>
                    <a:spcPct val="114000"/>
                  </a:lnSpc>
                  <a:spcBef>
                    <a:spcPts val="0"/>
                  </a:spcBef>
                  <a:buNone/>
                </a:pPr>
                <a14:m>
                  <m:oMath xmlns:m="http://schemas.openxmlformats.org/officeDocument/2006/math">
                    <m:r>
                      <a:rPr lang="en-US" sz="3600" b="0" i="1" smtClean="0">
                        <a:latin typeface="Cambria Math" panose="02040503050406030204" pitchFamily="18" charset="0"/>
                      </a:rPr>
                      <m:t>𝐵𝑎𝑢𝑑</m:t>
                    </m:r>
                    <m:r>
                      <a:rPr lang="en-US" sz="3600" b="0" i="1" smtClean="0">
                        <a:latin typeface="Cambria Math" panose="02040503050406030204" pitchFamily="18" charset="0"/>
                      </a:rPr>
                      <m:t> </m:t>
                    </m:r>
                    <m:r>
                      <a:rPr lang="en-US" sz="3600" b="0" i="1" smtClean="0">
                        <a:latin typeface="Cambria Math" panose="02040503050406030204" pitchFamily="18" charset="0"/>
                      </a:rPr>
                      <m:t>𝑟𝑎𝑡𝑒</m:t>
                    </m:r>
                    <m:r>
                      <a:rPr lang="en-US" sz="3600" b="0" i="1" smtClean="0">
                        <a:latin typeface="Cambria Math" panose="02040503050406030204" pitchFamily="18" charset="0"/>
                      </a:rPr>
                      <m:t>=</m:t>
                    </m:r>
                    <m:f>
                      <m:fPr>
                        <m:ctrlPr>
                          <a:rPr lang="en-US" sz="3600" b="0" i="1" smtClean="0">
                            <a:latin typeface="Cambria Math" panose="02040503050406030204" pitchFamily="18" charset="0"/>
                          </a:rPr>
                        </m:ctrlPr>
                      </m:fPr>
                      <m:num>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𝑓</m:t>
                            </m:r>
                          </m:e>
                          <m:sub>
                            <m:r>
                              <a:rPr lang="en-US" sz="3600" b="0" i="1" smtClean="0">
                                <a:latin typeface="Cambria Math" panose="02040503050406030204" pitchFamily="18" charset="0"/>
                              </a:rPr>
                              <m:t>𝑜𝑠𝑐</m:t>
                            </m:r>
                          </m:sub>
                        </m:sSub>
                      </m:num>
                      <m:den>
                        <m:r>
                          <a:rPr lang="en-US" sz="3600" b="0" i="1" smtClean="0">
                            <a:latin typeface="Cambria Math" panose="02040503050406030204" pitchFamily="18" charset="0"/>
                          </a:rPr>
                          <m:t>8</m:t>
                        </m:r>
                        <m:d>
                          <m:dPr>
                            <m:ctrlPr>
                              <a:rPr lang="en-US" sz="3600" b="0" i="1" smtClean="0">
                                <a:latin typeface="Cambria Math" panose="02040503050406030204" pitchFamily="18" charset="0"/>
                              </a:rPr>
                            </m:ctrlPr>
                          </m:dPr>
                          <m:e>
                            <m:r>
                              <a:rPr lang="en-US" sz="3600" b="0" i="1" smtClean="0">
                                <a:latin typeface="Cambria Math" panose="02040503050406030204" pitchFamily="18" charset="0"/>
                              </a:rPr>
                              <m:t>𝑈𝐵𝑅𝑅𝑛</m:t>
                            </m:r>
                            <m:r>
                              <a:rPr lang="en-US" sz="3600" b="0" i="1" smtClean="0">
                                <a:latin typeface="Cambria Math" panose="02040503050406030204" pitchFamily="18" charset="0"/>
                              </a:rPr>
                              <m:t>+1</m:t>
                            </m:r>
                          </m:e>
                        </m:d>
                      </m:den>
                    </m:f>
                    <m:r>
                      <a:rPr lang="en-US" sz="3600" b="0" i="1" smtClean="0">
                        <a:latin typeface="Cambria Math" panose="02040503050406030204" pitchFamily="18" charset="0"/>
                      </a:rPr>
                      <m:t>=</m:t>
                    </m:r>
                    <m:f>
                      <m:fPr>
                        <m:ctrlPr>
                          <a:rPr lang="en-US" sz="3600" b="0" i="1" smtClean="0">
                            <a:latin typeface="Cambria Math" panose="02040503050406030204" pitchFamily="18" charset="0"/>
                          </a:rPr>
                        </m:ctrlPr>
                      </m:fPr>
                      <m:num>
                        <m:r>
                          <a:rPr lang="en-US" sz="3600" b="0" i="1" smtClean="0">
                            <a:latin typeface="Cambria Math" panose="02040503050406030204" pitchFamily="18" charset="0"/>
                          </a:rPr>
                          <m:t>1</m:t>
                        </m:r>
                        <m:r>
                          <a:rPr lang="en-US" sz="3600" b="0" i="1" smtClean="0">
                            <a:latin typeface="Cambria Math" panose="02040503050406030204" pitchFamily="18" charset="0"/>
                            <a:ea typeface="Cambria Math" panose="02040503050406030204" pitchFamily="18" charset="0"/>
                          </a:rPr>
                          <m:t>×</m:t>
                        </m:r>
                        <m:sSup>
                          <m:sSupPr>
                            <m:ctrlPr>
                              <a:rPr lang="en-US" sz="3600" b="0" i="1" smtClean="0">
                                <a:latin typeface="Cambria Math" panose="02040503050406030204" pitchFamily="18" charset="0"/>
                                <a:ea typeface="Cambria Math" panose="02040503050406030204" pitchFamily="18" charset="0"/>
                              </a:rPr>
                            </m:ctrlPr>
                          </m:sSupPr>
                          <m:e>
                            <m:r>
                              <a:rPr lang="en-US" sz="3600" b="0" i="1" smtClean="0">
                                <a:latin typeface="Cambria Math" panose="02040503050406030204" pitchFamily="18" charset="0"/>
                                <a:ea typeface="Cambria Math" panose="02040503050406030204" pitchFamily="18" charset="0"/>
                              </a:rPr>
                              <m:t>10</m:t>
                            </m:r>
                          </m:e>
                          <m:sup>
                            <m:r>
                              <a:rPr lang="en-US" sz="3600" b="0" i="1" smtClean="0">
                                <a:latin typeface="Cambria Math" panose="02040503050406030204" pitchFamily="18" charset="0"/>
                                <a:ea typeface="Cambria Math" panose="02040503050406030204" pitchFamily="18" charset="0"/>
                              </a:rPr>
                              <m:t>6</m:t>
                            </m:r>
                          </m:sup>
                        </m:sSup>
                      </m:num>
                      <m:den>
                        <m:r>
                          <a:rPr lang="en-US" sz="3600" b="0" i="1" smtClean="0">
                            <a:latin typeface="Cambria Math" panose="02040503050406030204" pitchFamily="18" charset="0"/>
                          </a:rPr>
                          <m:t>8</m:t>
                        </m:r>
                        <m:d>
                          <m:dPr>
                            <m:ctrlPr>
                              <a:rPr lang="en-US" sz="3600" b="0" i="1" smtClean="0">
                                <a:latin typeface="Cambria Math" panose="02040503050406030204" pitchFamily="18" charset="0"/>
                              </a:rPr>
                            </m:ctrlPr>
                          </m:dPr>
                          <m:e>
                            <m:r>
                              <a:rPr lang="en-US" sz="3600" b="0" i="1" smtClean="0">
                                <a:latin typeface="Cambria Math" panose="02040503050406030204" pitchFamily="18" charset="0"/>
                              </a:rPr>
                              <m:t>25+1</m:t>
                            </m:r>
                          </m:e>
                        </m:d>
                      </m:den>
                    </m:f>
                    <m:r>
                      <a:rPr lang="en-US" sz="3600" b="0" i="1" smtClean="0">
                        <a:latin typeface="Cambria Math" panose="02040503050406030204" pitchFamily="18" charset="0"/>
                      </a:rPr>
                      <m:t>=4808</m:t>
                    </m:r>
                  </m:oMath>
                </a14:m>
                <a:r>
                  <a:rPr lang="en-US" sz="3600" dirty="0"/>
                  <a:t> bps</a:t>
                </a:r>
              </a:p>
              <a:p>
                <a:pPr marL="0" indent="0" algn="just">
                  <a:lnSpc>
                    <a:spcPct val="114000"/>
                  </a:lnSpc>
                  <a:spcBef>
                    <a:spcPts val="0"/>
                  </a:spcBef>
                  <a:buNone/>
                </a:pPr>
                <a14:m>
                  <m:oMathPara xmlns:m="http://schemas.openxmlformats.org/officeDocument/2006/math">
                    <m:oMathParaPr>
                      <m:jc m:val="left"/>
                    </m:oMathParaPr>
                    <m:oMath xmlns:m="http://schemas.openxmlformats.org/officeDocument/2006/math">
                      <m:r>
                        <a:rPr lang="en-US" sz="3600" b="0" i="1">
                          <a:solidFill>
                            <a:srgbClr val="0070C0"/>
                          </a:solidFill>
                          <a:latin typeface="Cambria Math" panose="02040503050406030204" pitchFamily="18" charset="0"/>
                        </a:rPr>
                        <m:t>𝐵𝑎𝑢𝑑</m:t>
                      </m:r>
                      <m:r>
                        <a:rPr lang="en-US" sz="3600" b="0" i="1">
                          <a:solidFill>
                            <a:srgbClr val="0070C0"/>
                          </a:solidFill>
                          <a:latin typeface="Cambria Math" panose="02040503050406030204" pitchFamily="18" charset="0"/>
                        </a:rPr>
                        <m:t> </m:t>
                      </m:r>
                      <m:r>
                        <a:rPr lang="en-US" sz="3600" b="0" i="1">
                          <a:solidFill>
                            <a:srgbClr val="0070C0"/>
                          </a:solidFill>
                          <a:latin typeface="Cambria Math" panose="02040503050406030204" pitchFamily="18" charset="0"/>
                        </a:rPr>
                        <m:t>𝑒𝑟𝑟𝑜𝑟</m:t>
                      </m:r>
                      <m:r>
                        <a:rPr lang="en-US" sz="3600" b="0" i="1">
                          <a:solidFill>
                            <a:srgbClr val="0070C0"/>
                          </a:solidFill>
                          <a:latin typeface="Cambria Math" panose="02040503050406030204" pitchFamily="18" charset="0"/>
                        </a:rPr>
                        <m:t> </m:t>
                      </m:r>
                      <m:r>
                        <a:rPr lang="en-US" sz="3600" b="0" i="1">
                          <a:solidFill>
                            <a:srgbClr val="0070C0"/>
                          </a:solidFill>
                          <a:latin typeface="Cambria Math" panose="02040503050406030204" pitchFamily="18" charset="0"/>
                        </a:rPr>
                        <m:t>𝑟𝑎𝑡𝑒</m:t>
                      </m:r>
                      <m:r>
                        <a:rPr lang="en-US" sz="3600" b="0" i="1">
                          <a:solidFill>
                            <a:srgbClr val="0070C0"/>
                          </a:solidFill>
                          <a:latin typeface="Cambria Math" panose="02040503050406030204" pitchFamily="18" charset="0"/>
                        </a:rPr>
                        <m:t>=</m:t>
                      </m:r>
                      <m:f>
                        <m:fPr>
                          <m:ctrlPr>
                            <a:rPr lang="en-US" sz="3600" i="1">
                              <a:solidFill>
                                <a:srgbClr val="0070C0"/>
                              </a:solidFill>
                              <a:latin typeface="Cambria Math" panose="02040503050406030204" pitchFamily="18" charset="0"/>
                            </a:rPr>
                          </m:ctrlPr>
                        </m:fPr>
                        <m:num>
                          <m:r>
                            <a:rPr lang="en-US" sz="3600" b="0" i="1">
                              <a:solidFill>
                                <a:srgbClr val="0070C0"/>
                              </a:solidFill>
                              <a:latin typeface="Cambria Math" panose="02040503050406030204" pitchFamily="18" charset="0"/>
                            </a:rPr>
                            <m:t>𝑆𝑡𝑎𝑛𝑑𝑎𝑟𝑑</m:t>
                          </m:r>
                          <m:r>
                            <a:rPr lang="en-US" sz="3600" b="0" i="1">
                              <a:solidFill>
                                <a:srgbClr val="0070C0"/>
                              </a:solidFill>
                              <a:latin typeface="Cambria Math" panose="02040503050406030204" pitchFamily="18" charset="0"/>
                            </a:rPr>
                            <m:t> </m:t>
                          </m:r>
                          <m:r>
                            <a:rPr lang="en-US" sz="3600" b="0" i="1">
                              <a:solidFill>
                                <a:srgbClr val="0070C0"/>
                              </a:solidFill>
                              <a:latin typeface="Cambria Math" panose="02040503050406030204" pitchFamily="18" charset="0"/>
                            </a:rPr>
                            <m:t>𝑏𝑎𝑢𝑑</m:t>
                          </m:r>
                          <m:r>
                            <a:rPr lang="en-US" sz="3600" b="0" i="1">
                              <a:solidFill>
                                <a:srgbClr val="0070C0"/>
                              </a:solidFill>
                              <a:latin typeface="Cambria Math" panose="02040503050406030204" pitchFamily="18" charset="0"/>
                            </a:rPr>
                            <m:t> </m:t>
                          </m:r>
                          <m:r>
                            <a:rPr lang="en-US" sz="3600" b="0" i="1">
                              <a:solidFill>
                                <a:srgbClr val="0070C0"/>
                              </a:solidFill>
                              <a:latin typeface="Cambria Math" panose="02040503050406030204" pitchFamily="18" charset="0"/>
                            </a:rPr>
                            <m:t>𝑟𝑎𝑡𝑒</m:t>
                          </m:r>
                          <m:r>
                            <a:rPr lang="en-US" sz="3600" b="0" i="1">
                              <a:solidFill>
                                <a:srgbClr val="0070C0"/>
                              </a:solidFill>
                              <a:latin typeface="Cambria Math" panose="02040503050406030204" pitchFamily="18" charset="0"/>
                            </a:rPr>
                            <m:t>−</m:t>
                          </m:r>
                          <m:r>
                            <a:rPr lang="en-US" sz="3600" b="0" i="1">
                              <a:solidFill>
                                <a:srgbClr val="0070C0"/>
                              </a:solidFill>
                              <a:latin typeface="Cambria Math" panose="02040503050406030204" pitchFamily="18" charset="0"/>
                            </a:rPr>
                            <m:t>𝐶𝑎𝑙𝑐𝑢𝑙𝑎𝑡𝑒𝑑</m:t>
                          </m:r>
                          <m:r>
                            <a:rPr lang="en-US" sz="3600" b="0" i="1">
                              <a:solidFill>
                                <a:srgbClr val="0070C0"/>
                              </a:solidFill>
                              <a:latin typeface="Cambria Math" panose="02040503050406030204" pitchFamily="18" charset="0"/>
                            </a:rPr>
                            <m:t> </m:t>
                          </m:r>
                          <m:r>
                            <a:rPr lang="en-US" sz="3600" b="0" i="1">
                              <a:solidFill>
                                <a:srgbClr val="0070C0"/>
                              </a:solidFill>
                              <a:latin typeface="Cambria Math" panose="02040503050406030204" pitchFamily="18" charset="0"/>
                            </a:rPr>
                            <m:t>𝑏𝑎𝑢𝑑</m:t>
                          </m:r>
                          <m:r>
                            <a:rPr lang="en-US" sz="3600" b="0" i="1">
                              <a:solidFill>
                                <a:srgbClr val="0070C0"/>
                              </a:solidFill>
                              <a:latin typeface="Cambria Math" panose="02040503050406030204" pitchFamily="18" charset="0"/>
                            </a:rPr>
                            <m:t> </m:t>
                          </m:r>
                          <m:r>
                            <a:rPr lang="en-US" sz="3600" b="0" i="1">
                              <a:solidFill>
                                <a:srgbClr val="0070C0"/>
                              </a:solidFill>
                              <a:latin typeface="Cambria Math" panose="02040503050406030204" pitchFamily="18" charset="0"/>
                            </a:rPr>
                            <m:t>𝑟𝑎𝑡𝑒</m:t>
                          </m:r>
                        </m:num>
                        <m:den>
                          <m:r>
                            <a:rPr lang="en-US" sz="3600" b="0" i="1">
                              <a:solidFill>
                                <a:srgbClr val="0070C0"/>
                              </a:solidFill>
                              <a:latin typeface="Cambria Math" panose="02040503050406030204" pitchFamily="18" charset="0"/>
                            </a:rPr>
                            <m:t>𝑆𝑡𝑎𝑛𝑑𝑎𝑟𝑑</m:t>
                          </m:r>
                          <m:r>
                            <a:rPr lang="en-US" sz="3600" b="0" i="1">
                              <a:solidFill>
                                <a:srgbClr val="0070C0"/>
                              </a:solidFill>
                              <a:latin typeface="Cambria Math" panose="02040503050406030204" pitchFamily="18" charset="0"/>
                            </a:rPr>
                            <m:t> </m:t>
                          </m:r>
                          <m:r>
                            <a:rPr lang="en-US" sz="3600" b="0" i="1">
                              <a:solidFill>
                                <a:srgbClr val="0070C0"/>
                              </a:solidFill>
                              <a:latin typeface="Cambria Math" panose="02040503050406030204" pitchFamily="18" charset="0"/>
                            </a:rPr>
                            <m:t>𝑏𝑎𝑢𝑑</m:t>
                          </m:r>
                          <m:r>
                            <a:rPr lang="en-US" sz="3600" b="0" i="1">
                              <a:solidFill>
                                <a:srgbClr val="0070C0"/>
                              </a:solidFill>
                              <a:latin typeface="Cambria Math" panose="02040503050406030204" pitchFamily="18" charset="0"/>
                            </a:rPr>
                            <m:t> </m:t>
                          </m:r>
                          <m:r>
                            <a:rPr lang="en-US" sz="3600" b="0" i="1">
                              <a:solidFill>
                                <a:srgbClr val="0070C0"/>
                              </a:solidFill>
                              <a:latin typeface="Cambria Math" panose="02040503050406030204" pitchFamily="18" charset="0"/>
                            </a:rPr>
                            <m:t>𝑟𝑎𝑡𝑒</m:t>
                          </m:r>
                        </m:den>
                      </m:f>
                      <m:r>
                        <a:rPr lang="en-US" sz="3600" b="0" i="1">
                          <a:solidFill>
                            <a:srgbClr val="0070C0"/>
                          </a:solidFill>
                          <a:latin typeface="Cambria Math" panose="02040503050406030204" pitchFamily="18" charset="0"/>
                          <a:ea typeface="Cambria Math" panose="02040503050406030204" pitchFamily="18" charset="0"/>
                        </a:rPr>
                        <m:t>×100%</m:t>
                      </m:r>
                      <m:r>
                        <a:rPr lang="en-US" sz="3600" b="0" i="1" smtClean="0">
                          <a:solidFill>
                            <a:srgbClr val="0070C0"/>
                          </a:solidFill>
                          <a:latin typeface="Cambria Math" panose="02040503050406030204" pitchFamily="18" charset="0"/>
                          <a:ea typeface="Cambria Math" panose="02040503050406030204" pitchFamily="18" charset="0"/>
                        </a:rPr>
                        <m:t>=</m:t>
                      </m:r>
                      <m:f>
                        <m:fPr>
                          <m:ctrlPr>
                            <a:rPr lang="en-US" sz="3600" b="0" i="1" smtClean="0">
                              <a:solidFill>
                                <a:srgbClr val="0070C0"/>
                              </a:solidFill>
                              <a:latin typeface="Cambria Math" panose="02040503050406030204" pitchFamily="18" charset="0"/>
                              <a:ea typeface="Cambria Math" panose="02040503050406030204" pitchFamily="18" charset="0"/>
                            </a:rPr>
                          </m:ctrlPr>
                        </m:fPr>
                        <m:num>
                          <m:r>
                            <a:rPr lang="en-US" sz="3600" b="0" i="1" smtClean="0">
                              <a:solidFill>
                                <a:srgbClr val="0070C0"/>
                              </a:solidFill>
                              <a:latin typeface="Cambria Math" panose="02040503050406030204" pitchFamily="18" charset="0"/>
                              <a:ea typeface="Cambria Math" panose="02040503050406030204" pitchFamily="18" charset="0"/>
                            </a:rPr>
                            <m:t>4800−4808</m:t>
                          </m:r>
                        </m:num>
                        <m:den>
                          <m:r>
                            <a:rPr lang="en-US" sz="3600" b="0" i="1" smtClean="0">
                              <a:solidFill>
                                <a:srgbClr val="0070C0"/>
                              </a:solidFill>
                              <a:latin typeface="Cambria Math" panose="02040503050406030204" pitchFamily="18" charset="0"/>
                              <a:ea typeface="Cambria Math" panose="02040503050406030204" pitchFamily="18" charset="0"/>
                            </a:rPr>
                            <m:t>4800</m:t>
                          </m:r>
                        </m:den>
                      </m:f>
                      <m:r>
                        <a:rPr lang="en-US" sz="3600" b="0" i="1" smtClean="0">
                          <a:solidFill>
                            <a:srgbClr val="0070C0"/>
                          </a:solidFill>
                          <a:latin typeface="Cambria Math" panose="02040503050406030204" pitchFamily="18" charset="0"/>
                          <a:ea typeface="Cambria Math" panose="02040503050406030204" pitchFamily="18" charset="0"/>
                        </a:rPr>
                        <m:t>×100%=−0.167%&lt;±2%</m:t>
                      </m:r>
                    </m:oMath>
                  </m:oMathPara>
                </a14:m>
                <a:endParaRPr lang="en-US" sz="3600" dirty="0"/>
              </a:p>
              <a:p>
                <a:pPr marL="0" indent="0">
                  <a:lnSpc>
                    <a:spcPct val="114000"/>
                  </a:lnSpc>
                  <a:spcBef>
                    <a:spcPts val="0"/>
                  </a:spcBef>
                  <a:buNone/>
                </a:pPr>
                <a:r>
                  <a:rPr lang="en-US" sz="3600" b="1" dirty="0">
                    <a:solidFill>
                      <a:srgbClr val="00B050"/>
                    </a:solidFill>
                  </a:rPr>
                  <a:t>So, there will be no communication error for the given information.</a:t>
                </a:r>
                <a:endParaRPr lang="en-US" sz="3600" dirty="0">
                  <a:solidFill>
                    <a:srgbClr val="00B050"/>
                  </a:solidFill>
                </a:endParaRPr>
              </a:p>
              <a:p>
                <a:pPr marL="0" indent="0">
                  <a:lnSpc>
                    <a:spcPct val="114000"/>
                  </a:lnSpc>
                  <a:spcBef>
                    <a:spcPts val="0"/>
                  </a:spcBef>
                  <a:buNone/>
                </a:pPr>
                <a:endParaRPr lang="en-US" sz="2400" i="1" dirty="0"/>
              </a:p>
            </p:txBody>
          </p:sp>
        </mc:Choice>
        <mc:Fallback xmlns="">
          <p:sp>
            <p:nvSpPr>
              <p:cNvPr id="8" name="Content Placeholder 2">
                <a:extLst>
                  <a:ext uri="{FF2B5EF4-FFF2-40B4-BE49-F238E27FC236}">
                    <a16:creationId xmlns:a16="http://schemas.microsoft.com/office/drawing/2014/main" id="{13337018-38FE-4ADC-BE79-99BE522B63C3}"/>
                  </a:ext>
                </a:extLst>
              </p:cNvPr>
              <p:cNvSpPr>
                <a:spLocks noGrp="1" noRot="1" noChangeAspect="1" noMove="1" noResize="1" noEditPoints="1" noAdjustHandles="1" noChangeArrowheads="1" noChangeShapeType="1" noTextEdit="1"/>
              </p:cNvSpPr>
              <p:nvPr>
                <p:ph idx="1"/>
              </p:nvPr>
            </p:nvSpPr>
            <p:spPr>
              <a:xfrm>
                <a:off x="338317" y="1194562"/>
                <a:ext cx="15806968" cy="5245331"/>
              </a:xfrm>
              <a:blipFill>
                <a:blip r:embed="rId2"/>
                <a:stretch>
                  <a:fillRect l="-1157" t="-1047" b="-6163"/>
                </a:stretch>
              </a:blipFill>
            </p:spPr>
            <p:txBody>
              <a:bodyPr/>
              <a:lstStyle/>
              <a:p>
                <a:r>
                  <a:rPr lang="en-US">
                    <a:noFill/>
                  </a:rPr>
                  <a:t> </a:t>
                </a:r>
              </a:p>
            </p:txBody>
          </p:sp>
        </mc:Fallback>
      </mc:AlternateContent>
    </p:spTree>
    <p:extLst>
      <p:ext uri="{BB962C8B-B14F-4D97-AF65-F5344CB8AC3E}">
        <p14:creationId xmlns:p14="http://schemas.microsoft.com/office/powerpoint/2010/main" val="24503078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E243D-75AE-42B3-8EDA-ED7023A593CD}"/>
              </a:ext>
            </a:extLst>
          </p:cNvPr>
          <p:cNvSpPr>
            <a:spLocks noGrp="1"/>
          </p:cNvSpPr>
          <p:nvPr>
            <p:ph type="title"/>
          </p:nvPr>
        </p:nvSpPr>
        <p:spPr>
          <a:xfrm>
            <a:off x="1837773" y="462319"/>
            <a:ext cx="10250905" cy="623395"/>
          </a:xfrm>
        </p:spPr>
        <p:txBody>
          <a:bodyPr>
            <a:noAutofit/>
          </a:bodyPr>
          <a:lstStyle/>
          <a:p>
            <a:pPr algn="just"/>
            <a:r>
              <a:rPr lang="en-US" sz="5400" b="1" dirty="0">
                <a:solidFill>
                  <a:srgbClr val="002060"/>
                </a:solidFill>
              </a:rPr>
              <a:t>Continuation..</a:t>
            </a:r>
            <a:r>
              <a:rPr lang="en-US" sz="5400" dirty="0"/>
              <a:t>.</a:t>
            </a:r>
            <a:endParaRPr lang="en-US" sz="5400" b="1" dirty="0">
              <a:solidFill>
                <a:srgbClr val="002060"/>
              </a:solidFill>
            </a:endParaRPr>
          </a:p>
        </p:txBody>
      </p:sp>
      <p:sp>
        <p:nvSpPr>
          <p:cNvPr id="3" name="Date Placeholder 2"/>
          <p:cNvSpPr>
            <a:spLocks noGrp="1"/>
          </p:cNvSpPr>
          <p:nvPr>
            <p:ph type="dt" sz="half" idx="10"/>
          </p:nvPr>
        </p:nvSpPr>
        <p:spPr/>
        <p:txBody>
          <a:bodyPr/>
          <a:lstStyle/>
          <a:p>
            <a:fld id="{C89A64A2-F4C3-46F3-8F8E-369987CB5716}" type="datetime3">
              <a:rPr lang="en-US" smtClean="0"/>
              <a:t>3 December 2025</a:t>
            </a:fld>
            <a:endParaRPr lang="en-US"/>
          </a:p>
        </p:txBody>
      </p:sp>
      <p:sp>
        <p:nvSpPr>
          <p:cNvPr id="7" name="Slide Number Placeholder 6"/>
          <p:cNvSpPr>
            <a:spLocks noGrp="1"/>
          </p:cNvSpPr>
          <p:nvPr>
            <p:ph type="sldNum" sz="quarter" idx="12"/>
          </p:nvPr>
        </p:nvSpPr>
        <p:spPr/>
        <p:txBody>
          <a:bodyPr/>
          <a:lstStyle/>
          <a:p>
            <a:fld id="{90416D69-EFB9-4734-9DF5-4234A5F1A98A}" type="slidenum">
              <a:rPr lang="en-US" smtClean="0"/>
              <a:t>14</a:t>
            </a:fld>
            <a:endParaRPr lang="en-US"/>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13337018-38FE-4ADC-BE79-99BE522B63C3}"/>
                  </a:ext>
                </a:extLst>
              </p:cNvPr>
              <p:cNvSpPr>
                <a:spLocks noGrp="1"/>
              </p:cNvSpPr>
              <p:nvPr>
                <p:ph idx="1"/>
              </p:nvPr>
            </p:nvSpPr>
            <p:spPr>
              <a:xfrm>
                <a:off x="338317" y="1111437"/>
                <a:ext cx="15806968" cy="5245331"/>
              </a:xfrm>
            </p:spPr>
            <p:txBody>
              <a:bodyPr>
                <a:noAutofit/>
              </a:bodyPr>
              <a:lstStyle/>
              <a:p>
                <a:pPr marL="0" indent="0" algn="just">
                  <a:lnSpc>
                    <a:spcPct val="114000"/>
                  </a:lnSpc>
                  <a:spcBef>
                    <a:spcPts val="0"/>
                  </a:spcBef>
                  <a:buNone/>
                </a:pPr>
                <a:r>
                  <a:rPr lang="en-US" sz="3600" b="1" i="1" dirty="0">
                    <a:solidFill>
                      <a:srgbClr val="0070C0"/>
                    </a:solidFill>
                  </a:rPr>
                  <a:t>Solution:  </a:t>
                </a:r>
              </a:p>
              <a:p>
                <a:pPr marL="0" indent="0" algn="just">
                  <a:lnSpc>
                    <a:spcPct val="114000"/>
                  </a:lnSpc>
                  <a:spcBef>
                    <a:spcPts val="0"/>
                  </a:spcBef>
                  <a:buNone/>
                </a:pPr>
                <a:r>
                  <a:rPr lang="en-US" sz="3600" b="1" i="1" dirty="0">
                    <a:solidFill>
                      <a:srgbClr val="00B050"/>
                    </a:solidFill>
                  </a:rPr>
                  <a:t>For synchronous master mode:</a:t>
                </a:r>
              </a:p>
              <a:p>
                <a:pPr marL="0" indent="0" algn="just">
                  <a:lnSpc>
                    <a:spcPct val="114000"/>
                  </a:lnSpc>
                  <a:spcBef>
                    <a:spcPts val="0"/>
                  </a:spcBef>
                  <a:buNone/>
                </a:pPr>
                <a14:m>
                  <m:oMath xmlns:m="http://schemas.openxmlformats.org/officeDocument/2006/math">
                    <m:r>
                      <a:rPr lang="en-US" sz="3600" b="0" i="1" smtClean="0">
                        <a:latin typeface="Cambria Math" panose="02040503050406030204" pitchFamily="18" charset="0"/>
                      </a:rPr>
                      <m:t>𝐵𝑎𝑢𝑑</m:t>
                    </m:r>
                    <m:r>
                      <a:rPr lang="en-US" sz="3600" b="0" i="1" smtClean="0">
                        <a:latin typeface="Cambria Math" panose="02040503050406030204" pitchFamily="18" charset="0"/>
                      </a:rPr>
                      <m:t> </m:t>
                    </m:r>
                    <m:r>
                      <a:rPr lang="en-US" sz="3600" b="0" i="1" smtClean="0">
                        <a:latin typeface="Cambria Math" panose="02040503050406030204" pitchFamily="18" charset="0"/>
                      </a:rPr>
                      <m:t>𝑟𝑎𝑡𝑒</m:t>
                    </m:r>
                    <m:r>
                      <a:rPr lang="en-US" sz="3600" b="0" i="1" smtClean="0">
                        <a:latin typeface="Cambria Math" panose="02040503050406030204" pitchFamily="18" charset="0"/>
                      </a:rPr>
                      <m:t>=</m:t>
                    </m:r>
                    <m:f>
                      <m:fPr>
                        <m:ctrlPr>
                          <a:rPr lang="en-US" sz="3600" b="0" i="1" smtClean="0">
                            <a:latin typeface="Cambria Math" panose="02040503050406030204" pitchFamily="18" charset="0"/>
                          </a:rPr>
                        </m:ctrlPr>
                      </m:fPr>
                      <m:num>
                        <m:sSub>
                          <m:sSubPr>
                            <m:ctrlPr>
                              <a:rPr lang="en-US" sz="3600" b="0" i="1" smtClean="0">
                                <a:latin typeface="Cambria Math" panose="02040503050406030204" pitchFamily="18" charset="0"/>
                              </a:rPr>
                            </m:ctrlPr>
                          </m:sSubPr>
                          <m:e>
                            <m:r>
                              <a:rPr lang="en-US" sz="3600" b="0" i="1" smtClean="0">
                                <a:latin typeface="Cambria Math" panose="02040503050406030204" pitchFamily="18" charset="0"/>
                              </a:rPr>
                              <m:t>𝑓</m:t>
                            </m:r>
                          </m:e>
                          <m:sub>
                            <m:r>
                              <a:rPr lang="en-US" sz="3600" b="0" i="1" smtClean="0">
                                <a:latin typeface="Cambria Math" panose="02040503050406030204" pitchFamily="18" charset="0"/>
                              </a:rPr>
                              <m:t>𝑜𝑠𝑐</m:t>
                            </m:r>
                          </m:sub>
                        </m:sSub>
                      </m:num>
                      <m:den>
                        <m:r>
                          <a:rPr lang="en-US" sz="3600" b="0" i="1" smtClean="0">
                            <a:latin typeface="Cambria Math" panose="02040503050406030204" pitchFamily="18" charset="0"/>
                          </a:rPr>
                          <m:t>2</m:t>
                        </m:r>
                        <m:d>
                          <m:dPr>
                            <m:ctrlPr>
                              <a:rPr lang="en-US" sz="3600" b="0" i="1" smtClean="0">
                                <a:latin typeface="Cambria Math" panose="02040503050406030204" pitchFamily="18" charset="0"/>
                              </a:rPr>
                            </m:ctrlPr>
                          </m:dPr>
                          <m:e>
                            <m:r>
                              <a:rPr lang="en-US" sz="3600" b="0" i="1" smtClean="0">
                                <a:latin typeface="Cambria Math" panose="02040503050406030204" pitchFamily="18" charset="0"/>
                              </a:rPr>
                              <m:t>𝑈𝐵𝑅𝑅𝑛</m:t>
                            </m:r>
                            <m:r>
                              <a:rPr lang="en-US" sz="3600" b="0" i="1" smtClean="0">
                                <a:latin typeface="Cambria Math" panose="02040503050406030204" pitchFamily="18" charset="0"/>
                              </a:rPr>
                              <m:t>+1</m:t>
                            </m:r>
                          </m:e>
                        </m:d>
                      </m:den>
                    </m:f>
                    <m:r>
                      <a:rPr lang="en-US" sz="3600" b="0" i="1" smtClean="0">
                        <a:latin typeface="Cambria Math" panose="02040503050406030204" pitchFamily="18" charset="0"/>
                      </a:rPr>
                      <m:t>=</m:t>
                    </m:r>
                    <m:f>
                      <m:fPr>
                        <m:ctrlPr>
                          <a:rPr lang="en-US" sz="3600" b="0" i="1" smtClean="0">
                            <a:latin typeface="Cambria Math" panose="02040503050406030204" pitchFamily="18" charset="0"/>
                          </a:rPr>
                        </m:ctrlPr>
                      </m:fPr>
                      <m:num>
                        <m:r>
                          <a:rPr lang="en-US" sz="3600" b="0" i="1" smtClean="0">
                            <a:latin typeface="Cambria Math" panose="02040503050406030204" pitchFamily="18" charset="0"/>
                          </a:rPr>
                          <m:t>1</m:t>
                        </m:r>
                        <m:r>
                          <a:rPr lang="en-US" sz="3600" b="0" i="1" smtClean="0">
                            <a:latin typeface="Cambria Math" panose="02040503050406030204" pitchFamily="18" charset="0"/>
                            <a:ea typeface="Cambria Math" panose="02040503050406030204" pitchFamily="18" charset="0"/>
                          </a:rPr>
                          <m:t>×</m:t>
                        </m:r>
                        <m:sSup>
                          <m:sSupPr>
                            <m:ctrlPr>
                              <a:rPr lang="en-US" sz="3600" b="0" i="1" smtClean="0">
                                <a:latin typeface="Cambria Math" panose="02040503050406030204" pitchFamily="18" charset="0"/>
                                <a:ea typeface="Cambria Math" panose="02040503050406030204" pitchFamily="18" charset="0"/>
                              </a:rPr>
                            </m:ctrlPr>
                          </m:sSupPr>
                          <m:e>
                            <m:r>
                              <a:rPr lang="en-US" sz="3600" b="0" i="1" smtClean="0">
                                <a:latin typeface="Cambria Math" panose="02040503050406030204" pitchFamily="18" charset="0"/>
                                <a:ea typeface="Cambria Math" panose="02040503050406030204" pitchFamily="18" charset="0"/>
                              </a:rPr>
                              <m:t>10</m:t>
                            </m:r>
                          </m:e>
                          <m:sup>
                            <m:r>
                              <a:rPr lang="en-US" sz="3600" b="0" i="1" smtClean="0">
                                <a:latin typeface="Cambria Math" panose="02040503050406030204" pitchFamily="18" charset="0"/>
                                <a:ea typeface="Cambria Math" panose="02040503050406030204" pitchFamily="18" charset="0"/>
                              </a:rPr>
                              <m:t>6</m:t>
                            </m:r>
                          </m:sup>
                        </m:sSup>
                      </m:num>
                      <m:den>
                        <m:r>
                          <a:rPr lang="en-US" sz="3600" b="0" i="1" smtClean="0">
                            <a:latin typeface="Cambria Math" panose="02040503050406030204" pitchFamily="18" charset="0"/>
                          </a:rPr>
                          <m:t>2</m:t>
                        </m:r>
                        <m:d>
                          <m:dPr>
                            <m:ctrlPr>
                              <a:rPr lang="en-US" sz="3600" b="0" i="1" smtClean="0">
                                <a:latin typeface="Cambria Math" panose="02040503050406030204" pitchFamily="18" charset="0"/>
                              </a:rPr>
                            </m:ctrlPr>
                          </m:dPr>
                          <m:e>
                            <m:r>
                              <a:rPr lang="en-US" sz="3600" b="0" i="1" smtClean="0">
                                <a:latin typeface="Cambria Math" panose="02040503050406030204" pitchFamily="18" charset="0"/>
                              </a:rPr>
                              <m:t>25+1</m:t>
                            </m:r>
                          </m:e>
                        </m:d>
                      </m:den>
                    </m:f>
                    <m:r>
                      <a:rPr lang="en-US" sz="3600" b="0" i="1" smtClean="0">
                        <a:latin typeface="Cambria Math" panose="02040503050406030204" pitchFamily="18" charset="0"/>
                      </a:rPr>
                      <m:t>=19231</m:t>
                    </m:r>
                  </m:oMath>
                </a14:m>
                <a:r>
                  <a:rPr lang="en-US" sz="3600" dirty="0"/>
                  <a:t> bps</a:t>
                </a:r>
              </a:p>
              <a:p>
                <a:pPr marL="0" indent="0" algn="just">
                  <a:lnSpc>
                    <a:spcPct val="114000"/>
                  </a:lnSpc>
                  <a:spcBef>
                    <a:spcPts val="0"/>
                  </a:spcBef>
                  <a:buNone/>
                </a:pPr>
                <a14:m>
                  <m:oMathPara xmlns:m="http://schemas.openxmlformats.org/officeDocument/2006/math">
                    <m:oMathParaPr>
                      <m:jc m:val="left"/>
                    </m:oMathParaPr>
                    <m:oMath xmlns:m="http://schemas.openxmlformats.org/officeDocument/2006/math">
                      <m:r>
                        <a:rPr lang="en-US" sz="3600" b="0" i="1">
                          <a:solidFill>
                            <a:srgbClr val="0070C0"/>
                          </a:solidFill>
                          <a:latin typeface="Cambria Math" panose="02040503050406030204" pitchFamily="18" charset="0"/>
                        </a:rPr>
                        <m:t>𝐵𝑎𝑢𝑑</m:t>
                      </m:r>
                      <m:r>
                        <a:rPr lang="en-US" sz="3600" b="0" i="1">
                          <a:solidFill>
                            <a:srgbClr val="0070C0"/>
                          </a:solidFill>
                          <a:latin typeface="Cambria Math" panose="02040503050406030204" pitchFamily="18" charset="0"/>
                        </a:rPr>
                        <m:t> </m:t>
                      </m:r>
                      <m:r>
                        <a:rPr lang="en-US" sz="3600" b="0" i="1">
                          <a:solidFill>
                            <a:srgbClr val="0070C0"/>
                          </a:solidFill>
                          <a:latin typeface="Cambria Math" panose="02040503050406030204" pitchFamily="18" charset="0"/>
                        </a:rPr>
                        <m:t>𝑒𝑟𝑟𝑜𝑟</m:t>
                      </m:r>
                      <m:r>
                        <a:rPr lang="en-US" sz="3600" b="0" i="1">
                          <a:solidFill>
                            <a:srgbClr val="0070C0"/>
                          </a:solidFill>
                          <a:latin typeface="Cambria Math" panose="02040503050406030204" pitchFamily="18" charset="0"/>
                        </a:rPr>
                        <m:t> </m:t>
                      </m:r>
                      <m:r>
                        <a:rPr lang="en-US" sz="3600" b="0" i="1">
                          <a:solidFill>
                            <a:srgbClr val="0070C0"/>
                          </a:solidFill>
                          <a:latin typeface="Cambria Math" panose="02040503050406030204" pitchFamily="18" charset="0"/>
                        </a:rPr>
                        <m:t>𝑟𝑎𝑡𝑒</m:t>
                      </m:r>
                      <m:r>
                        <a:rPr lang="en-US" sz="3600" b="0" i="1">
                          <a:solidFill>
                            <a:srgbClr val="0070C0"/>
                          </a:solidFill>
                          <a:latin typeface="Cambria Math" panose="02040503050406030204" pitchFamily="18" charset="0"/>
                        </a:rPr>
                        <m:t>=</m:t>
                      </m:r>
                      <m:f>
                        <m:fPr>
                          <m:ctrlPr>
                            <a:rPr lang="en-US" sz="3600" i="1">
                              <a:solidFill>
                                <a:srgbClr val="0070C0"/>
                              </a:solidFill>
                              <a:latin typeface="Cambria Math" panose="02040503050406030204" pitchFamily="18" charset="0"/>
                            </a:rPr>
                          </m:ctrlPr>
                        </m:fPr>
                        <m:num>
                          <m:r>
                            <a:rPr lang="en-US" sz="3600" b="0" i="1">
                              <a:solidFill>
                                <a:srgbClr val="0070C0"/>
                              </a:solidFill>
                              <a:latin typeface="Cambria Math" panose="02040503050406030204" pitchFamily="18" charset="0"/>
                            </a:rPr>
                            <m:t>𝑆𝑡𝑎𝑛𝑑𝑎𝑟𝑑</m:t>
                          </m:r>
                          <m:r>
                            <a:rPr lang="en-US" sz="3600" b="0" i="1">
                              <a:solidFill>
                                <a:srgbClr val="0070C0"/>
                              </a:solidFill>
                              <a:latin typeface="Cambria Math" panose="02040503050406030204" pitchFamily="18" charset="0"/>
                            </a:rPr>
                            <m:t> </m:t>
                          </m:r>
                          <m:r>
                            <a:rPr lang="en-US" sz="3600" b="0" i="1">
                              <a:solidFill>
                                <a:srgbClr val="0070C0"/>
                              </a:solidFill>
                              <a:latin typeface="Cambria Math" panose="02040503050406030204" pitchFamily="18" charset="0"/>
                            </a:rPr>
                            <m:t>𝑏𝑎𝑢𝑑</m:t>
                          </m:r>
                          <m:r>
                            <a:rPr lang="en-US" sz="3600" b="0" i="1">
                              <a:solidFill>
                                <a:srgbClr val="0070C0"/>
                              </a:solidFill>
                              <a:latin typeface="Cambria Math" panose="02040503050406030204" pitchFamily="18" charset="0"/>
                            </a:rPr>
                            <m:t> </m:t>
                          </m:r>
                          <m:r>
                            <a:rPr lang="en-US" sz="3600" b="0" i="1">
                              <a:solidFill>
                                <a:srgbClr val="0070C0"/>
                              </a:solidFill>
                              <a:latin typeface="Cambria Math" panose="02040503050406030204" pitchFamily="18" charset="0"/>
                            </a:rPr>
                            <m:t>𝑟𝑎𝑡𝑒</m:t>
                          </m:r>
                          <m:r>
                            <a:rPr lang="en-US" sz="3600" b="0" i="1">
                              <a:solidFill>
                                <a:srgbClr val="0070C0"/>
                              </a:solidFill>
                              <a:latin typeface="Cambria Math" panose="02040503050406030204" pitchFamily="18" charset="0"/>
                            </a:rPr>
                            <m:t>−</m:t>
                          </m:r>
                          <m:r>
                            <a:rPr lang="en-US" sz="3600" b="0" i="1">
                              <a:solidFill>
                                <a:srgbClr val="0070C0"/>
                              </a:solidFill>
                              <a:latin typeface="Cambria Math" panose="02040503050406030204" pitchFamily="18" charset="0"/>
                            </a:rPr>
                            <m:t>𝐶𝑎𝑙𝑐𝑢𝑙𝑎𝑡𝑒𝑑</m:t>
                          </m:r>
                          <m:r>
                            <a:rPr lang="en-US" sz="3600" b="0" i="1">
                              <a:solidFill>
                                <a:srgbClr val="0070C0"/>
                              </a:solidFill>
                              <a:latin typeface="Cambria Math" panose="02040503050406030204" pitchFamily="18" charset="0"/>
                            </a:rPr>
                            <m:t> </m:t>
                          </m:r>
                          <m:r>
                            <a:rPr lang="en-US" sz="3600" b="0" i="1">
                              <a:solidFill>
                                <a:srgbClr val="0070C0"/>
                              </a:solidFill>
                              <a:latin typeface="Cambria Math" panose="02040503050406030204" pitchFamily="18" charset="0"/>
                            </a:rPr>
                            <m:t>𝑏𝑎𝑢𝑑</m:t>
                          </m:r>
                          <m:r>
                            <a:rPr lang="en-US" sz="3600" b="0" i="1">
                              <a:solidFill>
                                <a:srgbClr val="0070C0"/>
                              </a:solidFill>
                              <a:latin typeface="Cambria Math" panose="02040503050406030204" pitchFamily="18" charset="0"/>
                            </a:rPr>
                            <m:t> </m:t>
                          </m:r>
                          <m:r>
                            <a:rPr lang="en-US" sz="3600" b="0" i="1">
                              <a:solidFill>
                                <a:srgbClr val="0070C0"/>
                              </a:solidFill>
                              <a:latin typeface="Cambria Math" panose="02040503050406030204" pitchFamily="18" charset="0"/>
                            </a:rPr>
                            <m:t>𝑟𝑎𝑡𝑒</m:t>
                          </m:r>
                        </m:num>
                        <m:den>
                          <m:r>
                            <a:rPr lang="en-US" sz="3600" b="0" i="1">
                              <a:solidFill>
                                <a:srgbClr val="0070C0"/>
                              </a:solidFill>
                              <a:latin typeface="Cambria Math" panose="02040503050406030204" pitchFamily="18" charset="0"/>
                            </a:rPr>
                            <m:t>𝑆𝑡𝑎𝑛𝑑𝑎𝑟𝑑</m:t>
                          </m:r>
                          <m:r>
                            <a:rPr lang="en-US" sz="3600" b="0" i="1">
                              <a:solidFill>
                                <a:srgbClr val="0070C0"/>
                              </a:solidFill>
                              <a:latin typeface="Cambria Math" panose="02040503050406030204" pitchFamily="18" charset="0"/>
                            </a:rPr>
                            <m:t> </m:t>
                          </m:r>
                          <m:r>
                            <a:rPr lang="en-US" sz="3600" b="0" i="1">
                              <a:solidFill>
                                <a:srgbClr val="0070C0"/>
                              </a:solidFill>
                              <a:latin typeface="Cambria Math" panose="02040503050406030204" pitchFamily="18" charset="0"/>
                            </a:rPr>
                            <m:t>𝑏𝑎𝑢𝑑</m:t>
                          </m:r>
                          <m:r>
                            <a:rPr lang="en-US" sz="3600" b="0" i="1">
                              <a:solidFill>
                                <a:srgbClr val="0070C0"/>
                              </a:solidFill>
                              <a:latin typeface="Cambria Math" panose="02040503050406030204" pitchFamily="18" charset="0"/>
                            </a:rPr>
                            <m:t> </m:t>
                          </m:r>
                          <m:r>
                            <a:rPr lang="en-US" sz="3600" b="0" i="1">
                              <a:solidFill>
                                <a:srgbClr val="0070C0"/>
                              </a:solidFill>
                              <a:latin typeface="Cambria Math" panose="02040503050406030204" pitchFamily="18" charset="0"/>
                            </a:rPr>
                            <m:t>𝑟𝑎𝑡𝑒</m:t>
                          </m:r>
                        </m:den>
                      </m:f>
                      <m:r>
                        <a:rPr lang="en-US" sz="3600" b="0" i="1">
                          <a:solidFill>
                            <a:srgbClr val="0070C0"/>
                          </a:solidFill>
                          <a:latin typeface="Cambria Math" panose="02040503050406030204" pitchFamily="18" charset="0"/>
                          <a:ea typeface="Cambria Math" panose="02040503050406030204" pitchFamily="18" charset="0"/>
                        </a:rPr>
                        <m:t>×100%</m:t>
                      </m:r>
                      <m:r>
                        <a:rPr lang="en-US" sz="3600" b="0" i="1" smtClean="0">
                          <a:solidFill>
                            <a:srgbClr val="0070C0"/>
                          </a:solidFill>
                          <a:latin typeface="Cambria Math" panose="02040503050406030204" pitchFamily="18" charset="0"/>
                          <a:ea typeface="Cambria Math" panose="02040503050406030204" pitchFamily="18" charset="0"/>
                        </a:rPr>
                        <m:t>=</m:t>
                      </m:r>
                      <m:f>
                        <m:fPr>
                          <m:ctrlPr>
                            <a:rPr lang="en-US" sz="3600" b="0" i="1" smtClean="0">
                              <a:solidFill>
                                <a:srgbClr val="0070C0"/>
                              </a:solidFill>
                              <a:latin typeface="Cambria Math" panose="02040503050406030204" pitchFamily="18" charset="0"/>
                              <a:ea typeface="Cambria Math" panose="02040503050406030204" pitchFamily="18" charset="0"/>
                            </a:rPr>
                          </m:ctrlPr>
                        </m:fPr>
                        <m:num>
                          <m:r>
                            <a:rPr lang="en-US" sz="3600" b="0" i="1" smtClean="0">
                              <a:solidFill>
                                <a:srgbClr val="0070C0"/>
                              </a:solidFill>
                              <a:latin typeface="Cambria Math" panose="02040503050406030204" pitchFamily="18" charset="0"/>
                              <a:ea typeface="Cambria Math" panose="02040503050406030204" pitchFamily="18" charset="0"/>
                            </a:rPr>
                            <m:t>19200−19231</m:t>
                          </m:r>
                        </m:num>
                        <m:den>
                          <m:r>
                            <a:rPr lang="en-US" sz="3600" b="0" i="1" smtClean="0">
                              <a:solidFill>
                                <a:srgbClr val="0070C0"/>
                              </a:solidFill>
                              <a:latin typeface="Cambria Math" panose="02040503050406030204" pitchFamily="18" charset="0"/>
                              <a:ea typeface="Cambria Math" panose="02040503050406030204" pitchFamily="18" charset="0"/>
                            </a:rPr>
                            <m:t>19200</m:t>
                          </m:r>
                        </m:den>
                      </m:f>
                      <m:r>
                        <a:rPr lang="en-US" sz="3600" b="0" i="1" smtClean="0">
                          <a:solidFill>
                            <a:srgbClr val="0070C0"/>
                          </a:solidFill>
                          <a:latin typeface="Cambria Math" panose="02040503050406030204" pitchFamily="18" charset="0"/>
                          <a:ea typeface="Cambria Math" panose="02040503050406030204" pitchFamily="18" charset="0"/>
                        </a:rPr>
                        <m:t>×100%=−0.161%&lt;±2%</m:t>
                      </m:r>
                    </m:oMath>
                  </m:oMathPara>
                </a14:m>
                <a:endParaRPr lang="en-US" sz="3600" dirty="0"/>
              </a:p>
              <a:p>
                <a:pPr marL="0" indent="0">
                  <a:lnSpc>
                    <a:spcPct val="114000"/>
                  </a:lnSpc>
                  <a:spcBef>
                    <a:spcPts val="0"/>
                  </a:spcBef>
                  <a:buNone/>
                </a:pPr>
                <a:r>
                  <a:rPr lang="en-US" sz="3600" b="1" dirty="0">
                    <a:solidFill>
                      <a:srgbClr val="00B050"/>
                    </a:solidFill>
                  </a:rPr>
                  <a:t>So, there will be no communication error for the given information.</a:t>
                </a:r>
                <a:endParaRPr lang="en-US" sz="3600" dirty="0">
                  <a:solidFill>
                    <a:srgbClr val="00B050"/>
                  </a:solidFill>
                </a:endParaRPr>
              </a:p>
              <a:p>
                <a:pPr marL="0" indent="0">
                  <a:lnSpc>
                    <a:spcPct val="114000"/>
                  </a:lnSpc>
                  <a:spcBef>
                    <a:spcPts val="0"/>
                  </a:spcBef>
                  <a:buNone/>
                </a:pPr>
                <a:endParaRPr lang="en-US" sz="2400" i="1" dirty="0"/>
              </a:p>
            </p:txBody>
          </p:sp>
        </mc:Choice>
        <mc:Fallback xmlns="">
          <p:sp>
            <p:nvSpPr>
              <p:cNvPr id="8" name="Content Placeholder 2">
                <a:extLst>
                  <a:ext uri="{FF2B5EF4-FFF2-40B4-BE49-F238E27FC236}">
                    <a16:creationId xmlns:a16="http://schemas.microsoft.com/office/drawing/2014/main" id="{13337018-38FE-4ADC-BE79-99BE522B63C3}"/>
                  </a:ext>
                </a:extLst>
              </p:cNvPr>
              <p:cNvSpPr>
                <a:spLocks noGrp="1" noRot="1" noChangeAspect="1" noMove="1" noResize="1" noEditPoints="1" noAdjustHandles="1" noChangeArrowheads="1" noChangeShapeType="1" noTextEdit="1"/>
              </p:cNvSpPr>
              <p:nvPr>
                <p:ph idx="1"/>
              </p:nvPr>
            </p:nvSpPr>
            <p:spPr>
              <a:xfrm>
                <a:off x="338317" y="1111437"/>
                <a:ext cx="15806968" cy="5245331"/>
              </a:xfrm>
              <a:blipFill>
                <a:blip r:embed="rId2"/>
                <a:stretch>
                  <a:fillRect l="-1157" t="-929" b="-6039"/>
                </a:stretch>
              </a:blipFill>
            </p:spPr>
            <p:txBody>
              <a:bodyPr/>
              <a:lstStyle/>
              <a:p>
                <a:r>
                  <a:rPr lang="en-US">
                    <a:noFill/>
                  </a:rPr>
                  <a:t> </a:t>
                </a:r>
              </a:p>
            </p:txBody>
          </p:sp>
        </mc:Fallback>
      </mc:AlternateContent>
    </p:spTree>
    <p:extLst>
      <p:ext uri="{BB962C8B-B14F-4D97-AF65-F5344CB8AC3E}">
        <p14:creationId xmlns:p14="http://schemas.microsoft.com/office/powerpoint/2010/main" val="33758182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CC245-210F-2F20-9BB3-727A81A842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C33668-14B1-D4D8-DD54-AC518C59C850}"/>
              </a:ext>
            </a:extLst>
          </p:cNvPr>
          <p:cNvSpPr>
            <a:spLocks noGrp="1"/>
          </p:cNvSpPr>
          <p:nvPr>
            <p:ph type="title"/>
          </p:nvPr>
        </p:nvSpPr>
        <p:spPr>
          <a:xfrm>
            <a:off x="1748873" y="101600"/>
            <a:ext cx="10250905" cy="814081"/>
          </a:xfrm>
        </p:spPr>
        <p:txBody>
          <a:bodyPr>
            <a:noAutofit/>
          </a:bodyPr>
          <a:lstStyle/>
          <a:p>
            <a:pPr algn="just"/>
            <a:r>
              <a:rPr lang="en-US" sz="5400" b="1" dirty="0">
                <a:solidFill>
                  <a:srgbClr val="FF0000"/>
                </a:solidFill>
              </a:rPr>
              <a:t>Practice Example # 1</a:t>
            </a:r>
          </a:p>
        </p:txBody>
      </p:sp>
      <p:sp>
        <p:nvSpPr>
          <p:cNvPr id="3" name="Date Placeholder 2">
            <a:extLst>
              <a:ext uri="{FF2B5EF4-FFF2-40B4-BE49-F238E27FC236}">
                <a16:creationId xmlns:a16="http://schemas.microsoft.com/office/drawing/2014/main" id="{D4D22F92-C7D3-212D-7C94-690E209CC02E}"/>
              </a:ext>
            </a:extLst>
          </p:cNvPr>
          <p:cNvSpPr>
            <a:spLocks noGrp="1"/>
          </p:cNvSpPr>
          <p:nvPr>
            <p:ph type="dt" sz="half" idx="10"/>
          </p:nvPr>
        </p:nvSpPr>
        <p:spPr/>
        <p:txBody>
          <a:bodyPr/>
          <a:lstStyle/>
          <a:p>
            <a:fld id="{C89A64A2-F4C3-46F3-8F8E-369987CB5716}" type="datetime3">
              <a:rPr lang="en-US" smtClean="0"/>
              <a:t>3 December 2025</a:t>
            </a:fld>
            <a:endParaRPr lang="en-US"/>
          </a:p>
        </p:txBody>
      </p:sp>
      <p:sp>
        <p:nvSpPr>
          <p:cNvPr id="7" name="Slide Number Placeholder 6">
            <a:extLst>
              <a:ext uri="{FF2B5EF4-FFF2-40B4-BE49-F238E27FC236}">
                <a16:creationId xmlns:a16="http://schemas.microsoft.com/office/drawing/2014/main" id="{5C8877BC-447B-A440-5340-D82B564586A6}"/>
              </a:ext>
            </a:extLst>
          </p:cNvPr>
          <p:cNvSpPr>
            <a:spLocks noGrp="1"/>
          </p:cNvSpPr>
          <p:nvPr>
            <p:ph type="sldNum" sz="quarter" idx="12"/>
          </p:nvPr>
        </p:nvSpPr>
        <p:spPr/>
        <p:txBody>
          <a:bodyPr/>
          <a:lstStyle/>
          <a:p>
            <a:fld id="{90416D69-EFB9-4734-9DF5-4234A5F1A98A}" type="slidenum">
              <a:rPr lang="en-US" smtClean="0"/>
              <a:t>15</a:t>
            </a:fld>
            <a:endParaRPr lang="en-US"/>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29D8530D-95DF-D9C0-0473-3174A4DAF6C8}"/>
                  </a:ext>
                </a:extLst>
              </p:cNvPr>
              <p:cNvSpPr>
                <a:spLocks noGrp="1"/>
              </p:cNvSpPr>
              <p:nvPr>
                <p:ph idx="1"/>
              </p:nvPr>
            </p:nvSpPr>
            <p:spPr>
              <a:xfrm>
                <a:off x="326116" y="2674303"/>
                <a:ext cx="15806968" cy="5245331"/>
              </a:xfrm>
            </p:spPr>
            <p:txBody>
              <a:bodyPr>
                <a:noAutofit/>
              </a:bodyPr>
              <a:lstStyle/>
              <a:p>
                <a:pPr marL="0" indent="0" algn="just">
                  <a:lnSpc>
                    <a:spcPct val="114000"/>
                  </a:lnSpc>
                  <a:spcBef>
                    <a:spcPts val="0"/>
                  </a:spcBef>
                  <a:buNone/>
                </a:pPr>
                <a:r>
                  <a:rPr lang="en-US" sz="3200" b="1" i="1" dirty="0">
                    <a:solidFill>
                      <a:srgbClr val="FF0000"/>
                    </a:solidFill>
                    <a:latin typeface="Times New Roman" panose="02020603050405020304" pitchFamily="18" charset="0"/>
                    <a:cs typeface="Times New Roman" panose="02020603050405020304" pitchFamily="18" charset="0"/>
                  </a:rPr>
                  <a:t>Solution:  </a:t>
                </a:r>
              </a:p>
              <a:p>
                <a:pPr marL="0" marR="0" algn="just">
                  <a:spcBef>
                    <a:spcPts val="0"/>
                  </a:spcBef>
                  <a:buNone/>
                </a:pPr>
                <a:r>
                  <a:rPr lang="en-US" sz="3200" dirty="0" err="1">
                    <a:effectLst/>
                    <a:latin typeface="Times New Roman" panose="02020603050405020304" pitchFamily="18" charset="0"/>
                    <a:ea typeface="Times New Roman" panose="02020603050405020304" pitchFamily="18" charset="0"/>
                    <a:cs typeface="Times New Roman" panose="02020603050405020304" pitchFamily="18" charset="0"/>
                  </a:rPr>
                  <a:t>UBRRn</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 = </a:t>
                </a:r>
                <a:r>
                  <a:rPr lang="en-US" sz="3200" dirty="0">
                    <a:effectLst/>
                    <a:latin typeface="Times New Roman" panose="02020603050405020304" pitchFamily="18" charset="0"/>
                    <a:ea typeface="Times New Roman" panose="02020603050405020304" pitchFamily="18" charset="0"/>
                    <a:cs typeface="Angsana New" panose="02020603050405020304" pitchFamily="18" charset="-34"/>
                  </a:rPr>
                  <a:t>010110101101</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marR="0" algn="just">
                  <a:spcBef>
                    <a:spcPts val="0"/>
                  </a:spcBef>
                  <a:buNone/>
                </a:pP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 0×2</a:t>
                </a:r>
                <a:r>
                  <a:rPr lang="en-US" sz="3200" baseline="30000" dirty="0">
                    <a:effectLst/>
                    <a:latin typeface="Times New Roman" panose="02020603050405020304" pitchFamily="18" charset="0"/>
                    <a:ea typeface="Times New Roman" panose="02020603050405020304" pitchFamily="18" charset="0"/>
                    <a:cs typeface="Times New Roman" panose="02020603050405020304" pitchFamily="18" charset="0"/>
                  </a:rPr>
                  <a:t>11</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+1×2</a:t>
                </a:r>
                <a:r>
                  <a:rPr lang="en-US" sz="3200" baseline="30000" dirty="0">
                    <a:effectLst/>
                    <a:latin typeface="Times New Roman" panose="02020603050405020304" pitchFamily="18" charset="0"/>
                    <a:ea typeface="Times New Roman" panose="02020603050405020304" pitchFamily="18" charset="0"/>
                    <a:cs typeface="Times New Roman" panose="02020603050405020304" pitchFamily="18" charset="0"/>
                  </a:rPr>
                  <a:t>10</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+0×2</a:t>
                </a:r>
                <a:r>
                  <a:rPr lang="en-US" sz="3200" baseline="30000" dirty="0">
                    <a:effectLst/>
                    <a:latin typeface="Times New Roman" panose="02020603050405020304" pitchFamily="18" charset="0"/>
                    <a:ea typeface="Times New Roman" panose="02020603050405020304" pitchFamily="18" charset="0"/>
                    <a:cs typeface="Times New Roman" panose="02020603050405020304" pitchFamily="18" charset="0"/>
                  </a:rPr>
                  <a:t>9</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+1×2</a:t>
                </a:r>
                <a:r>
                  <a:rPr lang="en-US" sz="3200" baseline="30000" dirty="0">
                    <a:effectLst/>
                    <a:latin typeface="Times New Roman" panose="02020603050405020304" pitchFamily="18" charset="0"/>
                    <a:ea typeface="Times New Roman" panose="02020603050405020304" pitchFamily="18" charset="0"/>
                    <a:cs typeface="Times New Roman" panose="02020603050405020304" pitchFamily="18" charset="0"/>
                  </a:rPr>
                  <a:t>8</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+1×2</a:t>
                </a:r>
                <a:r>
                  <a:rPr lang="en-US" sz="3200" baseline="30000" dirty="0">
                    <a:effectLst/>
                    <a:latin typeface="Times New Roman" panose="02020603050405020304" pitchFamily="18" charset="0"/>
                    <a:ea typeface="Times New Roman" panose="02020603050405020304" pitchFamily="18" charset="0"/>
                    <a:cs typeface="Times New Roman" panose="02020603050405020304" pitchFamily="18" charset="0"/>
                  </a:rPr>
                  <a:t>7</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+0×2</a:t>
                </a:r>
                <a:r>
                  <a:rPr lang="en-US" sz="3200" baseline="30000" dirty="0">
                    <a:effectLst/>
                    <a:latin typeface="Times New Roman" panose="02020603050405020304" pitchFamily="18" charset="0"/>
                    <a:ea typeface="Times New Roman" panose="02020603050405020304" pitchFamily="18" charset="0"/>
                    <a:cs typeface="Times New Roman" panose="02020603050405020304" pitchFamily="18" charset="0"/>
                  </a:rPr>
                  <a:t>6</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+1×2</a:t>
                </a:r>
                <a:r>
                  <a:rPr lang="en-US" sz="3200" baseline="30000" dirty="0">
                    <a:effectLst/>
                    <a:latin typeface="Times New Roman" panose="02020603050405020304" pitchFamily="18" charset="0"/>
                    <a:ea typeface="Times New Roman" panose="02020603050405020304" pitchFamily="18" charset="0"/>
                    <a:cs typeface="Times New Roman" panose="02020603050405020304" pitchFamily="18" charset="0"/>
                  </a:rPr>
                  <a:t>5</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+0×2</a:t>
                </a:r>
                <a:r>
                  <a:rPr lang="en-US" sz="3200" baseline="30000" dirty="0">
                    <a:effectLst/>
                    <a:latin typeface="Times New Roman" panose="02020603050405020304" pitchFamily="18" charset="0"/>
                    <a:ea typeface="Times New Roman" panose="02020603050405020304" pitchFamily="18" charset="0"/>
                    <a:cs typeface="Times New Roman" panose="02020603050405020304" pitchFamily="18" charset="0"/>
                  </a:rPr>
                  <a:t>4</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+1×2</a:t>
                </a:r>
                <a:r>
                  <a:rPr lang="en-US" sz="3200" baseline="30000" dirty="0">
                    <a:effectLst/>
                    <a:latin typeface="Times New Roman" panose="02020603050405020304" pitchFamily="18" charset="0"/>
                    <a:ea typeface="Times New Roman" panose="02020603050405020304" pitchFamily="18" charset="0"/>
                    <a:cs typeface="Times New Roman" panose="02020603050405020304" pitchFamily="18" charset="0"/>
                  </a:rPr>
                  <a:t>3</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+1×2</a:t>
                </a:r>
                <a:r>
                  <a:rPr lang="en-US" sz="3200" baseline="30000" dirty="0">
                    <a:effectLst/>
                    <a:latin typeface="Times New Roman" panose="02020603050405020304" pitchFamily="18" charset="0"/>
                    <a:ea typeface="Times New Roman" panose="02020603050405020304" pitchFamily="18" charset="0"/>
                    <a:cs typeface="Times New Roman" panose="02020603050405020304" pitchFamily="18" charset="0"/>
                  </a:rPr>
                  <a:t>2</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+0×2</a:t>
                </a:r>
                <a:r>
                  <a:rPr lang="en-US" sz="3200" baseline="30000" dirty="0">
                    <a:effectLst/>
                    <a:latin typeface="Times New Roman" panose="02020603050405020304" pitchFamily="18" charset="0"/>
                    <a:ea typeface="Times New Roman" panose="02020603050405020304" pitchFamily="18" charset="0"/>
                    <a:cs typeface="Times New Roman" panose="02020603050405020304" pitchFamily="18" charset="0"/>
                  </a:rPr>
                  <a:t>1</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+1×2</a:t>
                </a:r>
                <a:r>
                  <a:rPr lang="en-US" sz="3200" baseline="30000" dirty="0">
                    <a:effectLst/>
                    <a:latin typeface="Times New Roman" panose="02020603050405020304" pitchFamily="18" charset="0"/>
                    <a:ea typeface="Times New Roman" panose="02020603050405020304" pitchFamily="18" charset="0"/>
                    <a:cs typeface="Times New Roman" panose="02020603050405020304" pitchFamily="18" charset="0"/>
                  </a:rPr>
                  <a:t>0</a:t>
                </a: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0" marR="0" algn="just">
                  <a:spcBef>
                    <a:spcPts val="0"/>
                  </a:spcBef>
                  <a:buNone/>
                </a:pP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 0+1024+0+256+128+0+32+0+8+4+0+1 = 1453</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0" marR="0" algn="just">
                  <a:spcBef>
                    <a:spcPts val="0"/>
                  </a:spcBef>
                  <a:buNone/>
                </a:pPr>
                <a:r>
                  <a:rPr lang="en-US" sz="3200" dirty="0">
                    <a:effectLst/>
                    <a:latin typeface="Times New Roman" panose="02020603050405020304" pitchFamily="18" charset="0"/>
                    <a:ea typeface="Times New Roman" panose="02020603050405020304" pitchFamily="18" charset="0"/>
                    <a:cs typeface="Times New Roman" panose="02020603050405020304" pitchFamily="18" charset="0"/>
                  </a:rPr>
                  <a:t>For the synchronous master operating mode,</a:t>
                </a:r>
              </a:p>
              <a:p>
                <a:pPr marL="0" marR="0" algn="just">
                  <a:spcBef>
                    <a:spcPts val="0"/>
                  </a:spcBef>
                  <a:buNone/>
                </a:pPr>
                <a14:m>
                  <m:oMath xmlns:m="http://schemas.openxmlformats.org/officeDocument/2006/math">
                    <m:r>
                      <a:rPr lang="en-US" sz="3200" i="1">
                        <a:effectLst/>
                        <a:latin typeface="Cambria Math" panose="02040503050406030204" pitchFamily="18" charset="0"/>
                        <a:ea typeface="Times New Roman" panose="02020603050405020304" pitchFamily="18" charset="0"/>
                        <a:cs typeface="Times New Roman" panose="02020603050405020304" pitchFamily="18" charset="0"/>
                      </a:rPr>
                      <m:t>𝐵𝑎𝑢𝑑</m:t>
                    </m:r>
                    <m:r>
                      <a:rPr lang="en-US" sz="32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3200" i="1">
                        <a:effectLst/>
                        <a:latin typeface="Cambria Math" panose="02040503050406030204" pitchFamily="18" charset="0"/>
                        <a:ea typeface="Times New Roman" panose="02020603050405020304" pitchFamily="18" charset="0"/>
                        <a:cs typeface="Times New Roman" panose="02020603050405020304" pitchFamily="18" charset="0"/>
                      </a:rPr>
                      <m:t>𝑅𝑎𝑡𝑒</m:t>
                    </m:r>
                    <m:r>
                      <a:rPr lang="en-US" sz="32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3200" i="1">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US" sz="32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3200" i="1">
                                <a:effectLst/>
                                <a:latin typeface="Cambria Math" panose="02040503050406030204" pitchFamily="18" charset="0"/>
                                <a:ea typeface="Times New Roman" panose="02020603050405020304" pitchFamily="18" charset="0"/>
                                <a:cs typeface="Times New Roman" panose="02020603050405020304" pitchFamily="18" charset="0"/>
                              </a:rPr>
                              <m:t>𝑓</m:t>
                            </m:r>
                          </m:e>
                          <m:sub>
                            <m:r>
                              <a:rPr lang="en-US" sz="3200" i="1">
                                <a:effectLst/>
                                <a:latin typeface="Cambria Math" panose="02040503050406030204" pitchFamily="18" charset="0"/>
                                <a:ea typeface="Times New Roman" panose="02020603050405020304" pitchFamily="18" charset="0"/>
                                <a:cs typeface="Times New Roman" panose="02020603050405020304" pitchFamily="18" charset="0"/>
                              </a:rPr>
                              <m:t>𝑜𝑠𝑐</m:t>
                            </m:r>
                          </m:sub>
                        </m:sSub>
                      </m:num>
                      <m:den>
                        <m:r>
                          <a:rPr lang="en-US" sz="3200" i="1">
                            <a:effectLst/>
                            <a:latin typeface="Cambria Math" panose="02040503050406030204" pitchFamily="18" charset="0"/>
                            <a:ea typeface="Times New Roman" panose="02020603050405020304" pitchFamily="18" charset="0"/>
                            <a:cs typeface="Times New Roman" panose="02020603050405020304" pitchFamily="18" charset="0"/>
                          </a:rPr>
                          <m:t>2</m:t>
                        </m:r>
                        <m:d>
                          <m:dPr>
                            <m:ctrlPr>
                              <a:rPr lang="en-US" sz="32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3200" i="1">
                                <a:effectLst/>
                                <a:latin typeface="Cambria Math" panose="02040503050406030204" pitchFamily="18" charset="0"/>
                                <a:ea typeface="Times New Roman" panose="02020603050405020304" pitchFamily="18" charset="0"/>
                                <a:cs typeface="Times New Roman" panose="02020603050405020304" pitchFamily="18" charset="0"/>
                              </a:rPr>
                              <m:t>𝑈𝐵𝑅𝑅𝑛</m:t>
                            </m:r>
                            <m:r>
                              <a:rPr lang="en-US" sz="3200" i="1">
                                <a:effectLst/>
                                <a:latin typeface="Cambria Math" panose="02040503050406030204" pitchFamily="18" charset="0"/>
                                <a:ea typeface="Times New Roman" panose="02020603050405020304" pitchFamily="18" charset="0"/>
                                <a:cs typeface="Times New Roman" panose="02020603050405020304" pitchFamily="18" charset="0"/>
                              </a:rPr>
                              <m:t>+1</m:t>
                            </m:r>
                          </m:e>
                        </m:d>
                      </m:den>
                    </m:f>
                    <m:r>
                      <a:rPr lang="en-US" sz="32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32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3200" i="1">
                            <a:effectLst/>
                            <a:latin typeface="Cambria Math" panose="02040503050406030204" pitchFamily="18" charset="0"/>
                            <a:ea typeface="Times New Roman" panose="02020603050405020304" pitchFamily="18" charset="0"/>
                            <a:cs typeface="Times New Roman" panose="02020603050405020304" pitchFamily="18" charset="0"/>
                          </a:rPr>
                          <m:t>16×</m:t>
                        </m:r>
                        <m:sSup>
                          <m:sSupPr>
                            <m:ctrlPr>
                              <a:rPr lang="en-US" sz="32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32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3200" i="1">
                                <a:effectLst/>
                                <a:latin typeface="Cambria Math" panose="02040503050406030204" pitchFamily="18" charset="0"/>
                                <a:ea typeface="Times New Roman" panose="02020603050405020304" pitchFamily="18" charset="0"/>
                                <a:cs typeface="Times New Roman" panose="02020603050405020304" pitchFamily="18" charset="0"/>
                              </a:rPr>
                              <m:t>6</m:t>
                            </m:r>
                          </m:sup>
                        </m:sSup>
                      </m:num>
                      <m:den>
                        <m:r>
                          <a:rPr lang="en-US" sz="3200" i="1">
                            <a:effectLst/>
                            <a:latin typeface="Cambria Math" panose="02040503050406030204" pitchFamily="18" charset="0"/>
                            <a:ea typeface="Times New Roman" panose="02020603050405020304" pitchFamily="18" charset="0"/>
                            <a:cs typeface="Times New Roman" panose="02020603050405020304" pitchFamily="18" charset="0"/>
                          </a:rPr>
                          <m:t>2</m:t>
                        </m:r>
                        <m:d>
                          <m:dPr>
                            <m:ctrlPr>
                              <a:rPr lang="en-US" sz="32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3200" i="1">
                                <a:effectLst/>
                                <a:latin typeface="Cambria Math" panose="02040503050406030204" pitchFamily="18" charset="0"/>
                                <a:ea typeface="Times New Roman" panose="02020603050405020304" pitchFamily="18" charset="0"/>
                                <a:cs typeface="Times New Roman" panose="02020603050405020304" pitchFamily="18" charset="0"/>
                              </a:rPr>
                              <m:t>1453+1</m:t>
                            </m:r>
                          </m:e>
                        </m:d>
                      </m:den>
                    </m:f>
                    <m:r>
                      <a:rPr lang="en-US" sz="3200" i="1">
                        <a:effectLst/>
                        <a:latin typeface="Cambria Math" panose="02040503050406030204" pitchFamily="18" charset="0"/>
                        <a:ea typeface="Times New Roman" panose="02020603050405020304" pitchFamily="18" charset="0"/>
                        <a:cs typeface="Times New Roman" panose="02020603050405020304" pitchFamily="18" charset="0"/>
                      </a:rPr>
                      <m:t>=5502</m:t>
                    </m:r>
                  </m:oMath>
                </a14:m>
                <a:r>
                  <a:rPr lang="en-US" sz="3200" dirty="0">
                    <a:effectLst/>
                    <a:latin typeface="Times New Roman" panose="02020603050405020304" pitchFamily="18" charset="0"/>
                    <a:ea typeface="SimSun" panose="02010600030101010101" pitchFamily="2" charset="-122"/>
                    <a:cs typeface="Times New Roman" panose="02020603050405020304" pitchFamily="18" charset="0"/>
                  </a:rPr>
                  <a:t> bps</a:t>
                </a:r>
                <a:endParaRPr lang="en-US" sz="32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0" marR="0" algn="just">
                  <a:spcBef>
                    <a:spcPts val="0"/>
                  </a:spcBef>
                  <a:buNone/>
                </a:pPr>
                <a:r>
                  <a:rPr lang="en-US" sz="3200" dirty="0">
                    <a:effectLst/>
                    <a:latin typeface="Times New Roman" panose="02020603050405020304" pitchFamily="18" charset="0"/>
                    <a:ea typeface="SimSun" panose="02010600030101010101" pitchFamily="2" charset="-122"/>
                    <a:cs typeface="Times New Roman" panose="02020603050405020304" pitchFamily="18" charset="0"/>
                  </a:rPr>
                  <a:t>Baud Error Rate, </a:t>
                </a:r>
                <a14:m>
                  <m:oMath xmlns:m="http://schemas.openxmlformats.org/officeDocument/2006/math">
                    <m:r>
                      <a:rPr lang="en-US" sz="3200" i="1">
                        <a:effectLst/>
                        <a:latin typeface="Cambria Math" panose="02040503050406030204" pitchFamily="18" charset="0"/>
                        <a:ea typeface="SimSun" panose="02010600030101010101" pitchFamily="2" charset="-122"/>
                        <a:cs typeface="Times New Roman" panose="02020603050405020304" pitchFamily="18" charset="0"/>
                      </a:rPr>
                      <m:t>𝜀</m:t>
                    </m:r>
                    <m:r>
                      <a:rPr lang="en-US" sz="3200" i="1">
                        <a:effectLst/>
                        <a:latin typeface="Cambria Math" panose="02040503050406030204" pitchFamily="18" charset="0"/>
                        <a:ea typeface="SimSun" panose="02010600030101010101" pitchFamily="2" charset="-122"/>
                        <a:cs typeface="Times New Roman" panose="02020603050405020304" pitchFamily="18" charset="0"/>
                      </a:rPr>
                      <m:t>=</m:t>
                    </m:r>
                    <m:f>
                      <m:fPr>
                        <m:ctrlPr>
                          <a:rPr lang="en-US" sz="3200" i="1">
                            <a:effectLst/>
                            <a:latin typeface="Cambria Math" panose="02040503050406030204" pitchFamily="18" charset="0"/>
                            <a:ea typeface="SimSun" panose="02010600030101010101" pitchFamily="2" charset="-122"/>
                            <a:cs typeface="Times New Roman" panose="02020603050405020304" pitchFamily="18" charset="0"/>
                          </a:rPr>
                        </m:ctrlPr>
                      </m:fPr>
                      <m:num>
                        <m:r>
                          <a:rPr lang="en-US" sz="3200" i="1">
                            <a:effectLst/>
                            <a:latin typeface="Cambria Math" panose="02040503050406030204" pitchFamily="18" charset="0"/>
                            <a:ea typeface="SimSun" panose="02010600030101010101" pitchFamily="2" charset="-122"/>
                            <a:cs typeface="Times New Roman" panose="02020603050405020304" pitchFamily="18" charset="0"/>
                          </a:rPr>
                          <m:t>𝑆𝑡𝑎𝑛𝑑𝑎𝑟𝑑</m:t>
                        </m:r>
                        <m:r>
                          <a:rPr lang="en-US" sz="3200" i="1">
                            <a:effectLst/>
                            <a:latin typeface="Cambria Math" panose="02040503050406030204" pitchFamily="18" charset="0"/>
                            <a:ea typeface="SimSun" panose="02010600030101010101" pitchFamily="2" charset="-122"/>
                            <a:cs typeface="Times New Roman" panose="02020603050405020304" pitchFamily="18" charset="0"/>
                          </a:rPr>
                          <m:t> </m:t>
                        </m:r>
                        <m:r>
                          <a:rPr lang="en-US" sz="3200" i="1">
                            <a:effectLst/>
                            <a:latin typeface="Cambria Math" panose="02040503050406030204" pitchFamily="18" charset="0"/>
                            <a:ea typeface="SimSun" panose="02010600030101010101" pitchFamily="2" charset="-122"/>
                            <a:cs typeface="Times New Roman" panose="02020603050405020304" pitchFamily="18" charset="0"/>
                          </a:rPr>
                          <m:t>𝑏𝑎𝑢𝑑</m:t>
                        </m:r>
                        <m:r>
                          <a:rPr lang="en-US" sz="3200" i="1">
                            <a:effectLst/>
                            <a:latin typeface="Cambria Math" panose="02040503050406030204" pitchFamily="18" charset="0"/>
                            <a:ea typeface="SimSun" panose="02010600030101010101" pitchFamily="2" charset="-122"/>
                            <a:cs typeface="Times New Roman" panose="02020603050405020304" pitchFamily="18" charset="0"/>
                          </a:rPr>
                          <m:t> </m:t>
                        </m:r>
                        <m:r>
                          <a:rPr lang="en-US" sz="3200" i="1">
                            <a:effectLst/>
                            <a:latin typeface="Cambria Math" panose="02040503050406030204" pitchFamily="18" charset="0"/>
                            <a:ea typeface="SimSun" panose="02010600030101010101" pitchFamily="2" charset="-122"/>
                            <a:cs typeface="Times New Roman" panose="02020603050405020304" pitchFamily="18" charset="0"/>
                          </a:rPr>
                          <m:t>𝑟𝑎𝑡𝑒</m:t>
                        </m:r>
                        <m:r>
                          <a:rPr lang="en-US" sz="3200" i="1">
                            <a:effectLst/>
                            <a:latin typeface="Cambria Math" panose="02040503050406030204" pitchFamily="18" charset="0"/>
                            <a:ea typeface="SimSun" panose="02010600030101010101" pitchFamily="2" charset="-122"/>
                            <a:cs typeface="Times New Roman" panose="02020603050405020304" pitchFamily="18" charset="0"/>
                          </a:rPr>
                          <m:t>−</m:t>
                        </m:r>
                        <m:r>
                          <a:rPr lang="en-US" sz="3200" i="1">
                            <a:effectLst/>
                            <a:latin typeface="Cambria Math" panose="02040503050406030204" pitchFamily="18" charset="0"/>
                            <a:ea typeface="SimSun" panose="02010600030101010101" pitchFamily="2" charset="-122"/>
                            <a:cs typeface="Times New Roman" panose="02020603050405020304" pitchFamily="18" charset="0"/>
                          </a:rPr>
                          <m:t>𝑐𝑎𝑙𝑐𝑢𝑙𝑎𝑡𝑒𝑑</m:t>
                        </m:r>
                        <m:r>
                          <a:rPr lang="en-US" sz="3200" i="1">
                            <a:effectLst/>
                            <a:latin typeface="Cambria Math" panose="02040503050406030204" pitchFamily="18" charset="0"/>
                            <a:ea typeface="SimSun" panose="02010600030101010101" pitchFamily="2" charset="-122"/>
                            <a:cs typeface="Times New Roman" panose="02020603050405020304" pitchFamily="18" charset="0"/>
                          </a:rPr>
                          <m:t> </m:t>
                        </m:r>
                        <m:r>
                          <a:rPr lang="en-US" sz="3200" i="1">
                            <a:effectLst/>
                            <a:latin typeface="Cambria Math" panose="02040503050406030204" pitchFamily="18" charset="0"/>
                            <a:ea typeface="SimSun" panose="02010600030101010101" pitchFamily="2" charset="-122"/>
                            <a:cs typeface="Times New Roman" panose="02020603050405020304" pitchFamily="18" charset="0"/>
                          </a:rPr>
                          <m:t>𝑏𝑎𝑢𝑑</m:t>
                        </m:r>
                        <m:r>
                          <a:rPr lang="en-US" sz="3200" i="1">
                            <a:effectLst/>
                            <a:latin typeface="Cambria Math" panose="02040503050406030204" pitchFamily="18" charset="0"/>
                            <a:ea typeface="SimSun" panose="02010600030101010101" pitchFamily="2" charset="-122"/>
                            <a:cs typeface="Times New Roman" panose="02020603050405020304" pitchFamily="18" charset="0"/>
                          </a:rPr>
                          <m:t> </m:t>
                        </m:r>
                        <m:r>
                          <a:rPr lang="en-US" sz="3200" i="1">
                            <a:effectLst/>
                            <a:latin typeface="Cambria Math" panose="02040503050406030204" pitchFamily="18" charset="0"/>
                            <a:ea typeface="SimSun" panose="02010600030101010101" pitchFamily="2" charset="-122"/>
                            <a:cs typeface="Times New Roman" panose="02020603050405020304" pitchFamily="18" charset="0"/>
                          </a:rPr>
                          <m:t>𝑟𝑎𝑡𝑒</m:t>
                        </m:r>
                      </m:num>
                      <m:den>
                        <m:r>
                          <a:rPr lang="en-US" sz="3200" i="1">
                            <a:effectLst/>
                            <a:latin typeface="Cambria Math" panose="02040503050406030204" pitchFamily="18" charset="0"/>
                            <a:ea typeface="SimSun" panose="02010600030101010101" pitchFamily="2" charset="-122"/>
                            <a:cs typeface="Times New Roman" panose="02020603050405020304" pitchFamily="18" charset="0"/>
                          </a:rPr>
                          <m:t>𝑆𝑡𝑎𝑛𝑑𝑎𝑟𝑑</m:t>
                        </m:r>
                        <m:r>
                          <a:rPr lang="en-US" sz="3200" i="1">
                            <a:effectLst/>
                            <a:latin typeface="Cambria Math" panose="02040503050406030204" pitchFamily="18" charset="0"/>
                            <a:ea typeface="SimSun" panose="02010600030101010101" pitchFamily="2" charset="-122"/>
                            <a:cs typeface="Times New Roman" panose="02020603050405020304" pitchFamily="18" charset="0"/>
                          </a:rPr>
                          <m:t> </m:t>
                        </m:r>
                        <m:r>
                          <a:rPr lang="en-US" sz="3200" i="1">
                            <a:effectLst/>
                            <a:latin typeface="Cambria Math" panose="02040503050406030204" pitchFamily="18" charset="0"/>
                            <a:ea typeface="SimSun" panose="02010600030101010101" pitchFamily="2" charset="-122"/>
                            <a:cs typeface="Times New Roman" panose="02020603050405020304" pitchFamily="18" charset="0"/>
                          </a:rPr>
                          <m:t>𝑏𝑎𝑢𝑑</m:t>
                        </m:r>
                        <m:r>
                          <a:rPr lang="en-US" sz="3200" i="1">
                            <a:effectLst/>
                            <a:latin typeface="Cambria Math" panose="02040503050406030204" pitchFamily="18" charset="0"/>
                            <a:ea typeface="SimSun" panose="02010600030101010101" pitchFamily="2" charset="-122"/>
                            <a:cs typeface="Times New Roman" panose="02020603050405020304" pitchFamily="18" charset="0"/>
                          </a:rPr>
                          <m:t> </m:t>
                        </m:r>
                        <m:r>
                          <a:rPr lang="en-US" sz="3200" i="1">
                            <a:effectLst/>
                            <a:latin typeface="Cambria Math" panose="02040503050406030204" pitchFamily="18" charset="0"/>
                            <a:ea typeface="SimSun" panose="02010600030101010101" pitchFamily="2" charset="-122"/>
                            <a:cs typeface="Times New Roman" panose="02020603050405020304" pitchFamily="18" charset="0"/>
                          </a:rPr>
                          <m:t>𝑟𝑎𝑡𝑒</m:t>
                        </m:r>
                      </m:den>
                    </m:f>
                    <m:r>
                      <a:rPr lang="en-US" sz="3200" i="1">
                        <a:effectLst/>
                        <a:latin typeface="Cambria Math" panose="02040503050406030204" pitchFamily="18" charset="0"/>
                        <a:ea typeface="SimSun" panose="02010600030101010101" pitchFamily="2" charset="-122"/>
                        <a:cs typeface="Times New Roman" panose="02020603050405020304" pitchFamily="18" charset="0"/>
                      </a:rPr>
                      <m:t>×100%</m:t>
                    </m:r>
                  </m:oMath>
                </a14:m>
                <a:endParaRPr lang="en-US" sz="3200" i="1" dirty="0">
                  <a:effectLst/>
                  <a:latin typeface="Cambria Math" panose="02040503050406030204" pitchFamily="18" charset="0"/>
                  <a:ea typeface="SimSun" panose="02010600030101010101" pitchFamily="2" charset="-122"/>
                  <a:cs typeface="Times New Roman" panose="02020603050405020304" pitchFamily="18" charset="0"/>
                </a:endParaRPr>
              </a:p>
              <a:p>
                <a:pPr marL="0" marR="0" algn="just">
                  <a:spcBef>
                    <a:spcPts val="0"/>
                  </a:spcBef>
                  <a:buNone/>
                </a:pPr>
                <a14:m>
                  <m:oMathPara xmlns:m="http://schemas.openxmlformats.org/officeDocument/2006/math">
                    <m:oMathParaPr>
                      <m:jc m:val="left"/>
                    </m:oMathParaPr>
                    <m:oMath xmlns:m="http://schemas.openxmlformats.org/officeDocument/2006/math">
                      <m:r>
                        <a:rPr lang="en-US" sz="2800" i="1">
                          <a:effectLst/>
                          <a:latin typeface="Cambria Math" panose="02040503050406030204" pitchFamily="18" charset="0"/>
                          <a:ea typeface="SimSun" panose="02010600030101010101" pitchFamily="2" charset="-122"/>
                          <a:cs typeface="Times New Roman" panose="02020603050405020304" pitchFamily="18" charset="0"/>
                        </a:rPr>
                        <m:t>=</m:t>
                      </m:r>
                      <m:f>
                        <m:fPr>
                          <m:ctrlPr>
                            <a:rPr lang="en-US" sz="2800" i="1">
                              <a:effectLst/>
                              <a:latin typeface="Cambria Math" panose="02040503050406030204" pitchFamily="18" charset="0"/>
                              <a:ea typeface="SimSun" panose="02010600030101010101" pitchFamily="2" charset="-122"/>
                              <a:cs typeface="Times New Roman" panose="02020603050405020304" pitchFamily="18" charset="0"/>
                            </a:rPr>
                          </m:ctrlPr>
                        </m:fPr>
                        <m:num>
                          <m:r>
                            <a:rPr lang="en-US" sz="2800" i="1">
                              <a:effectLst/>
                              <a:latin typeface="Cambria Math" panose="02040503050406030204" pitchFamily="18" charset="0"/>
                              <a:ea typeface="SimSun" panose="02010600030101010101" pitchFamily="2" charset="-122"/>
                              <a:cs typeface="Times New Roman" panose="02020603050405020304" pitchFamily="18" charset="0"/>
                            </a:rPr>
                            <m:t>4800−5502</m:t>
                          </m:r>
                        </m:num>
                        <m:den>
                          <m:r>
                            <a:rPr lang="en-US" sz="2800" i="1">
                              <a:effectLst/>
                              <a:latin typeface="Cambria Math" panose="02040503050406030204" pitchFamily="18" charset="0"/>
                              <a:ea typeface="SimSun" panose="02010600030101010101" pitchFamily="2" charset="-122"/>
                              <a:cs typeface="Times New Roman" panose="02020603050405020304" pitchFamily="18" charset="0"/>
                            </a:rPr>
                            <m:t>4800</m:t>
                          </m:r>
                        </m:den>
                      </m:f>
                      <m:r>
                        <a:rPr lang="en-US" sz="2800" i="1">
                          <a:effectLst/>
                          <a:latin typeface="Cambria Math" panose="02040503050406030204" pitchFamily="18" charset="0"/>
                          <a:ea typeface="SimSun" panose="02010600030101010101" pitchFamily="2" charset="-122"/>
                          <a:cs typeface="Times New Roman" panose="02020603050405020304" pitchFamily="18" charset="0"/>
                        </a:rPr>
                        <m:t>×100%=14.625%</m:t>
                      </m:r>
                    </m:oMath>
                  </m:oMathPara>
                </a14:m>
                <a:endParaRPr lang="en-US" sz="28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0" marR="0" indent="0" algn="just">
                  <a:spcBef>
                    <a:spcPts val="0"/>
                  </a:spcBef>
                  <a:buNone/>
                </a:pPr>
                <a:r>
                  <a:rPr lang="en-US" sz="3200" dirty="0">
                    <a:effectLst/>
                    <a:latin typeface="Times New Roman" panose="02020603050405020304" pitchFamily="18" charset="0"/>
                    <a:ea typeface="SimSun" panose="02010600030101010101" pitchFamily="2" charset="-122"/>
                    <a:cs typeface="Times New Roman" panose="02020603050405020304" pitchFamily="18" charset="0"/>
                  </a:rPr>
                  <a:t>This value is &gt;&gt; 2%, therefore, there will be communication errors.</a:t>
                </a:r>
                <a:endParaRPr lang="en-US" sz="3200" dirty="0">
                  <a:solidFill>
                    <a:srgbClr val="00B050"/>
                  </a:solidFill>
                </a:endParaRPr>
              </a:p>
              <a:p>
                <a:pPr marL="0" indent="0">
                  <a:lnSpc>
                    <a:spcPct val="114000"/>
                  </a:lnSpc>
                  <a:spcBef>
                    <a:spcPts val="0"/>
                  </a:spcBef>
                  <a:buNone/>
                </a:pPr>
                <a:endParaRPr lang="en-US" sz="3200" i="1" dirty="0"/>
              </a:p>
            </p:txBody>
          </p:sp>
        </mc:Choice>
        <mc:Fallback xmlns="">
          <p:sp>
            <p:nvSpPr>
              <p:cNvPr id="8" name="Content Placeholder 2">
                <a:extLst>
                  <a:ext uri="{FF2B5EF4-FFF2-40B4-BE49-F238E27FC236}">
                    <a16:creationId xmlns:a16="http://schemas.microsoft.com/office/drawing/2014/main" id="{29D8530D-95DF-D9C0-0473-3174A4DAF6C8}"/>
                  </a:ext>
                </a:extLst>
              </p:cNvPr>
              <p:cNvSpPr>
                <a:spLocks noGrp="1" noRot="1" noChangeAspect="1" noMove="1" noResize="1" noEditPoints="1" noAdjustHandles="1" noChangeArrowheads="1" noChangeShapeType="1" noTextEdit="1"/>
              </p:cNvSpPr>
              <p:nvPr>
                <p:ph idx="1"/>
              </p:nvPr>
            </p:nvSpPr>
            <p:spPr>
              <a:xfrm>
                <a:off x="326116" y="2674303"/>
                <a:ext cx="15806968" cy="5245331"/>
              </a:xfrm>
              <a:blipFill>
                <a:blip r:embed="rId2"/>
                <a:stretch>
                  <a:fillRect l="-964" t="-1163"/>
                </a:stretch>
              </a:blipFill>
            </p:spPr>
            <p:txBody>
              <a:bodyPr/>
              <a:lstStyle/>
              <a:p>
                <a:r>
                  <a:rPr lang="en-US">
                    <a:noFill/>
                  </a:rPr>
                  <a:t> </a:t>
                </a:r>
              </a:p>
            </p:txBody>
          </p:sp>
        </mc:Fallback>
      </mc:AlternateContent>
      <p:sp>
        <p:nvSpPr>
          <p:cNvPr id="4" name="Title 1">
            <a:extLst>
              <a:ext uri="{FF2B5EF4-FFF2-40B4-BE49-F238E27FC236}">
                <a16:creationId xmlns:a16="http://schemas.microsoft.com/office/drawing/2014/main" id="{71554C42-E30B-580E-72E0-F1413AEC1AD5}"/>
              </a:ext>
            </a:extLst>
          </p:cNvPr>
          <p:cNvSpPr txBox="1">
            <a:spLocks/>
          </p:cNvSpPr>
          <p:nvPr/>
        </p:nvSpPr>
        <p:spPr>
          <a:xfrm>
            <a:off x="165100" y="923214"/>
            <a:ext cx="16167099" cy="1921585"/>
          </a:xfrm>
          <a:prstGeom prst="rect">
            <a:avLst/>
          </a:prstGeom>
        </p:spPr>
        <p:txBody>
          <a:bodyPr vert="horz" lIns="91440" tIns="45720" rIns="91440" bIns="45720" rtlCol="0" anchor="t">
            <a:noAutofit/>
          </a:bodyPr>
          <a:lst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a:lstStyle>
          <a:p>
            <a:r>
              <a:rPr lang="en-US" sz="3200" b="1" dirty="0">
                <a:solidFill>
                  <a:srgbClr val="0070C0"/>
                </a:solidFill>
                <a:effectLst/>
                <a:latin typeface="Times New Roman" panose="02020603050405020304" pitchFamily="18" charset="0"/>
                <a:ea typeface="Times New Roman" panose="02020603050405020304" pitchFamily="18" charset="0"/>
                <a:cs typeface="Angsana New" panose="02020603050405020304" pitchFamily="18" charset="-34"/>
              </a:rPr>
              <a:t>Compute</a:t>
            </a:r>
            <a:r>
              <a:rPr lang="en-US" sz="3200" dirty="0">
                <a:solidFill>
                  <a:srgbClr val="0070C0"/>
                </a:solidFill>
                <a:effectLst/>
                <a:latin typeface="Times New Roman" panose="02020603050405020304" pitchFamily="18" charset="0"/>
                <a:ea typeface="Times New Roman" panose="02020603050405020304" pitchFamily="18" charset="0"/>
                <a:cs typeface="Angsana New" panose="02020603050405020304" pitchFamily="18" charset="-34"/>
              </a:rPr>
              <a:t> the baud rate for the synchronous master operating mode when the oscillator frequency, </a:t>
            </a:r>
            <a:r>
              <a:rPr lang="en-US" sz="3200" i="1" dirty="0" err="1">
                <a:solidFill>
                  <a:srgbClr val="0070C0"/>
                </a:solidFill>
                <a:effectLst/>
                <a:latin typeface="Times New Roman" panose="02020603050405020304" pitchFamily="18" charset="0"/>
                <a:ea typeface="Times New Roman" panose="02020603050405020304" pitchFamily="18" charset="0"/>
                <a:cs typeface="Angsana New" panose="02020603050405020304" pitchFamily="18" charset="-34"/>
              </a:rPr>
              <a:t>f</a:t>
            </a:r>
            <a:r>
              <a:rPr lang="en-US" sz="3200" i="1" baseline="-25000" dirty="0" err="1">
                <a:solidFill>
                  <a:srgbClr val="0070C0"/>
                </a:solidFill>
                <a:effectLst/>
                <a:latin typeface="Times New Roman" panose="02020603050405020304" pitchFamily="18" charset="0"/>
                <a:ea typeface="Times New Roman" panose="02020603050405020304" pitchFamily="18" charset="0"/>
                <a:cs typeface="Angsana New" panose="02020603050405020304" pitchFamily="18" charset="-34"/>
              </a:rPr>
              <a:t>OSC</a:t>
            </a:r>
            <a:r>
              <a:rPr lang="en-US" sz="3200" dirty="0">
                <a:solidFill>
                  <a:srgbClr val="0070C0"/>
                </a:solidFill>
                <a:effectLst/>
                <a:latin typeface="Times New Roman" panose="02020603050405020304" pitchFamily="18" charset="0"/>
                <a:ea typeface="Times New Roman" panose="02020603050405020304" pitchFamily="18" charset="0"/>
                <a:cs typeface="Angsana New" panose="02020603050405020304" pitchFamily="18" charset="-34"/>
              </a:rPr>
              <a:t>  = 16 MHz, and register data is, </a:t>
            </a:r>
            <a:r>
              <a:rPr lang="en-US" sz="3200" dirty="0" err="1">
                <a:solidFill>
                  <a:srgbClr val="0070C0"/>
                </a:solidFill>
                <a:effectLst/>
                <a:latin typeface="Times New Roman" panose="02020603050405020304" pitchFamily="18" charset="0"/>
                <a:ea typeface="Times New Roman" panose="02020603050405020304" pitchFamily="18" charset="0"/>
                <a:cs typeface="Angsana New" panose="02020603050405020304" pitchFamily="18" charset="-34"/>
              </a:rPr>
              <a:t>UBRRn</a:t>
            </a:r>
            <a:r>
              <a:rPr lang="en-US" sz="3200" dirty="0">
                <a:solidFill>
                  <a:srgbClr val="0070C0"/>
                </a:solidFill>
                <a:effectLst/>
                <a:latin typeface="Times New Roman" panose="02020603050405020304" pitchFamily="18" charset="0"/>
                <a:ea typeface="Times New Roman" panose="02020603050405020304" pitchFamily="18" charset="0"/>
                <a:cs typeface="Angsana New" panose="02020603050405020304" pitchFamily="18" charset="-34"/>
              </a:rPr>
              <a:t> = 010110101101. </a:t>
            </a:r>
            <a:r>
              <a:rPr lang="en-US" sz="3200" b="1" dirty="0">
                <a:solidFill>
                  <a:srgbClr val="0070C0"/>
                </a:solidFill>
                <a:effectLst/>
                <a:latin typeface="Times New Roman" panose="02020603050405020304" pitchFamily="18" charset="0"/>
                <a:ea typeface="Times New Roman" panose="02020603050405020304" pitchFamily="18" charset="0"/>
                <a:cs typeface="Angsana New" panose="02020603050405020304" pitchFamily="18" charset="-34"/>
              </a:rPr>
              <a:t>Compute</a:t>
            </a:r>
            <a:r>
              <a:rPr lang="en-US" sz="3200" dirty="0">
                <a:solidFill>
                  <a:srgbClr val="0070C0"/>
                </a:solidFill>
                <a:effectLst/>
                <a:latin typeface="Times New Roman" panose="02020603050405020304" pitchFamily="18" charset="0"/>
                <a:ea typeface="Times New Roman" panose="02020603050405020304" pitchFamily="18" charset="0"/>
                <a:cs typeface="Angsana New" panose="02020603050405020304" pitchFamily="18" charset="-34"/>
              </a:rPr>
              <a:t> the baud error and comment on whether there will be any communication errors. Standard Baud rates are 300, 600, 1200, 2400, 4800, 9600, 14400,19200, 38400, 57600, 115200, 230400, ... bps.</a:t>
            </a:r>
            <a:endParaRPr lang="en-US" sz="5400" b="1" dirty="0">
              <a:solidFill>
                <a:srgbClr val="0070C0"/>
              </a:solidFill>
            </a:endParaRPr>
          </a:p>
        </p:txBody>
      </p:sp>
    </p:spTree>
    <p:extLst>
      <p:ext uri="{BB962C8B-B14F-4D97-AF65-F5344CB8AC3E}">
        <p14:creationId xmlns:p14="http://schemas.microsoft.com/office/powerpoint/2010/main" val="15859895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69861-EA24-1916-6905-AC2E80CDFA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EC053B-3E9D-D6DB-2625-2164D2B2F233}"/>
              </a:ext>
            </a:extLst>
          </p:cNvPr>
          <p:cNvSpPr>
            <a:spLocks noGrp="1"/>
          </p:cNvSpPr>
          <p:nvPr>
            <p:ph type="title"/>
          </p:nvPr>
        </p:nvSpPr>
        <p:spPr>
          <a:xfrm>
            <a:off x="1748873" y="101600"/>
            <a:ext cx="10250905" cy="814081"/>
          </a:xfrm>
        </p:spPr>
        <p:txBody>
          <a:bodyPr>
            <a:noAutofit/>
          </a:bodyPr>
          <a:lstStyle/>
          <a:p>
            <a:pPr algn="just"/>
            <a:r>
              <a:rPr lang="en-US" sz="5400" b="1" dirty="0">
                <a:solidFill>
                  <a:srgbClr val="FF0000"/>
                </a:solidFill>
              </a:rPr>
              <a:t>Practice Example # 2</a:t>
            </a:r>
          </a:p>
        </p:txBody>
      </p:sp>
      <p:sp>
        <p:nvSpPr>
          <p:cNvPr id="3" name="Date Placeholder 2">
            <a:extLst>
              <a:ext uri="{FF2B5EF4-FFF2-40B4-BE49-F238E27FC236}">
                <a16:creationId xmlns:a16="http://schemas.microsoft.com/office/drawing/2014/main" id="{FBAC2334-81CB-DB4D-D6F7-4C8CB23A4B6A}"/>
              </a:ext>
            </a:extLst>
          </p:cNvPr>
          <p:cNvSpPr>
            <a:spLocks noGrp="1"/>
          </p:cNvSpPr>
          <p:nvPr>
            <p:ph type="dt" sz="half" idx="10"/>
          </p:nvPr>
        </p:nvSpPr>
        <p:spPr/>
        <p:txBody>
          <a:bodyPr/>
          <a:lstStyle/>
          <a:p>
            <a:fld id="{C89A64A2-F4C3-46F3-8F8E-369987CB5716}" type="datetime3">
              <a:rPr lang="en-US" smtClean="0"/>
              <a:t>3 December 2025</a:t>
            </a:fld>
            <a:endParaRPr lang="en-US"/>
          </a:p>
        </p:txBody>
      </p:sp>
      <p:sp>
        <p:nvSpPr>
          <p:cNvPr id="7" name="Slide Number Placeholder 6">
            <a:extLst>
              <a:ext uri="{FF2B5EF4-FFF2-40B4-BE49-F238E27FC236}">
                <a16:creationId xmlns:a16="http://schemas.microsoft.com/office/drawing/2014/main" id="{C300FEA6-03A7-15B9-4EF4-AEC335058DD2}"/>
              </a:ext>
            </a:extLst>
          </p:cNvPr>
          <p:cNvSpPr>
            <a:spLocks noGrp="1"/>
          </p:cNvSpPr>
          <p:nvPr>
            <p:ph type="sldNum" sz="quarter" idx="12"/>
          </p:nvPr>
        </p:nvSpPr>
        <p:spPr/>
        <p:txBody>
          <a:bodyPr/>
          <a:lstStyle/>
          <a:p>
            <a:fld id="{90416D69-EFB9-4734-9DF5-4234A5F1A98A}" type="slidenum">
              <a:rPr lang="en-US" smtClean="0"/>
              <a:t>16</a:t>
            </a:fld>
            <a:endParaRPr lang="en-US"/>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BB840248-A173-F789-5FFB-7B23EAE75669}"/>
                  </a:ext>
                </a:extLst>
              </p:cNvPr>
              <p:cNvSpPr>
                <a:spLocks noGrp="1"/>
              </p:cNvSpPr>
              <p:nvPr>
                <p:ph idx="1"/>
              </p:nvPr>
            </p:nvSpPr>
            <p:spPr>
              <a:xfrm>
                <a:off x="326115" y="2674303"/>
                <a:ext cx="15893933" cy="5245331"/>
              </a:xfrm>
            </p:spPr>
            <p:txBody>
              <a:bodyPr>
                <a:noAutofit/>
              </a:bodyPr>
              <a:lstStyle/>
              <a:p>
                <a:pPr marL="0" indent="0" algn="just">
                  <a:lnSpc>
                    <a:spcPct val="114000"/>
                  </a:lnSpc>
                  <a:spcBef>
                    <a:spcPts val="0"/>
                  </a:spcBef>
                  <a:buNone/>
                </a:pPr>
                <a:r>
                  <a:rPr lang="en-US" sz="3200" b="1" i="1" dirty="0">
                    <a:solidFill>
                      <a:srgbClr val="FF0000"/>
                    </a:solidFill>
                    <a:latin typeface="Times New Roman" panose="02020603050405020304" pitchFamily="18" charset="0"/>
                    <a:cs typeface="Times New Roman" panose="02020603050405020304" pitchFamily="18" charset="0"/>
                  </a:rPr>
                  <a:t>Solution:  </a:t>
                </a:r>
              </a:p>
              <a:p>
                <a:pPr marL="0" marR="0" indent="0" algn="just">
                  <a:lnSpc>
                    <a:spcPct val="100000"/>
                  </a:lnSpc>
                  <a:spcBef>
                    <a:spcPts val="0"/>
                  </a:spcBef>
                  <a:buNone/>
                </a:pPr>
                <a:r>
                  <a:rPr lang="en-US" sz="3000" dirty="0" err="1">
                    <a:effectLst/>
                    <a:latin typeface="Times New Roman" panose="02020603050405020304" pitchFamily="18" charset="0"/>
                    <a:ea typeface="Times New Roman" panose="02020603050405020304" pitchFamily="18" charset="0"/>
                    <a:cs typeface="Times New Roman" panose="02020603050405020304" pitchFamily="18" charset="0"/>
                  </a:rPr>
                  <a:t>UBRRn</a:t>
                </a:r>
                <a:r>
                  <a:rPr lang="en-US" sz="3000" dirty="0">
                    <a:effectLst/>
                    <a:latin typeface="Times New Roman" panose="02020603050405020304" pitchFamily="18" charset="0"/>
                    <a:ea typeface="Times New Roman" panose="02020603050405020304" pitchFamily="18" charset="0"/>
                    <a:cs typeface="Times New Roman" panose="02020603050405020304" pitchFamily="18" charset="0"/>
                  </a:rPr>
                  <a:t> = </a:t>
                </a:r>
                <a:r>
                  <a:rPr lang="en-US" sz="3000" dirty="0">
                    <a:effectLst/>
                    <a:latin typeface="Times New Roman" panose="02020603050405020304" pitchFamily="18" charset="0"/>
                    <a:ea typeface="Times New Roman" panose="02020603050405020304" pitchFamily="18" charset="0"/>
                    <a:cs typeface="Angsana New" panose="02020603050405020304" pitchFamily="18" charset="-34"/>
                  </a:rPr>
                  <a:t>000110101110</a:t>
                </a:r>
                <a:r>
                  <a:rPr lang="en-US" sz="3000" dirty="0">
                    <a:effectLst/>
                    <a:latin typeface="Times New Roman" panose="02020603050405020304" pitchFamily="18" charset="0"/>
                    <a:ea typeface="Times New Roman" panose="02020603050405020304" pitchFamily="18" charset="0"/>
                    <a:cs typeface="Times New Roman" panose="02020603050405020304" pitchFamily="18" charset="0"/>
                  </a:rPr>
                  <a:t> </a:t>
                </a:r>
              </a:p>
              <a:p>
                <a:pPr marL="0" marR="0" indent="0" algn="just">
                  <a:lnSpc>
                    <a:spcPct val="100000"/>
                  </a:lnSpc>
                  <a:spcBef>
                    <a:spcPts val="0"/>
                  </a:spcBef>
                  <a:buNone/>
                </a:pPr>
                <a:r>
                  <a:rPr lang="en-US" sz="3000" dirty="0">
                    <a:effectLst/>
                    <a:latin typeface="Times New Roman" panose="02020603050405020304" pitchFamily="18" charset="0"/>
                    <a:ea typeface="Times New Roman" panose="02020603050405020304" pitchFamily="18" charset="0"/>
                    <a:cs typeface="Times New Roman" panose="02020603050405020304" pitchFamily="18" charset="0"/>
                  </a:rPr>
                  <a:t>= 0×2</a:t>
                </a:r>
                <a:r>
                  <a:rPr lang="en-US" sz="3000" baseline="30000" dirty="0">
                    <a:effectLst/>
                    <a:latin typeface="Times New Roman" panose="02020603050405020304" pitchFamily="18" charset="0"/>
                    <a:ea typeface="Times New Roman" panose="02020603050405020304" pitchFamily="18" charset="0"/>
                    <a:cs typeface="Times New Roman" panose="02020603050405020304" pitchFamily="18" charset="0"/>
                  </a:rPr>
                  <a:t>11</a:t>
                </a:r>
                <a:r>
                  <a:rPr lang="en-US" sz="3000" dirty="0">
                    <a:effectLst/>
                    <a:latin typeface="Times New Roman" panose="02020603050405020304" pitchFamily="18" charset="0"/>
                    <a:ea typeface="Times New Roman" panose="02020603050405020304" pitchFamily="18" charset="0"/>
                    <a:cs typeface="Times New Roman" panose="02020603050405020304" pitchFamily="18" charset="0"/>
                  </a:rPr>
                  <a:t>+0×2</a:t>
                </a:r>
                <a:r>
                  <a:rPr lang="en-US" sz="3000" baseline="30000" dirty="0">
                    <a:effectLst/>
                    <a:latin typeface="Times New Roman" panose="02020603050405020304" pitchFamily="18" charset="0"/>
                    <a:ea typeface="Times New Roman" panose="02020603050405020304" pitchFamily="18" charset="0"/>
                    <a:cs typeface="Times New Roman" panose="02020603050405020304" pitchFamily="18" charset="0"/>
                  </a:rPr>
                  <a:t>10</a:t>
                </a:r>
                <a:r>
                  <a:rPr lang="en-US" sz="3000" dirty="0">
                    <a:effectLst/>
                    <a:latin typeface="Times New Roman" panose="02020603050405020304" pitchFamily="18" charset="0"/>
                    <a:ea typeface="Times New Roman" panose="02020603050405020304" pitchFamily="18" charset="0"/>
                    <a:cs typeface="Times New Roman" panose="02020603050405020304" pitchFamily="18" charset="0"/>
                  </a:rPr>
                  <a:t>+0×2</a:t>
                </a:r>
                <a:r>
                  <a:rPr lang="en-US" sz="3000" baseline="30000" dirty="0">
                    <a:effectLst/>
                    <a:latin typeface="Times New Roman" panose="02020603050405020304" pitchFamily="18" charset="0"/>
                    <a:ea typeface="Times New Roman" panose="02020603050405020304" pitchFamily="18" charset="0"/>
                    <a:cs typeface="Times New Roman" panose="02020603050405020304" pitchFamily="18" charset="0"/>
                  </a:rPr>
                  <a:t>9</a:t>
                </a:r>
                <a:r>
                  <a:rPr lang="en-US" sz="3000" dirty="0">
                    <a:effectLst/>
                    <a:latin typeface="Times New Roman" panose="02020603050405020304" pitchFamily="18" charset="0"/>
                    <a:ea typeface="Times New Roman" panose="02020603050405020304" pitchFamily="18" charset="0"/>
                    <a:cs typeface="Times New Roman" panose="02020603050405020304" pitchFamily="18" charset="0"/>
                  </a:rPr>
                  <a:t>+1×2</a:t>
                </a:r>
                <a:r>
                  <a:rPr lang="en-US" sz="3000" baseline="30000" dirty="0">
                    <a:effectLst/>
                    <a:latin typeface="Times New Roman" panose="02020603050405020304" pitchFamily="18" charset="0"/>
                    <a:ea typeface="Times New Roman" panose="02020603050405020304" pitchFamily="18" charset="0"/>
                    <a:cs typeface="Times New Roman" panose="02020603050405020304" pitchFamily="18" charset="0"/>
                  </a:rPr>
                  <a:t>8</a:t>
                </a:r>
                <a:r>
                  <a:rPr lang="en-US" sz="3000" dirty="0">
                    <a:effectLst/>
                    <a:latin typeface="Times New Roman" panose="02020603050405020304" pitchFamily="18" charset="0"/>
                    <a:ea typeface="Times New Roman" panose="02020603050405020304" pitchFamily="18" charset="0"/>
                    <a:cs typeface="Times New Roman" panose="02020603050405020304" pitchFamily="18" charset="0"/>
                  </a:rPr>
                  <a:t>+1×2</a:t>
                </a:r>
                <a:r>
                  <a:rPr lang="en-US" sz="3000" baseline="30000" dirty="0">
                    <a:effectLst/>
                    <a:latin typeface="Times New Roman" panose="02020603050405020304" pitchFamily="18" charset="0"/>
                    <a:ea typeface="Times New Roman" panose="02020603050405020304" pitchFamily="18" charset="0"/>
                    <a:cs typeface="Times New Roman" panose="02020603050405020304" pitchFamily="18" charset="0"/>
                  </a:rPr>
                  <a:t>7</a:t>
                </a:r>
                <a:r>
                  <a:rPr lang="en-US" sz="3000" dirty="0">
                    <a:effectLst/>
                    <a:latin typeface="Times New Roman" panose="02020603050405020304" pitchFamily="18" charset="0"/>
                    <a:ea typeface="Times New Roman" panose="02020603050405020304" pitchFamily="18" charset="0"/>
                    <a:cs typeface="Times New Roman" panose="02020603050405020304" pitchFamily="18" charset="0"/>
                  </a:rPr>
                  <a:t>+0×2</a:t>
                </a:r>
                <a:r>
                  <a:rPr lang="en-US" sz="3000" baseline="30000" dirty="0">
                    <a:effectLst/>
                    <a:latin typeface="Times New Roman" panose="02020603050405020304" pitchFamily="18" charset="0"/>
                    <a:ea typeface="Times New Roman" panose="02020603050405020304" pitchFamily="18" charset="0"/>
                    <a:cs typeface="Times New Roman" panose="02020603050405020304" pitchFamily="18" charset="0"/>
                  </a:rPr>
                  <a:t>6</a:t>
                </a:r>
                <a:r>
                  <a:rPr lang="en-US" sz="3000" dirty="0">
                    <a:effectLst/>
                    <a:latin typeface="Times New Roman" panose="02020603050405020304" pitchFamily="18" charset="0"/>
                    <a:ea typeface="Times New Roman" panose="02020603050405020304" pitchFamily="18" charset="0"/>
                    <a:cs typeface="Times New Roman" panose="02020603050405020304" pitchFamily="18" charset="0"/>
                  </a:rPr>
                  <a:t>+1×2</a:t>
                </a:r>
                <a:r>
                  <a:rPr lang="en-US" sz="3000" baseline="30000" dirty="0">
                    <a:effectLst/>
                    <a:latin typeface="Times New Roman" panose="02020603050405020304" pitchFamily="18" charset="0"/>
                    <a:ea typeface="Times New Roman" panose="02020603050405020304" pitchFamily="18" charset="0"/>
                    <a:cs typeface="Times New Roman" panose="02020603050405020304" pitchFamily="18" charset="0"/>
                  </a:rPr>
                  <a:t>5</a:t>
                </a:r>
                <a:r>
                  <a:rPr lang="en-US" sz="3000" dirty="0">
                    <a:effectLst/>
                    <a:latin typeface="Times New Roman" panose="02020603050405020304" pitchFamily="18" charset="0"/>
                    <a:ea typeface="Times New Roman" panose="02020603050405020304" pitchFamily="18" charset="0"/>
                    <a:cs typeface="Times New Roman" panose="02020603050405020304" pitchFamily="18" charset="0"/>
                  </a:rPr>
                  <a:t>+0×2</a:t>
                </a:r>
                <a:r>
                  <a:rPr lang="en-US" sz="3000" baseline="30000" dirty="0">
                    <a:effectLst/>
                    <a:latin typeface="Times New Roman" panose="02020603050405020304" pitchFamily="18" charset="0"/>
                    <a:ea typeface="Times New Roman" panose="02020603050405020304" pitchFamily="18" charset="0"/>
                    <a:cs typeface="Times New Roman" panose="02020603050405020304" pitchFamily="18" charset="0"/>
                  </a:rPr>
                  <a:t>4</a:t>
                </a:r>
                <a:r>
                  <a:rPr lang="en-US" sz="3000" dirty="0">
                    <a:effectLst/>
                    <a:latin typeface="Times New Roman" panose="02020603050405020304" pitchFamily="18" charset="0"/>
                    <a:ea typeface="Times New Roman" panose="02020603050405020304" pitchFamily="18" charset="0"/>
                    <a:cs typeface="Times New Roman" panose="02020603050405020304" pitchFamily="18" charset="0"/>
                  </a:rPr>
                  <a:t>+1×2</a:t>
                </a:r>
                <a:r>
                  <a:rPr lang="en-US" sz="3000" baseline="30000" dirty="0">
                    <a:effectLst/>
                    <a:latin typeface="Times New Roman" panose="02020603050405020304" pitchFamily="18" charset="0"/>
                    <a:ea typeface="Times New Roman" panose="02020603050405020304" pitchFamily="18" charset="0"/>
                    <a:cs typeface="Times New Roman" panose="02020603050405020304" pitchFamily="18" charset="0"/>
                  </a:rPr>
                  <a:t>3</a:t>
                </a:r>
                <a:r>
                  <a:rPr lang="en-US" sz="3000" dirty="0">
                    <a:effectLst/>
                    <a:latin typeface="Times New Roman" panose="02020603050405020304" pitchFamily="18" charset="0"/>
                    <a:ea typeface="Times New Roman" panose="02020603050405020304" pitchFamily="18" charset="0"/>
                    <a:cs typeface="Times New Roman" panose="02020603050405020304" pitchFamily="18" charset="0"/>
                  </a:rPr>
                  <a:t>+1×2</a:t>
                </a:r>
                <a:r>
                  <a:rPr lang="en-US" sz="3000" baseline="30000" dirty="0">
                    <a:effectLst/>
                    <a:latin typeface="Times New Roman" panose="02020603050405020304" pitchFamily="18" charset="0"/>
                    <a:ea typeface="Times New Roman" panose="02020603050405020304" pitchFamily="18" charset="0"/>
                    <a:cs typeface="Times New Roman" panose="02020603050405020304" pitchFamily="18" charset="0"/>
                  </a:rPr>
                  <a:t>2</a:t>
                </a:r>
                <a:r>
                  <a:rPr lang="en-US" sz="3000" dirty="0">
                    <a:effectLst/>
                    <a:latin typeface="Times New Roman" panose="02020603050405020304" pitchFamily="18" charset="0"/>
                    <a:ea typeface="Times New Roman" panose="02020603050405020304" pitchFamily="18" charset="0"/>
                    <a:cs typeface="Times New Roman" panose="02020603050405020304" pitchFamily="18" charset="0"/>
                  </a:rPr>
                  <a:t>+1×2</a:t>
                </a:r>
                <a:r>
                  <a:rPr lang="en-US" sz="3000" baseline="30000" dirty="0">
                    <a:effectLst/>
                    <a:latin typeface="Times New Roman" panose="02020603050405020304" pitchFamily="18" charset="0"/>
                    <a:ea typeface="Times New Roman" panose="02020603050405020304" pitchFamily="18" charset="0"/>
                    <a:cs typeface="Times New Roman" panose="02020603050405020304" pitchFamily="18" charset="0"/>
                  </a:rPr>
                  <a:t>1</a:t>
                </a:r>
                <a:r>
                  <a:rPr lang="en-US" sz="3000" dirty="0">
                    <a:effectLst/>
                    <a:latin typeface="Times New Roman" panose="02020603050405020304" pitchFamily="18" charset="0"/>
                    <a:ea typeface="Times New Roman" panose="02020603050405020304" pitchFamily="18" charset="0"/>
                    <a:cs typeface="Times New Roman" panose="02020603050405020304" pitchFamily="18" charset="0"/>
                  </a:rPr>
                  <a:t>+0×2</a:t>
                </a:r>
                <a:r>
                  <a:rPr lang="en-US" sz="3000" baseline="30000" dirty="0">
                    <a:effectLst/>
                    <a:latin typeface="Times New Roman" panose="02020603050405020304" pitchFamily="18" charset="0"/>
                    <a:ea typeface="Times New Roman" panose="02020603050405020304" pitchFamily="18" charset="0"/>
                    <a:cs typeface="Times New Roman" panose="02020603050405020304" pitchFamily="18" charset="0"/>
                  </a:rPr>
                  <a:t>0</a:t>
                </a:r>
                <a:r>
                  <a:rPr lang="en-US" sz="300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30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0" marR="0" indent="0" algn="just">
                  <a:lnSpc>
                    <a:spcPct val="100000"/>
                  </a:lnSpc>
                  <a:spcBef>
                    <a:spcPts val="0"/>
                  </a:spcBef>
                  <a:buNone/>
                </a:pPr>
                <a:r>
                  <a:rPr lang="en-US" sz="3000" dirty="0">
                    <a:effectLst/>
                    <a:latin typeface="Times New Roman" panose="02020603050405020304" pitchFamily="18" charset="0"/>
                    <a:ea typeface="Times New Roman" panose="02020603050405020304" pitchFamily="18" charset="0"/>
                    <a:cs typeface="Times New Roman" panose="02020603050405020304" pitchFamily="18" charset="0"/>
                  </a:rPr>
                  <a:t>= 256+128+32+8+4+2 = 430</a:t>
                </a:r>
                <a:endParaRPr lang="en-US" sz="30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0" marR="0" indent="0" algn="just">
                  <a:lnSpc>
                    <a:spcPct val="100000"/>
                  </a:lnSpc>
                  <a:spcBef>
                    <a:spcPts val="0"/>
                  </a:spcBef>
                  <a:buNone/>
                </a:pPr>
                <a:r>
                  <a:rPr lang="en-US" sz="3000" dirty="0">
                    <a:effectLst/>
                    <a:latin typeface="Times New Roman" panose="02020603050405020304" pitchFamily="18" charset="0"/>
                    <a:ea typeface="Times New Roman" panose="02020603050405020304" pitchFamily="18" charset="0"/>
                    <a:cs typeface="Times New Roman" panose="02020603050405020304" pitchFamily="18" charset="0"/>
                  </a:rPr>
                  <a:t>For the asynchronous double-speed mode, </a:t>
                </a:r>
              </a:p>
              <a:p>
                <a:pPr marL="0" marR="0" indent="0" algn="just">
                  <a:lnSpc>
                    <a:spcPct val="100000"/>
                  </a:lnSpc>
                  <a:spcBef>
                    <a:spcPts val="0"/>
                  </a:spcBef>
                  <a:buNone/>
                </a:pPr>
                <a14:m>
                  <m:oMath xmlns:m="http://schemas.openxmlformats.org/officeDocument/2006/math">
                    <m:r>
                      <a:rPr lang="en-US" sz="3000" i="1">
                        <a:effectLst/>
                        <a:latin typeface="Cambria Math" panose="02040503050406030204" pitchFamily="18" charset="0"/>
                        <a:ea typeface="Times New Roman" panose="02020603050405020304" pitchFamily="18" charset="0"/>
                        <a:cs typeface="Times New Roman" panose="02020603050405020304" pitchFamily="18" charset="0"/>
                      </a:rPr>
                      <m:t>𝐵𝑎𝑢𝑑</m:t>
                    </m:r>
                    <m:r>
                      <a:rPr lang="en-US" sz="30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3000" i="1">
                        <a:effectLst/>
                        <a:latin typeface="Cambria Math" panose="02040503050406030204" pitchFamily="18" charset="0"/>
                        <a:ea typeface="Times New Roman" panose="02020603050405020304" pitchFamily="18" charset="0"/>
                        <a:cs typeface="Times New Roman" panose="02020603050405020304" pitchFamily="18" charset="0"/>
                      </a:rPr>
                      <m:t>𝑅𝑎𝑡𝑒</m:t>
                    </m:r>
                    <m:r>
                      <a:rPr lang="en-US" sz="30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3000" i="1">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US" sz="3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3000" i="1">
                                <a:effectLst/>
                                <a:latin typeface="Cambria Math" panose="02040503050406030204" pitchFamily="18" charset="0"/>
                                <a:ea typeface="Times New Roman" panose="02020603050405020304" pitchFamily="18" charset="0"/>
                                <a:cs typeface="Times New Roman" panose="02020603050405020304" pitchFamily="18" charset="0"/>
                              </a:rPr>
                              <m:t>𝑓</m:t>
                            </m:r>
                          </m:e>
                          <m:sub>
                            <m:r>
                              <a:rPr lang="en-US" sz="3000" i="1">
                                <a:effectLst/>
                                <a:latin typeface="Cambria Math" panose="02040503050406030204" pitchFamily="18" charset="0"/>
                                <a:ea typeface="Times New Roman" panose="02020603050405020304" pitchFamily="18" charset="0"/>
                                <a:cs typeface="Times New Roman" panose="02020603050405020304" pitchFamily="18" charset="0"/>
                              </a:rPr>
                              <m:t>𝑜𝑠𝑐</m:t>
                            </m:r>
                          </m:sub>
                        </m:sSub>
                      </m:num>
                      <m:den>
                        <m:r>
                          <a:rPr lang="en-US" sz="3000" b="0" i="1" smtClean="0">
                            <a:effectLst/>
                            <a:latin typeface="Cambria Math" panose="02040503050406030204" pitchFamily="18" charset="0"/>
                            <a:ea typeface="Times New Roman" panose="02020603050405020304" pitchFamily="18" charset="0"/>
                            <a:cs typeface="Times New Roman" panose="02020603050405020304" pitchFamily="18" charset="0"/>
                          </a:rPr>
                          <m:t>8</m:t>
                        </m:r>
                        <m:d>
                          <m:dPr>
                            <m:ctrlPr>
                              <a:rPr lang="en-US" sz="30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3000" i="1">
                                <a:effectLst/>
                                <a:latin typeface="Cambria Math" panose="02040503050406030204" pitchFamily="18" charset="0"/>
                                <a:ea typeface="Times New Roman" panose="02020603050405020304" pitchFamily="18" charset="0"/>
                                <a:cs typeface="Times New Roman" panose="02020603050405020304" pitchFamily="18" charset="0"/>
                              </a:rPr>
                              <m:t>𝑈𝐵𝑅𝑅𝑛</m:t>
                            </m:r>
                            <m:r>
                              <a:rPr lang="en-US" sz="3000" i="1">
                                <a:effectLst/>
                                <a:latin typeface="Cambria Math" panose="02040503050406030204" pitchFamily="18" charset="0"/>
                                <a:ea typeface="Times New Roman" panose="02020603050405020304" pitchFamily="18" charset="0"/>
                                <a:cs typeface="Times New Roman" panose="02020603050405020304" pitchFamily="18" charset="0"/>
                              </a:rPr>
                              <m:t>+1</m:t>
                            </m:r>
                          </m:e>
                        </m:d>
                      </m:den>
                    </m:f>
                    <m:r>
                      <a:rPr lang="en-US" sz="30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3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3000" i="1">
                            <a:effectLst/>
                            <a:latin typeface="Cambria Math" panose="02040503050406030204" pitchFamily="18" charset="0"/>
                            <a:ea typeface="Times New Roman" panose="02020603050405020304" pitchFamily="18" charset="0"/>
                            <a:cs typeface="Times New Roman" panose="02020603050405020304" pitchFamily="18" charset="0"/>
                          </a:rPr>
                          <m:t>16×</m:t>
                        </m:r>
                        <m:sSup>
                          <m:sSupPr>
                            <m:ctrlPr>
                              <a:rPr lang="en-US" sz="3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3000" i="1">
                                <a:effectLst/>
                                <a:latin typeface="Cambria Math" panose="02040503050406030204" pitchFamily="18" charset="0"/>
                                <a:ea typeface="Times New Roman" panose="02020603050405020304" pitchFamily="18" charset="0"/>
                                <a:cs typeface="Times New Roman" panose="02020603050405020304" pitchFamily="18" charset="0"/>
                              </a:rPr>
                              <m:t>10</m:t>
                            </m:r>
                          </m:e>
                          <m:sup>
                            <m:r>
                              <a:rPr lang="en-US" sz="3000" i="1">
                                <a:effectLst/>
                                <a:latin typeface="Cambria Math" panose="02040503050406030204" pitchFamily="18" charset="0"/>
                                <a:ea typeface="Times New Roman" panose="02020603050405020304" pitchFamily="18" charset="0"/>
                                <a:cs typeface="Times New Roman" panose="02020603050405020304" pitchFamily="18" charset="0"/>
                              </a:rPr>
                              <m:t>6</m:t>
                            </m:r>
                          </m:sup>
                        </m:sSup>
                      </m:num>
                      <m:den>
                        <m:r>
                          <a:rPr lang="en-US" sz="3000" b="0" i="1" smtClean="0">
                            <a:effectLst/>
                            <a:latin typeface="Cambria Math" panose="02040503050406030204" pitchFamily="18" charset="0"/>
                            <a:ea typeface="Times New Roman" panose="02020603050405020304" pitchFamily="18" charset="0"/>
                            <a:cs typeface="Times New Roman" panose="02020603050405020304" pitchFamily="18" charset="0"/>
                          </a:rPr>
                          <m:t>8</m:t>
                        </m:r>
                        <m:d>
                          <m:dPr>
                            <m:ctrlPr>
                              <a:rPr lang="en-US" sz="30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3000" i="1">
                                <a:effectLst/>
                                <a:latin typeface="Cambria Math" panose="02040503050406030204" pitchFamily="18" charset="0"/>
                                <a:ea typeface="Times New Roman" panose="02020603050405020304" pitchFamily="18" charset="0"/>
                                <a:cs typeface="Times New Roman" panose="02020603050405020304" pitchFamily="18" charset="0"/>
                              </a:rPr>
                              <m:t>430+1</m:t>
                            </m:r>
                          </m:e>
                        </m:d>
                      </m:den>
                    </m:f>
                    <m:r>
                      <a:rPr lang="en-US" sz="30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3000" b="0" i="1" smtClean="0">
                        <a:effectLst/>
                        <a:latin typeface="Cambria Math" panose="02040503050406030204" pitchFamily="18" charset="0"/>
                        <a:ea typeface="Times New Roman" panose="02020603050405020304" pitchFamily="18" charset="0"/>
                        <a:cs typeface="Times New Roman" panose="02020603050405020304" pitchFamily="18" charset="0"/>
                      </a:rPr>
                      <m:t>4640</m:t>
                    </m:r>
                  </m:oMath>
                </a14:m>
                <a:r>
                  <a:rPr lang="en-US" sz="3000" dirty="0">
                    <a:effectLst/>
                    <a:latin typeface="Times New Roman" panose="02020603050405020304" pitchFamily="18" charset="0"/>
                    <a:ea typeface="SimSun" panose="02010600030101010101" pitchFamily="2" charset="-122"/>
                    <a:cs typeface="Times New Roman" panose="02020603050405020304" pitchFamily="18" charset="0"/>
                  </a:rPr>
                  <a:t> bps</a:t>
                </a:r>
                <a:endParaRPr lang="en-US" sz="30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0" marR="0" indent="0" algn="just">
                  <a:lnSpc>
                    <a:spcPct val="100000"/>
                  </a:lnSpc>
                  <a:spcBef>
                    <a:spcPts val="0"/>
                  </a:spcBef>
                  <a:buNone/>
                </a:pPr>
                <a:r>
                  <a:rPr lang="en-US" sz="3000" dirty="0">
                    <a:effectLst/>
                    <a:latin typeface="Times New Roman" panose="02020603050405020304" pitchFamily="18" charset="0"/>
                    <a:ea typeface="SimSun" panose="02010600030101010101" pitchFamily="2" charset="-122"/>
                    <a:cs typeface="Times New Roman" panose="02020603050405020304" pitchFamily="18" charset="0"/>
                  </a:rPr>
                  <a:t>Baud Error Rate, </a:t>
                </a:r>
                <a14:m>
                  <m:oMath xmlns:m="http://schemas.openxmlformats.org/officeDocument/2006/math">
                    <m:r>
                      <a:rPr lang="en-US" sz="3000" i="1">
                        <a:effectLst/>
                        <a:latin typeface="Cambria Math" panose="02040503050406030204" pitchFamily="18" charset="0"/>
                        <a:ea typeface="SimSun" panose="02010600030101010101" pitchFamily="2" charset="-122"/>
                        <a:cs typeface="Times New Roman" panose="02020603050405020304" pitchFamily="18" charset="0"/>
                      </a:rPr>
                      <m:t>𝜀</m:t>
                    </m:r>
                    <m:r>
                      <a:rPr lang="en-US" sz="3000" i="1">
                        <a:effectLst/>
                        <a:latin typeface="Cambria Math" panose="02040503050406030204" pitchFamily="18" charset="0"/>
                        <a:ea typeface="SimSun" panose="02010600030101010101" pitchFamily="2" charset="-122"/>
                        <a:cs typeface="Times New Roman" panose="02020603050405020304" pitchFamily="18" charset="0"/>
                      </a:rPr>
                      <m:t>=</m:t>
                    </m:r>
                    <m:f>
                      <m:fPr>
                        <m:ctrlPr>
                          <a:rPr lang="en-US" sz="3000" i="1">
                            <a:effectLst/>
                            <a:latin typeface="Cambria Math" panose="02040503050406030204" pitchFamily="18" charset="0"/>
                            <a:ea typeface="SimSun" panose="02010600030101010101" pitchFamily="2" charset="-122"/>
                            <a:cs typeface="Times New Roman" panose="02020603050405020304" pitchFamily="18" charset="0"/>
                          </a:rPr>
                        </m:ctrlPr>
                      </m:fPr>
                      <m:num>
                        <m:r>
                          <a:rPr lang="en-US" sz="3000" i="1">
                            <a:effectLst/>
                            <a:latin typeface="Cambria Math" panose="02040503050406030204" pitchFamily="18" charset="0"/>
                            <a:ea typeface="SimSun" panose="02010600030101010101" pitchFamily="2" charset="-122"/>
                            <a:cs typeface="Times New Roman" panose="02020603050405020304" pitchFamily="18" charset="0"/>
                          </a:rPr>
                          <m:t>𝑆𝑡𝑎𝑛𝑑𝑎𝑟𝑑</m:t>
                        </m:r>
                        <m:r>
                          <a:rPr lang="en-US" sz="3000" i="1">
                            <a:effectLst/>
                            <a:latin typeface="Cambria Math" panose="02040503050406030204" pitchFamily="18" charset="0"/>
                            <a:ea typeface="SimSun" panose="02010600030101010101" pitchFamily="2" charset="-122"/>
                            <a:cs typeface="Times New Roman" panose="02020603050405020304" pitchFamily="18" charset="0"/>
                          </a:rPr>
                          <m:t> </m:t>
                        </m:r>
                        <m:r>
                          <a:rPr lang="en-US" sz="3000" i="1">
                            <a:effectLst/>
                            <a:latin typeface="Cambria Math" panose="02040503050406030204" pitchFamily="18" charset="0"/>
                            <a:ea typeface="SimSun" panose="02010600030101010101" pitchFamily="2" charset="-122"/>
                            <a:cs typeface="Times New Roman" panose="02020603050405020304" pitchFamily="18" charset="0"/>
                          </a:rPr>
                          <m:t>𝑏𝑎𝑢𝑑</m:t>
                        </m:r>
                        <m:r>
                          <a:rPr lang="en-US" sz="3000" i="1">
                            <a:effectLst/>
                            <a:latin typeface="Cambria Math" panose="02040503050406030204" pitchFamily="18" charset="0"/>
                            <a:ea typeface="SimSun" panose="02010600030101010101" pitchFamily="2" charset="-122"/>
                            <a:cs typeface="Times New Roman" panose="02020603050405020304" pitchFamily="18" charset="0"/>
                          </a:rPr>
                          <m:t> </m:t>
                        </m:r>
                        <m:r>
                          <a:rPr lang="en-US" sz="3000" i="1">
                            <a:effectLst/>
                            <a:latin typeface="Cambria Math" panose="02040503050406030204" pitchFamily="18" charset="0"/>
                            <a:ea typeface="SimSun" panose="02010600030101010101" pitchFamily="2" charset="-122"/>
                            <a:cs typeface="Times New Roman" panose="02020603050405020304" pitchFamily="18" charset="0"/>
                          </a:rPr>
                          <m:t>𝑟𝑎𝑡𝑒</m:t>
                        </m:r>
                        <m:r>
                          <a:rPr lang="en-US" sz="3000" i="1">
                            <a:effectLst/>
                            <a:latin typeface="Cambria Math" panose="02040503050406030204" pitchFamily="18" charset="0"/>
                            <a:ea typeface="SimSun" panose="02010600030101010101" pitchFamily="2" charset="-122"/>
                            <a:cs typeface="Times New Roman" panose="02020603050405020304" pitchFamily="18" charset="0"/>
                          </a:rPr>
                          <m:t>−</m:t>
                        </m:r>
                        <m:r>
                          <a:rPr lang="en-US" sz="3000" i="1">
                            <a:effectLst/>
                            <a:latin typeface="Cambria Math" panose="02040503050406030204" pitchFamily="18" charset="0"/>
                            <a:ea typeface="SimSun" panose="02010600030101010101" pitchFamily="2" charset="-122"/>
                            <a:cs typeface="Times New Roman" panose="02020603050405020304" pitchFamily="18" charset="0"/>
                          </a:rPr>
                          <m:t>𝑐𝑎𝑙𝑐𝑢𝑙𝑎𝑡𝑒𝑑</m:t>
                        </m:r>
                        <m:r>
                          <a:rPr lang="en-US" sz="3000" i="1">
                            <a:effectLst/>
                            <a:latin typeface="Cambria Math" panose="02040503050406030204" pitchFamily="18" charset="0"/>
                            <a:ea typeface="SimSun" panose="02010600030101010101" pitchFamily="2" charset="-122"/>
                            <a:cs typeface="Times New Roman" panose="02020603050405020304" pitchFamily="18" charset="0"/>
                          </a:rPr>
                          <m:t> </m:t>
                        </m:r>
                        <m:r>
                          <a:rPr lang="en-US" sz="3000" i="1">
                            <a:effectLst/>
                            <a:latin typeface="Cambria Math" panose="02040503050406030204" pitchFamily="18" charset="0"/>
                            <a:ea typeface="SimSun" panose="02010600030101010101" pitchFamily="2" charset="-122"/>
                            <a:cs typeface="Times New Roman" panose="02020603050405020304" pitchFamily="18" charset="0"/>
                          </a:rPr>
                          <m:t>𝑏𝑎𝑢𝑑</m:t>
                        </m:r>
                        <m:r>
                          <a:rPr lang="en-US" sz="3000" i="1">
                            <a:effectLst/>
                            <a:latin typeface="Cambria Math" panose="02040503050406030204" pitchFamily="18" charset="0"/>
                            <a:ea typeface="SimSun" panose="02010600030101010101" pitchFamily="2" charset="-122"/>
                            <a:cs typeface="Times New Roman" panose="02020603050405020304" pitchFamily="18" charset="0"/>
                          </a:rPr>
                          <m:t> </m:t>
                        </m:r>
                        <m:r>
                          <a:rPr lang="en-US" sz="3000" i="1">
                            <a:effectLst/>
                            <a:latin typeface="Cambria Math" panose="02040503050406030204" pitchFamily="18" charset="0"/>
                            <a:ea typeface="SimSun" panose="02010600030101010101" pitchFamily="2" charset="-122"/>
                            <a:cs typeface="Times New Roman" panose="02020603050405020304" pitchFamily="18" charset="0"/>
                          </a:rPr>
                          <m:t>𝑟𝑎𝑡𝑒</m:t>
                        </m:r>
                      </m:num>
                      <m:den>
                        <m:r>
                          <a:rPr lang="en-US" sz="3000" i="1">
                            <a:effectLst/>
                            <a:latin typeface="Cambria Math" panose="02040503050406030204" pitchFamily="18" charset="0"/>
                            <a:ea typeface="SimSun" panose="02010600030101010101" pitchFamily="2" charset="-122"/>
                            <a:cs typeface="Times New Roman" panose="02020603050405020304" pitchFamily="18" charset="0"/>
                          </a:rPr>
                          <m:t>𝑆𝑡𝑎𝑛𝑑𝑎𝑟𝑑</m:t>
                        </m:r>
                        <m:r>
                          <a:rPr lang="en-US" sz="3000" i="1">
                            <a:effectLst/>
                            <a:latin typeface="Cambria Math" panose="02040503050406030204" pitchFamily="18" charset="0"/>
                            <a:ea typeface="SimSun" panose="02010600030101010101" pitchFamily="2" charset="-122"/>
                            <a:cs typeface="Times New Roman" panose="02020603050405020304" pitchFamily="18" charset="0"/>
                          </a:rPr>
                          <m:t> </m:t>
                        </m:r>
                        <m:r>
                          <a:rPr lang="en-US" sz="3000" i="1">
                            <a:effectLst/>
                            <a:latin typeface="Cambria Math" panose="02040503050406030204" pitchFamily="18" charset="0"/>
                            <a:ea typeface="SimSun" panose="02010600030101010101" pitchFamily="2" charset="-122"/>
                            <a:cs typeface="Times New Roman" panose="02020603050405020304" pitchFamily="18" charset="0"/>
                          </a:rPr>
                          <m:t>𝑏𝑎𝑢𝑑</m:t>
                        </m:r>
                        <m:r>
                          <a:rPr lang="en-US" sz="3000" i="1">
                            <a:effectLst/>
                            <a:latin typeface="Cambria Math" panose="02040503050406030204" pitchFamily="18" charset="0"/>
                            <a:ea typeface="SimSun" panose="02010600030101010101" pitchFamily="2" charset="-122"/>
                            <a:cs typeface="Times New Roman" panose="02020603050405020304" pitchFamily="18" charset="0"/>
                          </a:rPr>
                          <m:t> </m:t>
                        </m:r>
                        <m:r>
                          <a:rPr lang="en-US" sz="3000" i="1">
                            <a:effectLst/>
                            <a:latin typeface="Cambria Math" panose="02040503050406030204" pitchFamily="18" charset="0"/>
                            <a:ea typeface="SimSun" panose="02010600030101010101" pitchFamily="2" charset="-122"/>
                            <a:cs typeface="Times New Roman" panose="02020603050405020304" pitchFamily="18" charset="0"/>
                          </a:rPr>
                          <m:t>𝑟𝑎𝑡𝑒</m:t>
                        </m:r>
                      </m:den>
                    </m:f>
                    <m:r>
                      <a:rPr lang="en-US" sz="3000" i="1">
                        <a:effectLst/>
                        <a:latin typeface="Cambria Math" panose="02040503050406030204" pitchFamily="18" charset="0"/>
                        <a:ea typeface="SimSun" panose="02010600030101010101" pitchFamily="2" charset="-122"/>
                        <a:cs typeface="Times New Roman" panose="02020603050405020304" pitchFamily="18" charset="0"/>
                      </a:rPr>
                      <m:t>×100%</m:t>
                    </m:r>
                  </m:oMath>
                </a14:m>
                <a:endParaRPr lang="en-US" sz="3000" i="1" dirty="0">
                  <a:effectLst/>
                  <a:latin typeface="Cambria Math" panose="02040503050406030204" pitchFamily="18" charset="0"/>
                  <a:ea typeface="SimSun" panose="02010600030101010101" pitchFamily="2" charset="-122"/>
                  <a:cs typeface="Times New Roman" panose="02020603050405020304" pitchFamily="18" charset="0"/>
                </a:endParaRPr>
              </a:p>
              <a:p>
                <a:pPr marL="0" marR="0" indent="0" algn="just">
                  <a:lnSpc>
                    <a:spcPct val="100000"/>
                  </a:lnSpc>
                  <a:spcBef>
                    <a:spcPts val="0"/>
                  </a:spcBef>
                  <a:buNone/>
                </a:pPr>
                <a14:m>
                  <m:oMathPara xmlns:m="http://schemas.openxmlformats.org/officeDocument/2006/math">
                    <m:oMathParaPr>
                      <m:jc m:val="left"/>
                    </m:oMathParaPr>
                    <m:oMath xmlns:m="http://schemas.openxmlformats.org/officeDocument/2006/math">
                      <m:r>
                        <a:rPr lang="en-US" sz="3000" i="1">
                          <a:effectLst/>
                          <a:latin typeface="Cambria Math" panose="02040503050406030204" pitchFamily="18" charset="0"/>
                          <a:ea typeface="SimSun" panose="02010600030101010101" pitchFamily="2" charset="-122"/>
                          <a:cs typeface="Times New Roman" panose="02020603050405020304" pitchFamily="18" charset="0"/>
                        </a:rPr>
                        <m:t>=</m:t>
                      </m:r>
                      <m:f>
                        <m:fPr>
                          <m:ctrlPr>
                            <a:rPr lang="en-US" sz="3000" i="1">
                              <a:effectLst/>
                              <a:latin typeface="Cambria Math" panose="02040503050406030204" pitchFamily="18" charset="0"/>
                              <a:ea typeface="SimSun" panose="02010600030101010101" pitchFamily="2" charset="-122"/>
                              <a:cs typeface="Times New Roman" panose="02020603050405020304" pitchFamily="18" charset="0"/>
                            </a:rPr>
                          </m:ctrlPr>
                        </m:fPr>
                        <m:num>
                          <m:r>
                            <a:rPr lang="en-US" sz="3000" i="1">
                              <a:effectLst/>
                              <a:latin typeface="Cambria Math" panose="02040503050406030204" pitchFamily="18" charset="0"/>
                              <a:ea typeface="SimSun" panose="02010600030101010101" pitchFamily="2" charset="-122"/>
                              <a:cs typeface="Times New Roman" panose="02020603050405020304" pitchFamily="18" charset="0"/>
                            </a:rPr>
                            <m:t>4</m:t>
                          </m:r>
                          <m:r>
                            <a:rPr lang="en-US" sz="3000" b="0" i="1" smtClean="0">
                              <a:effectLst/>
                              <a:latin typeface="Cambria Math" panose="02040503050406030204" pitchFamily="18" charset="0"/>
                              <a:ea typeface="SimSun" panose="02010600030101010101" pitchFamily="2" charset="-122"/>
                              <a:cs typeface="Times New Roman" panose="02020603050405020304" pitchFamily="18" charset="0"/>
                            </a:rPr>
                            <m:t>8</m:t>
                          </m:r>
                          <m:r>
                            <a:rPr lang="en-US" sz="3000" i="1">
                              <a:effectLst/>
                              <a:latin typeface="Cambria Math" panose="02040503050406030204" pitchFamily="18" charset="0"/>
                              <a:ea typeface="SimSun" panose="02010600030101010101" pitchFamily="2" charset="-122"/>
                              <a:cs typeface="Times New Roman" panose="02020603050405020304" pitchFamily="18" charset="0"/>
                            </a:rPr>
                            <m:t>00−</m:t>
                          </m:r>
                          <m:r>
                            <a:rPr lang="en-US" sz="3000" b="0" i="1" smtClean="0">
                              <a:effectLst/>
                              <a:latin typeface="Cambria Math" panose="02040503050406030204" pitchFamily="18" charset="0"/>
                              <a:ea typeface="SimSun" panose="02010600030101010101" pitchFamily="2" charset="-122"/>
                              <a:cs typeface="Times New Roman" panose="02020603050405020304" pitchFamily="18" charset="0"/>
                            </a:rPr>
                            <m:t>464</m:t>
                          </m:r>
                          <m:r>
                            <a:rPr lang="en-US" sz="3000" i="1">
                              <a:effectLst/>
                              <a:latin typeface="Cambria Math" panose="02040503050406030204" pitchFamily="18" charset="0"/>
                              <a:ea typeface="SimSun" panose="02010600030101010101" pitchFamily="2" charset="-122"/>
                              <a:cs typeface="Times New Roman" panose="02020603050405020304" pitchFamily="18" charset="0"/>
                            </a:rPr>
                            <m:t>0</m:t>
                          </m:r>
                        </m:num>
                        <m:den>
                          <m:r>
                            <a:rPr lang="en-US" sz="3000" b="0" i="1" smtClean="0">
                              <a:effectLst/>
                              <a:latin typeface="Cambria Math" panose="02040503050406030204" pitchFamily="18" charset="0"/>
                              <a:ea typeface="SimSun" panose="02010600030101010101" pitchFamily="2" charset="-122"/>
                              <a:cs typeface="Times New Roman" panose="02020603050405020304" pitchFamily="18" charset="0"/>
                            </a:rPr>
                            <m:t>48</m:t>
                          </m:r>
                          <m:r>
                            <a:rPr lang="en-US" sz="3000" i="1">
                              <a:effectLst/>
                              <a:latin typeface="Cambria Math" panose="02040503050406030204" pitchFamily="18" charset="0"/>
                              <a:ea typeface="SimSun" panose="02010600030101010101" pitchFamily="2" charset="-122"/>
                              <a:cs typeface="Times New Roman" panose="02020603050405020304" pitchFamily="18" charset="0"/>
                            </a:rPr>
                            <m:t>00</m:t>
                          </m:r>
                        </m:den>
                      </m:f>
                      <m:r>
                        <a:rPr lang="en-US" sz="3000" i="1">
                          <a:effectLst/>
                          <a:latin typeface="Cambria Math" panose="02040503050406030204" pitchFamily="18" charset="0"/>
                          <a:ea typeface="SimSun" panose="02010600030101010101" pitchFamily="2" charset="-122"/>
                          <a:cs typeface="Times New Roman" panose="02020603050405020304" pitchFamily="18" charset="0"/>
                        </a:rPr>
                        <m:t>×100%=3.33%</m:t>
                      </m:r>
                    </m:oMath>
                  </m:oMathPara>
                </a14:m>
                <a:endParaRPr lang="en-US" sz="30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0" marR="0" indent="0" algn="just">
                  <a:lnSpc>
                    <a:spcPct val="100000"/>
                  </a:lnSpc>
                  <a:spcBef>
                    <a:spcPts val="0"/>
                  </a:spcBef>
                  <a:buNone/>
                </a:pPr>
                <a:r>
                  <a:rPr lang="en-US" sz="3000" dirty="0">
                    <a:effectLst/>
                    <a:latin typeface="Times New Roman" panose="02020603050405020304" pitchFamily="18" charset="0"/>
                    <a:ea typeface="SimSun" panose="02010600030101010101" pitchFamily="2" charset="-122"/>
                    <a:cs typeface="Times New Roman" panose="02020603050405020304" pitchFamily="18" charset="0"/>
                  </a:rPr>
                  <a:t>This value is &gt; 2%, therefore, there will be communication errors.</a:t>
                </a:r>
                <a:endParaRPr lang="en-US" sz="3000" dirty="0">
                  <a:effectLst/>
                  <a:latin typeface="Times New Roman" panose="02020603050405020304" pitchFamily="18" charset="0"/>
                  <a:ea typeface="Times New Roman" panose="02020603050405020304" pitchFamily="18" charset="0"/>
                  <a:cs typeface="Angsana New" panose="02020603050405020304" pitchFamily="18" charset="-34"/>
                </a:endParaRPr>
              </a:p>
            </p:txBody>
          </p:sp>
        </mc:Choice>
        <mc:Fallback xmlns="">
          <p:sp>
            <p:nvSpPr>
              <p:cNvPr id="8" name="Content Placeholder 2">
                <a:extLst>
                  <a:ext uri="{FF2B5EF4-FFF2-40B4-BE49-F238E27FC236}">
                    <a16:creationId xmlns:a16="http://schemas.microsoft.com/office/drawing/2014/main" id="{BB840248-A173-F789-5FFB-7B23EAE75669}"/>
                  </a:ext>
                </a:extLst>
              </p:cNvPr>
              <p:cNvSpPr>
                <a:spLocks noGrp="1" noRot="1" noChangeAspect="1" noMove="1" noResize="1" noEditPoints="1" noAdjustHandles="1" noChangeArrowheads="1" noChangeShapeType="1" noTextEdit="1"/>
              </p:cNvSpPr>
              <p:nvPr>
                <p:ph idx="1"/>
              </p:nvPr>
            </p:nvSpPr>
            <p:spPr>
              <a:xfrm>
                <a:off x="326115" y="2674303"/>
                <a:ext cx="15893933" cy="5245331"/>
              </a:xfrm>
              <a:blipFill>
                <a:blip r:embed="rId2"/>
                <a:stretch>
                  <a:fillRect l="-959" t="-1163" b="-3023"/>
                </a:stretch>
              </a:blipFill>
            </p:spPr>
            <p:txBody>
              <a:bodyPr/>
              <a:lstStyle/>
              <a:p>
                <a:r>
                  <a:rPr lang="en-US">
                    <a:noFill/>
                  </a:rPr>
                  <a:t> </a:t>
                </a:r>
              </a:p>
            </p:txBody>
          </p:sp>
        </mc:Fallback>
      </mc:AlternateContent>
      <p:sp>
        <p:nvSpPr>
          <p:cNvPr id="4" name="Title 1">
            <a:extLst>
              <a:ext uri="{FF2B5EF4-FFF2-40B4-BE49-F238E27FC236}">
                <a16:creationId xmlns:a16="http://schemas.microsoft.com/office/drawing/2014/main" id="{46B250F7-AA33-34D9-C630-C435FAD15866}"/>
              </a:ext>
            </a:extLst>
          </p:cNvPr>
          <p:cNvSpPr txBox="1">
            <a:spLocks/>
          </p:cNvSpPr>
          <p:nvPr/>
        </p:nvSpPr>
        <p:spPr>
          <a:xfrm>
            <a:off x="213752" y="800100"/>
            <a:ext cx="16118448" cy="1899603"/>
          </a:xfrm>
          <a:prstGeom prst="rect">
            <a:avLst/>
          </a:prstGeom>
        </p:spPr>
        <p:txBody>
          <a:bodyPr vert="horz" lIns="91440" tIns="45720" rIns="91440" bIns="45720" rtlCol="0" anchor="t">
            <a:noAutofit/>
          </a:bodyPr>
          <a:lst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a:lstStyle>
          <a:p>
            <a:pPr algn="just"/>
            <a:r>
              <a:rPr lang="en-US" sz="3200" b="1" dirty="0">
                <a:solidFill>
                  <a:srgbClr val="0070C0"/>
                </a:solidFill>
                <a:effectLst/>
                <a:latin typeface="Times New Roman" panose="02020603050405020304" pitchFamily="18" charset="0"/>
                <a:ea typeface="Times New Roman" panose="02020603050405020304" pitchFamily="18" charset="0"/>
                <a:cs typeface="Angsana New" panose="02020603050405020304" pitchFamily="18" charset="-34"/>
              </a:rPr>
              <a:t>Compute </a:t>
            </a:r>
            <a:r>
              <a:rPr lang="en-US" sz="3200" dirty="0">
                <a:solidFill>
                  <a:srgbClr val="0070C0"/>
                </a:solidFill>
                <a:effectLst/>
                <a:latin typeface="Times New Roman" panose="02020603050405020304" pitchFamily="18" charset="0"/>
                <a:ea typeface="Times New Roman" panose="02020603050405020304" pitchFamily="18" charset="0"/>
                <a:cs typeface="Angsana New" panose="02020603050405020304" pitchFamily="18" charset="-34"/>
              </a:rPr>
              <a:t>the baud rate for the asynchronous double-speed mode when the oscillator frequency, </a:t>
            </a:r>
            <a:r>
              <a:rPr lang="en-US" sz="3200" i="1" dirty="0" err="1">
                <a:solidFill>
                  <a:srgbClr val="0070C0"/>
                </a:solidFill>
                <a:effectLst/>
                <a:latin typeface="Times New Roman" panose="02020603050405020304" pitchFamily="18" charset="0"/>
                <a:ea typeface="Times New Roman" panose="02020603050405020304" pitchFamily="18" charset="0"/>
                <a:cs typeface="Angsana New" panose="02020603050405020304" pitchFamily="18" charset="-34"/>
              </a:rPr>
              <a:t>f</a:t>
            </a:r>
            <a:r>
              <a:rPr lang="en-US" sz="3200" i="1" baseline="-25000" dirty="0" err="1">
                <a:solidFill>
                  <a:srgbClr val="0070C0"/>
                </a:solidFill>
                <a:effectLst/>
                <a:latin typeface="Times New Roman" panose="02020603050405020304" pitchFamily="18" charset="0"/>
                <a:ea typeface="Times New Roman" panose="02020603050405020304" pitchFamily="18" charset="0"/>
                <a:cs typeface="Angsana New" panose="02020603050405020304" pitchFamily="18" charset="-34"/>
              </a:rPr>
              <a:t>OSC</a:t>
            </a:r>
            <a:r>
              <a:rPr lang="en-US" sz="3200" dirty="0">
                <a:solidFill>
                  <a:srgbClr val="0070C0"/>
                </a:solidFill>
                <a:effectLst/>
                <a:latin typeface="Times New Roman" panose="02020603050405020304" pitchFamily="18" charset="0"/>
                <a:ea typeface="Times New Roman" panose="02020603050405020304" pitchFamily="18" charset="0"/>
                <a:cs typeface="Angsana New" panose="02020603050405020304" pitchFamily="18" charset="-34"/>
              </a:rPr>
              <a:t>  = 16 MHz, and the baud rate register data is, </a:t>
            </a:r>
            <a:r>
              <a:rPr lang="en-US" sz="3200" dirty="0" err="1">
                <a:solidFill>
                  <a:srgbClr val="0070C0"/>
                </a:solidFill>
                <a:effectLst/>
                <a:latin typeface="Times New Roman" panose="02020603050405020304" pitchFamily="18" charset="0"/>
                <a:ea typeface="Times New Roman" panose="02020603050405020304" pitchFamily="18" charset="0"/>
                <a:cs typeface="Angsana New" panose="02020603050405020304" pitchFamily="18" charset="-34"/>
              </a:rPr>
              <a:t>UBRRn</a:t>
            </a:r>
            <a:r>
              <a:rPr lang="en-US" sz="3200" dirty="0">
                <a:solidFill>
                  <a:srgbClr val="0070C0"/>
                </a:solidFill>
                <a:effectLst/>
                <a:latin typeface="Times New Roman" panose="02020603050405020304" pitchFamily="18" charset="0"/>
                <a:ea typeface="Times New Roman" panose="02020603050405020304" pitchFamily="18" charset="0"/>
                <a:cs typeface="Angsana New" panose="02020603050405020304" pitchFamily="18" charset="-34"/>
              </a:rPr>
              <a:t> = 000110101110. </a:t>
            </a:r>
            <a:r>
              <a:rPr lang="en-US" sz="3200" b="1" dirty="0">
                <a:solidFill>
                  <a:srgbClr val="0070C0"/>
                </a:solidFill>
                <a:effectLst/>
                <a:latin typeface="Times New Roman" panose="02020603050405020304" pitchFamily="18" charset="0"/>
                <a:ea typeface="Times New Roman" panose="02020603050405020304" pitchFamily="18" charset="0"/>
                <a:cs typeface="Angsana New" panose="02020603050405020304" pitchFamily="18" charset="-34"/>
              </a:rPr>
              <a:t>Compute</a:t>
            </a:r>
            <a:r>
              <a:rPr lang="en-US" sz="3200" dirty="0">
                <a:solidFill>
                  <a:srgbClr val="0070C0"/>
                </a:solidFill>
                <a:effectLst/>
                <a:latin typeface="Times New Roman" panose="02020603050405020304" pitchFamily="18" charset="0"/>
                <a:ea typeface="Times New Roman" panose="02020603050405020304" pitchFamily="18" charset="0"/>
                <a:cs typeface="Angsana New" panose="02020603050405020304" pitchFamily="18" charset="-34"/>
              </a:rPr>
              <a:t> the baud error and comment on whether there will be any communication errors. Standard Baud rates are 300, 600, 1200, 2400, 4800, 9600, 14400, 19200, 38400, 57600, 115200, 230400, ... bps.</a:t>
            </a:r>
            <a:endParaRPr lang="en-US" sz="5400" dirty="0">
              <a:solidFill>
                <a:srgbClr val="0070C0"/>
              </a:solidFill>
            </a:endParaRPr>
          </a:p>
        </p:txBody>
      </p:sp>
    </p:spTree>
    <p:extLst>
      <p:ext uri="{BB962C8B-B14F-4D97-AF65-F5344CB8AC3E}">
        <p14:creationId xmlns:p14="http://schemas.microsoft.com/office/powerpoint/2010/main" val="16384446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E243D-75AE-42B3-8EDA-ED7023A593CD}"/>
              </a:ext>
            </a:extLst>
          </p:cNvPr>
          <p:cNvSpPr>
            <a:spLocks noGrp="1"/>
          </p:cNvSpPr>
          <p:nvPr>
            <p:ph type="title"/>
          </p:nvPr>
        </p:nvSpPr>
        <p:spPr>
          <a:xfrm>
            <a:off x="1753974" y="471378"/>
            <a:ext cx="9962147" cy="733202"/>
          </a:xfrm>
        </p:spPr>
        <p:txBody>
          <a:bodyPr>
            <a:noAutofit/>
          </a:bodyPr>
          <a:lstStyle/>
          <a:p>
            <a:r>
              <a:rPr lang="en-US" sz="6000" b="1" dirty="0">
                <a:solidFill>
                  <a:srgbClr val="002060"/>
                </a:solidFill>
              </a:rPr>
              <a:t>USART- Arduino Libraries</a:t>
            </a:r>
          </a:p>
        </p:txBody>
      </p:sp>
      <p:sp>
        <p:nvSpPr>
          <p:cNvPr id="3" name="Content Placeholder 2">
            <a:extLst>
              <a:ext uri="{FF2B5EF4-FFF2-40B4-BE49-F238E27FC236}">
                <a16:creationId xmlns:a16="http://schemas.microsoft.com/office/drawing/2014/main" id="{13337018-38FE-4ADC-BE79-99BE522B63C3}"/>
              </a:ext>
            </a:extLst>
          </p:cNvPr>
          <p:cNvSpPr>
            <a:spLocks noGrp="1"/>
          </p:cNvSpPr>
          <p:nvPr>
            <p:ph idx="1"/>
          </p:nvPr>
        </p:nvSpPr>
        <p:spPr>
          <a:xfrm>
            <a:off x="236693" y="1204580"/>
            <a:ext cx="15956500" cy="6715054"/>
          </a:xfrm>
        </p:spPr>
        <p:txBody>
          <a:bodyPr>
            <a:noAutofit/>
          </a:bodyPr>
          <a:lstStyle/>
          <a:p>
            <a:pPr>
              <a:lnSpc>
                <a:spcPct val="100000"/>
              </a:lnSpc>
              <a:spcBef>
                <a:spcPts val="0"/>
              </a:spcBef>
            </a:pPr>
            <a:r>
              <a:rPr lang="en-US" sz="4000" dirty="0"/>
              <a:t>USART functions can be used with </a:t>
            </a:r>
            <a:r>
              <a:rPr lang="en-US" sz="4000" b="1" dirty="0"/>
              <a:t>Serial Monitor </a:t>
            </a:r>
            <a:r>
              <a:rPr lang="en-US" sz="4000" dirty="0"/>
              <a:t>of the Arduino.</a:t>
            </a:r>
          </a:p>
          <a:p>
            <a:pPr marL="0" indent="0">
              <a:lnSpc>
                <a:spcPct val="100000"/>
              </a:lnSpc>
              <a:spcBef>
                <a:spcPts val="0"/>
              </a:spcBef>
              <a:buNone/>
            </a:pPr>
            <a:r>
              <a:rPr lang="en-US" sz="4000" dirty="0"/>
              <a:t>1. </a:t>
            </a:r>
            <a:r>
              <a:rPr lang="en-US" sz="4000" b="1" dirty="0" err="1">
                <a:solidFill>
                  <a:srgbClr val="FF0000"/>
                </a:solidFill>
              </a:rPr>
              <a:t>serial.begin</a:t>
            </a:r>
            <a:r>
              <a:rPr lang="en-US" sz="4000" b="1" dirty="0">
                <a:solidFill>
                  <a:srgbClr val="FF0000"/>
                </a:solidFill>
              </a:rPr>
              <a:t>(baud) </a:t>
            </a:r>
            <a:r>
              <a:rPr lang="en-US" sz="4000" dirty="0"/>
              <a:t>– to enable input/output to serial monitor with baud speed or rate in bps. </a:t>
            </a:r>
            <a:r>
              <a:rPr lang="en-US" sz="4000" dirty="0">
                <a:solidFill>
                  <a:srgbClr val="FF0000"/>
                </a:solidFill>
              </a:rPr>
              <a:t>Must be written in setup()</a:t>
            </a:r>
            <a:r>
              <a:rPr lang="en-US" sz="4000" dirty="0"/>
              <a:t>.</a:t>
            </a:r>
          </a:p>
          <a:p>
            <a:pPr marL="0" indent="0">
              <a:lnSpc>
                <a:spcPct val="100000"/>
              </a:lnSpc>
              <a:spcBef>
                <a:spcPts val="0"/>
              </a:spcBef>
              <a:buNone/>
            </a:pPr>
            <a:r>
              <a:rPr lang="en-US" sz="4000" dirty="0"/>
              <a:t>2. </a:t>
            </a:r>
            <a:r>
              <a:rPr lang="en-US" sz="4000" b="1" dirty="0" err="1"/>
              <a:t>serial.available</a:t>
            </a:r>
            <a:r>
              <a:rPr lang="en-US" sz="4000" b="1" dirty="0"/>
              <a:t>() </a:t>
            </a:r>
            <a:r>
              <a:rPr lang="en-US" sz="4000" dirty="0"/>
              <a:t>– Get the number of bytes (characters) available for reading from the serial port.</a:t>
            </a:r>
          </a:p>
          <a:p>
            <a:pPr marL="0" indent="0">
              <a:lnSpc>
                <a:spcPct val="100000"/>
              </a:lnSpc>
              <a:spcBef>
                <a:spcPts val="0"/>
              </a:spcBef>
              <a:buNone/>
            </a:pPr>
            <a:r>
              <a:rPr lang="en-US" sz="4000" dirty="0"/>
              <a:t>3. </a:t>
            </a:r>
            <a:r>
              <a:rPr lang="en-US" sz="4000" b="1" dirty="0" err="1">
                <a:solidFill>
                  <a:srgbClr val="00B050"/>
                </a:solidFill>
              </a:rPr>
              <a:t>serial.println</a:t>
            </a:r>
            <a:r>
              <a:rPr lang="en-US" sz="4000" b="1" dirty="0">
                <a:solidFill>
                  <a:srgbClr val="00B050"/>
                </a:solidFill>
              </a:rPr>
              <a:t>(</a:t>
            </a:r>
            <a:r>
              <a:rPr lang="en-US" sz="4000" b="1" dirty="0" err="1">
                <a:solidFill>
                  <a:srgbClr val="00B050"/>
                </a:solidFill>
              </a:rPr>
              <a:t>val</a:t>
            </a:r>
            <a:r>
              <a:rPr lang="en-US" sz="4000" b="1" dirty="0">
                <a:solidFill>
                  <a:srgbClr val="00B050"/>
                </a:solidFill>
              </a:rPr>
              <a:t>)</a:t>
            </a:r>
            <a:r>
              <a:rPr lang="en-US" sz="4000" b="1" dirty="0"/>
              <a:t> </a:t>
            </a:r>
            <a:r>
              <a:rPr lang="en-US" sz="4000" dirty="0"/>
              <a:t>– to display </a:t>
            </a:r>
            <a:r>
              <a:rPr lang="en-US" sz="4000" b="1" dirty="0" err="1">
                <a:solidFill>
                  <a:srgbClr val="00B050"/>
                </a:solidFill>
              </a:rPr>
              <a:t>val</a:t>
            </a:r>
            <a:r>
              <a:rPr lang="en-US" sz="4000" dirty="0"/>
              <a:t> value to serial monitor </a:t>
            </a:r>
            <a:r>
              <a:rPr lang="en-US" sz="4000" dirty="0">
                <a:solidFill>
                  <a:srgbClr val="00B050"/>
                </a:solidFill>
              </a:rPr>
              <a:t>with </a:t>
            </a:r>
            <a:r>
              <a:rPr lang="en-US" sz="4000" b="1" dirty="0">
                <a:solidFill>
                  <a:srgbClr val="00B050"/>
                </a:solidFill>
              </a:rPr>
              <a:t>newline</a:t>
            </a:r>
            <a:r>
              <a:rPr lang="en-US" sz="4000" dirty="0"/>
              <a:t> added.</a:t>
            </a:r>
          </a:p>
          <a:p>
            <a:pPr marL="0" indent="0">
              <a:lnSpc>
                <a:spcPct val="100000"/>
              </a:lnSpc>
              <a:spcBef>
                <a:spcPts val="0"/>
              </a:spcBef>
              <a:buNone/>
            </a:pPr>
            <a:r>
              <a:rPr lang="en-US" sz="4000" dirty="0"/>
              <a:t>4. </a:t>
            </a:r>
            <a:r>
              <a:rPr lang="en-US" sz="4000" b="1" dirty="0" err="1">
                <a:solidFill>
                  <a:srgbClr val="0070C0"/>
                </a:solidFill>
              </a:rPr>
              <a:t>serial.print</a:t>
            </a:r>
            <a:r>
              <a:rPr lang="en-US" sz="4000" b="1" dirty="0">
                <a:solidFill>
                  <a:srgbClr val="0070C0"/>
                </a:solidFill>
              </a:rPr>
              <a:t>(</a:t>
            </a:r>
            <a:r>
              <a:rPr lang="en-US" sz="4000" b="1" dirty="0" err="1">
                <a:solidFill>
                  <a:srgbClr val="0070C0"/>
                </a:solidFill>
              </a:rPr>
              <a:t>val</a:t>
            </a:r>
            <a:r>
              <a:rPr lang="en-US" sz="4000" b="1" dirty="0">
                <a:solidFill>
                  <a:srgbClr val="0070C0"/>
                </a:solidFill>
              </a:rPr>
              <a:t>)</a:t>
            </a:r>
            <a:r>
              <a:rPr lang="en-US" sz="4000" b="1" dirty="0"/>
              <a:t> </a:t>
            </a:r>
            <a:r>
              <a:rPr lang="en-US" sz="4000" dirty="0"/>
              <a:t>– as above but </a:t>
            </a:r>
            <a:r>
              <a:rPr lang="en-US" sz="4000" dirty="0">
                <a:solidFill>
                  <a:srgbClr val="0070C0"/>
                </a:solidFill>
              </a:rPr>
              <a:t>without newline</a:t>
            </a:r>
            <a:r>
              <a:rPr lang="en-US" sz="4000" dirty="0"/>
              <a:t>. </a:t>
            </a:r>
          </a:p>
          <a:p>
            <a:pPr marL="0" indent="0">
              <a:lnSpc>
                <a:spcPct val="100000"/>
              </a:lnSpc>
              <a:spcBef>
                <a:spcPts val="0"/>
              </a:spcBef>
              <a:buNone/>
            </a:pPr>
            <a:r>
              <a:rPr lang="en-US" sz="4000" dirty="0"/>
              <a:t>5. </a:t>
            </a:r>
            <a:r>
              <a:rPr lang="en-US" sz="4000" b="1" dirty="0" err="1">
                <a:solidFill>
                  <a:srgbClr val="FF0000"/>
                </a:solidFill>
              </a:rPr>
              <a:t>serial.print</a:t>
            </a:r>
            <a:r>
              <a:rPr lang="en-US" sz="4000" b="1" dirty="0">
                <a:solidFill>
                  <a:srgbClr val="FF0000"/>
                </a:solidFill>
              </a:rPr>
              <a:t>(“Error”) </a:t>
            </a:r>
            <a:r>
              <a:rPr lang="en-US" sz="4000" dirty="0"/>
              <a:t>– display message “Error” without </a:t>
            </a:r>
            <a:r>
              <a:rPr lang="en-US" sz="4000" dirty="0">
                <a:solidFill>
                  <a:srgbClr val="FF0000"/>
                </a:solidFill>
              </a:rPr>
              <a:t>newline</a:t>
            </a:r>
            <a:r>
              <a:rPr lang="en-US" sz="4000" dirty="0"/>
              <a:t>.</a:t>
            </a:r>
          </a:p>
          <a:p>
            <a:pPr marL="0" indent="0">
              <a:lnSpc>
                <a:spcPct val="100000"/>
              </a:lnSpc>
              <a:spcBef>
                <a:spcPts val="0"/>
              </a:spcBef>
              <a:buNone/>
            </a:pPr>
            <a:r>
              <a:rPr lang="en-US" sz="4000" dirty="0"/>
              <a:t>6. </a:t>
            </a:r>
            <a:r>
              <a:rPr lang="en-US" sz="4000" b="1" dirty="0" err="1"/>
              <a:t>serial.read</a:t>
            </a:r>
            <a:r>
              <a:rPr lang="en-US" sz="4000" b="1" dirty="0"/>
              <a:t>() </a:t>
            </a:r>
            <a:r>
              <a:rPr lang="en-US" sz="4000" dirty="0"/>
              <a:t>– Reads incoming serial data. </a:t>
            </a:r>
          </a:p>
          <a:p>
            <a:pPr>
              <a:lnSpc>
                <a:spcPct val="100000"/>
              </a:lnSpc>
              <a:spcBef>
                <a:spcPts val="0"/>
              </a:spcBef>
            </a:pPr>
            <a:r>
              <a:rPr lang="en-US" sz="4000" dirty="0"/>
              <a:t>For other functions – please refer to arduino.cc.</a:t>
            </a:r>
          </a:p>
          <a:p>
            <a:pPr>
              <a:lnSpc>
                <a:spcPct val="100000"/>
              </a:lnSpc>
              <a:spcBef>
                <a:spcPts val="0"/>
              </a:spcBef>
            </a:pPr>
            <a:endParaRPr lang="en-US" sz="4000" dirty="0"/>
          </a:p>
        </p:txBody>
      </p:sp>
      <p:sp>
        <p:nvSpPr>
          <p:cNvPr id="4" name="Date Placeholder 3"/>
          <p:cNvSpPr>
            <a:spLocks noGrp="1"/>
          </p:cNvSpPr>
          <p:nvPr>
            <p:ph type="dt" sz="half" idx="10"/>
          </p:nvPr>
        </p:nvSpPr>
        <p:spPr/>
        <p:txBody>
          <a:bodyPr/>
          <a:lstStyle/>
          <a:p>
            <a:fld id="{8345A6A0-1D3E-44B9-8784-4E4928E70BD3}" type="datetime3">
              <a:rPr lang="en-US" smtClean="0"/>
              <a:t>3 December 2025</a:t>
            </a:fld>
            <a:endParaRPr lang="en-US"/>
          </a:p>
        </p:txBody>
      </p:sp>
      <p:sp>
        <p:nvSpPr>
          <p:cNvPr id="6" name="Slide Number Placeholder 5"/>
          <p:cNvSpPr>
            <a:spLocks noGrp="1"/>
          </p:cNvSpPr>
          <p:nvPr>
            <p:ph type="sldNum" sz="quarter" idx="12"/>
          </p:nvPr>
        </p:nvSpPr>
        <p:spPr/>
        <p:txBody>
          <a:bodyPr/>
          <a:lstStyle/>
          <a:p>
            <a:fld id="{90416D69-EFB9-4734-9DF5-4234A5F1A98A}" type="slidenum">
              <a:rPr lang="en-US" smtClean="0"/>
              <a:t>17</a:t>
            </a:fld>
            <a:endParaRPr lang="en-US"/>
          </a:p>
        </p:txBody>
      </p:sp>
    </p:spTree>
    <p:extLst>
      <p:ext uri="{BB962C8B-B14F-4D97-AF65-F5344CB8AC3E}">
        <p14:creationId xmlns:p14="http://schemas.microsoft.com/office/powerpoint/2010/main" val="27641363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3E243D-75AE-42B3-8EDA-ED7023A593CD}"/>
              </a:ext>
            </a:extLst>
          </p:cNvPr>
          <p:cNvSpPr>
            <a:spLocks noGrp="1"/>
          </p:cNvSpPr>
          <p:nvPr>
            <p:ph type="title"/>
          </p:nvPr>
        </p:nvSpPr>
        <p:spPr>
          <a:xfrm>
            <a:off x="1625600" y="454445"/>
            <a:ext cx="14788012" cy="733202"/>
          </a:xfrm>
        </p:spPr>
        <p:txBody>
          <a:bodyPr>
            <a:noAutofit/>
          </a:bodyPr>
          <a:lstStyle/>
          <a:p>
            <a:r>
              <a:rPr lang="en-US" sz="4800" b="1" dirty="0">
                <a:solidFill>
                  <a:srgbClr val="002060"/>
                </a:solidFill>
              </a:rPr>
              <a:t>USART: Camera shutter speed example</a:t>
            </a:r>
          </a:p>
        </p:txBody>
      </p:sp>
      <p:sp>
        <p:nvSpPr>
          <p:cNvPr id="3" name="Content Placeholder 2">
            <a:extLst>
              <a:ext uri="{FF2B5EF4-FFF2-40B4-BE49-F238E27FC236}">
                <a16:creationId xmlns:a16="http://schemas.microsoft.com/office/drawing/2014/main" id="{13337018-38FE-4ADC-BE79-99BE522B63C3}"/>
              </a:ext>
            </a:extLst>
          </p:cNvPr>
          <p:cNvSpPr>
            <a:spLocks noGrp="1"/>
          </p:cNvSpPr>
          <p:nvPr>
            <p:ph idx="1"/>
          </p:nvPr>
        </p:nvSpPr>
        <p:spPr>
          <a:xfrm>
            <a:off x="254000" y="1102982"/>
            <a:ext cx="6998678" cy="3509924"/>
          </a:xfrm>
        </p:spPr>
        <p:txBody>
          <a:bodyPr>
            <a:noAutofit/>
          </a:bodyPr>
          <a:lstStyle/>
          <a:p>
            <a:pPr marL="0">
              <a:lnSpc>
                <a:spcPct val="100000"/>
              </a:lnSpc>
              <a:spcBef>
                <a:spcPts val="0"/>
              </a:spcBef>
            </a:pPr>
            <a:r>
              <a:rPr lang="en-US" sz="2800" dirty="0"/>
              <a:t>This example detects how long a camera shutter is open by using a change interrupt. At the first transition, it gets the time and at the second one, it gets the new time. Then the main loop shows the difference.</a:t>
            </a:r>
          </a:p>
          <a:p>
            <a:pPr marL="0">
              <a:lnSpc>
                <a:spcPct val="100000"/>
              </a:lnSpc>
              <a:spcBef>
                <a:spcPts val="0"/>
              </a:spcBef>
            </a:pPr>
            <a:r>
              <a:rPr lang="en-US" sz="2800" dirty="0"/>
              <a:t>This is tested down to a 50 µs pulse, but it could probably go a bit shorter, as it takes around 5 µs to enter and leave an ISR.</a:t>
            </a:r>
          </a:p>
          <a:p>
            <a:pPr lvl="2">
              <a:lnSpc>
                <a:spcPct val="100000"/>
              </a:lnSpc>
              <a:spcBef>
                <a:spcPts val="0"/>
              </a:spcBef>
            </a:pPr>
            <a:endParaRPr lang="en-US" sz="1800" dirty="0">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8345A6A0-1D3E-44B9-8784-4E4928E70BD3}" type="datetime3">
              <a:rPr lang="en-US" smtClean="0"/>
              <a:t>3 December 2025</a:t>
            </a:fld>
            <a:endParaRPr lang="en-US"/>
          </a:p>
        </p:txBody>
      </p:sp>
      <p:sp>
        <p:nvSpPr>
          <p:cNvPr id="6" name="Slide Number Placeholder 5"/>
          <p:cNvSpPr>
            <a:spLocks noGrp="1"/>
          </p:cNvSpPr>
          <p:nvPr>
            <p:ph type="sldNum" sz="quarter" idx="12"/>
          </p:nvPr>
        </p:nvSpPr>
        <p:spPr/>
        <p:txBody>
          <a:bodyPr/>
          <a:lstStyle/>
          <a:p>
            <a:fld id="{90416D69-EFB9-4734-9DF5-4234A5F1A98A}" type="slidenum">
              <a:rPr lang="en-US" smtClean="0"/>
              <a:t>18</a:t>
            </a:fld>
            <a:endParaRPr lang="en-US"/>
          </a:p>
        </p:txBody>
      </p:sp>
      <p:sp>
        <p:nvSpPr>
          <p:cNvPr id="7" name="TextBox 6"/>
          <p:cNvSpPr txBox="1"/>
          <p:nvPr/>
        </p:nvSpPr>
        <p:spPr>
          <a:xfrm>
            <a:off x="254000" y="4612906"/>
            <a:ext cx="6771824" cy="3323987"/>
          </a:xfrm>
          <a:prstGeom prst="rect">
            <a:avLst/>
          </a:prstGeom>
          <a:noFill/>
          <a:ln>
            <a:solidFill>
              <a:srgbClr val="00B050"/>
            </a:solidFill>
          </a:ln>
        </p:spPr>
        <p:txBody>
          <a:bodyPr wrap="square" rtlCol="0">
            <a:spAutoFit/>
          </a:bodyPr>
          <a:lstStyle/>
          <a:p>
            <a:pPr marL="182880"/>
            <a:r>
              <a:rPr lang="en-US" sz="2800" dirty="0">
                <a:latin typeface="+mj-lt"/>
                <a:cs typeface="Arial" panose="020B0604020202020204" pitchFamily="34" charset="0"/>
              </a:rPr>
              <a:t>volatile </a:t>
            </a:r>
            <a:r>
              <a:rPr lang="en-US" sz="2800" dirty="0" err="1">
                <a:latin typeface="+mj-lt"/>
                <a:cs typeface="Arial" panose="020B0604020202020204" pitchFamily="34" charset="0"/>
              </a:rPr>
              <a:t>boolean</a:t>
            </a:r>
            <a:r>
              <a:rPr lang="en-US" sz="2800" dirty="0">
                <a:latin typeface="+mj-lt"/>
                <a:cs typeface="Arial" panose="020B0604020202020204" pitchFamily="34" charset="0"/>
              </a:rPr>
              <a:t> started;</a:t>
            </a:r>
          </a:p>
          <a:p>
            <a:pPr marL="182880"/>
            <a:r>
              <a:rPr lang="en-US" sz="2800" dirty="0">
                <a:latin typeface="+mj-lt"/>
                <a:cs typeface="Arial" panose="020B0604020202020204" pitchFamily="34" charset="0"/>
              </a:rPr>
              <a:t>volatile unsigned long </a:t>
            </a:r>
            <a:r>
              <a:rPr lang="en-US" sz="2800" dirty="0" err="1">
                <a:latin typeface="+mj-lt"/>
                <a:cs typeface="Arial" panose="020B0604020202020204" pitchFamily="34" charset="0"/>
              </a:rPr>
              <a:t>startTime</a:t>
            </a:r>
            <a:r>
              <a:rPr lang="en-US" sz="2800" dirty="0">
                <a:latin typeface="+mj-lt"/>
                <a:cs typeface="Arial" panose="020B0604020202020204" pitchFamily="34" charset="0"/>
              </a:rPr>
              <a:t>;</a:t>
            </a:r>
          </a:p>
          <a:p>
            <a:pPr marL="182880"/>
            <a:r>
              <a:rPr lang="en-US" sz="2800" dirty="0">
                <a:latin typeface="+mj-lt"/>
                <a:cs typeface="Arial" panose="020B0604020202020204" pitchFamily="34" charset="0"/>
              </a:rPr>
              <a:t>volatile unsigned long </a:t>
            </a:r>
            <a:r>
              <a:rPr lang="en-US" sz="2800" dirty="0" err="1">
                <a:latin typeface="+mj-lt"/>
                <a:cs typeface="Arial" panose="020B0604020202020204" pitchFamily="34" charset="0"/>
              </a:rPr>
              <a:t>endTime</a:t>
            </a:r>
            <a:r>
              <a:rPr lang="en-US" sz="2800" dirty="0">
                <a:latin typeface="+mj-lt"/>
                <a:cs typeface="Arial" panose="020B0604020202020204" pitchFamily="34" charset="0"/>
              </a:rPr>
              <a:t>;</a:t>
            </a:r>
          </a:p>
          <a:p>
            <a:pPr marL="182880"/>
            <a:endParaRPr lang="en-US" sz="1400" dirty="0">
              <a:latin typeface="+mj-lt"/>
              <a:cs typeface="Arial" panose="020B0604020202020204" pitchFamily="34" charset="0"/>
            </a:endParaRPr>
          </a:p>
          <a:p>
            <a:pPr marL="182880"/>
            <a:r>
              <a:rPr lang="en-US" sz="2800" dirty="0">
                <a:latin typeface="+mj-lt"/>
                <a:cs typeface="Arial" panose="020B0604020202020204" pitchFamily="34" charset="0"/>
              </a:rPr>
              <a:t>// interrupt service routine</a:t>
            </a:r>
          </a:p>
          <a:p>
            <a:pPr marL="182880"/>
            <a:r>
              <a:rPr lang="en-US" sz="2800" dirty="0">
                <a:latin typeface="+mj-lt"/>
              </a:rPr>
              <a:t>void shutter () {</a:t>
            </a:r>
          </a:p>
          <a:p>
            <a:pPr marL="182880"/>
            <a:r>
              <a:rPr lang="en-US" sz="2800" dirty="0">
                <a:latin typeface="+mj-lt"/>
              </a:rPr>
              <a:t>  if (started)  </a:t>
            </a:r>
          </a:p>
          <a:p>
            <a:pPr marL="182880"/>
            <a:r>
              <a:rPr lang="en-US" sz="2800" dirty="0">
                <a:latin typeface="+mj-lt"/>
              </a:rPr>
              <a:t>    </a:t>
            </a:r>
            <a:r>
              <a:rPr lang="en-US" sz="2800" dirty="0" err="1">
                <a:latin typeface="+mj-lt"/>
              </a:rPr>
              <a:t>endTime</a:t>
            </a:r>
            <a:r>
              <a:rPr lang="en-US" sz="2800" dirty="0">
                <a:latin typeface="+mj-lt"/>
              </a:rPr>
              <a:t> = micros ();</a:t>
            </a:r>
          </a:p>
        </p:txBody>
      </p:sp>
      <p:sp>
        <p:nvSpPr>
          <p:cNvPr id="8" name="Content Placeholder 2">
            <a:extLst>
              <a:ext uri="{FF2B5EF4-FFF2-40B4-BE49-F238E27FC236}">
                <a16:creationId xmlns:a16="http://schemas.microsoft.com/office/drawing/2014/main" id="{13337018-38FE-4ADC-BE79-99BE522B63C3}"/>
              </a:ext>
            </a:extLst>
          </p:cNvPr>
          <p:cNvSpPr txBox="1">
            <a:spLocks/>
          </p:cNvSpPr>
          <p:nvPr/>
        </p:nvSpPr>
        <p:spPr>
          <a:xfrm>
            <a:off x="7382933" y="1204580"/>
            <a:ext cx="8946013" cy="6715054"/>
          </a:xfrm>
          <a:prstGeom prst="rect">
            <a:avLst/>
          </a:prstGeom>
          <a:ln>
            <a:solidFill>
              <a:srgbClr val="00B050"/>
            </a:solidFill>
          </a:ln>
        </p:spPr>
        <p:txBody>
          <a:bodyPr vert="horz" lIns="91440" tIns="45720" rIns="91440" bIns="45720" rtlCol="0">
            <a:noAutofit/>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marL="0" indent="0">
              <a:lnSpc>
                <a:spcPct val="100000"/>
              </a:lnSpc>
              <a:spcBef>
                <a:spcPts val="0"/>
              </a:spcBef>
              <a:buNone/>
            </a:pPr>
            <a:r>
              <a:rPr lang="en-US" sz="2800" dirty="0">
                <a:latin typeface="+mj-lt"/>
              </a:rPr>
              <a:t> else </a:t>
            </a:r>
          </a:p>
          <a:p>
            <a:pPr marL="0" indent="0">
              <a:lnSpc>
                <a:spcPct val="100000"/>
              </a:lnSpc>
              <a:spcBef>
                <a:spcPts val="0"/>
              </a:spcBef>
              <a:buNone/>
            </a:pPr>
            <a:r>
              <a:rPr lang="en-US" sz="2800" dirty="0">
                <a:latin typeface="+mj-lt"/>
              </a:rPr>
              <a:t>    </a:t>
            </a:r>
            <a:r>
              <a:rPr lang="en-US" sz="2800" dirty="0" err="1">
                <a:latin typeface="+mj-lt"/>
              </a:rPr>
              <a:t>startTime</a:t>
            </a:r>
            <a:r>
              <a:rPr lang="en-US" sz="2800" dirty="0">
                <a:latin typeface="+mj-lt"/>
              </a:rPr>
              <a:t> = micros ();</a:t>
            </a:r>
          </a:p>
          <a:p>
            <a:pPr marL="0" indent="0">
              <a:lnSpc>
                <a:spcPct val="100000"/>
              </a:lnSpc>
              <a:spcBef>
                <a:spcPts val="0"/>
              </a:spcBef>
              <a:buNone/>
            </a:pPr>
            <a:r>
              <a:rPr lang="en-US" sz="2800" dirty="0">
                <a:latin typeface="+mj-lt"/>
              </a:rPr>
              <a:t>started = !started; } // end of the shutter</a:t>
            </a:r>
          </a:p>
          <a:p>
            <a:pPr marL="0" indent="0">
              <a:lnSpc>
                <a:spcPct val="100000"/>
              </a:lnSpc>
              <a:spcBef>
                <a:spcPts val="0"/>
              </a:spcBef>
              <a:buFont typeface="Arial" panose="020B0604020202020204" pitchFamily="34" charset="0"/>
              <a:buNone/>
            </a:pPr>
            <a:r>
              <a:rPr lang="en-US" sz="2800" dirty="0">
                <a:latin typeface="+mj-lt"/>
              </a:rPr>
              <a:t>void setup () {</a:t>
            </a:r>
          </a:p>
          <a:p>
            <a:pPr marL="0" indent="0">
              <a:lnSpc>
                <a:spcPct val="100000"/>
              </a:lnSpc>
              <a:spcBef>
                <a:spcPts val="0"/>
              </a:spcBef>
              <a:buFont typeface="Arial" panose="020B0604020202020204" pitchFamily="34" charset="0"/>
              <a:buNone/>
            </a:pPr>
            <a:r>
              <a:rPr lang="en-US" sz="2800" dirty="0">
                <a:latin typeface="+mj-lt"/>
              </a:rPr>
              <a:t>  </a:t>
            </a:r>
            <a:r>
              <a:rPr lang="en-US" sz="2800" dirty="0" err="1">
                <a:latin typeface="+mj-lt"/>
              </a:rPr>
              <a:t>Serial.begin</a:t>
            </a:r>
            <a:r>
              <a:rPr lang="en-US" sz="2800" dirty="0">
                <a:latin typeface="+mj-lt"/>
              </a:rPr>
              <a:t> (115200);</a:t>
            </a:r>
          </a:p>
          <a:p>
            <a:pPr marL="0" indent="0">
              <a:lnSpc>
                <a:spcPct val="100000"/>
              </a:lnSpc>
              <a:spcBef>
                <a:spcPts val="0"/>
              </a:spcBef>
              <a:buFont typeface="Arial" panose="020B0604020202020204" pitchFamily="34" charset="0"/>
              <a:buNone/>
            </a:pPr>
            <a:r>
              <a:rPr lang="en-US" sz="2800" dirty="0">
                <a:latin typeface="+mj-lt"/>
              </a:rPr>
              <a:t>  </a:t>
            </a:r>
            <a:r>
              <a:rPr lang="en-US" sz="2800" dirty="0" err="1">
                <a:latin typeface="+mj-lt"/>
              </a:rPr>
              <a:t>Serial.println</a:t>
            </a:r>
            <a:r>
              <a:rPr lang="en-US" sz="2800" dirty="0">
                <a:latin typeface="+mj-lt"/>
              </a:rPr>
              <a:t> ("Shutter test ...");</a:t>
            </a:r>
          </a:p>
          <a:p>
            <a:pPr marL="0" indent="0">
              <a:lnSpc>
                <a:spcPct val="100000"/>
              </a:lnSpc>
              <a:spcBef>
                <a:spcPts val="0"/>
              </a:spcBef>
              <a:buFont typeface="Arial" panose="020B0604020202020204" pitchFamily="34" charset="0"/>
              <a:buNone/>
            </a:pPr>
            <a:r>
              <a:rPr lang="en-US" sz="2800" dirty="0">
                <a:latin typeface="+mj-lt"/>
              </a:rPr>
              <a:t>  </a:t>
            </a:r>
            <a:r>
              <a:rPr lang="en-US" sz="2800" dirty="0" err="1">
                <a:latin typeface="+mj-lt"/>
              </a:rPr>
              <a:t>attachInterrupt</a:t>
            </a:r>
            <a:r>
              <a:rPr lang="en-US" sz="2800" dirty="0">
                <a:latin typeface="+mj-lt"/>
              </a:rPr>
              <a:t> (</a:t>
            </a:r>
            <a:r>
              <a:rPr lang="en-US" sz="2800" dirty="0" err="1">
                <a:latin typeface="+mj-lt"/>
              </a:rPr>
              <a:t>digitalPinToInterrupt</a:t>
            </a:r>
            <a:r>
              <a:rPr lang="en-US" sz="2800" dirty="0">
                <a:latin typeface="+mj-lt"/>
              </a:rPr>
              <a:t> (2), shutter, CHANGE);</a:t>
            </a:r>
          </a:p>
          <a:p>
            <a:pPr marL="0" indent="0">
              <a:lnSpc>
                <a:spcPct val="100000"/>
              </a:lnSpc>
              <a:spcBef>
                <a:spcPts val="0"/>
              </a:spcBef>
              <a:buFont typeface="Arial" panose="020B0604020202020204" pitchFamily="34" charset="0"/>
              <a:buNone/>
            </a:pPr>
            <a:r>
              <a:rPr lang="en-US" sz="2800" dirty="0">
                <a:latin typeface="+mj-lt"/>
              </a:rPr>
              <a:t>}  // end of the setup</a:t>
            </a:r>
          </a:p>
          <a:p>
            <a:pPr marL="0" indent="0">
              <a:lnSpc>
                <a:spcPct val="100000"/>
              </a:lnSpc>
              <a:spcBef>
                <a:spcPts val="0"/>
              </a:spcBef>
              <a:buFont typeface="Arial" panose="020B0604020202020204" pitchFamily="34" charset="0"/>
              <a:buNone/>
            </a:pPr>
            <a:endParaRPr lang="en-US" sz="1800" dirty="0">
              <a:latin typeface="+mj-lt"/>
            </a:endParaRPr>
          </a:p>
          <a:p>
            <a:pPr marL="0" indent="0">
              <a:lnSpc>
                <a:spcPct val="100000"/>
              </a:lnSpc>
              <a:spcBef>
                <a:spcPts val="0"/>
              </a:spcBef>
              <a:buFont typeface="Arial" panose="020B0604020202020204" pitchFamily="34" charset="0"/>
              <a:buNone/>
            </a:pPr>
            <a:r>
              <a:rPr lang="en-US" sz="2800" dirty="0">
                <a:latin typeface="+mj-lt"/>
              </a:rPr>
              <a:t>void loop () {</a:t>
            </a:r>
          </a:p>
          <a:p>
            <a:pPr marL="0" indent="0">
              <a:lnSpc>
                <a:spcPct val="100000"/>
              </a:lnSpc>
              <a:spcBef>
                <a:spcPts val="0"/>
              </a:spcBef>
              <a:buFont typeface="Arial" panose="020B0604020202020204" pitchFamily="34" charset="0"/>
              <a:buNone/>
            </a:pPr>
            <a:r>
              <a:rPr lang="en-US" sz="2800" dirty="0">
                <a:latin typeface="+mj-lt"/>
              </a:rPr>
              <a:t>  if (</a:t>
            </a:r>
            <a:r>
              <a:rPr lang="en-US" sz="2800" dirty="0" err="1">
                <a:latin typeface="+mj-lt"/>
              </a:rPr>
              <a:t>endTime</a:t>
            </a:r>
            <a:r>
              <a:rPr lang="en-US" sz="2800" dirty="0">
                <a:latin typeface="+mj-lt"/>
              </a:rPr>
              <a:t>) {</a:t>
            </a:r>
          </a:p>
          <a:p>
            <a:pPr marL="0" indent="0">
              <a:lnSpc>
                <a:spcPct val="100000"/>
              </a:lnSpc>
              <a:spcBef>
                <a:spcPts val="0"/>
              </a:spcBef>
              <a:buFont typeface="Arial" panose="020B0604020202020204" pitchFamily="34" charset="0"/>
              <a:buNone/>
            </a:pPr>
            <a:r>
              <a:rPr lang="en-US" sz="2800" dirty="0">
                <a:latin typeface="+mj-lt"/>
              </a:rPr>
              <a:t>    </a:t>
            </a:r>
            <a:r>
              <a:rPr lang="en-US" sz="2800" dirty="0" err="1">
                <a:latin typeface="+mj-lt"/>
              </a:rPr>
              <a:t>Serial.print</a:t>
            </a:r>
            <a:r>
              <a:rPr lang="en-US" sz="2800" dirty="0">
                <a:latin typeface="+mj-lt"/>
              </a:rPr>
              <a:t> ("Shutter open for ");</a:t>
            </a:r>
          </a:p>
          <a:p>
            <a:pPr marL="0" indent="0">
              <a:lnSpc>
                <a:spcPct val="100000"/>
              </a:lnSpc>
              <a:spcBef>
                <a:spcPts val="0"/>
              </a:spcBef>
              <a:buFont typeface="Arial" panose="020B0604020202020204" pitchFamily="34" charset="0"/>
              <a:buNone/>
            </a:pPr>
            <a:r>
              <a:rPr lang="en-US" sz="2800" dirty="0">
                <a:latin typeface="+mj-lt"/>
              </a:rPr>
              <a:t>    </a:t>
            </a:r>
            <a:r>
              <a:rPr lang="en-US" sz="2800" dirty="0" err="1">
                <a:latin typeface="+mj-lt"/>
              </a:rPr>
              <a:t>Serial.print</a:t>
            </a:r>
            <a:r>
              <a:rPr lang="en-US" sz="2800" dirty="0">
                <a:latin typeface="+mj-lt"/>
              </a:rPr>
              <a:t> (</a:t>
            </a:r>
            <a:r>
              <a:rPr lang="en-US" sz="2800" dirty="0" err="1">
                <a:latin typeface="+mj-lt"/>
              </a:rPr>
              <a:t>endTime</a:t>
            </a:r>
            <a:r>
              <a:rPr lang="en-US" sz="2800" dirty="0">
                <a:latin typeface="+mj-lt"/>
              </a:rPr>
              <a:t> - </a:t>
            </a:r>
            <a:r>
              <a:rPr lang="en-US" sz="2800" dirty="0" err="1">
                <a:latin typeface="+mj-lt"/>
              </a:rPr>
              <a:t>startTime</a:t>
            </a:r>
            <a:r>
              <a:rPr lang="en-US" sz="2800" dirty="0">
                <a:latin typeface="+mj-lt"/>
              </a:rPr>
              <a:t>);</a:t>
            </a:r>
          </a:p>
          <a:p>
            <a:pPr marL="0" indent="0">
              <a:lnSpc>
                <a:spcPct val="100000"/>
              </a:lnSpc>
              <a:spcBef>
                <a:spcPts val="0"/>
              </a:spcBef>
              <a:buFont typeface="Arial" panose="020B0604020202020204" pitchFamily="34" charset="0"/>
              <a:buNone/>
            </a:pPr>
            <a:r>
              <a:rPr lang="en-US" sz="2800" dirty="0">
                <a:latin typeface="+mj-lt"/>
              </a:rPr>
              <a:t>    </a:t>
            </a:r>
            <a:r>
              <a:rPr lang="en-US" sz="2800" dirty="0" err="1">
                <a:latin typeface="+mj-lt"/>
              </a:rPr>
              <a:t>Serial.println</a:t>
            </a:r>
            <a:r>
              <a:rPr lang="en-US" sz="2800" dirty="0">
                <a:latin typeface="+mj-lt"/>
              </a:rPr>
              <a:t> (" microseconds.");</a:t>
            </a:r>
          </a:p>
          <a:p>
            <a:pPr marL="0" indent="0">
              <a:lnSpc>
                <a:spcPct val="100000"/>
              </a:lnSpc>
              <a:spcBef>
                <a:spcPts val="0"/>
              </a:spcBef>
              <a:buFont typeface="Arial" panose="020B0604020202020204" pitchFamily="34" charset="0"/>
              <a:buNone/>
            </a:pPr>
            <a:r>
              <a:rPr lang="en-US" sz="2800" dirty="0">
                <a:latin typeface="+mj-lt"/>
              </a:rPr>
              <a:t>    </a:t>
            </a:r>
            <a:r>
              <a:rPr lang="en-US" sz="2800" dirty="0" err="1">
                <a:latin typeface="+mj-lt"/>
              </a:rPr>
              <a:t>endTime</a:t>
            </a:r>
            <a:r>
              <a:rPr lang="en-US" sz="2800" dirty="0">
                <a:latin typeface="+mj-lt"/>
              </a:rPr>
              <a:t> = 0;   }  // end of if statement</a:t>
            </a:r>
          </a:p>
          <a:p>
            <a:pPr marL="0" indent="0">
              <a:lnSpc>
                <a:spcPct val="100000"/>
              </a:lnSpc>
              <a:spcBef>
                <a:spcPts val="0"/>
              </a:spcBef>
              <a:buFont typeface="Arial" panose="020B0604020202020204" pitchFamily="34" charset="0"/>
              <a:buNone/>
            </a:pPr>
            <a:r>
              <a:rPr lang="en-US" sz="2800" dirty="0">
                <a:latin typeface="+mj-lt"/>
              </a:rPr>
              <a:t>} // end of the loop</a:t>
            </a:r>
          </a:p>
        </p:txBody>
      </p:sp>
    </p:spTree>
    <p:extLst>
      <p:ext uri="{BB962C8B-B14F-4D97-AF65-F5344CB8AC3E}">
        <p14:creationId xmlns:p14="http://schemas.microsoft.com/office/powerpoint/2010/main" val="7875743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21B60-746A-4D52-8949-489056D4B4F9}"/>
              </a:ext>
            </a:extLst>
          </p:cNvPr>
          <p:cNvSpPr>
            <a:spLocks noGrp="1"/>
          </p:cNvSpPr>
          <p:nvPr>
            <p:ph type="title"/>
          </p:nvPr>
        </p:nvSpPr>
        <p:spPr>
          <a:xfrm>
            <a:off x="413715" y="631767"/>
            <a:ext cx="14000553" cy="757441"/>
          </a:xfrm>
        </p:spPr>
        <p:txBody>
          <a:bodyPr>
            <a:noAutofit/>
          </a:bodyPr>
          <a:lstStyle/>
          <a:p>
            <a:r>
              <a:rPr lang="en-US" sz="6000" b="1" dirty="0">
                <a:solidFill>
                  <a:srgbClr val="002060"/>
                </a:solidFill>
              </a:rPr>
              <a:t>Advantages and Disadvantages of USART</a:t>
            </a:r>
          </a:p>
        </p:txBody>
      </p:sp>
      <p:sp>
        <p:nvSpPr>
          <p:cNvPr id="3" name="Content Placeholder 2">
            <a:extLst>
              <a:ext uri="{FF2B5EF4-FFF2-40B4-BE49-F238E27FC236}">
                <a16:creationId xmlns:a16="http://schemas.microsoft.com/office/drawing/2014/main" id="{C1E2A13B-0FCF-4C4E-9ED8-ACC346979132}"/>
              </a:ext>
            </a:extLst>
          </p:cNvPr>
          <p:cNvSpPr>
            <a:spLocks noGrp="1"/>
          </p:cNvSpPr>
          <p:nvPr>
            <p:ph idx="1"/>
          </p:nvPr>
        </p:nvSpPr>
        <p:spPr>
          <a:xfrm>
            <a:off x="249382" y="1389208"/>
            <a:ext cx="16043563" cy="6530426"/>
          </a:xfrm>
        </p:spPr>
        <p:txBody>
          <a:bodyPr>
            <a:noAutofit/>
          </a:bodyPr>
          <a:lstStyle/>
          <a:p>
            <a:pPr>
              <a:buFont typeface="Wingdings" panose="05000000000000000000" pitchFamily="2" charset="2"/>
              <a:buChar char="q"/>
            </a:pPr>
            <a:r>
              <a:rPr lang="en-US" sz="4000" b="1" dirty="0">
                <a:solidFill>
                  <a:srgbClr val="002060"/>
                </a:solidFill>
              </a:rPr>
              <a:t> Advantages </a:t>
            </a:r>
          </a:p>
          <a:p>
            <a:r>
              <a:rPr lang="en-US" sz="4000" dirty="0"/>
              <a:t>Hardware complexity is low. </a:t>
            </a:r>
          </a:p>
          <a:p>
            <a:r>
              <a:rPr lang="en-US" sz="4000" dirty="0"/>
              <a:t>As this is one to one connection between two devices, software addressing is not required. </a:t>
            </a:r>
          </a:p>
          <a:p>
            <a:r>
              <a:rPr lang="en-US" sz="4000" dirty="0"/>
              <a:t>Due to its simplicity, it is widely used in the </a:t>
            </a:r>
            <a:r>
              <a:rPr lang="en-US" sz="4000" b="1" dirty="0">
                <a:solidFill>
                  <a:srgbClr val="0070C0"/>
                </a:solidFill>
              </a:rPr>
              <a:t>devices having 9 pin connectors</a:t>
            </a:r>
            <a:r>
              <a:rPr lang="en-US" sz="4000" dirty="0"/>
              <a:t>.</a:t>
            </a:r>
          </a:p>
          <a:p>
            <a:pPr>
              <a:buFont typeface="Wingdings" panose="05000000000000000000" pitchFamily="2" charset="2"/>
              <a:buChar char="q"/>
            </a:pPr>
            <a:r>
              <a:rPr lang="en-US" sz="4000" b="1" dirty="0">
                <a:solidFill>
                  <a:srgbClr val="002060"/>
                </a:solidFill>
              </a:rPr>
              <a:t> Disadvantages</a:t>
            </a:r>
          </a:p>
          <a:p>
            <a:pPr fontAlgn="base"/>
            <a:r>
              <a:rPr lang="en-US" sz="4000" dirty="0"/>
              <a:t>It is suitable for </a:t>
            </a:r>
            <a:r>
              <a:rPr lang="en-US" sz="4000" b="1" dirty="0">
                <a:solidFill>
                  <a:srgbClr val="FF0000"/>
                </a:solidFill>
              </a:rPr>
              <a:t>communication between only two devices</a:t>
            </a:r>
            <a:r>
              <a:rPr lang="en-US" sz="4000" dirty="0"/>
              <a:t>. </a:t>
            </a:r>
          </a:p>
          <a:p>
            <a:pPr fontAlgn="base"/>
            <a:r>
              <a:rPr lang="en-US" sz="4000" dirty="0"/>
              <a:t>It supports fixed data rate between devices wanting to communicate otherwise data will be </a:t>
            </a:r>
            <a:r>
              <a:rPr lang="en-US" sz="4000" b="1" dirty="0">
                <a:solidFill>
                  <a:srgbClr val="FF0000"/>
                </a:solidFill>
              </a:rPr>
              <a:t>garbled</a:t>
            </a:r>
            <a:r>
              <a:rPr lang="en-US" sz="4000" dirty="0"/>
              <a:t> (</a:t>
            </a:r>
            <a:r>
              <a:rPr lang="en-US" sz="4000" dirty="0">
                <a:solidFill>
                  <a:srgbClr val="FF0000"/>
                </a:solidFill>
              </a:rPr>
              <a:t>distorted ,unclear</a:t>
            </a:r>
            <a:r>
              <a:rPr lang="en-US" sz="4000" dirty="0"/>
              <a:t>).</a:t>
            </a:r>
          </a:p>
        </p:txBody>
      </p:sp>
      <p:sp>
        <p:nvSpPr>
          <p:cNvPr id="4" name="Date Placeholder 3"/>
          <p:cNvSpPr>
            <a:spLocks noGrp="1"/>
          </p:cNvSpPr>
          <p:nvPr>
            <p:ph type="dt" sz="half" idx="10"/>
          </p:nvPr>
        </p:nvSpPr>
        <p:spPr/>
        <p:txBody>
          <a:bodyPr/>
          <a:lstStyle/>
          <a:p>
            <a:fld id="{BDC0AAA4-63AC-4591-B73B-15071503FD1A}" type="datetime3">
              <a:rPr lang="en-US" smtClean="0"/>
              <a:t>3 December 2025</a:t>
            </a:fld>
            <a:endParaRPr lang="en-US"/>
          </a:p>
        </p:txBody>
      </p:sp>
      <p:sp>
        <p:nvSpPr>
          <p:cNvPr id="6" name="Slide Number Placeholder 5"/>
          <p:cNvSpPr>
            <a:spLocks noGrp="1"/>
          </p:cNvSpPr>
          <p:nvPr>
            <p:ph type="sldNum" sz="quarter" idx="12"/>
          </p:nvPr>
        </p:nvSpPr>
        <p:spPr/>
        <p:txBody>
          <a:bodyPr/>
          <a:lstStyle/>
          <a:p>
            <a:fld id="{90416D69-EFB9-4734-9DF5-4234A5F1A98A}" type="slidenum">
              <a:rPr lang="en-US" smtClean="0"/>
              <a:t>19</a:t>
            </a:fld>
            <a:endParaRPr lang="en-US"/>
          </a:p>
        </p:txBody>
      </p:sp>
    </p:spTree>
    <p:extLst>
      <p:ext uri="{BB962C8B-B14F-4D97-AF65-F5344CB8AC3E}">
        <p14:creationId xmlns:p14="http://schemas.microsoft.com/office/powerpoint/2010/main" val="2773557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77C28-A1FC-4BC9-9B73-9CA81953021B}"/>
              </a:ext>
            </a:extLst>
          </p:cNvPr>
          <p:cNvSpPr>
            <a:spLocks noGrp="1"/>
          </p:cNvSpPr>
          <p:nvPr>
            <p:ph type="title"/>
          </p:nvPr>
        </p:nvSpPr>
        <p:spPr>
          <a:xfrm>
            <a:off x="721896" y="548640"/>
            <a:ext cx="12029828" cy="795919"/>
          </a:xfrm>
        </p:spPr>
        <p:txBody>
          <a:bodyPr>
            <a:noAutofit/>
          </a:bodyPr>
          <a:lstStyle/>
          <a:p>
            <a:r>
              <a:rPr lang="en-US" sz="6000" b="1" dirty="0">
                <a:solidFill>
                  <a:srgbClr val="002060"/>
                </a:solidFill>
              </a:rPr>
              <a:t>Serial Peripheral Interfaces (SPI)</a:t>
            </a:r>
          </a:p>
        </p:txBody>
      </p:sp>
      <p:sp>
        <p:nvSpPr>
          <p:cNvPr id="3" name="Content Placeholder 2">
            <a:extLst>
              <a:ext uri="{FF2B5EF4-FFF2-40B4-BE49-F238E27FC236}">
                <a16:creationId xmlns:a16="http://schemas.microsoft.com/office/drawing/2014/main" id="{4C6F464B-4289-429B-8FF2-23F9EEFFC3A2}"/>
              </a:ext>
            </a:extLst>
          </p:cNvPr>
          <p:cNvSpPr>
            <a:spLocks noGrp="1"/>
          </p:cNvSpPr>
          <p:nvPr>
            <p:ph idx="1"/>
          </p:nvPr>
        </p:nvSpPr>
        <p:spPr>
          <a:xfrm>
            <a:off x="300445" y="1476103"/>
            <a:ext cx="15836137" cy="6443531"/>
          </a:xfrm>
        </p:spPr>
        <p:txBody>
          <a:bodyPr>
            <a:noAutofit/>
          </a:bodyPr>
          <a:lstStyle/>
          <a:p>
            <a:pPr>
              <a:lnSpc>
                <a:spcPct val="100000"/>
              </a:lnSpc>
              <a:spcBef>
                <a:spcPts val="0"/>
              </a:spcBef>
            </a:pPr>
            <a:r>
              <a:rPr lang="en-US" sz="4000" dirty="0">
                <a:solidFill>
                  <a:srgbClr val="FF0000"/>
                </a:solidFill>
                <a:highlight>
                  <a:srgbClr val="FFFF00"/>
                </a:highlight>
              </a:rPr>
              <a:t>SPI is a synchronous data communication</a:t>
            </a:r>
            <a:r>
              <a:rPr lang="en-US" sz="4000" dirty="0">
                <a:solidFill>
                  <a:srgbClr val="FF0000"/>
                </a:solidFill>
              </a:rPr>
              <a:t>.</a:t>
            </a:r>
          </a:p>
          <a:p>
            <a:pPr>
              <a:lnSpc>
                <a:spcPct val="100000"/>
              </a:lnSpc>
              <a:spcBef>
                <a:spcPts val="0"/>
              </a:spcBef>
            </a:pPr>
            <a:r>
              <a:rPr lang="en-US" sz="4000" dirty="0">
                <a:solidFill>
                  <a:srgbClr val="FF0000"/>
                </a:solidFill>
              </a:rPr>
              <a:t>SPI uses 4 pins in Port B:</a:t>
            </a:r>
          </a:p>
          <a:p>
            <a:pPr>
              <a:lnSpc>
                <a:spcPct val="100000"/>
              </a:lnSpc>
            </a:pPr>
            <a:r>
              <a:rPr lang="en-US" sz="4000" b="1" dirty="0"/>
              <a:t>SS/PB2 </a:t>
            </a:r>
            <a:r>
              <a:rPr lang="en-US" sz="4000" dirty="0"/>
              <a:t>– </a:t>
            </a:r>
            <a:r>
              <a:rPr lang="en-US" sz="4000" dirty="0">
                <a:solidFill>
                  <a:srgbClr val="FF0000"/>
                </a:solidFill>
              </a:rPr>
              <a:t>Slave (Peripheral)</a:t>
            </a:r>
            <a:r>
              <a:rPr lang="en-US" sz="4000" dirty="0"/>
              <a:t> Selection pin, this pin on each </a:t>
            </a:r>
            <a:r>
              <a:rPr lang="en-US" sz="4000" dirty="0">
                <a:highlight>
                  <a:srgbClr val="FFFF00"/>
                </a:highlight>
              </a:rPr>
              <a:t>peripheral enables the Master to enable and disable a slave or peripheral device</a:t>
            </a:r>
            <a:r>
              <a:rPr lang="en-US" sz="4000" dirty="0"/>
              <a:t>.</a:t>
            </a:r>
          </a:p>
          <a:p>
            <a:pPr>
              <a:lnSpc>
                <a:spcPct val="100000"/>
              </a:lnSpc>
              <a:spcBef>
                <a:spcPts val="0"/>
              </a:spcBef>
            </a:pPr>
            <a:r>
              <a:rPr lang="en-US" sz="4000" b="1" dirty="0"/>
              <a:t>MOSI/PB3 </a:t>
            </a:r>
            <a:r>
              <a:rPr lang="en-US" sz="4000" dirty="0"/>
              <a:t>– </a:t>
            </a:r>
            <a:r>
              <a:rPr lang="en-US" sz="4000" dirty="0">
                <a:solidFill>
                  <a:srgbClr val="00B050"/>
                </a:solidFill>
                <a:highlight>
                  <a:srgbClr val="FFFF00"/>
                </a:highlight>
              </a:rPr>
              <a:t>Master (Controller) </a:t>
            </a:r>
            <a:r>
              <a:rPr lang="en-US" sz="4000" dirty="0">
                <a:highlight>
                  <a:srgbClr val="FFFF00"/>
                </a:highlight>
              </a:rPr>
              <a:t>Out Slave In</a:t>
            </a:r>
            <a:r>
              <a:rPr lang="en-US" sz="4000" dirty="0"/>
              <a:t>, the Master line for sending data to the </a:t>
            </a:r>
            <a:r>
              <a:rPr lang="en-US" sz="4000" dirty="0">
                <a:solidFill>
                  <a:srgbClr val="FF0000"/>
                </a:solidFill>
              </a:rPr>
              <a:t>Peripherals</a:t>
            </a:r>
            <a:r>
              <a:rPr lang="en-US" sz="4000" dirty="0"/>
              <a:t>, this pin enables the Master to </a:t>
            </a:r>
            <a:r>
              <a:rPr lang="en-US" sz="4000" dirty="0">
                <a:highlight>
                  <a:srgbClr val="FFFF00"/>
                </a:highlight>
              </a:rPr>
              <a:t>drive</a:t>
            </a:r>
            <a:r>
              <a:rPr lang="en-US" sz="4000" dirty="0"/>
              <a:t> a slave.</a:t>
            </a:r>
          </a:p>
          <a:p>
            <a:pPr>
              <a:lnSpc>
                <a:spcPct val="100000"/>
              </a:lnSpc>
              <a:spcBef>
                <a:spcPts val="0"/>
              </a:spcBef>
            </a:pPr>
            <a:r>
              <a:rPr lang="en-US" sz="4000" b="1" dirty="0"/>
              <a:t>MISO/PB4 </a:t>
            </a:r>
            <a:r>
              <a:rPr lang="en-US" sz="4000" dirty="0"/>
              <a:t>– Master In Slave Out, the </a:t>
            </a:r>
            <a:r>
              <a:rPr lang="en-US" sz="4000" dirty="0">
                <a:highlight>
                  <a:srgbClr val="FFFF00"/>
                </a:highlight>
              </a:rPr>
              <a:t>Slave line </a:t>
            </a:r>
            <a:r>
              <a:rPr lang="en-US" sz="4000" dirty="0"/>
              <a:t>for sending data to the master, this pin enables the </a:t>
            </a:r>
            <a:r>
              <a:rPr lang="en-US" sz="4000" dirty="0">
                <a:highlight>
                  <a:srgbClr val="FFFF00"/>
                </a:highlight>
              </a:rPr>
              <a:t>Master to receive any slave </a:t>
            </a:r>
            <a:r>
              <a:rPr lang="en-US" sz="4000" dirty="0"/>
              <a:t>data.</a:t>
            </a:r>
          </a:p>
          <a:p>
            <a:pPr>
              <a:lnSpc>
                <a:spcPct val="100000"/>
              </a:lnSpc>
              <a:spcBef>
                <a:spcPts val="0"/>
              </a:spcBef>
            </a:pPr>
            <a:r>
              <a:rPr lang="en-US" sz="4000" b="1" dirty="0"/>
              <a:t>SCK/PB5 </a:t>
            </a:r>
            <a:r>
              <a:rPr lang="en-US" sz="4000" dirty="0"/>
              <a:t>– The clock pulses which synchronize data transmission generated by the </a:t>
            </a:r>
            <a:r>
              <a:rPr lang="en-US" sz="4000" dirty="0">
                <a:solidFill>
                  <a:srgbClr val="00B050"/>
                </a:solidFill>
              </a:rPr>
              <a:t>Master (Controller)</a:t>
            </a:r>
            <a:r>
              <a:rPr lang="en-US" sz="4000" dirty="0"/>
              <a:t>.</a:t>
            </a:r>
          </a:p>
        </p:txBody>
      </p:sp>
      <p:sp>
        <p:nvSpPr>
          <p:cNvPr id="4" name="Date Placeholder 3"/>
          <p:cNvSpPr>
            <a:spLocks noGrp="1"/>
          </p:cNvSpPr>
          <p:nvPr>
            <p:ph type="dt" sz="half" idx="10"/>
          </p:nvPr>
        </p:nvSpPr>
        <p:spPr/>
        <p:txBody>
          <a:bodyPr/>
          <a:lstStyle/>
          <a:p>
            <a:fld id="{61E2C9FE-7FF1-4B9F-801A-1E57261F2CBE}" type="datetime3">
              <a:rPr lang="en-US" smtClean="0"/>
              <a:t>3 December 2025</a:t>
            </a:fld>
            <a:endParaRPr lang="en-US"/>
          </a:p>
        </p:txBody>
      </p:sp>
      <p:sp>
        <p:nvSpPr>
          <p:cNvPr id="6" name="Slide Number Placeholder 5"/>
          <p:cNvSpPr>
            <a:spLocks noGrp="1"/>
          </p:cNvSpPr>
          <p:nvPr>
            <p:ph type="sldNum" sz="quarter" idx="12"/>
          </p:nvPr>
        </p:nvSpPr>
        <p:spPr/>
        <p:txBody>
          <a:bodyPr/>
          <a:lstStyle/>
          <a:p>
            <a:fld id="{90416D69-EFB9-4734-9DF5-4234A5F1A98A}" type="slidenum">
              <a:rPr lang="en-US" smtClean="0"/>
              <a:t>20</a:t>
            </a:fld>
            <a:endParaRPr lang="en-US"/>
          </a:p>
        </p:txBody>
      </p:sp>
      <p:pic>
        <p:nvPicPr>
          <p:cNvPr id="13" name="image24.jpeg">
            <a:extLst>
              <a:ext uri="{FF2B5EF4-FFF2-40B4-BE49-F238E27FC236}">
                <a16:creationId xmlns:a16="http://schemas.microsoft.com/office/drawing/2014/main" id="{466DBB6B-6F00-4378-9A1D-80B3A09FE566}"/>
              </a:ext>
            </a:extLst>
          </p:cNvPr>
          <p:cNvPicPr/>
          <p:nvPr/>
        </p:nvPicPr>
        <p:blipFill>
          <a:blip r:embed="rId2" cstate="print">
            <a:duotone>
              <a:schemeClr val="accent1">
                <a:shade val="45000"/>
                <a:satMod val="135000"/>
              </a:schemeClr>
              <a:prstClr val="white"/>
            </a:duotone>
            <a:extLst>
              <a:ext uri="{BEBA8EAE-BF5A-486C-A8C5-ECC9F3942E4B}">
                <a14:imgProps xmlns:a14="http://schemas.microsoft.com/office/drawing/2010/main">
                  <a14:imgLayer r:embed="rId3">
                    <a14:imgEffect>
                      <a14:artisticPhotocopy/>
                    </a14:imgEffect>
                    <a14:imgEffect>
                      <a14:brightnessContrast contrast="40000"/>
                    </a14:imgEffect>
                  </a14:imgLayer>
                </a14:imgProps>
              </a:ext>
            </a:extLst>
          </a:blip>
          <a:stretch>
            <a:fillRect/>
          </a:stretch>
        </p:blipFill>
        <p:spPr>
          <a:xfrm>
            <a:off x="11139056" y="548639"/>
            <a:ext cx="5137264" cy="2310939"/>
          </a:xfrm>
          <a:prstGeom prst="rect">
            <a:avLst/>
          </a:prstGeom>
        </p:spPr>
      </p:pic>
    </p:spTree>
    <p:extLst>
      <p:ext uri="{BB962C8B-B14F-4D97-AF65-F5344CB8AC3E}">
        <p14:creationId xmlns:p14="http://schemas.microsoft.com/office/powerpoint/2010/main" val="4520158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39259C9-4B74-4ADD-9212-1B3A3133810A}"/>
              </a:ext>
            </a:extLst>
          </p:cNvPr>
          <p:cNvSpPr>
            <a:spLocks noGrp="1"/>
          </p:cNvSpPr>
          <p:nvPr>
            <p:ph type="title"/>
          </p:nvPr>
        </p:nvSpPr>
        <p:spPr>
          <a:xfrm>
            <a:off x="1687472" y="347043"/>
            <a:ext cx="10731743" cy="772875"/>
          </a:xfrm>
        </p:spPr>
        <p:txBody>
          <a:bodyPr>
            <a:noAutofit/>
          </a:bodyPr>
          <a:lstStyle/>
          <a:p>
            <a:r>
              <a:rPr lang="en-US" sz="6000" b="1" dirty="0">
                <a:solidFill>
                  <a:srgbClr val="002060"/>
                </a:solidFill>
              </a:rPr>
              <a:t>Serial Peripheral Interfaces (SPI)</a:t>
            </a:r>
          </a:p>
        </p:txBody>
      </p:sp>
      <p:sp>
        <p:nvSpPr>
          <p:cNvPr id="3" name="Content Placeholder 2">
            <a:extLst>
              <a:ext uri="{FF2B5EF4-FFF2-40B4-BE49-F238E27FC236}">
                <a16:creationId xmlns:a16="http://schemas.microsoft.com/office/drawing/2014/main" id="{3088BA57-12D9-4D68-92AF-E9F7954FA854}"/>
              </a:ext>
            </a:extLst>
          </p:cNvPr>
          <p:cNvSpPr>
            <a:spLocks noGrp="1"/>
          </p:cNvSpPr>
          <p:nvPr>
            <p:ph idx="1"/>
          </p:nvPr>
        </p:nvSpPr>
        <p:spPr>
          <a:xfrm>
            <a:off x="269945" y="1003332"/>
            <a:ext cx="15973124" cy="2837148"/>
          </a:xfrm>
        </p:spPr>
        <p:txBody>
          <a:bodyPr>
            <a:noAutofit/>
          </a:bodyPr>
          <a:lstStyle/>
          <a:p>
            <a:pPr>
              <a:lnSpc>
                <a:spcPct val="100000"/>
              </a:lnSpc>
              <a:spcBef>
                <a:spcPts val="0"/>
              </a:spcBef>
            </a:pPr>
            <a:r>
              <a:rPr lang="en-US" sz="3600" dirty="0"/>
              <a:t>Connection using SPI is in the Master-Slave configuration.</a:t>
            </a:r>
          </a:p>
          <a:p>
            <a:pPr>
              <a:lnSpc>
                <a:spcPct val="100000"/>
              </a:lnSpc>
              <a:spcBef>
                <a:spcPts val="0"/>
              </a:spcBef>
            </a:pPr>
            <a:r>
              <a:rPr lang="en-US" sz="3600" b="1" dirty="0">
                <a:solidFill>
                  <a:srgbClr val="FF0000"/>
                </a:solidFill>
              </a:rPr>
              <a:t>Master</a:t>
            </a:r>
            <a:r>
              <a:rPr lang="en-US" sz="3600" dirty="0"/>
              <a:t> – Normally, is the ATmega328. </a:t>
            </a:r>
            <a:r>
              <a:rPr lang="en-US" sz="3600" dirty="0">
                <a:solidFill>
                  <a:srgbClr val="00B050"/>
                </a:solidFill>
              </a:rPr>
              <a:t>Master (Controller)</a:t>
            </a:r>
            <a:r>
              <a:rPr lang="en-US" sz="3600" dirty="0"/>
              <a:t> </a:t>
            </a:r>
            <a:r>
              <a:rPr lang="en-US" sz="3600" b="1" dirty="0">
                <a:solidFill>
                  <a:srgbClr val="FF0000"/>
                </a:solidFill>
              </a:rPr>
              <a:t>initiates</a:t>
            </a:r>
            <a:r>
              <a:rPr lang="en-US" sz="3600" b="1" dirty="0"/>
              <a:t> </a:t>
            </a:r>
            <a:r>
              <a:rPr lang="en-US" sz="3600" dirty="0"/>
              <a:t>the data transfer. SPI clock is also generated by master.</a:t>
            </a:r>
          </a:p>
          <a:p>
            <a:pPr>
              <a:lnSpc>
                <a:spcPct val="100000"/>
              </a:lnSpc>
              <a:spcBef>
                <a:spcPts val="0"/>
              </a:spcBef>
            </a:pPr>
            <a:r>
              <a:rPr lang="en-US" sz="3600" b="1" dirty="0">
                <a:solidFill>
                  <a:srgbClr val="FF0000"/>
                </a:solidFill>
              </a:rPr>
              <a:t>Slave</a:t>
            </a:r>
            <a:r>
              <a:rPr lang="en-US" sz="3600" dirty="0"/>
              <a:t> – Consists of 1 or more SPI I/O </a:t>
            </a:r>
            <a:r>
              <a:rPr lang="en-US" sz="3600" dirty="0">
                <a:solidFill>
                  <a:srgbClr val="FF0000"/>
                </a:solidFill>
              </a:rPr>
              <a:t>Slaves (Peripherals)</a:t>
            </a:r>
            <a:r>
              <a:rPr lang="en-US" sz="3600" dirty="0"/>
              <a:t>. The slave transfers data as a </a:t>
            </a:r>
            <a:r>
              <a:rPr lang="en-US" sz="3600" b="1" dirty="0">
                <a:solidFill>
                  <a:srgbClr val="FF0000"/>
                </a:solidFill>
              </a:rPr>
              <a:t>reaction</a:t>
            </a:r>
            <a:r>
              <a:rPr lang="en-US" sz="3600" b="1" dirty="0"/>
              <a:t> </a:t>
            </a:r>
            <a:r>
              <a:rPr lang="en-US" sz="3600" dirty="0"/>
              <a:t>to master.</a:t>
            </a:r>
          </a:p>
          <a:p>
            <a:pPr>
              <a:lnSpc>
                <a:spcPct val="100000"/>
              </a:lnSpc>
              <a:spcBef>
                <a:spcPts val="0"/>
              </a:spcBef>
            </a:pPr>
            <a:endParaRPr lang="en-US" sz="3600" dirty="0"/>
          </a:p>
          <a:p>
            <a:pPr marL="0" indent="0">
              <a:lnSpc>
                <a:spcPct val="100000"/>
              </a:lnSpc>
              <a:spcBef>
                <a:spcPts val="0"/>
              </a:spcBef>
              <a:buNone/>
            </a:pPr>
            <a:endParaRPr lang="en-US" sz="3600" dirty="0"/>
          </a:p>
        </p:txBody>
      </p:sp>
      <p:sp>
        <p:nvSpPr>
          <p:cNvPr id="2" name="Date Placeholder 1"/>
          <p:cNvSpPr>
            <a:spLocks noGrp="1"/>
          </p:cNvSpPr>
          <p:nvPr>
            <p:ph type="dt" sz="half" idx="10"/>
          </p:nvPr>
        </p:nvSpPr>
        <p:spPr/>
        <p:txBody>
          <a:bodyPr/>
          <a:lstStyle/>
          <a:p>
            <a:fld id="{8A6BD064-D510-4E98-8ECB-9C0C335319E1}" type="datetime3">
              <a:rPr lang="en-US" smtClean="0"/>
              <a:t>3 December 2025</a:t>
            </a:fld>
            <a:endParaRPr lang="en-US"/>
          </a:p>
        </p:txBody>
      </p:sp>
      <p:sp>
        <p:nvSpPr>
          <p:cNvPr id="6" name="Slide Number Placeholder 5"/>
          <p:cNvSpPr>
            <a:spLocks noGrp="1"/>
          </p:cNvSpPr>
          <p:nvPr>
            <p:ph type="sldNum" sz="quarter" idx="12"/>
          </p:nvPr>
        </p:nvSpPr>
        <p:spPr/>
        <p:txBody>
          <a:bodyPr/>
          <a:lstStyle/>
          <a:p>
            <a:fld id="{90416D69-EFB9-4734-9DF5-4234A5F1A98A}" type="slidenum">
              <a:rPr lang="en-US" smtClean="0"/>
              <a:t>21</a:t>
            </a:fld>
            <a:endParaRPr lang="en-US"/>
          </a:p>
        </p:txBody>
      </p:sp>
      <p:pic>
        <p:nvPicPr>
          <p:cNvPr id="8" name="Picture 7" descr="A screenshot of a cell phone&#10;&#10;Description automatically generated">
            <a:extLst>
              <a:ext uri="{FF2B5EF4-FFF2-40B4-BE49-F238E27FC236}">
                <a16:creationId xmlns:a16="http://schemas.microsoft.com/office/drawing/2014/main" id="{627069AE-91DC-43C8-B8F5-C19999FED19B}"/>
              </a:ext>
            </a:extLst>
          </p:cNvPr>
          <p:cNvPicPr>
            <a:picLocks noChangeAspect="1"/>
          </p:cNvPicPr>
          <p:nvPr/>
        </p:nvPicPr>
        <p:blipFill rotWithShape="1">
          <a:blip r:embed="rId2">
            <a:duotone>
              <a:schemeClr val="accent2">
                <a:shade val="45000"/>
                <a:satMod val="135000"/>
              </a:schemeClr>
              <a:prstClr val="white"/>
            </a:duotone>
            <a:extLst>
              <a:ext uri="{BEBA8EAE-BF5A-486C-A8C5-ECC9F3942E4B}">
                <a14:imgProps xmlns:a14="http://schemas.microsoft.com/office/drawing/2010/main">
                  <a14:imgLayer r:embed="rId3">
                    <a14:imgEffect>
                      <a14:artisticPhotocopy/>
                    </a14:imgEffect>
                    <a14:imgEffect>
                      <a14:brightnessContrast contrast="40000"/>
                    </a14:imgEffect>
                  </a14:imgLayer>
                </a14:imgProps>
              </a:ext>
              <a:ext uri="{28A0092B-C50C-407E-A947-70E740481C1C}">
                <a14:useLocalDpi xmlns:a14="http://schemas.microsoft.com/office/drawing/2010/main" val="0"/>
              </a:ext>
            </a:extLst>
          </a:blip>
          <a:srcRect l="13963" t="3592" r="1679"/>
          <a:stretch/>
        </p:blipFill>
        <p:spPr>
          <a:xfrm>
            <a:off x="4627818" y="3255027"/>
            <a:ext cx="11464127" cy="4677670"/>
          </a:xfrm>
          <a:prstGeom prst="rect">
            <a:avLst/>
          </a:prstGeom>
        </p:spPr>
      </p:pic>
    </p:spTree>
    <p:extLst>
      <p:ext uri="{BB962C8B-B14F-4D97-AF65-F5344CB8AC3E}">
        <p14:creationId xmlns:p14="http://schemas.microsoft.com/office/powerpoint/2010/main" val="14688619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40D41EC6-39BF-DD18-1BDC-42351A961EA9}"/>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rot="5400000">
            <a:off x="9673666" y="1286435"/>
            <a:ext cx="7449667" cy="5892800"/>
          </a:xfrm>
          <a:prstGeom prst="rect">
            <a:avLst/>
          </a:prstGeom>
        </p:spPr>
      </p:pic>
      <p:sp>
        <p:nvSpPr>
          <p:cNvPr id="4" name="Title 1">
            <a:extLst>
              <a:ext uri="{FF2B5EF4-FFF2-40B4-BE49-F238E27FC236}">
                <a16:creationId xmlns:a16="http://schemas.microsoft.com/office/drawing/2014/main" id="{639259C9-4B74-4ADD-9212-1B3A3133810A}"/>
              </a:ext>
            </a:extLst>
          </p:cNvPr>
          <p:cNvSpPr>
            <a:spLocks noGrp="1"/>
          </p:cNvSpPr>
          <p:nvPr>
            <p:ph type="title"/>
          </p:nvPr>
        </p:nvSpPr>
        <p:spPr>
          <a:xfrm>
            <a:off x="1687473" y="233835"/>
            <a:ext cx="9475828" cy="772875"/>
          </a:xfrm>
        </p:spPr>
        <p:txBody>
          <a:bodyPr>
            <a:noAutofit/>
          </a:bodyPr>
          <a:lstStyle/>
          <a:p>
            <a:r>
              <a:rPr lang="en-US" sz="5400" b="1" dirty="0">
                <a:solidFill>
                  <a:srgbClr val="002060"/>
                </a:solidFill>
              </a:rPr>
              <a:t>Serial Peripheral Interfaces (SPI)</a:t>
            </a:r>
          </a:p>
        </p:txBody>
      </p:sp>
      <p:sp>
        <p:nvSpPr>
          <p:cNvPr id="3" name="Content Placeholder 2">
            <a:extLst>
              <a:ext uri="{FF2B5EF4-FFF2-40B4-BE49-F238E27FC236}">
                <a16:creationId xmlns:a16="http://schemas.microsoft.com/office/drawing/2014/main" id="{3088BA57-12D9-4D68-92AF-E9F7954FA854}"/>
              </a:ext>
            </a:extLst>
          </p:cNvPr>
          <p:cNvSpPr>
            <a:spLocks noGrp="1"/>
          </p:cNvSpPr>
          <p:nvPr>
            <p:ph idx="1"/>
          </p:nvPr>
        </p:nvSpPr>
        <p:spPr>
          <a:xfrm>
            <a:off x="269945" y="1003332"/>
            <a:ext cx="9890055" cy="1333468"/>
          </a:xfrm>
        </p:spPr>
        <p:txBody>
          <a:bodyPr>
            <a:noAutofit/>
          </a:bodyPr>
          <a:lstStyle/>
          <a:p>
            <a:pPr>
              <a:lnSpc>
                <a:spcPct val="100000"/>
              </a:lnSpc>
              <a:spcBef>
                <a:spcPts val="0"/>
              </a:spcBef>
            </a:pPr>
            <a:r>
              <a:rPr lang="en-US" sz="3600" dirty="0"/>
              <a:t>Connection using SPI is in the </a:t>
            </a:r>
            <a:r>
              <a:rPr lang="en-US" sz="3600" dirty="0">
                <a:solidFill>
                  <a:srgbClr val="00B050"/>
                </a:solidFill>
              </a:rPr>
              <a:t>Master (Controller)</a:t>
            </a:r>
            <a:r>
              <a:rPr lang="en-US" sz="3600" dirty="0"/>
              <a:t>-</a:t>
            </a:r>
            <a:r>
              <a:rPr lang="en-US" sz="3600" dirty="0">
                <a:solidFill>
                  <a:srgbClr val="FF0000"/>
                </a:solidFill>
              </a:rPr>
              <a:t>Slave (Peripheral)</a:t>
            </a:r>
            <a:r>
              <a:rPr lang="en-US" sz="3600" dirty="0"/>
              <a:t> configuration.</a:t>
            </a:r>
          </a:p>
        </p:txBody>
      </p:sp>
      <p:sp>
        <p:nvSpPr>
          <p:cNvPr id="2" name="Date Placeholder 1"/>
          <p:cNvSpPr>
            <a:spLocks noGrp="1"/>
          </p:cNvSpPr>
          <p:nvPr>
            <p:ph type="dt" sz="half" idx="10"/>
          </p:nvPr>
        </p:nvSpPr>
        <p:spPr/>
        <p:txBody>
          <a:bodyPr/>
          <a:lstStyle/>
          <a:p>
            <a:fld id="{8A6BD064-D510-4E98-8ECB-9C0C335319E1}" type="datetime3">
              <a:rPr lang="en-US" smtClean="0"/>
              <a:t>3 December 2025</a:t>
            </a:fld>
            <a:endParaRPr lang="en-US"/>
          </a:p>
        </p:txBody>
      </p:sp>
      <p:sp>
        <p:nvSpPr>
          <p:cNvPr id="6" name="Slide Number Placeholder 5"/>
          <p:cNvSpPr>
            <a:spLocks noGrp="1"/>
          </p:cNvSpPr>
          <p:nvPr>
            <p:ph type="sldNum" sz="quarter" idx="12"/>
          </p:nvPr>
        </p:nvSpPr>
        <p:spPr/>
        <p:txBody>
          <a:bodyPr/>
          <a:lstStyle/>
          <a:p>
            <a:fld id="{90416D69-EFB9-4734-9DF5-4234A5F1A98A}" type="slidenum">
              <a:rPr lang="en-US" smtClean="0"/>
              <a:t>22</a:t>
            </a:fld>
            <a:endParaRPr lang="en-US"/>
          </a:p>
        </p:txBody>
      </p:sp>
      <p:grpSp>
        <p:nvGrpSpPr>
          <p:cNvPr id="10" name="Group 9">
            <a:extLst>
              <a:ext uri="{FF2B5EF4-FFF2-40B4-BE49-F238E27FC236}">
                <a16:creationId xmlns:a16="http://schemas.microsoft.com/office/drawing/2014/main" id="{901604FD-3A11-0590-1694-A40B7F71B1E6}"/>
              </a:ext>
            </a:extLst>
          </p:cNvPr>
          <p:cNvGrpSpPr/>
          <p:nvPr/>
        </p:nvGrpSpPr>
        <p:grpSpPr>
          <a:xfrm>
            <a:off x="497621" y="2496697"/>
            <a:ext cx="7185417" cy="5422937"/>
            <a:chOff x="497621" y="2496697"/>
            <a:chExt cx="7185417" cy="5422937"/>
          </a:xfrm>
        </p:grpSpPr>
        <p:pic>
          <p:nvPicPr>
            <p:cNvPr id="7" name="Picture 6"/>
            <p:cNvPicPr>
              <a:picLocks noChangeAspect="1"/>
            </p:cNvPicPr>
            <p:nvPr/>
          </p:nvPicPr>
          <p:blipFill rotWithShape="1">
            <a:blip r:embed="rId3">
              <a:extLst>
                <a:ext uri="{BEBA8EAE-BF5A-486C-A8C5-ECC9F3942E4B}">
                  <a14:imgProps xmlns:a14="http://schemas.microsoft.com/office/drawing/2010/main">
                    <a14:imgLayer r:embed="rId4">
                      <a14:imgEffect>
                        <a14:brightnessContrast bright="20000" contrast="-40000"/>
                      </a14:imgEffect>
                    </a14:imgLayer>
                  </a14:imgProps>
                </a:ext>
              </a:extLst>
            </a:blip>
            <a:srcRect l="2857" t="3681"/>
            <a:stretch/>
          </p:blipFill>
          <p:spPr>
            <a:xfrm>
              <a:off x="611922" y="2496697"/>
              <a:ext cx="7071116" cy="5422937"/>
            </a:xfrm>
            <a:prstGeom prst="rect">
              <a:avLst/>
            </a:prstGeom>
          </p:spPr>
        </p:pic>
        <p:sp>
          <p:nvSpPr>
            <p:cNvPr id="9" name="Rectangle 8"/>
            <p:cNvSpPr/>
            <p:nvPr/>
          </p:nvSpPr>
          <p:spPr>
            <a:xfrm>
              <a:off x="497621" y="4914900"/>
              <a:ext cx="2817079" cy="26035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US" sz="3200" dirty="0">
                  <a:solidFill>
                    <a:srgbClr val="CC0099"/>
                  </a:solidFill>
                </a:rPr>
                <a:t>SPI Communication Schematic</a:t>
              </a:r>
            </a:p>
          </p:txBody>
        </p:sp>
      </p:grpSp>
      <p:sp>
        <p:nvSpPr>
          <p:cNvPr id="11" name="Rectangle 10">
            <a:extLst>
              <a:ext uri="{FF2B5EF4-FFF2-40B4-BE49-F238E27FC236}">
                <a16:creationId xmlns:a16="http://schemas.microsoft.com/office/drawing/2014/main" id="{4607C3DF-764D-8E83-62F2-4830AF128AA0}"/>
              </a:ext>
            </a:extLst>
          </p:cNvPr>
          <p:cNvSpPr/>
          <p:nvPr/>
        </p:nvSpPr>
        <p:spPr>
          <a:xfrm>
            <a:off x="8534399" y="5316383"/>
            <a:ext cx="2968453" cy="2466168"/>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r"/>
            <a:r>
              <a:rPr lang="en-US" sz="3200" dirty="0">
                <a:solidFill>
                  <a:srgbClr val="CC0099"/>
                </a:solidFill>
              </a:rPr>
              <a:t>SPI Communication Schematic Ports on Arduino Mega Board</a:t>
            </a:r>
          </a:p>
        </p:txBody>
      </p:sp>
      <p:sp>
        <p:nvSpPr>
          <p:cNvPr id="12" name="Rectangle 11">
            <a:extLst>
              <a:ext uri="{FF2B5EF4-FFF2-40B4-BE49-F238E27FC236}">
                <a16:creationId xmlns:a16="http://schemas.microsoft.com/office/drawing/2014/main" id="{60D8486D-2D10-677E-3E80-65539340ACF4}"/>
              </a:ext>
            </a:extLst>
          </p:cNvPr>
          <p:cNvSpPr/>
          <p:nvPr/>
        </p:nvSpPr>
        <p:spPr>
          <a:xfrm>
            <a:off x="12192000" y="5905500"/>
            <a:ext cx="393700" cy="812800"/>
          </a:xfrm>
          <a:prstGeom prst="rect">
            <a:avLst/>
          </a:prstGeom>
          <a:noFill/>
          <a:ln w="38100">
            <a:solidFill>
              <a:srgbClr val="FF000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91296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ppt_x"/>
                                          </p:val>
                                        </p:tav>
                                        <p:tav tm="100000">
                                          <p:val>
                                            <p:strVal val="#ppt_x"/>
                                          </p:val>
                                        </p:tav>
                                      </p:tavLst>
                                    </p:anim>
                                    <p:anim calcmode="lin" valueType="num">
                                      <p:cBhvr additive="base">
                                        <p:cTn id="14"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1" presetClass="entr" presetSubtype="1"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heel(1)">
                                      <p:cBhvr>
                                        <p:cTn id="19" dur="2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39259C9-4B74-4ADD-9212-1B3A3133810A}"/>
              </a:ext>
            </a:extLst>
          </p:cNvPr>
          <p:cNvSpPr>
            <a:spLocks noGrp="1"/>
          </p:cNvSpPr>
          <p:nvPr>
            <p:ph type="title"/>
          </p:nvPr>
        </p:nvSpPr>
        <p:spPr>
          <a:xfrm>
            <a:off x="1687472" y="233835"/>
            <a:ext cx="10731743" cy="772875"/>
          </a:xfrm>
        </p:spPr>
        <p:txBody>
          <a:bodyPr>
            <a:noAutofit/>
          </a:bodyPr>
          <a:lstStyle/>
          <a:p>
            <a:r>
              <a:rPr lang="en-US" sz="6000" b="1" dirty="0">
                <a:solidFill>
                  <a:srgbClr val="002060"/>
                </a:solidFill>
              </a:rPr>
              <a:t>Serial Peripheral Interfaces (SPI)</a:t>
            </a:r>
          </a:p>
        </p:txBody>
      </p:sp>
      <p:sp>
        <p:nvSpPr>
          <p:cNvPr id="3" name="Content Placeholder 2">
            <a:extLst>
              <a:ext uri="{FF2B5EF4-FFF2-40B4-BE49-F238E27FC236}">
                <a16:creationId xmlns:a16="http://schemas.microsoft.com/office/drawing/2014/main" id="{3088BA57-12D9-4D68-92AF-E9F7954FA854}"/>
              </a:ext>
            </a:extLst>
          </p:cNvPr>
          <p:cNvSpPr>
            <a:spLocks noGrp="1"/>
          </p:cNvSpPr>
          <p:nvPr>
            <p:ph idx="1"/>
          </p:nvPr>
        </p:nvSpPr>
        <p:spPr>
          <a:xfrm>
            <a:off x="269945" y="1003331"/>
            <a:ext cx="15973124" cy="1248801"/>
          </a:xfrm>
        </p:spPr>
        <p:txBody>
          <a:bodyPr>
            <a:noAutofit/>
          </a:bodyPr>
          <a:lstStyle/>
          <a:p>
            <a:pPr>
              <a:lnSpc>
                <a:spcPct val="100000"/>
              </a:lnSpc>
              <a:spcBef>
                <a:spcPts val="0"/>
              </a:spcBef>
            </a:pPr>
            <a:r>
              <a:rPr lang="en-US" sz="3600" dirty="0"/>
              <a:t>Let's make an example with Arduino. In this example, we are going to let the two Arduinos to communicate with each other. </a:t>
            </a:r>
          </a:p>
        </p:txBody>
      </p:sp>
      <p:sp>
        <p:nvSpPr>
          <p:cNvPr id="2" name="Date Placeholder 1"/>
          <p:cNvSpPr>
            <a:spLocks noGrp="1"/>
          </p:cNvSpPr>
          <p:nvPr>
            <p:ph type="dt" sz="half" idx="10"/>
          </p:nvPr>
        </p:nvSpPr>
        <p:spPr/>
        <p:txBody>
          <a:bodyPr/>
          <a:lstStyle/>
          <a:p>
            <a:fld id="{8A6BD064-D510-4E98-8ECB-9C0C335319E1}" type="datetime3">
              <a:rPr lang="en-US" smtClean="0"/>
              <a:t>3 December 2025</a:t>
            </a:fld>
            <a:endParaRPr lang="en-US"/>
          </a:p>
        </p:txBody>
      </p:sp>
      <p:sp>
        <p:nvSpPr>
          <p:cNvPr id="6" name="Slide Number Placeholder 5"/>
          <p:cNvSpPr>
            <a:spLocks noGrp="1"/>
          </p:cNvSpPr>
          <p:nvPr>
            <p:ph type="sldNum" sz="quarter" idx="12"/>
          </p:nvPr>
        </p:nvSpPr>
        <p:spPr/>
        <p:txBody>
          <a:bodyPr/>
          <a:lstStyle/>
          <a:p>
            <a:fld id="{90416D69-EFB9-4734-9DF5-4234A5F1A98A}" type="slidenum">
              <a:rPr lang="en-US" smtClean="0"/>
              <a:t>23</a:t>
            </a:fld>
            <a:endParaRPr lang="en-US"/>
          </a:p>
        </p:txBody>
      </p:sp>
      <p:sp>
        <p:nvSpPr>
          <p:cNvPr id="9" name="Rectangle 8"/>
          <p:cNvSpPr/>
          <p:nvPr/>
        </p:nvSpPr>
        <p:spPr>
          <a:xfrm>
            <a:off x="269945" y="7530165"/>
            <a:ext cx="7146855" cy="5249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solidFill>
                  <a:srgbClr val="CC0099"/>
                </a:solidFill>
              </a:rPr>
              <a:t>Pin connections of these two Arduinos</a:t>
            </a:r>
          </a:p>
        </p:txBody>
      </p:sp>
      <p:pic>
        <p:nvPicPr>
          <p:cNvPr id="8" name="Picture 7"/>
          <p:cNvPicPr>
            <a:picLocks noChangeAspect="1"/>
          </p:cNvPicPr>
          <p:nvPr/>
        </p:nvPicPr>
        <p:blipFill rotWithShape="1">
          <a:blip r:embed="rId2" cstate="hqprint">
            <a:extLst>
              <a:ext uri="{28A0092B-C50C-407E-A947-70E740481C1C}">
                <a14:useLocalDpi xmlns:a14="http://schemas.microsoft.com/office/drawing/2010/main" val="0"/>
              </a:ext>
            </a:extLst>
          </a:blip>
          <a:srcRect l="1" r="500"/>
          <a:stretch/>
        </p:blipFill>
        <p:spPr>
          <a:xfrm>
            <a:off x="461434" y="2228540"/>
            <a:ext cx="9681633" cy="5365630"/>
          </a:xfrm>
          <a:prstGeom prst="rect">
            <a:avLst/>
          </a:prstGeom>
        </p:spPr>
      </p:pic>
      <p:sp>
        <p:nvSpPr>
          <p:cNvPr id="10" name="Rectangle 9"/>
          <p:cNvSpPr/>
          <p:nvPr/>
        </p:nvSpPr>
        <p:spPr>
          <a:xfrm>
            <a:off x="10334556" y="2216471"/>
            <a:ext cx="5925446" cy="3847207"/>
          </a:xfrm>
          <a:prstGeom prst="rect">
            <a:avLst/>
          </a:prstGeom>
        </p:spPr>
        <p:txBody>
          <a:bodyPr wrap="square">
            <a:spAutoFit/>
          </a:bodyPr>
          <a:lstStyle/>
          <a:p>
            <a:r>
              <a:rPr lang="en-US" sz="3200" dirty="0"/>
              <a:t>We will connect two </a:t>
            </a:r>
            <a:r>
              <a:rPr lang="en-US" sz="3200" b="1" dirty="0">
                <a:solidFill>
                  <a:srgbClr val="FF0000"/>
                </a:solidFill>
              </a:rPr>
              <a:t>Arduino UNO </a:t>
            </a:r>
            <a:r>
              <a:rPr lang="en-US" sz="3200" dirty="0"/>
              <a:t>boards; one as a master and the other as a slave.</a:t>
            </a:r>
          </a:p>
          <a:p>
            <a:endParaRPr lang="en-US" sz="2000" dirty="0"/>
          </a:p>
          <a:p>
            <a:pPr lvl="1" indent="-274320">
              <a:buFont typeface="Wingdings" panose="05000000000000000000" pitchFamily="2" charset="2"/>
              <a:buChar char="§"/>
            </a:pPr>
            <a:r>
              <a:rPr lang="en-US" sz="3200" dirty="0"/>
              <a:t>(SS): pin 10; </a:t>
            </a:r>
            <a:r>
              <a:rPr lang="en-US" sz="3200" dirty="0">
                <a:solidFill>
                  <a:srgbClr val="0070C0"/>
                </a:solidFill>
              </a:rPr>
              <a:t>Slave Selection</a:t>
            </a:r>
          </a:p>
          <a:p>
            <a:pPr lvl="1" indent="-274320">
              <a:buFont typeface="Wingdings" panose="05000000000000000000" pitchFamily="2" charset="2"/>
              <a:buChar char="§"/>
            </a:pPr>
            <a:r>
              <a:rPr lang="en-US" sz="3200" dirty="0"/>
              <a:t>(MOSI): pin 11</a:t>
            </a:r>
          </a:p>
          <a:p>
            <a:pPr lvl="1" indent="-274320">
              <a:buFont typeface="Wingdings" panose="05000000000000000000" pitchFamily="2" charset="2"/>
              <a:buChar char="§"/>
            </a:pPr>
            <a:r>
              <a:rPr lang="en-US" sz="3200" dirty="0"/>
              <a:t>(MISO): pin 12</a:t>
            </a:r>
          </a:p>
          <a:p>
            <a:pPr lvl="1" indent="-274320">
              <a:buFont typeface="Wingdings" panose="05000000000000000000" pitchFamily="2" charset="2"/>
              <a:buChar char="§"/>
            </a:pPr>
            <a:r>
              <a:rPr lang="en-US" sz="3200" dirty="0"/>
              <a:t>(SCK): pin 13</a:t>
            </a:r>
          </a:p>
        </p:txBody>
      </p:sp>
      <p:sp>
        <p:nvSpPr>
          <p:cNvPr id="11" name="Right Brace 10"/>
          <p:cNvSpPr/>
          <p:nvPr/>
        </p:nvSpPr>
        <p:spPr>
          <a:xfrm>
            <a:off x="13297279" y="4521200"/>
            <a:ext cx="389467" cy="1542478"/>
          </a:xfrm>
          <a:prstGeom prst="rightBrace">
            <a:avLst>
              <a:gd name="adj1" fmla="val 49712"/>
              <a:gd name="adj2" fmla="val 50000"/>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2" name="TextBox 11"/>
          <p:cNvSpPr txBox="1"/>
          <p:nvPr/>
        </p:nvSpPr>
        <p:spPr>
          <a:xfrm>
            <a:off x="13844369" y="5060062"/>
            <a:ext cx="2381767" cy="430887"/>
          </a:xfrm>
          <a:prstGeom prst="rect">
            <a:avLst/>
          </a:prstGeom>
          <a:noFill/>
        </p:spPr>
        <p:txBody>
          <a:bodyPr wrap="square" lIns="0" tIns="0" rIns="0" bIns="0" rtlCol="0">
            <a:spAutoFit/>
          </a:bodyPr>
          <a:lstStyle/>
          <a:p>
            <a:r>
              <a:rPr lang="en-US" sz="2800" dirty="0">
                <a:solidFill>
                  <a:srgbClr val="FF0000"/>
                </a:solidFill>
              </a:rPr>
              <a:t>Communication</a:t>
            </a:r>
          </a:p>
        </p:txBody>
      </p:sp>
      <p:pic>
        <p:nvPicPr>
          <p:cNvPr id="7" name="image24.jpeg">
            <a:extLst>
              <a:ext uri="{FF2B5EF4-FFF2-40B4-BE49-F238E27FC236}">
                <a16:creationId xmlns:a16="http://schemas.microsoft.com/office/drawing/2014/main" id="{989140B2-FF60-D8D3-FFAA-865305276488}"/>
              </a:ext>
            </a:extLst>
          </p:cNvPr>
          <p:cNvPicPr/>
          <p:nvPr/>
        </p:nvPicPr>
        <p:blipFill>
          <a:blip r:embed="rId3" cstate="print">
            <a:duotone>
              <a:schemeClr val="accent1">
                <a:shade val="45000"/>
                <a:satMod val="135000"/>
              </a:schemeClr>
              <a:prstClr val="white"/>
            </a:duotone>
            <a:extLst>
              <a:ext uri="{BEBA8EAE-BF5A-486C-A8C5-ECC9F3942E4B}">
                <a14:imgProps xmlns:a14="http://schemas.microsoft.com/office/drawing/2010/main">
                  <a14:imgLayer r:embed="rId4">
                    <a14:imgEffect>
                      <a14:artisticPhotocopy/>
                    </a14:imgEffect>
                    <a14:imgEffect>
                      <a14:brightnessContrast contrast="40000"/>
                    </a14:imgEffect>
                  </a14:imgLayer>
                </a14:imgProps>
              </a:ext>
            </a:extLst>
          </a:blip>
          <a:stretch>
            <a:fillRect/>
          </a:stretch>
        </p:blipFill>
        <p:spPr>
          <a:xfrm>
            <a:off x="11520497" y="6155992"/>
            <a:ext cx="4198753" cy="1899105"/>
          </a:xfrm>
          <a:prstGeom prst="rect">
            <a:avLst/>
          </a:prstGeom>
        </p:spPr>
      </p:pic>
    </p:spTree>
    <p:extLst>
      <p:ext uri="{BB962C8B-B14F-4D97-AF65-F5344CB8AC3E}">
        <p14:creationId xmlns:p14="http://schemas.microsoft.com/office/powerpoint/2010/main" val="31778270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A02CA-F63B-4A84-986C-A613026628E2}"/>
              </a:ext>
            </a:extLst>
          </p:cNvPr>
          <p:cNvSpPr>
            <a:spLocks noGrp="1"/>
          </p:cNvSpPr>
          <p:nvPr>
            <p:ph type="title"/>
          </p:nvPr>
        </p:nvSpPr>
        <p:spPr>
          <a:xfrm>
            <a:off x="1771829" y="118534"/>
            <a:ext cx="9962147" cy="645732"/>
          </a:xfrm>
        </p:spPr>
        <p:txBody>
          <a:bodyPr>
            <a:noAutofit/>
          </a:bodyPr>
          <a:lstStyle/>
          <a:p>
            <a:r>
              <a:rPr lang="en-US" sz="5400" b="1" dirty="0">
                <a:solidFill>
                  <a:srgbClr val="002060"/>
                </a:solidFill>
              </a:rPr>
              <a:t>SPI Arduino Libraries</a:t>
            </a:r>
          </a:p>
        </p:txBody>
      </p:sp>
      <p:sp>
        <p:nvSpPr>
          <p:cNvPr id="3" name="Content Placeholder 2">
            <a:extLst>
              <a:ext uri="{FF2B5EF4-FFF2-40B4-BE49-F238E27FC236}">
                <a16:creationId xmlns:a16="http://schemas.microsoft.com/office/drawing/2014/main" id="{B520C749-701D-413F-8F1E-60E9B660709D}"/>
              </a:ext>
            </a:extLst>
          </p:cNvPr>
          <p:cNvSpPr>
            <a:spLocks noGrp="1"/>
          </p:cNvSpPr>
          <p:nvPr>
            <p:ph idx="1"/>
          </p:nvPr>
        </p:nvSpPr>
        <p:spPr>
          <a:xfrm>
            <a:off x="224431" y="730400"/>
            <a:ext cx="16048501" cy="7296000"/>
          </a:xfrm>
        </p:spPr>
        <p:txBody>
          <a:bodyPr>
            <a:noAutofit/>
          </a:bodyPr>
          <a:lstStyle/>
          <a:p>
            <a:pPr>
              <a:lnSpc>
                <a:spcPct val="100000"/>
              </a:lnSpc>
              <a:spcBef>
                <a:spcPts val="0"/>
              </a:spcBef>
            </a:pPr>
            <a:r>
              <a:rPr lang="en-US" sz="3200" b="1" dirty="0" err="1"/>
              <a:t>SPI.begin</a:t>
            </a:r>
            <a:r>
              <a:rPr lang="en-US" sz="3200" b="1" dirty="0"/>
              <a:t>() </a:t>
            </a:r>
            <a:r>
              <a:rPr lang="en-US" sz="3200" dirty="0"/>
              <a:t>– Initializes the SPI bus by setting SCK, MOSI, and SS to outputs, set SCK &amp; MOSI low, &amp; SS high. Must be written in </a:t>
            </a:r>
            <a:r>
              <a:rPr lang="en-US" sz="3200" b="1" dirty="0"/>
              <a:t>setup()</a:t>
            </a:r>
          </a:p>
          <a:p>
            <a:pPr>
              <a:lnSpc>
                <a:spcPct val="100000"/>
              </a:lnSpc>
              <a:spcBef>
                <a:spcPts val="0"/>
              </a:spcBef>
            </a:pPr>
            <a:r>
              <a:rPr lang="en-US" sz="3200" b="1" dirty="0" err="1"/>
              <a:t>SPI.end</a:t>
            </a:r>
            <a:r>
              <a:rPr lang="en-US" sz="3200" b="1" dirty="0"/>
              <a:t>() </a:t>
            </a:r>
            <a:r>
              <a:rPr lang="en-US" sz="3200" dirty="0"/>
              <a:t>– Disables the SPI bus.</a:t>
            </a:r>
          </a:p>
          <a:p>
            <a:pPr>
              <a:lnSpc>
                <a:spcPct val="100000"/>
              </a:lnSpc>
              <a:spcBef>
                <a:spcPts val="0"/>
              </a:spcBef>
            </a:pPr>
            <a:r>
              <a:rPr lang="en-US" sz="3200" b="1" dirty="0" err="1"/>
              <a:t>SPI.setBitOrder</a:t>
            </a:r>
            <a:r>
              <a:rPr lang="en-US" sz="3200" b="1" dirty="0"/>
              <a:t>(order) </a:t>
            </a:r>
            <a:r>
              <a:rPr lang="en-US" sz="3200" dirty="0"/>
              <a:t>– Sets the order of the bits shifted out of and into the SPI bus, either LSBFIRST or MSBFIRST.</a:t>
            </a:r>
          </a:p>
          <a:p>
            <a:pPr>
              <a:lnSpc>
                <a:spcPct val="100000"/>
              </a:lnSpc>
              <a:spcBef>
                <a:spcPts val="0"/>
              </a:spcBef>
            </a:pPr>
            <a:r>
              <a:rPr lang="en-US" sz="3200" b="1" dirty="0" err="1"/>
              <a:t>SPI.setClockDivider</a:t>
            </a:r>
            <a:r>
              <a:rPr lang="en-US" sz="3200" b="1" dirty="0"/>
              <a:t>(divider) </a:t>
            </a:r>
            <a:r>
              <a:rPr lang="en-US" sz="3200" dirty="0"/>
              <a:t>– Sets the SPI clock divider (</a:t>
            </a:r>
            <a:r>
              <a:rPr lang="en-US" sz="3200" dirty="0" err="1">
                <a:solidFill>
                  <a:srgbClr val="CC0099"/>
                </a:solidFill>
              </a:rPr>
              <a:t>SPI_CLOCK_DIVn</a:t>
            </a:r>
            <a:r>
              <a:rPr lang="en-US" sz="3200" dirty="0">
                <a:solidFill>
                  <a:srgbClr val="CC0099"/>
                </a:solidFill>
              </a:rPr>
              <a:t>, n = 2, 4, 8, 16, 32, 64, or 128</a:t>
            </a:r>
            <a:r>
              <a:rPr lang="en-US" sz="3200" dirty="0"/>
              <a:t>). The </a:t>
            </a:r>
            <a:r>
              <a:rPr lang="en-US" sz="3200" b="1" dirty="0"/>
              <a:t>default setting </a:t>
            </a:r>
            <a:r>
              <a:rPr lang="en-US" sz="3200" dirty="0"/>
              <a:t>is </a:t>
            </a:r>
            <a:r>
              <a:rPr lang="en-US" sz="3200" b="1" dirty="0">
                <a:solidFill>
                  <a:srgbClr val="FF0000"/>
                </a:solidFill>
              </a:rPr>
              <a:t>SPI_CLOCK_DIV4</a:t>
            </a:r>
            <a:r>
              <a:rPr lang="en-US" sz="3200" dirty="0"/>
              <a:t>, which sets the </a:t>
            </a:r>
            <a:r>
              <a:rPr lang="en-US" sz="3200" dirty="0">
                <a:solidFill>
                  <a:srgbClr val="FF0000"/>
                </a:solidFill>
              </a:rPr>
              <a:t>SPI clock to </a:t>
            </a:r>
            <a:r>
              <a:rPr lang="en-US" sz="3200" b="1" dirty="0">
                <a:solidFill>
                  <a:srgbClr val="FF0000"/>
                </a:solidFill>
              </a:rPr>
              <a:t>4 MHz</a:t>
            </a:r>
            <a:r>
              <a:rPr lang="en-US" sz="3200" dirty="0">
                <a:solidFill>
                  <a:srgbClr val="FF0000"/>
                </a:solidFill>
              </a:rPr>
              <a:t> for Uno</a:t>
            </a:r>
          </a:p>
          <a:p>
            <a:pPr>
              <a:lnSpc>
                <a:spcPct val="100000"/>
              </a:lnSpc>
              <a:spcBef>
                <a:spcPts val="0"/>
              </a:spcBef>
            </a:pPr>
            <a:r>
              <a:rPr lang="en-US" sz="3200" b="1" dirty="0" err="1"/>
              <a:t>SPI.setDataMode</a:t>
            </a:r>
            <a:r>
              <a:rPr lang="en-US" sz="3200" b="1" dirty="0"/>
              <a:t>(mode) </a:t>
            </a:r>
            <a:r>
              <a:rPr lang="en-US" sz="3200" dirty="0"/>
              <a:t>– Sets the SPI data mode: clock polarity and phase. </a:t>
            </a:r>
            <a:r>
              <a:rPr lang="en-US" sz="3200" b="1" dirty="0">
                <a:solidFill>
                  <a:srgbClr val="FF0000"/>
                </a:solidFill>
              </a:rPr>
              <a:t>Available modes: SPI_MODE0 – SPI_MODE3</a:t>
            </a:r>
            <a:r>
              <a:rPr lang="en-US" sz="3200" dirty="0"/>
              <a:t>. refer to arduino.cc</a:t>
            </a:r>
          </a:p>
          <a:p>
            <a:pPr>
              <a:lnSpc>
                <a:spcPct val="100000"/>
              </a:lnSpc>
              <a:spcBef>
                <a:spcPts val="0"/>
              </a:spcBef>
            </a:pPr>
            <a:r>
              <a:rPr lang="en-US" sz="3200" b="1" dirty="0" err="1"/>
              <a:t>SPI.transfer</a:t>
            </a:r>
            <a:r>
              <a:rPr lang="en-US" sz="3200" b="1" dirty="0"/>
              <a:t>(</a:t>
            </a:r>
            <a:r>
              <a:rPr lang="en-US" sz="3200" b="1" dirty="0" err="1"/>
              <a:t>val</a:t>
            </a:r>
            <a:r>
              <a:rPr lang="en-US" sz="3200" b="1" dirty="0"/>
              <a:t>) </a:t>
            </a:r>
            <a:r>
              <a:rPr lang="en-US" sz="3200" dirty="0"/>
              <a:t>– Transfers </a:t>
            </a:r>
            <a:r>
              <a:rPr lang="en-US" sz="3200" b="1" dirty="0"/>
              <a:t>one byte </a:t>
            </a:r>
            <a:r>
              <a:rPr lang="en-US" sz="3200" dirty="0"/>
              <a:t>over the SPI bus, both sending and receiving. </a:t>
            </a:r>
            <a:r>
              <a:rPr lang="en-US" sz="3200" b="1" dirty="0" err="1">
                <a:solidFill>
                  <a:srgbClr val="FF0000"/>
                </a:solidFill>
              </a:rPr>
              <a:t>val</a:t>
            </a:r>
            <a:r>
              <a:rPr lang="en-US" sz="3200" b="1" dirty="0">
                <a:solidFill>
                  <a:srgbClr val="FF0000"/>
                </a:solidFill>
              </a:rPr>
              <a:t>: the byte to send out</a:t>
            </a:r>
            <a:r>
              <a:rPr lang="en-US" sz="3200" dirty="0"/>
              <a:t>.</a:t>
            </a:r>
          </a:p>
          <a:p>
            <a:pPr>
              <a:lnSpc>
                <a:spcPct val="100000"/>
              </a:lnSpc>
              <a:spcBef>
                <a:spcPts val="0"/>
              </a:spcBef>
            </a:pPr>
            <a:r>
              <a:rPr lang="en-US" sz="3200" b="1" dirty="0"/>
              <a:t>Returns: </a:t>
            </a:r>
            <a:r>
              <a:rPr lang="en-US" sz="3200" dirty="0"/>
              <a:t>the byte read from the bus.</a:t>
            </a:r>
          </a:p>
          <a:p>
            <a:pPr>
              <a:lnSpc>
                <a:spcPct val="100000"/>
              </a:lnSpc>
              <a:spcBef>
                <a:spcPts val="0"/>
              </a:spcBef>
            </a:pPr>
            <a:r>
              <a:rPr lang="en-US" sz="3200" b="1" dirty="0" err="1"/>
              <a:t>SPI.beginTransaction</a:t>
            </a:r>
            <a:r>
              <a:rPr lang="en-US" sz="3200" b="1" dirty="0"/>
              <a:t>(</a:t>
            </a:r>
            <a:r>
              <a:rPr lang="en-US" sz="3200" b="1" dirty="0" err="1"/>
              <a:t>SPISettings</a:t>
            </a:r>
            <a:r>
              <a:rPr lang="en-US" sz="3200" b="1" dirty="0"/>
              <a:t>(</a:t>
            </a:r>
            <a:r>
              <a:rPr lang="en-US" sz="3200" b="1" dirty="0" err="1"/>
              <a:t>speedMaximum</a:t>
            </a:r>
            <a:r>
              <a:rPr lang="en-US" sz="3200" b="1" dirty="0"/>
              <a:t>, </a:t>
            </a:r>
            <a:r>
              <a:rPr lang="en-US" sz="3200" b="1" dirty="0" err="1"/>
              <a:t>dataOrder</a:t>
            </a:r>
            <a:r>
              <a:rPr lang="en-US" sz="3200" b="1" dirty="0"/>
              <a:t>, </a:t>
            </a:r>
            <a:r>
              <a:rPr lang="en-US" sz="3200" b="1" dirty="0" err="1"/>
              <a:t>dataMode</a:t>
            </a:r>
            <a:r>
              <a:rPr lang="en-US" sz="3200" b="1" dirty="0"/>
              <a:t>)) </a:t>
            </a:r>
            <a:r>
              <a:rPr lang="en-US" sz="3200" dirty="0"/>
              <a:t>− </a:t>
            </a:r>
            <a:r>
              <a:rPr lang="en-US" sz="3200" dirty="0" err="1"/>
              <a:t>speedMaximum</a:t>
            </a:r>
            <a:r>
              <a:rPr lang="en-US" sz="3200" dirty="0"/>
              <a:t> is the clock, </a:t>
            </a:r>
            <a:r>
              <a:rPr lang="en-US" sz="3200" dirty="0" err="1"/>
              <a:t>dataOrder</a:t>
            </a:r>
            <a:r>
              <a:rPr lang="en-US" sz="3200" dirty="0"/>
              <a:t>(MSBFIRST or LSBFIRST), </a:t>
            </a:r>
            <a:r>
              <a:rPr lang="en-US" sz="3200" dirty="0" err="1"/>
              <a:t>dataMode</a:t>
            </a:r>
            <a:r>
              <a:rPr lang="en-US" sz="3200" dirty="0"/>
              <a:t>(SPI_MODE0, SPI_MODE1, SPI_MODE2, or SPI_MODE3).</a:t>
            </a:r>
          </a:p>
          <a:p>
            <a:pPr>
              <a:lnSpc>
                <a:spcPct val="100000"/>
              </a:lnSpc>
              <a:spcBef>
                <a:spcPts val="0"/>
              </a:spcBef>
            </a:pPr>
            <a:endParaRPr lang="en-US" sz="3200" dirty="0"/>
          </a:p>
        </p:txBody>
      </p:sp>
      <p:sp>
        <p:nvSpPr>
          <p:cNvPr id="4" name="Date Placeholder 3"/>
          <p:cNvSpPr>
            <a:spLocks noGrp="1"/>
          </p:cNvSpPr>
          <p:nvPr>
            <p:ph type="dt" sz="half" idx="10"/>
          </p:nvPr>
        </p:nvSpPr>
        <p:spPr/>
        <p:txBody>
          <a:bodyPr/>
          <a:lstStyle/>
          <a:p>
            <a:fld id="{0ED04289-A90E-411A-A4F2-A70AC3C225B3}" type="datetime3">
              <a:rPr lang="en-US" smtClean="0"/>
              <a:t>3 December 2025</a:t>
            </a:fld>
            <a:endParaRPr lang="en-US"/>
          </a:p>
        </p:txBody>
      </p:sp>
      <p:sp>
        <p:nvSpPr>
          <p:cNvPr id="6" name="Slide Number Placeholder 5"/>
          <p:cNvSpPr>
            <a:spLocks noGrp="1"/>
          </p:cNvSpPr>
          <p:nvPr>
            <p:ph type="sldNum" sz="quarter" idx="12"/>
          </p:nvPr>
        </p:nvSpPr>
        <p:spPr/>
        <p:txBody>
          <a:bodyPr/>
          <a:lstStyle/>
          <a:p>
            <a:fld id="{90416D69-EFB9-4734-9DF5-4234A5F1A98A}" type="slidenum">
              <a:rPr lang="en-US" smtClean="0"/>
              <a:t>24</a:t>
            </a:fld>
            <a:endParaRPr lang="en-US"/>
          </a:p>
        </p:txBody>
      </p:sp>
    </p:spTree>
    <p:extLst>
      <p:ext uri="{BB962C8B-B14F-4D97-AF65-F5344CB8AC3E}">
        <p14:creationId xmlns:p14="http://schemas.microsoft.com/office/powerpoint/2010/main" val="5954130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A02CA-F63B-4A84-986C-A613026628E2}"/>
              </a:ext>
            </a:extLst>
          </p:cNvPr>
          <p:cNvSpPr>
            <a:spLocks noGrp="1"/>
          </p:cNvSpPr>
          <p:nvPr>
            <p:ph type="title"/>
          </p:nvPr>
        </p:nvSpPr>
        <p:spPr>
          <a:xfrm>
            <a:off x="1771829" y="118534"/>
            <a:ext cx="9962147" cy="645732"/>
          </a:xfrm>
        </p:spPr>
        <p:txBody>
          <a:bodyPr>
            <a:noAutofit/>
          </a:bodyPr>
          <a:lstStyle/>
          <a:p>
            <a:r>
              <a:rPr lang="en-US" sz="5400" b="1" dirty="0">
                <a:solidFill>
                  <a:srgbClr val="002060"/>
                </a:solidFill>
              </a:rPr>
              <a:t>SPI Examples</a:t>
            </a:r>
          </a:p>
        </p:txBody>
      </p:sp>
      <p:sp>
        <p:nvSpPr>
          <p:cNvPr id="3" name="Content Placeholder 2">
            <a:extLst>
              <a:ext uri="{FF2B5EF4-FFF2-40B4-BE49-F238E27FC236}">
                <a16:creationId xmlns:a16="http://schemas.microsoft.com/office/drawing/2014/main" id="{B520C749-701D-413F-8F1E-60E9B660709D}"/>
              </a:ext>
            </a:extLst>
          </p:cNvPr>
          <p:cNvSpPr>
            <a:spLocks noGrp="1"/>
          </p:cNvSpPr>
          <p:nvPr>
            <p:ph idx="1"/>
          </p:nvPr>
        </p:nvSpPr>
        <p:spPr>
          <a:xfrm>
            <a:off x="224432" y="798132"/>
            <a:ext cx="7869702" cy="7121502"/>
          </a:xfrm>
          <a:ln>
            <a:solidFill>
              <a:srgbClr val="00B050"/>
            </a:solidFill>
          </a:ln>
        </p:spPr>
        <p:txBody>
          <a:bodyPr>
            <a:noAutofit/>
          </a:bodyPr>
          <a:lstStyle/>
          <a:p>
            <a:pPr marL="0" indent="0">
              <a:lnSpc>
                <a:spcPct val="100000"/>
              </a:lnSpc>
              <a:spcBef>
                <a:spcPts val="0"/>
              </a:spcBef>
              <a:buNone/>
            </a:pPr>
            <a:r>
              <a:rPr lang="en-US" sz="2400" dirty="0"/>
              <a:t>#include &lt;</a:t>
            </a:r>
            <a:r>
              <a:rPr lang="en-US" sz="2400" dirty="0" err="1"/>
              <a:t>SPI.h</a:t>
            </a:r>
            <a:r>
              <a:rPr lang="en-US" sz="2400" dirty="0"/>
              <a:t>&gt;</a:t>
            </a:r>
          </a:p>
          <a:p>
            <a:pPr marL="0" indent="0">
              <a:lnSpc>
                <a:spcPct val="100000"/>
              </a:lnSpc>
              <a:spcBef>
                <a:spcPts val="0"/>
              </a:spcBef>
              <a:buNone/>
            </a:pPr>
            <a:endParaRPr lang="en-US" sz="1400" dirty="0"/>
          </a:p>
          <a:p>
            <a:pPr marL="0" indent="0">
              <a:lnSpc>
                <a:spcPct val="100000"/>
              </a:lnSpc>
              <a:spcBef>
                <a:spcPts val="0"/>
              </a:spcBef>
              <a:buNone/>
            </a:pPr>
            <a:r>
              <a:rPr lang="en-US" sz="2400" dirty="0"/>
              <a:t>void setup (void) {</a:t>
            </a:r>
          </a:p>
          <a:p>
            <a:pPr marL="0" indent="0">
              <a:lnSpc>
                <a:spcPct val="100000"/>
              </a:lnSpc>
              <a:spcBef>
                <a:spcPts val="0"/>
              </a:spcBef>
              <a:buNone/>
            </a:pPr>
            <a:r>
              <a:rPr lang="en-US" sz="2400" dirty="0"/>
              <a:t>   </a:t>
            </a:r>
            <a:r>
              <a:rPr lang="en-US" sz="2400" dirty="0" err="1"/>
              <a:t>Serial.begin</a:t>
            </a:r>
            <a:r>
              <a:rPr lang="en-US" sz="2400" dirty="0"/>
              <a:t>(115200); //set baud rate to 115200 for USART</a:t>
            </a:r>
          </a:p>
          <a:p>
            <a:pPr marL="0" indent="0">
              <a:lnSpc>
                <a:spcPct val="100000"/>
              </a:lnSpc>
              <a:spcBef>
                <a:spcPts val="0"/>
              </a:spcBef>
              <a:buNone/>
            </a:pPr>
            <a:r>
              <a:rPr lang="en-US" sz="2400" dirty="0"/>
              <a:t>   </a:t>
            </a:r>
            <a:r>
              <a:rPr lang="en-US" sz="2400" dirty="0" err="1"/>
              <a:t>digitalWrite</a:t>
            </a:r>
            <a:r>
              <a:rPr lang="en-US" sz="2400" dirty="0"/>
              <a:t>(SS, HIGH); // disable Slave Select</a:t>
            </a:r>
          </a:p>
          <a:p>
            <a:pPr marL="0" indent="0">
              <a:lnSpc>
                <a:spcPct val="100000"/>
              </a:lnSpc>
              <a:spcBef>
                <a:spcPts val="0"/>
              </a:spcBef>
              <a:buNone/>
            </a:pPr>
            <a:r>
              <a:rPr lang="en-US" sz="2400" dirty="0"/>
              <a:t>   </a:t>
            </a:r>
            <a:r>
              <a:rPr lang="en-US" sz="2400" dirty="0" err="1"/>
              <a:t>SPI.begin</a:t>
            </a:r>
            <a:r>
              <a:rPr lang="en-US" sz="2400" dirty="0"/>
              <a:t> ();</a:t>
            </a:r>
          </a:p>
          <a:p>
            <a:pPr marL="0" indent="0">
              <a:lnSpc>
                <a:spcPct val="100000"/>
              </a:lnSpc>
              <a:spcBef>
                <a:spcPts val="0"/>
              </a:spcBef>
              <a:buNone/>
            </a:pPr>
            <a:r>
              <a:rPr lang="en-US" sz="2400" dirty="0"/>
              <a:t>   </a:t>
            </a:r>
            <a:r>
              <a:rPr lang="en-US" sz="2400" dirty="0" err="1"/>
              <a:t>SPI.setClockDivider</a:t>
            </a:r>
            <a:r>
              <a:rPr lang="en-US" sz="2400" dirty="0"/>
              <a:t>(SPI_CLOCK_DIV8);//divide the clock by 8</a:t>
            </a:r>
          </a:p>
          <a:p>
            <a:pPr marL="0" indent="0">
              <a:lnSpc>
                <a:spcPct val="100000"/>
              </a:lnSpc>
              <a:spcBef>
                <a:spcPts val="0"/>
              </a:spcBef>
              <a:buNone/>
            </a:pPr>
            <a:r>
              <a:rPr lang="en-US" sz="2400" dirty="0"/>
              <a:t>}</a:t>
            </a:r>
          </a:p>
          <a:p>
            <a:pPr marL="0" indent="0">
              <a:lnSpc>
                <a:spcPct val="100000"/>
              </a:lnSpc>
              <a:spcBef>
                <a:spcPts val="0"/>
              </a:spcBef>
              <a:buNone/>
            </a:pPr>
            <a:endParaRPr lang="en-US" sz="1400" dirty="0"/>
          </a:p>
          <a:p>
            <a:pPr marL="0" indent="0">
              <a:lnSpc>
                <a:spcPct val="100000"/>
              </a:lnSpc>
              <a:spcBef>
                <a:spcPts val="0"/>
              </a:spcBef>
              <a:buNone/>
            </a:pPr>
            <a:r>
              <a:rPr lang="en-US" sz="2400" dirty="0"/>
              <a:t>void loop (void) {</a:t>
            </a:r>
          </a:p>
          <a:p>
            <a:pPr marL="0" indent="0">
              <a:lnSpc>
                <a:spcPct val="100000"/>
              </a:lnSpc>
              <a:spcBef>
                <a:spcPts val="0"/>
              </a:spcBef>
              <a:buNone/>
            </a:pPr>
            <a:r>
              <a:rPr lang="en-US" sz="2400" dirty="0"/>
              <a:t>   char c;</a:t>
            </a:r>
          </a:p>
          <a:p>
            <a:pPr marL="0" indent="0">
              <a:lnSpc>
                <a:spcPct val="100000"/>
              </a:lnSpc>
              <a:spcBef>
                <a:spcPts val="0"/>
              </a:spcBef>
              <a:buNone/>
            </a:pPr>
            <a:r>
              <a:rPr lang="en-US" sz="2400" dirty="0"/>
              <a:t>   </a:t>
            </a:r>
            <a:r>
              <a:rPr lang="en-US" sz="2400" dirty="0" err="1"/>
              <a:t>digitalWrite</a:t>
            </a:r>
            <a:r>
              <a:rPr lang="en-US" sz="2400" dirty="0"/>
              <a:t>(SS, LOW); // enable Slave Select</a:t>
            </a:r>
          </a:p>
          <a:p>
            <a:pPr marL="0" indent="0">
              <a:lnSpc>
                <a:spcPct val="100000"/>
              </a:lnSpc>
              <a:spcBef>
                <a:spcPts val="0"/>
              </a:spcBef>
              <a:buNone/>
            </a:pPr>
            <a:r>
              <a:rPr lang="en-US" sz="2400" dirty="0"/>
              <a:t>   // send test string</a:t>
            </a:r>
          </a:p>
          <a:p>
            <a:pPr marL="0" indent="0">
              <a:lnSpc>
                <a:spcPct val="100000"/>
              </a:lnSpc>
              <a:spcBef>
                <a:spcPts val="0"/>
              </a:spcBef>
              <a:buNone/>
            </a:pPr>
            <a:r>
              <a:rPr lang="en-US" sz="2400" dirty="0"/>
              <a:t>   for (</a:t>
            </a:r>
            <a:r>
              <a:rPr lang="en-US" sz="2400" dirty="0" err="1"/>
              <a:t>const</a:t>
            </a:r>
            <a:r>
              <a:rPr lang="en-US" sz="2400" dirty="0"/>
              <a:t> char * p = "Hello, world!\r" ; c = *p; p++) {</a:t>
            </a:r>
          </a:p>
          <a:p>
            <a:pPr marL="0" indent="0">
              <a:lnSpc>
                <a:spcPct val="100000"/>
              </a:lnSpc>
              <a:spcBef>
                <a:spcPts val="0"/>
              </a:spcBef>
              <a:buNone/>
            </a:pPr>
            <a:r>
              <a:rPr lang="en-US" sz="2400" dirty="0"/>
              <a:t>      </a:t>
            </a:r>
            <a:r>
              <a:rPr lang="en-US" sz="2400" dirty="0" err="1"/>
              <a:t>SPI.transfer</a:t>
            </a:r>
            <a:r>
              <a:rPr lang="en-US" sz="2400" dirty="0"/>
              <a:t> (c);</a:t>
            </a:r>
          </a:p>
          <a:p>
            <a:pPr marL="0" indent="0">
              <a:lnSpc>
                <a:spcPct val="100000"/>
              </a:lnSpc>
              <a:spcBef>
                <a:spcPts val="0"/>
              </a:spcBef>
              <a:buNone/>
            </a:pPr>
            <a:r>
              <a:rPr lang="en-US" sz="2400" dirty="0"/>
              <a:t>      </a:t>
            </a:r>
            <a:r>
              <a:rPr lang="en-US" sz="2400" dirty="0" err="1"/>
              <a:t>Serial.print</a:t>
            </a:r>
            <a:r>
              <a:rPr lang="en-US" sz="2400" dirty="0"/>
              <a:t>(c);</a:t>
            </a:r>
          </a:p>
          <a:p>
            <a:pPr marL="0" indent="0">
              <a:lnSpc>
                <a:spcPct val="100000"/>
              </a:lnSpc>
              <a:spcBef>
                <a:spcPts val="0"/>
              </a:spcBef>
              <a:buNone/>
            </a:pPr>
            <a:r>
              <a:rPr lang="en-US" sz="2400" dirty="0"/>
              <a:t>   }</a:t>
            </a:r>
          </a:p>
          <a:p>
            <a:pPr marL="0" indent="0">
              <a:lnSpc>
                <a:spcPct val="100000"/>
              </a:lnSpc>
              <a:spcBef>
                <a:spcPts val="0"/>
              </a:spcBef>
              <a:buNone/>
            </a:pPr>
            <a:r>
              <a:rPr lang="en-US" sz="2400" dirty="0"/>
              <a:t>   </a:t>
            </a:r>
            <a:r>
              <a:rPr lang="en-US" sz="2400" dirty="0" err="1"/>
              <a:t>digitalWrite</a:t>
            </a:r>
            <a:r>
              <a:rPr lang="en-US" sz="2400" dirty="0"/>
              <a:t>(SS, HIGH); // disable Slave Select</a:t>
            </a:r>
          </a:p>
          <a:p>
            <a:pPr marL="0" indent="0">
              <a:lnSpc>
                <a:spcPct val="100000"/>
              </a:lnSpc>
              <a:spcBef>
                <a:spcPts val="0"/>
              </a:spcBef>
              <a:buNone/>
            </a:pPr>
            <a:r>
              <a:rPr lang="en-US" sz="2400" dirty="0"/>
              <a:t>   delay(2000);</a:t>
            </a:r>
          </a:p>
          <a:p>
            <a:pPr marL="0" indent="0">
              <a:lnSpc>
                <a:spcPct val="100000"/>
              </a:lnSpc>
              <a:spcBef>
                <a:spcPts val="0"/>
              </a:spcBef>
              <a:buNone/>
            </a:pPr>
            <a:r>
              <a:rPr lang="en-US" sz="2400" dirty="0"/>
              <a:t>}</a:t>
            </a:r>
            <a:endParaRPr lang="en-US" sz="2000" dirty="0"/>
          </a:p>
        </p:txBody>
      </p:sp>
      <p:sp>
        <p:nvSpPr>
          <p:cNvPr id="4" name="Date Placeholder 3"/>
          <p:cNvSpPr>
            <a:spLocks noGrp="1"/>
          </p:cNvSpPr>
          <p:nvPr>
            <p:ph type="dt" sz="half" idx="10"/>
          </p:nvPr>
        </p:nvSpPr>
        <p:spPr/>
        <p:txBody>
          <a:bodyPr/>
          <a:lstStyle/>
          <a:p>
            <a:fld id="{0ED04289-A90E-411A-A4F2-A70AC3C225B3}" type="datetime3">
              <a:rPr lang="en-US" smtClean="0"/>
              <a:t>3 December 2025</a:t>
            </a:fld>
            <a:endParaRPr lang="en-US"/>
          </a:p>
        </p:txBody>
      </p:sp>
      <p:sp>
        <p:nvSpPr>
          <p:cNvPr id="6" name="Slide Number Placeholder 5"/>
          <p:cNvSpPr>
            <a:spLocks noGrp="1"/>
          </p:cNvSpPr>
          <p:nvPr>
            <p:ph type="sldNum" sz="quarter" idx="12"/>
          </p:nvPr>
        </p:nvSpPr>
        <p:spPr/>
        <p:txBody>
          <a:bodyPr/>
          <a:lstStyle/>
          <a:p>
            <a:fld id="{90416D69-EFB9-4734-9DF5-4234A5F1A98A}" type="slidenum">
              <a:rPr lang="en-US" smtClean="0"/>
              <a:t>25</a:t>
            </a:fld>
            <a:endParaRPr lang="en-US"/>
          </a:p>
        </p:txBody>
      </p:sp>
      <p:sp>
        <p:nvSpPr>
          <p:cNvPr id="7" name="Rectangle 6"/>
          <p:cNvSpPr/>
          <p:nvPr/>
        </p:nvSpPr>
        <p:spPr>
          <a:xfrm>
            <a:off x="3859045" y="734583"/>
            <a:ext cx="1593065" cy="369332"/>
          </a:xfrm>
          <a:prstGeom prst="rect">
            <a:avLst/>
          </a:prstGeom>
        </p:spPr>
        <p:txBody>
          <a:bodyPr wrap="none">
            <a:spAutoFit/>
          </a:bodyPr>
          <a:lstStyle/>
          <a:p>
            <a:r>
              <a:rPr lang="en-US" b="1" dirty="0"/>
              <a:t>SPI as MASTER</a:t>
            </a:r>
          </a:p>
        </p:txBody>
      </p:sp>
      <p:sp>
        <p:nvSpPr>
          <p:cNvPr id="8" name="Rectangle 7"/>
          <p:cNvSpPr/>
          <p:nvPr/>
        </p:nvSpPr>
        <p:spPr>
          <a:xfrm>
            <a:off x="10362126" y="119667"/>
            <a:ext cx="1371850" cy="369332"/>
          </a:xfrm>
          <a:prstGeom prst="rect">
            <a:avLst/>
          </a:prstGeom>
        </p:spPr>
        <p:txBody>
          <a:bodyPr wrap="none">
            <a:spAutoFit/>
          </a:bodyPr>
          <a:lstStyle/>
          <a:p>
            <a:r>
              <a:rPr lang="en-US" b="1" dirty="0"/>
              <a:t>SPI as SLAVE</a:t>
            </a:r>
          </a:p>
        </p:txBody>
      </p:sp>
      <p:sp>
        <p:nvSpPr>
          <p:cNvPr id="9" name="Content Placeholder 2">
            <a:extLst>
              <a:ext uri="{FF2B5EF4-FFF2-40B4-BE49-F238E27FC236}">
                <a16:creationId xmlns:a16="http://schemas.microsoft.com/office/drawing/2014/main" id="{B520C749-701D-413F-8F1E-60E9B660709D}"/>
              </a:ext>
            </a:extLst>
          </p:cNvPr>
          <p:cNvSpPr txBox="1">
            <a:spLocks/>
          </p:cNvSpPr>
          <p:nvPr/>
        </p:nvSpPr>
        <p:spPr>
          <a:xfrm>
            <a:off x="8373956" y="488999"/>
            <a:ext cx="7869702" cy="7430635"/>
          </a:xfrm>
          <a:prstGeom prst="rect">
            <a:avLst/>
          </a:prstGeom>
          <a:ln>
            <a:solidFill>
              <a:srgbClr val="FF0000"/>
            </a:solidFill>
          </a:ln>
        </p:spPr>
        <p:txBody>
          <a:bodyPr vert="horz" lIns="91440" tIns="45720" rIns="91440" bIns="45720" rtlCol="0">
            <a:noAutofit/>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marL="0" indent="0">
              <a:lnSpc>
                <a:spcPct val="100000"/>
              </a:lnSpc>
              <a:spcBef>
                <a:spcPts val="0"/>
              </a:spcBef>
              <a:buNone/>
            </a:pPr>
            <a:r>
              <a:rPr lang="en-US" sz="1800" dirty="0"/>
              <a:t>#include &lt;</a:t>
            </a:r>
            <a:r>
              <a:rPr lang="en-US" sz="1800" dirty="0" err="1"/>
              <a:t>SPI.h</a:t>
            </a:r>
            <a:r>
              <a:rPr lang="en-US" sz="1800" dirty="0"/>
              <a:t>&gt;</a:t>
            </a:r>
          </a:p>
          <a:p>
            <a:pPr marL="0" indent="0">
              <a:lnSpc>
                <a:spcPct val="100000"/>
              </a:lnSpc>
              <a:spcBef>
                <a:spcPts val="0"/>
              </a:spcBef>
              <a:buNone/>
            </a:pPr>
            <a:r>
              <a:rPr lang="en-US" sz="1800" dirty="0"/>
              <a:t>char buff [50];</a:t>
            </a:r>
          </a:p>
          <a:p>
            <a:pPr marL="0" indent="0">
              <a:lnSpc>
                <a:spcPct val="100000"/>
              </a:lnSpc>
              <a:spcBef>
                <a:spcPts val="0"/>
              </a:spcBef>
              <a:buNone/>
            </a:pPr>
            <a:r>
              <a:rPr lang="en-US" sz="1800" dirty="0"/>
              <a:t>volatile byte </a:t>
            </a:r>
            <a:r>
              <a:rPr lang="en-US" sz="1800" dirty="0" err="1"/>
              <a:t>indx</a:t>
            </a:r>
            <a:r>
              <a:rPr lang="en-US" sz="1800" dirty="0"/>
              <a:t>;</a:t>
            </a:r>
          </a:p>
          <a:p>
            <a:pPr marL="0" indent="0">
              <a:lnSpc>
                <a:spcPct val="100000"/>
              </a:lnSpc>
              <a:spcBef>
                <a:spcPts val="0"/>
              </a:spcBef>
              <a:buNone/>
            </a:pPr>
            <a:r>
              <a:rPr lang="en-US" sz="1800" dirty="0"/>
              <a:t>volatile </a:t>
            </a:r>
            <a:r>
              <a:rPr lang="en-US" sz="1800" dirty="0" err="1"/>
              <a:t>boolean</a:t>
            </a:r>
            <a:r>
              <a:rPr lang="en-US" sz="1800" dirty="0"/>
              <a:t> process;</a:t>
            </a:r>
          </a:p>
          <a:p>
            <a:pPr marL="0" indent="0">
              <a:lnSpc>
                <a:spcPct val="100000"/>
              </a:lnSpc>
              <a:spcBef>
                <a:spcPts val="0"/>
              </a:spcBef>
              <a:buNone/>
            </a:pPr>
            <a:r>
              <a:rPr lang="en-US" sz="1800" dirty="0"/>
              <a:t>void setup (void) {</a:t>
            </a:r>
          </a:p>
          <a:p>
            <a:pPr marL="0" indent="0">
              <a:lnSpc>
                <a:spcPct val="100000"/>
              </a:lnSpc>
              <a:spcBef>
                <a:spcPts val="0"/>
              </a:spcBef>
              <a:buNone/>
            </a:pPr>
            <a:r>
              <a:rPr lang="en-US" sz="1800" dirty="0"/>
              <a:t>   </a:t>
            </a:r>
            <a:r>
              <a:rPr lang="en-US" sz="1800" dirty="0" err="1"/>
              <a:t>Serial.begin</a:t>
            </a:r>
            <a:r>
              <a:rPr lang="en-US" sz="1800" dirty="0"/>
              <a:t> (115200);</a:t>
            </a:r>
          </a:p>
          <a:p>
            <a:pPr marL="0" indent="0">
              <a:lnSpc>
                <a:spcPct val="100000"/>
              </a:lnSpc>
              <a:spcBef>
                <a:spcPts val="0"/>
              </a:spcBef>
              <a:buNone/>
            </a:pPr>
            <a:r>
              <a:rPr lang="en-US" sz="1800" dirty="0"/>
              <a:t>   </a:t>
            </a:r>
            <a:r>
              <a:rPr lang="en-US" sz="1800" dirty="0" err="1"/>
              <a:t>pinMode</a:t>
            </a:r>
            <a:r>
              <a:rPr lang="en-US" sz="1800" dirty="0"/>
              <a:t>(MISO, OUTPUT); // have to send on master in so it set as output</a:t>
            </a:r>
          </a:p>
          <a:p>
            <a:pPr marL="0" indent="0">
              <a:lnSpc>
                <a:spcPct val="100000"/>
              </a:lnSpc>
              <a:spcBef>
                <a:spcPts val="0"/>
              </a:spcBef>
              <a:buNone/>
            </a:pPr>
            <a:r>
              <a:rPr lang="en-US" sz="1800" dirty="0"/>
              <a:t>   SPCR |= _BV(SPE); // turn on SPI in slave mode</a:t>
            </a:r>
          </a:p>
          <a:p>
            <a:pPr marL="0" indent="0">
              <a:lnSpc>
                <a:spcPct val="100000"/>
              </a:lnSpc>
              <a:spcBef>
                <a:spcPts val="0"/>
              </a:spcBef>
              <a:buNone/>
            </a:pPr>
            <a:r>
              <a:rPr lang="en-US" sz="1800" dirty="0"/>
              <a:t>   </a:t>
            </a:r>
            <a:r>
              <a:rPr lang="en-US" sz="1800" dirty="0" err="1"/>
              <a:t>indx</a:t>
            </a:r>
            <a:r>
              <a:rPr lang="en-US" sz="1800" dirty="0"/>
              <a:t> = 0; // buffer empty</a:t>
            </a:r>
          </a:p>
          <a:p>
            <a:pPr marL="0" indent="0">
              <a:lnSpc>
                <a:spcPct val="100000"/>
              </a:lnSpc>
              <a:spcBef>
                <a:spcPts val="0"/>
              </a:spcBef>
              <a:buNone/>
            </a:pPr>
            <a:r>
              <a:rPr lang="en-US" sz="1800" dirty="0"/>
              <a:t>   process = false;</a:t>
            </a:r>
          </a:p>
          <a:p>
            <a:pPr marL="0" indent="0">
              <a:lnSpc>
                <a:spcPct val="100000"/>
              </a:lnSpc>
              <a:spcBef>
                <a:spcPts val="0"/>
              </a:spcBef>
              <a:buNone/>
            </a:pPr>
            <a:r>
              <a:rPr lang="en-US" sz="1800" dirty="0"/>
              <a:t>   </a:t>
            </a:r>
            <a:r>
              <a:rPr lang="en-US" sz="1800" dirty="0" err="1"/>
              <a:t>SPI.attachInterrupt</a:t>
            </a:r>
            <a:r>
              <a:rPr lang="en-US" sz="1800" dirty="0"/>
              <a:t>(); // turn on interrupt</a:t>
            </a:r>
          </a:p>
          <a:p>
            <a:pPr marL="0" indent="0">
              <a:lnSpc>
                <a:spcPct val="100000"/>
              </a:lnSpc>
              <a:spcBef>
                <a:spcPts val="0"/>
              </a:spcBef>
              <a:buNone/>
            </a:pPr>
            <a:r>
              <a:rPr lang="en-US" sz="1800" dirty="0"/>
              <a:t>}</a:t>
            </a:r>
          </a:p>
          <a:p>
            <a:pPr marL="0" indent="0">
              <a:lnSpc>
                <a:spcPct val="100000"/>
              </a:lnSpc>
              <a:spcBef>
                <a:spcPts val="0"/>
              </a:spcBef>
              <a:buNone/>
            </a:pPr>
            <a:r>
              <a:rPr lang="en-US" sz="1800" dirty="0"/>
              <a:t>ISR (</a:t>
            </a:r>
            <a:r>
              <a:rPr lang="en-US" sz="1800" dirty="0" err="1"/>
              <a:t>SPI_STC_vect</a:t>
            </a:r>
            <a:r>
              <a:rPr lang="en-US" sz="1800" dirty="0"/>
              <a:t>) // SPI interrupt routine { </a:t>
            </a:r>
          </a:p>
          <a:p>
            <a:pPr marL="0" indent="0">
              <a:lnSpc>
                <a:spcPct val="100000"/>
              </a:lnSpc>
              <a:spcBef>
                <a:spcPts val="0"/>
              </a:spcBef>
              <a:buNone/>
            </a:pPr>
            <a:r>
              <a:rPr lang="en-US" sz="1800" dirty="0"/>
              <a:t>   byte c = SPDR; // read byte from SPI Data Register</a:t>
            </a:r>
          </a:p>
          <a:p>
            <a:pPr marL="0" indent="0">
              <a:lnSpc>
                <a:spcPct val="100000"/>
              </a:lnSpc>
              <a:spcBef>
                <a:spcPts val="0"/>
              </a:spcBef>
              <a:buNone/>
            </a:pPr>
            <a:r>
              <a:rPr lang="en-US" sz="1800" dirty="0"/>
              <a:t>   if (</a:t>
            </a:r>
            <a:r>
              <a:rPr lang="en-US" sz="1800" dirty="0" err="1"/>
              <a:t>indx</a:t>
            </a:r>
            <a:r>
              <a:rPr lang="en-US" sz="1800" dirty="0"/>
              <a:t> &lt; </a:t>
            </a:r>
            <a:r>
              <a:rPr lang="en-US" sz="1800" dirty="0" err="1"/>
              <a:t>sizeof</a:t>
            </a:r>
            <a:r>
              <a:rPr lang="en-US" sz="1800" dirty="0"/>
              <a:t> buff) {</a:t>
            </a:r>
          </a:p>
          <a:p>
            <a:pPr marL="0" indent="0">
              <a:lnSpc>
                <a:spcPct val="100000"/>
              </a:lnSpc>
              <a:spcBef>
                <a:spcPts val="0"/>
              </a:spcBef>
              <a:buNone/>
            </a:pPr>
            <a:r>
              <a:rPr lang="en-US" sz="1800" dirty="0"/>
              <a:t>      buff [</a:t>
            </a:r>
            <a:r>
              <a:rPr lang="en-US" sz="1800" dirty="0" err="1"/>
              <a:t>indx</a:t>
            </a:r>
            <a:r>
              <a:rPr lang="en-US" sz="1800" dirty="0"/>
              <a:t>++] = c; // save data in the next index in the array buff</a:t>
            </a:r>
          </a:p>
          <a:p>
            <a:pPr marL="0" indent="0">
              <a:lnSpc>
                <a:spcPct val="100000"/>
              </a:lnSpc>
              <a:spcBef>
                <a:spcPts val="0"/>
              </a:spcBef>
              <a:buNone/>
            </a:pPr>
            <a:r>
              <a:rPr lang="en-US" sz="1800" dirty="0"/>
              <a:t>      if (c == '\r') //check for the end of the word</a:t>
            </a:r>
          </a:p>
          <a:p>
            <a:pPr marL="0" indent="0">
              <a:lnSpc>
                <a:spcPct val="100000"/>
              </a:lnSpc>
              <a:spcBef>
                <a:spcPts val="0"/>
              </a:spcBef>
              <a:buNone/>
            </a:pPr>
            <a:r>
              <a:rPr lang="en-US" sz="1800" dirty="0"/>
              <a:t>      process = true;</a:t>
            </a:r>
          </a:p>
          <a:p>
            <a:pPr marL="0" indent="0">
              <a:lnSpc>
                <a:spcPct val="100000"/>
              </a:lnSpc>
              <a:spcBef>
                <a:spcPts val="0"/>
              </a:spcBef>
              <a:buNone/>
            </a:pPr>
            <a:r>
              <a:rPr lang="en-US" sz="1800" dirty="0"/>
              <a:t>   }</a:t>
            </a:r>
          </a:p>
          <a:p>
            <a:pPr marL="0" indent="0">
              <a:lnSpc>
                <a:spcPct val="100000"/>
              </a:lnSpc>
              <a:spcBef>
                <a:spcPts val="0"/>
              </a:spcBef>
              <a:buNone/>
            </a:pPr>
            <a:r>
              <a:rPr lang="en-US" sz="1800" dirty="0"/>
              <a:t>}</a:t>
            </a:r>
          </a:p>
          <a:p>
            <a:pPr marL="0" indent="0">
              <a:lnSpc>
                <a:spcPct val="100000"/>
              </a:lnSpc>
              <a:spcBef>
                <a:spcPts val="0"/>
              </a:spcBef>
              <a:buNone/>
            </a:pPr>
            <a:r>
              <a:rPr lang="en-US" sz="1800" dirty="0"/>
              <a:t>void loop (void) {</a:t>
            </a:r>
          </a:p>
          <a:p>
            <a:pPr marL="0" indent="0">
              <a:lnSpc>
                <a:spcPct val="100000"/>
              </a:lnSpc>
              <a:spcBef>
                <a:spcPts val="0"/>
              </a:spcBef>
              <a:buNone/>
            </a:pPr>
            <a:r>
              <a:rPr lang="en-US" sz="1800" dirty="0"/>
              <a:t>   if (process) {</a:t>
            </a:r>
          </a:p>
          <a:p>
            <a:pPr marL="0" indent="0">
              <a:lnSpc>
                <a:spcPct val="100000"/>
              </a:lnSpc>
              <a:spcBef>
                <a:spcPts val="0"/>
              </a:spcBef>
              <a:buNone/>
            </a:pPr>
            <a:r>
              <a:rPr lang="en-US" sz="1800" dirty="0"/>
              <a:t>      process = false; //reset the process</a:t>
            </a:r>
          </a:p>
          <a:p>
            <a:pPr marL="0" indent="0">
              <a:lnSpc>
                <a:spcPct val="100000"/>
              </a:lnSpc>
              <a:spcBef>
                <a:spcPts val="0"/>
              </a:spcBef>
              <a:buNone/>
            </a:pPr>
            <a:r>
              <a:rPr lang="en-US" sz="1800" dirty="0"/>
              <a:t>      </a:t>
            </a:r>
            <a:r>
              <a:rPr lang="en-US" sz="1800" dirty="0" err="1"/>
              <a:t>Serial.println</a:t>
            </a:r>
            <a:r>
              <a:rPr lang="en-US" sz="1800" dirty="0"/>
              <a:t> (buff); //print the array on serial monitor</a:t>
            </a:r>
          </a:p>
          <a:p>
            <a:pPr marL="0" indent="0">
              <a:lnSpc>
                <a:spcPct val="100000"/>
              </a:lnSpc>
              <a:spcBef>
                <a:spcPts val="0"/>
              </a:spcBef>
              <a:buNone/>
            </a:pPr>
            <a:r>
              <a:rPr lang="en-US" sz="1800" dirty="0"/>
              <a:t>      </a:t>
            </a:r>
            <a:r>
              <a:rPr lang="en-US" sz="1800" dirty="0" err="1"/>
              <a:t>indx</a:t>
            </a:r>
            <a:r>
              <a:rPr lang="en-US" sz="1800" dirty="0"/>
              <a:t>= 0; //reset button to zero</a:t>
            </a:r>
          </a:p>
          <a:p>
            <a:pPr marL="0" indent="0">
              <a:lnSpc>
                <a:spcPct val="100000"/>
              </a:lnSpc>
              <a:spcBef>
                <a:spcPts val="0"/>
              </a:spcBef>
              <a:buNone/>
            </a:pPr>
            <a:r>
              <a:rPr lang="en-US" sz="1800" dirty="0"/>
              <a:t>   }</a:t>
            </a:r>
          </a:p>
          <a:p>
            <a:pPr marL="0" indent="0">
              <a:lnSpc>
                <a:spcPct val="100000"/>
              </a:lnSpc>
              <a:spcBef>
                <a:spcPts val="0"/>
              </a:spcBef>
              <a:buNone/>
            </a:pPr>
            <a:r>
              <a:rPr lang="en-US" sz="1800" dirty="0"/>
              <a:t>}</a:t>
            </a:r>
            <a:endParaRPr lang="en-US" sz="1600" dirty="0"/>
          </a:p>
        </p:txBody>
      </p:sp>
      <p:pic>
        <p:nvPicPr>
          <p:cNvPr id="10" name="Picture 9">
            <a:extLst>
              <a:ext uri="{FF2B5EF4-FFF2-40B4-BE49-F238E27FC236}">
                <a16:creationId xmlns:a16="http://schemas.microsoft.com/office/drawing/2014/main" id="{5DFC5B63-F351-3B71-0C8C-E9BA20127ACA}"/>
              </a:ext>
            </a:extLst>
          </p:cNvPr>
          <p:cNvPicPr>
            <a:picLocks noChangeAspect="1"/>
          </p:cNvPicPr>
          <p:nvPr/>
        </p:nvPicPr>
        <p:blipFill>
          <a:blip r:embed="rId2"/>
          <a:stretch>
            <a:fillRect/>
          </a:stretch>
        </p:blipFill>
        <p:spPr>
          <a:xfrm>
            <a:off x="11836400" y="2748280"/>
            <a:ext cx="4318000" cy="527410"/>
          </a:xfrm>
          <a:prstGeom prst="rect">
            <a:avLst/>
          </a:prstGeom>
        </p:spPr>
      </p:pic>
    </p:spTree>
    <p:extLst>
      <p:ext uri="{BB962C8B-B14F-4D97-AF65-F5344CB8AC3E}">
        <p14:creationId xmlns:p14="http://schemas.microsoft.com/office/powerpoint/2010/main" val="23666078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1+#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A02CA-F63B-4A84-986C-A613026628E2}"/>
              </a:ext>
            </a:extLst>
          </p:cNvPr>
          <p:cNvSpPr>
            <a:spLocks noGrp="1"/>
          </p:cNvSpPr>
          <p:nvPr>
            <p:ph type="title"/>
          </p:nvPr>
        </p:nvSpPr>
        <p:spPr>
          <a:xfrm>
            <a:off x="1771829" y="118534"/>
            <a:ext cx="9962147" cy="645732"/>
          </a:xfrm>
        </p:spPr>
        <p:txBody>
          <a:bodyPr>
            <a:noAutofit/>
          </a:bodyPr>
          <a:lstStyle/>
          <a:p>
            <a:r>
              <a:rPr lang="en-US" sz="5400" b="1" dirty="0">
                <a:solidFill>
                  <a:srgbClr val="002060"/>
                </a:solidFill>
              </a:rPr>
              <a:t>SPI Modes</a:t>
            </a:r>
          </a:p>
        </p:txBody>
      </p:sp>
      <p:sp>
        <p:nvSpPr>
          <p:cNvPr id="3" name="Content Placeholder 2">
            <a:extLst>
              <a:ext uri="{FF2B5EF4-FFF2-40B4-BE49-F238E27FC236}">
                <a16:creationId xmlns:a16="http://schemas.microsoft.com/office/drawing/2014/main" id="{B520C749-701D-413F-8F1E-60E9B660709D}"/>
              </a:ext>
            </a:extLst>
          </p:cNvPr>
          <p:cNvSpPr>
            <a:spLocks noGrp="1"/>
          </p:cNvSpPr>
          <p:nvPr>
            <p:ph idx="1"/>
          </p:nvPr>
        </p:nvSpPr>
        <p:spPr>
          <a:xfrm>
            <a:off x="224431" y="798132"/>
            <a:ext cx="16048501" cy="1722999"/>
          </a:xfrm>
        </p:spPr>
        <p:txBody>
          <a:bodyPr>
            <a:noAutofit/>
          </a:bodyPr>
          <a:lstStyle/>
          <a:p>
            <a:pPr marL="0" indent="0">
              <a:lnSpc>
                <a:spcPct val="100000"/>
              </a:lnSpc>
              <a:spcBef>
                <a:spcPts val="0"/>
              </a:spcBef>
              <a:buNone/>
            </a:pPr>
            <a:r>
              <a:rPr lang="en-US" sz="3600" dirty="0">
                <a:highlight>
                  <a:srgbClr val="FFFF00"/>
                </a:highlight>
              </a:rPr>
              <a:t>There are </a:t>
            </a:r>
            <a:r>
              <a:rPr lang="en-US" sz="3600" b="1" dirty="0">
                <a:solidFill>
                  <a:srgbClr val="FF0000"/>
                </a:solidFill>
                <a:highlight>
                  <a:srgbClr val="FFFF00"/>
                </a:highlight>
              </a:rPr>
              <a:t>four modes (0, 1, 2, 3) </a:t>
            </a:r>
            <a:r>
              <a:rPr lang="en-US" sz="3600" dirty="0">
                <a:highlight>
                  <a:srgbClr val="FFFF00"/>
                </a:highlight>
              </a:rPr>
              <a:t>of operation in SPI</a:t>
            </a:r>
            <a:r>
              <a:rPr lang="en-US" sz="3600" dirty="0"/>
              <a:t>. These modes correspond to the four possible clocking configurations. Clock transitions govern the shifting and sampling of data.</a:t>
            </a:r>
            <a:endParaRPr lang="en-US" sz="2000" dirty="0"/>
          </a:p>
        </p:txBody>
      </p:sp>
      <p:sp>
        <p:nvSpPr>
          <p:cNvPr id="4" name="Date Placeholder 3"/>
          <p:cNvSpPr>
            <a:spLocks noGrp="1"/>
          </p:cNvSpPr>
          <p:nvPr>
            <p:ph type="dt" sz="half" idx="10"/>
          </p:nvPr>
        </p:nvSpPr>
        <p:spPr/>
        <p:txBody>
          <a:bodyPr/>
          <a:lstStyle/>
          <a:p>
            <a:fld id="{0ED04289-A90E-411A-A4F2-A70AC3C225B3}" type="datetime3">
              <a:rPr lang="en-US" smtClean="0"/>
              <a:t>3 December 2025</a:t>
            </a:fld>
            <a:endParaRPr lang="en-US"/>
          </a:p>
        </p:txBody>
      </p:sp>
      <p:sp>
        <p:nvSpPr>
          <p:cNvPr id="6" name="Slide Number Placeholder 5"/>
          <p:cNvSpPr>
            <a:spLocks noGrp="1"/>
          </p:cNvSpPr>
          <p:nvPr>
            <p:ph type="sldNum" sz="quarter" idx="12"/>
          </p:nvPr>
        </p:nvSpPr>
        <p:spPr/>
        <p:txBody>
          <a:bodyPr/>
          <a:lstStyle/>
          <a:p>
            <a:fld id="{90416D69-EFB9-4734-9DF5-4234A5F1A98A}" type="slidenum">
              <a:rPr lang="en-US" smtClean="0"/>
              <a:t>26</a:t>
            </a:fld>
            <a:endParaRPr lang="en-US"/>
          </a:p>
        </p:txBody>
      </p:sp>
      <p:pic>
        <p:nvPicPr>
          <p:cNvPr id="7" name="Picture 6">
            <a:extLst>
              <a:ext uri="{FF2B5EF4-FFF2-40B4-BE49-F238E27FC236}">
                <a16:creationId xmlns:a16="http://schemas.microsoft.com/office/drawing/2014/main" id="{E35DD5EC-D946-3B9E-B7D1-C07A7A19998C}"/>
              </a:ext>
            </a:extLst>
          </p:cNvPr>
          <p:cNvPicPr>
            <a:picLocks noChangeAspect="1"/>
          </p:cNvPicPr>
          <p:nvPr/>
        </p:nvPicPr>
        <p:blipFill>
          <a:blip r:embed="rId2"/>
          <a:stretch>
            <a:fillRect/>
          </a:stretch>
        </p:blipFill>
        <p:spPr>
          <a:xfrm>
            <a:off x="367799" y="2521131"/>
            <a:ext cx="9063584" cy="5398503"/>
          </a:xfrm>
          <a:prstGeom prst="rect">
            <a:avLst/>
          </a:prstGeom>
        </p:spPr>
      </p:pic>
      <p:sp>
        <p:nvSpPr>
          <p:cNvPr id="9" name="TextBox 8">
            <a:extLst>
              <a:ext uri="{FF2B5EF4-FFF2-40B4-BE49-F238E27FC236}">
                <a16:creationId xmlns:a16="http://schemas.microsoft.com/office/drawing/2014/main" id="{76890E33-BD13-4D0C-6276-DB7371CDD390}"/>
              </a:ext>
            </a:extLst>
          </p:cNvPr>
          <p:cNvSpPr txBox="1"/>
          <p:nvPr/>
        </p:nvSpPr>
        <p:spPr>
          <a:xfrm>
            <a:off x="9574752" y="6534639"/>
            <a:ext cx="6516650" cy="1384995"/>
          </a:xfrm>
          <a:prstGeom prst="rect">
            <a:avLst/>
          </a:prstGeom>
          <a:noFill/>
        </p:spPr>
        <p:txBody>
          <a:bodyPr wrap="square">
            <a:spAutoFit/>
          </a:bodyPr>
          <a:lstStyle/>
          <a:p>
            <a:r>
              <a:rPr lang="en-US" sz="2800" dirty="0"/>
              <a:t>Bits that are </a:t>
            </a:r>
            <a:r>
              <a:rPr lang="en-US" sz="2800" dirty="0">
                <a:solidFill>
                  <a:srgbClr val="0070C0"/>
                </a:solidFill>
              </a:rPr>
              <a:t>sampled on the rising edge </a:t>
            </a:r>
            <a:r>
              <a:rPr lang="en-US" sz="2800" dirty="0"/>
              <a:t>of the clock cycle are </a:t>
            </a:r>
            <a:r>
              <a:rPr lang="en-US" sz="2800" dirty="0">
                <a:solidFill>
                  <a:srgbClr val="C00000"/>
                </a:solidFill>
              </a:rPr>
              <a:t>shifted out on the falling edge</a:t>
            </a:r>
            <a:r>
              <a:rPr lang="en-US" sz="2800" dirty="0"/>
              <a:t> of the clock cycle, and vice versa.</a:t>
            </a:r>
          </a:p>
        </p:txBody>
      </p:sp>
      <p:sp>
        <p:nvSpPr>
          <p:cNvPr id="11" name="TextBox 10">
            <a:extLst>
              <a:ext uri="{FF2B5EF4-FFF2-40B4-BE49-F238E27FC236}">
                <a16:creationId xmlns:a16="http://schemas.microsoft.com/office/drawing/2014/main" id="{A550EEC0-F9BB-387A-10EA-8D16CB4F9D15}"/>
              </a:ext>
            </a:extLst>
          </p:cNvPr>
          <p:cNvSpPr txBox="1"/>
          <p:nvPr/>
        </p:nvSpPr>
        <p:spPr>
          <a:xfrm>
            <a:off x="1275440" y="4114800"/>
            <a:ext cx="992777" cy="372779"/>
          </a:xfrm>
          <a:prstGeom prst="rect">
            <a:avLst/>
          </a:prstGeom>
          <a:noFill/>
        </p:spPr>
        <p:txBody>
          <a:bodyPr wrap="square">
            <a:spAutoFit/>
          </a:bodyPr>
          <a:lstStyle/>
          <a:p>
            <a:r>
              <a:rPr lang="en-US" sz="1800" b="1" dirty="0">
                <a:solidFill>
                  <a:srgbClr val="00B0F0"/>
                </a:solidFill>
              </a:rPr>
              <a:t>Mode 0</a:t>
            </a:r>
            <a:endParaRPr lang="en-US" dirty="0">
              <a:solidFill>
                <a:srgbClr val="00B0F0"/>
              </a:solidFill>
            </a:endParaRPr>
          </a:p>
        </p:txBody>
      </p:sp>
      <p:sp>
        <p:nvSpPr>
          <p:cNvPr id="12" name="TextBox 11">
            <a:extLst>
              <a:ext uri="{FF2B5EF4-FFF2-40B4-BE49-F238E27FC236}">
                <a16:creationId xmlns:a16="http://schemas.microsoft.com/office/drawing/2014/main" id="{CCC646A9-41A2-8011-EA0F-99735F95EE19}"/>
              </a:ext>
            </a:extLst>
          </p:cNvPr>
          <p:cNvSpPr txBox="1"/>
          <p:nvPr/>
        </p:nvSpPr>
        <p:spPr>
          <a:xfrm>
            <a:off x="1275439" y="4661214"/>
            <a:ext cx="992777" cy="372779"/>
          </a:xfrm>
          <a:prstGeom prst="rect">
            <a:avLst/>
          </a:prstGeom>
          <a:noFill/>
        </p:spPr>
        <p:txBody>
          <a:bodyPr wrap="square">
            <a:spAutoFit/>
          </a:bodyPr>
          <a:lstStyle/>
          <a:p>
            <a:r>
              <a:rPr lang="en-US" sz="1800" b="1" dirty="0">
                <a:solidFill>
                  <a:srgbClr val="00B0F0"/>
                </a:solidFill>
              </a:rPr>
              <a:t>Mode 1</a:t>
            </a:r>
            <a:endParaRPr lang="en-US" dirty="0">
              <a:solidFill>
                <a:srgbClr val="00B0F0"/>
              </a:solidFill>
            </a:endParaRPr>
          </a:p>
        </p:txBody>
      </p:sp>
      <p:sp>
        <p:nvSpPr>
          <p:cNvPr id="13" name="TextBox 12">
            <a:extLst>
              <a:ext uri="{FF2B5EF4-FFF2-40B4-BE49-F238E27FC236}">
                <a16:creationId xmlns:a16="http://schemas.microsoft.com/office/drawing/2014/main" id="{B80A5A44-9A01-2956-81F1-97A107A379B7}"/>
              </a:ext>
            </a:extLst>
          </p:cNvPr>
          <p:cNvSpPr txBox="1"/>
          <p:nvPr/>
        </p:nvSpPr>
        <p:spPr>
          <a:xfrm>
            <a:off x="1275439" y="5371231"/>
            <a:ext cx="992777" cy="372779"/>
          </a:xfrm>
          <a:prstGeom prst="rect">
            <a:avLst/>
          </a:prstGeom>
          <a:noFill/>
        </p:spPr>
        <p:txBody>
          <a:bodyPr wrap="square">
            <a:spAutoFit/>
          </a:bodyPr>
          <a:lstStyle/>
          <a:p>
            <a:r>
              <a:rPr lang="en-US" sz="1800" b="1" dirty="0">
                <a:solidFill>
                  <a:schemeClr val="accent2"/>
                </a:solidFill>
              </a:rPr>
              <a:t>Mode 2</a:t>
            </a:r>
            <a:endParaRPr lang="en-US" dirty="0">
              <a:solidFill>
                <a:schemeClr val="accent2"/>
              </a:solidFill>
            </a:endParaRPr>
          </a:p>
        </p:txBody>
      </p:sp>
      <p:sp>
        <p:nvSpPr>
          <p:cNvPr id="14" name="TextBox 13">
            <a:extLst>
              <a:ext uri="{FF2B5EF4-FFF2-40B4-BE49-F238E27FC236}">
                <a16:creationId xmlns:a16="http://schemas.microsoft.com/office/drawing/2014/main" id="{60143495-33F8-66B8-C0A2-58245939D115}"/>
              </a:ext>
            </a:extLst>
          </p:cNvPr>
          <p:cNvSpPr txBox="1"/>
          <p:nvPr/>
        </p:nvSpPr>
        <p:spPr>
          <a:xfrm>
            <a:off x="1275438" y="5976379"/>
            <a:ext cx="992777" cy="372779"/>
          </a:xfrm>
          <a:prstGeom prst="rect">
            <a:avLst/>
          </a:prstGeom>
          <a:noFill/>
        </p:spPr>
        <p:txBody>
          <a:bodyPr wrap="square">
            <a:spAutoFit/>
          </a:bodyPr>
          <a:lstStyle/>
          <a:p>
            <a:r>
              <a:rPr lang="en-US" sz="1800" b="1" dirty="0">
                <a:solidFill>
                  <a:schemeClr val="accent2"/>
                </a:solidFill>
              </a:rPr>
              <a:t>Mode 3</a:t>
            </a:r>
            <a:endParaRPr lang="en-US" dirty="0">
              <a:solidFill>
                <a:schemeClr val="accent2"/>
              </a:solidFill>
            </a:endParaRPr>
          </a:p>
        </p:txBody>
      </p:sp>
      <p:sp>
        <p:nvSpPr>
          <p:cNvPr id="16" name="TextBox 15">
            <a:extLst>
              <a:ext uri="{FF2B5EF4-FFF2-40B4-BE49-F238E27FC236}">
                <a16:creationId xmlns:a16="http://schemas.microsoft.com/office/drawing/2014/main" id="{DB32A638-A6AE-4FF3-BF41-166E955100C0}"/>
              </a:ext>
            </a:extLst>
          </p:cNvPr>
          <p:cNvSpPr txBox="1"/>
          <p:nvPr/>
        </p:nvSpPr>
        <p:spPr>
          <a:xfrm>
            <a:off x="9574751" y="2540595"/>
            <a:ext cx="6698181" cy="2923877"/>
          </a:xfrm>
          <a:prstGeom prst="rect">
            <a:avLst/>
          </a:prstGeom>
          <a:noFill/>
        </p:spPr>
        <p:txBody>
          <a:bodyPr wrap="square">
            <a:spAutoFit/>
          </a:bodyPr>
          <a:lstStyle/>
          <a:p>
            <a:r>
              <a:rPr lang="en-US" sz="3200" b="1" dirty="0">
                <a:solidFill>
                  <a:srgbClr val="0070C0"/>
                </a:solidFill>
              </a:rPr>
              <a:t>CPOL: Clock Polarity: </a:t>
            </a:r>
            <a:r>
              <a:rPr lang="en-US" sz="3200" dirty="0"/>
              <a:t>This governs the initial logic state of the clock signal.</a:t>
            </a:r>
          </a:p>
          <a:p>
            <a:endParaRPr lang="en-US" sz="2400" dirty="0"/>
          </a:p>
          <a:p>
            <a:r>
              <a:rPr lang="en-US" sz="3200" b="1" dirty="0">
                <a:solidFill>
                  <a:srgbClr val="00B050"/>
                </a:solidFill>
              </a:rPr>
              <a:t>CPHA: Clock Phase:</a:t>
            </a:r>
            <a:r>
              <a:rPr lang="en-US" sz="3200" dirty="0">
                <a:solidFill>
                  <a:srgbClr val="00B050"/>
                </a:solidFill>
              </a:rPr>
              <a:t> </a:t>
            </a:r>
            <a:r>
              <a:rPr lang="en-US" sz="3200" dirty="0"/>
              <a:t>This governs the relationship between the data transitions and the clock transitions.</a:t>
            </a:r>
          </a:p>
        </p:txBody>
      </p:sp>
    </p:spTree>
    <p:extLst>
      <p:ext uri="{BB962C8B-B14F-4D97-AF65-F5344CB8AC3E}">
        <p14:creationId xmlns:p14="http://schemas.microsoft.com/office/powerpoint/2010/main" val="216050237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A02CA-F63B-4A84-986C-A613026628E2}"/>
              </a:ext>
            </a:extLst>
          </p:cNvPr>
          <p:cNvSpPr>
            <a:spLocks noGrp="1"/>
          </p:cNvSpPr>
          <p:nvPr>
            <p:ph type="title"/>
          </p:nvPr>
        </p:nvSpPr>
        <p:spPr>
          <a:xfrm>
            <a:off x="1771829" y="118534"/>
            <a:ext cx="9962147" cy="645732"/>
          </a:xfrm>
        </p:spPr>
        <p:txBody>
          <a:bodyPr>
            <a:noAutofit/>
          </a:bodyPr>
          <a:lstStyle/>
          <a:p>
            <a:r>
              <a:rPr lang="en-US" sz="5400" b="1" dirty="0">
                <a:solidFill>
                  <a:srgbClr val="002060"/>
                </a:solidFill>
              </a:rPr>
              <a:t>SPI Modes</a:t>
            </a:r>
          </a:p>
        </p:txBody>
      </p:sp>
      <p:sp>
        <p:nvSpPr>
          <p:cNvPr id="3" name="Content Placeholder 2">
            <a:extLst>
              <a:ext uri="{FF2B5EF4-FFF2-40B4-BE49-F238E27FC236}">
                <a16:creationId xmlns:a16="http://schemas.microsoft.com/office/drawing/2014/main" id="{B520C749-701D-413F-8F1E-60E9B660709D}"/>
              </a:ext>
            </a:extLst>
          </p:cNvPr>
          <p:cNvSpPr>
            <a:spLocks noGrp="1"/>
          </p:cNvSpPr>
          <p:nvPr>
            <p:ph idx="1"/>
          </p:nvPr>
        </p:nvSpPr>
        <p:spPr>
          <a:xfrm>
            <a:off x="224431" y="798132"/>
            <a:ext cx="16048501" cy="7008133"/>
          </a:xfrm>
        </p:spPr>
        <p:txBody>
          <a:bodyPr>
            <a:noAutofit/>
          </a:bodyPr>
          <a:lstStyle/>
          <a:p>
            <a:pPr marL="0" indent="0">
              <a:lnSpc>
                <a:spcPct val="100000"/>
              </a:lnSpc>
              <a:spcBef>
                <a:spcPts val="0"/>
              </a:spcBef>
              <a:buNone/>
            </a:pPr>
            <a:r>
              <a:rPr lang="en-US" sz="3600" dirty="0"/>
              <a:t>Each transaction begins when the slave-select line is driven to logic LOW (slave select is typically an active-LOW signal). The exact relationship between the slave-select, data, and clock lines depends on how the </a:t>
            </a:r>
            <a:r>
              <a:rPr lang="en-US" sz="3600" b="1" dirty="0">
                <a:solidFill>
                  <a:srgbClr val="0070C0"/>
                </a:solidFill>
              </a:rPr>
              <a:t>Clock Polarity (CPOL) </a:t>
            </a:r>
            <a:r>
              <a:rPr lang="en-US" sz="3600" dirty="0"/>
              <a:t>and </a:t>
            </a:r>
            <a:r>
              <a:rPr lang="en-US" sz="3600" b="1" dirty="0">
                <a:solidFill>
                  <a:srgbClr val="00B050"/>
                </a:solidFill>
              </a:rPr>
              <a:t>Clock Phase (CPHA)</a:t>
            </a:r>
            <a:r>
              <a:rPr lang="en-US" sz="3600" dirty="0"/>
              <a:t> are configured.</a:t>
            </a:r>
          </a:p>
          <a:p>
            <a:pPr marL="0" indent="0">
              <a:lnSpc>
                <a:spcPct val="100000"/>
              </a:lnSpc>
              <a:spcBef>
                <a:spcPts val="0"/>
              </a:spcBef>
              <a:buNone/>
            </a:pPr>
            <a:r>
              <a:rPr lang="en-US" sz="3600" dirty="0">
                <a:solidFill>
                  <a:srgbClr val="00B0F0"/>
                </a:solidFill>
              </a:rPr>
              <a:t>With the </a:t>
            </a:r>
            <a:r>
              <a:rPr lang="en-US" sz="3600" b="1" dirty="0">
                <a:solidFill>
                  <a:srgbClr val="00B0F0"/>
                </a:solidFill>
              </a:rPr>
              <a:t>Non-inverted Clock Polarity </a:t>
            </a:r>
            <a:r>
              <a:rPr lang="en-US" sz="3600" dirty="0">
                <a:solidFill>
                  <a:srgbClr val="00B0F0"/>
                </a:solidFill>
              </a:rPr>
              <a:t>(i.e., the clock is at logic </a:t>
            </a:r>
            <a:r>
              <a:rPr lang="en-US" sz="3600" b="1" dirty="0">
                <a:solidFill>
                  <a:srgbClr val="00B0F0"/>
                </a:solidFill>
              </a:rPr>
              <a:t>LOW</a:t>
            </a:r>
            <a:r>
              <a:rPr lang="en-US" sz="3600" dirty="0">
                <a:solidFill>
                  <a:srgbClr val="00B0F0"/>
                </a:solidFill>
              </a:rPr>
              <a:t> when slave select transitions to logic LOW):</a:t>
            </a:r>
          </a:p>
          <a:p>
            <a:pPr>
              <a:lnSpc>
                <a:spcPct val="100000"/>
              </a:lnSpc>
              <a:spcBef>
                <a:spcPts val="0"/>
              </a:spcBef>
            </a:pPr>
            <a:r>
              <a:rPr lang="en-US" sz="3600" b="1" dirty="0">
                <a:solidFill>
                  <a:srgbClr val="00B0F0"/>
                </a:solidFill>
              </a:rPr>
              <a:t>Mode 0 (the default) − </a:t>
            </a:r>
            <a:r>
              <a:rPr lang="en-US" sz="3600" dirty="0"/>
              <a:t>Clock is normally LOW (</a:t>
            </a:r>
            <a:r>
              <a:rPr lang="en-US" sz="3600" b="1" dirty="0">
                <a:solidFill>
                  <a:srgbClr val="00B0F0"/>
                </a:solidFill>
              </a:rPr>
              <a:t>CPOL = 0</a:t>
            </a:r>
            <a:r>
              <a:rPr lang="en-US" sz="3600" dirty="0"/>
              <a:t>), and the data is sampled on the transition from LOW to HIGH (leading/rising edge) and shifted out on the trailing/falling edge of the clock pulse. (CPHA = 0).</a:t>
            </a:r>
          </a:p>
          <a:p>
            <a:pPr>
              <a:lnSpc>
                <a:spcPct val="100000"/>
              </a:lnSpc>
              <a:spcBef>
                <a:spcPts val="0"/>
              </a:spcBef>
            </a:pPr>
            <a:r>
              <a:rPr lang="en-US" sz="3600" b="1" dirty="0">
                <a:solidFill>
                  <a:srgbClr val="00B0F0"/>
                </a:solidFill>
              </a:rPr>
              <a:t>Mode 1 − </a:t>
            </a:r>
            <a:r>
              <a:rPr lang="en-US" sz="3600" dirty="0"/>
              <a:t>Clock is normally LOW (</a:t>
            </a:r>
            <a:r>
              <a:rPr lang="en-US" sz="3600" b="1" dirty="0">
                <a:solidFill>
                  <a:srgbClr val="00B0F0"/>
                </a:solidFill>
              </a:rPr>
              <a:t>CPOL = 0</a:t>
            </a:r>
            <a:r>
              <a:rPr lang="en-US" sz="3600" dirty="0"/>
              <a:t>), and the data is sampled on the transition from HIGH to LOW (trailing/falling edge) and shifted out on the (leading/ rising edge of the clock pulse (CPHA = 1).</a:t>
            </a:r>
          </a:p>
        </p:txBody>
      </p:sp>
      <p:sp>
        <p:nvSpPr>
          <p:cNvPr id="4" name="Date Placeholder 3"/>
          <p:cNvSpPr>
            <a:spLocks noGrp="1"/>
          </p:cNvSpPr>
          <p:nvPr>
            <p:ph type="dt" sz="half" idx="10"/>
          </p:nvPr>
        </p:nvSpPr>
        <p:spPr/>
        <p:txBody>
          <a:bodyPr/>
          <a:lstStyle/>
          <a:p>
            <a:fld id="{0ED04289-A90E-411A-A4F2-A70AC3C225B3}" type="datetime3">
              <a:rPr lang="en-US" smtClean="0"/>
              <a:t>3 December 2025</a:t>
            </a:fld>
            <a:endParaRPr lang="en-US"/>
          </a:p>
        </p:txBody>
      </p:sp>
      <p:sp>
        <p:nvSpPr>
          <p:cNvPr id="6" name="Slide Number Placeholder 5"/>
          <p:cNvSpPr>
            <a:spLocks noGrp="1"/>
          </p:cNvSpPr>
          <p:nvPr>
            <p:ph type="sldNum" sz="quarter" idx="12"/>
          </p:nvPr>
        </p:nvSpPr>
        <p:spPr/>
        <p:txBody>
          <a:bodyPr/>
          <a:lstStyle/>
          <a:p>
            <a:fld id="{90416D69-EFB9-4734-9DF5-4234A5F1A98A}" type="slidenum">
              <a:rPr lang="en-US" smtClean="0"/>
              <a:t>27</a:t>
            </a:fld>
            <a:endParaRPr lang="en-US"/>
          </a:p>
        </p:txBody>
      </p:sp>
    </p:spTree>
    <p:extLst>
      <p:ext uri="{BB962C8B-B14F-4D97-AF65-F5344CB8AC3E}">
        <p14:creationId xmlns:p14="http://schemas.microsoft.com/office/powerpoint/2010/main" val="10021853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A02CA-F63B-4A84-986C-A613026628E2}"/>
              </a:ext>
            </a:extLst>
          </p:cNvPr>
          <p:cNvSpPr>
            <a:spLocks noGrp="1"/>
          </p:cNvSpPr>
          <p:nvPr>
            <p:ph type="title"/>
          </p:nvPr>
        </p:nvSpPr>
        <p:spPr>
          <a:xfrm>
            <a:off x="1771829" y="118534"/>
            <a:ext cx="9962147" cy="645732"/>
          </a:xfrm>
        </p:spPr>
        <p:txBody>
          <a:bodyPr>
            <a:noAutofit/>
          </a:bodyPr>
          <a:lstStyle/>
          <a:p>
            <a:r>
              <a:rPr lang="en-US" sz="5400" b="1" dirty="0">
                <a:solidFill>
                  <a:srgbClr val="002060"/>
                </a:solidFill>
              </a:rPr>
              <a:t>SPI Modes</a:t>
            </a:r>
          </a:p>
        </p:txBody>
      </p:sp>
      <p:sp>
        <p:nvSpPr>
          <p:cNvPr id="3" name="Content Placeholder 2">
            <a:extLst>
              <a:ext uri="{FF2B5EF4-FFF2-40B4-BE49-F238E27FC236}">
                <a16:creationId xmlns:a16="http://schemas.microsoft.com/office/drawing/2014/main" id="{B520C749-701D-413F-8F1E-60E9B660709D}"/>
              </a:ext>
            </a:extLst>
          </p:cNvPr>
          <p:cNvSpPr>
            <a:spLocks noGrp="1"/>
          </p:cNvSpPr>
          <p:nvPr>
            <p:ph idx="1"/>
          </p:nvPr>
        </p:nvSpPr>
        <p:spPr>
          <a:xfrm>
            <a:off x="224431" y="798132"/>
            <a:ext cx="16048501" cy="7008133"/>
          </a:xfrm>
        </p:spPr>
        <p:txBody>
          <a:bodyPr>
            <a:noAutofit/>
          </a:bodyPr>
          <a:lstStyle/>
          <a:p>
            <a:pPr marL="0" indent="0">
              <a:lnSpc>
                <a:spcPct val="100000"/>
              </a:lnSpc>
              <a:spcBef>
                <a:spcPts val="0"/>
              </a:spcBef>
              <a:buNone/>
            </a:pPr>
            <a:r>
              <a:rPr lang="en-US" sz="3600" dirty="0">
                <a:solidFill>
                  <a:schemeClr val="accent2"/>
                </a:solidFill>
              </a:rPr>
              <a:t>With the </a:t>
            </a:r>
            <a:r>
              <a:rPr lang="en-US" sz="3600" b="1" dirty="0">
                <a:solidFill>
                  <a:schemeClr val="accent2"/>
                </a:solidFill>
              </a:rPr>
              <a:t>Inverted Clock Polarity </a:t>
            </a:r>
            <a:r>
              <a:rPr lang="en-US" sz="3600" dirty="0">
                <a:solidFill>
                  <a:schemeClr val="accent2"/>
                </a:solidFill>
              </a:rPr>
              <a:t>(i.e., the clock is at logic </a:t>
            </a:r>
            <a:r>
              <a:rPr lang="en-US" sz="3600" b="1" dirty="0">
                <a:solidFill>
                  <a:schemeClr val="accent2"/>
                </a:solidFill>
              </a:rPr>
              <a:t>HIGH</a:t>
            </a:r>
            <a:r>
              <a:rPr lang="en-US" sz="3600" dirty="0">
                <a:solidFill>
                  <a:schemeClr val="accent2"/>
                </a:solidFill>
              </a:rPr>
              <a:t> when slave select transitions to logic LOW):</a:t>
            </a:r>
          </a:p>
          <a:p>
            <a:pPr>
              <a:lnSpc>
                <a:spcPct val="100000"/>
              </a:lnSpc>
              <a:spcBef>
                <a:spcPts val="0"/>
              </a:spcBef>
            </a:pPr>
            <a:r>
              <a:rPr lang="en-US" sz="3600" b="1" dirty="0">
                <a:solidFill>
                  <a:schemeClr val="accent2"/>
                </a:solidFill>
              </a:rPr>
              <a:t>Mode 2 − </a:t>
            </a:r>
            <a:r>
              <a:rPr lang="en-US" sz="3600" dirty="0"/>
              <a:t>Clock is normally HIGH (</a:t>
            </a:r>
            <a:r>
              <a:rPr lang="en-US" sz="3600" b="1" dirty="0">
                <a:solidFill>
                  <a:schemeClr val="accent2"/>
                </a:solidFill>
              </a:rPr>
              <a:t>CPOL = 1</a:t>
            </a:r>
            <a:r>
              <a:rPr lang="en-US" sz="3600" dirty="0"/>
              <a:t>), and the data is sampled on the transition from HIGH to LOW (trailing/falling edge) and shifted out on the leading/ rising edge of the clock pulse (CPHA = 0).</a:t>
            </a:r>
          </a:p>
          <a:p>
            <a:pPr>
              <a:lnSpc>
                <a:spcPct val="100000"/>
              </a:lnSpc>
              <a:spcBef>
                <a:spcPts val="0"/>
              </a:spcBef>
            </a:pPr>
            <a:r>
              <a:rPr lang="en-US" sz="3600" b="1" dirty="0">
                <a:solidFill>
                  <a:schemeClr val="accent2"/>
                </a:solidFill>
              </a:rPr>
              <a:t>Mode 3 − </a:t>
            </a:r>
            <a:r>
              <a:rPr lang="en-US" sz="3600" dirty="0"/>
              <a:t>Clock is normally HIGH (</a:t>
            </a:r>
            <a:r>
              <a:rPr lang="en-US" sz="3600" b="1" dirty="0">
                <a:solidFill>
                  <a:schemeClr val="accent2"/>
                </a:solidFill>
              </a:rPr>
              <a:t>CPOL = 1</a:t>
            </a:r>
            <a:r>
              <a:rPr lang="en-US" sz="3600" dirty="0"/>
              <a:t>), and the data is sampled on the transition from LOW to HIGH (leading/rising edge) and shifted out on the trailing/ falling edge of the clock pulse. (CPHA = 1).</a:t>
            </a:r>
          </a:p>
          <a:p>
            <a:pPr>
              <a:lnSpc>
                <a:spcPct val="100000"/>
              </a:lnSpc>
              <a:spcBef>
                <a:spcPts val="0"/>
              </a:spcBef>
            </a:pPr>
            <a:endParaRPr lang="en-US" sz="3600" dirty="0"/>
          </a:p>
          <a:p>
            <a:pPr>
              <a:lnSpc>
                <a:spcPct val="100000"/>
              </a:lnSpc>
              <a:spcBef>
                <a:spcPts val="0"/>
              </a:spcBef>
            </a:pPr>
            <a:r>
              <a:rPr lang="en-US" sz="3600" b="1" dirty="0" err="1"/>
              <a:t>SPI.attachInterrupt</a:t>
            </a:r>
            <a:r>
              <a:rPr lang="en-US" sz="3600" b="1" dirty="0"/>
              <a:t>(handler) − </a:t>
            </a:r>
            <a:r>
              <a:rPr lang="en-US" sz="3600" dirty="0"/>
              <a:t>Function to be called when a slave device receives data from the master.</a:t>
            </a:r>
          </a:p>
        </p:txBody>
      </p:sp>
      <p:sp>
        <p:nvSpPr>
          <p:cNvPr id="4" name="Date Placeholder 3"/>
          <p:cNvSpPr>
            <a:spLocks noGrp="1"/>
          </p:cNvSpPr>
          <p:nvPr>
            <p:ph type="dt" sz="half" idx="10"/>
          </p:nvPr>
        </p:nvSpPr>
        <p:spPr/>
        <p:txBody>
          <a:bodyPr/>
          <a:lstStyle/>
          <a:p>
            <a:fld id="{0ED04289-A90E-411A-A4F2-A70AC3C225B3}" type="datetime3">
              <a:rPr lang="en-US" smtClean="0"/>
              <a:t>3 December 2025</a:t>
            </a:fld>
            <a:endParaRPr lang="en-US"/>
          </a:p>
        </p:txBody>
      </p:sp>
      <p:sp>
        <p:nvSpPr>
          <p:cNvPr id="6" name="Slide Number Placeholder 5"/>
          <p:cNvSpPr>
            <a:spLocks noGrp="1"/>
          </p:cNvSpPr>
          <p:nvPr>
            <p:ph type="sldNum" sz="quarter" idx="12"/>
          </p:nvPr>
        </p:nvSpPr>
        <p:spPr/>
        <p:txBody>
          <a:bodyPr/>
          <a:lstStyle/>
          <a:p>
            <a:fld id="{90416D69-EFB9-4734-9DF5-4234A5F1A98A}" type="slidenum">
              <a:rPr lang="en-US" smtClean="0"/>
              <a:t>28</a:t>
            </a:fld>
            <a:endParaRPr lang="en-US"/>
          </a:p>
        </p:txBody>
      </p:sp>
    </p:spTree>
    <p:extLst>
      <p:ext uri="{BB962C8B-B14F-4D97-AF65-F5344CB8AC3E}">
        <p14:creationId xmlns:p14="http://schemas.microsoft.com/office/powerpoint/2010/main" val="5611290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A02CA-F63B-4A84-986C-A613026628E2}"/>
              </a:ext>
            </a:extLst>
          </p:cNvPr>
          <p:cNvSpPr>
            <a:spLocks noGrp="1"/>
          </p:cNvSpPr>
          <p:nvPr>
            <p:ph type="title"/>
          </p:nvPr>
        </p:nvSpPr>
        <p:spPr>
          <a:xfrm>
            <a:off x="1771829" y="118534"/>
            <a:ext cx="9962147" cy="645732"/>
          </a:xfrm>
        </p:spPr>
        <p:txBody>
          <a:bodyPr>
            <a:noAutofit/>
          </a:bodyPr>
          <a:lstStyle/>
          <a:p>
            <a:r>
              <a:rPr lang="en-US" sz="5400" b="1" dirty="0">
                <a:solidFill>
                  <a:srgbClr val="002060"/>
                </a:solidFill>
              </a:rPr>
              <a:t>SPI Hardware Structures</a:t>
            </a:r>
          </a:p>
        </p:txBody>
      </p:sp>
      <p:sp>
        <p:nvSpPr>
          <p:cNvPr id="3" name="Content Placeholder 2">
            <a:extLst>
              <a:ext uri="{FF2B5EF4-FFF2-40B4-BE49-F238E27FC236}">
                <a16:creationId xmlns:a16="http://schemas.microsoft.com/office/drawing/2014/main" id="{B520C749-701D-413F-8F1E-60E9B660709D}"/>
              </a:ext>
            </a:extLst>
          </p:cNvPr>
          <p:cNvSpPr>
            <a:spLocks noGrp="1"/>
          </p:cNvSpPr>
          <p:nvPr>
            <p:ph idx="1"/>
          </p:nvPr>
        </p:nvSpPr>
        <p:spPr>
          <a:xfrm>
            <a:off x="224431" y="798132"/>
            <a:ext cx="16048501" cy="7008133"/>
          </a:xfrm>
        </p:spPr>
        <p:txBody>
          <a:bodyPr>
            <a:noAutofit/>
          </a:bodyPr>
          <a:lstStyle/>
          <a:p>
            <a:pPr marL="0" indent="0">
              <a:lnSpc>
                <a:spcPct val="100000"/>
              </a:lnSpc>
              <a:spcBef>
                <a:spcPts val="0"/>
              </a:spcBef>
              <a:buNone/>
            </a:pPr>
            <a:r>
              <a:rPr lang="en-US" sz="4000" dirty="0">
                <a:solidFill>
                  <a:srgbClr val="0070C0"/>
                </a:solidFill>
              </a:rPr>
              <a:t>The SPI Control Register (SPCR) has 8 bits, each bit position may take values.</a:t>
            </a:r>
          </a:p>
          <a:p>
            <a:pPr marL="0" indent="0">
              <a:lnSpc>
                <a:spcPct val="100000"/>
              </a:lnSpc>
              <a:spcBef>
                <a:spcPts val="0"/>
              </a:spcBef>
              <a:buNone/>
            </a:pPr>
            <a:endParaRPr lang="en-US" sz="3600" dirty="0"/>
          </a:p>
          <a:p>
            <a:pPr marL="0" indent="0">
              <a:lnSpc>
                <a:spcPct val="100000"/>
              </a:lnSpc>
              <a:spcBef>
                <a:spcPts val="0"/>
              </a:spcBef>
              <a:buNone/>
            </a:pPr>
            <a:endParaRPr lang="en-US" sz="3600" dirty="0"/>
          </a:p>
          <a:p>
            <a:pPr marL="0" indent="0">
              <a:lnSpc>
                <a:spcPct val="100000"/>
              </a:lnSpc>
              <a:spcBef>
                <a:spcPts val="0"/>
              </a:spcBef>
              <a:buNone/>
            </a:pPr>
            <a:endParaRPr lang="en-US" sz="3600" dirty="0"/>
          </a:p>
          <a:p>
            <a:pPr marL="0" indent="0">
              <a:lnSpc>
                <a:spcPct val="100000"/>
              </a:lnSpc>
              <a:spcBef>
                <a:spcPts val="0"/>
              </a:spcBef>
              <a:buNone/>
            </a:pPr>
            <a:endParaRPr lang="en-US" sz="1600" dirty="0"/>
          </a:p>
          <a:p>
            <a:pPr>
              <a:lnSpc>
                <a:spcPct val="100000"/>
              </a:lnSpc>
              <a:spcBef>
                <a:spcPts val="0"/>
              </a:spcBef>
            </a:pPr>
            <a:r>
              <a:rPr lang="en-US" sz="3600" b="1" dirty="0"/>
              <a:t>SPIE - </a:t>
            </a:r>
            <a:r>
              <a:rPr lang="en-US" sz="3600" dirty="0">
                <a:highlight>
                  <a:srgbClr val="FFFF00"/>
                </a:highlight>
              </a:rPr>
              <a:t>Enables the SPI interrupt when 1</a:t>
            </a:r>
          </a:p>
          <a:p>
            <a:pPr>
              <a:lnSpc>
                <a:spcPct val="100000"/>
              </a:lnSpc>
              <a:spcBef>
                <a:spcPts val="0"/>
              </a:spcBef>
            </a:pPr>
            <a:r>
              <a:rPr lang="en-US" sz="3600" b="1" dirty="0"/>
              <a:t>SPE - </a:t>
            </a:r>
            <a:r>
              <a:rPr lang="en-US" sz="3600" dirty="0"/>
              <a:t>Enables the SPI when 1</a:t>
            </a:r>
          </a:p>
          <a:p>
            <a:pPr>
              <a:lnSpc>
                <a:spcPct val="100000"/>
              </a:lnSpc>
              <a:spcBef>
                <a:spcPts val="0"/>
              </a:spcBef>
            </a:pPr>
            <a:r>
              <a:rPr lang="en-US" sz="3600" b="1" dirty="0"/>
              <a:t>DORD - </a:t>
            </a:r>
            <a:r>
              <a:rPr lang="en-US" sz="3600" dirty="0">
                <a:highlight>
                  <a:srgbClr val="FFFF00"/>
                </a:highlight>
              </a:rPr>
              <a:t>Sends the data and decides the order of data: Least (LSB) and Most (MSB) Significant Bit first when 1 and 0, respectively</a:t>
            </a:r>
          </a:p>
          <a:p>
            <a:pPr>
              <a:lnSpc>
                <a:spcPct val="100000"/>
              </a:lnSpc>
              <a:spcBef>
                <a:spcPts val="0"/>
              </a:spcBef>
            </a:pPr>
            <a:r>
              <a:rPr lang="en-US" sz="3600" b="1" dirty="0"/>
              <a:t>MSTR -</a:t>
            </a:r>
            <a:r>
              <a:rPr lang="en-US" sz="3600" dirty="0"/>
              <a:t> Sets the Arduino in Master mode when 1, Slave mode when 0</a:t>
            </a:r>
          </a:p>
          <a:p>
            <a:pPr>
              <a:lnSpc>
                <a:spcPct val="100000"/>
              </a:lnSpc>
              <a:spcBef>
                <a:spcPts val="0"/>
              </a:spcBef>
            </a:pPr>
            <a:r>
              <a:rPr lang="en-US" sz="3600" b="1" dirty="0"/>
              <a:t>CPOL - </a:t>
            </a:r>
            <a:r>
              <a:rPr lang="en-US" sz="3600" dirty="0"/>
              <a:t>Sets the data clock to be idle when high if set to 1, idle when low if set to 0</a:t>
            </a:r>
          </a:p>
          <a:p>
            <a:pPr>
              <a:lnSpc>
                <a:spcPct val="100000"/>
              </a:lnSpc>
              <a:spcBef>
                <a:spcPts val="0"/>
              </a:spcBef>
            </a:pPr>
            <a:r>
              <a:rPr lang="en-US" sz="3600" b="1" dirty="0"/>
              <a:t>CPHA - </a:t>
            </a:r>
            <a:r>
              <a:rPr lang="en-US" sz="3600" dirty="0"/>
              <a:t>Samples the data on the clock’s falling edge when 1, rising edge when 0</a:t>
            </a:r>
          </a:p>
          <a:p>
            <a:pPr>
              <a:lnSpc>
                <a:spcPct val="100000"/>
              </a:lnSpc>
              <a:spcBef>
                <a:spcPts val="0"/>
              </a:spcBef>
            </a:pPr>
            <a:r>
              <a:rPr lang="en-US" sz="3600" b="1" dirty="0"/>
              <a:t>SPR1 and SPR0 </a:t>
            </a:r>
            <a:r>
              <a:rPr lang="en-US" sz="3600" dirty="0"/>
              <a:t>- Sets the SPI speed: 00 = fastest (4 MHz), 11 = slowest (250 kHz)</a:t>
            </a:r>
          </a:p>
        </p:txBody>
      </p:sp>
      <p:sp>
        <p:nvSpPr>
          <p:cNvPr id="4" name="Date Placeholder 3"/>
          <p:cNvSpPr>
            <a:spLocks noGrp="1"/>
          </p:cNvSpPr>
          <p:nvPr>
            <p:ph type="dt" sz="half" idx="10"/>
          </p:nvPr>
        </p:nvSpPr>
        <p:spPr/>
        <p:txBody>
          <a:bodyPr/>
          <a:lstStyle/>
          <a:p>
            <a:fld id="{0ED04289-A90E-411A-A4F2-A70AC3C225B3}" type="datetime3">
              <a:rPr lang="en-US" smtClean="0"/>
              <a:t>3 December 2025</a:t>
            </a:fld>
            <a:endParaRPr lang="en-US"/>
          </a:p>
        </p:txBody>
      </p:sp>
      <p:sp>
        <p:nvSpPr>
          <p:cNvPr id="6" name="Slide Number Placeholder 5"/>
          <p:cNvSpPr>
            <a:spLocks noGrp="1"/>
          </p:cNvSpPr>
          <p:nvPr>
            <p:ph type="sldNum" sz="quarter" idx="12"/>
          </p:nvPr>
        </p:nvSpPr>
        <p:spPr/>
        <p:txBody>
          <a:bodyPr/>
          <a:lstStyle/>
          <a:p>
            <a:fld id="{90416D69-EFB9-4734-9DF5-4234A5F1A98A}" type="slidenum">
              <a:rPr lang="en-US" smtClean="0"/>
              <a:t>29</a:t>
            </a:fld>
            <a:endParaRPr lang="en-US"/>
          </a:p>
        </p:txBody>
      </p:sp>
      <p:grpSp>
        <p:nvGrpSpPr>
          <p:cNvPr id="17" name="Group 16"/>
          <p:cNvGrpSpPr/>
          <p:nvPr/>
        </p:nvGrpSpPr>
        <p:grpSpPr>
          <a:xfrm>
            <a:off x="355599" y="1573198"/>
            <a:ext cx="15290540" cy="1457864"/>
            <a:chOff x="355599" y="1319203"/>
            <a:chExt cx="15290540" cy="1457864"/>
          </a:xfrm>
        </p:grpSpPr>
        <p:pic>
          <p:nvPicPr>
            <p:cNvPr id="7" name="Picture 6">
              <a:extLst>
                <a:ext uri="{FF2B5EF4-FFF2-40B4-BE49-F238E27FC236}">
                  <a16:creationId xmlns:a16="http://schemas.microsoft.com/office/drawing/2014/main" id="{98C93BA3-2DEF-47DC-9D6A-26CB3E39311E}"/>
                </a:ext>
              </a:extLst>
            </p:cNvPr>
            <p:cNvPicPr>
              <a:picLocks noChangeAspect="1"/>
            </p:cNvPicPr>
            <p:nvPr/>
          </p:nvPicPr>
          <p:blipFill rotWithShape="1">
            <a:blip r:embed="rId2">
              <a:duotone>
                <a:schemeClr val="accent5">
                  <a:shade val="45000"/>
                  <a:satMod val="135000"/>
                </a:schemeClr>
                <a:prstClr val="white"/>
              </a:duotone>
            </a:blip>
            <a:srcRect l="13814" t="8730" r="9410" b="44760"/>
            <a:stretch/>
          </p:blipFill>
          <p:spPr>
            <a:xfrm>
              <a:off x="355599" y="1319203"/>
              <a:ext cx="15290540" cy="1457864"/>
            </a:xfrm>
            <a:prstGeom prst="rect">
              <a:avLst/>
            </a:prstGeom>
          </p:spPr>
        </p:pic>
        <p:sp>
          <p:nvSpPr>
            <p:cNvPr id="9" name="TextBox 8"/>
            <p:cNvSpPr txBox="1"/>
            <p:nvPr/>
          </p:nvSpPr>
          <p:spPr>
            <a:xfrm>
              <a:off x="13970000" y="2065068"/>
              <a:ext cx="1371600" cy="461665"/>
            </a:xfrm>
            <a:prstGeom prst="rect">
              <a:avLst/>
            </a:prstGeom>
            <a:solidFill>
              <a:schemeClr val="bg1"/>
            </a:solidFill>
            <a:ln>
              <a:solidFill>
                <a:schemeClr val="bg1"/>
              </a:solidFill>
            </a:ln>
          </p:spPr>
          <p:txBody>
            <a:bodyPr wrap="square" rtlCol="0">
              <a:spAutoFit/>
            </a:bodyPr>
            <a:lstStyle/>
            <a:p>
              <a:pPr algn="ctr"/>
              <a:r>
                <a:rPr lang="en-US" sz="2400" dirty="0">
                  <a:solidFill>
                    <a:srgbClr val="0070C0"/>
                  </a:solidFill>
                  <a:latin typeface="Arial Black" panose="020B0A04020102020204" pitchFamily="34" charset="0"/>
                </a:rPr>
                <a:t>SPR0</a:t>
              </a:r>
            </a:p>
          </p:txBody>
        </p:sp>
        <p:sp>
          <p:nvSpPr>
            <p:cNvPr id="10" name="TextBox 9"/>
            <p:cNvSpPr txBox="1"/>
            <p:nvPr/>
          </p:nvSpPr>
          <p:spPr>
            <a:xfrm>
              <a:off x="12088677" y="2065068"/>
              <a:ext cx="1576783" cy="461665"/>
            </a:xfrm>
            <a:prstGeom prst="rect">
              <a:avLst/>
            </a:prstGeom>
            <a:solidFill>
              <a:schemeClr val="bg1"/>
            </a:solidFill>
            <a:ln>
              <a:solidFill>
                <a:schemeClr val="bg1"/>
              </a:solidFill>
            </a:ln>
          </p:spPr>
          <p:txBody>
            <a:bodyPr wrap="square" rtlCol="0">
              <a:spAutoFit/>
            </a:bodyPr>
            <a:lstStyle/>
            <a:p>
              <a:pPr algn="ctr"/>
              <a:r>
                <a:rPr lang="en-US" sz="2400" dirty="0">
                  <a:solidFill>
                    <a:srgbClr val="0070C0"/>
                  </a:solidFill>
                  <a:latin typeface="Arial Black" panose="020B0A04020102020204" pitchFamily="34" charset="0"/>
                </a:rPr>
                <a:t>SPR1</a:t>
              </a:r>
            </a:p>
          </p:txBody>
        </p:sp>
        <p:sp>
          <p:nvSpPr>
            <p:cNvPr id="11" name="TextBox 10"/>
            <p:cNvSpPr txBox="1"/>
            <p:nvPr/>
          </p:nvSpPr>
          <p:spPr>
            <a:xfrm>
              <a:off x="10362376" y="2065068"/>
              <a:ext cx="1371600" cy="461665"/>
            </a:xfrm>
            <a:prstGeom prst="rect">
              <a:avLst/>
            </a:prstGeom>
            <a:solidFill>
              <a:schemeClr val="bg1"/>
            </a:solidFill>
            <a:ln>
              <a:solidFill>
                <a:schemeClr val="bg1"/>
              </a:solidFill>
            </a:ln>
          </p:spPr>
          <p:txBody>
            <a:bodyPr wrap="square" rtlCol="0">
              <a:spAutoFit/>
            </a:bodyPr>
            <a:lstStyle/>
            <a:p>
              <a:pPr algn="ctr"/>
              <a:r>
                <a:rPr lang="en-US" sz="2400" dirty="0">
                  <a:solidFill>
                    <a:srgbClr val="0070C0"/>
                  </a:solidFill>
                  <a:latin typeface="Arial Black" panose="020B0A04020102020204" pitchFamily="34" charset="0"/>
                </a:rPr>
                <a:t>CPHA</a:t>
              </a:r>
            </a:p>
          </p:txBody>
        </p:sp>
        <p:sp>
          <p:nvSpPr>
            <p:cNvPr id="12" name="TextBox 11"/>
            <p:cNvSpPr txBox="1"/>
            <p:nvPr/>
          </p:nvSpPr>
          <p:spPr>
            <a:xfrm>
              <a:off x="8481054" y="2065068"/>
              <a:ext cx="1371600" cy="461665"/>
            </a:xfrm>
            <a:prstGeom prst="rect">
              <a:avLst/>
            </a:prstGeom>
            <a:solidFill>
              <a:schemeClr val="bg1"/>
            </a:solidFill>
            <a:ln>
              <a:solidFill>
                <a:schemeClr val="bg1"/>
              </a:solidFill>
            </a:ln>
          </p:spPr>
          <p:txBody>
            <a:bodyPr wrap="square" rtlCol="0">
              <a:spAutoFit/>
            </a:bodyPr>
            <a:lstStyle/>
            <a:p>
              <a:pPr algn="ctr"/>
              <a:r>
                <a:rPr lang="en-US" sz="2400" dirty="0">
                  <a:solidFill>
                    <a:srgbClr val="0070C0"/>
                  </a:solidFill>
                  <a:latin typeface="Arial Black" panose="020B0A04020102020204" pitchFamily="34" charset="0"/>
                </a:rPr>
                <a:t>CPOL</a:t>
              </a:r>
            </a:p>
          </p:txBody>
        </p:sp>
        <p:sp>
          <p:nvSpPr>
            <p:cNvPr id="13" name="TextBox 12"/>
            <p:cNvSpPr txBox="1"/>
            <p:nvPr/>
          </p:nvSpPr>
          <p:spPr>
            <a:xfrm>
              <a:off x="6452236" y="2065068"/>
              <a:ext cx="1674116" cy="461665"/>
            </a:xfrm>
            <a:prstGeom prst="rect">
              <a:avLst/>
            </a:prstGeom>
            <a:solidFill>
              <a:schemeClr val="bg1"/>
            </a:solidFill>
            <a:ln>
              <a:solidFill>
                <a:schemeClr val="bg1"/>
              </a:solidFill>
            </a:ln>
          </p:spPr>
          <p:txBody>
            <a:bodyPr wrap="square" rtlCol="0">
              <a:spAutoFit/>
            </a:bodyPr>
            <a:lstStyle/>
            <a:p>
              <a:pPr algn="ctr"/>
              <a:r>
                <a:rPr lang="en-US" sz="2400" dirty="0">
                  <a:solidFill>
                    <a:srgbClr val="0070C0"/>
                  </a:solidFill>
                  <a:latin typeface="Arial Black" panose="020B0A04020102020204" pitchFamily="34" charset="0"/>
                </a:rPr>
                <a:t>MSTR</a:t>
              </a:r>
            </a:p>
          </p:txBody>
        </p:sp>
        <p:sp>
          <p:nvSpPr>
            <p:cNvPr id="14" name="TextBox 13"/>
            <p:cNvSpPr txBox="1"/>
            <p:nvPr/>
          </p:nvSpPr>
          <p:spPr>
            <a:xfrm>
              <a:off x="4504006" y="2065068"/>
              <a:ext cx="1643691" cy="461665"/>
            </a:xfrm>
            <a:prstGeom prst="rect">
              <a:avLst/>
            </a:prstGeom>
            <a:solidFill>
              <a:schemeClr val="bg1"/>
            </a:solidFill>
            <a:ln>
              <a:solidFill>
                <a:schemeClr val="bg1"/>
              </a:solidFill>
            </a:ln>
          </p:spPr>
          <p:txBody>
            <a:bodyPr wrap="square" rtlCol="0">
              <a:spAutoFit/>
            </a:bodyPr>
            <a:lstStyle/>
            <a:p>
              <a:pPr algn="ctr"/>
              <a:r>
                <a:rPr lang="en-US" sz="2400" dirty="0">
                  <a:solidFill>
                    <a:srgbClr val="0070C0"/>
                  </a:solidFill>
                  <a:latin typeface="Arial Black" panose="020B0A04020102020204" pitchFamily="34" charset="0"/>
                </a:rPr>
                <a:t>DORD</a:t>
              </a:r>
            </a:p>
          </p:txBody>
        </p:sp>
        <p:sp>
          <p:nvSpPr>
            <p:cNvPr id="15" name="TextBox 14"/>
            <p:cNvSpPr txBox="1"/>
            <p:nvPr/>
          </p:nvSpPr>
          <p:spPr>
            <a:xfrm>
              <a:off x="2565328" y="2065068"/>
              <a:ext cx="1634139" cy="461665"/>
            </a:xfrm>
            <a:prstGeom prst="rect">
              <a:avLst/>
            </a:prstGeom>
            <a:solidFill>
              <a:schemeClr val="bg1"/>
            </a:solidFill>
            <a:ln>
              <a:solidFill>
                <a:schemeClr val="bg1"/>
              </a:solidFill>
            </a:ln>
          </p:spPr>
          <p:txBody>
            <a:bodyPr wrap="square" rtlCol="0">
              <a:spAutoFit/>
            </a:bodyPr>
            <a:lstStyle/>
            <a:p>
              <a:pPr algn="ctr"/>
              <a:r>
                <a:rPr lang="en-US" sz="2400" dirty="0">
                  <a:solidFill>
                    <a:srgbClr val="0070C0"/>
                  </a:solidFill>
                  <a:latin typeface="Arial Black" panose="020B0A04020102020204" pitchFamily="34" charset="0"/>
                </a:rPr>
                <a:t>SPE</a:t>
              </a:r>
            </a:p>
          </p:txBody>
        </p:sp>
        <p:sp>
          <p:nvSpPr>
            <p:cNvPr id="16" name="TextBox 15"/>
            <p:cNvSpPr txBox="1"/>
            <p:nvPr/>
          </p:nvSpPr>
          <p:spPr>
            <a:xfrm>
              <a:off x="609599" y="2065068"/>
              <a:ext cx="1651189" cy="461665"/>
            </a:xfrm>
            <a:prstGeom prst="rect">
              <a:avLst/>
            </a:prstGeom>
            <a:solidFill>
              <a:schemeClr val="bg1"/>
            </a:solidFill>
            <a:ln>
              <a:solidFill>
                <a:schemeClr val="bg1"/>
              </a:solidFill>
            </a:ln>
          </p:spPr>
          <p:txBody>
            <a:bodyPr wrap="square" rtlCol="0">
              <a:spAutoFit/>
            </a:bodyPr>
            <a:lstStyle/>
            <a:p>
              <a:pPr algn="ctr"/>
              <a:r>
                <a:rPr lang="en-US" sz="2400" dirty="0">
                  <a:solidFill>
                    <a:srgbClr val="0070C0"/>
                  </a:solidFill>
                  <a:latin typeface="Arial Black" panose="020B0A04020102020204" pitchFamily="34" charset="0"/>
                </a:rPr>
                <a:t>SPIE</a:t>
              </a:r>
            </a:p>
          </p:txBody>
        </p:sp>
      </p:grpSp>
    </p:spTree>
    <p:extLst>
      <p:ext uri="{BB962C8B-B14F-4D97-AF65-F5344CB8AC3E}">
        <p14:creationId xmlns:p14="http://schemas.microsoft.com/office/powerpoint/2010/main" val="2485394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A02CA-F63B-4A84-986C-A613026628E2}"/>
              </a:ext>
            </a:extLst>
          </p:cNvPr>
          <p:cNvSpPr>
            <a:spLocks noGrp="1"/>
          </p:cNvSpPr>
          <p:nvPr>
            <p:ph type="title"/>
          </p:nvPr>
        </p:nvSpPr>
        <p:spPr>
          <a:xfrm>
            <a:off x="1771829" y="118534"/>
            <a:ext cx="9962147" cy="645732"/>
          </a:xfrm>
        </p:spPr>
        <p:txBody>
          <a:bodyPr>
            <a:noAutofit/>
          </a:bodyPr>
          <a:lstStyle/>
          <a:p>
            <a:r>
              <a:rPr lang="en-US" sz="5400" b="1" dirty="0">
                <a:solidFill>
                  <a:srgbClr val="002060"/>
                </a:solidFill>
              </a:rPr>
              <a:t>SPI Examples</a:t>
            </a:r>
          </a:p>
        </p:txBody>
      </p:sp>
      <p:sp>
        <p:nvSpPr>
          <p:cNvPr id="3" name="Content Placeholder 2">
            <a:extLst>
              <a:ext uri="{FF2B5EF4-FFF2-40B4-BE49-F238E27FC236}">
                <a16:creationId xmlns:a16="http://schemas.microsoft.com/office/drawing/2014/main" id="{B520C749-701D-413F-8F1E-60E9B660709D}"/>
              </a:ext>
            </a:extLst>
          </p:cNvPr>
          <p:cNvSpPr>
            <a:spLocks noGrp="1"/>
          </p:cNvSpPr>
          <p:nvPr>
            <p:ph idx="1"/>
          </p:nvPr>
        </p:nvSpPr>
        <p:spPr>
          <a:xfrm>
            <a:off x="224432" y="798132"/>
            <a:ext cx="7869702" cy="7121502"/>
          </a:xfrm>
          <a:ln>
            <a:solidFill>
              <a:srgbClr val="00B050"/>
            </a:solidFill>
          </a:ln>
        </p:spPr>
        <p:txBody>
          <a:bodyPr>
            <a:noAutofit/>
          </a:bodyPr>
          <a:lstStyle/>
          <a:p>
            <a:pPr marL="0" indent="0">
              <a:lnSpc>
                <a:spcPct val="100000"/>
              </a:lnSpc>
              <a:spcBef>
                <a:spcPts val="0"/>
              </a:spcBef>
              <a:buNone/>
            </a:pPr>
            <a:r>
              <a:rPr lang="en-US" sz="2800" dirty="0"/>
              <a:t>//SPI Master Device</a:t>
            </a:r>
          </a:p>
          <a:p>
            <a:pPr marL="0" indent="0">
              <a:lnSpc>
                <a:spcPct val="100000"/>
              </a:lnSpc>
              <a:spcBef>
                <a:spcPts val="0"/>
              </a:spcBef>
              <a:buNone/>
            </a:pPr>
            <a:r>
              <a:rPr lang="en-US" sz="2800" dirty="0"/>
              <a:t>//We need to import </a:t>
            </a:r>
            <a:r>
              <a:rPr lang="en-US" sz="2800" dirty="0" err="1"/>
              <a:t>SPI.h</a:t>
            </a:r>
            <a:r>
              <a:rPr lang="en-US" sz="2800" dirty="0"/>
              <a:t> library first </a:t>
            </a:r>
          </a:p>
          <a:p>
            <a:pPr marL="0" indent="0">
              <a:lnSpc>
                <a:spcPct val="100000"/>
              </a:lnSpc>
              <a:spcBef>
                <a:spcPts val="0"/>
              </a:spcBef>
              <a:buNone/>
            </a:pPr>
            <a:r>
              <a:rPr lang="en-US" sz="2800" dirty="0"/>
              <a:t>#include &lt;</a:t>
            </a:r>
            <a:r>
              <a:rPr lang="en-US" sz="2800" dirty="0" err="1"/>
              <a:t>SPI.h</a:t>
            </a:r>
            <a:r>
              <a:rPr lang="en-US" sz="2800" dirty="0"/>
              <a:t>&gt;</a:t>
            </a:r>
          </a:p>
          <a:p>
            <a:pPr marL="0" indent="0">
              <a:lnSpc>
                <a:spcPct val="100000"/>
              </a:lnSpc>
              <a:spcBef>
                <a:spcPts val="0"/>
              </a:spcBef>
              <a:buNone/>
            </a:pPr>
            <a:r>
              <a:rPr lang="en-US" sz="2800" dirty="0"/>
              <a:t>//Our Slave Selection pin</a:t>
            </a:r>
          </a:p>
          <a:p>
            <a:pPr marL="0" indent="0">
              <a:lnSpc>
                <a:spcPct val="100000"/>
              </a:lnSpc>
              <a:spcBef>
                <a:spcPts val="0"/>
              </a:spcBef>
              <a:buNone/>
            </a:pPr>
            <a:r>
              <a:rPr lang="en-US" sz="2800" dirty="0"/>
              <a:t>#define </a:t>
            </a:r>
            <a:r>
              <a:rPr lang="en-US" sz="2800" dirty="0" err="1"/>
              <a:t>SlaveSelection</a:t>
            </a:r>
            <a:r>
              <a:rPr lang="en-US" sz="2800" dirty="0"/>
              <a:t>  10</a:t>
            </a:r>
          </a:p>
          <a:p>
            <a:pPr marL="0" indent="0">
              <a:lnSpc>
                <a:spcPct val="100000"/>
              </a:lnSpc>
              <a:spcBef>
                <a:spcPts val="0"/>
              </a:spcBef>
              <a:buNone/>
            </a:pPr>
            <a:endParaRPr lang="en-US" sz="1600" dirty="0"/>
          </a:p>
          <a:p>
            <a:pPr marL="0" indent="0">
              <a:lnSpc>
                <a:spcPct val="100000"/>
              </a:lnSpc>
              <a:spcBef>
                <a:spcPts val="0"/>
              </a:spcBef>
              <a:buNone/>
            </a:pPr>
            <a:r>
              <a:rPr lang="en-US" sz="2800" dirty="0" err="1"/>
              <a:t>int</a:t>
            </a:r>
            <a:r>
              <a:rPr lang="en-US" sz="2800" dirty="0"/>
              <a:t> count = 0;</a:t>
            </a:r>
          </a:p>
          <a:p>
            <a:pPr marL="0" indent="0">
              <a:lnSpc>
                <a:spcPct val="100000"/>
              </a:lnSpc>
              <a:spcBef>
                <a:spcPts val="0"/>
              </a:spcBef>
              <a:buNone/>
            </a:pPr>
            <a:endParaRPr lang="en-US" sz="1600" dirty="0"/>
          </a:p>
          <a:p>
            <a:pPr marL="0" indent="0">
              <a:lnSpc>
                <a:spcPct val="100000"/>
              </a:lnSpc>
              <a:spcBef>
                <a:spcPts val="0"/>
              </a:spcBef>
              <a:buNone/>
            </a:pPr>
            <a:r>
              <a:rPr lang="en-US" sz="2800" dirty="0"/>
              <a:t>void setup()</a:t>
            </a:r>
          </a:p>
          <a:p>
            <a:pPr marL="0" indent="0">
              <a:lnSpc>
                <a:spcPct val="100000"/>
              </a:lnSpc>
              <a:spcBef>
                <a:spcPts val="0"/>
              </a:spcBef>
              <a:buNone/>
            </a:pPr>
            <a:r>
              <a:rPr lang="en-US" sz="2800" dirty="0"/>
              <a:t>{</a:t>
            </a:r>
          </a:p>
          <a:p>
            <a:pPr marL="0" indent="0">
              <a:lnSpc>
                <a:spcPct val="100000"/>
              </a:lnSpc>
              <a:spcBef>
                <a:spcPts val="0"/>
              </a:spcBef>
              <a:buNone/>
            </a:pPr>
            <a:r>
              <a:rPr lang="en-US" sz="2800" dirty="0"/>
              <a:t>  //Set </a:t>
            </a:r>
            <a:r>
              <a:rPr lang="en-US" sz="2800" dirty="0" err="1"/>
              <a:t>SlaveSelection</a:t>
            </a:r>
            <a:r>
              <a:rPr lang="en-US" sz="2800" dirty="0"/>
              <a:t> pin as output.</a:t>
            </a:r>
          </a:p>
          <a:p>
            <a:pPr marL="0" indent="0">
              <a:lnSpc>
                <a:spcPct val="100000"/>
              </a:lnSpc>
              <a:spcBef>
                <a:spcPts val="0"/>
              </a:spcBef>
              <a:buNone/>
            </a:pPr>
            <a:r>
              <a:rPr lang="en-US" sz="2800" dirty="0"/>
              <a:t>  </a:t>
            </a:r>
            <a:r>
              <a:rPr lang="en-US" sz="2800" dirty="0" err="1"/>
              <a:t>pinMode</a:t>
            </a:r>
            <a:r>
              <a:rPr lang="en-US" sz="2800" dirty="0"/>
              <a:t>(</a:t>
            </a:r>
            <a:r>
              <a:rPr lang="en-US" sz="2800" dirty="0" err="1"/>
              <a:t>SlaveSelection</a:t>
            </a:r>
            <a:r>
              <a:rPr lang="en-US" sz="2800" dirty="0"/>
              <a:t>, OUTPUT);   //and Make it //HIGH to prevent to start communication right away</a:t>
            </a:r>
          </a:p>
          <a:p>
            <a:pPr marL="0" indent="0">
              <a:lnSpc>
                <a:spcPct val="100000"/>
              </a:lnSpc>
              <a:spcBef>
                <a:spcPts val="0"/>
              </a:spcBef>
              <a:buNone/>
            </a:pPr>
            <a:r>
              <a:rPr lang="en-US" sz="2800" dirty="0"/>
              <a:t>  </a:t>
            </a:r>
            <a:r>
              <a:rPr lang="en-US" sz="2800" dirty="0" err="1"/>
              <a:t>digitalWrite</a:t>
            </a:r>
            <a:r>
              <a:rPr lang="en-US" sz="2800" dirty="0"/>
              <a:t>(</a:t>
            </a:r>
            <a:r>
              <a:rPr lang="en-US" sz="2800" dirty="0" err="1"/>
              <a:t>SlaveSelection</a:t>
            </a:r>
            <a:r>
              <a:rPr lang="en-US" sz="2800" dirty="0"/>
              <a:t>, HIGH);   //Start the SPI //communication.</a:t>
            </a:r>
          </a:p>
          <a:p>
            <a:pPr marL="0" indent="0">
              <a:lnSpc>
                <a:spcPct val="100000"/>
              </a:lnSpc>
              <a:spcBef>
                <a:spcPts val="0"/>
              </a:spcBef>
              <a:buNone/>
            </a:pPr>
            <a:r>
              <a:rPr lang="en-US" sz="2800" dirty="0"/>
              <a:t>  </a:t>
            </a:r>
            <a:r>
              <a:rPr lang="en-US" sz="2800" dirty="0" err="1"/>
              <a:t>SPI.begin</a:t>
            </a:r>
            <a:r>
              <a:rPr lang="en-US" sz="2800" dirty="0"/>
              <a:t>();</a:t>
            </a:r>
          </a:p>
          <a:p>
            <a:pPr marL="0" indent="0">
              <a:lnSpc>
                <a:spcPct val="100000"/>
              </a:lnSpc>
              <a:spcBef>
                <a:spcPts val="0"/>
              </a:spcBef>
              <a:buNone/>
            </a:pPr>
            <a:r>
              <a:rPr lang="en-US" sz="2800" dirty="0"/>
              <a:t>}</a:t>
            </a:r>
          </a:p>
        </p:txBody>
      </p:sp>
      <p:sp>
        <p:nvSpPr>
          <p:cNvPr id="4" name="Date Placeholder 3"/>
          <p:cNvSpPr>
            <a:spLocks noGrp="1"/>
          </p:cNvSpPr>
          <p:nvPr>
            <p:ph type="dt" sz="half" idx="10"/>
          </p:nvPr>
        </p:nvSpPr>
        <p:spPr/>
        <p:txBody>
          <a:bodyPr/>
          <a:lstStyle/>
          <a:p>
            <a:fld id="{0ED04289-A90E-411A-A4F2-A70AC3C225B3}" type="datetime3">
              <a:rPr lang="en-US" smtClean="0"/>
              <a:t>3 December 2025</a:t>
            </a:fld>
            <a:endParaRPr lang="en-US"/>
          </a:p>
        </p:txBody>
      </p:sp>
      <p:sp>
        <p:nvSpPr>
          <p:cNvPr id="6" name="Slide Number Placeholder 5"/>
          <p:cNvSpPr>
            <a:spLocks noGrp="1"/>
          </p:cNvSpPr>
          <p:nvPr>
            <p:ph type="sldNum" sz="quarter" idx="12"/>
          </p:nvPr>
        </p:nvSpPr>
        <p:spPr/>
        <p:txBody>
          <a:bodyPr/>
          <a:lstStyle/>
          <a:p>
            <a:fld id="{90416D69-EFB9-4734-9DF5-4234A5F1A98A}" type="slidenum">
              <a:rPr lang="en-US" smtClean="0"/>
              <a:t>30</a:t>
            </a:fld>
            <a:endParaRPr lang="en-US"/>
          </a:p>
        </p:txBody>
      </p:sp>
      <p:sp>
        <p:nvSpPr>
          <p:cNvPr id="7" name="Rectangle 6"/>
          <p:cNvSpPr/>
          <p:nvPr/>
        </p:nvSpPr>
        <p:spPr>
          <a:xfrm>
            <a:off x="3859045" y="734583"/>
            <a:ext cx="1593065" cy="369332"/>
          </a:xfrm>
          <a:prstGeom prst="rect">
            <a:avLst/>
          </a:prstGeom>
        </p:spPr>
        <p:txBody>
          <a:bodyPr wrap="none">
            <a:spAutoFit/>
          </a:bodyPr>
          <a:lstStyle/>
          <a:p>
            <a:r>
              <a:rPr lang="en-US" b="1" dirty="0"/>
              <a:t>SPI as MASTER</a:t>
            </a:r>
          </a:p>
        </p:txBody>
      </p:sp>
      <p:sp>
        <p:nvSpPr>
          <p:cNvPr id="8" name="Rectangle 7"/>
          <p:cNvSpPr/>
          <p:nvPr/>
        </p:nvSpPr>
        <p:spPr>
          <a:xfrm>
            <a:off x="9821336" y="118534"/>
            <a:ext cx="1998391" cy="370465"/>
          </a:xfrm>
          <a:prstGeom prst="rect">
            <a:avLst/>
          </a:prstGeom>
        </p:spPr>
        <p:txBody>
          <a:bodyPr wrap="square">
            <a:spAutoFit/>
          </a:bodyPr>
          <a:lstStyle/>
          <a:p>
            <a:r>
              <a:rPr lang="en-US" b="1" dirty="0"/>
              <a:t>SPI as MASTER</a:t>
            </a:r>
          </a:p>
        </p:txBody>
      </p:sp>
      <p:sp>
        <p:nvSpPr>
          <p:cNvPr id="9" name="Content Placeholder 2">
            <a:extLst>
              <a:ext uri="{FF2B5EF4-FFF2-40B4-BE49-F238E27FC236}">
                <a16:creationId xmlns:a16="http://schemas.microsoft.com/office/drawing/2014/main" id="{B520C749-701D-413F-8F1E-60E9B660709D}"/>
              </a:ext>
            </a:extLst>
          </p:cNvPr>
          <p:cNvSpPr txBox="1">
            <a:spLocks/>
          </p:cNvSpPr>
          <p:nvPr/>
        </p:nvSpPr>
        <p:spPr>
          <a:xfrm>
            <a:off x="8373956" y="488999"/>
            <a:ext cx="7869702" cy="7430635"/>
          </a:xfrm>
          <a:prstGeom prst="rect">
            <a:avLst/>
          </a:prstGeom>
          <a:ln>
            <a:solidFill>
              <a:srgbClr val="FF0000"/>
            </a:solidFill>
          </a:ln>
        </p:spPr>
        <p:txBody>
          <a:bodyPr vert="horz" lIns="91440" tIns="45720" rIns="91440" bIns="45720" rtlCol="0">
            <a:noAutofit/>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marL="0" indent="0">
              <a:lnSpc>
                <a:spcPct val="100000"/>
              </a:lnSpc>
              <a:spcBef>
                <a:spcPts val="0"/>
              </a:spcBef>
              <a:buNone/>
            </a:pPr>
            <a:r>
              <a:rPr lang="en-US" sz="2400" dirty="0"/>
              <a:t>void loop() {</a:t>
            </a:r>
          </a:p>
          <a:p>
            <a:pPr marL="0" indent="0">
              <a:lnSpc>
                <a:spcPct val="100000"/>
              </a:lnSpc>
              <a:spcBef>
                <a:spcPts val="0"/>
              </a:spcBef>
              <a:buNone/>
            </a:pPr>
            <a:r>
              <a:rPr lang="en-US" sz="2400" dirty="0"/>
              <a:t>    for(count=0; count&lt;255; count++){</a:t>
            </a:r>
          </a:p>
          <a:p>
            <a:pPr marL="0" indent="0">
              <a:lnSpc>
                <a:spcPct val="100000"/>
              </a:lnSpc>
              <a:spcBef>
                <a:spcPts val="0"/>
              </a:spcBef>
              <a:buNone/>
            </a:pPr>
            <a:r>
              <a:rPr lang="en-US" sz="2400" dirty="0"/>
              <a:t>      </a:t>
            </a:r>
            <a:r>
              <a:rPr lang="en-US" sz="2400" dirty="0" err="1"/>
              <a:t>sendSerialData</a:t>
            </a:r>
            <a:r>
              <a:rPr lang="en-US" sz="2400" dirty="0"/>
              <a:t>(count, </a:t>
            </a:r>
            <a:r>
              <a:rPr lang="en-US" sz="2400" dirty="0" err="1"/>
              <a:t>SlaveSelection</a:t>
            </a:r>
            <a:r>
              <a:rPr lang="en-US" sz="2400" dirty="0"/>
              <a:t>);</a:t>
            </a:r>
          </a:p>
          <a:p>
            <a:pPr marL="0" indent="0">
              <a:lnSpc>
                <a:spcPct val="100000"/>
              </a:lnSpc>
              <a:spcBef>
                <a:spcPts val="0"/>
              </a:spcBef>
              <a:buNone/>
            </a:pPr>
            <a:r>
              <a:rPr lang="en-US" sz="2400" dirty="0"/>
              <a:t>      delay(2000);</a:t>
            </a:r>
          </a:p>
          <a:p>
            <a:pPr marL="0" indent="0">
              <a:lnSpc>
                <a:spcPct val="100000"/>
              </a:lnSpc>
              <a:spcBef>
                <a:spcPts val="0"/>
              </a:spcBef>
              <a:buNone/>
            </a:pPr>
            <a:r>
              <a:rPr lang="en-US" sz="2400" dirty="0"/>
              <a:t>    }</a:t>
            </a:r>
          </a:p>
          <a:p>
            <a:pPr marL="0" indent="0">
              <a:lnSpc>
                <a:spcPct val="100000"/>
              </a:lnSpc>
              <a:spcBef>
                <a:spcPts val="0"/>
              </a:spcBef>
              <a:buNone/>
            </a:pPr>
            <a:r>
              <a:rPr lang="en-US" sz="2400" dirty="0"/>
              <a:t>    delay(500); </a:t>
            </a:r>
          </a:p>
          <a:p>
            <a:pPr marL="0" indent="0">
              <a:lnSpc>
                <a:spcPct val="100000"/>
              </a:lnSpc>
              <a:spcBef>
                <a:spcPts val="0"/>
              </a:spcBef>
              <a:buNone/>
            </a:pPr>
            <a:r>
              <a:rPr lang="en-US" sz="2400" dirty="0"/>
              <a:t>}</a:t>
            </a:r>
          </a:p>
          <a:p>
            <a:pPr marL="0" indent="0">
              <a:lnSpc>
                <a:spcPct val="100000"/>
              </a:lnSpc>
              <a:spcBef>
                <a:spcPts val="0"/>
              </a:spcBef>
              <a:buNone/>
            </a:pPr>
            <a:endParaRPr lang="en-US" sz="1600" dirty="0"/>
          </a:p>
          <a:p>
            <a:pPr marL="0" indent="0">
              <a:lnSpc>
                <a:spcPct val="100000"/>
              </a:lnSpc>
              <a:spcBef>
                <a:spcPts val="0"/>
              </a:spcBef>
              <a:buNone/>
            </a:pPr>
            <a:r>
              <a:rPr lang="en-US" sz="2400" dirty="0"/>
              <a:t>void </a:t>
            </a:r>
            <a:r>
              <a:rPr lang="en-US" sz="2400" dirty="0" err="1"/>
              <a:t>sendSerialData</a:t>
            </a:r>
            <a:r>
              <a:rPr lang="en-US" sz="2400" dirty="0"/>
              <a:t>(char data, </a:t>
            </a:r>
            <a:r>
              <a:rPr lang="en-US" sz="2400" dirty="0" err="1"/>
              <a:t>int</a:t>
            </a:r>
            <a:r>
              <a:rPr lang="en-US" sz="2400" dirty="0"/>
              <a:t> </a:t>
            </a:r>
            <a:r>
              <a:rPr lang="en-US" sz="2400" dirty="0" err="1"/>
              <a:t>SlaveSelection</a:t>
            </a:r>
            <a:r>
              <a:rPr lang="en-US" sz="2400" dirty="0"/>
              <a:t>) {</a:t>
            </a:r>
          </a:p>
          <a:p>
            <a:pPr marL="0" indent="0">
              <a:lnSpc>
                <a:spcPct val="100000"/>
              </a:lnSpc>
              <a:spcBef>
                <a:spcPts val="0"/>
              </a:spcBef>
              <a:buNone/>
            </a:pPr>
            <a:r>
              <a:rPr lang="en-US" sz="2000" dirty="0"/>
              <a:t>//Enable slave Arduino with setting the Slave Selection pin to 0 V</a:t>
            </a:r>
          </a:p>
          <a:p>
            <a:pPr marL="0" indent="0">
              <a:lnSpc>
                <a:spcPct val="100000"/>
              </a:lnSpc>
              <a:spcBef>
                <a:spcPts val="0"/>
              </a:spcBef>
              <a:buNone/>
            </a:pPr>
            <a:r>
              <a:rPr lang="en-US" sz="2400" dirty="0"/>
              <a:t>  </a:t>
            </a:r>
            <a:r>
              <a:rPr lang="en-US" sz="2400" dirty="0" err="1"/>
              <a:t>digitalWrite</a:t>
            </a:r>
            <a:r>
              <a:rPr lang="en-US" sz="2400" dirty="0"/>
              <a:t>(</a:t>
            </a:r>
            <a:r>
              <a:rPr lang="en-US" sz="2400" dirty="0" err="1"/>
              <a:t>SlaveSelection</a:t>
            </a:r>
            <a:r>
              <a:rPr lang="en-US" sz="2400" dirty="0"/>
              <a:t>, LOW);</a:t>
            </a:r>
          </a:p>
          <a:p>
            <a:pPr marL="0" indent="0">
              <a:lnSpc>
                <a:spcPct val="100000"/>
              </a:lnSpc>
              <a:spcBef>
                <a:spcPts val="0"/>
              </a:spcBef>
              <a:buNone/>
            </a:pPr>
            <a:r>
              <a:rPr lang="en-US" sz="2400" dirty="0"/>
              <a:t>  </a:t>
            </a:r>
            <a:r>
              <a:rPr lang="en-US" sz="2000" dirty="0"/>
              <a:t>// Wait for a moment </a:t>
            </a:r>
          </a:p>
          <a:p>
            <a:pPr marL="0" indent="0">
              <a:lnSpc>
                <a:spcPct val="100000"/>
              </a:lnSpc>
              <a:spcBef>
                <a:spcPts val="0"/>
              </a:spcBef>
              <a:buNone/>
            </a:pPr>
            <a:r>
              <a:rPr lang="en-US" sz="2400" dirty="0"/>
              <a:t>  delay(10);</a:t>
            </a:r>
          </a:p>
          <a:p>
            <a:pPr marL="0" indent="0">
              <a:lnSpc>
                <a:spcPct val="100000"/>
              </a:lnSpc>
              <a:spcBef>
                <a:spcPts val="0"/>
              </a:spcBef>
              <a:buNone/>
            </a:pPr>
            <a:r>
              <a:rPr lang="en-US" sz="2400" dirty="0"/>
              <a:t>  </a:t>
            </a:r>
            <a:r>
              <a:rPr lang="en-US" sz="2000" dirty="0"/>
              <a:t>//We sent the data here and wait for the response from device</a:t>
            </a:r>
          </a:p>
          <a:p>
            <a:pPr marL="0" indent="0">
              <a:lnSpc>
                <a:spcPct val="100000"/>
              </a:lnSpc>
              <a:spcBef>
                <a:spcPts val="0"/>
              </a:spcBef>
              <a:buNone/>
            </a:pPr>
            <a:r>
              <a:rPr lang="en-US" sz="2400" dirty="0"/>
              <a:t>  char </a:t>
            </a:r>
            <a:r>
              <a:rPr lang="en-US" sz="2400" dirty="0" err="1"/>
              <a:t>receivedValue</a:t>
            </a:r>
            <a:r>
              <a:rPr lang="en-US" sz="2400" dirty="0"/>
              <a:t> = </a:t>
            </a:r>
            <a:r>
              <a:rPr lang="en-US" sz="2400" dirty="0" err="1"/>
              <a:t>SPI.transfer</a:t>
            </a:r>
            <a:r>
              <a:rPr lang="en-US" sz="2400" dirty="0"/>
              <a:t>(data);</a:t>
            </a:r>
          </a:p>
          <a:p>
            <a:pPr marL="0" indent="0">
              <a:lnSpc>
                <a:spcPct val="100000"/>
              </a:lnSpc>
              <a:spcBef>
                <a:spcPts val="0"/>
              </a:spcBef>
              <a:buNone/>
            </a:pPr>
            <a:r>
              <a:rPr lang="en-US" sz="2400" dirty="0"/>
              <a:t>  </a:t>
            </a:r>
            <a:r>
              <a:rPr lang="en-US" sz="2000" dirty="0"/>
              <a:t>//And then write the answer to the serial port</a:t>
            </a:r>
            <a:endParaRPr lang="en-US" sz="2400" dirty="0"/>
          </a:p>
          <a:p>
            <a:pPr marL="0" indent="0">
              <a:lnSpc>
                <a:spcPct val="100000"/>
              </a:lnSpc>
              <a:spcBef>
                <a:spcPts val="0"/>
              </a:spcBef>
              <a:buNone/>
            </a:pPr>
            <a:r>
              <a:rPr lang="en-US" sz="2400" dirty="0"/>
              <a:t>  </a:t>
            </a:r>
            <a:r>
              <a:rPr lang="en-US" sz="2400" dirty="0" err="1"/>
              <a:t>Serial.println</a:t>
            </a:r>
            <a:r>
              <a:rPr lang="en-US" sz="2400" dirty="0"/>
              <a:t>(</a:t>
            </a:r>
            <a:r>
              <a:rPr lang="en-US" sz="2400" dirty="0" err="1"/>
              <a:t>receivedValue</a:t>
            </a:r>
            <a:r>
              <a:rPr lang="en-US" sz="2400" dirty="0"/>
              <a:t>);</a:t>
            </a:r>
          </a:p>
          <a:p>
            <a:pPr marL="0" indent="0">
              <a:lnSpc>
                <a:spcPct val="100000"/>
              </a:lnSpc>
              <a:spcBef>
                <a:spcPts val="0"/>
              </a:spcBef>
              <a:buNone/>
            </a:pPr>
            <a:r>
              <a:rPr lang="en-US" sz="2400" dirty="0"/>
              <a:t>  </a:t>
            </a:r>
            <a:r>
              <a:rPr lang="en-US" sz="2000" dirty="0"/>
              <a:t>//Disable slave Arduino with setting the Slave Selection pin to 5 V</a:t>
            </a:r>
          </a:p>
          <a:p>
            <a:pPr marL="0" indent="0">
              <a:lnSpc>
                <a:spcPct val="100000"/>
              </a:lnSpc>
              <a:spcBef>
                <a:spcPts val="0"/>
              </a:spcBef>
              <a:buNone/>
            </a:pPr>
            <a:r>
              <a:rPr lang="en-US" sz="2400" dirty="0"/>
              <a:t>  </a:t>
            </a:r>
            <a:r>
              <a:rPr lang="en-US" sz="2400" dirty="0" err="1"/>
              <a:t>digitalWrite</a:t>
            </a:r>
            <a:r>
              <a:rPr lang="en-US" sz="2400" dirty="0"/>
              <a:t>(</a:t>
            </a:r>
            <a:r>
              <a:rPr lang="en-US" sz="2400" dirty="0" err="1"/>
              <a:t>SlaveSelection</a:t>
            </a:r>
            <a:r>
              <a:rPr lang="en-US" sz="2400" dirty="0"/>
              <a:t>, HIGH);</a:t>
            </a:r>
          </a:p>
          <a:p>
            <a:pPr marL="0" indent="0">
              <a:lnSpc>
                <a:spcPct val="100000"/>
              </a:lnSpc>
              <a:spcBef>
                <a:spcPts val="0"/>
              </a:spcBef>
              <a:buNone/>
            </a:pPr>
            <a:r>
              <a:rPr lang="en-US" sz="2400" dirty="0"/>
              <a:t>}</a:t>
            </a:r>
          </a:p>
        </p:txBody>
      </p:sp>
    </p:spTree>
    <p:extLst>
      <p:ext uri="{BB962C8B-B14F-4D97-AF65-F5344CB8AC3E}">
        <p14:creationId xmlns:p14="http://schemas.microsoft.com/office/powerpoint/2010/main" val="562595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A02CA-F63B-4A84-986C-A613026628E2}"/>
              </a:ext>
            </a:extLst>
          </p:cNvPr>
          <p:cNvSpPr>
            <a:spLocks noGrp="1"/>
          </p:cNvSpPr>
          <p:nvPr>
            <p:ph type="title"/>
          </p:nvPr>
        </p:nvSpPr>
        <p:spPr>
          <a:xfrm>
            <a:off x="1771829" y="118534"/>
            <a:ext cx="9962147" cy="645732"/>
          </a:xfrm>
        </p:spPr>
        <p:txBody>
          <a:bodyPr>
            <a:noAutofit/>
          </a:bodyPr>
          <a:lstStyle/>
          <a:p>
            <a:r>
              <a:rPr lang="en-US" sz="5400" b="1" dirty="0">
                <a:solidFill>
                  <a:srgbClr val="002060"/>
                </a:solidFill>
              </a:rPr>
              <a:t>SPI Examples</a:t>
            </a:r>
          </a:p>
        </p:txBody>
      </p:sp>
      <p:sp>
        <p:nvSpPr>
          <p:cNvPr id="3" name="Content Placeholder 2">
            <a:extLst>
              <a:ext uri="{FF2B5EF4-FFF2-40B4-BE49-F238E27FC236}">
                <a16:creationId xmlns:a16="http://schemas.microsoft.com/office/drawing/2014/main" id="{B520C749-701D-413F-8F1E-60E9B660709D}"/>
              </a:ext>
            </a:extLst>
          </p:cNvPr>
          <p:cNvSpPr>
            <a:spLocks noGrp="1"/>
          </p:cNvSpPr>
          <p:nvPr>
            <p:ph idx="1"/>
          </p:nvPr>
        </p:nvSpPr>
        <p:spPr>
          <a:xfrm>
            <a:off x="224432" y="798132"/>
            <a:ext cx="7869702" cy="7121502"/>
          </a:xfrm>
          <a:ln>
            <a:solidFill>
              <a:srgbClr val="00B050"/>
            </a:solidFill>
          </a:ln>
        </p:spPr>
        <p:txBody>
          <a:bodyPr>
            <a:noAutofit/>
          </a:bodyPr>
          <a:lstStyle/>
          <a:p>
            <a:pPr marL="0" indent="0">
              <a:lnSpc>
                <a:spcPct val="100000"/>
              </a:lnSpc>
              <a:spcBef>
                <a:spcPts val="0"/>
              </a:spcBef>
              <a:buNone/>
            </a:pPr>
            <a:r>
              <a:rPr lang="en-US" sz="2400" dirty="0"/>
              <a:t>//Slave device of the SPI communication</a:t>
            </a:r>
          </a:p>
          <a:p>
            <a:pPr marL="0" indent="0">
              <a:lnSpc>
                <a:spcPct val="100000"/>
              </a:lnSpc>
              <a:spcBef>
                <a:spcPts val="0"/>
              </a:spcBef>
              <a:buNone/>
            </a:pPr>
            <a:r>
              <a:rPr lang="en-US" sz="2400" dirty="0"/>
              <a:t>#include &lt;</a:t>
            </a:r>
            <a:r>
              <a:rPr lang="en-US" sz="2400" dirty="0" err="1"/>
              <a:t>SPI.h</a:t>
            </a:r>
            <a:r>
              <a:rPr lang="en-US" sz="2400" dirty="0"/>
              <a:t>&gt;</a:t>
            </a:r>
          </a:p>
          <a:p>
            <a:pPr marL="0" indent="0">
              <a:lnSpc>
                <a:spcPct val="100000"/>
              </a:lnSpc>
              <a:spcBef>
                <a:spcPts val="0"/>
              </a:spcBef>
              <a:buNone/>
            </a:pPr>
            <a:endParaRPr lang="en-US" sz="1400" dirty="0"/>
          </a:p>
          <a:p>
            <a:pPr marL="0" indent="0">
              <a:lnSpc>
                <a:spcPct val="100000"/>
              </a:lnSpc>
              <a:spcBef>
                <a:spcPts val="0"/>
              </a:spcBef>
              <a:buNone/>
            </a:pPr>
            <a:r>
              <a:rPr lang="en-US" sz="2400" dirty="0"/>
              <a:t>char </a:t>
            </a:r>
            <a:r>
              <a:rPr lang="en-US" sz="2400" dirty="0" err="1"/>
              <a:t>i</a:t>
            </a:r>
            <a:r>
              <a:rPr lang="en-US" sz="2400" dirty="0"/>
              <a:t> = 0;</a:t>
            </a:r>
          </a:p>
          <a:p>
            <a:pPr marL="0" indent="0">
              <a:lnSpc>
                <a:spcPct val="100000"/>
              </a:lnSpc>
              <a:spcBef>
                <a:spcPts val="0"/>
              </a:spcBef>
              <a:buNone/>
            </a:pPr>
            <a:endParaRPr lang="en-US" sz="1400" dirty="0"/>
          </a:p>
          <a:p>
            <a:pPr marL="0" indent="0">
              <a:lnSpc>
                <a:spcPct val="100000"/>
              </a:lnSpc>
              <a:spcBef>
                <a:spcPts val="0"/>
              </a:spcBef>
              <a:buNone/>
            </a:pPr>
            <a:r>
              <a:rPr lang="en-US" sz="2400" dirty="0"/>
              <a:t>#define </a:t>
            </a:r>
            <a:r>
              <a:rPr lang="en-US" sz="2400" dirty="0" err="1"/>
              <a:t>SlaveSelection</a:t>
            </a:r>
            <a:r>
              <a:rPr lang="en-US" sz="2400" dirty="0"/>
              <a:t>  10</a:t>
            </a:r>
          </a:p>
          <a:p>
            <a:pPr marL="0" indent="0">
              <a:lnSpc>
                <a:spcPct val="100000"/>
              </a:lnSpc>
              <a:spcBef>
                <a:spcPts val="0"/>
              </a:spcBef>
              <a:buNone/>
            </a:pPr>
            <a:endParaRPr lang="en-US" sz="1400" dirty="0"/>
          </a:p>
          <a:p>
            <a:pPr marL="0" indent="0">
              <a:lnSpc>
                <a:spcPct val="100000"/>
              </a:lnSpc>
              <a:spcBef>
                <a:spcPts val="0"/>
              </a:spcBef>
              <a:buNone/>
            </a:pPr>
            <a:r>
              <a:rPr lang="en-US" sz="2400" dirty="0"/>
              <a:t>void setup() {</a:t>
            </a:r>
          </a:p>
          <a:p>
            <a:pPr marL="0" indent="0">
              <a:lnSpc>
                <a:spcPct val="100000"/>
              </a:lnSpc>
              <a:spcBef>
                <a:spcPts val="0"/>
              </a:spcBef>
              <a:buNone/>
            </a:pPr>
            <a:r>
              <a:rPr lang="en-US" sz="2000" dirty="0"/>
              <a:t>  //Start the Serial Communication</a:t>
            </a:r>
          </a:p>
          <a:p>
            <a:pPr marL="0" indent="0">
              <a:lnSpc>
                <a:spcPct val="100000"/>
              </a:lnSpc>
              <a:spcBef>
                <a:spcPts val="0"/>
              </a:spcBef>
              <a:buNone/>
            </a:pPr>
            <a:r>
              <a:rPr lang="en-US" sz="2400" dirty="0"/>
              <a:t>  </a:t>
            </a:r>
            <a:r>
              <a:rPr lang="en-US" sz="2400" dirty="0" err="1"/>
              <a:t>Serial.begin</a:t>
            </a:r>
            <a:r>
              <a:rPr lang="en-US" sz="2400" dirty="0"/>
              <a:t>(9600);   </a:t>
            </a:r>
            <a:r>
              <a:rPr lang="en-US" sz="1100" dirty="0"/>
              <a:t> </a:t>
            </a:r>
            <a:r>
              <a:rPr lang="en-US" sz="2400" dirty="0"/>
              <a:t>   </a:t>
            </a:r>
          </a:p>
          <a:p>
            <a:pPr marL="0" indent="0">
              <a:lnSpc>
                <a:spcPct val="100000"/>
              </a:lnSpc>
              <a:spcBef>
                <a:spcPts val="0"/>
              </a:spcBef>
              <a:buNone/>
            </a:pPr>
            <a:r>
              <a:rPr lang="en-US" sz="2000" dirty="0"/>
              <a:t>  // initialize SPI :</a:t>
            </a:r>
          </a:p>
          <a:p>
            <a:pPr marL="0" indent="0">
              <a:lnSpc>
                <a:spcPct val="100000"/>
              </a:lnSpc>
              <a:spcBef>
                <a:spcPts val="0"/>
              </a:spcBef>
              <a:buNone/>
            </a:pPr>
            <a:r>
              <a:rPr lang="en-US" sz="2400" dirty="0"/>
              <a:t>  </a:t>
            </a:r>
            <a:r>
              <a:rPr lang="en-US" sz="2400" dirty="0" err="1"/>
              <a:t>pinMode</a:t>
            </a:r>
            <a:r>
              <a:rPr lang="en-US" sz="2400" dirty="0"/>
              <a:t>(</a:t>
            </a:r>
            <a:r>
              <a:rPr lang="en-US" sz="2400" dirty="0" err="1"/>
              <a:t>SlaveSelection</a:t>
            </a:r>
            <a:r>
              <a:rPr lang="en-US" sz="2400" dirty="0"/>
              <a:t> , INPUT); </a:t>
            </a:r>
            <a:r>
              <a:rPr lang="en-US" sz="2000" dirty="0"/>
              <a:t>// Set Slave Selection as input</a:t>
            </a:r>
          </a:p>
          <a:p>
            <a:pPr marL="0" indent="0">
              <a:lnSpc>
                <a:spcPct val="100000"/>
              </a:lnSpc>
              <a:spcBef>
                <a:spcPts val="0"/>
              </a:spcBef>
              <a:buNone/>
            </a:pPr>
            <a:r>
              <a:rPr lang="en-US" sz="2400" dirty="0"/>
              <a:t>  </a:t>
            </a:r>
            <a:r>
              <a:rPr lang="en-US" sz="2400" dirty="0" err="1"/>
              <a:t>pinMode</a:t>
            </a:r>
            <a:r>
              <a:rPr lang="en-US" sz="2400" dirty="0"/>
              <a:t>(13,OUTPUT);   // Set clock as output</a:t>
            </a:r>
          </a:p>
          <a:p>
            <a:pPr marL="0" indent="0">
              <a:lnSpc>
                <a:spcPct val="100000"/>
              </a:lnSpc>
              <a:spcBef>
                <a:spcPts val="0"/>
              </a:spcBef>
              <a:buNone/>
            </a:pPr>
            <a:r>
              <a:rPr lang="en-US" sz="2400" dirty="0"/>
              <a:t>  </a:t>
            </a:r>
            <a:r>
              <a:rPr lang="en-US" sz="2400" dirty="0" err="1"/>
              <a:t>pinMode</a:t>
            </a:r>
            <a:r>
              <a:rPr lang="en-US" sz="2400" dirty="0"/>
              <a:t>(11,OUTPUT);   // Set MOSI as output</a:t>
            </a:r>
          </a:p>
          <a:p>
            <a:pPr marL="0" indent="0">
              <a:lnSpc>
                <a:spcPct val="100000"/>
              </a:lnSpc>
              <a:spcBef>
                <a:spcPts val="0"/>
              </a:spcBef>
              <a:buNone/>
            </a:pPr>
            <a:r>
              <a:rPr lang="en-US" sz="2400" dirty="0"/>
              <a:t>  </a:t>
            </a:r>
            <a:r>
              <a:rPr lang="en-US" sz="2400" dirty="0" err="1"/>
              <a:t>pinMode</a:t>
            </a:r>
            <a:r>
              <a:rPr lang="en-US" sz="2400" dirty="0"/>
              <a:t>(12,INPUT);    // Set MISO as input  </a:t>
            </a:r>
          </a:p>
          <a:p>
            <a:pPr marL="0" indent="0">
              <a:lnSpc>
                <a:spcPct val="100000"/>
              </a:lnSpc>
              <a:spcBef>
                <a:spcPts val="0"/>
              </a:spcBef>
              <a:buNone/>
            </a:pPr>
            <a:r>
              <a:rPr lang="en-US" sz="2400" dirty="0"/>
              <a:t>  </a:t>
            </a:r>
            <a:r>
              <a:rPr lang="en-US" sz="2000" dirty="0"/>
              <a:t>// SPCR - SPI Control Register</a:t>
            </a:r>
          </a:p>
          <a:p>
            <a:pPr marL="0" indent="0">
              <a:lnSpc>
                <a:spcPct val="100000"/>
              </a:lnSpc>
              <a:spcBef>
                <a:spcPts val="0"/>
              </a:spcBef>
              <a:buNone/>
            </a:pPr>
            <a:r>
              <a:rPr lang="en-US" sz="2000" dirty="0"/>
              <a:t>  // According to the structure of table we, enable the SPI and Interface</a:t>
            </a:r>
            <a:endParaRPr lang="en-US" sz="2400" dirty="0"/>
          </a:p>
          <a:p>
            <a:pPr marL="0" indent="0">
              <a:lnSpc>
                <a:spcPct val="100000"/>
              </a:lnSpc>
              <a:spcBef>
                <a:spcPts val="0"/>
              </a:spcBef>
              <a:buNone/>
            </a:pPr>
            <a:r>
              <a:rPr lang="en-US" sz="2400" dirty="0"/>
              <a:t>  SPCR  |= 0b11000000;</a:t>
            </a:r>
          </a:p>
          <a:p>
            <a:pPr marL="0" indent="0">
              <a:lnSpc>
                <a:spcPct val="100000"/>
              </a:lnSpc>
              <a:spcBef>
                <a:spcPts val="0"/>
              </a:spcBef>
              <a:buNone/>
            </a:pPr>
            <a:r>
              <a:rPr lang="en-US" sz="2000" dirty="0"/>
              <a:t>  // SPSR - SPI Status Register</a:t>
            </a:r>
          </a:p>
          <a:p>
            <a:pPr marL="0" indent="0">
              <a:lnSpc>
                <a:spcPct val="100000"/>
              </a:lnSpc>
              <a:spcBef>
                <a:spcPts val="0"/>
              </a:spcBef>
              <a:buNone/>
            </a:pPr>
            <a:r>
              <a:rPr lang="en-US" sz="2400" dirty="0"/>
              <a:t>  SPSR  |= 0x00;</a:t>
            </a:r>
          </a:p>
          <a:p>
            <a:pPr marL="0" indent="0">
              <a:lnSpc>
                <a:spcPct val="100000"/>
              </a:lnSpc>
              <a:spcBef>
                <a:spcPts val="0"/>
              </a:spcBef>
              <a:buNone/>
            </a:pPr>
            <a:r>
              <a:rPr lang="en-US" sz="2400" dirty="0"/>
              <a:t>}  </a:t>
            </a:r>
          </a:p>
          <a:p>
            <a:pPr marL="0" indent="0">
              <a:lnSpc>
                <a:spcPct val="100000"/>
              </a:lnSpc>
              <a:spcBef>
                <a:spcPts val="0"/>
              </a:spcBef>
              <a:buNone/>
            </a:pPr>
            <a:r>
              <a:rPr lang="en-US" sz="2400" dirty="0"/>
              <a:t> </a:t>
            </a:r>
          </a:p>
          <a:p>
            <a:pPr marL="0" indent="0">
              <a:lnSpc>
                <a:spcPct val="100000"/>
              </a:lnSpc>
              <a:spcBef>
                <a:spcPts val="0"/>
              </a:spcBef>
              <a:buNone/>
            </a:pPr>
            <a:endParaRPr lang="en-US" sz="2400" dirty="0"/>
          </a:p>
        </p:txBody>
      </p:sp>
      <p:sp>
        <p:nvSpPr>
          <p:cNvPr id="4" name="Date Placeholder 3"/>
          <p:cNvSpPr>
            <a:spLocks noGrp="1"/>
          </p:cNvSpPr>
          <p:nvPr>
            <p:ph type="dt" sz="half" idx="10"/>
          </p:nvPr>
        </p:nvSpPr>
        <p:spPr/>
        <p:txBody>
          <a:bodyPr/>
          <a:lstStyle/>
          <a:p>
            <a:fld id="{0ED04289-A90E-411A-A4F2-A70AC3C225B3}" type="datetime3">
              <a:rPr lang="en-US" smtClean="0"/>
              <a:t>3 December 2025</a:t>
            </a:fld>
            <a:endParaRPr lang="en-US"/>
          </a:p>
        </p:txBody>
      </p:sp>
      <p:sp>
        <p:nvSpPr>
          <p:cNvPr id="6" name="Slide Number Placeholder 5"/>
          <p:cNvSpPr>
            <a:spLocks noGrp="1"/>
          </p:cNvSpPr>
          <p:nvPr>
            <p:ph type="sldNum" sz="quarter" idx="12"/>
          </p:nvPr>
        </p:nvSpPr>
        <p:spPr/>
        <p:txBody>
          <a:bodyPr/>
          <a:lstStyle/>
          <a:p>
            <a:fld id="{90416D69-EFB9-4734-9DF5-4234A5F1A98A}" type="slidenum">
              <a:rPr lang="en-US" smtClean="0"/>
              <a:t>31</a:t>
            </a:fld>
            <a:endParaRPr lang="en-US"/>
          </a:p>
        </p:txBody>
      </p:sp>
      <p:sp>
        <p:nvSpPr>
          <p:cNvPr id="7" name="Rectangle 6"/>
          <p:cNvSpPr/>
          <p:nvPr/>
        </p:nvSpPr>
        <p:spPr>
          <a:xfrm>
            <a:off x="5852444" y="481866"/>
            <a:ext cx="1371850" cy="369332"/>
          </a:xfrm>
          <a:prstGeom prst="rect">
            <a:avLst/>
          </a:prstGeom>
        </p:spPr>
        <p:txBody>
          <a:bodyPr wrap="none">
            <a:spAutoFit/>
          </a:bodyPr>
          <a:lstStyle/>
          <a:p>
            <a:r>
              <a:rPr lang="en-US" b="1" dirty="0"/>
              <a:t>SPI as SLAVE</a:t>
            </a:r>
          </a:p>
        </p:txBody>
      </p:sp>
      <p:sp>
        <p:nvSpPr>
          <p:cNvPr id="8" name="Rectangle 7"/>
          <p:cNvSpPr/>
          <p:nvPr/>
        </p:nvSpPr>
        <p:spPr>
          <a:xfrm>
            <a:off x="10362126" y="119667"/>
            <a:ext cx="1371850" cy="369332"/>
          </a:xfrm>
          <a:prstGeom prst="rect">
            <a:avLst/>
          </a:prstGeom>
        </p:spPr>
        <p:txBody>
          <a:bodyPr wrap="none">
            <a:spAutoFit/>
          </a:bodyPr>
          <a:lstStyle/>
          <a:p>
            <a:r>
              <a:rPr lang="en-US" b="1" dirty="0"/>
              <a:t>SPI as SLAVE</a:t>
            </a:r>
          </a:p>
        </p:txBody>
      </p:sp>
      <p:sp>
        <p:nvSpPr>
          <p:cNvPr id="9" name="Content Placeholder 2">
            <a:extLst>
              <a:ext uri="{FF2B5EF4-FFF2-40B4-BE49-F238E27FC236}">
                <a16:creationId xmlns:a16="http://schemas.microsoft.com/office/drawing/2014/main" id="{B520C749-701D-413F-8F1E-60E9B660709D}"/>
              </a:ext>
            </a:extLst>
          </p:cNvPr>
          <p:cNvSpPr txBox="1">
            <a:spLocks/>
          </p:cNvSpPr>
          <p:nvPr/>
        </p:nvSpPr>
        <p:spPr>
          <a:xfrm>
            <a:off x="8373956" y="488999"/>
            <a:ext cx="7869702" cy="7430635"/>
          </a:xfrm>
          <a:prstGeom prst="rect">
            <a:avLst/>
          </a:prstGeom>
          <a:ln>
            <a:solidFill>
              <a:srgbClr val="FF0000"/>
            </a:solidFill>
          </a:ln>
        </p:spPr>
        <p:txBody>
          <a:bodyPr vert="horz" lIns="91440" tIns="45720" rIns="91440" bIns="45720" rtlCol="0">
            <a:noAutofit/>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marL="0" indent="0">
              <a:lnSpc>
                <a:spcPct val="100000"/>
              </a:lnSpc>
              <a:spcBef>
                <a:spcPts val="0"/>
              </a:spcBef>
              <a:buNone/>
            </a:pPr>
            <a:r>
              <a:rPr lang="en-US" sz="2400" dirty="0"/>
              <a:t>void loop()</a:t>
            </a:r>
          </a:p>
          <a:p>
            <a:pPr marL="0" indent="0">
              <a:lnSpc>
                <a:spcPct val="100000"/>
              </a:lnSpc>
              <a:spcBef>
                <a:spcPts val="0"/>
              </a:spcBef>
              <a:buNone/>
            </a:pPr>
            <a:r>
              <a:rPr lang="en-US" sz="2400" dirty="0"/>
              <a:t>{</a:t>
            </a:r>
          </a:p>
          <a:p>
            <a:pPr marL="0" indent="0">
              <a:lnSpc>
                <a:spcPct val="100000"/>
              </a:lnSpc>
              <a:spcBef>
                <a:spcPts val="0"/>
              </a:spcBef>
              <a:buNone/>
            </a:pPr>
            <a:r>
              <a:rPr lang="en-US" sz="2400" dirty="0"/>
              <a:t>  delay(1000);</a:t>
            </a:r>
          </a:p>
          <a:p>
            <a:pPr marL="0" indent="0">
              <a:lnSpc>
                <a:spcPct val="100000"/>
              </a:lnSpc>
              <a:spcBef>
                <a:spcPts val="0"/>
              </a:spcBef>
              <a:buNone/>
            </a:pPr>
            <a:r>
              <a:rPr lang="en-US" sz="2400" dirty="0"/>
              <a:t>}</a:t>
            </a:r>
          </a:p>
          <a:p>
            <a:pPr marL="0" indent="0">
              <a:lnSpc>
                <a:spcPct val="100000"/>
              </a:lnSpc>
              <a:spcBef>
                <a:spcPts val="0"/>
              </a:spcBef>
              <a:buNone/>
            </a:pPr>
            <a:endParaRPr lang="en-US" sz="1600" dirty="0"/>
          </a:p>
          <a:p>
            <a:pPr marL="0" indent="0">
              <a:lnSpc>
                <a:spcPct val="100000"/>
              </a:lnSpc>
              <a:spcBef>
                <a:spcPts val="0"/>
              </a:spcBef>
              <a:buNone/>
            </a:pPr>
            <a:r>
              <a:rPr lang="en-US" sz="2400" dirty="0"/>
              <a:t>//SPI Interrupt function </a:t>
            </a:r>
          </a:p>
          <a:p>
            <a:pPr marL="0" indent="0">
              <a:lnSpc>
                <a:spcPct val="100000"/>
              </a:lnSpc>
              <a:spcBef>
                <a:spcPts val="0"/>
              </a:spcBef>
              <a:buNone/>
            </a:pPr>
            <a:endParaRPr lang="en-US" sz="2400" dirty="0"/>
          </a:p>
          <a:p>
            <a:pPr marL="0" indent="0">
              <a:lnSpc>
                <a:spcPct val="100000"/>
              </a:lnSpc>
              <a:spcBef>
                <a:spcPts val="0"/>
              </a:spcBef>
              <a:buNone/>
            </a:pPr>
            <a:r>
              <a:rPr lang="en-US" sz="2400" dirty="0"/>
              <a:t>ISR(</a:t>
            </a:r>
            <a:r>
              <a:rPr lang="en-US" sz="2400" dirty="0" err="1"/>
              <a:t>SPI_STC_vect</a:t>
            </a:r>
            <a:r>
              <a:rPr lang="en-US" sz="2400" dirty="0"/>
              <a:t>) {</a:t>
            </a:r>
          </a:p>
          <a:p>
            <a:pPr marL="0" indent="0">
              <a:lnSpc>
                <a:spcPct val="100000"/>
              </a:lnSpc>
              <a:spcBef>
                <a:spcPts val="0"/>
              </a:spcBef>
              <a:buNone/>
            </a:pPr>
            <a:r>
              <a:rPr lang="en-US" sz="2000" dirty="0"/>
              <a:t>//Here we read the SPI lines, this line will check data for every ASCII codes //for 8-bit received data SPDR -&gt; SPI Data Read bit</a:t>
            </a:r>
          </a:p>
          <a:p>
            <a:pPr marL="0" indent="0">
              <a:lnSpc>
                <a:spcPct val="100000"/>
              </a:lnSpc>
              <a:spcBef>
                <a:spcPts val="0"/>
              </a:spcBef>
              <a:buNone/>
            </a:pPr>
            <a:r>
              <a:rPr lang="en-US" sz="2400" dirty="0"/>
              <a:t>    SPDR = </a:t>
            </a:r>
            <a:r>
              <a:rPr lang="en-US" sz="2400" dirty="0" err="1"/>
              <a:t>i</a:t>
            </a:r>
            <a:r>
              <a:rPr lang="en-US" sz="2400" dirty="0"/>
              <a:t>;</a:t>
            </a:r>
          </a:p>
          <a:p>
            <a:pPr marL="0" indent="0">
              <a:lnSpc>
                <a:spcPct val="100000"/>
              </a:lnSpc>
              <a:spcBef>
                <a:spcPts val="0"/>
              </a:spcBef>
              <a:buNone/>
            </a:pPr>
            <a:r>
              <a:rPr lang="en-US" sz="2400" dirty="0"/>
              <a:t>    </a:t>
            </a:r>
            <a:r>
              <a:rPr lang="en-US" sz="2400" dirty="0" err="1"/>
              <a:t>i</a:t>
            </a:r>
            <a:r>
              <a:rPr lang="en-US" sz="2400" dirty="0"/>
              <a:t> ++;</a:t>
            </a:r>
          </a:p>
          <a:p>
            <a:pPr marL="0" indent="0">
              <a:lnSpc>
                <a:spcPct val="100000"/>
              </a:lnSpc>
              <a:spcBef>
                <a:spcPts val="0"/>
              </a:spcBef>
              <a:buNone/>
            </a:pPr>
            <a:r>
              <a:rPr lang="en-US" sz="2400" dirty="0"/>
              <a:t>    if ( </a:t>
            </a:r>
            <a:r>
              <a:rPr lang="en-US" sz="2400" dirty="0" err="1"/>
              <a:t>i</a:t>
            </a:r>
            <a:r>
              <a:rPr lang="en-US" sz="2400" dirty="0"/>
              <a:t> &gt; 255) </a:t>
            </a:r>
          </a:p>
          <a:p>
            <a:pPr marL="0" indent="0">
              <a:lnSpc>
                <a:spcPct val="100000"/>
              </a:lnSpc>
              <a:spcBef>
                <a:spcPts val="0"/>
              </a:spcBef>
              <a:buNone/>
            </a:pPr>
            <a:r>
              <a:rPr lang="en-US" sz="2400" dirty="0"/>
              <a:t>      </a:t>
            </a:r>
            <a:r>
              <a:rPr lang="en-US" sz="2400" dirty="0" err="1"/>
              <a:t>i</a:t>
            </a:r>
            <a:r>
              <a:rPr lang="en-US" sz="2400" dirty="0"/>
              <a:t> = 0;</a:t>
            </a:r>
          </a:p>
          <a:p>
            <a:pPr marL="0" indent="0">
              <a:lnSpc>
                <a:spcPct val="100000"/>
              </a:lnSpc>
              <a:spcBef>
                <a:spcPts val="0"/>
              </a:spcBef>
              <a:buNone/>
            </a:pPr>
            <a:r>
              <a:rPr lang="en-US" sz="2400" dirty="0"/>
              <a:t>    while(!(SPSR &amp; (1 &lt;&lt; SPIF)));</a:t>
            </a:r>
          </a:p>
          <a:p>
            <a:pPr marL="0" indent="0">
              <a:lnSpc>
                <a:spcPct val="100000"/>
              </a:lnSpc>
              <a:spcBef>
                <a:spcPts val="0"/>
              </a:spcBef>
              <a:buNone/>
            </a:pPr>
            <a:r>
              <a:rPr lang="en-US" sz="2000" dirty="0"/>
              <a:t>    //Load the received data to the variable</a:t>
            </a:r>
          </a:p>
          <a:p>
            <a:pPr marL="0" indent="0">
              <a:lnSpc>
                <a:spcPct val="100000"/>
              </a:lnSpc>
              <a:spcBef>
                <a:spcPts val="0"/>
              </a:spcBef>
              <a:buNone/>
            </a:pPr>
            <a:r>
              <a:rPr lang="en-US" sz="2400" dirty="0"/>
              <a:t>    char received = SPDR;</a:t>
            </a:r>
          </a:p>
          <a:p>
            <a:pPr marL="0" indent="0">
              <a:lnSpc>
                <a:spcPct val="100000"/>
              </a:lnSpc>
              <a:spcBef>
                <a:spcPts val="0"/>
              </a:spcBef>
              <a:buNone/>
            </a:pPr>
            <a:r>
              <a:rPr lang="en-US" sz="2400" dirty="0"/>
              <a:t>    </a:t>
            </a:r>
            <a:r>
              <a:rPr lang="en-US" sz="2000" dirty="0"/>
              <a:t>//And send it to the serial communication bus</a:t>
            </a:r>
          </a:p>
          <a:p>
            <a:pPr marL="0" indent="0">
              <a:lnSpc>
                <a:spcPct val="100000"/>
              </a:lnSpc>
              <a:spcBef>
                <a:spcPts val="0"/>
              </a:spcBef>
              <a:buNone/>
            </a:pPr>
            <a:r>
              <a:rPr lang="en-US" sz="2400" dirty="0"/>
              <a:t>    </a:t>
            </a:r>
            <a:r>
              <a:rPr lang="en-US" sz="2400" dirty="0" err="1"/>
              <a:t>Serial.println</a:t>
            </a:r>
            <a:r>
              <a:rPr lang="en-US" sz="2400" dirty="0"/>
              <a:t>(received);</a:t>
            </a:r>
          </a:p>
          <a:p>
            <a:pPr marL="0" indent="0">
              <a:lnSpc>
                <a:spcPct val="100000"/>
              </a:lnSpc>
              <a:spcBef>
                <a:spcPts val="0"/>
              </a:spcBef>
              <a:buNone/>
            </a:pPr>
            <a:r>
              <a:rPr lang="en-US" sz="2400" dirty="0"/>
              <a:t>}</a:t>
            </a:r>
          </a:p>
        </p:txBody>
      </p:sp>
      <p:pic>
        <p:nvPicPr>
          <p:cNvPr id="10" name="Picture 9">
            <a:extLst>
              <a:ext uri="{FF2B5EF4-FFF2-40B4-BE49-F238E27FC236}">
                <a16:creationId xmlns:a16="http://schemas.microsoft.com/office/drawing/2014/main" id="{C903F10D-2ADE-91A8-7B3E-4FECAE09A559}"/>
              </a:ext>
            </a:extLst>
          </p:cNvPr>
          <p:cNvPicPr>
            <a:picLocks noChangeAspect="1"/>
          </p:cNvPicPr>
          <p:nvPr/>
        </p:nvPicPr>
        <p:blipFill>
          <a:blip r:embed="rId2"/>
          <a:stretch>
            <a:fillRect/>
          </a:stretch>
        </p:blipFill>
        <p:spPr>
          <a:xfrm>
            <a:off x="2565400" y="7289800"/>
            <a:ext cx="5424729" cy="557868"/>
          </a:xfrm>
          <a:prstGeom prst="rect">
            <a:avLst/>
          </a:prstGeom>
        </p:spPr>
      </p:pic>
    </p:spTree>
    <p:extLst>
      <p:ext uri="{BB962C8B-B14F-4D97-AF65-F5344CB8AC3E}">
        <p14:creationId xmlns:p14="http://schemas.microsoft.com/office/powerpoint/2010/main" val="35380887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1AA54-D255-B1BF-3321-D284418389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E62B4E-F82F-FE97-E3F8-CC37694CD67F}"/>
              </a:ext>
            </a:extLst>
          </p:cNvPr>
          <p:cNvSpPr>
            <a:spLocks noGrp="1"/>
          </p:cNvSpPr>
          <p:nvPr>
            <p:ph type="title"/>
          </p:nvPr>
        </p:nvSpPr>
        <p:spPr>
          <a:xfrm>
            <a:off x="1748873" y="101600"/>
            <a:ext cx="10250905" cy="814081"/>
          </a:xfrm>
        </p:spPr>
        <p:txBody>
          <a:bodyPr>
            <a:noAutofit/>
          </a:bodyPr>
          <a:lstStyle/>
          <a:p>
            <a:pPr algn="just"/>
            <a:r>
              <a:rPr lang="en-US" sz="5400" b="1" dirty="0">
                <a:solidFill>
                  <a:srgbClr val="FF0000"/>
                </a:solidFill>
              </a:rPr>
              <a:t>Practice Example # 1</a:t>
            </a:r>
          </a:p>
        </p:txBody>
      </p:sp>
      <p:sp>
        <p:nvSpPr>
          <p:cNvPr id="3" name="Date Placeholder 2">
            <a:extLst>
              <a:ext uri="{FF2B5EF4-FFF2-40B4-BE49-F238E27FC236}">
                <a16:creationId xmlns:a16="http://schemas.microsoft.com/office/drawing/2014/main" id="{9AC9F936-F6D4-FCCD-23E2-25E5642881B6}"/>
              </a:ext>
            </a:extLst>
          </p:cNvPr>
          <p:cNvSpPr>
            <a:spLocks noGrp="1"/>
          </p:cNvSpPr>
          <p:nvPr>
            <p:ph type="dt" sz="half" idx="10"/>
          </p:nvPr>
        </p:nvSpPr>
        <p:spPr/>
        <p:txBody>
          <a:bodyPr/>
          <a:lstStyle/>
          <a:p>
            <a:fld id="{C89A64A2-F4C3-46F3-8F8E-369987CB5716}" type="datetime3">
              <a:rPr lang="en-US" smtClean="0"/>
              <a:t>3 December 2025</a:t>
            </a:fld>
            <a:endParaRPr lang="en-US"/>
          </a:p>
        </p:txBody>
      </p:sp>
      <p:sp>
        <p:nvSpPr>
          <p:cNvPr id="7" name="Slide Number Placeholder 6">
            <a:extLst>
              <a:ext uri="{FF2B5EF4-FFF2-40B4-BE49-F238E27FC236}">
                <a16:creationId xmlns:a16="http://schemas.microsoft.com/office/drawing/2014/main" id="{50CDE816-EA93-276D-5064-629B17534AA2}"/>
              </a:ext>
            </a:extLst>
          </p:cNvPr>
          <p:cNvSpPr>
            <a:spLocks noGrp="1"/>
          </p:cNvSpPr>
          <p:nvPr>
            <p:ph type="sldNum" sz="quarter" idx="12"/>
          </p:nvPr>
        </p:nvSpPr>
        <p:spPr/>
        <p:txBody>
          <a:bodyPr/>
          <a:lstStyle/>
          <a:p>
            <a:fld id="{90416D69-EFB9-4734-9DF5-4234A5F1A98A}" type="slidenum">
              <a:rPr lang="en-US" smtClean="0"/>
              <a:t>32</a:t>
            </a:fld>
            <a:endParaRPr lang="en-US"/>
          </a:p>
        </p:txBody>
      </p:sp>
      <p:sp>
        <p:nvSpPr>
          <p:cNvPr id="4" name="Title 1">
            <a:extLst>
              <a:ext uri="{FF2B5EF4-FFF2-40B4-BE49-F238E27FC236}">
                <a16:creationId xmlns:a16="http://schemas.microsoft.com/office/drawing/2014/main" id="{7D2306F0-EBC4-C50E-DAAE-7C5DE5A59EF6}"/>
              </a:ext>
            </a:extLst>
          </p:cNvPr>
          <p:cNvSpPr txBox="1">
            <a:spLocks/>
          </p:cNvSpPr>
          <p:nvPr/>
        </p:nvSpPr>
        <p:spPr>
          <a:xfrm>
            <a:off x="299259" y="821614"/>
            <a:ext cx="15893934" cy="7098020"/>
          </a:xfrm>
          <a:prstGeom prst="rect">
            <a:avLst/>
          </a:prstGeom>
        </p:spPr>
        <p:txBody>
          <a:bodyPr vert="horz" lIns="91440" tIns="45720" rIns="91440" bIns="45720" rtlCol="0" anchor="t">
            <a:noAutofit/>
          </a:bodyPr>
          <a:lst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a:lstStyle>
          <a:p>
            <a:pPr marL="0" marR="0" algn="just">
              <a:spcAft>
                <a:spcPts val="300"/>
              </a:spcAft>
              <a:buNone/>
            </a:pPr>
            <a:r>
              <a:rPr lang="en-US" sz="3200" b="1" i="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Compute</a:t>
            </a:r>
            <a:r>
              <a:rPr lang="en-US" sz="3200" i="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 the output for 20 seconds and the SPI clock frequency when the oscillator frequency, </a:t>
            </a:r>
            <a:r>
              <a:rPr lang="en-US" sz="3200" i="1" dirty="0" err="1">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f</a:t>
            </a:r>
            <a:r>
              <a:rPr lang="en-US" sz="3200" i="1" baseline="-25000" dirty="0" err="1">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OSC</a:t>
            </a:r>
            <a:r>
              <a:rPr lang="en-US" sz="3200" i="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  = 16 MHz for the following codes. </a:t>
            </a:r>
            <a:r>
              <a:rPr lang="en-US" sz="3200" b="1" i="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Determine</a:t>
            </a:r>
            <a:r>
              <a:rPr lang="en-US" sz="3200" i="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 the slave state at the end of the program.</a:t>
            </a:r>
            <a:endParaRPr lang="en-US" sz="3200" i="1" dirty="0">
              <a:solidFill>
                <a:srgbClr val="0070C0"/>
              </a:solidFill>
              <a:effectLst/>
              <a:latin typeface="Arial" panose="020B0604020202020204" pitchFamily="34" charset="0"/>
              <a:ea typeface="Times New Roman" panose="02020603050405020304" pitchFamily="18" charset="0"/>
              <a:cs typeface="Times New Roman" panose="02020603050405020304" pitchFamily="18" charset="0"/>
            </a:endParaRPr>
          </a:p>
          <a:p>
            <a:pPr marL="0" marR="0" algn="l">
              <a:spcAft>
                <a:spcPts val="300"/>
              </a:spcAft>
              <a:buNone/>
            </a:pPr>
            <a:r>
              <a:rPr lang="en-US" sz="1800" i="0" dirty="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i="1" dirty="0">
              <a:effectLst/>
              <a:latin typeface="Arial" panose="020B0604020202020204" pitchFamily="34" charset="0"/>
              <a:ea typeface="Times New Roman" panose="02020603050405020304" pitchFamily="18" charset="0"/>
              <a:cs typeface="Times New Roman" panose="02020603050405020304" pitchFamily="18" charset="0"/>
            </a:endParaRPr>
          </a:p>
          <a:p>
            <a:pPr marL="457200" marR="0">
              <a:buNone/>
            </a:pPr>
            <a:r>
              <a:rPr lang="en-US" sz="2000" dirty="0">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#include &lt;</a:t>
            </a:r>
            <a:r>
              <a:rPr lang="en-US" sz="2000" dirty="0" err="1">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SPI.h</a:t>
            </a:r>
            <a:r>
              <a:rPr lang="en-US" sz="2000" dirty="0">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&gt;</a:t>
            </a:r>
            <a:endParaRPr lang="en-US" sz="20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457200" marR="0">
              <a:buNone/>
            </a:pPr>
            <a:r>
              <a:rPr lang="en-US" sz="2000" dirty="0">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 </a:t>
            </a:r>
            <a:endParaRPr lang="en-US" sz="20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457200" marR="0">
              <a:buNone/>
            </a:pPr>
            <a:r>
              <a:rPr lang="en-US" sz="2000" dirty="0">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void setup (void) {</a:t>
            </a:r>
            <a:endParaRPr lang="en-US" sz="20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457200" marR="0">
              <a:buNone/>
            </a:pPr>
            <a:r>
              <a:rPr lang="en-US" sz="2000" dirty="0">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   </a:t>
            </a:r>
            <a:r>
              <a:rPr lang="en-US" sz="2000" dirty="0" err="1">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Serial.begin</a:t>
            </a:r>
            <a:r>
              <a:rPr lang="en-US" sz="2000" dirty="0">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(57600);</a:t>
            </a:r>
            <a:endParaRPr lang="en-US" sz="20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457200" marR="0">
              <a:buNone/>
            </a:pPr>
            <a:r>
              <a:rPr lang="en-US" sz="2000" dirty="0">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   </a:t>
            </a:r>
            <a:r>
              <a:rPr lang="en-US" sz="2000" dirty="0" err="1">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digitalWrite</a:t>
            </a:r>
            <a:r>
              <a:rPr lang="en-US" sz="2000" dirty="0">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(SS, HIGH);</a:t>
            </a:r>
            <a:endParaRPr lang="en-US" sz="20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457200" marR="0">
              <a:buNone/>
            </a:pPr>
            <a:r>
              <a:rPr lang="en-US" sz="2000" dirty="0">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   </a:t>
            </a:r>
            <a:r>
              <a:rPr lang="en-US" sz="2000" dirty="0" err="1">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SPI.begin</a:t>
            </a:r>
            <a:r>
              <a:rPr lang="en-US" sz="2000" dirty="0">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a:t>
            </a:r>
            <a:endParaRPr lang="en-US" sz="20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457200" marR="0">
              <a:buNone/>
            </a:pPr>
            <a:r>
              <a:rPr lang="en-US" sz="2000" dirty="0">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   </a:t>
            </a:r>
            <a:r>
              <a:rPr lang="en-US" sz="2000" dirty="0" err="1">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SPI.setClockDivider</a:t>
            </a:r>
            <a:r>
              <a:rPr lang="en-US" sz="2000" dirty="0">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(SPI_CLOCK_DIV8);</a:t>
            </a:r>
            <a:endParaRPr lang="en-US" sz="20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457200" marR="0">
              <a:buNone/>
            </a:pPr>
            <a:r>
              <a:rPr lang="en-US" sz="2000" dirty="0">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a:t>
            </a:r>
            <a:endParaRPr lang="en-US" sz="20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457200" marR="0">
              <a:buNone/>
            </a:pPr>
            <a:r>
              <a:rPr lang="en-US" sz="2000" dirty="0">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 </a:t>
            </a:r>
            <a:endParaRPr lang="en-US" sz="20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457200" marR="0">
              <a:buNone/>
            </a:pPr>
            <a:r>
              <a:rPr lang="en-US" sz="2000" dirty="0">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void loop (void) {</a:t>
            </a:r>
            <a:endParaRPr lang="en-US" sz="20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457200" marR="0">
              <a:buNone/>
            </a:pPr>
            <a:r>
              <a:rPr lang="en-US" sz="2000" dirty="0">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   char c;</a:t>
            </a:r>
            <a:endParaRPr lang="en-US" sz="20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457200" marR="0">
              <a:buNone/>
            </a:pPr>
            <a:r>
              <a:rPr lang="en-US" sz="2000" dirty="0">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   </a:t>
            </a:r>
            <a:r>
              <a:rPr lang="en-US" sz="2000" dirty="0" err="1">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digitalWrite</a:t>
            </a:r>
            <a:r>
              <a:rPr lang="en-US" sz="2000" dirty="0">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(SS, LOW);</a:t>
            </a:r>
            <a:endParaRPr lang="en-US" sz="20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457200" marR="0">
              <a:buNone/>
            </a:pPr>
            <a:r>
              <a:rPr lang="en-US" sz="2000" dirty="0">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   // send test string</a:t>
            </a:r>
            <a:endParaRPr lang="en-US" sz="20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457200" marR="0">
              <a:buNone/>
            </a:pPr>
            <a:r>
              <a:rPr lang="en-US" sz="2000" dirty="0">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   for (const char * p = "! </a:t>
            </a:r>
            <a:r>
              <a:rPr lang="pt-BR" sz="2000" dirty="0">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\r" ; c = *p; p++) {</a:t>
            </a:r>
            <a:endParaRPr lang="en-US" sz="20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457200"/>
            <a:r>
              <a:rPr lang="pt-BR" sz="2000" dirty="0">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      SPI.transfer(c);</a:t>
            </a:r>
            <a:r>
              <a:rPr lang="en-US" sz="2000" dirty="0">
                <a:solidFill>
                  <a:srgbClr val="000000"/>
                </a:solidFill>
                <a:latin typeface="Consolas" panose="020B0609020204030204" pitchFamily="49" charset="0"/>
                <a:ea typeface="Times New Roman" panose="02020603050405020304" pitchFamily="18" charset="0"/>
                <a:cs typeface="Arial" panose="020B0604020202020204" pitchFamily="34" charset="0"/>
              </a:rPr>
              <a:t> Hello, Engineers</a:t>
            </a:r>
            <a:endParaRPr lang="en-US" sz="20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457200" marR="0">
              <a:buNone/>
            </a:pPr>
            <a:r>
              <a:rPr lang="pt-BR" sz="2000" dirty="0">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      </a:t>
            </a:r>
            <a:r>
              <a:rPr lang="en-US" sz="2000" dirty="0" err="1">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Serial.print</a:t>
            </a:r>
            <a:r>
              <a:rPr lang="en-US" sz="2000" dirty="0">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(c);</a:t>
            </a:r>
            <a:endParaRPr lang="en-US" sz="20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457200" marR="0">
              <a:buNone/>
            </a:pPr>
            <a:r>
              <a:rPr lang="en-US" sz="2000" dirty="0">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   }</a:t>
            </a:r>
            <a:endParaRPr lang="en-US" sz="20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457200" marR="0">
              <a:buNone/>
            </a:pPr>
            <a:r>
              <a:rPr lang="en-US" sz="2000" dirty="0">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   </a:t>
            </a:r>
            <a:r>
              <a:rPr lang="en-US" sz="2000" dirty="0" err="1">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Serial.println</a:t>
            </a:r>
            <a:r>
              <a:rPr lang="en-US" sz="2000" dirty="0">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a:t>
            </a:r>
            <a:endParaRPr lang="en-US" sz="20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457200" marR="0">
              <a:buNone/>
            </a:pPr>
            <a:r>
              <a:rPr lang="en-US" sz="2000" dirty="0">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   </a:t>
            </a:r>
            <a:r>
              <a:rPr lang="en-US" sz="2000" dirty="0" err="1">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digitalWrite</a:t>
            </a:r>
            <a:r>
              <a:rPr lang="en-US" sz="2000" dirty="0">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(SS, HIGH);</a:t>
            </a:r>
            <a:endParaRPr lang="en-US" sz="20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457200" marR="0">
              <a:buNone/>
            </a:pPr>
            <a:r>
              <a:rPr lang="en-US" sz="2000" dirty="0">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   delay(4000);</a:t>
            </a:r>
            <a:endParaRPr lang="en-US" sz="2000" dirty="0">
              <a:effectLst/>
              <a:latin typeface="Times New Roman" panose="02020603050405020304" pitchFamily="18" charset="0"/>
              <a:ea typeface="Times New Roman" panose="02020603050405020304" pitchFamily="18" charset="0"/>
              <a:cs typeface="Angsana New" panose="02020603050405020304" pitchFamily="18" charset="-34"/>
            </a:endParaRPr>
          </a:p>
          <a:p>
            <a:pPr marL="0" marR="0" algn="l">
              <a:spcAft>
                <a:spcPts val="600"/>
              </a:spcAft>
            </a:pPr>
            <a:r>
              <a:rPr lang="en-US" sz="2000" i="0" dirty="0">
                <a:solidFill>
                  <a:srgbClr val="000000"/>
                </a:solidFill>
                <a:effectLst/>
                <a:latin typeface="Consolas" panose="020B0609020204030204" pitchFamily="49" charset="0"/>
                <a:ea typeface="Times New Roman" panose="02020603050405020304" pitchFamily="18" charset="0"/>
                <a:cs typeface="Arial" panose="020B0604020202020204" pitchFamily="34" charset="0"/>
              </a:rPr>
              <a:t>}</a:t>
            </a:r>
            <a:endParaRPr lang="en-US" sz="1800" i="1" dirty="0">
              <a:effectLst/>
              <a:latin typeface="Arial" panose="020B060402020202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43704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65823-C22D-09A2-EA56-DF8FF326CB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98D8AD-39D5-A588-EFC6-5B13DA94782B}"/>
              </a:ext>
            </a:extLst>
          </p:cNvPr>
          <p:cNvSpPr>
            <a:spLocks noGrp="1"/>
          </p:cNvSpPr>
          <p:nvPr>
            <p:ph type="title"/>
          </p:nvPr>
        </p:nvSpPr>
        <p:spPr>
          <a:xfrm>
            <a:off x="1748873" y="101600"/>
            <a:ext cx="10250905" cy="814081"/>
          </a:xfrm>
        </p:spPr>
        <p:txBody>
          <a:bodyPr>
            <a:noAutofit/>
          </a:bodyPr>
          <a:lstStyle/>
          <a:p>
            <a:pPr algn="just"/>
            <a:r>
              <a:rPr lang="en-US" sz="5400" b="1" dirty="0">
                <a:solidFill>
                  <a:srgbClr val="FF0000"/>
                </a:solidFill>
              </a:rPr>
              <a:t>Practice Example # 1</a:t>
            </a:r>
          </a:p>
        </p:txBody>
      </p:sp>
      <p:sp>
        <p:nvSpPr>
          <p:cNvPr id="3" name="Date Placeholder 2">
            <a:extLst>
              <a:ext uri="{FF2B5EF4-FFF2-40B4-BE49-F238E27FC236}">
                <a16:creationId xmlns:a16="http://schemas.microsoft.com/office/drawing/2014/main" id="{110D7F64-1B46-C121-1067-20AC715C0AD7}"/>
              </a:ext>
            </a:extLst>
          </p:cNvPr>
          <p:cNvSpPr>
            <a:spLocks noGrp="1"/>
          </p:cNvSpPr>
          <p:nvPr>
            <p:ph type="dt" sz="half" idx="10"/>
          </p:nvPr>
        </p:nvSpPr>
        <p:spPr/>
        <p:txBody>
          <a:bodyPr/>
          <a:lstStyle/>
          <a:p>
            <a:fld id="{C89A64A2-F4C3-46F3-8F8E-369987CB5716}" type="datetime3">
              <a:rPr lang="en-US" smtClean="0"/>
              <a:t>3 December 2025</a:t>
            </a:fld>
            <a:endParaRPr lang="en-US"/>
          </a:p>
        </p:txBody>
      </p:sp>
      <p:sp>
        <p:nvSpPr>
          <p:cNvPr id="7" name="Slide Number Placeholder 6">
            <a:extLst>
              <a:ext uri="{FF2B5EF4-FFF2-40B4-BE49-F238E27FC236}">
                <a16:creationId xmlns:a16="http://schemas.microsoft.com/office/drawing/2014/main" id="{C52F3F24-E565-F3AA-409B-5A3A19B089DB}"/>
              </a:ext>
            </a:extLst>
          </p:cNvPr>
          <p:cNvSpPr>
            <a:spLocks noGrp="1"/>
          </p:cNvSpPr>
          <p:nvPr>
            <p:ph type="sldNum" sz="quarter" idx="12"/>
          </p:nvPr>
        </p:nvSpPr>
        <p:spPr/>
        <p:txBody>
          <a:bodyPr/>
          <a:lstStyle/>
          <a:p>
            <a:fld id="{90416D69-EFB9-4734-9DF5-4234A5F1A98A}" type="slidenum">
              <a:rPr lang="en-US" smtClean="0"/>
              <a:t>33</a:t>
            </a:fld>
            <a:endParaRPr lang="en-US"/>
          </a:p>
        </p:txBody>
      </p:sp>
      <p:sp>
        <p:nvSpPr>
          <p:cNvPr id="8" name="Content Placeholder 2">
            <a:extLst>
              <a:ext uri="{FF2B5EF4-FFF2-40B4-BE49-F238E27FC236}">
                <a16:creationId xmlns:a16="http://schemas.microsoft.com/office/drawing/2014/main" id="{00EC51C6-B127-F6C8-DF63-D207BCEC427B}"/>
              </a:ext>
            </a:extLst>
          </p:cNvPr>
          <p:cNvSpPr>
            <a:spLocks noGrp="1"/>
          </p:cNvSpPr>
          <p:nvPr>
            <p:ph idx="1"/>
          </p:nvPr>
        </p:nvSpPr>
        <p:spPr>
          <a:xfrm>
            <a:off x="241300" y="864881"/>
            <a:ext cx="16027400" cy="7003953"/>
          </a:xfrm>
        </p:spPr>
        <p:txBody>
          <a:bodyPr>
            <a:noAutofit/>
          </a:bodyPr>
          <a:lstStyle/>
          <a:p>
            <a:pPr marL="0" indent="0" algn="just">
              <a:lnSpc>
                <a:spcPct val="114000"/>
              </a:lnSpc>
              <a:spcBef>
                <a:spcPts val="0"/>
              </a:spcBef>
              <a:buNone/>
            </a:pPr>
            <a:r>
              <a:rPr lang="en-US" sz="3200" b="1" i="1" dirty="0">
                <a:solidFill>
                  <a:srgbClr val="FF0000"/>
                </a:solidFill>
                <a:latin typeface="Times New Roman" panose="02020603050405020304" pitchFamily="18" charset="0"/>
                <a:cs typeface="Times New Roman" panose="02020603050405020304" pitchFamily="18" charset="0"/>
              </a:rPr>
              <a:t>Solution:  </a:t>
            </a:r>
          </a:p>
          <a:p>
            <a:pPr marL="0" indent="0" algn="just">
              <a:lnSpc>
                <a:spcPct val="100000"/>
              </a:lnSpc>
              <a:spcBef>
                <a:spcPts val="0"/>
              </a:spcBef>
              <a:buNone/>
            </a:pPr>
            <a:r>
              <a:rPr lang="en-US" sz="2800" i="0" dirty="0">
                <a:effectLst/>
                <a:latin typeface="Times New Roman" panose="02020603050405020304" pitchFamily="18" charset="0"/>
                <a:ea typeface="Meiryo" panose="020B0604030504040204" pitchFamily="34" charset="-128"/>
                <a:cs typeface="Times New Roman" panose="02020603050405020304" pitchFamily="18" charset="0"/>
              </a:rPr>
              <a:t>From the command in the code, </a:t>
            </a:r>
            <a:r>
              <a:rPr lang="en-US" sz="2800" i="0" dirty="0">
                <a:solidFill>
                  <a:srgbClr val="000000"/>
                </a:solidFill>
                <a:effectLst/>
                <a:latin typeface="Times New Roman" panose="02020603050405020304" pitchFamily="18" charset="0"/>
                <a:ea typeface="Meiryo" panose="020B0604030504040204" pitchFamily="34" charset="-128"/>
                <a:cs typeface="Times New Roman" panose="02020603050405020304" pitchFamily="18" charset="0"/>
              </a:rPr>
              <a:t>delay(4000)</a:t>
            </a:r>
            <a:r>
              <a:rPr lang="en-US" sz="2800" i="0" dirty="0">
                <a:effectLst/>
                <a:latin typeface="Times New Roman" panose="02020603050405020304" pitchFamily="18" charset="0"/>
                <a:ea typeface="Meiryo" panose="020B0604030504040204" pitchFamily="34" charset="-128"/>
                <a:cs typeface="Times New Roman" panose="02020603050405020304" pitchFamily="18" charset="0"/>
              </a:rPr>
              <a:t>;</a:t>
            </a:r>
            <a:endParaRPr lang="en-US" sz="2800" i="1" dirty="0">
              <a:effectLst/>
              <a:latin typeface="Times New Roman" panose="02020603050405020304" pitchFamily="18" charset="0"/>
              <a:ea typeface="Meiryo" panose="020B0604030504040204" pitchFamily="34" charset="-128"/>
              <a:cs typeface="Times New Roman" panose="02020603050405020304" pitchFamily="18" charset="0"/>
            </a:endParaRPr>
          </a:p>
          <a:p>
            <a:pPr marL="0" indent="0" algn="just">
              <a:lnSpc>
                <a:spcPct val="100000"/>
              </a:lnSpc>
              <a:spcBef>
                <a:spcPts val="0"/>
              </a:spcBef>
              <a:buNone/>
            </a:pPr>
            <a:r>
              <a:rPr lang="en-US" sz="2800" i="0" dirty="0">
                <a:effectLst/>
                <a:latin typeface="Times New Roman" panose="02020603050405020304" pitchFamily="18" charset="0"/>
                <a:ea typeface="Meiryo" panose="020B0604030504040204" pitchFamily="34" charset="-128"/>
                <a:cs typeface="Times New Roman" panose="02020603050405020304" pitchFamily="18" charset="0"/>
              </a:rPr>
              <a:t>We find that the string sending repetition rate is 4 seconds per string. So, within 20 seconds, the string will be sent 20/4 = 5 times. So, the serial monitor output will look as follows:</a:t>
            </a:r>
            <a:endParaRPr lang="en-US" sz="2800" i="1" dirty="0">
              <a:effectLst/>
              <a:latin typeface="Times New Roman" panose="02020603050405020304" pitchFamily="18" charset="0"/>
              <a:ea typeface="Meiryo" panose="020B0604030504040204" pitchFamily="34" charset="-128"/>
              <a:cs typeface="Times New Roman" panose="02020603050405020304" pitchFamily="18" charset="0"/>
            </a:endParaRPr>
          </a:p>
          <a:p>
            <a:pPr marL="0" indent="0" algn="just">
              <a:lnSpc>
                <a:spcPct val="100000"/>
              </a:lnSpc>
              <a:spcBef>
                <a:spcPts val="0"/>
              </a:spcBef>
              <a:buNone/>
            </a:pPr>
            <a:r>
              <a:rPr lang="en-US" sz="1800" i="0" dirty="0">
                <a:effectLst/>
                <a:latin typeface="Courier New" panose="02070309020205020404" pitchFamily="49" charset="0"/>
                <a:ea typeface="Times New Roman" panose="02020603050405020304" pitchFamily="18" charset="0"/>
                <a:cs typeface="Times New Roman" panose="02020603050405020304" pitchFamily="18" charset="0"/>
              </a:rPr>
              <a:t> </a:t>
            </a:r>
            <a:endParaRPr lang="en-US" sz="1800" i="1" dirty="0">
              <a:effectLst/>
              <a:latin typeface="Arial" panose="020B0604020202020204" pitchFamily="34" charset="0"/>
              <a:ea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en-US" sz="2000" i="0" dirty="0">
                <a:solidFill>
                  <a:srgbClr val="0070C0"/>
                </a:solidFill>
                <a:effectLst/>
                <a:latin typeface="Courier New" panose="02070309020205020404" pitchFamily="49" charset="0"/>
                <a:ea typeface="Times New Roman" panose="02020603050405020304" pitchFamily="18" charset="0"/>
                <a:cs typeface="Times New Roman" panose="02020603050405020304" pitchFamily="18" charset="0"/>
              </a:rPr>
              <a:t>Hello, Engineers!+++++</a:t>
            </a:r>
            <a:endParaRPr lang="en-US" sz="2000" i="1" dirty="0">
              <a:solidFill>
                <a:srgbClr val="0070C0"/>
              </a:solidFill>
              <a:effectLst/>
              <a:latin typeface="Arial" panose="020B0604020202020204" pitchFamily="34" charset="0"/>
              <a:ea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en-US" sz="2000" i="0" dirty="0">
                <a:solidFill>
                  <a:srgbClr val="0070C0"/>
                </a:solidFill>
                <a:effectLst/>
                <a:latin typeface="Courier New" panose="02070309020205020404" pitchFamily="49" charset="0"/>
                <a:ea typeface="Times New Roman" panose="02020603050405020304" pitchFamily="18" charset="0"/>
                <a:cs typeface="Times New Roman" panose="02020603050405020304" pitchFamily="18" charset="0"/>
              </a:rPr>
              <a:t>Hello, Engineers!+++++</a:t>
            </a:r>
            <a:endParaRPr lang="en-US" sz="2000" i="1" dirty="0">
              <a:solidFill>
                <a:srgbClr val="0070C0"/>
              </a:solidFill>
              <a:effectLst/>
              <a:latin typeface="Arial" panose="020B0604020202020204" pitchFamily="34" charset="0"/>
              <a:ea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en-US" sz="2000" i="0" dirty="0">
                <a:solidFill>
                  <a:srgbClr val="0070C0"/>
                </a:solidFill>
                <a:effectLst/>
                <a:latin typeface="Courier New" panose="02070309020205020404" pitchFamily="49" charset="0"/>
                <a:ea typeface="Times New Roman" panose="02020603050405020304" pitchFamily="18" charset="0"/>
                <a:cs typeface="Times New Roman" panose="02020603050405020304" pitchFamily="18" charset="0"/>
              </a:rPr>
              <a:t>Hello, Engineers!+++++</a:t>
            </a:r>
            <a:endParaRPr lang="en-US" sz="2000" i="1" dirty="0">
              <a:solidFill>
                <a:srgbClr val="0070C0"/>
              </a:solidFill>
              <a:effectLst/>
              <a:latin typeface="Arial" panose="020B0604020202020204" pitchFamily="34" charset="0"/>
              <a:ea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en-US" sz="2000" i="0" dirty="0">
                <a:solidFill>
                  <a:srgbClr val="0070C0"/>
                </a:solidFill>
                <a:effectLst/>
                <a:latin typeface="Courier New" panose="02070309020205020404" pitchFamily="49" charset="0"/>
                <a:ea typeface="Times New Roman" panose="02020603050405020304" pitchFamily="18" charset="0"/>
                <a:cs typeface="Times New Roman" panose="02020603050405020304" pitchFamily="18" charset="0"/>
              </a:rPr>
              <a:t>Hello, Engineers!+++++</a:t>
            </a:r>
            <a:endParaRPr lang="en-US" sz="2000" i="1" dirty="0">
              <a:solidFill>
                <a:srgbClr val="0070C0"/>
              </a:solidFill>
              <a:effectLst/>
              <a:latin typeface="Arial" panose="020B0604020202020204" pitchFamily="34" charset="0"/>
              <a:ea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en-US" sz="2000" i="0" dirty="0">
                <a:solidFill>
                  <a:srgbClr val="0070C0"/>
                </a:solidFill>
                <a:effectLst/>
                <a:latin typeface="Courier New" panose="02070309020205020404" pitchFamily="49" charset="0"/>
                <a:ea typeface="Times New Roman" panose="02020603050405020304" pitchFamily="18" charset="0"/>
                <a:cs typeface="Times New Roman" panose="02020603050405020304" pitchFamily="18" charset="0"/>
              </a:rPr>
              <a:t>Hello, Engineers!+++++</a:t>
            </a:r>
            <a:endParaRPr lang="en-US" sz="2000" i="1" dirty="0">
              <a:solidFill>
                <a:srgbClr val="0070C0"/>
              </a:solidFill>
              <a:effectLst/>
              <a:latin typeface="Arial" panose="020B0604020202020204" pitchFamily="34" charset="0"/>
              <a:ea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en-US" sz="1800" i="0" dirty="0">
                <a:effectLst/>
                <a:latin typeface="Courier New" panose="02070309020205020404" pitchFamily="49" charset="0"/>
                <a:ea typeface="Times New Roman" panose="02020603050405020304" pitchFamily="18" charset="0"/>
                <a:cs typeface="Times New Roman" panose="02020603050405020304" pitchFamily="18" charset="0"/>
              </a:rPr>
              <a:t> </a:t>
            </a:r>
            <a:endParaRPr lang="en-US" sz="1800" i="1" dirty="0">
              <a:effectLst/>
              <a:latin typeface="Arial" panose="020B0604020202020204" pitchFamily="34" charset="0"/>
              <a:ea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en-US" sz="2400" i="0" dirty="0">
                <a:effectLst/>
                <a:latin typeface="Times New Roman" panose="02020603050405020304" pitchFamily="18" charset="0"/>
                <a:ea typeface="Times New Roman" panose="02020603050405020304" pitchFamily="18" charset="0"/>
                <a:cs typeface="Times New Roman" panose="02020603050405020304" pitchFamily="18" charset="0"/>
              </a:rPr>
              <a:t>Since “+++++” signs are in the </a:t>
            </a:r>
            <a:r>
              <a:rPr lang="en-US" sz="2400" i="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Serial.println</a:t>
            </a:r>
            <a:r>
              <a:rPr lang="en-US" sz="2400" i="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2400" i="0" dirty="0">
                <a:effectLst/>
                <a:latin typeface="Times New Roman" panose="02020603050405020304" pitchFamily="18" charset="0"/>
                <a:ea typeface="Times New Roman" panose="02020603050405020304" pitchFamily="18" charset="0"/>
                <a:cs typeface="Times New Roman" panose="02020603050405020304" pitchFamily="18" charset="0"/>
              </a:rPr>
              <a:t>function so, the next characters will be printed on the serial monitor in a new line.</a:t>
            </a:r>
            <a:endParaRPr lang="en-US" sz="2400" i="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en-US" sz="2400" i="0" dirty="0">
                <a:effectLst/>
                <a:latin typeface="Times New Roman" panose="02020603050405020304" pitchFamily="18" charset="0"/>
                <a:ea typeface="Times New Roman" panose="02020603050405020304" pitchFamily="18" charset="0"/>
                <a:cs typeface="Times New Roman" panose="02020603050405020304" pitchFamily="18" charset="0"/>
              </a:rPr>
              <a:t>From the command in the code, </a:t>
            </a:r>
            <a:r>
              <a:rPr lang="en-US" sz="2400" i="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Serial.begin</a:t>
            </a:r>
            <a:r>
              <a:rPr lang="en-US" sz="2400" i="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(57600)</a:t>
            </a:r>
            <a:r>
              <a:rPr lang="en-US" sz="2400" i="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400" i="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en-US" sz="2400" i="0" dirty="0">
                <a:effectLst/>
                <a:latin typeface="Times New Roman" panose="02020603050405020304" pitchFamily="18" charset="0"/>
                <a:ea typeface="Times New Roman" panose="02020603050405020304" pitchFamily="18" charset="0"/>
                <a:cs typeface="Times New Roman" panose="02020603050405020304" pitchFamily="18" charset="0"/>
              </a:rPr>
              <a:t>We find that the baud rate is 57600 bps</a:t>
            </a:r>
            <a:r>
              <a:rPr lang="en-US" sz="2400" i="1" dirty="0">
                <a:latin typeface="Times New Roman" panose="02020603050405020304" pitchFamily="18" charset="0"/>
                <a:ea typeface="Times New Roman" panose="02020603050405020304" pitchFamily="18" charset="0"/>
                <a:cs typeface="Times New Roman" panose="02020603050405020304" pitchFamily="18" charset="0"/>
              </a:rPr>
              <a:t>.</a:t>
            </a:r>
            <a:endParaRPr lang="en-US" sz="2400" i="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en-US" sz="2400" i="0" dirty="0">
                <a:effectLst/>
                <a:latin typeface="Times New Roman" panose="02020603050405020304" pitchFamily="18" charset="0"/>
                <a:ea typeface="Times New Roman" panose="02020603050405020304" pitchFamily="18" charset="0"/>
                <a:cs typeface="Times New Roman" panose="02020603050405020304" pitchFamily="18" charset="0"/>
              </a:rPr>
              <a:t>From the command in the code, </a:t>
            </a:r>
            <a:r>
              <a:rPr lang="en-US" sz="2400" i="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SPI.setClockDivider</a:t>
            </a:r>
            <a:r>
              <a:rPr lang="en-US" sz="2400" i="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(SPI_CLOCK_DIV8)</a:t>
            </a:r>
            <a:r>
              <a:rPr lang="en-US" sz="2400" i="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400" i="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en-US" sz="2400" i="0" dirty="0">
                <a:effectLst/>
                <a:latin typeface="Times New Roman" panose="02020603050405020304" pitchFamily="18" charset="0"/>
                <a:ea typeface="Times New Roman" panose="02020603050405020304" pitchFamily="18" charset="0"/>
                <a:cs typeface="Times New Roman" panose="02020603050405020304" pitchFamily="18" charset="0"/>
              </a:rPr>
              <a:t>We find that the SPI clock frequency is 16/8 = 2 </a:t>
            </a:r>
            <a:r>
              <a:rPr lang="en-US" sz="2400" i="0" dirty="0" err="1">
                <a:effectLst/>
                <a:latin typeface="Times New Roman" panose="02020603050405020304" pitchFamily="18" charset="0"/>
                <a:ea typeface="Times New Roman" panose="02020603050405020304" pitchFamily="18" charset="0"/>
                <a:cs typeface="Times New Roman" panose="02020603050405020304" pitchFamily="18" charset="0"/>
              </a:rPr>
              <a:t>MHz.</a:t>
            </a:r>
            <a:endParaRPr lang="en-US" sz="2400" i="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en-US" sz="2400" i="0" dirty="0">
                <a:effectLst/>
                <a:latin typeface="Times New Roman" panose="02020603050405020304" pitchFamily="18" charset="0"/>
                <a:ea typeface="Times New Roman" panose="02020603050405020304" pitchFamily="18" charset="0"/>
                <a:cs typeface="Times New Roman" panose="02020603050405020304" pitchFamily="18" charset="0"/>
              </a:rPr>
              <a:t>From the command in the code, </a:t>
            </a:r>
            <a:r>
              <a:rPr lang="en-US" sz="2400" i="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digitalWrite</a:t>
            </a:r>
            <a:r>
              <a:rPr lang="en-US" sz="2400" i="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(SS, HIGH)</a:t>
            </a:r>
            <a:r>
              <a:rPr lang="en-US" sz="2400" i="0" dirty="0">
                <a:effectLst/>
                <a:latin typeface="Times New Roman" panose="02020603050405020304" pitchFamily="18" charset="0"/>
                <a:ea typeface="Times New Roman" panose="02020603050405020304" pitchFamily="18" charset="0"/>
                <a:cs typeface="Times New Roman" panose="02020603050405020304" pitchFamily="18" charset="0"/>
              </a:rPr>
              <a:t>;</a:t>
            </a:r>
            <a:endParaRPr lang="en-US" sz="2400" i="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en-US" sz="2400" i="0" dirty="0">
                <a:effectLst/>
                <a:latin typeface="Times New Roman" panose="02020603050405020304" pitchFamily="18" charset="0"/>
                <a:ea typeface="Times New Roman" panose="02020603050405020304" pitchFamily="18" charset="0"/>
                <a:cs typeface="Times New Roman" panose="02020603050405020304" pitchFamily="18" charset="0"/>
              </a:rPr>
              <a:t>We find that the slave state (SS) at the end of the program is HIGH. Therefore, the slave or controller device is deactivated after each cycle.</a:t>
            </a:r>
            <a:endParaRPr lang="en-US" sz="2400" i="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nSpc>
                <a:spcPct val="114000"/>
              </a:lnSpc>
              <a:spcBef>
                <a:spcPts val="0"/>
              </a:spcBef>
              <a:buNone/>
            </a:pPr>
            <a:endParaRPr lang="en-US" sz="3200" i="1" dirty="0"/>
          </a:p>
        </p:txBody>
      </p:sp>
    </p:spTree>
    <p:extLst>
      <p:ext uri="{BB962C8B-B14F-4D97-AF65-F5344CB8AC3E}">
        <p14:creationId xmlns:p14="http://schemas.microsoft.com/office/powerpoint/2010/main" val="21512144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17525-EF2D-49D7-93DC-F51527AB4B6C}"/>
              </a:ext>
            </a:extLst>
          </p:cNvPr>
          <p:cNvSpPr>
            <a:spLocks noGrp="1"/>
          </p:cNvSpPr>
          <p:nvPr>
            <p:ph type="title"/>
          </p:nvPr>
        </p:nvSpPr>
        <p:spPr>
          <a:xfrm>
            <a:off x="1689445" y="146543"/>
            <a:ext cx="10515611" cy="801106"/>
          </a:xfrm>
        </p:spPr>
        <p:txBody>
          <a:bodyPr>
            <a:normAutofit fontScale="90000"/>
          </a:bodyPr>
          <a:lstStyle/>
          <a:p>
            <a:r>
              <a:rPr lang="en-US" sz="6000" b="1" dirty="0">
                <a:solidFill>
                  <a:srgbClr val="002060"/>
                </a:solidFill>
              </a:rPr>
              <a:t>Advantages and Disadvantages of SPI</a:t>
            </a:r>
          </a:p>
        </p:txBody>
      </p:sp>
      <p:sp>
        <p:nvSpPr>
          <p:cNvPr id="3" name="Content Placeholder 2">
            <a:extLst>
              <a:ext uri="{FF2B5EF4-FFF2-40B4-BE49-F238E27FC236}">
                <a16:creationId xmlns:a16="http://schemas.microsoft.com/office/drawing/2014/main" id="{7EE7F393-ADB8-488F-BB5D-FE39427661BA}"/>
              </a:ext>
            </a:extLst>
          </p:cNvPr>
          <p:cNvSpPr>
            <a:spLocks noGrp="1"/>
          </p:cNvSpPr>
          <p:nvPr>
            <p:ph idx="1"/>
          </p:nvPr>
        </p:nvSpPr>
        <p:spPr>
          <a:xfrm>
            <a:off x="249382" y="847899"/>
            <a:ext cx="15960436" cy="7055110"/>
          </a:xfrm>
        </p:spPr>
        <p:txBody>
          <a:bodyPr>
            <a:noAutofit/>
          </a:bodyPr>
          <a:lstStyle/>
          <a:p>
            <a:pPr>
              <a:lnSpc>
                <a:spcPct val="100000"/>
              </a:lnSpc>
              <a:spcBef>
                <a:spcPts val="0"/>
              </a:spcBef>
              <a:buFont typeface="Wingdings" panose="05000000000000000000" pitchFamily="2" charset="2"/>
              <a:buChar char="q"/>
            </a:pPr>
            <a:r>
              <a:rPr lang="en-US" sz="3600" b="1" dirty="0">
                <a:solidFill>
                  <a:srgbClr val="002060"/>
                </a:solidFill>
              </a:rPr>
              <a:t> Advantages </a:t>
            </a:r>
          </a:p>
          <a:p>
            <a:pPr>
              <a:lnSpc>
                <a:spcPct val="100000"/>
              </a:lnSpc>
              <a:spcBef>
                <a:spcPts val="0"/>
              </a:spcBef>
            </a:pPr>
            <a:r>
              <a:rPr lang="en-US" sz="3200" dirty="0"/>
              <a:t>It is a simple protocol and hence does not require processing overheads. </a:t>
            </a:r>
          </a:p>
          <a:p>
            <a:pPr>
              <a:lnSpc>
                <a:spcPct val="100000"/>
              </a:lnSpc>
              <a:spcBef>
                <a:spcPts val="0"/>
              </a:spcBef>
            </a:pPr>
            <a:r>
              <a:rPr lang="en-US" sz="3200" dirty="0"/>
              <a:t>Supports </a:t>
            </a:r>
            <a:r>
              <a:rPr lang="en-US" sz="3200" b="1" dirty="0">
                <a:solidFill>
                  <a:srgbClr val="FF0000"/>
                </a:solidFill>
              </a:rPr>
              <a:t>full duplex</a:t>
            </a:r>
            <a:r>
              <a:rPr lang="en-US" sz="3200" dirty="0"/>
              <a:t> communication. </a:t>
            </a:r>
          </a:p>
          <a:p>
            <a:pPr>
              <a:lnSpc>
                <a:spcPct val="100000"/>
              </a:lnSpc>
              <a:spcBef>
                <a:spcPts val="0"/>
              </a:spcBef>
            </a:pPr>
            <a:r>
              <a:rPr lang="en-US" sz="2800" dirty="0"/>
              <a:t>Due to the separate use of CS lines, the same kind of multiple chips can be used in the circuit design. </a:t>
            </a:r>
          </a:p>
          <a:p>
            <a:pPr>
              <a:lnSpc>
                <a:spcPct val="100000"/>
              </a:lnSpc>
              <a:spcBef>
                <a:spcPts val="0"/>
              </a:spcBef>
            </a:pPr>
            <a:r>
              <a:rPr lang="en-US" sz="3200" dirty="0"/>
              <a:t>SPI uses push-pull and hence higher data rates, and longer ranges are possible. </a:t>
            </a:r>
          </a:p>
          <a:p>
            <a:pPr>
              <a:lnSpc>
                <a:spcPct val="100000"/>
              </a:lnSpc>
              <a:spcBef>
                <a:spcPts val="0"/>
              </a:spcBef>
            </a:pPr>
            <a:r>
              <a:rPr lang="en-US" sz="3200" dirty="0"/>
              <a:t>SPI uses less power compared to I2C</a:t>
            </a:r>
          </a:p>
          <a:p>
            <a:pPr marL="0" indent="0">
              <a:lnSpc>
                <a:spcPct val="100000"/>
              </a:lnSpc>
              <a:spcBef>
                <a:spcPts val="0"/>
              </a:spcBef>
              <a:buNone/>
            </a:pPr>
            <a:endParaRPr lang="en-US" sz="2400" dirty="0"/>
          </a:p>
          <a:p>
            <a:pPr>
              <a:lnSpc>
                <a:spcPct val="100000"/>
              </a:lnSpc>
              <a:spcBef>
                <a:spcPts val="0"/>
              </a:spcBef>
              <a:buFont typeface="Wingdings" panose="05000000000000000000" pitchFamily="2" charset="2"/>
              <a:buChar char="q"/>
            </a:pPr>
            <a:r>
              <a:rPr lang="en-US" sz="3600" b="1" dirty="0">
                <a:solidFill>
                  <a:srgbClr val="002060"/>
                </a:solidFill>
              </a:rPr>
              <a:t> Disadvantages</a:t>
            </a:r>
            <a:endParaRPr lang="en-US" sz="3600" dirty="0"/>
          </a:p>
          <a:p>
            <a:pPr>
              <a:lnSpc>
                <a:spcPct val="100000"/>
              </a:lnSpc>
              <a:spcBef>
                <a:spcPts val="0"/>
              </a:spcBef>
            </a:pPr>
            <a:r>
              <a:rPr lang="en-US" sz="3200" dirty="0"/>
              <a:t>As the number of slaves increases, the number of CS lines increases, this results in </a:t>
            </a:r>
            <a:r>
              <a:rPr lang="en-US" sz="3200" dirty="0">
                <a:solidFill>
                  <a:srgbClr val="FF0000"/>
                </a:solidFill>
              </a:rPr>
              <a:t>hardware complexity </a:t>
            </a:r>
            <a:r>
              <a:rPr lang="en-US" sz="3200" dirty="0"/>
              <a:t>as the number of pins required will increase. </a:t>
            </a:r>
          </a:p>
          <a:p>
            <a:pPr>
              <a:lnSpc>
                <a:spcPct val="100000"/>
              </a:lnSpc>
              <a:spcBef>
                <a:spcPts val="0"/>
              </a:spcBef>
            </a:pPr>
            <a:r>
              <a:rPr lang="en-US" sz="3200" dirty="0"/>
              <a:t>To add a device in SPI requires one to </a:t>
            </a:r>
            <a:r>
              <a:rPr lang="en-US" sz="3200" dirty="0">
                <a:solidFill>
                  <a:srgbClr val="FF0000"/>
                </a:solidFill>
              </a:rPr>
              <a:t>add an extra CS line </a:t>
            </a:r>
            <a:r>
              <a:rPr lang="en-US" sz="3200" dirty="0"/>
              <a:t>and changes in software for the particular device addressing is concerned. </a:t>
            </a:r>
          </a:p>
          <a:p>
            <a:pPr>
              <a:lnSpc>
                <a:spcPct val="100000"/>
              </a:lnSpc>
              <a:spcBef>
                <a:spcPts val="0"/>
              </a:spcBef>
            </a:pPr>
            <a:r>
              <a:rPr lang="en-US" sz="3200" dirty="0"/>
              <a:t>Master and slave relationship can not be changed as usually done in the I2C interface. </a:t>
            </a:r>
          </a:p>
          <a:p>
            <a:pPr>
              <a:lnSpc>
                <a:spcPct val="100000"/>
              </a:lnSpc>
              <a:spcBef>
                <a:spcPts val="0"/>
              </a:spcBef>
            </a:pPr>
            <a:r>
              <a:rPr lang="en-US" sz="3200" dirty="0"/>
              <a:t>No flow control available in SPI. </a:t>
            </a:r>
          </a:p>
        </p:txBody>
      </p:sp>
      <p:sp>
        <p:nvSpPr>
          <p:cNvPr id="4" name="Date Placeholder 3"/>
          <p:cNvSpPr>
            <a:spLocks noGrp="1"/>
          </p:cNvSpPr>
          <p:nvPr>
            <p:ph type="dt" sz="half" idx="10"/>
          </p:nvPr>
        </p:nvSpPr>
        <p:spPr/>
        <p:txBody>
          <a:bodyPr/>
          <a:lstStyle/>
          <a:p>
            <a:fld id="{3534236C-C554-4E7B-A910-02C61E5984B5}" type="datetime3">
              <a:rPr lang="en-US" smtClean="0"/>
              <a:t>3 December 2025</a:t>
            </a:fld>
            <a:endParaRPr lang="en-US"/>
          </a:p>
        </p:txBody>
      </p:sp>
      <p:sp>
        <p:nvSpPr>
          <p:cNvPr id="6" name="Slide Number Placeholder 5"/>
          <p:cNvSpPr>
            <a:spLocks noGrp="1"/>
          </p:cNvSpPr>
          <p:nvPr>
            <p:ph type="sldNum" sz="quarter" idx="12"/>
          </p:nvPr>
        </p:nvSpPr>
        <p:spPr/>
        <p:txBody>
          <a:bodyPr/>
          <a:lstStyle/>
          <a:p>
            <a:fld id="{90416D69-EFB9-4734-9DF5-4234A5F1A98A}" type="slidenum">
              <a:rPr lang="en-US" smtClean="0"/>
              <a:t>34</a:t>
            </a:fld>
            <a:endParaRPr lang="en-US"/>
          </a:p>
        </p:txBody>
      </p:sp>
    </p:spTree>
    <p:extLst>
      <p:ext uri="{BB962C8B-B14F-4D97-AF65-F5344CB8AC3E}">
        <p14:creationId xmlns:p14="http://schemas.microsoft.com/office/powerpoint/2010/main" val="140284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A02CA-F63B-4A84-986C-A613026628E2}"/>
              </a:ext>
            </a:extLst>
          </p:cNvPr>
          <p:cNvSpPr>
            <a:spLocks noGrp="1"/>
          </p:cNvSpPr>
          <p:nvPr>
            <p:ph type="title"/>
          </p:nvPr>
        </p:nvSpPr>
        <p:spPr>
          <a:xfrm>
            <a:off x="1704097" y="389260"/>
            <a:ext cx="11679394" cy="747333"/>
          </a:xfrm>
        </p:spPr>
        <p:txBody>
          <a:bodyPr>
            <a:noAutofit/>
          </a:bodyPr>
          <a:lstStyle/>
          <a:p>
            <a:r>
              <a:rPr lang="en-US" sz="5400" b="1" dirty="0">
                <a:solidFill>
                  <a:srgbClr val="0070C0"/>
                </a:solidFill>
              </a:rPr>
              <a:t>I2C </a:t>
            </a:r>
            <a:r>
              <a:rPr lang="en-US" sz="5400" b="1" dirty="0">
                <a:solidFill>
                  <a:srgbClr val="0070C0"/>
                </a:solidFill>
                <a:sym typeface="+mn-ea"/>
              </a:rPr>
              <a:t>(Inter-Integrated Circuit): What is it?</a:t>
            </a:r>
            <a:endParaRPr lang="en-US" sz="5400" b="1" dirty="0">
              <a:solidFill>
                <a:srgbClr val="002060"/>
              </a:solidFill>
            </a:endParaRPr>
          </a:p>
        </p:txBody>
      </p:sp>
      <p:sp>
        <p:nvSpPr>
          <p:cNvPr id="3" name="Content Placeholder 2">
            <a:extLst>
              <a:ext uri="{FF2B5EF4-FFF2-40B4-BE49-F238E27FC236}">
                <a16:creationId xmlns:a16="http://schemas.microsoft.com/office/drawing/2014/main" id="{B520C749-701D-413F-8F1E-60E9B660709D}"/>
              </a:ext>
            </a:extLst>
          </p:cNvPr>
          <p:cNvSpPr>
            <a:spLocks noGrp="1"/>
          </p:cNvSpPr>
          <p:nvPr>
            <p:ph idx="1"/>
          </p:nvPr>
        </p:nvSpPr>
        <p:spPr>
          <a:xfrm>
            <a:off x="157932" y="1136592"/>
            <a:ext cx="16184890" cy="6783041"/>
          </a:xfrm>
        </p:spPr>
        <p:txBody>
          <a:bodyPr>
            <a:noAutofit/>
          </a:bodyPr>
          <a:lstStyle/>
          <a:p>
            <a:pPr>
              <a:lnSpc>
                <a:spcPct val="100000"/>
              </a:lnSpc>
              <a:spcBef>
                <a:spcPts val="0"/>
              </a:spcBef>
            </a:pPr>
            <a:r>
              <a:rPr lang="en-US" sz="3600" dirty="0">
                <a:sym typeface="+mn-ea"/>
              </a:rPr>
              <a:t>An </a:t>
            </a:r>
            <a:r>
              <a:rPr lang="en-US" sz="3600" dirty="0">
                <a:highlight>
                  <a:srgbClr val="FFFF00"/>
                </a:highlight>
                <a:sym typeface="+mn-ea"/>
              </a:rPr>
              <a:t>inter-integrated circuit </a:t>
            </a:r>
            <a:r>
              <a:rPr lang="en-US" sz="3600" dirty="0">
                <a:sym typeface="+mn-ea"/>
              </a:rPr>
              <a:t>(I2C) or two-wire interface (TWI) </a:t>
            </a:r>
            <a:r>
              <a:rPr lang="en-US" sz="3600" dirty="0">
                <a:highlight>
                  <a:srgbClr val="FFFF00"/>
                </a:highlight>
                <a:sym typeface="+mn-ea"/>
              </a:rPr>
              <a:t>is a synchronous serial protocol originally developed by Philips Semiconductors </a:t>
            </a:r>
            <a:r>
              <a:rPr lang="en-US" sz="3600" dirty="0">
                <a:sym typeface="+mn-ea"/>
              </a:rPr>
              <a:t>(now NXP).</a:t>
            </a:r>
          </a:p>
          <a:p>
            <a:pPr>
              <a:lnSpc>
                <a:spcPct val="100000"/>
              </a:lnSpc>
              <a:spcBef>
                <a:spcPts val="0"/>
              </a:spcBef>
            </a:pPr>
            <a:r>
              <a:rPr lang="en-US" sz="3600" dirty="0">
                <a:sym typeface="+mn-ea"/>
              </a:rPr>
              <a:t>It’s a </a:t>
            </a:r>
            <a:r>
              <a:rPr lang="en-US" sz="3600" dirty="0">
                <a:solidFill>
                  <a:srgbClr val="FF0000"/>
                </a:solidFill>
                <a:highlight>
                  <a:srgbClr val="FFFF00"/>
                </a:highlight>
                <a:sym typeface="+mn-ea"/>
              </a:rPr>
              <a:t>multi-master, multi-slave serial bus for low-speed devices </a:t>
            </a:r>
            <a:r>
              <a:rPr lang="en-US" sz="3600" dirty="0">
                <a:sym typeface="+mn-ea"/>
              </a:rPr>
              <a:t>that only requires two wires among </a:t>
            </a:r>
            <a:r>
              <a:rPr lang="en-US" sz="3600" dirty="0">
                <a:solidFill>
                  <a:srgbClr val="FF0000"/>
                </a:solidFill>
                <a:highlight>
                  <a:srgbClr val="FFFF00"/>
                </a:highlight>
                <a:sym typeface="+mn-ea"/>
              </a:rPr>
              <a:t>multiple devices</a:t>
            </a:r>
            <a:r>
              <a:rPr lang="en-US" sz="3600" dirty="0">
                <a:sym typeface="+mn-ea"/>
              </a:rPr>
              <a:t>. It can easily be implemented with two digital input/output channels on a device.</a:t>
            </a:r>
          </a:p>
          <a:p>
            <a:pPr>
              <a:lnSpc>
                <a:spcPct val="100000"/>
              </a:lnSpc>
              <a:spcBef>
                <a:spcPts val="0"/>
              </a:spcBef>
            </a:pPr>
            <a:r>
              <a:rPr lang="en-US" sz="3600" dirty="0">
                <a:sym typeface="+mn-ea"/>
              </a:rPr>
              <a:t>An I2C bus has </a:t>
            </a:r>
            <a:r>
              <a:rPr lang="en-US" sz="3600" dirty="0">
                <a:solidFill>
                  <a:srgbClr val="FF0000"/>
                </a:solidFill>
                <a:sym typeface="+mn-ea"/>
              </a:rPr>
              <a:t>just two wires</a:t>
            </a:r>
            <a:r>
              <a:rPr lang="en-US" sz="3600" dirty="0">
                <a:sym typeface="+mn-ea"/>
              </a:rPr>
              <a:t> over which hundreds of devices communicate serially. </a:t>
            </a:r>
          </a:p>
          <a:p>
            <a:pPr>
              <a:lnSpc>
                <a:spcPct val="100000"/>
              </a:lnSpc>
              <a:spcBef>
                <a:spcPts val="0"/>
              </a:spcBef>
            </a:pPr>
            <a:r>
              <a:rPr lang="en-US" sz="3600" dirty="0">
                <a:sym typeface="+mn-ea"/>
              </a:rPr>
              <a:t>As a </a:t>
            </a:r>
            <a:r>
              <a:rPr lang="en-US" sz="3600" dirty="0">
                <a:solidFill>
                  <a:srgbClr val="0070C0"/>
                </a:solidFill>
                <a:sym typeface="+mn-ea"/>
              </a:rPr>
              <a:t>master-slave type communication </a:t>
            </a:r>
            <a:r>
              <a:rPr lang="en-US" sz="3600" dirty="0">
                <a:sym typeface="+mn-ea"/>
              </a:rPr>
              <a:t>standard, </a:t>
            </a:r>
            <a:r>
              <a:rPr lang="en-US" sz="3600" b="1" dirty="0">
                <a:solidFill>
                  <a:srgbClr val="0070C0"/>
                </a:solidFill>
                <a:sym typeface="+mn-ea"/>
              </a:rPr>
              <a:t>at least one device </a:t>
            </a:r>
            <a:r>
              <a:rPr lang="en-US" sz="3600" dirty="0">
                <a:sym typeface="+mn-ea"/>
              </a:rPr>
              <a:t>connected to the bus should be the </a:t>
            </a:r>
            <a:r>
              <a:rPr lang="en-US" sz="3600" b="1" dirty="0">
                <a:solidFill>
                  <a:srgbClr val="0070C0"/>
                </a:solidFill>
                <a:sym typeface="+mn-ea"/>
              </a:rPr>
              <a:t>master</a:t>
            </a:r>
            <a:r>
              <a:rPr lang="en-US" sz="3600" dirty="0">
                <a:sym typeface="+mn-ea"/>
              </a:rPr>
              <a:t> that generates a clock signal for synchronous serial data communication.</a:t>
            </a:r>
          </a:p>
          <a:p>
            <a:pPr>
              <a:lnSpc>
                <a:spcPct val="100000"/>
              </a:lnSpc>
              <a:spcBef>
                <a:spcPts val="0"/>
              </a:spcBef>
            </a:pPr>
            <a:r>
              <a:rPr lang="en-US" sz="3600" dirty="0">
                <a:sym typeface="+mn-ea"/>
              </a:rPr>
              <a:t>The </a:t>
            </a:r>
            <a:r>
              <a:rPr lang="en-US" sz="3600" dirty="0">
                <a:solidFill>
                  <a:srgbClr val="00B050"/>
                </a:solidFill>
                <a:sym typeface="+mn-ea"/>
              </a:rPr>
              <a:t>slave devices can transfer data </a:t>
            </a:r>
            <a:r>
              <a:rPr lang="en-US" sz="3600" dirty="0">
                <a:sym typeface="+mn-ea"/>
              </a:rPr>
              <a:t>to and from the master device(s), which access slave devices by their </a:t>
            </a:r>
            <a:r>
              <a:rPr lang="en-US" sz="3600" dirty="0">
                <a:solidFill>
                  <a:srgbClr val="00B050"/>
                </a:solidFill>
                <a:sym typeface="+mn-ea"/>
              </a:rPr>
              <a:t>I2C addresses</a:t>
            </a:r>
            <a:r>
              <a:rPr lang="en-US" sz="3600" dirty="0">
                <a:sym typeface="+mn-ea"/>
              </a:rPr>
              <a:t>. The address of each slave device on an I2C bus must be unique. The </a:t>
            </a:r>
            <a:r>
              <a:rPr lang="en-US" sz="3600" dirty="0">
                <a:solidFill>
                  <a:srgbClr val="00B050"/>
                </a:solidFill>
                <a:sym typeface="+mn-ea"/>
              </a:rPr>
              <a:t>I2C slave devices still must obtain their addresses from NXP</a:t>
            </a:r>
            <a:r>
              <a:rPr lang="en-US" sz="3600" dirty="0">
                <a:sym typeface="+mn-ea"/>
              </a:rPr>
              <a:t>.</a:t>
            </a:r>
          </a:p>
        </p:txBody>
      </p:sp>
      <p:sp>
        <p:nvSpPr>
          <p:cNvPr id="4" name="Date Placeholder 3"/>
          <p:cNvSpPr>
            <a:spLocks noGrp="1"/>
          </p:cNvSpPr>
          <p:nvPr>
            <p:ph type="dt" sz="half" idx="10"/>
          </p:nvPr>
        </p:nvSpPr>
        <p:spPr/>
        <p:txBody>
          <a:bodyPr/>
          <a:lstStyle/>
          <a:p>
            <a:fld id="{0ED04289-A90E-411A-A4F2-A70AC3C225B3}" type="datetime3">
              <a:rPr lang="en-US" smtClean="0"/>
              <a:t>3 December 2025</a:t>
            </a:fld>
            <a:endParaRPr lang="en-US" dirty="0"/>
          </a:p>
        </p:txBody>
      </p:sp>
      <p:sp>
        <p:nvSpPr>
          <p:cNvPr id="6" name="Slide Number Placeholder 5"/>
          <p:cNvSpPr>
            <a:spLocks noGrp="1"/>
          </p:cNvSpPr>
          <p:nvPr>
            <p:ph type="sldNum" sz="quarter" idx="12"/>
          </p:nvPr>
        </p:nvSpPr>
        <p:spPr/>
        <p:txBody>
          <a:bodyPr/>
          <a:lstStyle/>
          <a:p>
            <a:fld id="{90416D69-EFB9-4734-9DF5-4234A5F1A98A}" type="slidenum">
              <a:rPr lang="en-US" smtClean="0"/>
              <a:t>35</a:t>
            </a:fld>
            <a:endParaRPr lang="en-US"/>
          </a:p>
        </p:txBody>
      </p:sp>
    </p:spTree>
    <p:extLst>
      <p:ext uri="{BB962C8B-B14F-4D97-AF65-F5344CB8AC3E}">
        <p14:creationId xmlns:p14="http://schemas.microsoft.com/office/powerpoint/2010/main" val="34091770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A02CA-F63B-4A84-986C-A613026628E2}"/>
              </a:ext>
            </a:extLst>
          </p:cNvPr>
          <p:cNvSpPr>
            <a:spLocks noGrp="1"/>
          </p:cNvSpPr>
          <p:nvPr>
            <p:ph type="title"/>
          </p:nvPr>
        </p:nvSpPr>
        <p:spPr>
          <a:xfrm>
            <a:off x="1704097" y="182880"/>
            <a:ext cx="9962147" cy="953713"/>
          </a:xfrm>
        </p:spPr>
        <p:txBody>
          <a:bodyPr>
            <a:noAutofit/>
          </a:bodyPr>
          <a:lstStyle/>
          <a:p>
            <a:r>
              <a:rPr lang="en-US" sz="6000" b="1" dirty="0">
                <a:solidFill>
                  <a:srgbClr val="0070C0"/>
                </a:solidFill>
              </a:rPr>
              <a:t>I2C </a:t>
            </a:r>
            <a:r>
              <a:rPr lang="en-US" sz="6000" b="1" dirty="0">
                <a:solidFill>
                  <a:srgbClr val="0070C0"/>
                </a:solidFill>
                <a:sym typeface="+mn-ea"/>
              </a:rPr>
              <a:t>(Inter-Integrated Circuit)</a:t>
            </a:r>
            <a:endParaRPr lang="en-US" sz="6000" b="1" dirty="0">
              <a:solidFill>
                <a:srgbClr val="002060"/>
              </a:solidFill>
            </a:endParaRPr>
          </a:p>
        </p:txBody>
      </p:sp>
      <p:sp>
        <p:nvSpPr>
          <p:cNvPr id="3" name="Content Placeholder 2">
            <a:extLst>
              <a:ext uri="{FF2B5EF4-FFF2-40B4-BE49-F238E27FC236}">
                <a16:creationId xmlns:a16="http://schemas.microsoft.com/office/drawing/2014/main" id="{B520C749-701D-413F-8F1E-60E9B660709D}"/>
              </a:ext>
            </a:extLst>
          </p:cNvPr>
          <p:cNvSpPr>
            <a:spLocks noGrp="1"/>
          </p:cNvSpPr>
          <p:nvPr>
            <p:ph idx="1"/>
          </p:nvPr>
        </p:nvSpPr>
        <p:spPr>
          <a:xfrm>
            <a:off x="224432" y="1045029"/>
            <a:ext cx="16002012" cy="2595946"/>
          </a:xfrm>
        </p:spPr>
        <p:txBody>
          <a:bodyPr>
            <a:noAutofit/>
          </a:bodyPr>
          <a:lstStyle/>
          <a:p>
            <a:pPr>
              <a:lnSpc>
                <a:spcPct val="100000"/>
              </a:lnSpc>
              <a:spcBef>
                <a:spcPts val="0"/>
              </a:spcBef>
            </a:pPr>
            <a:r>
              <a:rPr lang="en-US" sz="3600" dirty="0">
                <a:sym typeface="+mn-ea"/>
              </a:rPr>
              <a:t>A chip-to-chip protocol for communicating with low-speed peripherals.</a:t>
            </a:r>
          </a:p>
          <a:p>
            <a:pPr>
              <a:lnSpc>
                <a:spcPct val="100000"/>
              </a:lnSpc>
              <a:spcBef>
                <a:spcPts val="0"/>
              </a:spcBef>
            </a:pPr>
            <a:r>
              <a:rPr lang="en-US" sz="3600" dirty="0"/>
              <a:t>The I2C bus drivers are </a:t>
            </a:r>
            <a:r>
              <a:rPr lang="en-US" sz="3600" b="1" dirty="0">
                <a:solidFill>
                  <a:srgbClr val="FF0000"/>
                </a:solidFill>
              </a:rPr>
              <a:t>open drain</a:t>
            </a:r>
            <a:r>
              <a:rPr lang="en-US" sz="3600" dirty="0"/>
              <a:t>, which means the devices can pull the I2C signal line low but cannot drive it high. </a:t>
            </a:r>
            <a:r>
              <a:rPr lang="en-US" sz="3600" b="1" dirty="0">
                <a:solidFill>
                  <a:srgbClr val="0070C0"/>
                </a:solidFill>
              </a:rPr>
              <a:t>By default, both the lines are pulled high </a:t>
            </a:r>
            <a:r>
              <a:rPr lang="en-US" sz="3600" dirty="0"/>
              <a:t>by pull-up resistors </a:t>
            </a:r>
            <a:r>
              <a:rPr lang="en-US" sz="3600" dirty="0">
                <a:solidFill>
                  <a:srgbClr val="FF0000"/>
                </a:solidFill>
              </a:rPr>
              <a:t>until the bus is accessed by a master device</a:t>
            </a:r>
            <a:r>
              <a:rPr lang="en-US" sz="3600" dirty="0"/>
              <a:t> to avoid </a:t>
            </a:r>
            <a:r>
              <a:rPr lang="en-US" sz="3600" b="1" dirty="0">
                <a:solidFill>
                  <a:srgbClr val="FF0000"/>
                </a:solidFill>
              </a:rPr>
              <a:t>bus contention</a:t>
            </a:r>
            <a:r>
              <a:rPr lang="en-US" sz="3600" dirty="0"/>
              <a:t>. </a:t>
            </a:r>
          </a:p>
        </p:txBody>
      </p:sp>
      <p:sp>
        <p:nvSpPr>
          <p:cNvPr id="4" name="Date Placeholder 3"/>
          <p:cNvSpPr>
            <a:spLocks noGrp="1"/>
          </p:cNvSpPr>
          <p:nvPr>
            <p:ph type="dt" sz="half" idx="10"/>
          </p:nvPr>
        </p:nvSpPr>
        <p:spPr/>
        <p:txBody>
          <a:bodyPr/>
          <a:lstStyle/>
          <a:p>
            <a:fld id="{0ED04289-A90E-411A-A4F2-A70AC3C225B3}" type="datetime3">
              <a:rPr lang="en-US" smtClean="0"/>
              <a:t>3 December 2025</a:t>
            </a:fld>
            <a:endParaRPr lang="en-US"/>
          </a:p>
        </p:txBody>
      </p:sp>
      <p:pic>
        <p:nvPicPr>
          <p:cNvPr id="7" name="Picture 6" descr="i2c_diagram"/>
          <p:cNvPicPr>
            <a:picLocks noChangeAspect="1"/>
          </p:cNvPicPr>
          <p:nvPr/>
        </p:nvPicPr>
        <p:blipFill rotWithShape="1">
          <a:blip r:embed="rId2"/>
          <a:srcRect t="2013"/>
          <a:stretch/>
        </p:blipFill>
        <p:spPr>
          <a:xfrm>
            <a:off x="272650" y="3480594"/>
            <a:ext cx="7636867" cy="3377406"/>
          </a:xfrm>
          <a:prstGeom prst="rect">
            <a:avLst/>
          </a:prstGeom>
        </p:spPr>
      </p:pic>
      <p:graphicFrame>
        <p:nvGraphicFramePr>
          <p:cNvPr id="8" name="Table 7">
            <a:extLst>
              <a:ext uri="{FF2B5EF4-FFF2-40B4-BE49-F238E27FC236}">
                <a16:creationId xmlns:a16="http://schemas.microsoft.com/office/drawing/2014/main" id="{3093C357-6366-EE44-7249-52D7435F7CF6}"/>
              </a:ext>
            </a:extLst>
          </p:cNvPr>
          <p:cNvGraphicFramePr>
            <a:graphicFrameLocks noGrp="1"/>
          </p:cNvGraphicFramePr>
          <p:nvPr>
            <p:extLst>
              <p:ext uri="{D42A27DB-BD31-4B8C-83A1-F6EECF244321}">
                <p14:modId xmlns:p14="http://schemas.microsoft.com/office/powerpoint/2010/main" val="2657716561"/>
              </p:ext>
            </p:extLst>
          </p:nvPr>
        </p:nvGraphicFramePr>
        <p:xfrm>
          <a:off x="7983353" y="4297508"/>
          <a:ext cx="3431540" cy="914400"/>
        </p:xfrm>
        <a:graphic>
          <a:graphicData uri="http://schemas.openxmlformats.org/drawingml/2006/table">
            <a:tbl>
              <a:tblPr>
                <a:tableStyleId>{E8B1032C-EA38-4F05-BA0D-38AFFFC7BED3}</a:tableStyleId>
              </a:tblPr>
              <a:tblGrid>
                <a:gridCol w="1715770">
                  <a:extLst>
                    <a:ext uri="{9D8B030D-6E8A-4147-A177-3AD203B41FA5}">
                      <a16:colId xmlns:a16="http://schemas.microsoft.com/office/drawing/2014/main" val="2733999499"/>
                    </a:ext>
                  </a:extLst>
                </a:gridCol>
                <a:gridCol w="1715770">
                  <a:extLst>
                    <a:ext uri="{9D8B030D-6E8A-4147-A177-3AD203B41FA5}">
                      <a16:colId xmlns:a16="http://schemas.microsoft.com/office/drawing/2014/main" val="1947064606"/>
                    </a:ext>
                  </a:extLst>
                </a:gridCol>
              </a:tblGrid>
              <a:tr h="0">
                <a:tc>
                  <a:txBody>
                    <a:bodyPr/>
                    <a:lstStyle/>
                    <a:p>
                      <a:pPr algn="ctr" latinLnBrk="0"/>
                      <a:r>
                        <a:rPr lang="en-US" sz="2400" b="1" dirty="0">
                          <a:solidFill>
                            <a:srgbClr val="FF0000"/>
                          </a:solidFill>
                          <a:effectLst/>
                        </a:rPr>
                        <a:t>SDA Pin</a:t>
                      </a:r>
                    </a:p>
                  </a:txBody>
                  <a:tcPr anchor="ctr"/>
                </a:tc>
                <a:tc>
                  <a:txBody>
                    <a:bodyPr/>
                    <a:lstStyle/>
                    <a:p>
                      <a:pPr algn="ctr" latinLnBrk="0"/>
                      <a:r>
                        <a:rPr lang="en-US" sz="2400" b="1" dirty="0">
                          <a:solidFill>
                            <a:srgbClr val="FF0000"/>
                          </a:solidFill>
                          <a:effectLst/>
                        </a:rPr>
                        <a:t>A4 Pin</a:t>
                      </a:r>
                    </a:p>
                  </a:txBody>
                  <a:tcPr anchor="ctr"/>
                </a:tc>
                <a:extLst>
                  <a:ext uri="{0D108BD9-81ED-4DB2-BD59-A6C34878D82A}">
                    <a16:rowId xmlns:a16="http://schemas.microsoft.com/office/drawing/2014/main" val="271848108"/>
                  </a:ext>
                </a:extLst>
              </a:tr>
              <a:tr h="0">
                <a:tc>
                  <a:txBody>
                    <a:bodyPr/>
                    <a:lstStyle/>
                    <a:p>
                      <a:pPr algn="ctr" latinLnBrk="0"/>
                      <a:r>
                        <a:rPr lang="en-US" sz="2400" b="1" dirty="0">
                          <a:solidFill>
                            <a:srgbClr val="FF0000"/>
                          </a:solidFill>
                          <a:effectLst/>
                        </a:rPr>
                        <a:t>SCL Pin</a:t>
                      </a:r>
                    </a:p>
                  </a:txBody>
                  <a:tcPr anchor="ctr"/>
                </a:tc>
                <a:tc>
                  <a:txBody>
                    <a:bodyPr/>
                    <a:lstStyle/>
                    <a:p>
                      <a:pPr algn="ctr" latinLnBrk="0"/>
                      <a:r>
                        <a:rPr lang="en-US" sz="2400" b="1" dirty="0">
                          <a:solidFill>
                            <a:srgbClr val="FF0000"/>
                          </a:solidFill>
                          <a:effectLst/>
                        </a:rPr>
                        <a:t>A5 Pin</a:t>
                      </a:r>
                    </a:p>
                  </a:txBody>
                  <a:tcPr anchor="ctr"/>
                </a:tc>
                <a:extLst>
                  <a:ext uri="{0D108BD9-81ED-4DB2-BD59-A6C34878D82A}">
                    <a16:rowId xmlns:a16="http://schemas.microsoft.com/office/drawing/2014/main" val="2455857012"/>
                  </a:ext>
                </a:extLst>
              </a:tr>
            </a:tbl>
          </a:graphicData>
        </a:graphic>
      </p:graphicFrame>
      <p:pic>
        <p:nvPicPr>
          <p:cNvPr id="9" name="Picture 2">
            <a:extLst>
              <a:ext uri="{FF2B5EF4-FFF2-40B4-BE49-F238E27FC236}">
                <a16:creationId xmlns:a16="http://schemas.microsoft.com/office/drawing/2014/main" id="{DA10EB65-40DA-DB1B-F037-B15859BD53D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590" t="20882" r="6652" b="18737"/>
          <a:stretch/>
        </p:blipFill>
        <p:spPr bwMode="auto">
          <a:xfrm>
            <a:off x="7475244" y="5374640"/>
            <a:ext cx="4063998" cy="24124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a:extLst>
              <a:ext uri="{FF2B5EF4-FFF2-40B4-BE49-F238E27FC236}">
                <a16:creationId xmlns:a16="http://schemas.microsoft.com/office/drawing/2014/main" id="{33927020-B009-7763-39D7-517F1A7A5E6A}"/>
              </a:ext>
            </a:extLst>
          </p:cNvPr>
          <p:cNvSpPr txBox="1"/>
          <p:nvPr/>
        </p:nvSpPr>
        <p:spPr>
          <a:xfrm>
            <a:off x="7625921" y="5438140"/>
            <a:ext cx="344623" cy="325464"/>
          </a:xfrm>
          <a:prstGeom prst="rect">
            <a:avLst/>
          </a:prstGeom>
          <a:noFill/>
          <a:ln w="38100">
            <a:solidFill>
              <a:srgbClr val="FF0000"/>
            </a:solidFill>
            <a:prstDash val="sysDash"/>
          </a:ln>
        </p:spPr>
        <p:txBody>
          <a:bodyPr wrap="square" rtlCol="0">
            <a:spAutoFit/>
          </a:bodyPr>
          <a:lstStyle/>
          <a:p>
            <a:endParaRPr lang="en-US" dirty="0"/>
          </a:p>
        </p:txBody>
      </p:sp>
      <p:cxnSp>
        <p:nvCxnSpPr>
          <p:cNvPr id="11" name="Straight Arrow Connector 10">
            <a:extLst>
              <a:ext uri="{FF2B5EF4-FFF2-40B4-BE49-F238E27FC236}">
                <a16:creationId xmlns:a16="http://schemas.microsoft.com/office/drawing/2014/main" id="{44F7D844-4402-BC35-6BE1-9321D94FB800}"/>
              </a:ext>
            </a:extLst>
          </p:cNvPr>
          <p:cNvCxnSpPr>
            <a:cxnSpLocks/>
            <a:endCxn id="10" idx="3"/>
          </p:cNvCxnSpPr>
          <p:nvPr/>
        </p:nvCxnSpPr>
        <p:spPr>
          <a:xfrm flipH="1">
            <a:off x="7970544" y="5144295"/>
            <a:ext cx="2057399" cy="45657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72160843-D66B-0F2D-1120-E647B32D59DD}"/>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11661296" y="3679076"/>
            <a:ext cx="4730830" cy="4225070"/>
          </a:xfrm>
          <a:prstGeom prst="rect">
            <a:avLst/>
          </a:prstGeom>
        </p:spPr>
      </p:pic>
      <p:sp>
        <p:nvSpPr>
          <p:cNvPr id="15" name="Slide Number Placeholder 5"/>
          <p:cNvSpPr>
            <a:spLocks noGrp="1"/>
          </p:cNvSpPr>
          <p:nvPr>
            <p:ph type="sldNum" sz="quarter" idx="12"/>
          </p:nvPr>
        </p:nvSpPr>
        <p:spPr>
          <a:xfrm>
            <a:off x="15125570" y="7921051"/>
            <a:ext cx="1317356" cy="290270"/>
          </a:xfrm>
        </p:spPr>
        <p:txBody>
          <a:bodyPr/>
          <a:lstStyle/>
          <a:p>
            <a:fld id="{90416D69-EFB9-4734-9DF5-4234A5F1A98A}" type="slidenum">
              <a:rPr lang="en-US" smtClean="0"/>
              <a:t>36</a:t>
            </a:fld>
            <a:endParaRPr lang="en-US" dirty="0"/>
          </a:p>
        </p:txBody>
      </p:sp>
      <p:sp>
        <p:nvSpPr>
          <p:cNvPr id="16" name="Content Placeholder 2">
            <a:extLst>
              <a:ext uri="{FF2B5EF4-FFF2-40B4-BE49-F238E27FC236}">
                <a16:creationId xmlns:a16="http://schemas.microsoft.com/office/drawing/2014/main" id="{6573C643-C461-8492-536B-0FF0C1D9294D}"/>
              </a:ext>
            </a:extLst>
          </p:cNvPr>
          <p:cNvSpPr txBox="1">
            <a:spLocks/>
          </p:cNvSpPr>
          <p:nvPr/>
        </p:nvSpPr>
        <p:spPr>
          <a:xfrm>
            <a:off x="184538" y="6857999"/>
            <a:ext cx="7168652" cy="1216617"/>
          </a:xfrm>
          <a:prstGeom prst="rect">
            <a:avLst/>
          </a:prstGeom>
        </p:spPr>
        <p:txBody>
          <a:bodyPr vert="horz" lIns="91440" tIns="45720" rIns="91440" bIns="45720" rtlCol="0">
            <a:noAutofit/>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marL="0" indent="0" algn="ctr">
              <a:lnSpc>
                <a:spcPct val="100000"/>
              </a:lnSpc>
              <a:spcBef>
                <a:spcPts val="0"/>
              </a:spcBef>
              <a:buNone/>
            </a:pPr>
            <a:r>
              <a:rPr lang="en-US" sz="2400" dirty="0">
                <a:sym typeface="+mn-ea"/>
              </a:rPr>
              <a:t>Block Diagram of an I2C protocol for communicating with multiple low-speed peripheral devices (Slaves) using a single controller device (Master)</a:t>
            </a:r>
          </a:p>
        </p:txBody>
      </p:sp>
      <p:sp>
        <p:nvSpPr>
          <p:cNvPr id="17" name="TextBox 16">
            <a:extLst>
              <a:ext uri="{FF2B5EF4-FFF2-40B4-BE49-F238E27FC236}">
                <a16:creationId xmlns:a16="http://schemas.microsoft.com/office/drawing/2014/main" id="{F49BB654-B9A2-6AC2-D583-25261E494193}"/>
              </a:ext>
            </a:extLst>
          </p:cNvPr>
          <p:cNvSpPr txBox="1"/>
          <p:nvPr/>
        </p:nvSpPr>
        <p:spPr>
          <a:xfrm>
            <a:off x="13682088" y="7404644"/>
            <a:ext cx="344623" cy="325464"/>
          </a:xfrm>
          <a:prstGeom prst="rect">
            <a:avLst/>
          </a:prstGeom>
          <a:noFill/>
          <a:ln w="28575">
            <a:solidFill>
              <a:srgbClr val="FF0000"/>
            </a:solidFill>
            <a:prstDash val="sysDash"/>
          </a:ln>
        </p:spPr>
        <p:txBody>
          <a:bodyPr wrap="square" rtlCol="0">
            <a:spAutoFit/>
          </a:bodyPr>
          <a:lstStyle/>
          <a:p>
            <a:endParaRPr lang="en-US" dirty="0"/>
          </a:p>
        </p:txBody>
      </p:sp>
      <p:sp>
        <p:nvSpPr>
          <p:cNvPr id="18" name="Content Placeholder 2">
            <a:extLst>
              <a:ext uri="{FF2B5EF4-FFF2-40B4-BE49-F238E27FC236}">
                <a16:creationId xmlns:a16="http://schemas.microsoft.com/office/drawing/2014/main" id="{D852D605-1B6E-975C-4778-EB798C4C0CEB}"/>
              </a:ext>
            </a:extLst>
          </p:cNvPr>
          <p:cNvSpPr txBox="1">
            <a:spLocks/>
          </p:cNvSpPr>
          <p:nvPr/>
        </p:nvSpPr>
        <p:spPr>
          <a:xfrm>
            <a:off x="11740192" y="5677144"/>
            <a:ext cx="1023308" cy="710955"/>
          </a:xfrm>
          <a:prstGeom prst="rect">
            <a:avLst/>
          </a:prstGeom>
        </p:spPr>
        <p:txBody>
          <a:bodyPr vert="horz" lIns="91440" tIns="45720" rIns="91440" bIns="45720" rtlCol="0">
            <a:noAutofit/>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marL="0" indent="0" algn="ctr">
              <a:lnSpc>
                <a:spcPct val="100000"/>
              </a:lnSpc>
              <a:spcBef>
                <a:spcPts val="0"/>
              </a:spcBef>
              <a:buNone/>
            </a:pPr>
            <a:r>
              <a:rPr lang="en-US" sz="2000" dirty="0">
                <a:solidFill>
                  <a:srgbClr val="FF0000"/>
                </a:solidFill>
                <a:sym typeface="+mn-ea"/>
              </a:rPr>
              <a:t>OLED (Slave2)</a:t>
            </a:r>
          </a:p>
        </p:txBody>
      </p:sp>
      <p:sp>
        <p:nvSpPr>
          <p:cNvPr id="20" name="Content Placeholder 2">
            <a:extLst>
              <a:ext uri="{FF2B5EF4-FFF2-40B4-BE49-F238E27FC236}">
                <a16:creationId xmlns:a16="http://schemas.microsoft.com/office/drawing/2014/main" id="{DA9D36C9-2351-20F6-D7C9-5382A3A37805}"/>
              </a:ext>
            </a:extLst>
          </p:cNvPr>
          <p:cNvSpPr txBox="1">
            <a:spLocks/>
          </p:cNvSpPr>
          <p:nvPr/>
        </p:nvSpPr>
        <p:spPr>
          <a:xfrm>
            <a:off x="14555783" y="4826000"/>
            <a:ext cx="556328" cy="2578644"/>
          </a:xfrm>
          <a:prstGeom prst="rect">
            <a:avLst/>
          </a:prstGeom>
        </p:spPr>
        <p:txBody>
          <a:bodyPr vert="eaVert" lIns="91440" tIns="45720" rIns="91440" bIns="45720" rtlCol="0">
            <a:noAutofit/>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marL="0" indent="0" algn="ctr">
              <a:lnSpc>
                <a:spcPct val="100000"/>
              </a:lnSpc>
              <a:spcBef>
                <a:spcPts val="0"/>
              </a:spcBef>
              <a:buNone/>
            </a:pPr>
            <a:r>
              <a:rPr lang="en-US" sz="2400" dirty="0">
                <a:solidFill>
                  <a:srgbClr val="FF0000"/>
                </a:solidFill>
                <a:sym typeface="+mn-ea"/>
              </a:rPr>
              <a:t>Arduino (Master)</a:t>
            </a:r>
          </a:p>
        </p:txBody>
      </p:sp>
      <p:sp>
        <p:nvSpPr>
          <p:cNvPr id="21" name="Content Placeholder 2">
            <a:extLst>
              <a:ext uri="{FF2B5EF4-FFF2-40B4-BE49-F238E27FC236}">
                <a16:creationId xmlns:a16="http://schemas.microsoft.com/office/drawing/2014/main" id="{2F204B8E-49F0-4FFC-AADA-58373BAB695D}"/>
              </a:ext>
            </a:extLst>
          </p:cNvPr>
          <p:cNvSpPr txBox="1">
            <a:spLocks/>
          </p:cNvSpPr>
          <p:nvPr/>
        </p:nvSpPr>
        <p:spPr>
          <a:xfrm>
            <a:off x="10629900" y="3515842"/>
            <a:ext cx="1583846" cy="710955"/>
          </a:xfrm>
          <a:prstGeom prst="rect">
            <a:avLst/>
          </a:prstGeom>
        </p:spPr>
        <p:txBody>
          <a:bodyPr vert="horz" lIns="91440" tIns="45720" rIns="91440" bIns="45720" rtlCol="0">
            <a:noAutofit/>
          </a:bodyPr>
          <a:lstStyle>
            <a:lvl1pPr marL="274320" indent="-274320" algn="l" defTabSz="1097280" rtl="0" eaLnBrk="1" latinLnBrk="0" hangingPunct="1">
              <a:lnSpc>
                <a:spcPct val="90000"/>
              </a:lnSpc>
              <a:spcBef>
                <a:spcPts val="1200"/>
              </a:spcBef>
              <a:buFont typeface="Arial" panose="020B0604020202020204" pitchFamily="34" charset="0"/>
              <a:buChar char="•"/>
              <a:defRPr sz="3360" kern="1200">
                <a:solidFill>
                  <a:schemeClr val="tx1"/>
                </a:solidFill>
                <a:latin typeface="+mn-lt"/>
                <a:ea typeface="+mn-ea"/>
                <a:cs typeface="+mn-cs"/>
              </a:defRPr>
            </a:lvl1pPr>
            <a:lvl2pPr marL="822960" indent="-274320" algn="l" defTabSz="1097280" rtl="0" eaLnBrk="1" latinLnBrk="0" hangingPunct="1">
              <a:lnSpc>
                <a:spcPct val="90000"/>
              </a:lnSpc>
              <a:spcBef>
                <a:spcPts val="600"/>
              </a:spcBef>
              <a:buFont typeface="Arial" panose="020B0604020202020204" pitchFamily="34" charset="0"/>
              <a:buChar char="•"/>
              <a:defRPr sz="2880" kern="1200">
                <a:solidFill>
                  <a:schemeClr val="tx1"/>
                </a:solidFill>
                <a:latin typeface="+mn-lt"/>
                <a:ea typeface="+mn-ea"/>
                <a:cs typeface="+mn-cs"/>
              </a:defRPr>
            </a:lvl2pPr>
            <a:lvl3pPr marL="1371600" indent="-274320" algn="l" defTabSz="1097280" rtl="0" eaLnBrk="1" latinLnBrk="0" hangingPunct="1">
              <a:lnSpc>
                <a:spcPct val="90000"/>
              </a:lnSpc>
              <a:spcBef>
                <a:spcPts val="600"/>
              </a:spcBef>
              <a:buFont typeface="Arial" panose="020B0604020202020204" pitchFamily="34" charset="0"/>
              <a:buChar char="•"/>
              <a:defRPr sz="2400" kern="1200">
                <a:solidFill>
                  <a:schemeClr val="tx1"/>
                </a:solidFill>
                <a:latin typeface="+mn-lt"/>
                <a:ea typeface="+mn-ea"/>
                <a:cs typeface="+mn-cs"/>
              </a:defRPr>
            </a:lvl3pPr>
            <a:lvl4pPr marL="19202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4pPr>
            <a:lvl5pPr marL="246888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5pPr>
            <a:lvl6pPr marL="301752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6pPr>
            <a:lvl7pPr marL="356616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7pPr>
            <a:lvl8pPr marL="411480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8pPr>
            <a:lvl9pPr marL="4663440" indent="-274320" algn="l" defTabSz="1097280" rtl="0" eaLnBrk="1" latinLnBrk="0" hangingPunct="1">
              <a:lnSpc>
                <a:spcPct val="90000"/>
              </a:lnSpc>
              <a:spcBef>
                <a:spcPts val="600"/>
              </a:spcBef>
              <a:buFont typeface="Arial" panose="020B0604020202020204" pitchFamily="34" charset="0"/>
              <a:buChar char="•"/>
              <a:defRPr sz="2160" kern="1200">
                <a:solidFill>
                  <a:schemeClr val="tx1"/>
                </a:solidFill>
                <a:latin typeface="+mn-lt"/>
                <a:ea typeface="+mn-ea"/>
                <a:cs typeface="+mn-cs"/>
              </a:defRPr>
            </a:lvl9pPr>
          </a:lstStyle>
          <a:p>
            <a:pPr marL="0" indent="0" algn="r">
              <a:lnSpc>
                <a:spcPct val="100000"/>
              </a:lnSpc>
              <a:spcBef>
                <a:spcPts val="0"/>
              </a:spcBef>
              <a:buNone/>
            </a:pPr>
            <a:r>
              <a:rPr lang="en-US" sz="2000" dirty="0">
                <a:solidFill>
                  <a:srgbClr val="FF0000"/>
                </a:solidFill>
                <a:sym typeface="+mn-ea"/>
              </a:rPr>
              <a:t>DHT Sensor (Slave1)</a:t>
            </a:r>
          </a:p>
        </p:txBody>
      </p:sp>
    </p:spTree>
    <p:extLst>
      <p:ext uri="{BB962C8B-B14F-4D97-AF65-F5344CB8AC3E}">
        <p14:creationId xmlns:p14="http://schemas.microsoft.com/office/powerpoint/2010/main" val="611512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anim calcmode="lin" valueType="num">
                                      <p:cBhvr additive="base">
                                        <p:cTn id="13" dur="500" fill="hold"/>
                                        <p:tgtEl>
                                          <p:spTgt spid="16"/>
                                        </p:tgtEl>
                                        <p:attrNameLst>
                                          <p:attrName>ppt_x</p:attrName>
                                        </p:attrNameLst>
                                      </p:cBhvr>
                                      <p:tavLst>
                                        <p:tav tm="0">
                                          <p:val>
                                            <p:strVal val="#ppt_x"/>
                                          </p:val>
                                        </p:tav>
                                        <p:tav tm="100000">
                                          <p:val>
                                            <p:strVal val="#ppt_x"/>
                                          </p:val>
                                        </p:tav>
                                      </p:tavLst>
                                    </p:anim>
                                    <p:anim calcmode="lin" valueType="num">
                                      <p:cBhvr additive="base">
                                        <p:cTn id="14"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00" fill="hold"/>
                                        <p:tgtEl>
                                          <p:spTgt spid="8"/>
                                        </p:tgtEl>
                                        <p:attrNameLst>
                                          <p:attrName>ppt_x</p:attrName>
                                        </p:attrNameLst>
                                      </p:cBhvr>
                                      <p:tavLst>
                                        <p:tav tm="0">
                                          <p:val>
                                            <p:strVal val="1+#ppt_w/2"/>
                                          </p:val>
                                        </p:tav>
                                        <p:tav tm="100000">
                                          <p:val>
                                            <p:strVal val="#ppt_x"/>
                                          </p:val>
                                        </p:tav>
                                      </p:tavLst>
                                    </p:anim>
                                    <p:anim calcmode="lin" valueType="num">
                                      <p:cBhvr additive="base">
                                        <p:cTn id="20"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1000"/>
                                        <p:tgtEl>
                                          <p:spTgt spid="9"/>
                                        </p:tgtEl>
                                      </p:cBhvr>
                                    </p:animEffect>
                                    <p:anim calcmode="lin" valueType="num">
                                      <p:cBhvr>
                                        <p:cTn id="26" dur="1000" fill="hold"/>
                                        <p:tgtEl>
                                          <p:spTgt spid="9"/>
                                        </p:tgtEl>
                                        <p:attrNameLst>
                                          <p:attrName>ppt_x</p:attrName>
                                        </p:attrNameLst>
                                      </p:cBhvr>
                                      <p:tavLst>
                                        <p:tav tm="0">
                                          <p:val>
                                            <p:strVal val="#ppt_x"/>
                                          </p:val>
                                        </p:tav>
                                        <p:tav tm="100000">
                                          <p:val>
                                            <p:strVal val="#ppt_x"/>
                                          </p:val>
                                        </p:tav>
                                      </p:tavLst>
                                    </p:anim>
                                    <p:anim calcmode="lin" valueType="num">
                                      <p:cBhvr>
                                        <p:cTn id="27"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1" presetClass="entr" presetSubtype="1"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heel(1)">
                                      <p:cBhvr>
                                        <p:cTn id="32" dur="2000"/>
                                        <p:tgtEl>
                                          <p:spTgt spid="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1"/>
                                        </p:tgtEl>
                                        <p:attrNameLst>
                                          <p:attrName>style.visibility</p:attrName>
                                        </p:attrNameLst>
                                      </p:cBhvr>
                                      <p:to>
                                        <p:strVal val="visible"/>
                                      </p:to>
                                    </p:set>
                                    <p:animEffect transition="in" filter="wipe(down)">
                                      <p:cBhvr>
                                        <p:cTn id="37" dur="500"/>
                                        <p:tgtEl>
                                          <p:spTgt spid="11"/>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nodeType="clickEffect">
                                  <p:stCondLst>
                                    <p:cond delay="0"/>
                                  </p:stCondLst>
                                  <p:childTnLst>
                                    <p:set>
                                      <p:cBhvr>
                                        <p:cTn id="41" dur="1" fill="hold">
                                          <p:stCondLst>
                                            <p:cond delay="0"/>
                                          </p:stCondLst>
                                        </p:cTn>
                                        <p:tgtEl>
                                          <p:spTgt spid="14"/>
                                        </p:tgtEl>
                                        <p:attrNameLst>
                                          <p:attrName>style.visibility</p:attrName>
                                        </p:attrNameLst>
                                      </p:cBhvr>
                                      <p:to>
                                        <p:strVal val="visible"/>
                                      </p:to>
                                    </p:set>
                                    <p:anim calcmode="lin" valueType="num">
                                      <p:cBhvr additive="base">
                                        <p:cTn id="42" dur="500" fill="hold"/>
                                        <p:tgtEl>
                                          <p:spTgt spid="14"/>
                                        </p:tgtEl>
                                        <p:attrNameLst>
                                          <p:attrName>ppt_x</p:attrName>
                                        </p:attrNameLst>
                                      </p:cBhvr>
                                      <p:tavLst>
                                        <p:tav tm="0">
                                          <p:val>
                                            <p:strVal val="1+#ppt_w/2"/>
                                          </p:val>
                                        </p:tav>
                                        <p:tav tm="100000">
                                          <p:val>
                                            <p:strVal val="#ppt_x"/>
                                          </p:val>
                                        </p:tav>
                                      </p:tavLst>
                                    </p:anim>
                                    <p:anim calcmode="lin" valueType="num">
                                      <p:cBhvr additive="base">
                                        <p:cTn id="43"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1" presetClass="entr" presetSubtype="1" fill="hold" grpId="0" nodeType="click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wheel(1)">
                                      <p:cBhvr>
                                        <p:cTn id="48" dur="2000"/>
                                        <p:tgtEl>
                                          <p:spTgt spid="17"/>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anim calcmode="lin" valueType="num">
                                      <p:cBhvr additive="base">
                                        <p:cTn id="53" dur="500" fill="hold"/>
                                        <p:tgtEl>
                                          <p:spTgt spid="20"/>
                                        </p:tgtEl>
                                        <p:attrNameLst>
                                          <p:attrName>ppt_x</p:attrName>
                                        </p:attrNameLst>
                                      </p:cBhvr>
                                      <p:tavLst>
                                        <p:tav tm="0">
                                          <p:val>
                                            <p:strVal val="#ppt_x"/>
                                          </p:val>
                                        </p:tav>
                                        <p:tav tm="100000">
                                          <p:val>
                                            <p:strVal val="#ppt_x"/>
                                          </p:val>
                                        </p:tav>
                                      </p:tavLst>
                                    </p:anim>
                                    <p:anim calcmode="lin" valueType="num">
                                      <p:cBhvr additive="base">
                                        <p:cTn id="54"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grpId="0" nodeType="clickEffect">
                                  <p:stCondLst>
                                    <p:cond delay="0"/>
                                  </p:stCondLst>
                                  <p:childTnLst>
                                    <p:set>
                                      <p:cBhvr>
                                        <p:cTn id="58" dur="1" fill="hold">
                                          <p:stCondLst>
                                            <p:cond delay="0"/>
                                          </p:stCondLst>
                                        </p:cTn>
                                        <p:tgtEl>
                                          <p:spTgt spid="18"/>
                                        </p:tgtEl>
                                        <p:attrNameLst>
                                          <p:attrName>style.visibility</p:attrName>
                                        </p:attrNameLst>
                                      </p:cBhvr>
                                      <p:to>
                                        <p:strVal val="visible"/>
                                      </p:to>
                                    </p:set>
                                    <p:anim calcmode="lin" valueType="num">
                                      <p:cBhvr additive="base">
                                        <p:cTn id="59" dur="500" fill="hold"/>
                                        <p:tgtEl>
                                          <p:spTgt spid="18"/>
                                        </p:tgtEl>
                                        <p:attrNameLst>
                                          <p:attrName>ppt_x</p:attrName>
                                        </p:attrNameLst>
                                      </p:cBhvr>
                                      <p:tavLst>
                                        <p:tav tm="0">
                                          <p:val>
                                            <p:strVal val="#ppt_x"/>
                                          </p:val>
                                        </p:tav>
                                        <p:tav tm="100000">
                                          <p:val>
                                            <p:strVal val="#ppt_x"/>
                                          </p:val>
                                        </p:tav>
                                      </p:tavLst>
                                    </p:anim>
                                    <p:anim calcmode="lin" valueType="num">
                                      <p:cBhvr additive="base">
                                        <p:cTn id="6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2" presetClass="entr" presetSubtype="4" fill="hold" grpId="0" nodeType="clickEffect">
                                  <p:stCondLst>
                                    <p:cond delay="0"/>
                                  </p:stCondLst>
                                  <p:childTnLst>
                                    <p:set>
                                      <p:cBhvr>
                                        <p:cTn id="64" dur="1" fill="hold">
                                          <p:stCondLst>
                                            <p:cond delay="0"/>
                                          </p:stCondLst>
                                        </p:cTn>
                                        <p:tgtEl>
                                          <p:spTgt spid="21"/>
                                        </p:tgtEl>
                                        <p:attrNameLst>
                                          <p:attrName>style.visibility</p:attrName>
                                        </p:attrNameLst>
                                      </p:cBhvr>
                                      <p:to>
                                        <p:strVal val="visible"/>
                                      </p:to>
                                    </p:set>
                                    <p:anim calcmode="lin" valueType="num">
                                      <p:cBhvr additive="base">
                                        <p:cTn id="65" dur="500" fill="hold"/>
                                        <p:tgtEl>
                                          <p:spTgt spid="21"/>
                                        </p:tgtEl>
                                        <p:attrNameLst>
                                          <p:attrName>ppt_x</p:attrName>
                                        </p:attrNameLst>
                                      </p:cBhvr>
                                      <p:tavLst>
                                        <p:tav tm="0">
                                          <p:val>
                                            <p:strVal val="#ppt_x"/>
                                          </p:val>
                                        </p:tav>
                                        <p:tav tm="100000">
                                          <p:val>
                                            <p:strVal val="#ppt_x"/>
                                          </p:val>
                                        </p:tav>
                                      </p:tavLst>
                                    </p:anim>
                                    <p:anim calcmode="lin" valueType="num">
                                      <p:cBhvr additive="base">
                                        <p:cTn id="66"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6" grpId="0"/>
      <p:bldP spid="17" grpId="0" animBg="1"/>
      <p:bldP spid="18" grpId="0"/>
      <p:bldP spid="20" grpId="0"/>
      <p:bldP spid="2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A02CA-F63B-4A84-986C-A613026628E2}"/>
              </a:ext>
            </a:extLst>
          </p:cNvPr>
          <p:cNvSpPr>
            <a:spLocks noGrp="1"/>
          </p:cNvSpPr>
          <p:nvPr>
            <p:ph type="title"/>
          </p:nvPr>
        </p:nvSpPr>
        <p:spPr>
          <a:xfrm>
            <a:off x="1704097" y="189760"/>
            <a:ext cx="9962147" cy="747333"/>
          </a:xfrm>
        </p:spPr>
        <p:txBody>
          <a:bodyPr>
            <a:noAutofit/>
          </a:bodyPr>
          <a:lstStyle/>
          <a:p>
            <a:r>
              <a:rPr lang="en-US" sz="6000" b="1" dirty="0">
                <a:solidFill>
                  <a:srgbClr val="0070C0"/>
                </a:solidFill>
              </a:rPr>
              <a:t>I2C </a:t>
            </a:r>
            <a:r>
              <a:rPr lang="en-US" sz="6000" b="1" dirty="0">
                <a:solidFill>
                  <a:srgbClr val="0070C0"/>
                </a:solidFill>
                <a:sym typeface="+mn-ea"/>
              </a:rPr>
              <a:t>(Inter-Integrated Circuit)</a:t>
            </a:r>
            <a:endParaRPr lang="en-US" sz="6000" b="1" dirty="0">
              <a:solidFill>
                <a:srgbClr val="002060"/>
              </a:solidFill>
            </a:endParaRPr>
          </a:p>
        </p:txBody>
      </p:sp>
      <p:sp>
        <p:nvSpPr>
          <p:cNvPr id="3" name="Content Placeholder 2">
            <a:extLst>
              <a:ext uri="{FF2B5EF4-FFF2-40B4-BE49-F238E27FC236}">
                <a16:creationId xmlns:a16="http://schemas.microsoft.com/office/drawing/2014/main" id="{B520C749-701D-413F-8F1E-60E9B660709D}"/>
              </a:ext>
            </a:extLst>
          </p:cNvPr>
          <p:cNvSpPr>
            <a:spLocks noGrp="1"/>
          </p:cNvSpPr>
          <p:nvPr>
            <p:ph idx="1"/>
          </p:nvPr>
        </p:nvSpPr>
        <p:spPr>
          <a:xfrm>
            <a:off x="224431" y="853967"/>
            <a:ext cx="16068513" cy="7109627"/>
          </a:xfrm>
        </p:spPr>
        <p:txBody>
          <a:bodyPr>
            <a:noAutofit/>
          </a:bodyPr>
          <a:lstStyle/>
          <a:p>
            <a:pPr>
              <a:lnSpc>
                <a:spcPct val="100000"/>
              </a:lnSpc>
              <a:spcBef>
                <a:spcPts val="0"/>
              </a:spcBef>
            </a:pPr>
            <a:r>
              <a:rPr lang="en-US" sz="3600" dirty="0"/>
              <a:t>I2C is another serial protocol for </a:t>
            </a:r>
            <a:r>
              <a:rPr lang="en-US" sz="3600" b="1" dirty="0">
                <a:solidFill>
                  <a:srgbClr val="FF0000"/>
                </a:solidFill>
              </a:rPr>
              <a:t>two-wire interface </a:t>
            </a:r>
            <a:r>
              <a:rPr lang="en-US" sz="3600" dirty="0"/>
              <a:t>to connect to </a:t>
            </a:r>
            <a:r>
              <a:rPr lang="en-US" sz="3600" b="1" dirty="0">
                <a:solidFill>
                  <a:srgbClr val="FF0000"/>
                </a:solidFill>
              </a:rPr>
              <a:t>low-speed devices</a:t>
            </a:r>
            <a:r>
              <a:rPr lang="en-US" sz="3600" b="1" dirty="0"/>
              <a:t> </a:t>
            </a:r>
            <a:r>
              <a:rPr lang="en-US" sz="3600" dirty="0"/>
              <a:t>like Micro-controller, EEPROMs, I/O Interfaces, and other similar devices used in embedded systems.</a:t>
            </a:r>
          </a:p>
          <a:p>
            <a:pPr>
              <a:lnSpc>
                <a:spcPct val="100000"/>
              </a:lnSpc>
              <a:spcBef>
                <a:spcPts val="0"/>
              </a:spcBef>
            </a:pPr>
            <a:r>
              <a:rPr lang="en-US" sz="3600" b="1" dirty="0">
                <a:solidFill>
                  <a:srgbClr val="FF0000"/>
                </a:solidFill>
              </a:rPr>
              <a:t>I2C is a bus </a:t>
            </a:r>
            <a:r>
              <a:rPr lang="en-US" sz="3600" dirty="0"/>
              <a:t>for communication between </a:t>
            </a:r>
            <a:r>
              <a:rPr lang="en-US" sz="3600" b="1" dirty="0"/>
              <a:t>a master (or can be multiple masters) and a single or multiple slave devices.</a:t>
            </a:r>
          </a:p>
          <a:p>
            <a:pPr>
              <a:lnSpc>
                <a:spcPct val="100000"/>
              </a:lnSpc>
              <a:spcBef>
                <a:spcPts val="0"/>
              </a:spcBef>
            </a:pPr>
            <a:r>
              <a:rPr lang="en-US" sz="3600" dirty="0"/>
              <a:t>I2C uses only </a:t>
            </a:r>
            <a:r>
              <a:rPr lang="en-US" sz="3600" b="1" dirty="0">
                <a:solidFill>
                  <a:srgbClr val="FF0000"/>
                </a:solidFill>
              </a:rPr>
              <a:t>two wires- </a:t>
            </a:r>
            <a:r>
              <a:rPr lang="en-US" sz="3600" b="1" dirty="0">
                <a:solidFill>
                  <a:srgbClr val="00B0F0"/>
                </a:solidFill>
              </a:rPr>
              <a:t>SCL (Serial Clock) and SDA (Serial Data)</a:t>
            </a:r>
            <a:r>
              <a:rPr lang="en-US" sz="3600" dirty="0"/>
              <a:t>.</a:t>
            </a:r>
          </a:p>
          <a:p>
            <a:pPr>
              <a:lnSpc>
                <a:spcPct val="100000"/>
              </a:lnSpc>
              <a:spcBef>
                <a:spcPts val="0"/>
              </a:spcBef>
            </a:pPr>
            <a:r>
              <a:rPr lang="en-US" sz="3600" b="1" dirty="0">
                <a:solidFill>
                  <a:srgbClr val="00B0F0"/>
                </a:solidFill>
              </a:rPr>
              <a:t>SCL (</a:t>
            </a:r>
            <a:r>
              <a:rPr lang="en-US" sz="3600" b="1" dirty="0">
                <a:solidFill>
                  <a:srgbClr val="00B0F0"/>
                </a:solidFill>
                <a:highlight>
                  <a:srgbClr val="FFFF00"/>
                </a:highlight>
              </a:rPr>
              <a:t>Serial Clock</a:t>
            </a:r>
            <a:r>
              <a:rPr lang="en-US" sz="3600" b="1" dirty="0">
                <a:solidFill>
                  <a:srgbClr val="00B0F0"/>
                </a:solidFill>
              </a:rPr>
              <a:t>): </a:t>
            </a:r>
            <a:r>
              <a:rPr lang="en-US" sz="3600" dirty="0">
                <a:highlight>
                  <a:srgbClr val="FFFF00"/>
                </a:highlight>
              </a:rPr>
              <a:t>The clock line used to </a:t>
            </a:r>
            <a:r>
              <a:rPr lang="en-US" sz="3600" b="1" dirty="0">
                <a:solidFill>
                  <a:srgbClr val="00B050"/>
                </a:solidFill>
                <a:highlight>
                  <a:srgbClr val="FFFF00"/>
                </a:highlight>
              </a:rPr>
              <a:t>synchronize all data transfers </a:t>
            </a:r>
            <a:r>
              <a:rPr lang="en-US" sz="3600" dirty="0">
                <a:highlight>
                  <a:srgbClr val="FFFF00"/>
                </a:highlight>
              </a:rPr>
              <a:t>over the I2C bus, the line over which </a:t>
            </a:r>
            <a:r>
              <a:rPr lang="en-US" sz="3600" dirty="0">
                <a:solidFill>
                  <a:srgbClr val="0070C0"/>
                </a:solidFill>
                <a:highlight>
                  <a:srgbClr val="FFFF00"/>
                </a:highlight>
              </a:rPr>
              <a:t>master device(s) generate the clock signa</a:t>
            </a:r>
            <a:r>
              <a:rPr lang="en-US" sz="3600" dirty="0">
                <a:highlight>
                  <a:srgbClr val="FFFF00"/>
                </a:highlight>
              </a:rPr>
              <a:t>l</a:t>
            </a:r>
            <a:r>
              <a:rPr lang="en-US" sz="3600" dirty="0"/>
              <a:t>.</a:t>
            </a:r>
          </a:p>
          <a:p>
            <a:pPr>
              <a:lnSpc>
                <a:spcPct val="100000"/>
              </a:lnSpc>
              <a:spcBef>
                <a:spcPts val="0"/>
              </a:spcBef>
            </a:pPr>
            <a:r>
              <a:rPr lang="en-US" sz="3600" b="1" dirty="0">
                <a:solidFill>
                  <a:srgbClr val="00B0F0"/>
                </a:solidFill>
              </a:rPr>
              <a:t>SDA (</a:t>
            </a:r>
            <a:r>
              <a:rPr lang="en-US" sz="3600" b="1" dirty="0">
                <a:solidFill>
                  <a:srgbClr val="00B0F0"/>
                </a:solidFill>
                <a:highlight>
                  <a:srgbClr val="FFFF00"/>
                </a:highlight>
              </a:rPr>
              <a:t>Serial Data</a:t>
            </a:r>
            <a:r>
              <a:rPr lang="en-US" sz="3600" b="1" dirty="0">
                <a:solidFill>
                  <a:srgbClr val="00B0F0"/>
                </a:solidFill>
              </a:rPr>
              <a:t>):</a:t>
            </a:r>
            <a:r>
              <a:rPr lang="en-US" sz="3600" b="1" dirty="0"/>
              <a:t> </a:t>
            </a:r>
            <a:r>
              <a:rPr lang="en-US" sz="3600" dirty="0">
                <a:highlight>
                  <a:srgbClr val="FFFF00"/>
                </a:highlight>
              </a:rPr>
              <a:t>The data line used to </a:t>
            </a:r>
            <a:r>
              <a:rPr lang="en-US" sz="3600" b="1" dirty="0">
                <a:solidFill>
                  <a:srgbClr val="00B050"/>
                </a:solidFill>
                <a:highlight>
                  <a:srgbClr val="FFFF00"/>
                </a:highlight>
              </a:rPr>
              <a:t>transmit the data </a:t>
            </a:r>
            <a:r>
              <a:rPr lang="en-US" sz="3600" dirty="0">
                <a:highlight>
                  <a:srgbClr val="FFFF00"/>
                </a:highlight>
              </a:rPr>
              <a:t>between devices, the line over which the </a:t>
            </a:r>
            <a:r>
              <a:rPr lang="en-US" sz="3600" dirty="0">
                <a:solidFill>
                  <a:srgbClr val="0070C0"/>
                </a:solidFill>
                <a:highlight>
                  <a:srgbClr val="FFFF00"/>
                </a:highlight>
              </a:rPr>
              <a:t>master and slave devices communicate serial data</a:t>
            </a:r>
          </a:p>
          <a:p>
            <a:pPr>
              <a:lnSpc>
                <a:spcPct val="100000"/>
              </a:lnSpc>
              <a:spcBef>
                <a:spcPts val="0"/>
              </a:spcBef>
            </a:pPr>
            <a:r>
              <a:rPr lang="en-US" sz="3600" dirty="0"/>
              <a:t>Each I2C Slave devices have a 7-bit/10-bit addressing.</a:t>
            </a:r>
          </a:p>
          <a:p>
            <a:pPr>
              <a:lnSpc>
                <a:spcPct val="100000"/>
              </a:lnSpc>
              <a:spcBef>
                <a:spcPts val="0"/>
              </a:spcBef>
            </a:pPr>
            <a:r>
              <a:rPr lang="en-US" sz="3600" dirty="0"/>
              <a:t>The </a:t>
            </a:r>
            <a:r>
              <a:rPr lang="en-US" sz="3600" dirty="0">
                <a:solidFill>
                  <a:srgbClr val="FF0000"/>
                </a:solidFill>
              </a:rPr>
              <a:t>data transfer rate depends on the clock frequency</a:t>
            </a:r>
            <a:r>
              <a:rPr lang="en-US" sz="3600" b="1" dirty="0"/>
              <a:t>. </a:t>
            </a:r>
            <a:r>
              <a:rPr lang="en-US" sz="3600" dirty="0"/>
              <a:t>In the </a:t>
            </a:r>
            <a:r>
              <a:rPr lang="en-US" sz="3600" b="1" u="sng" dirty="0">
                <a:solidFill>
                  <a:srgbClr val="00B050"/>
                </a:solidFill>
              </a:rPr>
              <a:t>standard mode</a:t>
            </a:r>
            <a:r>
              <a:rPr lang="en-US" sz="3600" b="1" dirty="0"/>
              <a:t>, </a:t>
            </a:r>
            <a:r>
              <a:rPr lang="en-US" sz="3600" dirty="0"/>
              <a:t>the clock frequency is </a:t>
            </a:r>
            <a:r>
              <a:rPr lang="en-US" sz="3600" dirty="0">
                <a:solidFill>
                  <a:srgbClr val="00B050"/>
                </a:solidFill>
              </a:rPr>
              <a:t>100-400 kHz with </a:t>
            </a:r>
            <a:r>
              <a:rPr lang="en-US" sz="3600" b="1" u="sng" dirty="0">
                <a:solidFill>
                  <a:srgbClr val="00B050"/>
                </a:solidFill>
              </a:rPr>
              <a:t>7 bit addressing </a:t>
            </a:r>
            <a:r>
              <a:rPr lang="en-US" sz="3600" dirty="0"/>
              <a:t>and </a:t>
            </a:r>
            <a:r>
              <a:rPr lang="en-US" sz="3600" dirty="0">
                <a:solidFill>
                  <a:srgbClr val="00B050"/>
                </a:solidFill>
              </a:rPr>
              <a:t>data transfer of 100 kbps</a:t>
            </a:r>
            <a:r>
              <a:rPr lang="en-US" sz="3600" dirty="0"/>
              <a:t>.</a:t>
            </a:r>
          </a:p>
        </p:txBody>
      </p:sp>
      <p:sp>
        <p:nvSpPr>
          <p:cNvPr id="4" name="Date Placeholder 3"/>
          <p:cNvSpPr>
            <a:spLocks noGrp="1"/>
          </p:cNvSpPr>
          <p:nvPr>
            <p:ph type="dt" sz="half" idx="10"/>
          </p:nvPr>
        </p:nvSpPr>
        <p:spPr/>
        <p:txBody>
          <a:bodyPr/>
          <a:lstStyle/>
          <a:p>
            <a:fld id="{0ED04289-A90E-411A-A4F2-A70AC3C225B3}" type="datetime3">
              <a:rPr lang="en-US" smtClean="0"/>
              <a:t>3 December 2025</a:t>
            </a:fld>
            <a:endParaRPr lang="en-US" dirty="0"/>
          </a:p>
        </p:txBody>
      </p:sp>
      <p:sp>
        <p:nvSpPr>
          <p:cNvPr id="6" name="Slide Number Placeholder 5"/>
          <p:cNvSpPr>
            <a:spLocks noGrp="1"/>
          </p:cNvSpPr>
          <p:nvPr>
            <p:ph type="sldNum" sz="quarter" idx="12"/>
          </p:nvPr>
        </p:nvSpPr>
        <p:spPr/>
        <p:txBody>
          <a:bodyPr/>
          <a:lstStyle/>
          <a:p>
            <a:fld id="{90416D69-EFB9-4734-9DF5-4234A5F1A98A}" type="slidenum">
              <a:rPr lang="en-US" smtClean="0"/>
              <a:t>37</a:t>
            </a:fld>
            <a:endParaRPr lang="en-US"/>
          </a:p>
        </p:txBody>
      </p:sp>
    </p:spTree>
    <p:extLst>
      <p:ext uri="{BB962C8B-B14F-4D97-AF65-F5344CB8AC3E}">
        <p14:creationId xmlns:p14="http://schemas.microsoft.com/office/powerpoint/2010/main" val="244697596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6513" y="285361"/>
            <a:ext cx="9962147" cy="961968"/>
          </a:xfrm>
        </p:spPr>
        <p:txBody>
          <a:bodyPr>
            <a:normAutofit/>
          </a:bodyPr>
          <a:lstStyle/>
          <a:p>
            <a:r>
              <a:rPr lang="en-US" sz="6000" b="1" dirty="0">
                <a:solidFill>
                  <a:srgbClr val="0070C0"/>
                </a:solidFill>
              </a:rPr>
              <a:t>I2C Addresses</a:t>
            </a:r>
          </a:p>
        </p:txBody>
      </p:sp>
      <p:sp>
        <p:nvSpPr>
          <p:cNvPr id="3" name="Content Placeholder 2"/>
          <p:cNvSpPr>
            <a:spLocks noGrp="1"/>
          </p:cNvSpPr>
          <p:nvPr>
            <p:ph idx="1"/>
          </p:nvPr>
        </p:nvSpPr>
        <p:spPr>
          <a:xfrm>
            <a:off x="230346" y="1147578"/>
            <a:ext cx="16012723" cy="6772055"/>
          </a:xfrm>
        </p:spPr>
        <p:txBody>
          <a:bodyPr>
            <a:noAutofit/>
          </a:bodyPr>
          <a:lstStyle/>
          <a:p>
            <a:pPr>
              <a:lnSpc>
                <a:spcPct val="100000"/>
              </a:lnSpc>
              <a:spcBef>
                <a:spcPts val="0"/>
              </a:spcBef>
            </a:pPr>
            <a:r>
              <a:rPr lang="en-US" sz="3600" dirty="0">
                <a:solidFill>
                  <a:srgbClr val="FF0000"/>
                </a:solidFill>
              </a:rPr>
              <a:t>The clock frequencies for the following three modes are with </a:t>
            </a:r>
            <a:r>
              <a:rPr lang="en-US" sz="3600" b="1" u="sng" dirty="0">
                <a:solidFill>
                  <a:srgbClr val="FF0000"/>
                </a:solidFill>
              </a:rPr>
              <a:t>10-bit addressing</a:t>
            </a:r>
            <a:r>
              <a:rPr lang="en-US" sz="3600" dirty="0">
                <a:solidFill>
                  <a:srgbClr val="FF0000"/>
                </a:solidFill>
              </a:rPr>
              <a:t>:</a:t>
            </a:r>
          </a:p>
          <a:p>
            <a:pPr lvl="2">
              <a:lnSpc>
                <a:spcPct val="100000"/>
              </a:lnSpc>
              <a:spcBef>
                <a:spcPts val="0"/>
              </a:spcBef>
              <a:buFont typeface="Wingdings" panose="05000000000000000000" pitchFamily="2" charset="2"/>
              <a:buChar char="§"/>
            </a:pPr>
            <a:r>
              <a:rPr lang="en-US" sz="3600" dirty="0"/>
              <a:t>1 MHz in </a:t>
            </a:r>
            <a:r>
              <a:rPr lang="en-US" sz="3600" dirty="0">
                <a:solidFill>
                  <a:srgbClr val="00B050"/>
                </a:solidFill>
              </a:rPr>
              <a:t>fast mode I2C (data rate 400 kbps)</a:t>
            </a:r>
          </a:p>
          <a:p>
            <a:pPr lvl="2">
              <a:lnSpc>
                <a:spcPct val="100000"/>
              </a:lnSpc>
              <a:spcBef>
                <a:spcPts val="0"/>
              </a:spcBef>
              <a:buFont typeface="Wingdings" panose="05000000000000000000" pitchFamily="2" charset="2"/>
              <a:buChar char="§"/>
            </a:pPr>
            <a:r>
              <a:rPr lang="en-US" sz="3600" dirty="0"/>
              <a:t>3.4 MHz in </a:t>
            </a:r>
            <a:r>
              <a:rPr lang="en-US" sz="3600" dirty="0">
                <a:solidFill>
                  <a:srgbClr val="00B050"/>
                </a:solidFill>
              </a:rPr>
              <a:t>high-speed mode (data rate 1 Mbps)</a:t>
            </a:r>
          </a:p>
          <a:p>
            <a:pPr lvl="2">
              <a:lnSpc>
                <a:spcPct val="100000"/>
              </a:lnSpc>
              <a:spcBef>
                <a:spcPts val="0"/>
              </a:spcBef>
              <a:spcAft>
                <a:spcPts val="600"/>
              </a:spcAft>
              <a:buFont typeface="Wingdings" panose="05000000000000000000" pitchFamily="2" charset="2"/>
              <a:buChar char="§"/>
            </a:pPr>
            <a:r>
              <a:rPr lang="en-US" sz="3600" dirty="0"/>
              <a:t>5 MHz in </a:t>
            </a:r>
            <a:r>
              <a:rPr lang="en-US" sz="3600" dirty="0">
                <a:solidFill>
                  <a:srgbClr val="00B050"/>
                </a:solidFill>
              </a:rPr>
              <a:t>ultra-fast mode (data rate 3.4 Mbps)</a:t>
            </a:r>
          </a:p>
          <a:p>
            <a:pPr>
              <a:spcBef>
                <a:spcPts val="0"/>
              </a:spcBef>
              <a:spcAft>
                <a:spcPts val="600"/>
              </a:spcAft>
            </a:pPr>
            <a:r>
              <a:rPr lang="en-US" sz="3600" b="1" dirty="0">
                <a:solidFill>
                  <a:srgbClr val="0070C0"/>
                </a:solidFill>
              </a:rPr>
              <a:t>Addresses need to be unique </a:t>
            </a:r>
            <a:r>
              <a:rPr lang="en-US" sz="3600" dirty="0"/>
              <a:t>on the bus to determine the slave that were to transmit the data.</a:t>
            </a:r>
          </a:p>
          <a:p>
            <a:pPr>
              <a:spcBef>
                <a:spcPts val="0"/>
              </a:spcBef>
              <a:spcAft>
                <a:spcPts val="600"/>
              </a:spcAft>
            </a:pPr>
            <a:r>
              <a:rPr lang="en-US" sz="3600" dirty="0"/>
              <a:t>The </a:t>
            </a:r>
            <a:r>
              <a:rPr lang="en-US" sz="3600" b="1" dirty="0">
                <a:solidFill>
                  <a:srgbClr val="00B050"/>
                </a:solidFill>
              </a:rPr>
              <a:t>master device needs no address </a:t>
            </a:r>
            <a:r>
              <a:rPr lang="en-US" sz="3600" dirty="0"/>
              <a:t>since it generates the clock (using SCL) and addresses individual I2C Slave devices. </a:t>
            </a:r>
          </a:p>
          <a:p>
            <a:pPr>
              <a:spcBef>
                <a:spcPts val="0"/>
              </a:spcBef>
              <a:spcAft>
                <a:spcPts val="600"/>
              </a:spcAft>
            </a:pPr>
            <a:r>
              <a:rPr lang="en-US" sz="3600" dirty="0"/>
              <a:t>The </a:t>
            </a:r>
            <a:r>
              <a:rPr lang="en-US" sz="3600" b="1" dirty="0">
                <a:solidFill>
                  <a:srgbClr val="FF0000"/>
                </a:solidFill>
              </a:rPr>
              <a:t>maximum number of Slave devices </a:t>
            </a:r>
            <a:r>
              <a:rPr lang="en-US" sz="3600" dirty="0"/>
              <a:t>that can be used while using </a:t>
            </a:r>
            <a:r>
              <a:rPr lang="en-US" sz="3600" b="1" dirty="0">
                <a:solidFill>
                  <a:srgbClr val="FF0000"/>
                </a:solidFill>
              </a:rPr>
              <a:t>7-bit addressing are 112 devices </a:t>
            </a:r>
            <a:r>
              <a:rPr lang="en-US" sz="3600" dirty="0">
                <a:solidFill>
                  <a:srgbClr val="FF0000"/>
                </a:solidFill>
              </a:rPr>
              <a:t>The I2C specification has reserved 2 sets of 8 addresses, 1111XXX and 0000XXX. </a:t>
            </a:r>
            <a:r>
              <a:rPr lang="en-US" sz="3600" dirty="0"/>
              <a:t>and the maximum number of Slave devices used in </a:t>
            </a:r>
            <a:r>
              <a:rPr lang="en-US" sz="3600" b="1" dirty="0">
                <a:solidFill>
                  <a:srgbClr val="00B0F0"/>
                </a:solidFill>
              </a:rPr>
              <a:t>10-bit addressing are 1008 devices. The remaining 16 are reserved.</a:t>
            </a:r>
          </a:p>
        </p:txBody>
      </p:sp>
      <p:sp>
        <p:nvSpPr>
          <p:cNvPr id="4" name="Date Placeholder 3"/>
          <p:cNvSpPr>
            <a:spLocks noGrp="1"/>
          </p:cNvSpPr>
          <p:nvPr>
            <p:ph type="dt" sz="half" idx="10"/>
          </p:nvPr>
        </p:nvSpPr>
        <p:spPr/>
        <p:txBody>
          <a:bodyPr/>
          <a:lstStyle/>
          <a:p>
            <a:fld id="{3EC96BB9-670C-463C-8F8C-01CA3C3D5897}" type="datetime3">
              <a:rPr lang="en-US" smtClean="0"/>
              <a:t>3 December 2025</a:t>
            </a:fld>
            <a:endParaRPr lang="en-US"/>
          </a:p>
        </p:txBody>
      </p:sp>
      <p:sp>
        <p:nvSpPr>
          <p:cNvPr id="6" name="Slide Number Placeholder 5"/>
          <p:cNvSpPr>
            <a:spLocks noGrp="1"/>
          </p:cNvSpPr>
          <p:nvPr>
            <p:ph type="sldNum" sz="quarter" idx="12"/>
          </p:nvPr>
        </p:nvSpPr>
        <p:spPr/>
        <p:txBody>
          <a:bodyPr/>
          <a:lstStyle/>
          <a:p>
            <a:fld id="{90416D69-EFB9-4734-9DF5-4234A5F1A98A}" type="slidenum">
              <a:rPr lang="en-US" smtClean="0"/>
              <a:t>38</a:t>
            </a:fld>
            <a:endParaRPr lang="en-US"/>
          </a:p>
        </p:txBody>
      </p:sp>
      <p:sp>
        <p:nvSpPr>
          <p:cNvPr id="7" name="TextBox 6"/>
          <p:cNvSpPr txBox="1"/>
          <p:nvPr/>
        </p:nvSpPr>
        <p:spPr>
          <a:xfrm>
            <a:off x="11837324" y="1708749"/>
            <a:ext cx="4089862" cy="1650206"/>
          </a:xfrm>
          <a:prstGeom prst="upArrowCallout">
            <a:avLst>
              <a:gd name="adj1" fmla="val 20970"/>
              <a:gd name="adj2" fmla="val 19963"/>
              <a:gd name="adj3" fmla="val 25000"/>
              <a:gd name="adj4" fmla="val 64977"/>
            </a:avLst>
          </a:prstGeom>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r>
              <a:rPr lang="en-US" sz="3200" b="1" dirty="0">
                <a:ln w="13462">
                  <a:solidFill>
                    <a:schemeClr val="bg1"/>
                  </a:solidFill>
                  <a:prstDash val="solid"/>
                </a:ln>
                <a:solidFill>
                  <a:srgbClr val="00B050"/>
                </a:solidFill>
                <a:effectLst>
                  <a:outerShdw dist="38100" dir="2700000" algn="bl" rotWithShape="0">
                    <a:schemeClr val="accent5"/>
                  </a:outerShdw>
                </a:effectLst>
              </a:rPr>
              <a:t>Extension to standard mode I2C</a:t>
            </a:r>
          </a:p>
        </p:txBody>
      </p:sp>
    </p:spTree>
    <p:extLst>
      <p:ext uri="{BB962C8B-B14F-4D97-AF65-F5344CB8AC3E}">
        <p14:creationId xmlns:p14="http://schemas.microsoft.com/office/powerpoint/2010/main" val="14106822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30029" y="174886"/>
            <a:ext cx="9962147" cy="912940"/>
          </a:xfrm>
        </p:spPr>
        <p:txBody>
          <a:bodyPr>
            <a:noAutofit/>
          </a:bodyPr>
          <a:lstStyle/>
          <a:p>
            <a:r>
              <a:rPr lang="en-US" sz="6000" b="1" dirty="0">
                <a:solidFill>
                  <a:srgbClr val="0070C0"/>
                </a:solidFill>
              </a:rPr>
              <a:t>Working of I2C in </a:t>
            </a:r>
            <a:r>
              <a:rPr lang="en-US" sz="6000" b="1" dirty="0" err="1">
                <a:solidFill>
                  <a:srgbClr val="0070C0"/>
                </a:solidFill>
              </a:rPr>
              <a:t>Arduino</a:t>
            </a:r>
            <a:endParaRPr lang="en-US" sz="6000" b="1" dirty="0">
              <a:solidFill>
                <a:srgbClr val="0070C0"/>
              </a:solidFill>
            </a:endParaRPr>
          </a:p>
        </p:txBody>
      </p:sp>
      <p:sp>
        <p:nvSpPr>
          <p:cNvPr id="3" name="Content Placeholder 2"/>
          <p:cNvSpPr>
            <a:spLocks noGrp="1"/>
          </p:cNvSpPr>
          <p:nvPr>
            <p:ph idx="1"/>
          </p:nvPr>
        </p:nvSpPr>
        <p:spPr>
          <a:xfrm>
            <a:off x="241056" y="1087826"/>
            <a:ext cx="16035263" cy="6831808"/>
          </a:xfrm>
        </p:spPr>
        <p:txBody>
          <a:bodyPr>
            <a:noAutofit/>
          </a:bodyPr>
          <a:lstStyle/>
          <a:p>
            <a:pPr>
              <a:lnSpc>
                <a:spcPct val="100000"/>
              </a:lnSpc>
              <a:spcBef>
                <a:spcPts val="0"/>
              </a:spcBef>
            </a:pPr>
            <a:r>
              <a:rPr lang="en-US" sz="3200" dirty="0"/>
              <a:t>The I2C is a </a:t>
            </a:r>
            <a:r>
              <a:rPr lang="en-US" sz="3200" b="1" dirty="0">
                <a:solidFill>
                  <a:srgbClr val="0070C0"/>
                </a:solidFill>
              </a:rPr>
              <a:t>half-duplex type of communication</a:t>
            </a:r>
            <a:r>
              <a:rPr lang="en-US" sz="3200" dirty="0"/>
              <a:t>. A master (controller) device can only read or write data to the slave (peripheral) at a time. All operations are controlled by master device(s). </a:t>
            </a:r>
          </a:p>
          <a:p>
            <a:pPr>
              <a:lnSpc>
                <a:spcPct val="100000"/>
              </a:lnSpc>
              <a:spcBef>
                <a:spcPts val="0"/>
              </a:spcBef>
            </a:pPr>
            <a:r>
              <a:rPr lang="en-US" sz="3200" dirty="0"/>
              <a:t>In I2C data transfer occurs in </a:t>
            </a:r>
            <a:r>
              <a:rPr lang="en-US" sz="3200" dirty="0">
                <a:solidFill>
                  <a:srgbClr val="0070C0"/>
                </a:solidFill>
              </a:rPr>
              <a:t>Message Frames </a:t>
            </a:r>
            <a:r>
              <a:rPr lang="en-US" sz="3200" dirty="0"/>
              <a:t>which are then divided into </a:t>
            </a:r>
            <a:r>
              <a:rPr lang="en-US" sz="3200" dirty="0">
                <a:solidFill>
                  <a:srgbClr val="00B050"/>
                </a:solidFill>
              </a:rPr>
              <a:t>Frames of Data</a:t>
            </a:r>
            <a:r>
              <a:rPr lang="en-US" sz="3200" dirty="0"/>
              <a:t>. A message contains the various number of Frames in which one frame contain the address of the slave, and remaining frames for data to be transmitted.</a:t>
            </a:r>
          </a:p>
          <a:p>
            <a:pPr>
              <a:lnSpc>
                <a:spcPct val="100000"/>
              </a:lnSpc>
              <a:spcBef>
                <a:spcPts val="0"/>
              </a:spcBef>
            </a:pPr>
            <a:r>
              <a:rPr lang="en-US" sz="3200" dirty="0"/>
              <a:t>In the I2C protocol, writing to and reading from the target (peripheral/slave) device requires the use of an I2C address. The I2C address identifies which device the controller (master) wants to communicate with. Typically, this address is written over a single byte, where the address itself is 7 bits, and an eighth additional bit is used to indicate a read from or write to the device.</a:t>
            </a:r>
          </a:p>
          <a:p>
            <a:pPr>
              <a:lnSpc>
                <a:spcPct val="100000"/>
              </a:lnSpc>
              <a:spcBef>
                <a:spcPts val="0"/>
              </a:spcBef>
            </a:pPr>
            <a:r>
              <a:rPr lang="en-US" sz="3200" dirty="0"/>
              <a:t>The </a:t>
            </a:r>
            <a:r>
              <a:rPr lang="en-US" sz="3200" dirty="0">
                <a:solidFill>
                  <a:srgbClr val="0070C0"/>
                </a:solidFill>
              </a:rPr>
              <a:t>message includes </a:t>
            </a:r>
            <a:r>
              <a:rPr lang="en-US" sz="3200" dirty="0"/>
              <a:t>START/STOP Conditions, READ/WRITE Bits, Address Bits, ACK/NACK (Acknowledgement/No-acknowledgement) Bits, and Data Bits between each </a:t>
            </a:r>
            <a:r>
              <a:rPr lang="en-US" sz="3200" dirty="0">
                <a:solidFill>
                  <a:srgbClr val="00B050"/>
                </a:solidFill>
              </a:rPr>
              <a:t>Frame of Data</a:t>
            </a:r>
            <a:r>
              <a:rPr lang="en-US" sz="3200" dirty="0"/>
              <a:t>.</a:t>
            </a:r>
          </a:p>
          <a:p>
            <a:pPr>
              <a:lnSpc>
                <a:spcPct val="100000"/>
              </a:lnSpc>
              <a:spcBef>
                <a:spcPts val="0"/>
              </a:spcBef>
            </a:pPr>
            <a:r>
              <a:rPr lang="en-US" sz="3200" dirty="0"/>
              <a:t>Working sequence described in the following slides:</a:t>
            </a:r>
          </a:p>
        </p:txBody>
      </p:sp>
      <p:sp>
        <p:nvSpPr>
          <p:cNvPr id="4" name="Date Placeholder 3"/>
          <p:cNvSpPr>
            <a:spLocks noGrp="1"/>
          </p:cNvSpPr>
          <p:nvPr>
            <p:ph type="dt" sz="half" idx="10"/>
          </p:nvPr>
        </p:nvSpPr>
        <p:spPr/>
        <p:txBody>
          <a:bodyPr/>
          <a:lstStyle/>
          <a:p>
            <a:fld id="{BB0F80B2-7843-48CA-8494-31AFDA2A73A5}" type="datetime3">
              <a:rPr lang="en-US" smtClean="0"/>
              <a:t>3 December 2025</a:t>
            </a:fld>
            <a:endParaRPr lang="en-US" dirty="0"/>
          </a:p>
        </p:txBody>
      </p:sp>
      <p:sp>
        <p:nvSpPr>
          <p:cNvPr id="6" name="Slide Number Placeholder 5"/>
          <p:cNvSpPr>
            <a:spLocks noGrp="1"/>
          </p:cNvSpPr>
          <p:nvPr>
            <p:ph type="sldNum" sz="quarter" idx="12"/>
          </p:nvPr>
        </p:nvSpPr>
        <p:spPr/>
        <p:txBody>
          <a:bodyPr/>
          <a:lstStyle/>
          <a:p>
            <a:fld id="{90416D69-EFB9-4734-9DF5-4234A5F1A98A}" type="slidenum">
              <a:rPr lang="en-US" smtClean="0"/>
              <a:t>39</a:t>
            </a:fld>
            <a:endParaRPr lang="en-US"/>
          </a:p>
        </p:txBody>
      </p:sp>
    </p:spTree>
    <p:extLst>
      <p:ext uri="{BB962C8B-B14F-4D97-AF65-F5344CB8AC3E}">
        <p14:creationId xmlns:p14="http://schemas.microsoft.com/office/powerpoint/2010/main" val="129175435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6901" y="174887"/>
            <a:ext cx="9962147" cy="912940"/>
          </a:xfrm>
        </p:spPr>
        <p:txBody>
          <a:bodyPr>
            <a:noAutofit/>
          </a:bodyPr>
          <a:lstStyle/>
          <a:p>
            <a:r>
              <a:rPr lang="en-US" sz="6000" b="1" dirty="0">
                <a:solidFill>
                  <a:srgbClr val="0070C0"/>
                </a:solidFill>
              </a:rPr>
              <a:t>Working of I2C in </a:t>
            </a:r>
            <a:r>
              <a:rPr lang="en-US" sz="6000" b="1" dirty="0" err="1">
                <a:solidFill>
                  <a:srgbClr val="0070C0"/>
                </a:solidFill>
              </a:rPr>
              <a:t>Arduino</a:t>
            </a:r>
            <a:endParaRPr lang="en-US" sz="6000" b="1" dirty="0">
              <a:solidFill>
                <a:srgbClr val="0070C0"/>
              </a:solidFill>
            </a:endParaRPr>
          </a:p>
        </p:txBody>
      </p:sp>
      <p:sp>
        <p:nvSpPr>
          <p:cNvPr id="3" name="Content Placeholder 2"/>
          <p:cNvSpPr>
            <a:spLocks noGrp="1"/>
          </p:cNvSpPr>
          <p:nvPr>
            <p:ph idx="1"/>
          </p:nvPr>
        </p:nvSpPr>
        <p:spPr>
          <a:xfrm>
            <a:off x="224432" y="977900"/>
            <a:ext cx="16002012" cy="6836987"/>
          </a:xfrm>
        </p:spPr>
        <p:txBody>
          <a:bodyPr>
            <a:noAutofit/>
          </a:bodyPr>
          <a:lstStyle/>
          <a:p>
            <a:pPr>
              <a:lnSpc>
                <a:spcPct val="100000"/>
              </a:lnSpc>
              <a:spcBef>
                <a:spcPts val="0"/>
              </a:spcBef>
            </a:pPr>
            <a:r>
              <a:rPr lang="en-US" sz="3200" b="1" u="sng" dirty="0">
                <a:solidFill>
                  <a:srgbClr val="00B050"/>
                </a:solidFill>
              </a:rPr>
              <a:t>Start Condition:</a:t>
            </a:r>
            <a:r>
              <a:rPr lang="en-US" sz="3200" dirty="0">
                <a:solidFill>
                  <a:srgbClr val="00B050"/>
                </a:solidFill>
              </a:rPr>
              <a:t> </a:t>
            </a:r>
            <a:r>
              <a:rPr lang="en-US" sz="3200" dirty="0"/>
              <a:t>The SDA line switches from </a:t>
            </a:r>
            <a:r>
              <a:rPr lang="en-US" sz="3200" b="1" dirty="0">
                <a:solidFill>
                  <a:srgbClr val="00B050"/>
                </a:solidFill>
              </a:rPr>
              <a:t>high to low </a:t>
            </a:r>
            <a:r>
              <a:rPr lang="en-US" sz="3200" dirty="0"/>
              <a:t>voltage level before SCL switches from </a:t>
            </a:r>
            <a:r>
              <a:rPr lang="en-US" sz="3200" b="1" dirty="0">
                <a:solidFill>
                  <a:srgbClr val="00B050"/>
                </a:solidFill>
              </a:rPr>
              <a:t>high to low</a:t>
            </a:r>
            <a:r>
              <a:rPr lang="en-US" sz="3200" dirty="0"/>
              <a:t>.</a:t>
            </a:r>
          </a:p>
          <a:p>
            <a:pPr>
              <a:lnSpc>
                <a:spcPct val="100000"/>
              </a:lnSpc>
              <a:spcBef>
                <a:spcPts val="0"/>
              </a:spcBef>
            </a:pPr>
            <a:r>
              <a:rPr lang="en-US" sz="3200" b="1" u="sng" dirty="0">
                <a:solidFill>
                  <a:srgbClr val="FF0000"/>
                </a:solidFill>
              </a:rPr>
              <a:t>Stop Condition:</a:t>
            </a:r>
            <a:r>
              <a:rPr lang="en-US" sz="3200" dirty="0">
                <a:solidFill>
                  <a:srgbClr val="FF0000"/>
                </a:solidFill>
              </a:rPr>
              <a:t> </a:t>
            </a:r>
            <a:r>
              <a:rPr lang="en-US" sz="3200" dirty="0"/>
              <a:t>The SDA line switches from</a:t>
            </a:r>
            <a:r>
              <a:rPr lang="en-US" sz="3200" b="1" dirty="0"/>
              <a:t> </a:t>
            </a:r>
            <a:r>
              <a:rPr lang="en-US" sz="3200" b="1" dirty="0">
                <a:solidFill>
                  <a:srgbClr val="FF0000"/>
                </a:solidFill>
              </a:rPr>
              <a:t>low to high </a:t>
            </a:r>
            <a:r>
              <a:rPr lang="en-US" sz="3200" dirty="0"/>
              <a:t>voltage level after SCL switches from </a:t>
            </a:r>
            <a:r>
              <a:rPr lang="en-US" sz="3200" b="1" dirty="0">
                <a:solidFill>
                  <a:srgbClr val="FF0000"/>
                </a:solidFill>
              </a:rPr>
              <a:t>low to high</a:t>
            </a:r>
            <a:r>
              <a:rPr lang="en-US" sz="3200" dirty="0"/>
              <a:t>. </a:t>
            </a:r>
          </a:p>
          <a:p>
            <a:pPr>
              <a:lnSpc>
                <a:spcPct val="100000"/>
              </a:lnSpc>
              <a:spcBef>
                <a:spcPts val="0"/>
              </a:spcBef>
            </a:pPr>
            <a:r>
              <a:rPr lang="en-US" sz="3200" b="1" u="sng" dirty="0"/>
              <a:t>Address Frame:</a:t>
            </a:r>
            <a:r>
              <a:rPr lang="en-US" sz="3200" dirty="0"/>
              <a:t> </a:t>
            </a:r>
            <a:r>
              <a:rPr lang="en-US" sz="3200" dirty="0">
                <a:solidFill>
                  <a:srgbClr val="FF0000"/>
                </a:solidFill>
              </a:rPr>
              <a:t>7 or 10-bit sequence </a:t>
            </a:r>
            <a:r>
              <a:rPr lang="en-US" sz="3200" dirty="0"/>
              <a:t>unique to each slave that identifies the slave when the master wants to talk.</a:t>
            </a:r>
          </a:p>
          <a:p>
            <a:pPr algn="just">
              <a:lnSpc>
                <a:spcPct val="100000"/>
              </a:lnSpc>
              <a:spcBef>
                <a:spcPts val="0"/>
              </a:spcBef>
              <a:spcAft>
                <a:spcPts val="1137"/>
              </a:spcAft>
            </a:pPr>
            <a:r>
              <a:rPr lang="en-US" sz="3200" b="1" u="sng" dirty="0"/>
              <a:t>Read/Write Bit:</a:t>
            </a:r>
            <a:r>
              <a:rPr lang="en-US" sz="3200" dirty="0"/>
              <a:t> </a:t>
            </a:r>
            <a:r>
              <a:rPr lang="en-US" sz="3200" dirty="0">
                <a:solidFill>
                  <a:srgbClr val="FF0000"/>
                </a:solidFill>
              </a:rPr>
              <a:t>A bit specifying </a:t>
            </a:r>
            <a:r>
              <a:rPr lang="en-US" sz="3200" dirty="0"/>
              <a:t>whether the </a:t>
            </a:r>
            <a:r>
              <a:rPr lang="en-US" sz="3200" b="1" dirty="0"/>
              <a:t>master is sending data to the slave or requesting data </a:t>
            </a:r>
            <a:r>
              <a:rPr lang="en-US" sz="3200" dirty="0"/>
              <a:t>from it.</a:t>
            </a:r>
          </a:p>
          <a:p>
            <a:pPr algn="just">
              <a:lnSpc>
                <a:spcPct val="100000"/>
              </a:lnSpc>
              <a:spcBef>
                <a:spcPts val="0"/>
              </a:spcBef>
              <a:spcAft>
                <a:spcPts val="1137"/>
              </a:spcAft>
            </a:pPr>
            <a:r>
              <a:rPr lang="en-US" sz="3200" b="1" u="sng" dirty="0"/>
              <a:t>ACK/NACK Bit:</a:t>
            </a:r>
            <a:r>
              <a:rPr lang="en-US" sz="3200" dirty="0"/>
              <a:t> </a:t>
            </a:r>
            <a:r>
              <a:rPr lang="en-US" sz="3200" dirty="0">
                <a:solidFill>
                  <a:srgbClr val="FF0000"/>
                </a:solidFill>
              </a:rPr>
              <a:t>Each frame </a:t>
            </a:r>
            <a:r>
              <a:rPr lang="en-US" sz="3200" dirty="0"/>
              <a:t>in a message </a:t>
            </a:r>
            <a:r>
              <a:rPr lang="en-US" sz="3200" dirty="0">
                <a:solidFill>
                  <a:srgbClr val="FF0000"/>
                </a:solidFill>
              </a:rPr>
              <a:t>follows an ACK/NACK Bit</a:t>
            </a:r>
            <a:r>
              <a:rPr lang="en-US" sz="3200" dirty="0"/>
              <a:t>.</a:t>
            </a:r>
          </a:p>
          <a:p>
            <a:pPr algn="just">
              <a:lnSpc>
                <a:spcPct val="100000"/>
              </a:lnSpc>
              <a:spcBef>
                <a:spcPts val="0"/>
              </a:spcBef>
              <a:spcAft>
                <a:spcPts val="1137"/>
              </a:spcAft>
              <a:buFont typeface="Wingdings" panose="05000000000000000000" pitchFamily="2" charset="2"/>
              <a:buChar char="q"/>
            </a:pPr>
            <a:r>
              <a:rPr lang="en-US" sz="3200" dirty="0"/>
              <a:t> </a:t>
            </a:r>
            <a:r>
              <a:rPr lang="en-US" sz="3200" b="1" u="sng" dirty="0">
                <a:solidFill>
                  <a:srgbClr val="00B050"/>
                </a:solidFill>
              </a:rPr>
              <a:t>7-bit Addressing:</a:t>
            </a:r>
          </a:p>
          <a:p>
            <a:pPr algn="just">
              <a:lnSpc>
                <a:spcPct val="100000"/>
              </a:lnSpc>
              <a:spcBef>
                <a:spcPts val="0"/>
              </a:spcBef>
              <a:spcAft>
                <a:spcPts val="1137"/>
              </a:spcAft>
            </a:pPr>
            <a:r>
              <a:rPr lang="en-US" sz="3200" dirty="0"/>
              <a:t>In 7-bit addressing procedure, the slave address is transferred in the first byte after the Start condition. The </a:t>
            </a:r>
            <a:r>
              <a:rPr lang="en-US" sz="3200" b="1" dirty="0">
                <a:solidFill>
                  <a:srgbClr val="FF0000"/>
                </a:solidFill>
              </a:rPr>
              <a:t>first seven bits </a:t>
            </a:r>
            <a:r>
              <a:rPr lang="en-US" sz="3200" dirty="0"/>
              <a:t>of the byte comprise the </a:t>
            </a:r>
            <a:r>
              <a:rPr lang="en-US" sz="3200" b="1" dirty="0">
                <a:solidFill>
                  <a:srgbClr val="FF0000"/>
                </a:solidFill>
              </a:rPr>
              <a:t>slave address</a:t>
            </a:r>
            <a:r>
              <a:rPr lang="en-US" sz="3200" dirty="0"/>
              <a:t>. The </a:t>
            </a:r>
            <a:r>
              <a:rPr lang="en-US" sz="3200" b="1" dirty="0">
                <a:solidFill>
                  <a:srgbClr val="FF0000"/>
                </a:solidFill>
              </a:rPr>
              <a:t>eighth bit is the read/write flag </a:t>
            </a:r>
            <a:r>
              <a:rPr lang="en-US" sz="3200" dirty="0"/>
              <a:t>where </a:t>
            </a:r>
            <a:r>
              <a:rPr lang="en-US" sz="3200" dirty="0">
                <a:solidFill>
                  <a:srgbClr val="FF0000"/>
                </a:solidFill>
              </a:rPr>
              <a:t>0</a:t>
            </a:r>
            <a:r>
              <a:rPr lang="en-US" sz="3200" dirty="0"/>
              <a:t> indicates a </a:t>
            </a:r>
            <a:r>
              <a:rPr lang="en-US" sz="3200" dirty="0">
                <a:solidFill>
                  <a:srgbClr val="FF0000"/>
                </a:solidFill>
              </a:rPr>
              <a:t>write</a:t>
            </a:r>
            <a:r>
              <a:rPr lang="en-US" sz="3200" dirty="0"/>
              <a:t> and </a:t>
            </a:r>
            <a:r>
              <a:rPr lang="en-US" sz="3200" dirty="0">
                <a:solidFill>
                  <a:srgbClr val="0070C0"/>
                </a:solidFill>
              </a:rPr>
              <a:t>1</a:t>
            </a:r>
            <a:r>
              <a:rPr lang="en-US" sz="3200" dirty="0"/>
              <a:t> indicates a </a:t>
            </a:r>
            <a:r>
              <a:rPr lang="en-US" sz="3200" dirty="0">
                <a:solidFill>
                  <a:srgbClr val="0070C0"/>
                </a:solidFill>
              </a:rPr>
              <a:t>read</a:t>
            </a:r>
            <a:r>
              <a:rPr lang="en-US" sz="3200" dirty="0"/>
              <a:t>.</a:t>
            </a:r>
          </a:p>
        </p:txBody>
      </p:sp>
      <p:sp>
        <p:nvSpPr>
          <p:cNvPr id="4" name="Date Placeholder 3"/>
          <p:cNvSpPr>
            <a:spLocks noGrp="1"/>
          </p:cNvSpPr>
          <p:nvPr>
            <p:ph type="dt" sz="half" idx="10"/>
          </p:nvPr>
        </p:nvSpPr>
        <p:spPr/>
        <p:txBody>
          <a:bodyPr/>
          <a:lstStyle/>
          <a:p>
            <a:fld id="{BB0F80B2-7843-48CA-8494-31AFDA2A73A5}" type="datetime3">
              <a:rPr lang="en-US" smtClean="0"/>
              <a:t>3 December 2025</a:t>
            </a:fld>
            <a:endParaRPr lang="en-US"/>
          </a:p>
        </p:txBody>
      </p:sp>
      <p:sp>
        <p:nvSpPr>
          <p:cNvPr id="6" name="Slide Number Placeholder 5"/>
          <p:cNvSpPr>
            <a:spLocks noGrp="1"/>
          </p:cNvSpPr>
          <p:nvPr>
            <p:ph type="sldNum" sz="quarter" idx="12"/>
          </p:nvPr>
        </p:nvSpPr>
        <p:spPr/>
        <p:txBody>
          <a:bodyPr/>
          <a:lstStyle/>
          <a:p>
            <a:fld id="{90416D69-EFB9-4734-9DF5-4234A5F1A98A}" type="slidenum">
              <a:rPr lang="en-US" smtClean="0"/>
              <a:t>40</a:t>
            </a:fld>
            <a:endParaRPr lang="en-US"/>
          </a:p>
        </p:txBody>
      </p:sp>
    </p:spTree>
    <p:extLst>
      <p:ext uri="{BB962C8B-B14F-4D97-AF65-F5344CB8AC3E}">
        <p14:creationId xmlns:p14="http://schemas.microsoft.com/office/powerpoint/2010/main" val="23423713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6777" y="133004"/>
            <a:ext cx="9962147" cy="779936"/>
          </a:xfrm>
        </p:spPr>
        <p:txBody>
          <a:bodyPr>
            <a:noAutofit/>
          </a:bodyPr>
          <a:lstStyle/>
          <a:p>
            <a:r>
              <a:rPr lang="en-US" sz="5400" b="1" dirty="0">
                <a:solidFill>
                  <a:srgbClr val="0070C0"/>
                </a:solidFill>
              </a:rPr>
              <a:t>Working of I2C in </a:t>
            </a:r>
            <a:r>
              <a:rPr lang="en-US" sz="5400" b="1" dirty="0" err="1">
                <a:solidFill>
                  <a:srgbClr val="0070C0"/>
                </a:solidFill>
              </a:rPr>
              <a:t>Arduino</a:t>
            </a:r>
            <a:endParaRPr lang="en-US" sz="5400" b="1" dirty="0">
              <a:solidFill>
                <a:srgbClr val="0070C0"/>
              </a:solidFill>
            </a:endParaRPr>
          </a:p>
        </p:txBody>
      </p:sp>
      <p:sp>
        <p:nvSpPr>
          <p:cNvPr id="3" name="Content Placeholder 2"/>
          <p:cNvSpPr>
            <a:spLocks noGrp="1"/>
          </p:cNvSpPr>
          <p:nvPr>
            <p:ph idx="1"/>
          </p:nvPr>
        </p:nvSpPr>
        <p:spPr>
          <a:xfrm>
            <a:off x="224432" y="3042450"/>
            <a:ext cx="16002012" cy="4804763"/>
          </a:xfrm>
        </p:spPr>
        <p:txBody>
          <a:bodyPr>
            <a:noAutofit/>
          </a:bodyPr>
          <a:lstStyle/>
          <a:p>
            <a:r>
              <a:rPr lang="en-US" sz="3200" dirty="0"/>
              <a:t>All I2C products from Total Phase, follow this standard convention. The slave address used should only be the top seven bits. In the case of the Aardvark I2C/SPI Host Adapter, the software will automatically append the correct read/write bit depending on the transaction to be performed. In the case of the Beagle I2C/SPI Protocol Analyzer, the slave address and the type of transaction are displayed in two different columns.</a:t>
            </a:r>
          </a:p>
          <a:p>
            <a:r>
              <a:rPr lang="en-US" sz="3200" b="1" dirty="0"/>
              <a:t>Reserved Addresses</a:t>
            </a:r>
          </a:p>
          <a:p>
            <a:r>
              <a:rPr lang="en-US" sz="3200" dirty="0"/>
              <a:t>The I2C has several sets of reserved addresses that are limited for use based on specific applications. The functions called with these reserved addresses are options for devices and are not necessarily available in all I2C devices. The I2C’s specific </a:t>
            </a:r>
            <a:r>
              <a:rPr lang="en-US" sz="3200" b="1" dirty="0">
                <a:solidFill>
                  <a:srgbClr val="FF0000"/>
                </a:solidFill>
              </a:rPr>
              <a:t>reserved two sets of eight addresses are 1111XXX and 0000XXX</a:t>
            </a:r>
            <a:r>
              <a:rPr lang="en-US" sz="3200" dirty="0"/>
              <a:t>. These addresses are used for special purposes. </a:t>
            </a:r>
          </a:p>
        </p:txBody>
      </p:sp>
      <p:sp>
        <p:nvSpPr>
          <p:cNvPr id="4" name="Date Placeholder 3"/>
          <p:cNvSpPr>
            <a:spLocks noGrp="1"/>
          </p:cNvSpPr>
          <p:nvPr>
            <p:ph type="dt" sz="half" idx="10"/>
          </p:nvPr>
        </p:nvSpPr>
        <p:spPr/>
        <p:txBody>
          <a:bodyPr/>
          <a:lstStyle/>
          <a:p>
            <a:fld id="{BB0F80B2-7843-48CA-8494-31AFDA2A73A5}" type="datetime3">
              <a:rPr lang="en-US" smtClean="0"/>
              <a:t>3 December 2025</a:t>
            </a:fld>
            <a:endParaRPr lang="en-US"/>
          </a:p>
        </p:txBody>
      </p:sp>
      <p:sp>
        <p:nvSpPr>
          <p:cNvPr id="6" name="Slide Number Placeholder 5"/>
          <p:cNvSpPr>
            <a:spLocks noGrp="1"/>
          </p:cNvSpPr>
          <p:nvPr>
            <p:ph type="sldNum" sz="quarter" idx="12"/>
          </p:nvPr>
        </p:nvSpPr>
        <p:spPr/>
        <p:txBody>
          <a:bodyPr/>
          <a:lstStyle/>
          <a:p>
            <a:fld id="{90416D69-EFB9-4734-9DF5-4234A5F1A98A}" type="slidenum">
              <a:rPr lang="en-US" smtClean="0"/>
              <a:t>41</a:t>
            </a:fld>
            <a:endParaRPr lang="en-US"/>
          </a:p>
        </p:txBody>
      </p:sp>
      <p:sp>
        <p:nvSpPr>
          <p:cNvPr id="7" name="Rectangle 6"/>
          <p:cNvSpPr/>
          <p:nvPr/>
        </p:nvSpPr>
        <p:spPr>
          <a:xfrm>
            <a:off x="282620" y="2038468"/>
            <a:ext cx="15885633" cy="1077218"/>
          </a:xfrm>
          <a:prstGeom prst="rect">
            <a:avLst/>
          </a:prstGeom>
        </p:spPr>
        <p:txBody>
          <a:bodyPr wrap="square">
            <a:spAutoFit/>
          </a:bodyPr>
          <a:lstStyle/>
          <a:p>
            <a:r>
              <a:rPr lang="en-US" sz="3200" dirty="0">
                <a:solidFill>
                  <a:srgbClr val="00B050"/>
                </a:solidFill>
              </a:rPr>
              <a:t>Figure 1: 7-bit addressing. The I2C bus specification specifies that in standard-mode I2C, the slave address is 7-bits long followed by the read/write bit.</a:t>
            </a:r>
          </a:p>
        </p:txBody>
      </p:sp>
      <p:pic>
        <p:nvPicPr>
          <p:cNvPr id="8" name="Picture 7"/>
          <p:cNvPicPr>
            <a:picLocks noChangeAspect="1"/>
          </p:cNvPicPr>
          <p:nvPr/>
        </p:nvPicPr>
        <p:blipFill>
          <a:blip r:embed="rId2"/>
          <a:stretch>
            <a:fillRect/>
          </a:stretch>
        </p:blipFill>
        <p:spPr>
          <a:xfrm>
            <a:off x="282620" y="905323"/>
            <a:ext cx="4298163" cy="1186486"/>
          </a:xfrm>
          <a:prstGeom prst="rect">
            <a:avLst/>
          </a:prstGeom>
        </p:spPr>
      </p:pic>
    </p:spTree>
    <p:extLst>
      <p:ext uri="{BB962C8B-B14F-4D97-AF65-F5344CB8AC3E}">
        <p14:creationId xmlns:p14="http://schemas.microsoft.com/office/powerpoint/2010/main" val="5975339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6777" y="133004"/>
            <a:ext cx="9962147" cy="779936"/>
          </a:xfrm>
        </p:spPr>
        <p:txBody>
          <a:bodyPr>
            <a:noAutofit/>
          </a:bodyPr>
          <a:lstStyle/>
          <a:p>
            <a:r>
              <a:rPr lang="en-US" sz="5400" b="1" dirty="0">
                <a:solidFill>
                  <a:srgbClr val="0070C0"/>
                </a:solidFill>
              </a:rPr>
              <a:t>Working of I2C in </a:t>
            </a:r>
            <a:r>
              <a:rPr lang="en-US" sz="5400" b="1" dirty="0" err="1">
                <a:solidFill>
                  <a:srgbClr val="0070C0"/>
                </a:solidFill>
              </a:rPr>
              <a:t>Arduino</a:t>
            </a:r>
            <a:endParaRPr lang="en-US" sz="5400" b="1" dirty="0">
              <a:solidFill>
                <a:srgbClr val="0070C0"/>
              </a:solidFill>
            </a:endParaRPr>
          </a:p>
        </p:txBody>
      </p:sp>
      <p:sp>
        <p:nvSpPr>
          <p:cNvPr id="3" name="Content Placeholder 2"/>
          <p:cNvSpPr>
            <a:spLocks noGrp="1"/>
          </p:cNvSpPr>
          <p:nvPr>
            <p:ph idx="1"/>
          </p:nvPr>
        </p:nvSpPr>
        <p:spPr>
          <a:xfrm>
            <a:off x="224432" y="3042451"/>
            <a:ext cx="16002012" cy="1762306"/>
          </a:xfrm>
        </p:spPr>
        <p:txBody>
          <a:bodyPr>
            <a:noAutofit/>
          </a:bodyPr>
          <a:lstStyle/>
          <a:p>
            <a:r>
              <a:rPr lang="en-US" sz="3600" dirty="0"/>
              <a:t>The first byte of an I2C transfer contains the slave address and the data direction.</a:t>
            </a:r>
          </a:p>
          <a:p>
            <a:r>
              <a:rPr lang="en-US" sz="3600" dirty="0"/>
              <a:t>The address is 7 bits long, followed by the </a:t>
            </a:r>
            <a:r>
              <a:rPr lang="en-US" sz="3600" dirty="0">
                <a:solidFill>
                  <a:srgbClr val="FF0000"/>
                </a:solidFill>
              </a:rPr>
              <a:t>direction bit (read or write operation)</a:t>
            </a:r>
            <a:r>
              <a:rPr lang="en-US" sz="3600" dirty="0"/>
              <a:t>. Like all data bytes, </a:t>
            </a:r>
            <a:r>
              <a:rPr lang="en-US" sz="3600" dirty="0">
                <a:solidFill>
                  <a:srgbClr val="0070C0"/>
                </a:solidFill>
              </a:rPr>
              <a:t>the address is transferred with the most significant bit first</a:t>
            </a:r>
            <a:r>
              <a:rPr lang="en-US" sz="3600" dirty="0"/>
              <a:t>.</a:t>
            </a:r>
          </a:p>
        </p:txBody>
      </p:sp>
      <p:sp>
        <p:nvSpPr>
          <p:cNvPr id="4" name="Date Placeholder 3"/>
          <p:cNvSpPr>
            <a:spLocks noGrp="1"/>
          </p:cNvSpPr>
          <p:nvPr>
            <p:ph type="dt" sz="half" idx="10"/>
          </p:nvPr>
        </p:nvSpPr>
        <p:spPr/>
        <p:txBody>
          <a:bodyPr/>
          <a:lstStyle/>
          <a:p>
            <a:fld id="{BB0F80B2-7843-48CA-8494-31AFDA2A73A5}" type="datetime3">
              <a:rPr lang="en-US" smtClean="0"/>
              <a:t>3 December 2025</a:t>
            </a:fld>
            <a:endParaRPr lang="en-US"/>
          </a:p>
        </p:txBody>
      </p:sp>
      <p:sp>
        <p:nvSpPr>
          <p:cNvPr id="6" name="Slide Number Placeholder 5"/>
          <p:cNvSpPr>
            <a:spLocks noGrp="1"/>
          </p:cNvSpPr>
          <p:nvPr>
            <p:ph type="sldNum" sz="quarter" idx="12"/>
          </p:nvPr>
        </p:nvSpPr>
        <p:spPr/>
        <p:txBody>
          <a:bodyPr/>
          <a:lstStyle/>
          <a:p>
            <a:fld id="{90416D69-EFB9-4734-9DF5-4234A5F1A98A}" type="slidenum">
              <a:rPr lang="en-US" smtClean="0"/>
              <a:t>42</a:t>
            </a:fld>
            <a:endParaRPr lang="en-US"/>
          </a:p>
        </p:txBody>
      </p:sp>
      <p:sp>
        <p:nvSpPr>
          <p:cNvPr id="7" name="Rectangle 6"/>
          <p:cNvSpPr/>
          <p:nvPr/>
        </p:nvSpPr>
        <p:spPr>
          <a:xfrm>
            <a:off x="282620" y="2038468"/>
            <a:ext cx="15885633" cy="1077218"/>
          </a:xfrm>
          <a:prstGeom prst="rect">
            <a:avLst/>
          </a:prstGeom>
        </p:spPr>
        <p:txBody>
          <a:bodyPr wrap="square">
            <a:spAutoFit/>
          </a:bodyPr>
          <a:lstStyle/>
          <a:p>
            <a:r>
              <a:rPr lang="en-US" sz="3200" dirty="0">
                <a:solidFill>
                  <a:srgbClr val="00B050"/>
                </a:solidFill>
              </a:rPr>
              <a:t>Figure 1: 7-bit addressing. The I2C bus specification specifies that in standard-mode I2C, the slave address is 7-bits long followed by the read/write bit.</a:t>
            </a:r>
          </a:p>
        </p:txBody>
      </p:sp>
      <p:pic>
        <p:nvPicPr>
          <p:cNvPr id="8" name="Picture 7"/>
          <p:cNvPicPr>
            <a:picLocks noChangeAspect="1"/>
          </p:cNvPicPr>
          <p:nvPr/>
        </p:nvPicPr>
        <p:blipFill>
          <a:blip r:embed="rId2"/>
          <a:stretch>
            <a:fillRect/>
          </a:stretch>
        </p:blipFill>
        <p:spPr>
          <a:xfrm>
            <a:off x="282620" y="905323"/>
            <a:ext cx="4298163" cy="1186486"/>
          </a:xfrm>
          <a:prstGeom prst="rect">
            <a:avLst/>
          </a:prstGeom>
        </p:spPr>
      </p:pic>
      <p:pic>
        <p:nvPicPr>
          <p:cNvPr id="9" name="Picture 8"/>
          <p:cNvPicPr>
            <a:picLocks noChangeAspect="1"/>
          </p:cNvPicPr>
          <p:nvPr/>
        </p:nvPicPr>
        <p:blipFill rotWithShape="1">
          <a:blip r:embed="rId3">
            <a:duotone>
              <a:schemeClr val="accent5">
                <a:shade val="45000"/>
                <a:satMod val="135000"/>
              </a:schemeClr>
              <a:prstClr val="white"/>
            </a:duotone>
          </a:blip>
          <a:srcRect l="1463" r="1227" b="12627"/>
          <a:stretch/>
        </p:blipFill>
        <p:spPr>
          <a:xfrm>
            <a:off x="698268" y="4804756"/>
            <a:ext cx="11413343" cy="3125587"/>
          </a:xfrm>
          <a:prstGeom prst="rect">
            <a:avLst/>
          </a:prstGeom>
        </p:spPr>
      </p:pic>
    </p:spTree>
    <p:extLst>
      <p:ext uri="{BB962C8B-B14F-4D97-AF65-F5344CB8AC3E}">
        <p14:creationId xmlns:p14="http://schemas.microsoft.com/office/powerpoint/2010/main" val="35512596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F5264-BB44-D704-8FCC-6C6118656F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487C83-36F9-6E72-DBA3-C6FAFBE438C4}"/>
              </a:ext>
            </a:extLst>
          </p:cNvPr>
          <p:cNvSpPr>
            <a:spLocks noGrp="1"/>
          </p:cNvSpPr>
          <p:nvPr>
            <p:ph type="title"/>
          </p:nvPr>
        </p:nvSpPr>
        <p:spPr>
          <a:xfrm>
            <a:off x="1796777" y="133004"/>
            <a:ext cx="9962147" cy="779936"/>
          </a:xfrm>
        </p:spPr>
        <p:txBody>
          <a:bodyPr>
            <a:noAutofit/>
          </a:bodyPr>
          <a:lstStyle/>
          <a:p>
            <a:r>
              <a:rPr lang="en-US" sz="5400" b="1" dirty="0">
                <a:solidFill>
                  <a:srgbClr val="0070C0"/>
                </a:solidFill>
              </a:rPr>
              <a:t>Working of I2C in </a:t>
            </a:r>
            <a:r>
              <a:rPr lang="en-US" sz="5400" b="1" dirty="0" err="1">
                <a:solidFill>
                  <a:srgbClr val="0070C0"/>
                </a:solidFill>
              </a:rPr>
              <a:t>Arduino</a:t>
            </a:r>
            <a:endParaRPr lang="en-US" sz="5400" b="1" dirty="0">
              <a:solidFill>
                <a:srgbClr val="0070C0"/>
              </a:solidFill>
            </a:endParaRPr>
          </a:p>
        </p:txBody>
      </p:sp>
      <p:sp>
        <p:nvSpPr>
          <p:cNvPr id="3" name="Content Placeholder 2">
            <a:extLst>
              <a:ext uri="{FF2B5EF4-FFF2-40B4-BE49-F238E27FC236}">
                <a16:creationId xmlns:a16="http://schemas.microsoft.com/office/drawing/2014/main" id="{F5799893-EA8D-435C-231E-2B315FBFCEF2}"/>
              </a:ext>
            </a:extLst>
          </p:cNvPr>
          <p:cNvSpPr>
            <a:spLocks noGrp="1"/>
          </p:cNvSpPr>
          <p:nvPr>
            <p:ph idx="1"/>
          </p:nvPr>
        </p:nvSpPr>
        <p:spPr>
          <a:xfrm>
            <a:off x="224432" y="832651"/>
            <a:ext cx="16002012" cy="3815549"/>
          </a:xfrm>
        </p:spPr>
        <p:txBody>
          <a:bodyPr>
            <a:noAutofit/>
          </a:bodyPr>
          <a:lstStyle/>
          <a:p>
            <a:r>
              <a:rPr lang="en-US" sz="3200" dirty="0"/>
              <a:t>Data transfers follow the format shown in Fig. 2. After the START condition (S), a  target address is sent. This address is seven bits long followed by an </a:t>
            </a:r>
            <a:r>
              <a:rPr lang="en-US" sz="3200" dirty="0">
                <a:solidFill>
                  <a:srgbClr val="FF0000"/>
                </a:solidFill>
              </a:rPr>
              <a:t>eighth bit </a:t>
            </a:r>
            <a:r>
              <a:rPr lang="en-US" sz="3200" dirty="0"/>
              <a:t>which is a data direction bit (</a:t>
            </a:r>
            <a:r>
              <a:rPr lang="en-US" sz="3200" dirty="0">
                <a:solidFill>
                  <a:srgbClr val="FF0000"/>
                </a:solidFill>
              </a:rPr>
              <a:t>R/W</a:t>
            </a:r>
            <a:r>
              <a:rPr lang="en-US" sz="3200" dirty="0"/>
              <a:t>), a ‘</a:t>
            </a:r>
            <a:r>
              <a:rPr lang="en-US" sz="3200" dirty="0">
                <a:solidFill>
                  <a:srgbClr val="FF0000"/>
                </a:solidFill>
              </a:rPr>
              <a:t>0</a:t>
            </a:r>
            <a:r>
              <a:rPr lang="en-US" sz="3200" dirty="0"/>
              <a:t>’ indicates a </a:t>
            </a:r>
            <a:r>
              <a:rPr lang="en-US" sz="3200" dirty="0">
                <a:solidFill>
                  <a:srgbClr val="FF0000"/>
                </a:solidFill>
              </a:rPr>
              <a:t>transmission of data</a:t>
            </a:r>
            <a:r>
              <a:rPr lang="en-US" sz="3200" dirty="0"/>
              <a:t> (</a:t>
            </a:r>
            <a:r>
              <a:rPr lang="en-US" sz="3200" dirty="0">
                <a:solidFill>
                  <a:srgbClr val="FF0000"/>
                </a:solidFill>
              </a:rPr>
              <a:t>WRITE</a:t>
            </a:r>
            <a:r>
              <a:rPr lang="en-US" sz="3200" dirty="0"/>
              <a:t>), a ‘</a:t>
            </a:r>
            <a:r>
              <a:rPr lang="en-US" sz="3200" dirty="0">
                <a:solidFill>
                  <a:srgbClr val="00B050"/>
                </a:solidFill>
              </a:rPr>
              <a:t>1</a:t>
            </a:r>
            <a:r>
              <a:rPr lang="en-US" sz="3200" dirty="0"/>
              <a:t>’ indicates a </a:t>
            </a:r>
            <a:r>
              <a:rPr lang="en-US" sz="3200" dirty="0">
                <a:solidFill>
                  <a:srgbClr val="00B050"/>
                </a:solidFill>
              </a:rPr>
              <a:t>request for data </a:t>
            </a:r>
            <a:r>
              <a:rPr lang="en-US" sz="3200" dirty="0"/>
              <a:t>(</a:t>
            </a:r>
            <a:r>
              <a:rPr lang="en-US" sz="3200" dirty="0">
                <a:solidFill>
                  <a:srgbClr val="00B050"/>
                </a:solidFill>
              </a:rPr>
              <a:t>READ</a:t>
            </a:r>
            <a:r>
              <a:rPr lang="en-US" sz="3200" dirty="0"/>
              <a:t>).</a:t>
            </a:r>
          </a:p>
          <a:p>
            <a:r>
              <a:rPr lang="en-US" sz="3200" dirty="0"/>
              <a:t>A data transfer is always terminated by  a STOP condition (P) generated by the controller. However, if a controller still wishes to communicate on the bus, it can generate </a:t>
            </a:r>
            <a:r>
              <a:rPr lang="en-US" sz="3200" b="1" dirty="0">
                <a:solidFill>
                  <a:srgbClr val="00B050"/>
                </a:solidFill>
              </a:rPr>
              <a:t>a repeated START condition (Sr) </a:t>
            </a:r>
            <a:r>
              <a:rPr lang="en-US" sz="3200" dirty="0"/>
              <a:t>and address another target without first generating a STOP condition. Various combinations of read/write formats are then possible within such a transfer.</a:t>
            </a:r>
          </a:p>
        </p:txBody>
      </p:sp>
      <p:sp>
        <p:nvSpPr>
          <p:cNvPr id="4" name="Date Placeholder 3">
            <a:extLst>
              <a:ext uri="{FF2B5EF4-FFF2-40B4-BE49-F238E27FC236}">
                <a16:creationId xmlns:a16="http://schemas.microsoft.com/office/drawing/2014/main" id="{10139752-89A6-F6EA-8BFA-F6DEDFC0780A}"/>
              </a:ext>
            </a:extLst>
          </p:cNvPr>
          <p:cNvSpPr>
            <a:spLocks noGrp="1"/>
          </p:cNvSpPr>
          <p:nvPr>
            <p:ph type="dt" sz="half" idx="10"/>
          </p:nvPr>
        </p:nvSpPr>
        <p:spPr/>
        <p:txBody>
          <a:bodyPr/>
          <a:lstStyle/>
          <a:p>
            <a:fld id="{BB0F80B2-7843-48CA-8494-31AFDA2A73A5}" type="datetime3">
              <a:rPr lang="en-US" smtClean="0"/>
              <a:t>3 December 2025</a:t>
            </a:fld>
            <a:endParaRPr lang="en-US"/>
          </a:p>
        </p:txBody>
      </p:sp>
      <p:sp>
        <p:nvSpPr>
          <p:cNvPr id="6" name="Slide Number Placeholder 5">
            <a:extLst>
              <a:ext uri="{FF2B5EF4-FFF2-40B4-BE49-F238E27FC236}">
                <a16:creationId xmlns:a16="http://schemas.microsoft.com/office/drawing/2014/main" id="{36A27D0F-0E50-595D-B02D-6F30BD71C55C}"/>
              </a:ext>
            </a:extLst>
          </p:cNvPr>
          <p:cNvSpPr>
            <a:spLocks noGrp="1"/>
          </p:cNvSpPr>
          <p:nvPr>
            <p:ph type="sldNum" sz="quarter" idx="12"/>
          </p:nvPr>
        </p:nvSpPr>
        <p:spPr/>
        <p:txBody>
          <a:bodyPr/>
          <a:lstStyle/>
          <a:p>
            <a:fld id="{90416D69-EFB9-4734-9DF5-4234A5F1A98A}" type="slidenum">
              <a:rPr lang="en-US" smtClean="0"/>
              <a:t>43</a:t>
            </a:fld>
            <a:endParaRPr lang="en-US"/>
          </a:p>
        </p:txBody>
      </p:sp>
      <p:sp>
        <p:nvSpPr>
          <p:cNvPr id="7" name="Rectangle 6">
            <a:extLst>
              <a:ext uri="{FF2B5EF4-FFF2-40B4-BE49-F238E27FC236}">
                <a16:creationId xmlns:a16="http://schemas.microsoft.com/office/drawing/2014/main" id="{5FB37269-19AC-6656-A39B-6C304AB60A03}"/>
              </a:ext>
            </a:extLst>
          </p:cNvPr>
          <p:cNvSpPr/>
          <p:nvPr/>
        </p:nvSpPr>
        <p:spPr>
          <a:xfrm>
            <a:off x="279168" y="7404106"/>
            <a:ext cx="14338532" cy="584775"/>
          </a:xfrm>
          <a:prstGeom prst="rect">
            <a:avLst/>
          </a:prstGeom>
        </p:spPr>
        <p:txBody>
          <a:bodyPr wrap="square">
            <a:spAutoFit/>
          </a:bodyPr>
          <a:lstStyle/>
          <a:p>
            <a:r>
              <a:rPr lang="en-US" sz="3200" dirty="0">
                <a:solidFill>
                  <a:srgbClr val="00B050"/>
                </a:solidFill>
              </a:rPr>
              <a:t>Figure 2: A complete data transfer.</a:t>
            </a:r>
          </a:p>
        </p:txBody>
      </p:sp>
      <p:pic>
        <p:nvPicPr>
          <p:cNvPr id="11" name="Picture 10">
            <a:extLst>
              <a:ext uri="{FF2B5EF4-FFF2-40B4-BE49-F238E27FC236}">
                <a16:creationId xmlns:a16="http://schemas.microsoft.com/office/drawing/2014/main" id="{95D78E59-B109-39F8-F2A3-D45E365B029B}"/>
              </a:ext>
            </a:extLst>
          </p:cNvPr>
          <p:cNvPicPr>
            <a:picLocks noChangeAspect="1"/>
          </p:cNvPicPr>
          <p:nvPr/>
        </p:nvPicPr>
        <p:blipFill>
          <a:blip r:embed="rId2"/>
          <a:stretch>
            <a:fillRect/>
          </a:stretch>
        </p:blipFill>
        <p:spPr>
          <a:xfrm>
            <a:off x="279168" y="4514232"/>
            <a:ext cx="10274532" cy="3016873"/>
          </a:xfrm>
          <a:prstGeom prst="rect">
            <a:avLst/>
          </a:prstGeom>
        </p:spPr>
      </p:pic>
      <p:sp>
        <p:nvSpPr>
          <p:cNvPr id="12" name="TextBox 11">
            <a:extLst>
              <a:ext uri="{FF2B5EF4-FFF2-40B4-BE49-F238E27FC236}">
                <a16:creationId xmlns:a16="http://schemas.microsoft.com/office/drawing/2014/main" id="{187A1AB3-FBCD-46BB-D5D1-59E08429AA7B}"/>
              </a:ext>
            </a:extLst>
          </p:cNvPr>
          <p:cNvSpPr txBox="1"/>
          <p:nvPr/>
        </p:nvSpPr>
        <p:spPr>
          <a:xfrm>
            <a:off x="10579100" y="4645005"/>
            <a:ext cx="5741956" cy="3416320"/>
          </a:xfrm>
          <a:prstGeom prst="rect">
            <a:avLst/>
          </a:prstGeom>
          <a:noFill/>
        </p:spPr>
        <p:txBody>
          <a:bodyPr wrap="square">
            <a:spAutoFit/>
          </a:bodyPr>
          <a:lstStyle/>
          <a:p>
            <a:r>
              <a:rPr lang="en-US" sz="2400" dirty="0">
                <a:solidFill>
                  <a:srgbClr val="0070C0"/>
                </a:solidFill>
              </a:rPr>
              <a:t>The total number of bits transferred in frame one is 7 + 1 + 1 + 8 + 1 = 18.</a:t>
            </a:r>
          </a:p>
          <a:p>
            <a:r>
              <a:rPr lang="en-US" sz="2400" dirty="0">
                <a:solidFill>
                  <a:srgbClr val="0070C0"/>
                </a:solidFill>
              </a:rPr>
              <a:t>If the clock frequency is 200 kHz with 7 bit addressing mode, the clock period is 1/200 </a:t>
            </a:r>
            <a:r>
              <a:rPr lang="en-US" sz="2400" dirty="0" err="1">
                <a:solidFill>
                  <a:srgbClr val="0070C0"/>
                </a:solidFill>
              </a:rPr>
              <a:t>ms</a:t>
            </a:r>
            <a:r>
              <a:rPr lang="en-US" sz="2400" dirty="0">
                <a:solidFill>
                  <a:srgbClr val="0070C0"/>
                </a:solidFill>
              </a:rPr>
              <a:t> = 5 </a:t>
            </a:r>
            <a:r>
              <a:rPr lang="en-US" sz="2400" dirty="0" err="1">
                <a:solidFill>
                  <a:srgbClr val="0070C0"/>
                </a:solidFill>
                <a:latin typeface="Symbol" panose="05050102010706020507" pitchFamily="18" charset="2"/>
              </a:rPr>
              <a:t>m</a:t>
            </a:r>
            <a:r>
              <a:rPr lang="en-US" sz="2400" dirty="0" err="1">
                <a:solidFill>
                  <a:srgbClr val="0070C0"/>
                </a:solidFill>
              </a:rPr>
              <a:t>s.</a:t>
            </a:r>
            <a:r>
              <a:rPr lang="en-US" sz="2400" dirty="0">
                <a:solidFill>
                  <a:srgbClr val="0070C0"/>
                </a:solidFill>
              </a:rPr>
              <a:t> Thus, the data transfer time = 18</a:t>
            </a:r>
            <a:r>
              <a:rPr lang="en-US" sz="2400" dirty="0">
                <a:solidFill>
                  <a:srgbClr val="0070C0"/>
                </a:solidFill>
                <a:latin typeface="Cambria Math" panose="02040503050406030204" pitchFamily="18" charset="0"/>
                <a:ea typeface="Cambria Math" panose="02040503050406030204" pitchFamily="18" charset="0"/>
              </a:rPr>
              <a:t>⨯5 = 90 </a:t>
            </a:r>
            <a:r>
              <a:rPr lang="en-US" sz="2400" dirty="0" err="1">
                <a:solidFill>
                  <a:srgbClr val="0070C0"/>
                </a:solidFill>
                <a:latin typeface="Symbol" panose="05050102010706020507" pitchFamily="18" charset="2"/>
              </a:rPr>
              <a:t>m</a:t>
            </a:r>
            <a:r>
              <a:rPr lang="en-US" sz="2400" dirty="0" err="1">
                <a:solidFill>
                  <a:srgbClr val="0070C0"/>
                </a:solidFill>
                <a:latin typeface="Cambria Math" panose="02040503050406030204" pitchFamily="18" charset="0"/>
                <a:ea typeface="Cambria Math" panose="02040503050406030204" pitchFamily="18" charset="0"/>
              </a:rPr>
              <a:t>s.</a:t>
            </a:r>
            <a:endParaRPr lang="en-US" sz="2400" dirty="0">
              <a:solidFill>
                <a:srgbClr val="0070C0"/>
              </a:solidFill>
              <a:latin typeface="Cambria Math" panose="02040503050406030204" pitchFamily="18" charset="0"/>
              <a:ea typeface="Cambria Math" panose="02040503050406030204" pitchFamily="18" charset="0"/>
            </a:endParaRPr>
          </a:p>
          <a:p>
            <a:r>
              <a:rPr lang="en-US" sz="2400" dirty="0">
                <a:solidFill>
                  <a:srgbClr val="0070C0"/>
                </a:solidFill>
                <a:latin typeface="Cambria Math" panose="02040503050406030204" pitchFamily="18" charset="0"/>
                <a:ea typeface="Cambria Math" panose="02040503050406030204" pitchFamily="18" charset="0"/>
              </a:rPr>
              <a:t>So, the </a:t>
            </a:r>
            <a:r>
              <a:rPr lang="en-US" sz="2400" dirty="0">
                <a:solidFill>
                  <a:srgbClr val="0070C0"/>
                </a:solidFill>
              </a:rPr>
              <a:t>data transfer rate is 18</a:t>
            </a:r>
            <a:r>
              <a:rPr lang="en-US" sz="2400" dirty="0">
                <a:solidFill>
                  <a:srgbClr val="0070C0"/>
                </a:solidFill>
                <a:latin typeface="Cambria Math" panose="02040503050406030204" pitchFamily="18" charset="0"/>
                <a:ea typeface="Cambria Math" panose="02040503050406030204" pitchFamily="18" charset="0"/>
              </a:rPr>
              <a:t>⨯10</a:t>
            </a:r>
            <a:r>
              <a:rPr lang="en-US" sz="2400" baseline="30000" dirty="0">
                <a:solidFill>
                  <a:srgbClr val="0070C0"/>
                </a:solidFill>
                <a:latin typeface="Cambria Math" panose="02040503050406030204" pitchFamily="18" charset="0"/>
                <a:ea typeface="Cambria Math" panose="02040503050406030204" pitchFamily="18" charset="0"/>
              </a:rPr>
              <a:t>6</a:t>
            </a:r>
            <a:r>
              <a:rPr lang="en-US" sz="2400" dirty="0">
                <a:solidFill>
                  <a:srgbClr val="0070C0"/>
                </a:solidFill>
                <a:latin typeface="Cambria Math" panose="02040503050406030204" pitchFamily="18" charset="0"/>
                <a:ea typeface="Cambria Math" panose="02040503050406030204" pitchFamily="18" charset="0"/>
              </a:rPr>
              <a:t>/90 = 200 kbps.</a:t>
            </a:r>
          </a:p>
          <a:p>
            <a:r>
              <a:rPr lang="en-US" sz="2400" dirty="0">
                <a:solidFill>
                  <a:srgbClr val="0070C0"/>
                </a:solidFill>
                <a:latin typeface="Cambria Math" panose="02040503050406030204" pitchFamily="18" charset="0"/>
                <a:ea typeface="Cambria Math" panose="02040503050406030204" pitchFamily="18" charset="0"/>
              </a:rPr>
              <a:t>The frame rate is 10</a:t>
            </a:r>
            <a:r>
              <a:rPr lang="en-US" sz="2400" baseline="30000" dirty="0">
                <a:solidFill>
                  <a:srgbClr val="0070C0"/>
                </a:solidFill>
                <a:latin typeface="Cambria Math" panose="02040503050406030204" pitchFamily="18" charset="0"/>
                <a:ea typeface="Cambria Math" panose="02040503050406030204" pitchFamily="18" charset="0"/>
              </a:rPr>
              <a:t>6</a:t>
            </a:r>
            <a:r>
              <a:rPr lang="en-US" sz="2400" dirty="0">
                <a:solidFill>
                  <a:srgbClr val="0070C0"/>
                </a:solidFill>
                <a:latin typeface="Cambria Math" panose="02040503050406030204" pitchFamily="18" charset="0"/>
                <a:ea typeface="Cambria Math" panose="02040503050406030204" pitchFamily="18" charset="0"/>
              </a:rPr>
              <a:t>/90 </a:t>
            </a:r>
            <a:r>
              <a:rPr lang="en-US" sz="2400" dirty="0">
                <a:solidFill>
                  <a:srgbClr val="0070C0"/>
                </a:solidFill>
                <a:latin typeface="Cambria Math" panose="02040503050406030204" pitchFamily="18" charset="0"/>
                <a:ea typeface="Cambria Math" panose="02040503050406030204" pitchFamily="18" charset="0"/>
                <a:sym typeface="Symbol" panose="05050102010706020507" pitchFamily="18" charset="2"/>
              </a:rPr>
              <a:t></a:t>
            </a:r>
            <a:r>
              <a:rPr lang="en-US" sz="2400" dirty="0">
                <a:solidFill>
                  <a:srgbClr val="0070C0"/>
                </a:solidFill>
                <a:latin typeface="Cambria Math" panose="02040503050406030204" pitchFamily="18" charset="0"/>
                <a:ea typeface="Cambria Math" panose="02040503050406030204" pitchFamily="18" charset="0"/>
              </a:rPr>
              <a:t> 11 </a:t>
            </a:r>
            <a:r>
              <a:rPr lang="en-US" sz="2400" dirty="0" err="1">
                <a:solidFill>
                  <a:srgbClr val="0070C0"/>
                </a:solidFill>
                <a:latin typeface="Cambria Math" panose="02040503050406030204" pitchFamily="18" charset="0"/>
                <a:ea typeface="Cambria Math" panose="02040503050406030204" pitchFamily="18" charset="0"/>
              </a:rPr>
              <a:t>kfps</a:t>
            </a:r>
            <a:r>
              <a:rPr lang="en-US" sz="2400" dirty="0">
                <a:solidFill>
                  <a:srgbClr val="0070C0"/>
                </a:solidFill>
                <a:latin typeface="Cambria Math" panose="02040503050406030204" pitchFamily="18" charset="0"/>
                <a:ea typeface="Cambria Math" panose="02040503050406030204" pitchFamily="18" charset="0"/>
              </a:rPr>
              <a:t>.</a:t>
            </a:r>
            <a:endParaRPr lang="en-US" sz="2400" dirty="0">
              <a:solidFill>
                <a:srgbClr val="0070C0"/>
              </a:solidFill>
            </a:endParaRPr>
          </a:p>
        </p:txBody>
      </p:sp>
    </p:spTree>
    <p:extLst>
      <p:ext uri="{BB962C8B-B14F-4D97-AF65-F5344CB8AC3E}">
        <p14:creationId xmlns:p14="http://schemas.microsoft.com/office/powerpoint/2010/main" val="24256071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186A20-E405-91B6-4F13-0BCC31CEE1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DE9531-2D9F-3104-6B25-3EF5C5274AB4}"/>
              </a:ext>
            </a:extLst>
          </p:cNvPr>
          <p:cNvSpPr>
            <a:spLocks noGrp="1"/>
          </p:cNvSpPr>
          <p:nvPr>
            <p:ph type="title"/>
          </p:nvPr>
        </p:nvSpPr>
        <p:spPr>
          <a:xfrm>
            <a:off x="1796777" y="133004"/>
            <a:ext cx="9962147" cy="779936"/>
          </a:xfrm>
        </p:spPr>
        <p:txBody>
          <a:bodyPr>
            <a:noAutofit/>
          </a:bodyPr>
          <a:lstStyle/>
          <a:p>
            <a:r>
              <a:rPr lang="en-US" sz="5400" b="1" dirty="0">
                <a:solidFill>
                  <a:srgbClr val="0070C0"/>
                </a:solidFill>
              </a:rPr>
              <a:t>Working of I2C in </a:t>
            </a:r>
            <a:r>
              <a:rPr lang="en-US" sz="5400" b="1" dirty="0" err="1">
                <a:solidFill>
                  <a:srgbClr val="0070C0"/>
                </a:solidFill>
              </a:rPr>
              <a:t>Arduino</a:t>
            </a:r>
            <a:endParaRPr lang="en-US" sz="5400" b="1" dirty="0">
              <a:solidFill>
                <a:srgbClr val="0070C0"/>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EE33F5B-0AC1-2C66-FDE0-92F3985E7D6A}"/>
                  </a:ext>
                </a:extLst>
              </p:cNvPr>
              <p:cNvSpPr>
                <a:spLocks noGrp="1"/>
              </p:cNvSpPr>
              <p:nvPr>
                <p:ph idx="1"/>
              </p:nvPr>
            </p:nvSpPr>
            <p:spPr>
              <a:xfrm>
                <a:off x="224432" y="832651"/>
                <a:ext cx="16002012" cy="3815549"/>
              </a:xfrm>
            </p:spPr>
            <p:txBody>
              <a:bodyPr>
                <a:noAutofit/>
              </a:bodyPr>
              <a:lstStyle/>
              <a:p>
                <a:pPr>
                  <a:spcBef>
                    <a:spcPts val="600"/>
                  </a:spcBef>
                  <a:buFont typeface="Wingdings" panose="05000000000000000000" pitchFamily="2" charset="2"/>
                  <a:buChar char="q"/>
                </a:pPr>
                <a:r>
                  <a:rPr lang="en-US" sz="3200" dirty="0"/>
                  <a:t> Possible data transfer formats are:</a:t>
                </a:r>
              </a:p>
              <a:p>
                <a:pPr>
                  <a:spcBef>
                    <a:spcPts val="600"/>
                  </a:spcBef>
                </a:pPr>
                <a:r>
                  <a:rPr lang="en-US" sz="3200" dirty="0"/>
                  <a:t>Controller-transmitter transmits data to target-receiver. The data transfer direction is not changed (</a:t>
                </a:r>
                <a:r>
                  <a:rPr lang="en-US" sz="3200" dirty="0">
                    <a:solidFill>
                      <a:srgbClr val="00B050"/>
                    </a:solidFill>
                  </a:rPr>
                  <a:t>Fig. 3</a:t>
                </a:r>
                <a:r>
                  <a:rPr lang="en-US" sz="3200" dirty="0"/>
                  <a:t>). The target receiver acknowledges each byte.</a:t>
                </a:r>
              </a:p>
              <a:p>
                <a:pPr>
                  <a:spcBef>
                    <a:spcPts val="600"/>
                  </a:spcBef>
                </a:pPr>
                <a:r>
                  <a:rPr lang="en-US" sz="3200" dirty="0"/>
                  <a:t>Controller reads target immediately after first byte (</a:t>
                </a:r>
                <a:r>
                  <a:rPr lang="en-US" sz="3200" dirty="0">
                    <a:solidFill>
                      <a:srgbClr val="0070C0"/>
                    </a:solidFill>
                  </a:rPr>
                  <a:t>Fig. 4</a:t>
                </a:r>
                <a:r>
                  <a:rPr lang="en-US" sz="3200" dirty="0"/>
                  <a:t>). At the moment of  the first acknowledge, the controller-transmitter becomes a controller-receiver and the target-receiver becomes a target-transmitter. This first acknowledge is still generated by the target. The controller generates subsequent acknowledges. The STOP condition is generated by the controller, which sends a not-acknowledge (</a:t>
                </a:r>
                <a14:m>
                  <m:oMath xmlns:m="http://schemas.openxmlformats.org/officeDocument/2006/math">
                    <m:acc>
                      <m:accPr>
                        <m:chr m:val="̅"/>
                        <m:ctrlPr>
                          <a:rPr lang="en-US" sz="3200" i="1" smtClean="0">
                            <a:latin typeface="Cambria Math" panose="02040503050406030204" pitchFamily="18" charset="0"/>
                          </a:rPr>
                        </m:ctrlPr>
                      </m:accPr>
                      <m:e>
                        <m:r>
                          <a:rPr lang="en-US" sz="3200" b="0" i="1" smtClean="0">
                            <a:latin typeface="Cambria Math" panose="02040503050406030204" pitchFamily="18" charset="0"/>
                          </a:rPr>
                          <m:t>𝐴</m:t>
                        </m:r>
                      </m:e>
                    </m:acc>
                  </m:oMath>
                </a14:m>
                <a:r>
                  <a:rPr lang="en-US" sz="3200" dirty="0"/>
                  <a:t>) just before the STOP condition. </a:t>
                </a:r>
              </a:p>
            </p:txBody>
          </p:sp>
        </mc:Choice>
        <mc:Fallback xmlns="">
          <p:sp>
            <p:nvSpPr>
              <p:cNvPr id="3" name="Content Placeholder 2">
                <a:extLst>
                  <a:ext uri="{FF2B5EF4-FFF2-40B4-BE49-F238E27FC236}">
                    <a16:creationId xmlns:a16="http://schemas.microsoft.com/office/drawing/2014/main" id="{AEE33F5B-0AC1-2C66-FDE0-92F3985E7D6A}"/>
                  </a:ext>
                </a:extLst>
              </p:cNvPr>
              <p:cNvSpPr>
                <a:spLocks noGrp="1" noRot="1" noChangeAspect="1" noMove="1" noResize="1" noEditPoints="1" noAdjustHandles="1" noChangeArrowheads="1" noChangeShapeType="1" noTextEdit="1"/>
              </p:cNvSpPr>
              <p:nvPr>
                <p:ph idx="1"/>
              </p:nvPr>
            </p:nvSpPr>
            <p:spPr>
              <a:xfrm>
                <a:off x="224432" y="832651"/>
                <a:ext cx="16002012" cy="3815549"/>
              </a:xfrm>
              <a:blipFill>
                <a:blip r:embed="rId2"/>
                <a:stretch>
                  <a:fillRect l="-876" t="-3355" r="-1295" b="-3834"/>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5FD0EC99-4D84-C78F-CA4C-209A65CA3A77}"/>
              </a:ext>
            </a:extLst>
          </p:cNvPr>
          <p:cNvSpPr>
            <a:spLocks noGrp="1"/>
          </p:cNvSpPr>
          <p:nvPr>
            <p:ph type="dt" sz="half" idx="10"/>
          </p:nvPr>
        </p:nvSpPr>
        <p:spPr/>
        <p:txBody>
          <a:bodyPr/>
          <a:lstStyle/>
          <a:p>
            <a:fld id="{BB0F80B2-7843-48CA-8494-31AFDA2A73A5}" type="datetime3">
              <a:rPr lang="en-US" smtClean="0"/>
              <a:t>3 December 2025</a:t>
            </a:fld>
            <a:endParaRPr lang="en-US"/>
          </a:p>
        </p:txBody>
      </p:sp>
      <p:sp>
        <p:nvSpPr>
          <p:cNvPr id="6" name="Slide Number Placeholder 5">
            <a:extLst>
              <a:ext uri="{FF2B5EF4-FFF2-40B4-BE49-F238E27FC236}">
                <a16:creationId xmlns:a16="http://schemas.microsoft.com/office/drawing/2014/main" id="{3086E55E-F324-3697-5835-451228CDC032}"/>
              </a:ext>
            </a:extLst>
          </p:cNvPr>
          <p:cNvSpPr>
            <a:spLocks noGrp="1"/>
          </p:cNvSpPr>
          <p:nvPr>
            <p:ph type="sldNum" sz="quarter" idx="12"/>
          </p:nvPr>
        </p:nvSpPr>
        <p:spPr/>
        <p:txBody>
          <a:bodyPr/>
          <a:lstStyle/>
          <a:p>
            <a:fld id="{90416D69-EFB9-4734-9DF5-4234A5F1A98A}" type="slidenum">
              <a:rPr lang="en-US" smtClean="0"/>
              <a:t>44</a:t>
            </a:fld>
            <a:endParaRPr lang="en-US"/>
          </a:p>
        </p:txBody>
      </p:sp>
      <p:sp>
        <p:nvSpPr>
          <p:cNvPr id="7" name="Rectangle 6">
            <a:extLst>
              <a:ext uri="{FF2B5EF4-FFF2-40B4-BE49-F238E27FC236}">
                <a16:creationId xmlns:a16="http://schemas.microsoft.com/office/drawing/2014/main" id="{8FB2F9CB-381D-C562-2CC5-3AAC1A4B2AC1}"/>
              </a:ext>
            </a:extLst>
          </p:cNvPr>
          <p:cNvSpPr/>
          <p:nvPr/>
        </p:nvSpPr>
        <p:spPr>
          <a:xfrm>
            <a:off x="482600" y="7226306"/>
            <a:ext cx="8382000" cy="830997"/>
          </a:xfrm>
          <a:prstGeom prst="rect">
            <a:avLst/>
          </a:prstGeom>
        </p:spPr>
        <p:txBody>
          <a:bodyPr wrap="square">
            <a:spAutoFit/>
          </a:bodyPr>
          <a:lstStyle/>
          <a:p>
            <a:r>
              <a:rPr lang="en-US" sz="2400" dirty="0">
                <a:solidFill>
                  <a:srgbClr val="00B050"/>
                </a:solidFill>
              </a:rPr>
              <a:t>Figure 3: A controller-transmitter addressing a target receiver with a 7-bit address (the transfer direction is not changed).</a:t>
            </a:r>
          </a:p>
        </p:txBody>
      </p:sp>
      <p:pic>
        <p:nvPicPr>
          <p:cNvPr id="9" name="Picture 8">
            <a:extLst>
              <a:ext uri="{FF2B5EF4-FFF2-40B4-BE49-F238E27FC236}">
                <a16:creationId xmlns:a16="http://schemas.microsoft.com/office/drawing/2014/main" id="{C8CBE7AD-2E9D-312D-5E4B-D8684FBFFE49}"/>
              </a:ext>
            </a:extLst>
          </p:cNvPr>
          <p:cNvPicPr>
            <a:picLocks noChangeAspect="1"/>
          </p:cNvPicPr>
          <p:nvPr/>
        </p:nvPicPr>
        <p:blipFill>
          <a:blip r:embed="rId3"/>
          <a:stretch>
            <a:fillRect/>
          </a:stretch>
        </p:blipFill>
        <p:spPr>
          <a:xfrm>
            <a:off x="597724" y="4535013"/>
            <a:ext cx="6850710" cy="2703993"/>
          </a:xfrm>
          <a:prstGeom prst="rect">
            <a:avLst/>
          </a:prstGeom>
        </p:spPr>
      </p:pic>
      <p:pic>
        <p:nvPicPr>
          <p:cNvPr id="12" name="Picture 11">
            <a:extLst>
              <a:ext uri="{FF2B5EF4-FFF2-40B4-BE49-F238E27FC236}">
                <a16:creationId xmlns:a16="http://schemas.microsoft.com/office/drawing/2014/main" id="{9DC83D7E-7244-61CA-59A9-26CB7012E765}"/>
              </a:ext>
            </a:extLst>
          </p:cNvPr>
          <p:cNvPicPr>
            <a:picLocks noChangeAspect="1"/>
          </p:cNvPicPr>
          <p:nvPr/>
        </p:nvPicPr>
        <p:blipFill>
          <a:blip r:embed="rId4"/>
          <a:stretch>
            <a:fillRect/>
          </a:stretch>
        </p:blipFill>
        <p:spPr>
          <a:xfrm>
            <a:off x="8233029" y="4564782"/>
            <a:ext cx="7706438" cy="1529056"/>
          </a:xfrm>
          <a:prstGeom prst="rect">
            <a:avLst/>
          </a:prstGeom>
        </p:spPr>
      </p:pic>
      <p:sp>
        <p:nvSpPr>
          <p:cNvPr id="13" name="Rectangle 12">
            <a:extLst>
              <a:ext uri="{FF2B5EF4-FFF2-40B4-BE49-F238E27FC236}">
                <a16:creationId xmlns:a16="http://schemas.microsoft.com/office/drawing/2014/main" id="{AC99F4E3-3471-7451-FEA3-9270F1F07BC5}"/>
              </a:ext>
            </a:extLst>
          </p:cNvPr>
          <p:cNvSpPr/>
          <p:nvPr/>
        </p:nvSpPr>
        <p:spPr>
          <a:xfrm>
            <a:off x="8432800" y="6281633"/>
            <a:ext cx="7835076" cy="954107"/>
          </a:xfrm>
          <a:prstGeom prst="rect">
            <a:avLst/>
          </a:prstGeom>
        </p:spPr>
        <p:txBody>
          <a:bodyPr wrap="square">
            <a:spAutoFit/>
          </a:bodyPr>
          <a:lstStyle/>
          <a:p>
            <a:r>
              <a:rPr lang="en-US" sz="2800" dirty="0">
                <a:solidFill>
                  <a:srgbClr val="0070C0"/>
                </a:solidFill>
              </a:rPr>
              <a:t>Figure 4: A controller reads a target immediately after the first byte.</a:t>
            </a:r>
          </a:p>
        </p:txBody>
      </p:sp>
    </p:spTree>
    <p:extLst>
      <p:ext uri="{BB962C8B-B14F-4D97-AF65-F5344CB8AC3E}">
        <p14:creationId xmlns:p14="http://schemas.microsoft.com/office/powerpoint/2010/main" val="212128772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65772-26DE-9F3D-0E2E-4F91300BC1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0FD0CC-3493-3189-3D17-F0D125B594DB}"/>
              </a:ext>
            </a:extLst>
          </p:cNvPr>
          <p:cNvSpPr>
            <a:spLocks noGrp="1"/>
          </p:cNvSpPr>
          <p:nvPr>
            <p:ph type="title"/>
          </p:nvPr>
        </p:nvSpPr>
        <p:spPr>
          <a:xfrm>
            <a:off x="1796777" y="133004"/>
            <a:ext cx="9962147" cy="779936"/>
          </a:xfrm>
        </p:spPr>
        <p:txBody>
          <a:bodyPr>
            <a:noAutofit/>
          </a:bodyPr>
          <a:lstStyle/>
          <a:p>
            <a:r>
              <a:rPr lang="en-US" sz="5400" b="1" dirty="0">
                <a:solidFill>
                  <a:srgbClr val="0070C0"/>
                </a:solidFill>
              </a:rPr>
              <a:t>Working of I2C in </a:t>
            </a:r>
            <a:r>
              <a:rPr lang="en-US" sz="5400" b="1" dirty="0" err="1">
                <a:solidFill>
                  <a:srgbClr val="0070C0"/>
                </a:solidFill>
              </a:rPr>
              <a:t>Arduino</a:t>
            </a:r>
            <a:endParaRPr lang="en-US" sz="5400" b="1" dirty="0">
              <a:solidFill>
                <a:srgbClr val="0070C0"/>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8A63814-6B8E-B5FD-AFFD-805340357E7B}"/>
                  </a:ext>
                </a:extLst>
              </p:cNvPr>
              <p:cNvSpPr>
                <a:spLocks noGrp="1"/>
              </p:cNvSpPr>
              <p:nvPr>
                <p:ph idx="1"/>
              </p:nvPr>
            </p:nvSpPr>
            <p:spPr>
              <a:xfrm>
                <a:off x="224432" y="832651"/>
                <a:ext cx="16002012" cy="2494749"/>
              </a:xfrm>
            </p:spPr>
            <p:txBody>
              <a:bodyPr>
                <a:noAutofit/>
              </a:bodyPr>
              <a:lstStyle/>
              <a:p>
                <a:pPr>
                  <a:buFont typeface="Wingdings" panose="05000000000000000000" pitchFamily="2" charset="2"/>
                  <a:buChar char="q"/>
                </a:pPr>
                <a:r>
                  <a:rPr lang="en-US" sz="3200" dirty="0"/>
                  <a:t> Possible data transfer formats are:</a:t>
                </a:r>
              </a:p>
              <a:p>
                <a:pPr>
                  <a:spcBef>
                    <a:spcPts val="600"/>
                  </a:spcBef>
                </a:pPr>
                <a:r>
                  <a:rPr lang="en-US" sz="3200" dirty="0"/>
                  <a:t>Combined format (</a:t>
                </a:r>
                <a:r>
                  <a:rPr lang="en-US" sz="3200" dirty="0">
                    <a:solidFill>
                      <a:srgbClr val="FF0000"/>
                    </a:solidFill>
                  </a:rPr>
                  <a:t>Fig. 5</a:t>
                </a:r>
                <a:r>
                  <a:rPr lang="en-US" sz="3200" dirty="0"/>
                  <a:t>): During a change of direction within a transfer, the START condition and the target address are both repeated, but with the R/W bit reversed. If a controller-receiver sends a repeated START condition, it sends a not acknowledge (</a:t>
                </a:r>
                <a14:m>
                  <m:oMath xmlns:m="http://schemas.openxmlformats.org/officeDocument/2006/math">
                    <m:acc>
                      <m:accPr>
                        <m:chr m:val="̅"/>
                        <m:ctrlPr>
                          <a:rPr lang="en-US" sz="3200" i="1" smtClean="0">
                            <a:latin typeface="Cambria Math" panose="02040503050406030204" pitchFamily="18" charset="0"/>
                          </a:rPr>
                        </m:ctrlPr>
                      </m:accPr>
                      <m:e>
                        <m:r>
                          <a:rPr lang="en-US" sz="3200" b="0" i="1" smtClean="0">
                            <a:latin typeface="Cambria Math" panose="02040503050406030204" pitchFamily="18" charset="0"/>
                          </a:rPr>
                          <m:t>𝐴</m:t>
                        </m:r>
                      </m:e>
                    </m:acc>
                  </m:oMath>
                </a14:m>
                <a:r>
                  <a:rPr lang="en-US" sz="3200" dirty="0"/>
                  <a:t>) just before the repeated START condition.</a:t>
                </a:r>
              </a:p>
            </p:txBody>
          </p:sp>
        </mc:Choice>
        <mc:Fallback xmlns="">
          <p:sp>
            <p:nvSpPr>
              <p:cNvPr id="3" name="Content Placeholder 2">
                <a:extLst>
                  <a:ext uri="{FF2B5EF4-FFF2-40B4-BE49-F238E27FC236}">
                    <a16:creationId xmlns:a16="http://schemas.microsoft.com/office/drawing/2014/main" id="{18A63814-6B8E-B5FD-AFFD-805340357E7B}"/>
                  </a:ext>
                </a:extLst>
              </p:cNvPr>
              <p:cNvSpPr>
                <a:spLocks noGrp="1" noRot="1" noChangeAspect="1" noMove="1" noResize="1" noEditPoints="1" noAdjustHandles="1" noChangeArrowheads="1" noChangeShapeType="1" noTextEdit="1"/>
              </p:cNvSpPr>
              <p:nvPr>
                <p:ph idx="1"/>
              </p:nvPr>
            </p:nvSpPr>
            <p:spPr>
              <a:xfrm>
                <a:off x="224432" y="832651"/>
                <a:ext cx="16002012" cy="2494749"/>
              </a:xfrm>
              <a:blipFill>
                <a:blip r:embed="rId2"/>
                <a:stretch>
                  <a:fillRect l="-876" t="-5134" b="-2934"/>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AE20549E-10DC-E74F-08F4-7B6A119268AF}"/>
              </a:ext>
            </a:extLst>
          </p:cNvPr>
          <p:cNvSpPr>
            <a:spLocks noGrp="1"/>
          </p:cNvSpPr>
          <p:nvPr>
            <p:ph type="dt" sz="half" idx="10"/>
          </p:nvPr>
        </p:nvSpPr>
        <p:spPr/>
        <p:txBody>
          <a:bodyPr/>
          <a:lstStyle/>
          <a:p>
            <a:fld id="{BB0F80B2-7843-48CA-8494-31AFDA2A73A5}" type="datetime3">
              <a:rPr lang="en-US" smtClean="0"/>
              <a:t>3 December 2025</a:t>
            </a:fld>
            <a:endParaRPr lang="en-US"/>
          </a:p>
        </p:txBody>
      </p:sp>
      <p:sp>
        <p:nvSpPr>
          <p:cNvPr id="6" name="Slide Number Placeholder 5">
            <a:extLst>
              <a:ext uri="{FF2B5EF4-FFF2-40B4-BE49-F238E27FC236}">
                <a16:creationId xmlns:a16="http://schemas.microsoft.com/office/drawing/2014/main" id="{C652D7EA-430E-3A86-B709-4592C2EF0C43}"/>
              </a:ext>
            </a:extLst>
          </p:cNvPr>
          <p:cNvSpPr>
            <a:spLocks noGrp="1"/>
          </p:cNvSpPr>
          <p:nvPr>
            <p:ph type="sldNum" sz="quarter" idx="12"/>
          </p:nvPr>
        </p:nvSpPr>
        <p:spPr/>
        <p:txBody>
          <a:bodyPr/>
          <a:lstStyle/>
          <a:p>
            <a:fld id="{90416D69-EFB9-4734-9DF5-4234A5F1A98A}" type="slidenum">
              <a:rPr lang="en-US" smtClean="0"/>
              <a:t>45</a:t>
            </a:fld>
            <a:endParaRPr lang="en-US"/>
          </a:p>
        </p:txBody>
      </p:sp>
      <p:sp>
        <p:nvSpPr>
          <p:cNvPr id="7" name="Rectangle 6">
            <a:extLst>
              <a:ext uri="{FF2B5EF4-FFF2-40B4-BE49-F238E27FC236}">
                <a16:creationId xmlns:a16="http://schemas.microsoft.com/office/drawing/2014/main" id="{D8569009-B042-9A87-8CAD-5CE085D14B77}"/>
              </a:ext>
            </a:extLst>
          </p:cNvPr>
          <p:cNvSpPr/>
          <p:nvPr/>
        </p:nvSpPr>
        <p:spPr>
          <a:xfrm>
            <a:off x="224432" y="6666187"/>
            <a:ext cx="10735668" cy="1077218"/>
          </a:xfrm>
          <a:prstGeom prst="rect">
            <a:avLst/>
          </a:prstGeom>
        </p:spPr>
        <p:txBody>
          <a:bodyPr wrap="square">
            <a:spAutoFit/>
          </a:bodyPr>
          <a:lstStyle/>
          <a:p>
            <a:r>
              <a:rPr lang="en-US" sz="3200" dirty="0">
                <a:solidFill>
                  <a:srgbClr val="FF0000"/>
                </a:solidFill>
              </a:rPr>
              <a:t>Figure 5: A controller-transmitter and a target-receiver both are exchanging data.</a:t>
            </a:r>
          </a:p>
        </p:txBody>
      </p:sp>
      <p:pic>
        <p:nvPicPr>
          <p:cNvPr id="10" name="Picture 9">
            <a:extLst>
              <a:ext uri="{FF2B5EF4-FFF2-40B4-BE49-F238E27FC236}">
                <a16:creationId xmlns:a16="http://schemas.microsoft.com/office/drawing/2014/main" id="{53AC4718-D2D1-7FE2-52A4-22D47A36A546}"/>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368300" y="3242468"/>
            <a:ext cx="10617200" cy="3423720"/>
          </a:xfrm>
          <a:prstGeom prst="rect">
            <a:avLst/>
          </a:prstGeom>
        </p:spPr>
      </p:pic>
      <p:sp>
        <p:nvSpPr>
          <p:cNvPr id="12" name="TextBox 11">
            <a:extLst>
              <a:ext uri="{FF2B5EF4-FFF2-40B4-BE49-F238E27FC236}">
                <a16:creationId xmlns:a16="http://schemas.microsoft.com/office/drawing/2014/main" id="{873995AA-E2B9-E4CB-1706-34BE19E814C4}"/>
              </a:ext>
            </a:extLst>
          </p:cNvPr>
          <p:cNvSpPr txBox="1"/>
          <p:nvPr/>
        </p:nvSpPr>
        <p:spPr>
          <a:xfrm>
            <a:off x="11103968" y="3242468"/>
            <a:ext cx="5122476" cy="3785652"/>
          </a:xfrm>
          <a:prstGeom prst="rect">
            <a:avLst/>
          </a:prstGeom>
          <a:noFill/>
        </p:spPr>
        <p:txBody>
          <a:bodyPr wrap="square">
            <a:spAutoFit/>
          </a:bodyPr>
          <a:lstStyle/>
          <a:p>
            <a:pPr marL="342900" indent="-342900">
              <a:buFont typeface="Wingdings" panose="05000000000000000000" pitchFamily="2" charset="2"/>
              <a:buChar char="§"/>
            </a:pPr>
            <a:r>
              <a:rPr lang="en-US" sz="2400" dirty="0">
                <a:solidFill>
                  <a:srgbClr val="0070C0"/>
                </a:solidFill>
              </a:rPr>
              <a:t>Combined formats can be used, for example, to control a serial memory. The internal memory location must be written during the first data byte. After the START condition and target address is repeated, and data can be transferred.</a:t>
            </a:r>
          </a:p>
          <a:p>
            <a:pPr marL="342900" indent="-342900">
              <a:buFont typeface="Wingdings" panose="05000000000000000000" pitchFamily="2" charset="2"/>
              <a:buChar char="§"/>
            </a:pPr>
            <a:r>
              <a:rPr lang="en-US" sz="2400" dirty="0">
                <a:solidFill>
                  <a:srgbClr val="FF0000"/>
                </a:solidFill>
              </a:rPr>
              <a:t>Each byte is followed by an acknowledgment bit as indicated by the A or A  blocks in the sequence.</a:t>
            </a:r>
          </a:p>
        </p:txBody>
      </p:sp>
    </p:spTree>
    <p:extLst>
      <p:ext uri="{BB962C8B-B14F-4D97-AF65-F5344CB8AC3E}">
        <p14:creationId xmlns:p14="http://schemas.microsoft.com/office/powerpoint/2010/main" val="19867721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6901" y="174887"/>
            <a:ext cx="9962147" cy="912940"/>
          </a:xfrm>
        </p:spPr>
        <p:txBody>
          <a:bodyPr>
            <a:noAutofit/>
          </a:bodyPr>
          <a:lstStyle/>
          <a:p>
            <a:r>
              <a:rPr lang="en-US" sz="6000" b="1" dirty="0">
                <a:solidFill>
                  <a:srgbClr val="0070C0"/>
                </a:solidFill>
              </a:rPr>
              <a:t>Working of I2C in </a:t>
            </a:r>
            <a:r>
              <a:rPr lang="en-US" sz="6000" b="1" dirty="0" err="1">
                <a:solidFill>
                  <a:srgbClr val="0070C0"/>
                </a:solidFill>
              </a:rPr>
              <a:t>Arduino</a:t>
            </a:r>
            <a:endParaRPr lang="en-US" sz="6000" b="1" dirty="0">
              <a:solidFill>
                <a:srgbClr val="0070C0"/>
              </a:solidFill>
            </a:endParaRPr>
          </a:p>
        </p:txBody>
      </p:sp>
      <p:sp>
        <p:nvSpPr>
          <p:cNvPr id="3" name="Content Placeholder 2"/>
          <p:cNvSpPr>
            <a:spLocks noGrp="1"/>
          </p:cNvSpPr>
          <p:nvPr>
            <p:ph idx="1"/>
          </p:nvPr>
        </p:nvSpPr>
        <p:spPr>
          <a:xfrm>
            <a:off x="174556" y="947648"/>
            <a:ext cx="16101764" cy="7132323"/>
          </a:xfrm>
        </p:spPr>
        <p:txBody>
          <a:bodyPr>
            <a:noAutofit/>
          </a:bodyPr>
          <a:lstStyle/>
          <a:p>
            <a:r>
              <a:rPr lang="en-US" sz="3200" dirty="0"/>
              <a:t>The following table has been taken from the </a:t>
            </a:r>
            <a:r>
              <a:rPr lang="en-US" sz="3200" dirty="0">
                <a:hlinkClick r:id="rId2"/>
              </a:rPr>
              <a:t>I2C Specifications (2000)</a:t>
            </a:r>
            <a:r>
              <a:rPr lang="en-US" sz="3200" dirty="0"/>
              <a:t>. </a:t>
            </a:r>
          </a:p>
          <a:p>
            <a:pPr marL="1645920" lvl="3" indent="0">
              <a:spcBef>
                <a:spcPts val="0"/>
              </a:spcBef>
              <a:buNone/>
            </a:pPr>
            <a:r>
              <a:rPr lang="en-US" sz="2400" dirty="0"/>
              <a:t>	     List of Reserved I2C addresses</a:t>
            </a:r>
          </a:p>
          <a:p>
            <a:endParaRPr lang="en-US" sz="4000" dirty="0"/>
          </a:p>
          <a:p>
            <a:endParaRPr lang="en-US" sz="4000" dirty="0"/>
          </a:p>
          <a:p>
            <a:endParaRPr lang="en-US" sz="4800" dirty="0"/>
          </a:p>
          <a:p>
            <a:pPr marL="0" indent="0">
              <a:buNone/>
            </a:pPr>
            <a:endParaRPr lang="en-US" sz="4000" dirty="0"/>
          </a:p>
          <a:p>
            <a:pPr marL="292100" lvl="1" indent="0">
              <a:buNone/>
            </a:pPr>
            <a:r>
              <a:rPr lang="en-US" sz="3200" dirty="0"/>
              <a:t>(1) </a:t>
            </a:r>
            <a:r>
              <a:rPr lang="en-US" sz="3200" dirty="0">
                <a:solidFill>
                  <a:srgbClr val="00B050"/>
                </a:solidFill>
              </a:rPr>
              <a:t>No device is allowed to acknowledge </a:t>
            </a:r>
            <a:r>
              <a:rPr lang="en-US" sz="3200" dirty="0"/>
              <a:t>at the reception of the START byte.</a:t>
            </a:r>
          </a:p>
          <a:p>
            <a:pPr marL="292100" lvl="1" indent="0">
              <a:buNone/>
            </a:pPr>
            <a:r>
              <a:rPr lang="en-US" sz="3200" dirty="0"/>
              <a:t>(2) The </a:t>
            </a:r>
            <a:r>
              <a:rPr lang="en-US" sz="3200" dirty="0">
                <a:solidFill>
                  <a:srgbClr val="FF0000"/>
                </a:solidFill>
              </a:rPr>
              <a:t>CBUS address has been reserved to enable the inter-mixing of CBUS compatible and I2C-bus compatible devices in the same system</a:t>
            </a:r>
            <a:r>
              <a:rPr lang="en-US" sz="3200" dirty="0"/>
              <a:t>. I2C-bus compatible devices are not allowed to respond on reception of this address.</a:t>
            </a:r>
          </a:p>
          <a:p>
            <a:pPr marL="292100" lvl="1" indent="0">
              <a:buNone/>
            </a:pPr>
            <a:r>
              <a:rPr lang="en-US" sz="3200" dirty="0"/>
              <a:t>(3) The address reserved for a different bus format is included to enable I2C and other protocols to be mixed. Only I2C-bus compatible devices that can work with such formats and protocols are allowed to respond to this address.</a:t>
            </a:r>
          </a:p>
          <a:p>
            <a:endParaRPr lang="en-US" sz="3600" dirty="0"/>
          </a:p>
        </p:txBody>
      </p:sp>
      <p:sp>
        <p:nvSpPr>
          <p:cNvPr id="4" name="Date Placeholder 3"/>
          <p:cNvSpPr>
            <a:spLocks noGrp="1"/>
          </p:cNvSpPr>
          <p:nvPr>
            <p:ph type="dt" sz="half" idx="10"/>
          </p:nvPr>
        </p:nvSpPr>
        <p:spPr/>
        <p:txBody>
          <a:bodyPr/>
          <a:lstStyle/>
          <a:p>
            <a:fld id="{BB0F80B2-7843-48CA-8494-31AFDA2A73A5}" type="datetime3">
              <a:rPr lang="en-US" smtClean="0"/>
              <a:t>3 December 2025</a:t>
            </a:fld>
            <a:endParaRPr lang="en-US"/>
          </a:p>
        </p:txBody>
      </p:sp>
      <p:sp>
        <p:nvSpPr>
          <p:cNvPr id="6" name="Slide Number Placeholder 5"/>
          <p:cNvSpPr>
            <a:spLocks noGrp="1"/>
          </p:cNvSpPr>
          <p:nvPr>
            <p:ph type="sldNum" sz="quarter" idx="12"/>
          </p:nvPr>
        </p:nvSpPr>
        <p:spPr/>
        <p:txBody>
          <a:bodyPr/>
          <a:lstStyle/>
          <a:p>
            <a:fld id="{90416D69-EFB9-4734-9DF5-4234A5F1A98A}" type="slidenum">
              <a:rPr lang="en-US" smtClean="0"/>
              <a:t>46</a:t>
            </a:fld>
            <a:endParaRPr lang="en-US"/>
          </a:p>
        </p:txBody>
      </p:sp>
      <p:pic>
        <p:nvPicPr>
          <p:cNvPr id="8" name="Picture 7">
            <a:extLst>
              <a:ext uri="{FF2B5EF4-FFF2-40B4-BE49-F238E27FC236}">
                <a16:creationId xmlns:a16="http://schemas.microsoft.com/office/drawing/2014/main" id="{C5C9F049-65C8-E892-630F-C2068A2E2F74}"/>
              </a:ext>
            </a:extLst>
          </p:cNvPr>
          <p:cNvPicPr>
            <a:picLocks noChangeAspect="1"/>
          </p:cNvPicPr>
          <p:nvPr/>
        </p:nvPicPr>
        <p:blipFill>
          <a:blip r:embed="rId3" cstate="email">
            <a:extLst>
              <a:ext uri="{28A0092B-C50C-407E-A947-70E740481C1C}">
                <a14:useLocalDpi xmlns:a14="http://schemas.microsoft.com/office/drawing/2010/main"/>
              </a:ext>
            </a:extLst>
          </a:blip>
          <a:srcRect/>
          <a:stretch/>
        </p:blipFill>
        <p:spPr>
          <a:xfrm>
            <a:off x="558799" y="1752600"/>
            <a:ext cx="8804549" cy="3009900"/>
          </a:xfrm>
          <a:prstGeom prst="rect">
            <a:avLst/>
          </a:prstGeom>
        </p:spPr>
      </p:pic>
    </p:spTree>
    <p:extLst>
      <p:ext uri="{BB962C8B-B14F-4D97-AF65-F5344CB8AC3E}">
        <p14:creationId xmlns:p14="http://schemas.microsoft.com/office/powerpoint/2010/main" val="283126860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46901" y="174887"/>
            <a:ext cx="9962147" cy="912940"/>
          </a:xfrm>
        </p:spPr>
        <p:txBody>
          <a:bodyPr>
            <a:noAutofit/>
          </a:bodyPr>
          <a:lstStyle/>
          <a:p>
            <a:r>
              <a:rPr lang="en-US" sz="6000" b="1" dirty="0">
                <a:solidFill>
                  <a:srgbClr val="0070C0"/>
                </a:solidFill>
              </a:rPr>
              <a:t>Working of I2C in </a:t>
            </a:r>
            <a:r>
              <a:rPr lang="en-US" sz="6000" b="1" dirty="0" err="1">
                <a:solidFill>
                  <a:srgbClr val="0070C0"/>
                </a:solidFill>
              </a:rPr>
              <a:t>Arduino</a:t>
            </a:r>
            <a:endParaRPr lang="en-US" sz="6000" b="1" dirty="0">
              <a:solidFill>
                <a:srgbClr val="0070C0"/>
              </a:solidFill>
            </a:endParaRPr>
          </a:p>
        </p:txBody>
      </p:sp>
      <p:sp>
        <p:nvSpPr>
          <p:cNvPr id="3" name="Content Placeholder 2"/>
          <p:cNvSpPr>
            <a:spLocks noGrp="1"/>
          </p:cNvSpPr>
          <p:nvPr>
            <p:ph idx="1"/>
          </p:nvPr>
        </p:nvSpPr>
        <p:spPr>
          <a:xfrm>
            <a:off x="174556" y="947648"/>
            <a:ext cx="16101764" cy="3906985"/>
          </a:xfrm>
        </p:spPr>
        <p:txBody>
          <a:bodyPr>
            <a:noAutofit/>
          </a:bodyPr>
          <a:lstStyle/>
          <a:p>
            <a:r>
              <a:rPr lang="en-US" sz="3600" b="1" dirty="0">
                <a:solidFill>
                  <a:srgbClr val="0070C0"/>
                </a:solidFill>
              </a:rPr>
              <a:t>10-bit Addressing</a:t>
            </a:r>
          </a:p>
          <a:p>
            <a:r>
              <a:rPr lang="en-US" sz="3600" dirty="0"/>
              <a:t>One of the reasons that Total Phase decided to use 7-bit addressing for all of its products was to ensure that 10-bit addressing could be properly handled.</a:t>
            </a:r>
          </a:p>
          <a:p>
            <a:r>
              <a:rPr lang="en-US" sz="3600" dirty="0"/>
              <a:t>10-bit addressing was designed to be compatible with 7-bit addressing, allowing developers to mix two types of devices on a single bus. When communicating with a 10-bit addressed device, the special reserved address is used to indicate that 10-bit addressing is being used.</a:t>
            </a:r>
          </a:p>
        </p:txBody>
      </p:sp>
      <p:sp>
        <p:nvSpPr>
          <p:cNvPr id="4" name="Date Placeholder 3"/>
          <p:cNvSpPr>
            <a:spLocks noGrp="1"/>
          </p:cNvSpPr>
          <p:nvPr>
            <p:ph type="dt" sz="half" idx="10"/>
          </p:nvPr>
        </p:nvSpPr>
        <p:spPr/>
        <p:txBody>
          <a:bodyPr/>
          <a:lstStyle/>
          <a:p>
            <a:fld id="{BB0F80B2-7843-48CA-8494-31AFDA2A73A5}" type="datetime3">
              <a:rPr lang="en-US" smtClean="0"/>
              <a:t>3 December 2025</a:t>
            </a:fld>
            <a:endParaRPr lang="en-US"/>
          </a:p>
        </p:txBody>
      </p:sp>
      <p:sp>
        <p:nvSpPr>
          <p:cNvPr id="6" name="Slide Number Placeholder 5"/>
          <p:cNvSpPr>
            <a:spLocks noGrp="1"/>
          </p:cNvSpPr>
          <p:nvPr>
            <p:ph type="sldNum" sz="quarter" idx="12"/>
          </p:nvPr>
        </p:nvSpPr>
        <p:spPr/>
        <p:txBody>
          <a:bodyPr/>
          <a:lstStyle/>
          <a:p>
            <a:fld id="{90416D69-EFB9-4734-9DF5-4234A5F1A98A}" type="slidenum">
              <a:rPr lang="en-US" smtClean="0"/>
              <a:t>47</a:t>
            </a:fld>
            <a:endParaRPr lang="en-US"/>
          </a:p>
        </p:txBody>
      </p:sp>
      <p:pic>
        <p:nvPicPr>
          <p:cNvPr id="7" name="Picture 6"/>
          <p:cNvPicPr>
            <a:picLocks noChangeAspect="1"/>
          </p:cNvPicPr>
          <p:nvPr/>
        </p:nvPicPr>
        <p:blipFill>
          <a:blip r:embed="rId2"/>
          <a:stretch>
            <a:fillRect/>
          </a:stretch>
        </p:blipFill>
        <p:spPr>
          <a:xfrm>
            <a:off x="557294" y="4865394"/>
            <a:ext cx="10824518" cy="1834664"/>
          </a:xfrm>
          <a:prstGeom prst="rect">
            <a:avLst/>
          </a:prstGeom>
        </p:spPr>
      </p:pic>
      <p:sp>
        <p:nvSpPr>
          <p:cNvPr id="8" name="Rectangle 7"/>
          <p:cNvSpPr/>
          <p:nvPr/>
        </p:nvSpPr>
        <p:spPr>
          <a:xfrm>
            <a:off x="174556" y="6700058"/>
            <a:ext cx="16101764" cy="1200329"/>
          </a:xfrm>
          <a:prstGeom prst="rect">
            <a:avLst/>
          </a:prstGeom>
        </p:spPr>
        <p:txBody>
          <a:bodyPr wrap="square">
            <a:spAutoFit/>
          </a:bodyPr>
          <a:lstStyle/>
          <a:p>
            <a:r>
              <a:rPr lang="en-US" sz="2400" dirty="0">
                <a:solidFill>
                  <a:srgbClr val="00B050"/>
                </a:solidFill>
              </a:rPr>
              <a:t>Figure 6: 10-bit addressing. In 10-bit addressing, the slave address is sent in the first two bytes. The first byte begins with the special reserved address of 1111 0XX which indicates that 10-bit addressing is being used. The 10 bits of the address is encoded in the last 2 bits of the first byte and the entire 8 bits of the second byte. The 8th bit of the first byte remains the read/write flag.</a:t>
            </a:r>
          </a:p>
        </p:txBody>
      </p:sp>
    </p:spTree>
    <p:extLst>
      <p:ext uri="{BB962C8B-B14F-4D97-AF65-F5344CB8AC3E}">
        <p14:creationId xmlns:p14="http://schemas.microsoft.com/office/powerpoint/2010/main" val="211741417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08FD6-E826-D674-1519-5023687666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85D9B4-8177-1F73-BC6B-C2E0B20D0BC2}"/>
              </a:ext>
            </a:extLst>
          </p:cNvPr>
          <p:cNvSpPr>
            <a:spLocks noGrp="1"/>
          </p:cNvSpPr>
          <p:nvPr>
            <p:ph type="title"/>
          </p:nvPr>
        </p:nvSpPr>
        <p:spPr>
          <a:xfrm>
            <a:off x="1746901" y="174887"/>
            <a:ext cx="9962147" cy="912940"/>
          </a:xfrm>
        </p:spPr>
        <p:txBody>
          <a:bodyPr>
            <a:noAutofit/>
          </a:bodyPr>
          <a:lstStyle/>
          <a:p>
            <a:r>
              <a:rPr lang="en-US" sz="6000" b="1" dirty="0">
                <a:solidFill>
                  <a:srgbClr val="0070C0"/>
                </a:solidFill>
              </a:rPr>
              <a:t>Working of I2C in </a:t>
            </a:r>
            <a:r>
              <a:rPr lang="en-US" sz="6000" b="1" dirty="0" err="1">
                <a:solidFill>
                  <a:srgbClr val="0070C0"/>
                </a:solidFill>
              </a:rPr>
              <a:t>Arduino</a:t>
            </a:r>
            <a:endParaRPr lang="en-US" sz="6000" b="1" dirty="0">
              <a:solidFill>
                <a:srgbClr val="0070C0"/>
              </a:solidFill>
            </a:endParaRPr>
          </a:p>
        </p:txBody>
      </p:sp>
      <p:sp>
        <p:nvSpPr>
          <p:cNvPr id="3" name="Content Placeholder 2">
            <a:extLst>
              <a:ext uri="{FF2B5EF4-FFF2-40B4-BE49-F238E27FC236}">
                <a16:creationId xmlns:a16="http://schemas.microsoft.com/office/drawing/2014/main" id="{3376E05D-4E1D-D64E-602C-3FF0C45FF672}"/>
              </a:ext>
            </a:extLst>
          </p:cNvPr>
          <p:cNvSpPr>
            <a:spLocks noGrp="1"/>
          </p:cNvSpPr>
          <p:nvPr>
            <p:ph idx="1"/>
          </p:nvPr>
        </p:nvSpPr>
        <p:spPr>
          <a:xfrm>
            <a:off x="174556" y="947649"/>
            <a:ext cx="16101764" cy="3738652"/>
          </a:xfrm>
        </p:spPr>
        <p:txBody>
          <a:bodyPr>
            <a:noAutofit/>
          </a:bodyPr>
          <a:lstStyle/>
          <a:p>
            <a:pPr>
              <a:spcBef>
                <a:spcPts val="600"/>
              </a:spcBef>
            </a:pPr>
            <a:r>
              <a:rPr lang="en-US" sz="3200" b="1" dirty="0">
                <a:solidFill>
                  <a:srgbClr val="0070C0"/>
                </a:solidFill>
              </a:rPr>
              <a:t>10-bit Addressing (Data Write)</a:t>
            </a:r>
          </a:p>
          <a:p>
            <a:pPr>
              <a:spcBef>
                <a:spcPts val="600"/>
              </a:spcBef>
            </a:pPr>
            <a:r>
              <a:rPr lang="en-US" sz="3200" dirty="0"/>
              <a:t>Figure 7 shows the protocol to writing to a device that supports 10-bit addressing. At the beginning of a 10-bit address write, the controller sends a START condition, then, the first byte is sent with the reserved address for 10-bit I2C addressing and is followed by a </a:t>
            </a:r>
            <a:r>
              <a:rPr lang="en-US" sz="3200" dirty="0">
                <a:solidFill>
                  <a:srgbClr val="0070C0"/>
                </a:solidFill>
                <a:highlight>
                  <a:srgbClr val="FFFF00"/>
                </a:highlight>
              </a:rPr>
              <a:t>0</a:t>
            </a:r>
            <a:r>
              <a:rPr lang="en-US" sz="3200" dirty="0">
                <a:highlight>
                  <a:srgbClr val="FFFF00"/>
                </a:highlight>
              </a:rPr>
              <a:t> for a </a:t>
            </a:r>
            <a:r>
              <a:rPr lang="en-US" sz="3200" dirty="0">
                <a:solidFill>
                  <a:srgbClr val="0070C0"/>
                </a:solidFill>
                <a:highlight>
                  <a:srgbClr val="FFFF00"/>
                </a:highlight>
              </a:rPr>
              <a:t>write</a:t>
            </a:r>
            <a:r>
              <a:rPr lang="en-US" sz="3200" dirty="0">
                <a:highlight>
                  <a:srgbClr val="FFFF00"/>
                </a:highlight>
              </a:rPr>
              <a:t>. </a:t>
            </a:r>
            <a:r>
              <a:rPr lang="en-US" sz="3200" dirty="0"/>
              <a:t>The reserved address last two bits includes the first two bits of the 10-bit address. At this point there can be multiple targets that have the same first address byte for 10-bit addressing, so multiple devices can acknowledge (ACK) this address. The second byte includes the target address. This byte is the eight least significant bits of the 10-bit target address.</a:t>
            </a:r>
          </a:p>
          <a:p>
            <a:pPr>
              <a:spcBef>
                <a:spcPts val="600"/>
              </a:spcBef>
            </a:pPr>
            <a:r>
              <a:rPr lang="en-US" sz="3200" dirty="0"/>
              <a:t> With the second byte, there is presumably only one device with the unique 10-bit address. This is the only device that ACKs the communication. </a:t>
            </a:r>
          </a:p>
        </p:txBody>
      </p:sp>
      <p:sp>
        <p:nvSpPr>
          <p:cNvPr id="4" name="Date Placeholder 3">
            <a:extLst>
              <a:ext uri="{FF2B5EF4-FFF2-40B4-BE49-F238E27FC236}">
                <a16:creationId xmlns:a16="http://schemas.microsoft.com/office/drawing/2014/main" id="{9F1B4265-A3CB-6AAC-68C6-F67CAE8211E6}"/>
              </a:ext>
            </a:extLst>
          </p:cNvPr>
          <p:cNvSpPr>
            <a:spLocks noGrp="1"/>
          </p:cNvSpPr>
          <p:nvPr>
            <p:ph type="dt" sz="half" idx="10"/>
          </p:nvPr>
        </p:nvSpPr>
        <p:spPr/>
        <p:txBody>
          <a:bodyPr/>
          <a:lstStyle/>
          <a:p>
            <a:fld id="{BB0F80B2-7843-48CA-8494-31AFDA2A73A5}" type="datetime3">
              <a:rPr lang="en-US" smtClean="0"/>
              <a:t>3 December 2025</a:t>
            </a:fld>
            <a:endParaRPr lang="en-US"/>
          </a:p>
        </p:txBody>
      </p:sp>
      <p:sp>
        <p:nvSpPr>
          <p:cNvPr id="6" name="Slide Number Placeholder 5">
            <a:extLst>
              <a:ext uri="{FF2B5EF4-FFF2-40B4-BE49-F238E27FC236}">
                <a16:creationId xmlns:a16="http://schemas.microsoft.com/office/drawing/2014/main" id="{B7001969-E551-387F-DB07-F447A5DC8C4E}"/>
              </a:ext>
            </a:extLst>
          </p:cNvPr>
          <p:cNvSpPr>
            <a:spLocks noGrp="1"/>
          </p:cNvSpPr>
          <p:nvPr>
            <p:ph type="sldNum" sz="quarter" idx="12"/>
          </p:nvPr>
        </p:nvSpPr>
        <p:spPr/>
        <p:txBody>
          <a:bodyPr/>
          <a:lstStyle/>
          <a:p>
            <a:fld id="{90416D69-EFB9-4734-9DF5-4234A5F1A98A}" type="slidenum">
              <a:rPr lang="en-US" smtClean="0"/>
              <a:t>48</a:t>
            </a:fld>
            <a:endParaRPr lang="en-US"/>
          </a:p>
        </p:txBody>
      </p:sp>
      <p:sp>
        <p:nvSpPr>
          <p:cNvPr id="8" name="Rectangle 7">
            <a:extLst>
              <a:ext uri="{FF2B5EF4-FFF2-40B4-BE49-F238E27FC236}">
                <a16:creationId xmlns:a16="http://schemas.microsoft.com/office/drawing/2014/main" id="{13184D60-E0DC-3385-0097-59805B1C7BC7}"/>
              </a:ext>
            </a:extLst>
          </p:cNvPr>
          <p:cNvSpPr/>
          <p:nvPr/>
        </p:nvSpPr>
        <p:spPr>
          <a:xfrm>
            <a:off x="439696" y="7480911"/>
            <a:ext cx="15840785" cy="523220"/>
          </a:xfrm>
          <a:prstGeom prst="rect">
            <a:avLst/>
          </a:prstGeom>
        </p:spPr>
        <p:txBody>
          <a:bodyPr wrap="square">
            <a:spAutoFit/>
          </a:bodyPr>
          <a:lstStyle/>
          <a:p>
            <a:r>
              <a:rPr lang="en-US" sz="2800" dirty="0">
                <a:solidFill>
                  <a:srgbClr val="00B050"/>
                </a:solidFill>
              </a:rPr>
              <a:t>Figure 7: I2C 10-bit addressing write.</a:t>
            </a:r>
          </a:p>
        </p:txBody>
      </p:sp>
      <p:pic>
        <p:nvPicPr>
          <p:cNvPr id="10" name="Picture 9">
            <a:extLst>
              <a:ext uri="{FF2B5EF4-FFF2-40B4-BE49-F238E27FC236}">
                <a16:creationId xmlns:a16="http://schemas.microsoft.com/office/drawing/2014/main" id="{141F3E1A-184F-A2C8-79F9-D4CBB388828C}"/>
              </a:ext>
            </a:extLst>
          </p:cNvPr>
          <p:cNvPicPr>
            <a:picLocks noChangeAspect="1"/>
          </p:cNvPicPr>
          <p:nvPr/>
        </p:nvPicPr>
        <p:blipFill>
          <a:blip r:embed="rId2"/>
          <a:stretch>
            <a:fillRect/>
          </a:stretch>
        </p:blipFill>
        <p:spPr>
          <a:xfrm>
            <a:off x="439697" y="5459064"/>
            <a:ext cx="9542503" cy="2110748"/>
          </a:xfrm>
          <a:prstGeom prst="rect">
            <a:avLst/>
          </a:prstGeom>
        </p:spPr>
      </p:pic>
      <p:sp>
        <p:nvSpPr>
          <p:cNvPr id="12" name="TextBox 11">
            <a:extLst>
              <a:ext uri="{FF2B5EF4-FFF2-40B4-BE49-F238E27FC236}">
                <a16:creationId xmlns:a16="http://schemas.microsoft.com/office/drawing/2014/main" id="{3B80C54D-F0D8-4DFE-D51B-ACC628AC13AA}"/>
              </a:ext>
            </a:extLst>
          </p:cNvPr>
          <p:cNvSpPr txBox="1"/>
          <p:nvPr/>
        </p:nvSpPr>
        <p:spPr>
          <a:xfrm>
            <a:off x="10071100" y="5457127"/>
            <a:ext cx="6217568" cy="2246769"/>
          </a:xfrm>
          <a:prstGeom prst="rect">
            <a:avLst/>
          </a:prstGeom>
          <a:noFill/>
        </p:spPr>
        <p:txBody>
          <a:bodyPr wrap="square">
            <a:spAutoFit/>
          </a:bodyPr>
          <a:lstStyle/>
          <a:p>
            <a:r>
              <a:rPr lang="en-US" sz="2800" dirty="0">
                <a:solidFill>
                  <a:srgbClr val="0070C0"/>
                </a:solidFill>
              </a:rPr>
              <a:t>This target stays in communication until the controller sends a STOP condition or until the controller sends a repeated START condition to communicate with a different target address.</a:t>
            </a:r>
          </a:p>
        </p:txBody>
      </p:sp>
    </p:spTree>
    <p:extLst>
      <p:ext uri="{BB962C8B-B14F-4D97-AF65-F5344CB8AC3E}">
        <p14:creationId xmlns:p14="http://schemas.microsoft.com/office/powerpoint/2010/main" val="3349591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B6B5C-D9B5-9953-628C-FEAF193A91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CE8151-4AC5-E974-A946-B2A6D1545A29}"/>
              </a:ext>
            </a:extLst>
          </p:cNvPr>
          <p:cNvSpPr>
            <a:spLocks noGrp="1"/>
          </p:cNvSpPr>
          <p:nvPr>
            <p:ph type="title"/>
          </p:nvPr>
        </p:nvSpPr>
        <p:spPr>
          <a:xfrm>
            <a:off x="1746901" y="174887"/>
            <a:ext cx="9962147" cy="912940"/>
          </a:xfrm>
        </p:spPr>
        <p:txBody>
          <a:bodyPr>
            <a:noAutofit/>
          </a:bodyPr>
          <a:lstStyle/>
          <a:p>
            <a:r>
              <a:rPr lang="en-US" sz="6000" b="1" dirty="0">
                <a:solidFill>
                  <a:srgbClr val="0070C0"/>
                </a:solidFill>
              </a:rPr>
              <a:t>Working of I2C in </a:t>
            </a:r>
            <a:r>
              <a:rPr lang="en-US" sz="6000" b="1" dirty="0" err="1">
                <a:solidFill>
                  <a:srgbClr val="0070C0"/>
                </a:solidFill>
              </a:rPr>
              <a:t>Arduino</a:t>
            </a:r>
            <a:endParaRPr lang="en-US" sz="6000" b="1" dirty="0">
              <a:solidFill>
                <a:srgbClr val="0070C0"/>
              </a:solidFill>
            </a:endParaRPr>
          </a:p>
        </p:txBody>
      </p:sp>
      <p:sp>
        <p:nvSpPr>
          <p:cNvPr id="3" name="Content Placeholder 2">
            <a:extLst>
              <a:ext uri="{FF2B5EF4-FFF2-40B4-BE49-F238E27FC236}">
                <a16:creationId xmlns:a16="http://schemas.microsoft.com/office/drawing/2014/main" id="{39DD4222-A17A-5312-E916-B88FE5BEC571}"/>
              </a:ext>
            </a:extLst>
          </p:cNvPr>
          <p:cNvSpPr>
            <a:spLocks noGrp="1"/>
          </p:cNvSpPr>
          <p:nvPr>
            <p:ph idx="1"/>
          </p:nvPr>
        </p:nvSpPr>
        <p:spPr>
          <a:xfrm>
            <a:off x="174556" y="947648"/>
            <a:ext cx="16101764" cy="6773952"/>
          </a:xfrm>
        </p:spPr>
        <p:txBody>
          <a:bodyPr>
            <a:noAutofit/>
          </a:bodyPr>
          <a:lstStyle/>
          <a:p>
            <a:pPr>
              <a:spcBef>
                <a:spcPts val="600"/>
              </a:spcBef>
            </a:pPr>
            <a:r>
              <a:rPr lang="en-US" sz="3600" b="1" dirty="0">
                <a:solidFill>
                  <a:srgbClr val="00B050"/>
                </a:solidFill>
              </a:rPr>
              <a:t>10-bit Addressing (Data Read)</a:t>
            </a:r>
          </a:p>
          <a:p>
            <a:pPr>
              <a:spcBef>
                <a:spcPts val="600"/>
              </a:spcBef>
            </a:pPr>
            <a:r>
              <a:rPr lang="en-US" sz="3600" dirty="0"/>
              <a:t>Reading from a 10-bit addressed device is like a write but with added steps. At the beginning of the communication, there is a START followed by the reserved address. A 0 for a write bit is then written. This is followed by an ACK from all devices that use the reserved address. The target address second byte is then sent. An ACK from the addressed device is then received. Until this point, the communication is the same as a 10-bit address write (Fig. 8).</a:t>
            </a:r>
          </a:p>
          <a:p>
            <a:pPr>
              <a:spcBef>
                <a:spcPts val="600"/>
              </a:spcBef>
            </a:pPr>
            <a:r>
              <a:rPr lang="en-US" sz="3600" dirty="0"/>
              <a:t>To read from this device, the controller then sends a repeated START. This step is followed by the reserved address that was just used. Then the read bit is sent followed by an ACK. Because the read bit is sent (and not the write bit), the device that previously </a:t>
            </a:r>
            <a:r>
              <a:rPr lang="en-US" sz="3600" dirty="0" err="1"/>
              <a:t>ACKed</a:t>
            </a:r>
            <a:r>
              <a:rPr lang="en-US" sz="3600" dirty="0"/>
              <a:t> this communication interprets that this is a read. Other devices with the same reserved address do not respond. The addressed device then ACKs this repeat of the reserved target address.</a:t>
            </a:r>
          </a:p>
        </p:txBody>
      </p:sp>
      <p:sp>
        <p:nvSpPr>
          <p:cNvPr id="4" name="Date Placeholder 3">
            <a:extLst>
              <a:ext uri="{FF2B5EF4-FFF2-40B4-BE49-F238E27FC236}">
                <a16:creationId xmlns:a16="http://schemas.microsoft.com/office/drawing/2014/main" id="{0792C098-BE0C-6EF1-F0C9-741317E5B524}"/>
              </a:ext>
            </a:extLst>
          </p:cNvPr>
          <p:cNvSpPr>
            <a:spLocks noGrp="1"/>
          </p:cNvSpPr>
          <p:nvPr>
            <p:ph type="dt" sz="half" idx="10"/>
          </p:nvPr>
        </p:nvSpPr>
        <p:spPr/>
        <p:txBody>
          <a:bodyPr/>
          <a:lstStyle/>
          <a:p>
            <a:fld id="{BB0F80B2-7843-48CA-8494-31AFDA2A73A5}" type="datetime3">
              <a:rPr lang="en-US" smtClean="0"/>
              <a:t>3 December 2025</a:t>
            </a:fld>
            <a:endParaRPr lang="en-US"/>
          </a:p>
        </p:txBody>
      </p:sp>
      <p:sp>
        <p:nvSpPr>
          <p:cNvPr id="6" name="Slide Number Placeholder 5">
            <a:extLst>
              <a:ext uri="{FF2B5EF4-FFF2-40B4-BE49-F238E27FC236}">
                <a16:creationId xmlns:a16="http://schemas.microsoft.com/office/drawing/2014/main" id="{46F5167A-0EC4-FA17-9BA2-1EDE36BF705E}"/>
              </a:ext>
            </a:extLst>
          </p:cNvPr>
          <p:cNvSpPr>
            <a:spLocks noGrp="1"/>
          </p:cNvSpPr>
          <p:nvPr>
            <p:ph type="sldNum" sz="quarter" idx="12"/>
          </p:nvPr>
        </p:nvSpPr>
        <p:spPr/>
        <p:txBody>
          <a:bodyPr/>
          <a:lstStyle/>
          <a:p>
            <a:fld id="{90416D69-EFB9-4734-9DF5-4234A5F1A98A}" type="slidenum">
              <a:rPr lang="en-US" smtClean="0"/>
              <a:t>49</a:t>
            </a:fld>
            <a:endParaRPr lang="en-US"/>
          </a:p>
        </p:txBody>
      </p:sp>
    </p:spTree>
    <p:extLst>
      <p:ext uri="{BB962C8B-B14F-4D97-AF65-F5344CB8AC3E}">
        <p14:creationId xmlns:p14="http://schemas.microsoft.com/office/powerpoint/2010/main" val="3081154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5CEDD6-9FE2-F2A1-52F6-2D852C2AC0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0B9B93-3232-0A1D-6FB3-5BB9A7E946C0}"/>
              </a:ext>
            </a:extLst>
          </p:cNvPr>
          <p:cNvSpPr>
            <a:spLocks noGrp="1"/>
          </p:cNvSpPr>
          <p:nvPr>
            <p:ph type="title"/>
          </p:nvPr>
        </p:nvSpPr>
        <p:spPr>
          <a:xfrm>
            <a:off x="1746901" y="174887"/>
            <a:ext cx="9962147" cy="912940"/>
          </a:xfrm>
        </p:spPr>
        <p:txBody>
          <a:bodyPr>
            <a:noAutofit/>
          </a:bodyPr>
          <a:lstStyle/>
          <a:p>
            <a:r>
              <a:rPr lang="en-US" sz="6000" b="1" dirty="0">
                <a:solidFill>
                  <a:srgbClr val="0070C0"/>
                </a:solidFill>
              </a:rPr>
              <a:t>Working of I2C in </a:t>
            </a:r>
            <a:r>
              <a:rPr lang="en-US" sz="6000" b="1" dirty="0" err="1">
                <a:solidFill>
                  <a:srgbClr val="0070C0"/>
                </a:solidFill>
              </a:rPr>
              <a:t>Arduino</a:t>
            </a:r>
            <a:endParaRPr lang="en-US" sz="6000" b="1" dirty="0">
              <a:solidFill>
                <a:srgbClr val="0070C0"/>
              </a:solidFill>
            </a:endParaRPr>
          </a:p>
        </p:txBody>
      </p:sp>
      <p:sp>
        <p:nvSpPr>
          <p:cNvPr id="3" name="Content Placeholder 2">
            <a:extLst>
              <a:ext uri="{FF2B5EF4-FFF2-40B4-BE49-F238E27FC236}">
                <a16:creationId xmlns:a16="http://schemas.microsoft.com/office/drawing/2014/main" id="{EBB7EE61-DB65-BBF2-E76D-46EF02DBC8DE}"/>
              </a:ext>
            </a:extLst>
          </p:cNvPr>
          <p:cNvSpPr>
            <a:spLocks noGrp="1"/>
          </p:cNvSpPr>
          <p:nvPr>
            <p:ph idx="1"/>
          </p:nvPr>
        </p:nvSpPr>
        <p:spPr>
          <a:xfrm>
            <a:off x="174556" y="947649"/>
            <a:ext cx="16101764" cy="3084622"/>
          </a:xfrm>
        </p:spPr>
        <p:txBody>
          <a:bodyPr>
            <a:noAutofit/>
          </a:bodyPr>
          <a:lstStyle/>
          <a:p>
            <a:pPr>
              <a:spcBef>
                <a:spcPts val="600"/>
              </a:spcBef>
            </a:pPr>
            <a:r>
              <a:rPr lang="en-US" sz="4000" b="1" dirty="0">
                <a:solidFill>
                  <a:srgbClr val="00B050"/>
                </a:solidFill>
              </a:rPr>
              <a:t>10-bit Addressing (Data Read)</a:t>
            </a:r>
          </a:p>
          <a:p>
            <a:pPr>
              <a:spcBef>
                <a:spcPts val="600"/>
              </a:spcBef>
            </a:pPr>
            <a:r>
              <a:rPr lang="en-US" sz="4000" dirty="0"/>
              <a:t>After the addressed device sends the ACK, data is transmitted by the device, and after each byte, the controller ACKs the data. This data transmission continues until the controller sends a STOP condition or a repeated START followed by a different target address (Fig. 8).</a:t>
            </a:r>
          </a:p>
        </p:txBody>
      </p:sp>
      <p:sp>
        <p:nvSpPr>
          <p:cNvPr id="4" name="Date Placeholder 3">
            <a:extLst>
              <a:ext uri="{FF2B5EF4-FFF2-40B4-BE49-F238E27FC236}">
                <a16:creationId xmlns:a16="http://schemas.microsoft.com/office/drawing/2014/main" id="{15699FF1-2D48-5928-6AF7-DB2FFAEB5942}"/>
              </a:ext>
            </a:extLst>
          </p:cNvPr>
          <p:cNvSpPr>
            <a:spLocks noGrp="1"/>
          </p:cNvSpPr>
          <p:nvPr>
            <p:ph type="dt" sz="half" idx="10"/>
          </p:nvPr>
        </p:nvSpPr>
        <p:spPr/>
        <p:txBody>
          <a:bodyPr/>
          <a:lstStyle/>
          <a:p>
            <a:fld id="{BB0F80B2-7843-48CA-8494-31AFDA2A73A5}" type="datetime3">
              <a:rPr lang="en-US" smtClean="0"/>
              <a:t>3 December 2025</a:t>
            </a:fld>
            <a:endParaRPr lang="en-US"/>
          </a:p>
        </p:txBody>
      </p:sp>
      <p:sp>
        <p:nvSpPr>
          <p:cNvPr id="6" name="Slide Number Placeholder 5">
            <a:extLst>
              <a:ext uri="{FF2B5EF4-FFF2-40B4-BE49-F238E27FC236}">
                <a16:creationId xmlns:a16="http://schemas.microsoft.com/office/drawing/2014/main" id="{71CD5D0C-7048-A76A-7E98-F64BAC4E8404}"/>
              </a:ext>
            </a:extLst>
          </p:cNvPr>
          <p:cNvSpPr>
            <a:spLocks noGrp="1"/>
          </p:cNvSpPr>
          <p:nvPr>
            <p:ph type="sldNum" sz="quarter" idx="12"/>
          </p:nvPr>
        </p:nvSpPr>
        <p:spPr/>
        <p:txBody>
          <a:bodyPr/>
          <a:lstStyle/>
          <a:p>
            <a:fld id="{90416D69-EFB9-4734-9DF5-4234A5F1A98A}" type="slidenum">
              <a:rPr lang="en-US" smtClean="0"/>
              <a:t>50</a:t>
            </a:fld>
            <a:endParaRPr lang="en-US"/>
          </a:p>
        </p:txBody>
      </p:sp>
      <p:sp>
        <p:nvSpPr>
          <p:cNvPr id="8" name="Rectangle 7">
            <a:extLst>
              <a:ext uri="{FF2B5EF4-FFF2-40B4-BE49-F238E27FC236}">
                <a16:creationId xmlns:a16="http://schemas.microsoft.com/office/drawing/2014/main" id="{6C01D0E3-2A1D-5C67-06DA-E682DDC4E667}"/>
              </a:ext>
            </a:extLst>
          </p:cNvPr>
          <p:cNvSpPr/>
          <p:nvPr/>
        </p:nvSpPr>
        <p:spPr>
          <a:xfrm>
            <a:off x="276064" y="6400758"/>
            <a:ext cx="15840785" cy="584775"/>
          </a:xfrm>
          <a:prstGeom prst="rect">
            <a:avLst/>
          </a:prstGeom>
        </p:spPr>
        <p:txBody>
          <a:bodyPr wrap="square">
            <a:spAutoFit/>
          </a:bodyPr>
          <a:lstStyle/>
          <a:p>
            <a:r>
              <a:rPr lang="en-US" sz="3200" dirty="0">
                <a:solidFill>
                  <a:srgbClr val="00B050"/>
                </a:solidFill>
              </a:rPr>
              <a:t>Figure 8: I2C 10-bit addressing read.</a:t>
            </a:r>
          </a:p>
        </p:txBody>
      </p:sp>
      <p:pic>
        <p:nvPicPr>
          <p:cNvPr id="9" name="Picture 8">
            <a:extLst>
              <a:ext uri="{FF2B5EF4-FFF2-40B4-BE49-F238E27FC236}">
                <a16:creationId xmlns:a16="http://schemas.microsoft.com/office/drawing/2014/main" id="{034B1FF1-1427-1F34-10D7-4F169C48BAFE}"/>
              </a:ext>
            </a:extLst>
          </p:cNvPr>
          <p:cNvPicPr>
            <a:picLocks noChangeAspect="1"/>
          </p:cNvPicPr>
          <p:nvPr/>
        </p:nvPicPr>
        <p:blipFill>
          <a:blip r:embed="rId2"/>
          <a:stretch>
            <a:fillRect/>
          </a:stretch>
        </p:blipFill>
        <p:spPr>
          <a:xfrm>
            <a:off x="276064" y="4197329"/>
            <a:ext cx="15934886" cy="2038371"/>
          </a:xfrm>
          <a:prstGeom prst="rect">
            <a:avLst/>
          </a:prstGeom>
        </p:spPr>
      </p:pic>
    </p:spTree>
    <p:extLst>
      <p:ext uri="{BB962C8B-B14F-4D97-AF65-F5344CB8AC3E}">
        <p14:creationId xmlns:p14="http://schemas.microsoft.com/office/powerpoint/2010/main" val="16316022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99738B8-CF26-4225-A50A-45E23F92D480}" type="datetime3">
              <a:rPr lang="en-US" smtClean="0"/>
              <a:t>3 December 2025</a:t>
            </a:fld>
            <a:endParaRPr lang="en-US"/>
          </a:p>
        </p:txBody>
      </p:sp>
      <p:sp>
        <p:nvSpPr>
          <p:cNvPr id="7" name="Slide Number Placeholder 6"/>
          <p:cNvSpPr>
            <a:spLocks noGrp="1"/>
          </p:cNvSpPr>
          <p:nvPr>
            <p:ph type="sldNum" sz="quarter" idx="12"/>
          </p:nvPr>
        </p:nvSpPr>
        <p:spPr/>
        <p:txBody>
          <a:bodyPr/>
          <a:lstStyle/>
          <a:p>
            <a:fld id="{90416D69-EFB9-4734-9DF5-4234A5F1A98A}" type="slidenum">
              <a:rPr lang="en-US" smtClean="0"/>
              <a:t>51</a:t>
            </a:fld>
            <a:endParaRPr lang="en-US"/>
          </a:p>
        </p:txBody>
      </p:sp>
      <p:sp>
        <p:nvSpPr>
          <p:cNvPr id="5" name="TextBox 4">
            <a:extLst>
              <a:ext uri="{FF2B5EF4-FFF2-40B4-BE49-F238E27FC236}">
                <a16:creationId xmlns:a16="http://schemas.microsoft.com/office/drawing/2014/main" id="{E6AEB5CD-55EB-45A2-B5A9-02AE03393DA4}"/>
              </a:ext>
            </a:extLst>
          </p:cNvPr>
          <p:cNvSpPr txBox="1"/>
          <p:nvPr/>
        </p:nvSpPr>
        <p:spPr>
          <a:xfrm>
            <a:off x="336013" y="969135"/>
            <a:ext cx="7494576" cy="6814173"/>
          </a:xfrm>
          <a:prstGeom prst="rect">
            <a:avLst/>
          </a:prstGeom>
          <a:noFill/>
          <a:ln>
            <a:solidFill>
              <a:srgbClr val="FF0000"/>
            </a:solidFill>
          </a:ln>
        </p:spPr>
        <p:txBody>
          <a:bodyPr wrap="square" lIns="45720" tIns="0" rIns="0" bIns="0" rtlCol="0">
            <a:spAutoFit/>
          </a:bodyPr>
          <a:lstStyle/>
          <a:p>
            <a:r>
              <a:rPr lang="en-US" sz="2400" dirty="0"/>
              <a:t>#include &lt;</a:t>
            </a:r>
            <a:r>
              <a:rPr lang="en-US" sz="2400" dirty="0" err="1"/>
              <a:t>Wire.h</a:t>
            </a:r>
            <a:r>
              <a:rPr lang="en-US" sz="2400" dirty="0"/>
              <a:t>&gt;</a:t>
            </a:r>
          </a:p>
          <a:p>
            <a:r>
              <a:rPr lang="en-US" dirty="0"/>
              <a:t> </a:t>
            </a:r>
          </a:p>
          <a:p>
            <a:r>
              <a:rPr lang="en-US" sz="2400" dirty="0"/>
              <a:t>void setup()</a:t>
            </a:r>
          </a:p>
          <a:p>
            <a:r>
              <a:rPr lang="en-US" sz="2400" dirty="0"/>
              <a:t>{</a:t>
            </a:r>
          </a:p>
          <a:p>
            <a:r>
              <a:rPr lang="en-US" sz="2400" dirty="0"/>
              <a:t>  </a:t>
            </a:r>
            <a:r>
              <a:rPr lang="en-US" sz="2400" dirty="0" err="1"/>
              <a:t>Wire.begin</a:t>
            </a:r>
            <a:r>
              <a:rPr lang="en-US" sz="2400" dirty="0"/>
              <a:t>();</a:t>
            </a:r>
          </a:p>
          <a:p>
            <a:r>
              <a:rPr lang="en-US" sz="2400" dirty="0"/>
              <a:t> </a:t>
            </a:r>
          </a:p>
          <a:p>
            <a:r>
              <a:rPr lang="en-US" sz="2400" dirty="0"/>
              <a:t>  </a:t>
            </a:r>
            <a:r>
              <a:rPr lang="en-US" sz="2400" dirty="0" err="1"/>
              <a:t>serial.begin</a:t>
            </a:r>
            <a:r>
              <a:rPr lang="en-US" sz="2400" dirty="0"/>
              <a:t>(9600);</a:t>
            </a:r>
          </a:p>
          <a:p>
            <a:r>
              <a:rPr lang="en-US" sz="2400" dirty="0"/>
              <a:t>  while (!Serial);             // Leonardo: wait for serial monitor</a:t>
            </a:r>
          </a:p>
          <a:p>
            <a:r>
              <a:rPr lang="en-US" sz="2400" dirty="0"/>
              <a:t>  </a:t>
            </a:r>
            <a:r>
              <a:rPr lang="en-US" sz="2400" dirty="0" err="1"/>
              <a:t>serial.println</a:t>
            </a:r>
            <a:r>
              <a:rPr lang="en-US" sz="2400" dirty="0"/>
              <a:t>("\nI2C Scanner");</a:t>
            </a:r>
          </a:p>
          <a:p>
            <a:r>
              <a:rPr lang="en-US" sz="2400" dirty="0"/>
              <a:t>}</a:t>
            </a:r>
          </a:p>
          <a:p>
            <a:pPr>
              <a:lnSpc>
                <a:spcPct val="80000"/>
              </a:lnSpc>
            </a:pPr>
            <a:r>
              <a:rPr lang="en-US" sz="2400" dirty="0"/>
              <a:t> </a:t>
            </a:r>
          </a:p>
          <a:p>
            <a:r>
              <a:rPr lang="en-US" sz="2400" dirty="0"/>
              <a:t>void loop()</a:t>
            </a:r>
          </a:p>
          <a:p>
            <a:r>
              <a:rPr lang="en-US" sz="2400" dirty="0"/>
              <a:t>{</a:t>
            </a:r>
          </a:p>
          <a:p>
            <a:r>
              <a:rPr lang="en-US" sz="2400" dirty="0"/>
              <a:t>  byte error, address;</a:t>
            </a:r>
          </a:p>
          <a:p>
            <a:r>
              <a:rPr lang="en-US" sz="2400" dirty="0"/>
              <a:t>  </a:t>
            </a:r>
            <a:r>
              <a:rPr lang="en-US" sz="2400" dirty="0" err="1"/>
              <a:t>int</a:t>
            </a:r>
            <a:r>
              <a:rPr lang="en-US" sz="2400" dirty="0"/>
              <a:t> </a:t>
            </a:r>
            <a:r>
              <a:rPr lang="en-US" sz="2400" dirty="0" err="1"/>
              <a:t>nDevices</a:t>
            </a:r>
            <a:r>
              <a:rPr lang="en-US" sz="2400" dirty="0"/>
              <a:t>;</a:t>
            </a:r>
          </a:p>
          <a:p>
            <a:r>
              <a:rPr lang="en-US" sz="2400" dirty="0"/>
              <a:t> </a:t>
            </a:r>
          </a:p>
          <a:p>
            <a:r>
              <a:rPr lang="en-US" sz="2400" dirty="0"/>
              <a:t>  </a:t>
            </a:r>
            <a:r>
              <a:rPr lang="en-US" sz="2400" dirty="0" err="1"/>
              <a:t>serial.println</a:t>
            </a:r>
            <a:r>
              <a:rPr lang="en-US" sz="2400" dirty="0"/>
              <a:t>("Scanning...");</a:t>
            </a:r>
          </a:p>
          <a:p>
            <a:pPr>
              <a:lnSpc>
                <a:spcPct val="90000"/>
              </a:lnSpc>
            </a:pPr>
            <a:r>
              <a:rPr lang="en-US" sz="2400" dirty="0"/>
              <a:t> </a:t>
            </a:r>
            <a:endParaRPr lang="en-US" sz="2000" dirty="0"/>
          </a:p>
          <a:p>
            <a:r>
              <a:rPr lang="en-US" sz="2400" dirty="0"/>
              <a:t>  </a:t>
            </a:r>
            <a:r>
              <a:rPr lang="en-US" sz="2400" dirty="0" err="1"/>
              <a:t>nDevices</a:t>
            </a:r>
            <a:r>
              <a:rPr lang="en-US" sz="2400" dirty="0"/>
              <a:t> = 0;</a:t>
            </a:r>
          </a:p>
        </p:txBody>
      </p:sp>
      <p:sp>
        <p:nvSpPr>
          <p:cNvPr id="8" name="Title 7"/>
          <p:cNvSpPr>
            <a:spLocks noGrp="1"/>
          </p:cNvSpPr>
          <p:nvPr>
            <p:ph type="title"/>
          </p:nvPr>
        </p:nvSpPr>
        <p:spPr>
          <a:xfrm>
            <a:off x="1713461" y="122268"/>
            <a:ext cx="10040735" cy="846867"/>
          </a:xfrm>
        </p:spPr>
        <p:txBody>
          <a:bodyPr>
            <a:normAutofit/>
          </a:bodyPr>
          <a:lstStyle/>
          <a:p>
            <a:r>
              <a:rPr lang="en-US" sz="5400" b="1" dirty="0">
                <a:solidFill>
                  <a:srgbClr val="0070C0"/>
                </a:solidFill>
              </a:rPr>
              <a:t>Program for I2C: I2C_SCANNER</a:t>
            </a:r>
          </a:p>
        </p:txBody>
      </p:sp>
      <p:sp>
        <p:nvSpPr>
          <p:cNvPr id="9" name="Rectangle 8"/>
          <p:cNvSpPr/>
          <p:nvPr/>
        </p:nvSpPr>
        <p:spPr>
          <a:xfrm>
            <a:off x="8196351" y="956435"/>
            <a:ext cx="8015440" cy="6740307"/>
          </a:xfrm>
          <a:prstGeom prst="rect">
            <a:avLst/>
          </a:prstGeom>
          <a:ln>
            <a:solidFill>
              <a:srgbClr val="FF0000"/>
            </a:solidFill>
          </a:ln>
        </p:spPr>
        <p:txBody>
          <a:bodyPr wrap="square">
            <a:spAutoFit/>
          </a:bodyPr>
          <a:lstStyle/>
          <a:p>
            <a:r>
              <a:rPr lang="en-US" sz="2400" dirty="0"/>
              <a:t> for(address = 1; address &lt; 127; address++ )</a:t>
            </a:r>
          </a:p>
          <a:p>
            <a:r>
              <a:rPr lang="en-US" sz="2400" dirty="0"/>
              <a:t>  {</a:t>
            </a:r>
          </a:p>
          <a:p>
            <a:r>
              <a:rPr lang="en-US" sz="2400" dirty="0"/>
              <a:t>    // The i2c_scanner uses the return value of the </a:t>
            </a:r>
          </a:p>
          <a:p>
            <a:r>
              <a:rPr lang="en-US" sz="2400" dirty="0"/>
              <a:t>// </a:t>
            </a:r>
            <a:r>
              <a:rPr lang="en-US" sz="2400" dirty="0" err="1"/>
              <a:t>Write.endTransmission</a:t>
            </a:r>
            <a:r>
              <a:rPr lang="en-US" sz="2400" dirty="0"/>
              <a:t> to see if a device did acknowledge to </a:t>
            </a:r>
          </a:p>
          <a:p>
            <a:r>
              <a:rPr lang="en-US" sz="2400" dirty="0"/>
              <a:t>// the address.</a:t>
            </a:r>
          </a:p>
          <a:p>
            <a:r>
              <a:rPr lang="en-US" sz="2400" dirty="0"/>
              <a:t>    </a:t>
            </a:r>
            <a:r>
              <a:rPr lang="en-US" sz="2400" dirty="0" err="1"/>
              <a:t>Wire.beginTransmission</a:t>
            </a:r>
            <a:r>
              <a:rPr lang="en-US" sz="2400" dirty="0"/>
              <a:t>(address);</a:t>
            </a:r>
          </a:p>
          <a:p>
            <a:r>
              <a:rPr lang="en-US" sz="2400" dirty="0"/>
              <a:t>    error = </a:t>
            </a:r>
            <a:r>
              <a:rPr lang="en-US" sz="2400" dirty="0" err="1"/>
              <a:t>Wire.endTransmission</a:t>
            </a:r>
            <a:r>
              <a:rPr lang="en-US" sz="2400" dirty="0"/>
              <a:t>();</a:t>
            </a:r>
          </a:p>
          <a:p>
            <a:endParaRPr lang="en-US" sz="2400" dirty="0"/>
          </a:p>
          <a:p>
            <a:r>
              <a:rPr lang="en-US" sz="2400" dirty="0"/>
              <a:t>if (error == 0)</a:t>
            </a:r>
          </a:p>
          <a:p>
            <a:r>
              <a:rPr lang="en-US" sz="2400" dirty="0"/>
              <a:t>    {</a:t>
            </a:r>
          </a:p>
          <a:p>
            <a:r>
              <a:rPr lang="en-US" sz="2400" dirty="0"/>
              <a:t>      </a:t>
            </a:r>
            <a:r>
              <a:rPr lang="en-US" sz="2400" dirty="0" err="1"/>
              <a:t>serial.print</a:t>
            </a:r>
            <a:r>
              <a:rPr lang="en-US" sz="2400" dirty="0"/>
              <a:t>("I2C device found at address 0x");</a:t>
            </a:r>
          </a:p>
          <a:p>
            <a:r>
              <a:rPr lang="en-US" sz="2400" dirty="0"/>
              <a:t>      if (address&lt;16)</a:t>
            </a:r>
          </a:p>
          <a:p>
            <a:r>
              <a:rPr lang="en-US" sz="2400" dirty="0"/>
              <a:t>         </a:t>
            </a:r>
            <a:r>
              <a:rPr lang="en-US" sz="2400" dirty="0" err="1"/>
              <a:t>serial.print</a:t>
            </a:r>
            <a:r>
              <a:rPr lang="en-US" sz="2400" dirty="0"/>
              <a:t>("0");</a:t>
            </a:r>
          </a:p>
          <a:p>
            <a:r>
              <a:rPr lang="en-US" sz="2400" dirty="0"/>
              <a:t>         </a:t>
            </a:r>
            <a:r>
              <a:rPr lang="en-US" sz="2400" dirty="0" err="1"/>
              <a:t>serial.print</a:t>
            </a:r>
            <a:r>
              <a:rPr lang="en-US" sz="2400" dirty="0"/>
              <a:t>(address, HEX);</a:t>
            </a:r>
          </a:p>
          <a:p>
            <a:r>
              <a:rPr lang="en-US" sz="2400" dirty="0"/>
              <a:t>	  </a:t>
            </a:r>
            <a:r>
              <a:rPr lang="en-US" sz="2400" dirty="0" err="1"/>
              <a:t>serial.println</a:t>
            </a:r>
            <a:r>
              <a:rPr lang="en-US" sz="2400" dirty="0"/>
              <a:t>("  !");</a:t>
            </a:r>
          </a:p>
          <a:p>
            <a:r>
              <a:rPr lang="en-US" sz="2400" dirty="0"/>
              <a:t> </a:t>
            </a:r>
          </a:p>
          <a:p>
            <a:r>
              <a:rPr lang="en-US" sz="2400" dirty="0"/>
              <a:t>         </a:t>
            </a:r>
            <a:r>
              <a:rPr lang="en-US" sz="2400" dirty="0" err="1"/>
              <a:t>nDevices</a:t>
            </a:r>
            <a:r>
              <a:rPr lang="en-US" sz="2400" dirty="0"/>
              <a:t>++;</a:t>
            </a:r>
          </a:p>
          <a:p>
            <a:r>
              <a:rPr lang="en-US" sz="2400" dirty="0"/>
              <a:t>    }</a:t>
            </a:r>
          </a:p>
        </p:txBody>
      </p:sp>
    </p:spTree>
    <p:extLst>
      <p:ext uri="{BB962C8B-B14F-4D97-AF65-F5344CB8AC3E}">
        <p14:creationId xmlns:p14="http://schemas.microsoft.com/office/powerpoint/2010/main" val="2443780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099738B8-CF26-4225-A50A-45E23F92D480}" type="datetime3">
              <a:rPr lang="en-US" smtClean="0"/>
              <a:t>3 December 2025</a:t>
            </a:fld>
            <a:endParaRPr lang="en-US"/>
          </a:p>
        </p:txBody>
      </p:sp>
      <p:sp>
        <p:nvSpPr>
          <p:cNvPr id="7" name="Slide Number Placeholder 6"/>
          <p:cNvSpPr>
            <a:spLocks noGrp="1"/>
          </p:cNvSpPr>
          <p:nvPr>
            <p:ph type="sldNum" sz="quarter" idx="12"/>
          </p:nvPr>
        </p:nvSpPr>
        <p:spPr/>
        <p:txBody>
          <a:bodyPr/>
          <a:lstStyle/>
          <a:p>
            <a:fld id="{90416D69-EFB9-4734-9DF5-4234A5F1A98A}" type="slidenum">
              <a:rPr lang="en-US" smtClean="0"/>
              <a:t>52</a:t>
            </a:fld>
            <a:endParaRPr lang="en-US"/>
          </a:p>
        </p:txBody>
      </p:sp>
      <p:sp>
        <p:nvSpPr>
          <p:cNvPr id="5" name="TextBox 4">
            <a:extLst>
              <a:ext uri="{FF2B5EF4-FFF2-40B4-BE49-F238E27FC236}">
                <a16:creationId xmlns:a16="http://schemas.microsoft.com/office/drawing/2014/main" id="{E6AEB5CD-55EB-45A2-B5A9-02AE03393DA4}"/>
              </a:ext>
            </a:extLst>
          </p:cNvPr>
          <p:cNvSpPr txBox="1"/>
          <p:nvPr/>
        </p:nvSpPr>
        <p:spPr>
          <a:xfrm>
            <a:off x="336013" y="969135"/>
            <a:ext cx="7494576" cy="6986528"/>
          </a:xfrm>
          <a:prstGeom prst="rect">
            <a:avLst/>
          </a:prstGeom>
          <a:noFill/>
          <a:ln>
            <a:solidFill>
              <a:srgbClr val="FF0000"/>
            </a:solidFill>
          </a:ln>
        </p:spPr>
        <p:txBody>
          <a:bodyPr wrap="square" tIns="0" rIns="0" bIns="0" rtlCol="0">
            <a:spAutoFit/>
          </a:bodyPr>
          <a:lstStyle/>
          <a:p>
            <a:r>
              <a:rPr lang="en-US" sz="2800" dirty="0"/>
              <a:t>else if (error==4)</a:t>
            </a:r>
          </a:p>
          <a:p>
            <a:r>
              <a:rPr lang="en-US" sz="2800" dirty="0"/>
              <a:t>    {</a:t>
            </a:r>
          </a:p>
          <a:p>
            <a:r>
              <a:rPr lang="en-US" sz="2800" dirty="0"/>
              <a:t>      </a:t>
            </a:r>
            <a:r>
              <a:rPr lang="en-US" sz="2800" dirty="0" err="1"/>
              <a:t>serial.print</a:t>
            </a:r>
            <a:r>
              <a:rPr lang="en-US" sz="2800" dirty="0"/>
              <a:t>("Unknown error at address 0x");</a:t>
            </a:r>
          </a:p>
          <a:p>
            <a:r>
              <a:rPr lang="en-US" sz="2800" dirty="0"/>
              <a:t>      if (address&lt;16)</a:t>
            </a:r>
          </a:p>
          <a:p>
            <a:r>
              <a:rPr lang="en-US" sz="2800" dirty="0"/>
              <a:t>        </a:t>
            </a:r>
            <a:r>
              <a:rPr lang="en-US" sz="2800" dirty="0" err="1"/>
              <a:t>serial.print</a:t>
            </a:r>
            <a:r>
              <a:rPr lang="en-US" sz="2800" dirty="0"/>
              <a:t>("0");</a:t>
            </a:r>
          </a:p>
          <a:p>
            <a:r>
              <a:rPr lang="en-US" sz="2800" dirty="0"/>
              <a:t>        </a:t>
            </a:r>
            <a:r>
              <a:rPr lang="en-US" sz="2800" dirty="0" err="1"/>
              <a:t>serial.print</a:t>
            </a:r>
            <a:r>
              <a:rPr lang="en-US" sz="2800" dirty="0"/>
              <a:t>(</a:t>
            </a:r>
            <a:r>
              <a:rPr lang="en-US" sz="2800" dirty="0" err="1"/>
              <a:t>address,HEX</a:t>
            </a:r>
            <a:r>
              <a:rPr lang="en-US" sz="2800" dirty="0"/>
              <a:t>);</a:t>
            </a:r>
          </a:p>
          <a:p>
            <a:r>
              <a:rPr lang="en-US" sz="2800" dirty="0"/>
              <a:t>        </a:t>
            </a:r>
            <a:r>
              <a:rPr lang="en-US" sz="2800" dirty="0" err="1"/>
              <a:t>serial.println</a:t>
            </a:r>
            <a:r>
              <a:rPr lang="en-US" sz="2800" dirty="0"/>
              <a:t>("  !");</a:t>
            </a:r>
          </a:p>
          <a:p>
            <a:r>
              <a:rPr lang="en-US" sz="2800" dirty="0"/>
              <a:t>    }    </a:t>
            </a:r>
          </a:p>
          <a:p>
            <a:r>
              <a:rPr lang="en-US" sz="2800" dirty="0"/>
              <a:t>  }</a:t>
            </a:r>
          </a:p>
          <a:p>
            <a:r>
              <a:rPr lang="en-US" sz="2800" dirty="0"/>
              <a:t>if (</a:t>
            </a:r>
            <a:r>
              <a:rPr lang="en-US" sz="2800" dirty="0" err="1"/>
              <a:t>nDevices</a:t>
            </a:r>
            <a:r>
              <a:rPr lang="en-US" sz="2800" dirty="0"/>
              <a:t> == 0)</a:t>
            </a:r>
          </a:p>
          <a:p>
            <a:r>
              <a:rPr lang="en-US" sz="2800" dirty="0"/>
              <a:t>        </a:t>
            </a:r>
            <a:r>
              <a:rPr lang="en-US" sz="2800" dirty="0" err="1"/>
              <a:t>serial.println</a:t>
            </a:r>
            <a:r>
              <a:rPr lang="en-US" sz="2800" dirty="0"/>
              <a:t>("No I2C devices found\n");</a:t>
            </a:r>
          </a:p>
          <a:p>
            <a:r>
              <a:rPr lang="en-US" sz="2800" dirty="0"/>
              <a:t>else</a:t>
            </a:r>
          </a:p>
          <a:p>
            <a:r>
              <a:rPr lang="en-US" sz="2800" dirty="0"/>
              <a:t>        </a:t>
            </a:r>
            <a:r>
              <a:rPr lang="en-US" sz="2800" dirty="0" err="1"/>
              <a:t>serial.println</a:t>
            </a:r>
            <a:r>
              <a:rPr lang="en-US" sz="2800" dirty="0"/>
              <a:t>("done\n");</a:t>
            </a:r>
          </a:p>
          <a:p>
            <a:r>
              <a:rPr lang="en-US" sz="2800" dirty="0"/>
              <a:t> </a:t>
            </a:r>
          </a:p>
          <a:p>
            <a:r>
              <a:rPr lang="en-US" sz="2800" dirty="0"/>
              <a:t>  delay(5000);           // wait 5 seconds for next scan</a:t>
            </a:r>
          </a:p>
          <a:p>
            <a:r>
              <a:rPr lang="en-US" sz="2800" dirty="0"/>
              <a:t>}</a:t>
            </a:r>
          </a:p>
        </p:txBody>
      </p:sp>
      <p:sp>
        <p:nvSpPr>
          <p:cNvPr id="8" name="Title 7"/>
          <p:cNvSpPr>
            <a:spLocks noGrp="1"/>
          </p:cNvSpPr>
          <p:nvPr>
            <p:ph type="title"/>
          </p:nvPr>
        </p:nvSpPr>
        <p:spPr>
          <a:xfrm>
            <a:off x="1713461" y="122268"/>
            <a:ext cx="8960081" cy="846867"/>
          </a:xfrm>
        </p:spPr>
        <p:txBody>
          <a:bodyPr>
            <a:normAutofit/>
          </a:bodyPr>
          <a:lstStyle/>
          <a:p>
            <a:r>
              <a:rPr lang="en-US" sz="5400" b="1" dirty="0">
                <a:solidFill>
                  <a:srgbClr val="0070C0"/>
                </a:solidFill>
              </a:rPr>
              <a:t>Program for I2C: I2C_SCANNER</a:t>
            </a:r>
          </a:p>
        </p:txBody>
      </p:sp>
      <p:sp>
        <p:nvSpPr>
          <p:cNvPr id="9" name="TextBox 8">
            <a:extLst>
              <a:ext uri="{FF2B5EF4-FFF2-40B4-BE49-F238E27FC236}">
                <a16:creationId xmlns:a16="http://schemas.microsoft.com/office/drawing/2014/main" id="{E6AEB5CD-55EB-45A2-B5A9-02AE03393DA4}"/>
              </a:ext>
            </a:extLst>
          </p:cNvPr>
          <p:cNvSpPr txBox="1"/>
          <p:nvPr/>
        </p:nvSpPr>
        <p:spPr>
          <a:xfrm>
            <a:off x="7882438" y="6084757"/>
            <a:ext cx="8412480" cy="1692771"/>
          </a:xfrm>
          <a:prstGeom prst="rect">
            <a:avLst/>
          </a:prstGeom>
          <a:noFill/>
        </p:spPr>
        <p:txBody>
          <a:bodyPr wrap="square" rtlCol="0">
            <a:spAutoFit/>
          </a:bodyPr>
          <a:lstStyle/>
          <a:p>
            <a:r>
              <a:rPr lang="en-US" sz="3600" b="1" dirty="0">
                <a:solidFill>
                  <a:srgbClr val="00B0F0"/>
                </a:solidFill>
              </a:rPr>
              <a:t>Find addresses of different I2C devices connected to Arduino</a:t>
            </a:r>
          </a:p>
          <a:p>
            <a:pPr algn="ctr"/>
            <a:r>
              <a:rPr lang="en-US" sz="3200" i="1" dirty="0">
                <a:hlinkClick r:id="rId2"/>
              </a:rPr>
              <a:t>https://playground.arduino.cc/Main/I2cScanner/</a:t>
            </a:r>
            <a:endParaRPr lang="en-US" sz="3200" i="1" dirty="0"/>
          </a:p>
        </p:txBody>
      </p:sp>
    </p:spTree>
    <p:extLst>
      <p:ext uri="{BB962C8B-B14F-4D97-AF65-F5344CB8AC3E}">
        <p14:creationId xmlns:p14="http://schemas.microsoft.com/office/powerpoint/2010/main" val="762340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E020F-ECFF-4125-A2EF-C434AE487EEF}"/>
              </a:ext>
            </a:extLst>
          </p:cNvPr>
          <p:cNvSpPr>
            <a:spLocks noGrp="1"/>
          </p:cNvSpPr>
          <p:nvPr>
            <p:ph type="title"/>
          </p:nvPr>
        </p:nvSpPr>
        <p:spPr>
          <a:xfrm>
            <a:off x="1787224" y="205093"/>
            <a:ext cx="9962147" cy="925623"/>
          </a:xfrm>
        </p:spPr>
        <p:txBody>
          <a:bodyPr>
            <a:normAutofit/>
          </a:bodyPr>
          <a:lstStyle/>
          <a:p>
            <a:r>
              <a:rPr lang="en-US" sz="6000" b="1" dirty="0">
                <a:solidFill>
                  <a:srgbClr val="002060"/>
                </a:solidFill>
              </a:rPr>
              <a:t>Serial Monitoring</a:t>
            </a:r>
          </a:p>
        </p:txBody>
      </p:sp>
      <p:sp>
        <p:nvSpPr>
          <p:cNvPr id="3" name="Content Placeholder 2">
            <a:extLst>
              <a:ext uri="{FF2B5EF4-FFF2-40B4-BE49-F238E27FC236}">
                <a16:creationId xmlns:a16="http://schemas.microsoft.com/office/drawing/2014/main" id="{89C393CF-1C98-4F2F-8066-8C9D4B1B00C0}"/>
              </a:ext>
            </a:extLst>
          </p:cNvPr>
          <p:cNvSpPr>
            <a:spLocks noGrp="1"/>
          </p:cNvSpPr>
          <p:nvPr>
            <p:ph idx="1"/>
          </p:nvPr>
        </p:nvSpPr>
        <p:spPr>
          <a:xfrm>
            <a:off x="257682" y="1130716"/>
            <a:ext cx="15968239" cy="5267894"/>
          </a:xfrm>
        </p:spPr>
        <p:txBody>
          <a:bodyPr>
            <a:noAutofit/>
          </a:bodyPr>
          <a:lstStyle/>
          <a:p>
            <a:pPr marL="324863" indent="-324863"/>
            <a:r>
              <a:rPr lang="en-US" sz="4000" dirty="0"/>
              <a:t>Upload it to the Arduino and open the serial monitor. Every found device on the I2C-bus is reported.</a:t>
            </a:r>
          </a:p>
          <a:p>
            <a:pPr marL="324863" indent="-324863"/>
            <a:r>
              <a:rPr lang="en-US" sz="4000" dirty="0"/>
              <a:t>You can change the wires, and plug-in I2C devices while the I2C_scanner is running.</a:t>
            </a:r>
          </a:p>
          <a:p>
            <a:pPr marL="324863" indent="-324863"/>
            <a:r>
              <a:rPr lang="en-US" sz="4000" dirty="0"/>
              <a:t>The output of the serial monitor looks like this:</a:t>
            </a:r>
          </a:p>
        </p:txBody>
      </p:sp>
      <p:sp>
        <p:nvSpPr>
          <p:cNvPr id="4" name="Date Placeholder 3"/>
          <p:cNvSpPr>
            <a:spLocks noGrp="1"/>
          </p:cNvSpPr>
          <p:nvPr>
            <p:ph type="dt" sz="half" idx="10"/>
          </p:nvPr>
        </p:nvSpPr>
        <p:spPr/>
        <p:txBody>
          <a:bodyPr/>
          <a:lstStyle/>
          <a:p>
            <a:fld id="{9F70FE1A-3772-4E13-8F1C-03E0D780A31B}" type="datetime3">
              <a:rPr lang="en-US" smtClean="0"/>
              <a:t>3 December 2025</a:t>
            </a:fld>
            <a:endParaRPr lang="en-US"/>
          </a:p>
        </p:txBody>
      </p:sp>
      <p:sp>
        <p:nvSpPr>
          <p:cNvPr id="6" name="Slide Number Placeholder 5"/>
          <p:cNvSpPr>
            <a:spLocks noGrp="1"/>
          </p:cNvSpPr>
          <p:nvPr>
            <p:ph type="sldNum" sz="quarter" idx="12"/>
          </p:nvPr>
        </p:nvSpPr>
        <p:spPr/>
        <p:txBody>
          <a:bodyPr/>
          <a:lstStyle/>
          <a:p>
            <a:fld id="{90416D69-EFB9-4734-9DF5-4234A5F1A98A}" type="slidenum">
              <a:rPr lang="en-US" smtClean="0"/>
              <a:t>53</a:t>
            </a:fld>
            <a:endParaRPr lang="en-US"/>
          </a:p>
        </p:txBody>
      </p:sp>
      <p:pic>
        <p:nvPicPr>
          <p:cNvPr id="7"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3841" r="9032" b="10381"/>
          <a:stretch/>
        </p:blipFill>
        <p:spPr bwMode="auto">
          <a:xfrm>
            <a:off x="10590415" y="3527914"/>
            <a:ext cx="5751884" cy="43917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14" name="Group 13"/>
          <p:cNvGrpSpPr/>
          <p:nvPr/>
        </p:nvGrpSpPr>
        <p:grpSpPr>
          <a:xfrm>
            <a:off x="9676015" y="4179880"/>
            <a:ext cx="879428" cy="559683"/>
            <a:chOff x="9676015" y="4179880"/>
            <a:chExt cx="879428" cy="559683"/>
          </a:xfrm>
        </p:grpSpPr>
        <p:cxnSp>
          <p:nvCxnSpPr>
            <p:cNvPr id="8" name="Straight Arrow Connector 7"/>
            <p:cNvCxnSpPr/>
            <p:nvPr/>
          </p:nvCxnSpPr>
          <p:spPr>
            <a:xfrm flipV="1">
              <a:off x="9676015" y="4706313"/>
              <a:ext cx="879428" cy="323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9676015" y="4179880"/>
              <a:ext cx="0" cy="559683"/>
            </a:xfrm>
            <a:prstGeom prst="straightConnector1">
              <a:avLst/>
            </a:prstGeom>
            <a:ln w="57150">
              <a:solidFill>
                <a:srgbClr val="FF000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9314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B1335-C3A4-8A36-2E37-CA5DE77EFF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DF88D9-2874-62AE-EE58-1731E590C7AE}"/>
              </a:ext>
            </a:extLst>
          </p:cNvPr>
          <p:cNvSpPr>
            <a:spLocks noGrp="1"/>
          </p:cNvSpPr>
          <p:nvPr>
            <p:ph type="title"/>
          </p:nvPr>
        </p:nvSpPr>
        <p:spPr>
          <a:xfrm>
            <a:off x="1748873" y="101600"/>
            <a:ext cx="10250905" cy="814081"/>
          </a:xfrm>
        </p:spPr>
        <p:txBody>
          <a:bodyPr>
            <a:noAutofit/>
          </a:bodyPr>
          <a:lstStyle/>
          <a:p>
            <a:pPr algn="just"/>
            <a:r>
              <a:rPr lang="en-US" sz="5400" b="1" dirty="0">
                <a:solidFill>
                  <a:srgbClr val="FF0000"/>
                </a:solidFill>
              </a:rPr>
              <a:t>Practice Example # 1</a:t>
            </a:r>
          </a:p>
        </p:txBody>
      </p:sp>
      <p:sp>
        <p:nvSpPr>
          <p:cNvPr id="3" name="Date Placeholder 2">
            <a:extLst>
              <a:ext uri="{FF2B5EF4-FFF2-40B4-BE49-F238E27FC236}">
                <a16:creationId xmlns:a16="http://schemas.microsoft.com/office/drawing/2014/main" id="{5EC5E513-C542-1E6A-0BE3-A146A6569B9F}"/>
              </a:ext>
            </a:extLst>
          </p:cNvPr>
          <p:cNvSpPr>
            <a:spLocks noGrp="1"/>
          </p:cNvSpPr>
          <p:nvPr>
            <p:ph type="dt" sz="half" idx="10"/>
          </p:nvPr>
        </p:nvSpPr>
        <p:spPr/>
        <p:txBody>
          <a:bodyPr/>
          <a:lstStyle/>
          <a:p>
            <a:fld id="{C89A64A2-F4C3-46F3-8F8E-369987CB5716}" type="datetime3">
              <a:rPr lang="en-US" smtClean="0"/>
              <a:t>3 December 2025</a:t>
            </a:fld>
            <a:endParaRPr lang="en-US"/>
          </a:p>
        </p:txBody>
      </p:sp>
      <p:sp>
        <p:nvSpPr>
          <p:cNvPr id="7" name="Slide Number Placeholder 6">
            <a:extLst>
              <a:ext uri="{FF2B5EF4-FFF2-40B4-BE49-F238E27FC236}">
                <a16:creationId xmlns:a16="http://schemas.microsoft.com/office/drawing/2014/main" id="{0A2A0579-5744-B8D5-8C35-0ACC5EBE7BAA}"/>
              </a:ext>
            </a:extLst>
          </p:cNvPr>
          <p:cNvSpPr>
            <a:spLocks noGrp="1"/>
          </p:cNvSpPr>
          <p:nvPr>
            <p:ph type="sldNum" sz="quarter" idx="12"/>
          </p:nvPr>
        </p:nvSpPr>
        <p:spPr/>
        <p:txBody>
          <a:bodyPr/>
          <a:lstStyle/>
          <a:p>
            <a:fld id="{90416D69-EFB9-4734-9DF5-4234A5F1A98A}" type="slidenum">
              <a:rPr lang="en-US" smtClean="0"/>
              <a:t>54</a:t>
            </a:fld>
            <a:endParaRPr lang="en-US"/>
          </a:p>
        </p:txBody>
      </p:sp>
      <p:sp>
        <p:nvSpPr>
          <p:cNvPr id="4" name="Title 1">
            <a:extLst>
              <a:ext uri="{FF2B5EF4-FFF2-40B4-BE49-F238E27FC236}">
                <a16:creationId xmlns:a16="http://schemas.microsoft.com/office/drawing/2014/main" id="{FB966F86-8884-7C7A-97D7-AA255BB04DD0}"/>
              </a:ext>
            </a:extLst>
          </p:cNvPr>
          <p:cNvSpPr txBox="1">
            <a:spLocks/>
          </p:cNvSpPr>
          <p:nvPr/>
        </p:nvSpPr>
        <p:spPr>
          <a:xfrm>
            <a:off x="299259" y="821614"/>
            <a:ext cx="15893934" cy="1604086"/>
          </a:xfrm>
          <a:prstGeom prst="rect">
            <a:avLst/>
          </a:prstGeom>
        </p:spPr>
        <p:txBody>
          <a:bodyPr vert="horz" lIns="91440" tIns="45720" rIns="91440" bIns="45720" rtlCol="0" anchor="t">
            <a:noAutofit/>
          </a:bodyPr>
          <a:lst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a:lstStyle>
          <a:p>
            <a:pPr marL="0" marR="0" algn="just">
              <a:spcAft>
                <a:spcPts val="300"/>
              </a:spcAft>
              <a:buNone/>
            </a:pPr>
            <a:r>
              <a:rPr lang="en-US" sz="2800" b="1" i="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Draw </a:t>
            </a:r>
            <a:r>
              <a:rPr lang="en-US" sz="2800" i="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the timing waveforms for the following data transfer structure using a 7-bit addressing I2C protocol. </a:t>
            </a:r>
            <a:r>
              <a:rPr lang="en-US" sz="2800" b="1" i="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Compute </a:t>
            </a:r>
            <a:r>
              <a:rPr lang="en-US" sz="2800" i="0" dirty="0">
                <a:solidFill>
                  <a:srgbClr val="0070C0"/>
                </a:solidFill>
                <a:effectLst/>
                <a:latin typeface="Times New Roman" panose="02020603050405020304" pitchFamily="18" charset="0"/>
                <a:ea typeface="Times New Roman" panose="02020603050405020304" pitchFamily="18" charset="0"/>
                <a:cs typeface="Times New Roman" panose="02020603050405020304" pitchFamily="18" charset="0"/>
              </a:rPr>
              <a:t>the amount of data being transferred, data transfer rate, and frame rate. The operating frequency is 100 kHz.</a:t>
            </a:r>
            <a:endParaRPr lang="en-US" sz="2800" i="1" dirty="0">
              <a:solidFill>
                <a:srgbClr val="0070C0"/>
              </a:solidFill>
              <a:effectLst/>
              <a:latin typeface="Arial" panose="020B0604020202020204" pitchFamily="34" charset="0"/>
              <a:ea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8CBE7AD-2E9D-312D-5E4B-D8684FBFFE49}"/>
              </a:ext>
            </a:extLst>
          </p:cNvPr>
          <p:cNvPicPr>
            <a:picLocks noChangeAspect="1"/>
          </p:cNvPicPr>
          <p:nvPr/>
        </p:nvPicPr>
        <p:blipFill>
          <a:blip r:embed="rId2"/>
          <a:stretch>
            <a:fillRect/>
          </a:stretch>
        </p:blipFill>
        <p:spPr>
          <a:xfrm>
            <a:off x="4203700" y="1709940"/>
            <a:ext cx="7658099" cy="2854325"/>
          </a:xfrm>
          <a:prstGeom prst="rect">
            <a:avLst/>
          </a:prstGeom>
        </p:spPr>
      </p:pic>
      <p:sp>
        <p:nvSpPr>
          <p:cNvPr id="8" name="Content Placeholder 2">
            <a:extLst>
              <a:ext uri="{FF2B5EF4-FFF2-40B4-BE49-F238E27FC236}">
                <a16:creationId xmlns:a16="http://schemas.microsoft.com/office/drawing/2014/main" id="{82EB6E42-19FA-6504-1C93-D1E650183452}"/>
              </a:ext>
            </a:extLst>
          </p:cNvPr>
          <p:cNvSpPr>
            <a:spLocks noGrp="1"/>
          </p:cNvSpPr>
          <p:nvPr>
            <p:ph idx="1"/>
          </p:nvPr>
        </p:nvSpPr>
        <p:spPr>
          <a:xfrm>
            <a:off x="232526" y="4311487"/>
            <a:ext cx="16027400" cy="2795347"/>
          </a:xfrm>
        </p:spPr>
        <p:txBody>
          <a:bodyPr>
            <a:noAutofit/>
          </a:bodyPr>
          <a:lstStyle/>
          <a:p>
            <a:pPr marL="0" indent="0" algn="just">
              <a:lnSpc>
                <a:spcPct val="114000"/>
              </a:lnSpc>
              <a:spcBef>
                <a:spcPts val="0"/>
              </a:spcBef>
              <a:buNone/>
            </a:pPr>
            <a:r>
              <a:rPr lang="en-US" sz="3200" b="1" i="1" dirty="0">
                <a:solidFill>
                  <a:srgbClr val="FF0000"/>
                </a:solidFill>
                <a:latin typeface="Times New Roman" panose="02020603050405020304" pitchFamily="18" charset="0"/>
                <a:cs typeface="Times New Roman" panose="02020603050405020304" pitchFamily="18" charset="0"/>
              </a:rPr>
              <a:t>Solution:  </a:t>
            </a:r>
          </a:p>
          <a:p>
            <a:pPr marL="0" indent="0" algn="just">
              <a:lnSpc>
                <a:spcPct val="100000"/>
              </a:lnSpc>
              <a:spcBef>
                <a:spcPts val="0"/>
              </a:spcBef>
              <a:buNone/>
            </a:pPr>
            <a:r>
              <a:rPr lang="en-US" sz="2800" i="0" dirty="0">
                <a:effectLst/>
                <a:latin typeface="Times New Roman" panose="02020603050405020304" pitchFamily="18" charset="0"/>
                <a:ea typeface="Meiryo" panose="020B0604030504040204" pitchFamily="34" charset="-128"/>
                <a:cs typeface="Times New Roman" panose="02020603050405020304" pitchFamily="18" charset="0"/>
              </a:rPr>
              <a:t>The timing waveform is given below:</a:t>
            </a:r>
          </a:p>
          <a:p>
            <a:pPr marL="0" indent="0" algn="just">
              <a:lnSpc>
                <a:spcPct val="100000"/>
              </a:lnSpc>
              <a:spcBef>
                <a:spcPts val="0"/>
              </a:spcBef>
              <a:buNone/>
            </a:pPr>
            <a:endParaRPr lang="en-US" sz="3200" i="1" dirty="0"/>
          </a:p>
        </p:txBody>
      </p:sp>
      <p:pic>
        <p:nvPicPr>
          <p:cNvPr id="9" name="Picture 8">
            <a:extLst>
              <a:ext uri="{FF2B5EF4-FFF2-40B4-BE49-F238E27FC236}">
                <a16:creationId xmlns:a16="http://schemas.microsoft.com/office/drawing/2014/main" id="{431368A7-EFA9-0BC2-866C-8282F807BB9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6712" y="5273675"/>
            <a:ext cx="16139961" cy="2795347"/>
          </a:xfrm>
          <a:prstGeom prst="rect">
            <a:avLst/>
          </a:prstGeom>
          <a:noFill/>
          <a:ln>
            <a:noFill/>
          </a:ln>
        </p:spPr>
      </p:pic>
    </p:spTree>
    <p:extLst>
      <p:ext uri="{BB962C8B-B14F-4D97-AF65-F5344CB8AC3E}">
        <p14:creationId xmlns:p14="http://schemas.microsoft.com/office/powerpoint/2010/main" val="3109526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0-#ppt_w/2"/>
                                          </p:val>
                                        </p:tav>
                                        <p:tav tm="100000">
                                          <p:val>
                                            <p:strVal val="#ppt_x"/>
                                          </p:val>
                                        </p:tav>
                                      </p:tavLst>
                                    </p:anim>
                                    <p:anim calcmode="lin" valueType="num">
                                      <p:cBhvr additive="base">
                                        <p:cTn id="14"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8C413-15D2-3232-8E36-3FC8B7EFFB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B7D9E3-68E6-9DFB-4776-5FAA1B444778}"/>
              </a:ext>
            </a:extLst>
          </p:cNvPr>
          <p:cNvSpPr>
            <a:spLocks noGrp="1"/>
          </p:cNvSpPr>
          <p:nvPr>
            <p:ph type="title"/>
          </p:nvPr>
        </p:nvSpPr>
        <p:spPr>
          <a:xfrm>
            <a:off x="1748873" y="101600"/>
            <a:ext cx="10250905" cy="814081"/>
          </a:xfrm>
        </p:spPr>
        <p:txBody>
          <a:bodyPr>
            <a:noAutofit/>
          </a:bodyPr>
          <a:lstStyle/>
          <a:p>
            <a:pPr algn="just"/>
            <a:r>
              <a:rPr lang="en-US" sz="5400" b="1" dirty="0">
                <a:solidFill>
                  <a:srgbClr val="FF0000"/>
                </a:solidFill>
              </a:rPr>
              <a:t>Practice Example # 1</a:t>
            </a:r>
          </a:p>
        </p:txBody>
      </p:sp>
      <p:sp>
        <p:nvSpPr>
          <p:cNvPr id="3" name="Date Placeholder 2">
            <a:extLst>
              <a:ext uri="{FF2B5EF4-FFF2-40B4-BE49-F238E27FC236}">
                <a16:creationId xmlns:a16="http://schemas.microsoft.com/office/drawing/2014/main" id="{208901DB-8AEB-FD1B-9311-06FCF99632E6}"/>
              </a:ext>
            </a:extLst>
          </p:cNvPr>
          <p:cNvSpPr>
            <a:spLocks noGrp="1"/>
          </p:cNvSpPr>
          <p:nvPr>
            <p:ph type="dt" sz="half" idx="10"/>
          </p:nvPr>
        </p:nvSpPr>
        <p:spPr/>
        <p:txBody>
          <a:bodyPr/>
          <a:lstStyle/>
          <a:p>
            <a:fld id="{C89A64A2-F4C3-46F3-8F8E-369987CB5716}" type="datetime3">
              <a:rPr lang="en-US" smtClean="0"/>
              <a:t>3 December 2025</a:t>
            </a:fld>
            <a:endParaRPr lang="en-US"/>
          </a:p>
        </p:txBody>
      </p:sp>
      <p:sp>
        <p:nvSpPr>
          <p:cNvPr id="7" name="Slide Number Placeholder 6">
            <a:extLst>
              <a:ext uri="{FF2B5EF4-FFF2-40B4-BE49-F238E27FC236}">
                <a16:creationId xmlns:a16="http://schemas.microsoft.com/office/drawing/2014/main" id="{E4A4DC75-3BEE-8038-106B-918596167AB5}"/>
              </a:ext>
            </a:extLst>
          </p:cNvPr>
          <p:cNvSpPr>
            <a:spLocks noGrp="1"/>
          </p:cNvSpPr>
          <p:nvPr>
            <p:ph type="sldNum" sz="quarter" idx="12"/>
          </p:nvPr>
        </p:nvSpPr>
        <p:spPr/>
        <p:txBody>
          <a:bodyPr/>
          <a:lstStyle/>
          <a:p>
            <a:fld id="{90416D69-EFB9-4734-9DF5-4234A5F1A98A}" type="slidenum">
              <a:rPr lang="en-US" smtClean="0"/>
              <a:t>55</a:t>
            </a:fld>
            <a:endParaRPr lang="en-US"/>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8216BCE8-734A-A40B-72E4-8A037F6805CE}"/>
                  </a:ext>
                </a:extLst>
              </p:cNvPr>
              <p:cNvSpPr>
                <a:spLocks noGrp="1"/>
              </p:cNvSpPr>
              <p:nvPr>
                <p:ph idx="1"/>
              </p:nvPr>
            </p:nvSpPr>
            <p:spPr>
              <a:xfrm>
                <a:off x="241300" y="814081"/>
                <a:ext cx="16027400" cy="7263119"/>
              </a:xfrm>
            </p:spPr>
            <p:txBody>
              <a:bodyPr>
                <a:noAutofit/>
              </a:bodyPr>
              <a:lstStyle/>
              <a:p>
                <a:pPr marL="0" indent="0" algn="just">
                  <a:lnSpc>
                    <a:spcPct val="114000"/>
                  </a:lnSpc>
                  <a:spcBef>
                    <a:spcPts val="0"/>
                  </a:spcBef>
                  <a:buNone/>
                </a:pPr>
                <a:r>
                  <a:rPr lang="en-US" sz="3200" b="1" i="1" dirty="0">
                    <a:solidFill>
                      <a:srgbClr val="FF0000"/>
                    </a:solidFill>
                    <a:latin typeface="Times New Roman" panose="02020603050405020304" pitchFamily="18" charset="0"/>
                    <a:cs typeface="Times New Roman" panose="02020603050405020304" pitchFamily="18" charset="0"/>
                  </a:rPr>
                  <a:t>Solution:  </a:t>
                </a:r>
              </a:p>
              <a:p>
                <a:pPr marL="0" indent="0" algn="just">
                  <a:lnSpc>
                    <a:spcPct val="100000"/>
                  </a:lnSpc>
                  <a:spcBef>
                    <a:spcPts val="0"/>
                  </a:spcBef>
                  <a:buNone/>
                </a:pPr>
                <a:r>
                  <a:rPr lang="en-US" sz="3200" dirty="0">
                    <a:highlight>
                      <a:srgbClr val="FFFF00"/>
                    </a:highlight>
                    <a:latin typeface="Times New Roman" panose="02020603050405020304" pitchFamily="18" charset="0"/>
                    <a:cs typeface="Times New Roman" panose="02020603050405020304" pitchFamily="18" charset="0"/>
                  </a:rPr>
                  <a:t>The total amount of bits transferred </a:t>
                </a:r>
                <a:r>
                  <a:rPr lang="en-US" sz="3200" dirty="0">
                    <a:latin typeface="Times New Roman" panose="02020603050405020304" pitchFamily="18" charset="0"/>
                    <a:cs typeface="Times New Roman" panose="02020603050405020304" pitchFamily="18" charset="0"/>
                  </a:rPr>
                  <a:t>= Target address bits + Read/Write bit + Acknowledgment bit + Data bit + Acknowledgment bit + Data bit + Acknowledgment bit = 7 + 1 + 1 + 8 + 1 + 8 + 1 = 27 bits</a:t>
                </a:r>
                <a:endParaRPr lang="en-US" sz="3200" i="1" dirty="0">
                  <a:latin typeface="Times New Roman" panose="02020603050405020304" pitchFamily="18" charset="0"/>
                  <a:cs typeface="Times New Roman" panose="02020603050405020304" pitchFamily="18" charset="0"/>
                </a:endParaRPr>
              </a:p>
              <a:p>
                <a:pPr marL="0" indent="0">
                  <a:buNone/>
                </a:pPr>
                <a:r>
                  <a:rPr lang="en-US" sz="3200" dirty="0">
                    <a:latin typeface="Times New Roman" panose="02020603050405020304" pitchFamily="18" charset="0"/>
                    <a:cs typeface="Times New Roman" panose="02020603050405020304" pitchFamily="18" charset="0"/>
                  </a:rPr>
                  <a:t>The operating frequency, </a:t>
                </a:r>
                <a:r>
                  <a:rPr lang="en-US" sz="3200" i="1" dirty="0">
                    <a:latin typeface="Times New Roman" panose="02020603050405020304" pitchFamily="18" charset="0"/>
                    <a:cs typeface="Times New Roman" panose="02020603050405020304" pitchFamily="18" charset="0"/>
                  </a:rPr>
                  <a:t>f</a:t>
                </a:r>
                <a:r>
                  <a:rPr lang="en-US" sz="3200" dirty="0">
                    <a:latin typeface="Times New Roman" panose="02020603050405020304" pitchFamily="18" charset="0"/>
                    <a:cs typeface="Times New Roman" panose="02020603050405020304" pitchFamily="18" charset="0"/>
                  </a:rPr>
                  <a:t> = 100 kHz.</a:t>
                </a:r>
              </a:p>
              <a:p>
                <a:pPr marL="0" indent="0">
                  <a:buNone/>
                </a:pPr>
                <a:r>
                  <a:rPr lang="en-US" sz="3200" dirty="0">
                    <a:latin typeface="Times New Roman" panose="02020603050405020304" pitchFamily="18" charset="0"/>
                    <a:cs typeface="Times New Roman" panose="02020603050405020304" pitchFamily="18" charset="0"/>
                  </a:rPr>
                  <a:t>So, the clock period, </a:t>
                </a:r>
                <a:r>
                  <a:rPr lang="en-US" sz="3200" i="1" dirty="0">
                    <a:latin typeface="Times New Roman" panose="02020603050405020304" pitchFamily="18" charset="0"/>
                    <a:cs typeface="Times New Roman" panose="02020603050405020304" pitchFamily="18" charset="0"/>
                  </a:rPr>
                  <a:t>T</a:t>
                </a:r>
                <a:r>
                  <a:rPr lang="en-US" sz="3200" dirty="0">
                    <a:latin typeface="Times New Roman" panose="02020603050405020304" pitchFamily="18" charset="0"/>
                    <a:cs typeface="Times New Roman" panose="02020603050405020304" pitchFamily="18" charset="0"/>
                  </a:rPr>
                  <a:t> = 1/</a:t>
                </a:r>
                <a:r>
                  <a:rPr lang="en-US" sz="3200" i="1" dirty="0">
                    <a:latin typeface="Times New Roman" panose="02020603050405020304" pitchFamily="18" charset="0"/>
                    <a:cs typeface="Times New Roman" panose="02020603050405020304" pitchFamily="18" charset="0"/>
                  </a:rPr>
                  <a:t>f</a:t>
                </a:r>
                <a:r>
                  <a:rPr lang="en-US" sz="3200" dirty="0">
                    <a:latin typeface="Times New Roman" panose="02020603050405020304" pitchFamily="18" charset="0"/>
                    <a:cs typeface="Times New Roman" panose="02020603050405020304" pitchFamily="18" charset="0"/>
                  </a:rPr>
                  <a:t> = 1/100kHz = 0.01 </a:t>
                </a:r>
                <a:r>
                  <a:rPr lang="en-US" sz="3200" dirty="0" err="1">
                    <a:latin typeface="Times New Roman" panose="02020603050405020304" pitchFamily="18" charset="0"/>
                    <a:cs typeface="Times New Roman" panose="02020603050405020304" pitchFamily="18" charset="0"/>
                  </a:rPr>
                  <a:t>ms</a:t>
                </a:r>
                <a:r>
                  <a:rPr lang="en-US" sz="3200" dirty="0">
                    <a:latin typeface="Times New Roman" panose="02020603050405020304" pitchFamily="18" charset="0"/>
                    <a:cs typeface="Times New Roman" panose="02020603050405020304" pitchFamily="18" charset="0"/>
                  </a:rPr>
                  <a:t> = 10 </a:t>
                </a:r>
                <a:r>
                  <a:rPr lang="en-US" sz="3200" dirty="0" err="1">
                    <a:latin typeface="Symbol" panose="05050102010706020507" pitchFamily="18" charset="2"/>
                    <a:cs typeface="Times New Roman" panose="02020603050405020304" pitchFamily="18" charset="0"/>
                  </a:rPr>
                  <a:t>m</a:t>
                </a:r>
                <a:r>
                  <a:rPr lang="en-US" sz="3200" dirty="0" err="1">
                    <a:latin typeface="Times New Roman" panose="02020603050405020304" pitchFamily="18" charset="0"/>
                    <a:cs typeface="Times New Roman" panose="02020603050405020304" pitchFamily="18" charset="0"/>
                  </a:rPr>
                  <a:t>s.</a:t>
                </a:r>
                <a:endParaRPr lang="en-US" sz="3200" i="1" dirty="0">
                  <a:latin typeface="Times New Roman" panose="02020603050405020304" pitchFamily="18" charset="0"/>
                  <a:cs typeface="Times New Roman" panose="02020603050405020304" pitchFamily="18" charset="0"/>
                </a:endParaRPr>
              </a:p>
              <a:p>
                <a:pPr marL="0" indent="0">
                  <a:buNone/>
                </a:pPr>
                <a:r>
                  <a:rPr lang="en-US" sz="3200" dirty="0">
                    <a:latin typeface="Times New Roman" panose="02020603050405020304" pitchFamily="18" charset="0"/>
                    <a:cs typeface="Times New Roman" panose="02020603050405020304" pitchFamily="18" charset="0"/>
                  </a:rPr>
                  <a:t>The total time for data transfer of 27 bits = 27</a:t>
                </a:r>
                <a:r>
                  <a:rPr lang="en-US" sz="3200" dirty="0">
                    <a:latin typeface="Times New Roman" panose="02020603050405020304" pitchFamily="18" charset="0"/>
                    <a:cs typeface="Times New Roman" panose="02020603050405020304" pitchFamily="18" charset="0"/>
                    <a:sym typeface="Symbol" panose="05050102010706020507" pitchFamily="18" charset="2"/>
                  </a:rPr>
                  <a:t></a:t>
                </a:r>
                <a:r>
                  <a:rPr lang="en-US" sz="3200" dirty="0">
                    <a:latin typeface="Times New Roman" panose="02020603050405020304" pitchFamily="18" charset="0"/>
                    <a:cs typeface="Times New Roman" panose="02020603050405020304" pitchFamily="18" charset="0"/>
                  </a:rPr>
                  <a:t>10 = 270 </a:t>
                </a:r>
                <a:r>
                  <a:rPr lang="en-US" sz="3200" dirty="0" err="1">
                    <a:latin typeface="Symbol" panose="05050102010706020507" pitchFamily="18" charset="2"/>
                    <a:cs typeface="Times New Roman" panose="02020603050405020304" pitchFamily="18" charset="0"/>
                  </a:rPr>
                  <a:t>m</a:t>
                </a:r>
                <a:r>
                  <a:rPr lang="en-US" sz="3200" dirty="0" err="1">
                    <a:latin typeface="Times New Roman" panose="02020603050405020304" pitchFamily="18" charset="0"/>
                    <a:cs typeface="Times New Roman" panose="02020603050405020304" pitchFamily="18" charset="0"/>
                  </a:rPr>
                  <a:t>s.</a:t>
                </a:r>
                <a:endParaRPr lang="en-US" sz="3200" i="1" dirty="0">
                  <a:latin typeface="Times New Roman" panose="02020603050405020304" pitchFamily="18" charset="0"/>
                  <a:cs typeface="Times New Roman" panose="02020603050405020304" pitchFamily="18" charset="0"/>
                </a:endParaRPr>
              </a:p>
              <a:p>
                <a:pPr marL="0" indent="0">
                  <a:buNone/>
                </a:pPr>
                <a:r>
                  <a:rPr lang="en-US" sz="3200" dirty="0">
                    <a:latin typeface="Times New Roman" panose="02020603050405020304" pitchFamily="18" charset="0"/>
                    <a:cs typeface="Times New Roman" panose="02020603050405020304" pitchFamily="18" charset="0"/>
                  </a:rPr>
                  <a:t> 270 </a:t>
                </a:r>
                <a:r>
                  <a:rPr lang="en-US" sz="3200" dirty="0" err="1">
                    <a:latin typeface="Symbol" panose="05050102010706020507" pitchFamily="18" charset="2"/>
                    <a:cs typeface="Times New Roman" panose="02020603050405020304" pitchFamily="18" charset="0"/>
                  </a:rPr>
                  <a:t>m</a:t>
                </a:r>
                <a:r>
                  <a:rPr lang="en-US" sz="3200" dirty="0" err="1">
                    <a:latin typeface="Times New Roman" panose="02020603050405020304" pitchFamily="18" charset="0"/>
                    <a:cs typeface="Times New Roman" panose="02020603050405020304" pitchFamily="18" charset="0"/>
                  </a:rPr>
                  <a:t>s</a:t>
                </a:r>
                <a:r>
                  <a:rPr lang="en-US" sz="3200" dirty="0">
                    <a:latin typeface="Times New Roman" panose="02020603050405020304" pitchFamily="18" charset="0"/>
                    <a:cs typeface="Times New Roman" panose="02020603050405020304" pitchFamily="18" charset="0"/>
                  </a:rPr>
                  <a:t> time is required to transfer 27 bits of data</a:t>
                </a:r>
                <a:endParaRPr lang="en-US" sz="3200" i="1" dirty="0">
                  <a:latin typeface="Times New Roman" panose="02020603050405020304" pitchFamily="18" charset="0"/>
                  <a:cs typeface="Times New Roman" panose="02020603050405020304" pitchFamily="18" charset="0"/>
                </a:endParaRPr>
              </a:p>
              <a:p>
                <a:pPr marL="0" indent="0">
                  <a:buNone/>
                </a:pPr>
                <a:r>
                  <a:rPr lang="en-US" sz="3200" dirty="0">
                    <a:latin typeface="Times New Roman" panose="02020603050405020304" pitchFamily="18" charset="0"/>
                    <a:cs typeface="Times New Roman" panose="02020603050405020304" pitchFamily="18" charset="0"/>
                    <a:sym typeface="Symbol" panose="05050102010706020507" pitchFamily="18" charset="2"/>
                  </a:rPr>
                  <a:t></a:t>
                </a:r>
                <a:r>
                  <a:rPr lang="en-US" sz="3200" dirty="0">
                    <a:latin typeface="Times New Roman" panose="02020603050405020304" pitchFamily="18" charset="0"/>
                    <a:cs typeface="Times New Roman" panose="02020603050405020304" pitchFamily="18" charset="0"/>
                  </a:rPr>
                  <a:t> 1 </a:t>
                </a:r>
                <a:r>
                  <a:rPr lang="en-US" sz="3200" dirty="0" err="1">
                    <a:latin typeface="Symbol" panose="05050102010706020507" pitchFamily="18" charset="2"/>
                    <a:cs typeface="Times New Roman" panose="02020603050405020304" pitchFamily="18" charset="0"/>
                  </a:rPr>
                  <a:t>m</a:t>
                </a:r>
                <a:r>
                  <a:rPr lang="en-US" sz="3200" dirty="0" err="1">
                    <a:latin typeface="Times New Roman" panose="02020603050405020304" pitchFamily="18" charset="0"/>
                    <a:cs typeface="Times New Roman" panose="02020603050405020304" pitchFamily="18" charset="0"/>
                  </a:rPr>
                  <a:t>s</a:t>
                </a:r>
                <a:r>
                  <a:rPr lang="en-US" sz="3200" dirty="0">
                    <a:latin typeface="Times New Roman" panose="02020603050405020304" pitchFamily="18" charset="0"/>
                    <a:cs typeface="Times New Roman" panose="02020603050405020304" pitchFamily="18" charset="0"/>
                  </a:rPr>
                  <a:t> time is required to transfer </a:t>
                </a:r>
                <a14:m>
                  <m:oMath xmlns:m="http://schemas.openxmlformats.org/officeDocument/2006/math">
                    <m:f>
                      <m:fPr>
                        <m:ctrlPr>
                          <a:rPr lang="en-US" sz="3200" i="1">
                            <a:latin typeface="Cambria Math" panose="02040503050406030204" pitchFamily="18" charset="0"/>
                          </a:rPr>
                        </m:ctrlPr>
                      </m:fPr>
                      <m:num>
                        <m:r>
                          <a:rPr lang="en-US" sz="3200" i="1">
                            <a:latin typeface="Cambria Math" panose="02040503050406030204" pitchFamily="18" charset="0"/>
                          </a:rPr>
                          <m:t>27</m:t>
                        </m:r>
                      </m:num>
                      <m:den>
                        <m:r>
                          <a:rPr lang="en-US" sz="3200" i="1">
                            <a:latin typeface="Cambria Math" panose="02040503050406030204" pitchFamily="18" charset="0"/>
                          </a:rPr>
                          <m:t>270</m:t>
                        </m:r>
                      </m:den>
                    </m:f>
                  </m:oMath>
                </a14:m>
                <a:r>
                  <a:rPr lang="en-US" sz="3200" dirty="0">
                    <a:latin typeface="Times New Roman" panose="02020603050405020304" pitchFamily="18" charset="0"/>
                    <a:cs typeface="Times New Roman" panose="02020603050405020304" pitchFamily="18" charset="0"/>
                  </a:rPr>
                  <a:t>  bits of data</a:t>
                </a:r>
                <a:endParaRPr lang="en-US" sz="3200" i="1" dirty="0">
                  <a:latin typeface="Times New Roman" panose="02020603050405020304" pitchFamily="18" charset="0"/>
                  <a:cs typeface="Times New Roman" panose="02020603050405020304" pitchFamily="18" charset="0"/>
                </a:endParaRPr>
              </a:p>
              <a:p>
                <a:pPr marL="0" indent="0">
                  <a:buNone/>
                </a:pPr>
                <a:r>
                  <a:rPr lang="en-US" sz="3200" dirty="0">
                    <a:latin typeface="Times New Roman" panose="02020603050405020304" pitchFamily="18" charset="0"/>
                    <a:cs typeface="Times New Roman" panose="02020603050405020304" pitchFamily="18" charset="0"/>
                    <a:sym typeface="Symbol" panose="05050102010706020507" pitchFamily="18" charset="2"/>
                  </a:rPr>
                  <a:t></a:t>
                </a:r>
                <a:r>
                  <a:rPr lang="en-US" sz="3200" dirty="0">
                    <a:latin typeface="Times New Roman" panose="02020603050405020304" pitchFamily="18" charset="0"/>
                    <a:cs typeface="Times New Roman" panose="02020603050405020304" pitchFamily="18" charset="0"/>
                  </a:rPr>
                  <a:t> 1 s = 10</a:t>
                </a:r>
                <a:r>
                  <a:rPr lang="en-US" sz="3200" baseline="30000" dirty="0">
                    <a:latin typeface="Times New Roman" panose="02020603050405020304" pitchFamily="18" charset="0"/>
                    <a:cs typeface="Times New Roman" panose="02020603050405020304" pitchFamily="18" charset="0"/>
                  </a:rPr>
                  <a:t>6</a:t>
                </a:r>
                <a:r>
                  <a:rPr lang="en-US" sz="3200" dirty="0">
                    <a:latin typeface="Times New Roman" panose="02020603050405020304" pitchFamily="18" charset="0"/>
                    <a:cs typeface="Times New Roman" panose="02020603050405020304" pitchFamily="18" charset="0"/>
                  </a:rPr>
                  <a:t> </a:t>
                </a:r>
                <a:r>
                  <a:rPr lang="en-US" sz="3200" dirty="0" err="1">
                    <a:latin typeface="Symbol" panose="05050102010706020507" pitchFamily="18" charset="2"/>
                    <a:cs typeface="Times New Roman" panose="02020603050405020304" pitchFamily="18" charset="0"/>
                  </a:rPr>
                  <a:t>m</a:t>
                </a:r>
                <a:r>
                  <a:rPr lang="en-US" sz="3200" dirty="0" err="1">
                    <a:latin typeface="Times New Roman" panose="02020603050405020304" pitchFamily="18" charset="0"/>
                    <a:cs typeface="Times New Roman" panose="02020603050405020304" pitchFamily="18" charset="0"/>
                  </a:rPr>
                  <a:t>s</a:t>
                </a:r>
                <a:r>
                  <a:rPr lang="en-US" sz="3200" dirty="0">
                    <a:latin typeface="Times New Roman" panose="02020603050405020304" pitchFamily="18" charset="0"/>
                    <a:cs typeface="Times New Roman" panose="02020603050405020304" pitchFamily="18" charset="0"/>
                  </a:rPr>
                  <a:t> time is required to transfer </a:t>
                </a:r>
                <a14:m>
                  <m:oMath xmlns:m="http://schemas.openxmlformats.org/officeDocument/2006/math">
                    <m:f>
                      <m:fPr>
                        <m:ctrlPr>
                          <a:rPr lang="en-US" sz="3200" i="1">
                            <a:latin typeface="Cambria Math" panose="02040503050406030204" pitchFamily="18" charset="0"/>
                          </a:rPr>
                        </m:ctrlPr>
                      </m:fPr>
                      <m:num>
                        <m:r>
                          <a:rPr lang="en-US" sz="3200" i="1">
                            <a:latin typeface="Cambria Math" panose="02040503050406030204" pitchFamily="18" charset="0"/>
                          </a:rPr>
                          <m:t>27×</m:t>
                        </m:r>
                        <m:sSup>
                          <m:sSupPr>
                            <m:ctrlPr>
                              <a:rPr lang="en-US" sz="3200" i="1">
                                <a:latin typeface="Cambria Math" panose="02040503050406030204" pitchFamily="18" charset="0"/>
                              </a:rPr>
                            </m:ctrlPr>
                          </m:sSupPr>
                          <m:e>
                            <m:r>
                              <a:rPr lang="en-US" sz="3200" i="1">
                                <a:latin typeface="Cambria Math" panose="02040503050406030204" pitchFamily="18" charset="0"/>
                              </a:rPr>
                              <m:t>10</m:t>
                            </m:r>
                          </m:e>
                          <m:sup>
                            <m:r>
                              <a:rPr lang="en-US" sz="3200" i="1">
                                <a:latin typeface="Cambria Math" panose="02040503050406030204" pitchFamily="18" charset="0"/>
                              </a:rPr>
                              <m:t>6</m:t>
                            </m:r>
                          </m:sup>
                        </m:sSup>
                      </m:num>
                      <m:den>
                        <m:r>
                          <a:rPr lang="en-US" sz="3200" i="1">
                            <a:latin typeface="Cambria Math" panose="02040503050406030204" pitchFamily="18" charset="0"/>
                          </a:rPr>
                          <m:t>270</m:t>
                        </m:r>
                      </m:den>
                    </m:f>
                  </m:oMath>
                </a14:m>
                <a:r>
                  <a:rPr lang="en-US" sz="3200" dirty="0">
                    <a:latin typeface="Times New Roman" panose="02020603050405020304" pitchFamily="18" charset="0"/>
                    <a:cs typeface="Times New Roman" panose="02020603050405020304" pitchFamily="18" charset="0"/>
                  </a:rPr>
                  <a:t> bits of data</a:t>
                </a:r>
                <a:endParaRPr lang="en-US" sz="3200" i="1" dirty="0">
                  <a:latin typeface="Times New Roman" panose="02020603050405020304" pitchFamily="18" charset="0"/>
                  <a:cs typeface="Times New Roman" panose="02020603050405020304" pitchFamily="18" charset="0"/>
                </a:endParaRPr>
              </a:p>
              <a:p>
                <a:pPr marL="0" indent="0">
                  <a:buNone/>
                </a:pPr>
                <a:r>
                  <a:rPr lang="en-US" sz="3200" dirty="0">
                    <a:latin typeface="Times New Roman" panose="02020603050405020304" pitchFamily="18" charset="0"/>
                    <a:cs typeface="Times New Roman" panose="02020603050405020304" pitchFamily="18" charset="0"/>
                  </a:rPr>
                  <a:t>That is, 10</a:t>
                </a:r>
                <a:r>
                  <a:rPr lang="en-US" sz="3200" baseline="30000" dirty="0">
                    <a:latin typeface="Times New Roman" panose="02020603050405020304" pitchFamily="18" charset="0"/>
                    <a:cs typeface="Times New Roman" panose="02020603050405020304" pitchFamily="18" charset="0"/>
                  </a:rPr>
                  <a:t>5</a:t>
                </a:r>
                <a:r>
                  <a:rPr lang="en-US" sz="3200" dirty="0">
                    <a:latin typeface="Times New Roman" panose="02020603050405020304" pitchFamily="18" charset="0"/>
                    <a:cs typeface="Times New Roman" panose="02020603050405020304" pitchFamily="18" charset="0"/>
                  </a:rPr>
                  <a:t> bits of data are transferred per second, or 100 kbps.</a:t>
                </a:r>
                <a:endParaRPr lang="en-US" sz="3200" i="1" dirty="0">
                  <a:latin typeface="Times New Roman" panose="02020603050405020304" pitchFamily="18" charset="0"/>
                  <a:cs typeface="Times New Roman" panose="02020603050405020304" pitchFamily="18" charset="0"/>
                </a:endParaRPr>
              </a:p>
            </p:txBody>
          </p:sp>
        </mc:Choice>
        <mc:Fallback xmlns="">
          <p:sp>
            <p:nvSpPr>
              <p:cNvPr id="8" name="Content Placeholder 2">
                <a:extLst>
                  <a:ext uri="{FF2B5EF4-FFF2-40B4-BE49-F238E27FC236}">
                    <a16:creationId xmlns:a16="http://schemas.microsoft.com/office/drawing/2014/main" id="{8216BCE8-734A-A40B-72E4-8A037F6805CE}"/>
                  </a:ext>
                </a:extLst>
              </p:cNvPr>
              <p:cNvSpPr>
                <a:spLocks noGrp="1" noRot="1" noChangeAspect="1" noMove="1" noResize="1" noEditPoints="1" noAdjustHandles="1" noChangeArrowheads="1" noChangeShapeType="1" noTextEdit="1"/>
              </p:cNvSpPr>
              <p:nvPr>
                <p:ph idx="1"/>
              </p:nvPr>
            </p:nvSpPr>
            <p:spPr>
              <a:xfrm>
                <a:off x="241300" y="814081"/>
                <a:ext cx="16027400" cy="7263119"/>
              </a:xfrm>
              <a:blipFill>
                <a:blip r:embed="rId2"/>
                <a:stretch>
                  <a:fillRect l="-989" t="-840" r="-951"/>
                </a:stretch>
              </a:blipFill>
            </p:spPr>
            <p:txBody>
              <a:bodyPr/>
              <a:lstStyle/>
              <a:p>
                <a:r>
                  <a:rPr lang="en-US">
                    <a:noFill/>
                  </a:rPr>
                  <a:t> </a:t>
                </a:r>
              </a:p>
            </p:txBody>
          </p:sp>
        </mc:Fallback>
      </mc:AlternateContent>
    </p:spTree>
    <p:extLst>
      <p:ext uri="{BB962C8B-B14F-4D97-AF65-F5344CB8AC3E}">
        <p14:creationId xmlns:p14="http://schemas.microsoft.com/office/powerpoint/2010/main" val="4150669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left)">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wipe(left)">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wipe(left)">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wipe(left)">
                                      <p:cBhvr>
                                        <p:cTn id="27" dur="500"/>
                                        <p:tgtEl>
                                          <p:spTgt spid="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wipe(left)">
                                      <p:cBhvr>
                                        <p:cTn id="32" dur="500"/>
                                        <p:tgtEl>
                                          <p:spTgt spid="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Effect transition="in" filter="wipe(left)">
                                      <p:cBhvr>
                                        <p:cTn id="37" dur="500"/>
                                        <p:tgtEl>
                                          <p:spTgt spid="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
                                            <p:txEl>
                                              <p:pRg st="7" end="7"/>
                                            </p:txEl>
                                          </p:spTgt>
                                        </p:tgtEl>
                                        <p:attrNameLst>
                                          <p:attrName>style.visibility</p:attrName>
                                        </p:attrNameLst>
                                      </p:cBhvr>
                                      <p:to>
                                        <p:strVal val="visible"/>
                                      </p:to>
                                    </p:set>
                                    <p:animEffect transition="in" filter="wipe(left)">
                                      <p:cBhvr>
                                        <p:cTn id="42" dur="500"/>
                                        <p:tgtEl>
                                          <p:spTgt spid="8">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8">
                                            <p:txEl>
                                              <p:pRg st="8" end="8"/>
                                            </p:txEl>
                                          </p:spTgt>
                                        </p:tgtEl>
                                        <p:attrNameLst>
                                          <p:attrName>style.visibility</p:attrName>
                                        </p:attrNameLst>
                                      </p:cBhvr>
                                      <p:to>
                                        <p:strVal val="visible"/>
                                      </p:to>
                                    </p:set>
                                    <p:animEffect transition="in" filter="wipe(left)">
                                      <p:cBhvr>
                                        <p:cTn id="47" dur="500"/>
                                        <p:tgtEl>
                                          <p:spTgt spid="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F3738-92C2-70EF-3FCA-BB38CADDD0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80B75A-9E6A-D043-9DD9-414661D109F9}"/>
              </a:ext>
            </a:extLst>
          </p:cNvPr>
          <p:cNvSpPr>
            <a:spLocks noGrp="1"/>
          </p:cNvSpPr>
          <p:nvPr>
            <p:ph type="title"/>
          </p:nvPr>
        </p:nvSpPr>
        <p:spPr>
          <a:xfrm>
            <a:off x="1748873" y="101600"/>
            <a:ext cx="10250905" cy="814081"/>
          </a:xfrm>
        </p:spPr>
        <p:txBody>
          <a:bodyPr>
            <a:noAutofit/>
          </a:bodyPr>
          <a:lstStyle/>
          <a:p>
            <a:pPr algn="just"/>
            <a:r>
              <a:rPr lang="en-US" sz="5400" b="1" dirty="0">
                <a:solidFill>
                  <a:srgbClr val="FF0000"/>
                </a:solidFill>
              </a:rPr>
              <a:t>Practice Example # 1</a:t>
            </a:r>
          </a:p>
        </p:txBody>
      </p:sp>
      <p:sp>
        <p:nvSpPr>
          <p:cNvPr id="3" name="Date Placeholder 2">
            <a:extLst>
              <a:ext uri="{FF2B5EF4-FFF2-40B4-BE49-F238E27FC236}">
                <a16:creationId xmlns:a16="http://schemas.microsoft.com/office/drawing/2014/main" id="{95205DE3-3064-3EE1-C9C7-9A9E7572CE1A}"/>
              </a:ext>
            </a:extLst>
          </p:cNvPr>
          <p:cNvSpPr>
            <a:spLocks noGrp="1"/>
          </p:cNvSpPr>
          <p:nvPr>
            <p:ph type="dt" sz="half" idx="10"/>
          </p:nvPr>
        </p:nvSpPr>
        <p:spPr/>
        <p:txBody>
          <a:bodyPr/>
          <a:lstStyle/>
          <a:p>
            <a:fld id="{C89A64A2-F4C3-46F3-8F8E-369987CB5716}" type="datetime3">
              <a:rPr lang="en-US" smtClean="0"/>
              <a:t>3 December 2025</a:t>
            </a:fld>
            <a:endParaRPr lang="en-US"/>
          </a:p>
        </p:txBody>
      </p:sp>
      <p:sp>
        <p:nvSpPr>
          <p:cNvPr id="7" name="Slide Number Placeholder 6">
            <a:extLst>
              <a:ext uri="{FF2B5EF4-FFF2-40B4-BE49-F238E27FC236}">
                <a16:creationId xmlns:a16="http://schemas.microsoft.com/office/drawing/2014/main" id="{4053E49B-EE8A-708F-47BD-D0EC328695E7}"/>
              </a:ext>
            </a:extLst>
          </p:cNvPr>
          <p:cNvSpPr>
            <a:spLocks noGrp="1"/>
          </p:cNvSpPr>
          <p:nvPr>
            <p:ph type="sldNum" sz="quarter" idx="12"/>
          </p:nvPr>
        </p:nvSpPr>
        <p:spPr/>
        <p:txBody>
          <a:bodyPr/>
          <a:lstStyle/>
          <a:p>
            <a:fld id="{90416D69-EFB9-4734-9DF5-4234A5F1A98A}" type="slidenum">
              <a:rPr lang="en-US" smtClean="0"/>
              <a:t>56</a:t>
            </a:fld>
            <a:endParaRPr lang="en-US"/>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9957B6C8-3806-A8A3-310C-E0BC45AE7F33}"/>
                  </a:ext>
                </a:extLst>
              </p:cNvPr>
              <p:cNvSpPr>
                <a:spLocks noGrp="1"/>
              </p:cNvSpPr>
              <p:nvPr>
                <p:ph idx="1"/>
              </p:nvPr>
            </p:nvSpPr>
            <p:spPr>
              <a:xfrm>
                <a:off x="241300" y="864881"/>
                <a:ext cx="16027400" cy="7003953"/>
              </a:xfrm>
            </p:spPr>
            <p:txBody>
              <a:bodyPr>
                <a:noAutofit/>
              </a:bodyPr>
              <a:lstStyle/>
              <a:p>
                <a:pPr marL="0" indent="0" algn="just">
                  <a:lnSpc>
                    <a:spcPct val="114000"/>
                  </a:lnSpc>
                  <a:spcBef>
                    <a:spcPts val="0"/>
                  </a:spcBef>
                  <a:buNone/>
                </a:pPr>
                <a:r>
                  <a:rPr lang="en-US" sz="3200" b="1" i="1" dirty="0">
                    <a:solidFill>
                      <a:srgbClr val="FF0000"/>
                    </a:solidFill>
                    <a:latin typeface="Times New Roman" panose="02020603050405020304" pitchFamily="18" charset="0"/>
                    <a:cs typeface="Times New Roman" panose="02020603050405020304" pitchFamily="18" charset="0"/>
                  </a:rPr>
                  <a:t>Solution:  </a:t>
                </a:r>
              </a:p>
              <a:p>
                <a:pPr marL="0" indent="0">
                  <a:buNone/>
                </a:pPr>
                <a:r>
                  <a:rPr lang="en-US" sz="3200" dirty="0">
                    <a:latin typeface="Times New Roman" panose="02020603050405020304" pitchFamily="18" charset="0"/>
                    <a:cs typeface="Times New Roman" panose="02020603050405020304" pitchFamily="18" charset="0"/>
                  </a:rPr>
                  <a:t>The total amount of bits transferred in </a:t>
                </a:r>
                <a:r>
                  <a:rPr lang="en-US" sz="3200" dirty="0">
                    <a:highlight>
                      <a:srgbClr val="FFFF00"/>
                    </a:highlight>
                    <a:latin typeface="Times New Roman" panose="02020603050405020304" pitchFamily="18" charset="0"/>
                    <a:cs typeface="Times New Roman" panose="02020603050405020304" pitchFamily="18" charset="0"/>
                  </a:rPr>
                  <a:t>one frame </a:t>
                </a:r>
                <a:r>
                  <a:rPr lang="en-US" sz="3200" dirty="0">
                    <a:latin typeface="Times New Roman" panose="02020603050405020304" pitchFamily="18" charset="0"/>
                    <a:cs typeface="Times New Roman" panose="02020603050405020304" pitchFamily="18" charset="0"/>
                  </a:rPr>
                  <a:t>= Target address bits + Read/Write bit + Acknowledgment bit + Data bit + Acknowledgment bit = 7 + 1 + 1 + 8 + 1 = 18 bits</a:t>
                </a:r>
                <a:endParaRPr lang="en-US" sz="3200" i="1" dirty="0">
                  <a:latin typeface="Times New Roman" panose="02020603050405020304" pitchFamily="18" charset="0"/>
                  <a:cs typeface="Times New Roman" panose="02020603050405020304" pitchFamily="18" charset="0"/>
                </a:endParaRPr>
              </a:p>
              <a:p>
                <a:pPr marL="0" indent="0">
                  <a:buNone/>
                </a:pPr>
                <a:r>
                  <a:rPr lang="en-US" sz="3200" dirty="0">
                    <a:latin typeface="Times New Roman" panose="02020603050405020304" pitchFamily="18" charset="0"/>
                    <a:cs typeface="Times New Roman" panose="02020603050405020304" pitchFamily="18" charset="0"/>
                  </a:rPr>
                  <a:t>The total time for data transfer of 1 frame, i.e., 18 bits = 18</a:t>
                </a:r>
                <a:r>
                  <a:rPr lang="en-US" sz="3200" dirty="0">
                    <a:latin typeface="Times New Roman" panose="02020603050405020304" pitchFamily="18" charset="0"/>
                    <a:cs typeface="Times New Roman" panose="02020603050405020304" pitchFamily="18" charset="0"/>
                    <a:sym typeface="Symbol" panose="05050102010706020507" pitchFamily="18" charset="2"/>
                  </a:rPr>
                  <a:t></a:t>
                </a:r>
                <a:r>
                  <a:rPr lang="en-US" sz="3200" dirty="0">
                    <a:latin typeface="Times New Roman" panose="02020603050405020304" pitchFamily="18" charset="0"/>
                    <a:cs typeface="Times New Roman" panose="02020603050405020304" pitchFamily="18" charset="0"/>
                  </a:rPr>
                  <a:t>10 = 180 </a:t>
                </a:r>
                <a:r>
                  <a:rPr lang="en-US" sz="3200" dirty="0" err="1">
                    <a:latin typeface="Symbol" panose="05050102010706020507" pitchFamily="18" charset="2"/>
                    <a:cs typeface="Times New Roman" panose="02020603050405020304" pitchFamily="18" charset="0"/>
                  </a:rPr>
                  <a:t>m</a:t>
                </a:r>
                <a:r>
                  <a:rPr lang="en-US" sz="3200" dirty="0" err="1">
                    <a:latin typeface="Times New Roman" panose="02020603050405020304" pitchFamily="18" charset="0"/>
                    <a:cs typeface="Times New Roman" panose="02020603050405020304" pitchFamily="18" charset="0"/>
                  </a:rPr>
                  <a:t>s.</a:t>
                </a:r>
                <a:endParaRPr lang="en-US" sz="3200" i="1" dirty="0">
                  <a:latin typeface="Times New Roman" panose="02020603050405020304" pitchFamily="18" charset="0"/>
                  <a:cs typeface="Times New Roman" panose="02020603050405020304" pitchFamily="18" charset="0"/>
                </a:endParaRPr>
              </a:p>
              <a:p>
                <a:pPr marL="0" indent="0">
                  <a:buNone/>
                </a:pPr>
                <a:r>
                  <a:rPr lang="en-US" sz="3200" dirty="0">
                    <a:latin typeface="Times New Roman" panose="02020603050405020304" pitchFamily="18" charset="0"/>
                    <a:cs typeface="Times New Roman" panose="02020603050405020304" pitchFamily="18" charset="0"/>
                  </a:rPr>
                  <a:t> 180 </a:t>
                </a:r>
                <a:r>
                  <a:rPr lang="en-US" sz="3200" dirty="0" err="1">
                    <a:latin typeface="Symbol" panose="05050102010706020507" pitchFamily="18" charset="2"/>
                    <a:cs typeface="Times New Roman" panose="02020603050405020304" pitchFamily="18" charset="0"/>
                  </a:rPr>
                  <a:t>m</a:t>
                </a:r>
                <a:r>
                  <a:rPr lang="en-US" sz="3200" dirty="0" err="1">
                    <a:latin typeface="Times New Roman" panose="02020603050405020304" pitchFamily="18" charset="0"/>
                    <a:cs typeface="Times New Roman" panose="02020603050405020304" pitchFamily="18" charset="0"/>
                  </a:rPr>
                  <a:t>s</a:t>
                </a:r>
                <a:r>
                  <a:rPr lang="en-US" sz="3200" dirty="0">
                    <a:latin typeface="Times New Roman" panose="02020603050405020304" pitchFamily="18" charset="0"/>
                    <a:cs typeface="Times New Roman" panose="02020603050405020304" pitchFamily="18" charset="0"/>
                  </a:rPr>
                  <a:t> time is required to transfer 1 frame of data</a:t>
                </a:r>
                <a:endParaRPr lang="en-US" sz="3200" i="1" dirty="0">
                  <a:latin typeface="Times New Roman" panose="02020603050405020304" pitchFamily="18" charset="0"/>
                  <a:cs typeface="Times New Roman" panose="02020603050405020304" pitchFamily="18" charset="0"/>
                </a:endParaRPr>
              </a:p>
              <a:p>
                <a:pPr marL="0" indent="0">
                  <a:buNone/>
                </a:pPr>
                <a:r>
                  <a:rPr lang="en-US" sz="3200" dirty="0">
                    <a:latin typeface="Times New Roman" panose="02020603050405020304" pitchFamily="18" charset="0"/>
                    <a:cs typeface="Times New Roman" panose="02020603050405020304" pitchFamily="18" charset="0"/>
                    <a:sym typeface="Symbol" panose="05050102010706020507" pitchFamily="18" charset="2"/>
                  </a:rPr>
                  <a:t></a:t>
                </a:r>
                <a:r>
                  <a:rPr lang="en-US" sz="3200" dirty="0">
                    <a:latin typeface="Times New Roman" panose="02020603050405020304" pitchFamily="18" charset="0"/>
                    <a:cs typeface="Times New Roman" panose="02020603050405020304" pitchFamily="18" charset="0"/>
                  </a:rPr>
                  <a:t> 1 </a:t>
                </a:r>
                <a:r>
                  <a:rPr lang="en-US" sz="3200" dirty="0" err="1">
                    <a:latin typeface="Symbol" panose="05050102010706020507" pitchFamily="18" charset="2"/>
                    <a:cs typeface="Times New Roman" panose="02020603050405020304" pitchFamily="18" charset="0"/>
                  </a:rPr>
                  <a:t>m</a:t>
                </a:r>
                <a:r>
                  <a:rPr lang="en-US" sz="3200" dirty="0" err="1">
                    <a:latin typeface="Times New Roman" panose="02020603050405020304" pitchFamily="18" charset="0"/>
                    <a:cs typeface="Times New Roman" panose="02020603050405020304" pitchFamily="18" charset="0"/>
                  </a:rPr>
                  <a:t>s</a:t>
                </a:r>
                <a:r>
                  <a:rPr lang="en-US" sz="3200" dirty="0">
                    <a:latin typeface="Times New Roman" panose="02020603050405020304" pitchFamily="18" charset="0"/>
                    <a:cs typeface="Times New Roman" panose="02020603050405020304" pitchFamily="18" charset="0"/>
                  </a:rPr>
                  <a:t> time is required to transfer </a:t>
                </a:r>
                <a14:m>
                  <m:oMath xmlns:m="http://schemas.openxmlformats.org/officeDocument/2006/math">
                    <m:f>
                      <m:fPr>
                        <m:ctrlPr>
                          <a:rPr lang="en-US" sz="3200" i="1">
                            <a:latin typeface="Cambria Math" panose="02040503050406030204" pitchFamily="18" charset="0"/>
                          </a:rPr>
                        </m:ctrlPr>
                      </m:fPr>
                      <m:num>
                        <m:r>
                          <a:rPr lang="en-US" sz="3200" i="1">
                            <a:latin typeface="Cambria Math" panose="02040503050406030204" pitchFamily="18" charset="0"/>
                          </a:rPr>
                          <m:t>1</m:t>
                        </m:r>
                      </m:num>
                      <m:den>
                        <m:r>
                          <a:rPr lang="en-US" sz="3200" i="1">
                            <a:latin typeface="Cambria Math" panose="02040503050406030204" pitchFamily="18" charset="0"/>
                          </a:rPr>
                          <m:t>180</m:t>
                        </m:r>
                      </m:den>
                    </m:f>
                  </m:oMath>
                </a14:m>
                <a:r>
                  <a:rPr lang="en-US" sz="3200" dirty="0">
                    <a:latin typeface="Times New Roman" panose="02020603050405020304" pitchFamily="18" charset="0"/>
                    <a:cs typeface="Times New Roman" panose="02020603050405020304" pitchFamily="18" charset="0"/>
                  </a:rPr>
                  <a:t>  frame</a:t>
                </a:r>
                <a:endParaRPr lang="en-US" sz="3200" i="1" dirty="0">
                  <a:latin typeface="Times New Roman" panose="02020603050405020304" pitchFamily="18" charset="0"/>
                  <a:cs typeface="Times New Roman" panose="02020603050405020304" pitchFamily="18" charset="0"/>
                </a:endParaRPr>
              </a:p>
              <a:p>
                <a:pPr marL="0" indent="0">
                  <a:buNone/>
                </a:pPr>
                <a:r>
                  <a:rPr lang="en-US" sz="3200" dirty="0">
                    <a:latin typeface="Times New Roman" panose="02020603050405020304" pitchFamily="18" charset="0"/>
                    <a:cs typeface="Times New Roman" panose="02020603050405020304" pitchFamily="18" charset="0"/>
                    <a:sym typeface="Symbol" panose="05050102010706020507" pitchFamily="18" charset="2"/>
                  </a:rPr>
                  <a:t></a:t>
                </a:r>
                <a:r>
                  <a:rPr lang="en-US" sz="3200" dirty="0">
                    <a:latin typeface="Times New Roman" panose="02020603050405020304" pitchFamily="18" charset="0"/>
                    <a:cs typeface="Times New Roman" panose="02020603050405020304" pitchFamily="18" charset="0"/>
                  </a:rPr>
                  <a:t> 1 s = 10</a:t>
                </a:r>
                <a:r>
                  <a:rPr lang="en-US" sz="3200" baseline="30000" dirty="0">
                    <a:latin typeface="Times New Roman" panose="02020603050405020304" pitchFamily="18" charset="0"/>
                    <a:cs typeface="Times New Roman" panose="02020603050405020304" pitchFamily="18" charset="0"/>
                  </a:rPr>
                  <a:t>6</a:t>
                </a:r>
                <a:r>
                  <a:rPr lang="en-US" sz="3200" dirty="0">
                    <a:latin typeface="Times New Roman" panose="02020603050405020304" pitchFamily="18" charset="0"/>
                    <a:cs typeface="Times New Roman" panose="02020603050405020304" pitchFamily="18" charset="0"/>
                  </a:rPr>
                  <a:t> </a:t>
                </a:r>
                <a:r>
                  <a:rPr lang="en-US" sz="3200" dirty="0" err="1">
                    <a:latin typeface="Symbol" panose="05050102010706020507" pitchFamily="18" charset="2"/>
                    <a:cs typeface="Times New Roman" panose="02020603050405020304" pitchFamily="18" charset="0"/>
                  </a:rPr>
                  <a:t>m</a:t>
                </a:r>
                <a:r>
                  <a:rPr lang="en-US" sz="3200" dirty="0" err="1">
                    <a:latin typeface="Times New Roman" panose="02020603050405020304" pitchFamily="18" charset="0"/>
                    <a:cs typeface="Times New Roman" panose="02020603050405020304" pitchFamily="18" charset="0"/>
                  </a:rPr>
                  <a:t>s</a:t>
                </a:r>
                <a:r>
                  <a:rPr lang="en-US" sz="3200" dirty="0">
                    <a:latin typeface="Times New Roman" panose="02020603050405020304" pitchFamily="18" charset="0"/>
                    <a:cs typeface="Times New Roman" panose="02020603050405020304" pitchFamily="18" charset="0"/>
                  </a:rPr>
                  <a:t> time is required to transfer </a:t>
                </a:r>
                <a14:m>
                  <m:oMath xmlns:m="http://schemas.openxmlformats.org/officeDocument/2006/math">
                    <m:f>
                      <m:fPr>
                        <m:ctrlPr>
                          <a:rPr lang="en-US" sz="3200" i="1">
                            <a:latin typeface="Cambria Math" panose="02040503050406030204" pitchFamily="18" charset="0"/>
                          </a:rPr>
                        </m:ctrlPr>
                      </m:fPr>
                      <m:num>
                        <m:r>
                          <a:rPr lang="en-US" sz="3200" i="1">
                            <a:latin typeface="Cambria Math" panose="02040503050406030204" pitchFamily="18" charset="0"/>
                          </a:rPr>
                          <m:t>1×</m:t>
                        </m:r>
                        <m:sSup>
                          <m:sSupPr>
                            <m:ctrlPr>
                              <a:rPr lang="en-US" sz="3200" i="1">
                                <a:latin typeface="Cambria Math" panose="02040503050406030204" pitchFamily="18" charset="0"/>
                              </a:rPr>
                            </m:ctrlPr>
                          </m:sSupPr>
                          <m:e>
                            <m:r>
                              <a:rPr lang="en-US" sz="3200" i="1">
                                <a:latin typeface="Cambria Math" panose="02040503050406030204" pitchFamily="18" charset="0"/>
                              </a:rPr>
                              <m:t>10</m:t>
                            </m:r>
                          </m:e>
                          <m:sup>
                            <m:r>
                              <a:rPr lang="en-US" sz="3200" i="1">
                                <a:latin typeface="Cambria Math" panose="02040503050406030204" pitchFamily="18" charset="0"/>
                              </a:rPr>
                              <m:t>6</m:t>
                            </m:r>
                          </m:sup>
                        </m:sSup>
                      </m:num>
                      <m:den>
                        <m:r>
                          <a:rPr lang="en-US" sz="3200" i="1">
                            <a:latin typeface="Cambria Math" panose="02040503050406030204" pitchFamily="18" charset="0"/>
                          </a:rPr>
                          <m:t>180</m:t>
                        </m:r>
                      </m:den>
                    </m:f>
                  </m:oMath>
                </a14:m>
                <a:r>
                  <a:rPr lang="en-US" sz="3200" dirty="0">
                    <a:latin typeface="Times New Roman" panose="02020603050405020304" pitchFamily="18" charset="0"/>
                    <a:cs typeface="Times New Roman" panose="02020603050405020304" pitchFamily="18" charset="0"/>
                  </a:rPr>
                  <a:t> frame</a:t>
                </a:r>
                <a:endParaRPr lang="en-US" sz="3200" i="1" dirty="0">
                  <a:latin typeface="Times New Roman" panose="02020603050405020304" pitchFamily="18" charset="0"/>
                  <a:cs typeface="Times New Roman" panose="02020603050405020304" pitchFamily="18" charset="0"/>
                </a:endParaRPr>
              </a:p>
              <a:p>
                <a:pPr marL="0" indent="0">
                  <a:buNone/>
                </a:pPr>
                <a:r>
                  <a:rPr lang="en-US" sz="3200" dirty="0">
                    <a:latin typeface="Times New Roman" panose="02020603050405020304" pitchFamily="18" charset="0"/>
                    <a:cs typeface="Times New Roman" panose="02020603050405020304" pitchFamily="18" charset="0"/>
                  </a:rPr>
                  <a:t>That is, </a:t>
                </a:r>
                <a14:m>
                  <m:oMath xmlns:m="http://schemas.openxmlformats.org/officeDocument/2006/math">
                    <m:f>
                      <m:fPr>
                        <m:ctrlPr>
                          <a:rPr lang="en-US" sz="3200" i="1">
                            <a:latin typeface="Cambria Math" panose="02040503050406030204" pitchFamily="18" charset="0"/>
                          </a:rPr>
                        </m:ctrlPr>
                      </m:fPr>
                      <m:num>
                        <m:sSup>
                          <m:sSupPr>
                            <m:ctrlPr>
                              <a:rPr lang="en-US" sz="3200" i="1">
                                <a:latin typeface="Cambria Math" panose="02040503050406030204" pitchFamily="18" charset="0"/>
                              </a:rPr>
                            </m:ctrlPr>
                          </m:sSupPr>
                          <m:e>
                            <m:r>
                              <a:rPr lang="en-US" sz="3200" i="1">
                                <a:latin typeface="Cambria Math" panose="02040503050406030204" pitchFamily="18" charset="0"/>
                              </a:rPr>
                              <m:t>10</m:t>
                            </m:r>
                          </m:e>
                          <m:sup>
                            <m:r>
                              <a:rPr lang="en-US" sz="3200" i="1">
                                <a:latin typeface="Cambria Math" panose="02040503050406030204" pitchFamily="18" charset="0"/>
                              </a:rPr>
                              <m:t>5</m:t>
                            </m:r>
                          </m:sup>
                        </m:sSup>
                      </m:num>
                      <m:den>
                        <m:r>
                          <a:rPr lang="en-US" sz="3200" i="1">
                            <a:latin typeface="Cambria Math" panose="02040503050406030204" pitchFamily="18" charset="0"/>
                          </a:rPr>
                          <m:t>18</m:t>
                        </m:r>
                      </m:den>
                    </m:f>
                    <m:r>
                      <a:rPr lang="en-US" sz="3200" i="1">
                        <a:latin typeface="Cambria Math" panose="02040503050406030204" pitchFamily="18" charset="0"/>
                      </a:rPr>
                      <m:t>=5555.55</m:t>
                    </m:r>
                  </m:oMath>
                </a14:m>
                <a:r>
                  <a:rPr lang="en-US" sz="3200" dirty="0">
                    <a:latin typeface="Times New Roman" panose="02020603050405020304" pitchFamily="18" charset="0"/>
                    <a:cs typeface="Times New Roman" panose="02020603050405020304" pitchFamily="18" charset="0"/>
                  </a:rPr>
                  <a:t> frames are transferred each second.</a:t>
                </a:r>
              </a:p>
              <a:p>
                <a:pPr marL="0" indent="0">
                  <a:buNone/>
                </a:pPr>
                <a:r>
                  <a:rPr lang="en-US" sz="3200" dirty="0">
                    <a:latin typeface="Times New Roman" panose="02020603050405020304" pitchFamily="18" charset="0"/>
                    <a:cs typeface="Times New Roman" panose="02020603050405020304" pitchFamily="18" charset="0"/>
                  </a:rPr>
                  <a:t>Therefore, the frame rate is 5.55 </a:t>
                </a:r>
                <a:r>
                  <a:rPr lang="en-US" sz="3200" dirty="0" err="1">
                    <a:latin typeface="Times New Roman" panose="02020603050405020304" pitchFamily="18" charset="0"/>
                    <a:cs typeface="Times New Roman" panose="02020603050405020304" pitchFamily="18" charset="0"/>
                  </a:rPr>
                  <a:t>kfps</a:t>
                </a:r>
                <a:r>
                  <a:rPr lang="en-US" sz="3200" dirty="0">
                    <a:latin typeface="Times New Roman" panose="02020603050405020304" pitchFamily="18" charset="0"/>
                    <a:cs typeface="Times New Roman" panose="02020603050405020304" pitchFamily="18" charset="0"/>
                  </a:rPr>
                  <a:t>.</a:t>
                </a:r>
                <a:endParaRPr lang="en-US" sz="3200" i="0" dirty="0">
                  <a:effectLst/>
                  <a:latin typeface="Times New Roman" panose="02020603050405020304" pitchFamily="18" charset="0"/>
                  <a:ea typeface="Meiryo" panose="020B0604030504040204" pitchFamily="34" charset="-128"/>
                  <a:cs typeface="Times New Roman" panose="02020603050405020304" pitchFamily="18" charset="0"/>
                </a:endParaRPr>
              </a:p>
              <a:p>
                <a:pPr marL="0" indent="0" algn="just">
                  <a:lnSpc>
                    <a:spcPct val="100000"/>
                  </a:lnSpc>
                  <a:spcBef>
                    <a:spcPts val="0"/>
                  </a:spcBef>
                  <a:buNone/>
                </a:pPr>
                <a:endParaRPr lang="en-US" sz="3200" i="0" dirty="0">
                  <a:effectLst/>
                  <a:latin typeface="Times New Roman" panose="02020603050405020304" pitchFamily="18" charset="0"/>
                  <a:ea typeface="Meiryo" panose="020B0604030504040204" pitchFamily="34" charset="-128"/>
                  <a:cs typeface="Times New Roman" panose="02020603050405020304" pitchFamily="18" charset="0"/>
                </a:endParaRPr>
              </a:p>
              <a:p>
                <a:pPr marL="0" indent="0" algn="just">
                  <a:lnSpc>
                    <a:spcPct val="100000"/>
                  </a:lnSpc>
                  <a:spcBef>
                    <a:spcPts val="0"/>
                  </a:spcBef>
                  <a:buNone/>
                </a:pPr>
                <a:endParaRPr lang="en-US" sz="3200" i="1" dirty="0"/>
              </a:p>
            </p:txBody>
          </p:sp>
        </mc:Choice>
        <mc:Fallback xmlns="">
          <p:sp>
            <p:nvSpPr>
              <p:cNvPr id="8" name="Content Placeholder 2">
                <a:extLst>
                  <a:ext uri="{FF2B5EF4-FFF2-40B4-BE49-F238E27FC236}">
                    <a16:creationId xmlns:a16="http://schemas.microsoft.com/office/drawing/2014/main" id="{9957B6C8-3806-A8A3-310C-E0BC45AE7F33}"/>
                  </a:ext>
                </a:extLst>
              </p:cNvPr>
              <p:cNvSpPr>
                <a:spLocks noGrp="1" noRot="1" noChangeAspect="1" noMove="1" noResize="1" noEditPoints="1" noAdjustHandles="1" noChangeArrowheads="1" noChangeShapeType="1" noTextEdit="1"/>
              </p:cNvSpPr>
              <p:nvPr>
                <p:ph idx="1"/>
              </p:nvPr>
            </p:nvSpPr>
            <p:spPr>
              <a:xfrm>
                <a:off x="241300" y="864881"/>
                <a:ext cx="16027400" cy="7003953"/>
              </a:xfrm>
              <a:blipFill>
                <a:blip r:embed="rId2"/>
                <a:stretch>
                  <a:fillRect l="-989" t="-870"/>
                </a:stretch>
              </a:blipFill>
            </p:spPr>
            <p:txBody>
              <a:bodyPr/>
              <a:lstStyle/>
              <a:p>
                <a:r>
                  <a:rPr lang="en-US">
                    <a:noFill/>
                  </a:rPr>
                  <a:t> </a:t>
                </a:r>
              </a:p>
            </p:txBody>
          </p:sp>
        </mc:Fallback>
      </mc:AlternateContent>
    </p:spTree>
    <p:extLst>
      <p:ext uri="{BB962C8B-B14F-4D97-AF65-F5344CB8AC3E}">
        <p14:creationId xmlns:p14="http://schemas.microsoft.com/office/powerpoint/2010/main" val="1461008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left)">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wipe(left)">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wipe(left)">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wipe(left)">
                                      <p:cBhvr>
                                        <p:cTn id="27" dur="500"/>
                                        <p:tgtEl>
                                          <p:spTgt spid="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wipe(left)">
                                      <p:cBhvr>
                                        <p:cTn id="32" dur="500"/>
                                        <p:tgtEl>
                                          <p:spTgt spid="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Effect transition="in" filter="wipe(left)">
                                      <p:cBhvr>
                                        <p:cTn id="37" dur="500"/>
                                        <p:tgtEl>
                                          <p:spTgt spid="8">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
                                            <p:txEl>
                                              <p:pRg st="7" end="7"/>
                                            </p:txEl>
                                          </p:spTgt>
                                        </p:tgtEl>
                                        <p:attrNameLst>
                                          <p:attrName>style.visibility</p:attrName>
                                        </p:attrNameLst>
                                      </p:cBhvr>
                                      <p:to>
                                        <p:strVal val="visible"/>
                                      </p:to>
                                    </p:set>
                                    <p:animEffect transition="in" filter="wipe(left)">
                                      <p:cBhvr>
                                        <p:cTn id="42" dur="500"/>
                                        <p:tgtEl>
                                          <p:spTgt spid="8">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93251-645B-7C14-C0FF-F5A9BEEBF3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72DC0C-6EA3-7CE6-CCEF-0D7E472C9C73}"/>
              </a:ext>
            </a:extLst>
          </p:cNvPr>
          <p:cNvSpPr>
            <a:spLocks noGrp="1"/>
          </p:cNvSpPr>
          <p:nvPr>
            <p:ph type="title"/>
          </p:nvPr>
        </p:nvSpPr>
        <p:spPr>
          <a:xfrm>
            <a:off x="1748873" y="101600"/>
            <a:ext cx="10250905" cy="814081"/>
          </a:xfrm>
        </p:spPr>
        <p:txBody>
          <a:bodyPr>
            <a:noAutofit/>
          </a:bodyPr>
          <a:lstStyle/>
          <a:p>
            <a:pPr algn="just"/>
            <a:r>
              <a:rPr lang="en-US" sz="5400" b="1" dirty="0">
                <a:solidFill>
                  <a:srgbClr val="FF0000"/>
                </a:solidFill>
              </a:rPr>
              <a:t>Practice Example # 2</a:t>
            </a:r>
          </a:p>
        </p:txBody>
      </p:sp>
      <p:sp>
        <p:nvSpPr>
          <p:cNvPr id="3" name="Date Placeholder 2">
            <a:extLst>
              <a:ext uri="{FF2B5EF4-FFF2-40B4-BE49-F238E27FC236}">
                <a16:creationId xmlns:a16="http://schemas.microsoft.com/office/drawing/2014/main" id="{C02D3652-B4E2-6F65-EB2C-E6ED9E1839F5}"/>
              </a:ext>
            </a:extLst>
          </p:cNvPr>
          <p:cNvSpPr>
            <a:spLocks noGrp="1"/>
          </p:cNvSpPr>
          <p:nvPr>
            <p:ph type="dt" sz="half" idx="10"/>
          </p:nvPr>
        </p:nvSpPr>
        <p:spPr/>
        <p:txBody>
          <a:bodyPr/>
          <a:lstStyle/>
          <a:p>
            <a:fld id="{C89A64A2-F4C3-46F3-8F8E-369987CB5716}" type="datetime3">
              <a:rPr lang="en-US" smtClean="0"/>
              <a:t>3 December 2025</a:t>
            </a:fld>
            <a:endParaRPr lang="en-US"/>
          </a:p>
        </p:txBody>
      </p:sp>
      <p:sp>
        <p:nvSpPr>
          <p:cNvPr id="7" name="Slide Number Placeholder 6">
            <a:extLst>
              <a:ext uri="{FF2B5EF4-FFF2-40B4-BE49-F238E27FC236}">
                <a16:creationId xmlns:a16="http://schemas.microsoft.com/office/drawing/2014/main" id="{BF8EF844-1E9C-B610-1B84-F09F85C1E0BF}"/>
              </a:ext>
            </a:extLst>
          </p:cNvPr>
          <p:cNvSpPr>
            <a:spLocks noGrp="1"/>
          </p:cNvSpPr>
          <p:nvPr>
            <p:ph type="sldNum" sz="quarter" idx="12"/>
          </p:nvPr>
        </p:nvSpPr>
        <p:spPr/>
        <p:txBody>
          <a:bodyPr/>
          <a:lstStyle/>
          <a:p>
            <a:fld id="{90416D69-EFB9-4734-9DF5-4234A5F1A98A}" type="slidenum">
              <a:rPr lang="en-US" smtClean="0"/>
              <a:t>57</a:t>
            </a:fld>
            <a:endParaRPr lang="en-US"/>
          </a:p>
        </p:txBody>
      </p:sp>
      <p:sp>
        <p:nvSpPr>
          <p:cNvPr id="4" name="Title 1">
            <a:extLst>
              <a:ext uri="{FF2B5EF4-FFF2-40B4-BE49-F238E27FC236}">
                <a16:creationId xmlns:a16="http://schemas.microsoft.com/office/drawing/2014/main" id="{28607445-0729-9A49-638C-E0330012A5C0}"/>
              </a:ext>
            </a:extLst>
          </p:cNvPr>
          <p:cNvSpPr txBox="1">
            <a:spLocks/>
          </p:cNvSpPr>
          <p:nvPr/>
        </p:nvSpPr>
        <p:spPr>
          <a:xfrm>
            <a:off x="86712" y="821614"/>
            <a:ext cx="16283588" cy="1286586"/>
          </a:xfrm>
          <a:prstGeom prst="rect">
            <a:avLst/>
          </a:prstGeom>
        </p:spPr>
        <p:txBody>
          <a:bodyPr vert="horz" lIns="91440" tIns="45720" rIns="91440" bIns="45720" rtlCol="0" anchor="t">
            <a:noAutofit/>
          </a:bodyPr>
          <a:lstStyle>
            <a:lvl1pPr algn="l" defTabSz="1097280" rtl="0" eaLnBrk="1" latinLnBrk="0" hangingPunct="1">
              <a:lnSpc>
                <a:spcPct val="90000"/>
              </a:lnSpc>
              <a:spcBef>
                <a:spcPct val="0"/>
              </a:spcBef>
              <a:buNone/>
              <a:defRPr sz="5280" kern="1200">
                <a:solidFill>
                  <a:schemeClr val="tx1"/>
                </a:solidFill>
                <a:latin typeface="+mj-lt"/>
                <a:ea typeface="+mj-ea"/>
                <a:cs typeface="+mj-cs"/>
              </a:defRPr>
            </a:lvl1pPr>
          </a:lstStyle>
          <a:p>
            <a:pPr algn="just">
              <a:spcAft>
                <a:spcPts val="300"/>
              </a:spcAft>
            </a:pPr>
            <a:r>
              <a:rPr lang="en-US" sz="2800" b="1"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Draw </a:t>
            </a:r>
            <a:r>
              <a:rPr lang="en-US" sz="280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the timing waveforms for the following data transfer structure using a 10-bit addressing I2C protocol. </a:t>
            </a:r>
            <a:r>
              <a:rPr lang="en-US" sz="2800" b="1"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Compute </a:t>
            </a:r>
            <a:r>
              <a:rPr lang="en-US" sz="2800" dirty="0">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the amount of data being transferred, data transfer rate, and frame rate. The operating frequency is 5 </a:t>
            </a:r>
            <a:r>
              <a:rPr lang="en-US" sz="2800" dirty="0" err="1">
                <a:solidFill>
                  <a:srgbClr val="0070C0"/>
                </a:solidFill>
                <a:latin typeface="Times New Roman" panose="02020603050405020304" pitchFamily="18" charset="0"/>
                <a:ea typeface="Times New Roman" panose="02020603050405020304" pitchFamily="18" charset="0"/>
                <a:cs typeface="Times New Roman" panose="02020603050405020304" pitchFamily="18" charset="0"/>
              </a:rPr>
              <a:t>MHz.</a:t>
            </a:r>
            <a:endParaRPr lang="en-US" sz="2800" i="1" dirty="0">
              <a:solidFill>
                <a:srgbClr val="0070C0"/>
              </a:solidFill>
              <a:effectLst/>
              <a:latin typeface="Arial" panose="020B0604020202020204" pitchFamily="34" charset="0"/>
              <a:ea typeface="Times New Roman" panose="02020603050405020304" pitchFamily="18" charset="0"/>
              <a:cs typeface="Times New Roman" panose="02020603050405020304" pitchFamily="18" charset="0"/>
            </a:endParaRPr>
          </a:p>
        </p:txBody>
      </p:sp>
      <p:sp>
        <p:nvSpPr>
          <p:cNvPr id="8" name="Content Placeholder 2">
            <a:extLst>
              <a:ext uri="{FF2B5EF4-FFF2-40B4-BE49-F238E27FC236}">
                <a16:creationId xmlns:a16="http://schemas.microsoft.com/office/drawing/2014/main" id="{0C358002-3B46-4B1C-9F3D-68383451248E}"/>
              </a:ext>
            </a:extLst>
          </p:cNvPr>
          <p:cNvSpPr>
            <a:spLocks noGrp="1"/>
          </p:cNvSpPr>
          <p:nvPr>
            <p:ph idx="1"/>
          </p:nvPr>
        </p:nvSpPr>
        <p:spPr>
          <a:xfrm>
            <a:off x="232526" y="4311487"/>
            <a:ext cx="16027400" cy="2795347"/>
          </a:xfrm>
        </p:spPr>
        <p:txBody>
          <a:bodyPr>
            <a:noAutofit/>
          </a:bodyPr>
          <a:lstStyle/>
          <a:p>
            <a:pPr marL="0" indent="0" algn="just">
              <a:lnSpc>
                <a:spcPct val="114000"/>
              </a:lnSpc>
              <a:spcBef>
                <a:spcPts val="0"/>
              </a:spcBef>
              <a:buNone/>
            </a:pPr>
            <a:r>
              <a:rPr lang="en-US" sz="3200" b="1" i="1" dirty="0">
                <a:solidFill>
                  <a:srgbClr val="FF0000"/>
                </a:solidFill>
                <a:latin typeface="Times New Roman" panose="02020603050405020304" pitchFamily="18" charset="0"/>
                <a:cs typeface="Times New Roman" panose="02020603050405020304" pitchFamily="18" charset="0"/>
              </a:rPr>
              <a:t>Solution:  </a:t>
            </a:r>
          </a:p>
          <a:p>
            <a:pPr marL="0" indent="0" algn="just">
              <a:lnSpc>
                <a:spcPct val="100000"/>
              </a:lnSpc>
              <a:spcBef>
                <a:spcPts val="0"/>
              </a:spcBef>
              <a:buNone/>
            </a:pPr>
            <a:r>
              <a:rPr lang="en-US" sz="2800" i="0" dirty="0">
                <a:effectLst/>
                <a:latin typeface="Times New Roman" panose="02020603050405020304" pitchFamily="18" charset="0"/>
                <a:ea typeface="Meiryo" panose="020B0604030504040204" pitchFamily="34" charset="-128"/>
                <a:cs typeface="Times New Roman" panose="02020603050405020304" pitchFamily="18" charset="0"/>
              </a:rPr>
              <a:t>The timing waveform is given below:</a:t>
            </a:r>
          </a:p>
          <a:p>
            <a:pPr marL="0" indent="0" algn="just">
              <a:lnSpc>
                <a:spcPct val="100000"/>
              </a:lnSpc>
              <a:spcBef>
                <a:spcPts val="0"/>
              </a:spcBef>
              <a:buNone/>
            </a:pPr>
            <a:endParaRPr lang="en-US" sz="3200" i="1" dirty="0"/>
          </a:p>
        </p:txBody>
      </p:sp>
      <p:pic>
        <p:nvPicPr>
          <p:cNvPr id="10" name="Picture 9">
            <a:extLst>
              <a:ext uri="{FF2B5EF4-FFF2-40B4-BE49-F238E27FC236}">
                <a16:creationId xmlns:a16="http://schemas.microsoft.com/office/drawing/2014/main" id="{034B1FF1-1427-1F34-10D7-4F169C48BAFE}"/>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bwMode="auto">
          <a:xfrm>
            <a:off x="232525" y="2083994"/>
            <a:ext cx="15994147" cy="1997162"/>
          </a:xfrm>
          <a:prstGeom prst="rect">
            <a:avLst/>
          </a:prstGeom>
          <a:ln>
            <a:noFill/>
          </a:ln>
          <a:extLst>
            <a:ext uri="{53640926-AAD7-44D8-BBD7-CCE9431645EC}">
              <a14:shadowObscured xmlns:a14="http://schemas.microsoft.com/office/drawing/2010/main"/>
            </a:ext>
          </a:extLst>
        </p:spPr>
      </p:pic>
      <p:pic>
        <p:nvPicPr>
          <p:cNvPr id="12" name="Picture 11">
            <a:extLst>
              <a:ext uri="{FF2B5EF4-FFF2-40B4-BE49-F238E27FC236}">
                <a16:creationId xmlns:a16="http://schemas.microsoft.com/office/drawing/2014/main" id="{C6CA2F56-4AD6-F211-C1A1-F0A9B591B350}"/>
              </a:ext>
            </a:extLst>
          </p:cNvPr>
          <p:cNvPicPr>
            <a:picLocks noChangeAspect="1"/>
          </p:cNvPicPr>
          <p:nvPr/>
        </p:nvPicPr>
        <p:blipFill>
          <a:blip r:embed="rId3"/>
          <a:stretch>
            <a:fillRect/>
          </a:stretch>
        </p:blipFill>
        <p:spPr>
          <a:xfrm>
            <a:off x="353834" y="5343536"/>
            <a:ext cx="16027400" cy="1876784"/>
          </a:xfrm>
          <a:prstGeom prst="rect">
            <a:avLst/>
          </a:prstGeom>
        </p:spPr>
      </p:pic>
    </p:spTree>
    <p:extLst>
      <p:ext uri="{BB962C8B-B14F-4D97-AF65-F5344CB8AC3E}">
        <p14:creationId xmlns:p14="http://schemas.microsoft.com/office/powerpoint/2010/main" val="1108278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 calcmode="lin" valueType="num">
                                      <p:cBhvr additive="base">
                                        <p:cTn id="13" dur="500" fill="hold"/>
                                        <p:tgtEl>
                                          <p:spTgt spid="10"/>
                                        </p:tgtEl>
                                        <p:attrNameLst>
                                          <p:attrName>ppt_x</p:attrName>
                                        </p:attrNameLst>
                                      </p:cBhvr>
                                      <p:tavLst>
                                        <p:tav tm="0">
                                          <p:val>
                                            <p:strVal val="0-#ppt_w/2"/>
                                          </p:val>
                                        </p:tav>
                                        <p:tav tm="100000">
                                          <p:val>
                                            <p:strVal val="#ppt_x"/>
                                          </p:val>
                                        </p:tav>
                                      </p:tavLst>
                                    </p:anim>
                                    <p:anim calcmode="lin" valueType="num">
                                      <p:cBhvr additive="base">
                                        <p:cTn id="14" dur="500" fill="hold"/>
                                        <p:tgtEl>
                                          <p:spTgt spid="10"/>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B8F56-C7CD-59D8-3B63-D4718F6CBF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441A5F-5F19-F5F5-DDAF-C77DC748F50A}"/>
              </a:ext>
            </a:extLst>
          </p:cNvPr>
          <p:cNvSpPr>
            <a:spLocks noGrp="1"/>
          </p:cNvSpPr>
          <p:nvPr>
            <p:ph type="title"/>
          </p:nvPr>
        </p:nvSpPr>
        <p:spPr>
          <a:xfrm>
            <a:off x="1748873" y="101600"/>
            <a:ext cx="10250905" cy="814081"/>
          </a:xfrm>
        </p:spPr>
        <p:txBody>
          <a:bodyPr>
            <a:noAutofit/>
          </a:bodyPr>
          <a:lstStyle/>
          <a:p>
            <a:pPr algn="just"/>
            <a:r>
              <a:rPr lang="en-US" sz="5400" b="1" dirty="0">
                <a:solidFill>
                  <a:srgbClr val="FF0000"/>
                </a:solidFill>
              </a:rPr>
              <a:t>Practice Example # 2</a:t>
            </a:r>
          </a:p>
        </p:txBody>
      </p:sp>
      <p:sp>
        <p:nvSpPr>
          <p:cNvPr id="3" name="Date Placeholder 2">
            <a:extLst>
              <a:ext uri="{FF2B5EF4-FFF2-40B4-BE49-F238E27FC236}">
                <a16:creationId xmlns:a16="http://schemas.microsoft.com/office/drawing/2014/main" id="{D8479292-1143-AA70-C558-77F39BD41774}"/>
              </a:ext>
            </a:extLst>
          </p:cNvPr>
          <p:cNvSpPr>
            <a:spLocks noGrp="1"/>
          </p:cNvSpPr>
          <p:nvPr>
            <p:ph type="dt" sz="half" idx="10"/>
          </p:nvPr>
        </p:nvSpPr>
        <p:spPr/>
        <p:txBody>
          <a:bodyPr/>
          <a:lstStyle/>
          <a:p>
            <a:fld id="{C89A64A2-F4C3-46F3-8F8E-369987CB5716}" type="datetime3">
              <a:rPr lang="en-US" smtClean="0"/>
              <a:t>3 December 2025</a:t>
            </a:fld>
            <a:endParaRPr lang="en-US"/>
          </a:p>
        </p:txBody>
      </p:sp>
      <p:sp>
        <p:nvSpPr>
          <p:cNvPr id="7" name="Slide Number Placeholder 6">
            <a:extLst>
              <a:ext uri="{FF2B5EF4-FFF2-40B4-BE49-F238E27FC236}">
                <a16:creationId xmlns:a16="http://schemas.microsoft.com/office/drawing/2014/main" id="{C4812815-DE51-7DEA-9E16-4E64D3DF79E2}"/>
              </a:ext>
            </a:extLst>
          </p:cNvPr>
          <p:cNvSpPr>
            <a:spLocks noGrp="1"/>
          </p:cNvSpPr>
          <p:nvPr>
            <p:ph type="sldNum" sz="quarter" idx="12"/>
          </p:nvPr>
        </p:nvSpPr>
        <p:spPr/>
        <p:txBody>
          <a:bodyPr/>
          <a:lstStyle/>
          <a:p>
            <a:fld id="{90416D69-EFB9-4734-9DF5-4234A5F1A98A}" type="slidenum">
              <a:rPr lang="en-US" smtClean="0"/>
              <a:t>58</a:t>
            </a:fld>
            <a:endParaRPr lang="en-US"/>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B5A8FE9A-9D8C-5EAD-EEB5-0222A223E9F1}"/>
                  </a:ext>
                </a:extLst>
              </p:cNvPr>
              <p:cNvSpPr>
                <a:spLocks noGrp="1"/>
              </p:cNvSpPr>
              <p:nvPr>
                <p:ph idx="1"/>
              </p:nvPr>
            </p:nvSpPr>
            <p:spPr>
              <a:xfrm>
                <a:off x="241300" y="915681"/>
                <a:ext cx="16027400" cy="6844019"/>
              </a:xfrm>
            </p:spPr>
            <p:txBody>
              <a:bodyPr>
                <a:noAutofit/>
              </a:bodyPr>
              <a:lstStyle/>
              <a:p>
                <a:pPr marL="0" indent="0">
                  <a:buNone/>
                </a:pPr>
                <a:r>
                  <a:rPr lang="en-US" dirty="0">
                    <a:latin typeface="Times New Roman" panose="02020603050405020304" pitchFamily="18" charset="0"/>
                    <a:cs typeface="Times New Roman" panose="02020603050405020304" pitchFamily="18" charset="0"/>
                  </a:rPr>
                  <a:t>The total amount of bits transferred = Target address bits + Read/Write bit + Acknowledgment bit + Target address bits + Acknowledgment bit + Target address bits + Read/Write bit + Acknowledgment bit + Data bit + Acknowledgment bit + Data bit + Acknowledgment bit = 7 + 1 + 1 + 8 + 1 + 7 + 1 + 1 + 8 + 1 + 8 + 1 = 45 bits</a:t>
                </a:r>
                <a:endParaRPr lang="en-US" i="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The operating frequency, </a:t>
                </a:r>
                <a:r>
                  <a:rPr lang="en-US" i="1" dirty="0">
                    <a:latin typeface="Times New Roman" panose="02020603050405020304" pitchFamily="18" charset="0"/>
                    <a:cs typeface="Times New Roman" panose="02020603050405020304" pitchFamily="18" charset="0"/>
                  </a:rPr>
                  <a:t>f</a:t>
                </a:r>
                <a:r>
                  <a:rPr lang="en-US" dirty="0">
                    <a:latin typeface="Times New Roman" panose="02020603050405020304" pitchFamily="18" charset="0"/>
                    <a:cs typeface="Times New Roman" panose="02020603050405020304" pitchFamily="18" charset="0"/>
                  </a:rPr>
                  <a:t> = 5 </a:t>
                </a:r>
                <a:r>
                  <a:rPr lang="en-US" dirty="0" err="1">
                    <a:latin typeface="Times New Roman" panose="02020603050405020304" pitchFamily="18" charset="0"/>
                    <a:cs typeface="Times New Roman" panose="02020603050405020304" pitchFamily="18" charset="0"/>
                  </a:rPr>
                  <a:t>MHz.</a:t>
                </a:r>
                <a:r>
                  <a:rPr lang="en-US" dirty="0">
                    <a:latin typeface="Times New Roman" panose="02020603050405020304" pitchFamily="18" charset="0"/>
                    <a:cs typeface="Times New Roman" panose="02020603050405020304" pitchFamily="18" charset="0"/>
                  </a:rPr>
                  <a:t> So, the clock period, </a:t>
                </a:r>
                <a:r>
                  <a:rPr lang="en-US" i="1" dirty="0">
                    <a:latin typeface="Times New Roman" panose="02020603050405020304" pitchFamily="18" charset="0"/>
                    <a:cs typeface="Times New Roman" panose="02020603050405020304" pitchFamily="18" charset="0"/>
                  </a:rPr>
                  <a:t>T</a:t>
                </a:r>
                <a:r>
                  <a:rPr lang="en-US" dirty="0">
                    <a:latin typeface="Times New Roman" panose="02020603050405020304" pitchFamily="18" charset="0"/>
                    <a:cs typeface="Times New Roman" panose="02020603050405020304" pitchFamily="18" charset="0"/>
                  </a:rPr>
                  <a:t> = 1/</a:t>
                </a:r>
                <a:r>
                  <a:rPr lang="en-US" i="1" dirty="0">
                    <a:latin typeface="Times New Roman" panose="02020603050405020304" pitchFamily="18" charset="0"/>
                    <a:cs typeface="Times New Roman" panose="02020603050405020304" pitchFamily="18" charset="0"/>
                  </a:rPr>
                  <a:t>f</a:t>
                </a:r>
                <a:r>
                  <a:rPr lang="en-US" dirty="0">
                    <a:latin typeface="Times New Roman" panose="02020603050405020304" pitchFamily="18" charset="0"/>
                    <a:cs typeface="Times New Roman" panose="02020603050405020304" pitchFamily="18" charset="0"/>
                  </a:rPr>
                  <a:t> = 1/5MHz = 0.2 </a:t>
                </a:r>
                <a:r>
                  <a:rPr lang="en-US" sz="3600" dirty="0" err="1">
                    <a:latin typeface="Symbol" panose="05050102010706020507" pitchFamily="18" charset="2"/>
                    <a:cs typeface="Times New Roman" panose="02020603050405020304" pitchFamily="18" charset="0"/>
                  </a:rPr>
                  <a:t>m</a:t>
                </a:r>
                <a:r>
                  <a:rPr lang="en-US" dirty="0" err="1">
                    <a:latin typeface="Times New Roman" panose="02020603050405020304" pitchFamily="18" charset="0"/>
                    <a:cs typeface="Times New Roman" panose="02020603050405020304" pitchFamily="18" charset="0"/>
                  </a:rPr>
                  <a:t>s.</a:t>
                </a:r>
                <a:endParaRPr lang="en-US" i="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The total time for data transfer of 45 bits = 45</a:t>
                </a:r>
                <a:r>
                  <a:rPr lang="en-US" dirty="0">
                    <a:latin typeface="Times New Roman" panose="02020603050405020304" pitchFamily="18" charset="0"/>
                    <a:cs typeface="Times New Roman" panose="02020603050405020304" pitchFamily="18" charset="0"/>
                    <a:sym typeface="Symbol" panose="05050102010706020507" pitchFamily="18" charset="2"/>
                  </a:rPr>
                  <a:t></a:t>
                </a:r>
                <a:r>
                  <a:rPr lang="en-US" dirty="0">
                    <a:latin typeface="Times New Roman" panose="02020603050405020304" pitchFamily="18" charset="0"/>
                    <a:cs typeface="Times New Roman" panose="02020603050405020304" pitchFamily="18" charset="0"/>
                  </a:rPr>
                  <a:t>0.2 = 9 </a:t>
                </a:r>
                <a:r>
                  <a:rPr lang="en-US" sz="3600" dirty="0" err="1">
                    <a:latin typeface="Symbol" panose="05050102010706020507" pitchFamily="18" charset="2"/>
                    <a:cs typeface="Times New Roman" panose="02020603050405020304" pitchFamily="18" charset="0"/>
                  </a:rPr>
                  <a:t>m</a:t>
                </a:r>
                <a:r>
                  <a:rPr lang="en-US" dirty="0" err="1">
                    <a:latin typeface="Times New Roman" panose="02020603050405020304" pitchFamily="18" charset="0"/>
                    <a:cs typeface="Times New Roman" panose="02020603050405020304" pitchFamily="18" charset="0"/>
                  </a:rPr>
                  <a:t>s.</a:t>
                </a:r>
                <a:endParaRPr lang="en-US" i="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9 </a:t>
                </a:r>
                <a:r>
                  <a:rPr lang="en-US" sz="3600" dirty="0" err="1">
                    <a:latin typeface="Symbol" panose="05050102010706020507" pitchFamily="18" charset="2"/>
                    <a:cs typeface="Times New Roman" panose="02020603050405020304" pitchFamily="18" charset="0"/>
                  </a:rPr>
                  <a:t>m</a:t>
                </a:r>
                <a:r>
                  <a:rPr lang="en-US" dirty="0" err="1">
                    <a:latin typeface="Times New Roman" panose="02020603050405020304" pitchFamily="18" charset="0"/>
                    <a:cs typeface="Times New Roman" panose="02020603050405020304" pitchFamily="18" charset="0"/>
                  </a:rPr>
                  <a:t>s</a:t>
                </a:r>
                <a:r>
                  <a:rPr lang="en-US" dirty="0">
                    <a:latin typeface="Times New Roman" panose="02020603050405020304" pitchFamily="18" charset="0"/>
                    <a:cs typeface="Times New Roman" panose="02020603050405020304" pitchFamily="18" charset="0"/>
                  </a:rPr>
                  <a:t> time is required to transfer 45 bits of data</a:t>
                </a:r>
                <a:endParaRPr lang="en-US" i="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sym typeface="Symbol" panose="05050102010706020507" pitchFamily="18" charset="2"/>
                  </a:rPr>
                  <a:t></a:t>
                </a:r>
                <a:r>
                  <a:rPr lang="en-US" dirty="0">
                    <a:latin typeface="Times New Roman" panose="02020603050405020304" pitchFamily="18" charset="0"/>
                    <a:cs typeface="Times New Roman" panose="02020603050405020304" pitchFamily="18" charset="0"/>
                  </a:rPr>
                  <a:t> 1 </a:t>
                </a:r>
                <a:r>
                  <a:rPr lang="en-US" sz="3600" dirty="0" err="1">
                    <a:latin typeface="Symbol" panose="05050102010706020507" pitchFamily="18" charset="2"/>
                    <a:cs typeface="Times New Roman" panose="02020603050405020304" pitchFamily="18" charset="0"/>
                  </a:rPr>
                  <a:t>m</a:t>
                </a:r>
                <a:r>
                  <a:rPr lang="en-US" dirty="0" err="1">
                    <a:latin typeface="Times New Roman" panose="02020603050405020304" pitchFamily="18" charset="0"/>
                    <a:cs typeface="Times New Roman" panose="02020603050405020304" pitchFamily="18" charset="0"/>
                  </a:rPr>
                  <a:t>s</a:t>
                </a:r>
                <a:r>
                  <a:rPr lang="en-US" dirty="0">
                    <a:latin typeface="Times New Roman" panose="02020603050405020304" pitchFamily="18" charset="0"/>
                    <a:cs typeface="Times New Roman" panose="02020603050405020304" pitchFamily="18" charset="0"/>
                  </a:rPr>
                  <a:t> time is required to transfer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45</m:t>
                        </m:r>
                      </m:num>
                      <m:den>
                        <m:r>
                          <a:rPr lang="en-US" i="1">
                            <a:latin typeface="Cambria Math" panose="02040503050406030204" pitchFamily="18" charset="0"/>
                          </a:rPr>
                          <m:t>9</m:t>
                        </m:r>
                      </m:den>
                    </m:f>
                  </m:oMath>
                </a14:m>
                <a:r>
                  <a:rPr lang="en-US" dirty="0">
                    <a:latin typeface="Times New Roman" panose="02020603050405020304" pitchFamily="18" charset="0"/>
                    <a:cs typeface="Times New Roman" panose="02020603050405020304" pitchFamily="18" charset="0"/>
                  </a:rPr>
                  <a:t>  bits of data</a:t>
                </a:r>
                <a:endParaRPr lang="en-US" i="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sym typeface="Symbol" panose="05050102010706020507" pitchFamily="18" charset="2"/>
                  </a:rPr>
                  <a:t></a:t>
                </a:r>
                <a:r>
                  <a:rPr lang="en-US" dirty="0">
                    <a:latin typeface="Times New Roman" panose="02020603050405020304" pitchFamily="18" charset="0"/>
                    <a:cs typeface="Times New Roman" panose="02020603050405020304" pitchFamily="18" charset="0"/>
                  </a:rPr>
                  <a:t> 1 s = 10</a:t>
                </a:r>
                <a:r>
                  <a:rPr lang="en-US" baseline="30000" dirty="0">
                    <a:latin typeface="Times New Roman" panose="02020603050405020304" pitchFamily="18" charset="0"/>
                    <a:cs typeface="Times New Roman" panose="02020603050405020304" pitchFamily="18" charset="0"/>
                  </a:rPr>
                  <a:t>6</a:t>
                </a:r>
                <a:r>
                  <a:rPr lang="en-US" dirty="0">
                    <a:latin typeface="Times New Roman" panose="02020603050405020304" pitchFamily="18" charset="0"/>
                    <a:cs typeface="Times New Roman" panose="02020603050405020304" pitchFamily="18" charset="0"/>
                  </a:rPr>
                  <a:t> </a:t>
                </a:r>
                <a:r>
                  <a:rPr lang="en-US" sz="3600" dirty="0" err="1">
                    <a:latin typeface="Symbol" panose="05050102010706020507" pitchFamily="18" charset="2"/>
                    <a:cs typeface="Times New Roman" panose="02020603050405020304" pitchFamily="18" charset="0"/>
                  </a:rPr>
                  <a:t>m</a:t>
                </a:r>
                <a:r>
                  <a:rPr lang="en-US" dirty="0" err="1">
                    <a:latin typeface="Times New Roman" panose="02020603050405020304" pitchFamily="18" charset="0"/>
                    <a:cs typeface="Times New Roman" panose="02020603050405020304" pitchFamily="18" charset="0"/>
                  </a:rPr>
                  <a:t>s</a:t>
                </a:r>
                <a:r>
                  <a:rPr lang="en-US" dirty="0">
                    <a:latin typeface="Times New Roman" panose="02020603050405020304" pitchFamily="18" charset="0"/>
                    <a:cs typeface="Times New Roman" panose="02020603050405020304" pitchFamily="18" charset="0"/>
                  </a:rPr>
                  <a:t> time is required to transfer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45×</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6</m:t>
                            </m:r>
                          </m:sup>
                        </m:sSup>
                      </m:num>
                      <m:den>
                        <m:r>
                          <a:rPr lang="en-US" i="1">
                            <a:latin typeface="Cambria Math" panose="02040503050406030204" pitchFamily="18" charset="0"/>
                          </a:rPr>
                          <m:t>9</m:t>
                        </m:r>
                      </m:den>
                    </m:f>
                  </m:oMath>
                </a14:m>
                <a:r>
                  <a:rPr lang="en-US" dirty="0">
                    <a:latin typeface="Times New Roman" panose="02020603050405020304" pitchFamily="18" charset="0"/>
                    <a:cs typeface="Times New Roman" panose="02020603050405020304" pitchFamily="18" charset="0"/>
                  </a:rPr>
                  <a:t> bits of data</a:t>
                </a:r>
                <a:endParaRPr lang="en-US" i="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That is, 5</a:t>
                </a:r>
                <a:r>
                  <a:rPr lang="en-US" dirty="0">
                    <a:latin typeface="Times New Roman" panose="02020603050405020304" pitchFamily="18" charset="0"/>
                    <a:cs typeface="Times New Roman" panose="02020603050405020304" pitchFamily="18" charset="0"/>
                    <a:sym typeface="Symbol" panose="05050102010706020507" pitchFamily="18" charset="2"/>
                  </a:rPr>
                  <a:t></a:t>
                </a:r>
                <a:r>
                  <a:rPr lang="en-US" dirty="0">
                    <a:latin typeface="Times New Roman" panose="02020603050405020304" pitchFamily="18" charset="0"/>
                    <a:cs typeface="Times New Roman" panose="02020603050405020304" pitchFamily="18" charset="0"/>
                  </a:rPr>
                  <a:t>10</a:t>
                </a:r>
                <a:r>
                  <a:rPr lang="en-US" baseline="30000" dirty="0">
                    <a:latin typeface="Times New Roman" panose="02020603050405020304" pitchFamily="18" charset="0"/>
                    <a:cs typeface="Times New Roman" panose="02020603050405020304" pitchFamily="18" charset="0"/>
                  </a:rPr>
                  <a:t>6</a:t>
                </a:r>
                <a:r>
                  <a:rPr lang="en-US" dirty="0">
                    <a:latin typeface="Times New Roman" panose="02020603050405020304" pitchFamily="18" charset="0"/>
                    <a:cs typeface="Times New Roman" panose="02020603050405020304" pitchFamily="18" charset="0"/>
                  </a:rPr>
                  <a:t> bits of data are transferred per second, or 5 Mbps.</a:t>
                </a:r>
                <a:endParaRPr lang="en-US" i="1" dirty="0">
                  <a:latin typeface="Times New Roman" panose="02020603050405020304" pitchFamily="18" charset="0"/>
                  <a:cs typeface="Times New Roman" panose="02020603050405020304" pitchFamily="18" charset="0"/>
                </a:endParaRPr>
              </a:p>
            </p:txBody>
          </p:sp>
        </mc:Choice>
        <mc:Fallback xmlns="">
          <p:sp>
            <p:nvSpPr>
              <p:cNvPr id="8" name="Content Placeholder 2">
                <a:extLst>
                  <a:ext uri="{FF2B5EF4-FFF2-40B4-BE49-F238E27FC236}">
                    <a16:creationId xmlns:a16="http://schemas.microsoft.com/office/drawing/2014/main" id="{B5A8FE9A-9D8C-5EAD-EEB5-0222A223E9F1}"/>
                  </a:ext>
                </a:extLst>
              </p:cNvPr>
              <p:cNvSpPr>
                <a:spLocks noGrp="1" noRot="1" noChangeAspect="1" noMove="1" noResize="1" noEditPoints="1" noAdjustHandles="1" noChangeArrowheads="1" noChangeShapeType="1" noTextEdit="1"/>
              </p:cNvSpPr>
              <p:nvPr>
                <p:ph idx="1"/>
              </p:nvPr>
            </p:nvSpPr>
            <p:spPr>
              <a:xfrm>
                <a:off x="241300" y="915681"/>
                <a:ext cx="16027400" cy="6844019"/>
              </a:xfrm>
              <a:blipFill>
                <a:blip r:embed="rId2"/>
                <a:stretch>
                  <a:fillRect l="-1065" t="-2048"/>
                </a:stretch>
              </a:blipFill>
            </p:spPr>
            <p:txBody>
              <a:bodyPr/>
              <a:lstStyle/>
              <a:p>
                <a:r>
                  <a:rPr lang="en-US">
                    <a:noFill/>
                  </a:rPr>
                  <a:t> </a:t>
                </a:r>
              </a:p>
            </p:txBody>
          </p:sp>
        </mc:Fallback>
      </mc:AlternateContent>
    </p:spTree>
    <p:extLst>
      <p:ext uri="{BB962C8B-B14F-4D97-AF65-F5344CB8AC3E}">
        <p14:creationId xmlns:p14="http://schemas.microsoft.com/office/powerpoint/2010/main" val="2222445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left)">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wipe(left)">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wipe(left)">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wipe(left)">
                                      <p:cBhvr>
                                        <p:cTn id="27" dur="500"/>
                                        <p:tgtEl>
                                          <p:spTgt spid="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wipe(left)">
                                      <p:cBhvr>
                                        <p:cTn id="32" dur="500"/>
                                        <p:tgtEl>
                                          <p:spTgt spid="8">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animEffect transition="in" filter="wipe(left)">
                                      <p:cBhvr>
                                        <p:cTn id="37" dur="500"/>
                                        <p:tgtEl>
                                          <p:spTgt spid="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D9E38E-4470-76E8-8152-3D03038D28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513D02-9A04-9112-A704-5EFB0EE48883}"/>
              </a:ext>
            </a:extLst>
          </p:cNvPr>
          <p:cNvSpPr>
            <a:spLocks noGrp="1"/>
          </p:cNvSpPr>
          <p:nvPr>
            <p:ph type="title"/>
          </p:nvPr>
        </p:nvSpPr>
        <p:spPr>
          <a:xfrm>
            <a:off x="1748873" y="101600"/>
            <a:ext cx="10250905" cy="814081"/>
          </a:xfrm>
        </p:spPr>
        <p:txBody>
          <a:bodyPr>
            <a:noAutofit/>
          </a:bodyPr>
          <a:lstStyle/>
          <a:p>
            <a:pPr algn="just"/>
            <a:r>
              <a:rPr lang="en-US" sz="5400" b="1" dirty="0">
                <a:solidFill>
                  <a:srgbClr val="FF0000"/>
                </a:solidFill>
              </a:rPr>
              <a:t>Practice Example # 2</a:t>
            </a:r>
          </a:p>
        </p:txBody>
      </p:sp>
      <p:sp>
        <p:nvSpPr>
          <p:cNvPr id="3" name="Date Placeholder 2">
            <a:extLst>
              <a:ext uri="{FF2B5EF4-FFF2-40B4-BE49-F238E27FC236}">
                <a16:creationId xmlns:a16="http://schemas.microsoft.com/office/drawing/2014/main" id="{AF713437-9F26-C9E9-0164-6BEE833D30C0}"/>
              </a:ext>
            </a:extLst>
          </p:cNvPr>
          <p:cNvSpPr>
            <a:spLocks noGrp="1"/>
          </p:cNvSpPr>
          <p:nvPr>
            <p:ph type="dt" sz="half" idx="10"/>
          </p:nvPr>
        </p:nvSpPr>
        <p:spPr/>
        <p:txBody>
          <a:bodyPr/>
          <a:lstStyle/>
          <a:p>
            <a:fld id="{C89A64A2-F4C3-46F3-8F8E-369987CB5716}" type="datetime3">
              <a:rPr lang="en-US" smtClean="0"/>
              <a:t>3 December 2025</a:t>
            </a:fld>
            <a:endParaRPr lang="en-US"/>
          </a:p>
        </p:txBody>
      </p:sp>
      <p:sp>
        <p:nvSpPr>
          <p:cNvPr id="7" name="Slide Number Placeholder 6">
            <a:extLst>
              <a:ext uri="{FF2B5EF4-FFF2-40B4-BE49-F238E27FC236}">
                <a16:creationId xmlns:a16="http://schemas.microsoft.com/office/drawing/2014/main" id="{B1D00AF4-D063-42F7-CE6E-56052FC0BFC8}"/>
              </a:ext>
            </a:extLst>
          </p:cNvPr>
          <p:cNvSpPr>
            <a:spLocks noGrp="1"/>
          </p:cNvSpPr>
          <p:nvPr>
            <p:ph type="sldNum" sz="quarter" idx="12"/>
          </p:nvPr>
        </p:nvSpPr>
        <p:spPr/>
        <p:txBody>
          <a:bodyPr/>
          <a:lstStyle/>
          <a:p>
            <a:fld id="{90416D69-EFB9-4734-9DF5-4234A5F1A98A}" type="slidenum">
              <a:rPr lang="en-US" smtClean="0"/>
              <a:t>59</a:t>
            </a:fld>
            <a:endParaRPr lang="en-US"/>
          </a:p>
        </p:txBody>
      </p:sp>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56212457-4152-417B-71D8-04ACCE4632B6}"/>
                  </a:ext>
                </a:extLst>
              </p:cNvPr>
              <p:cNvSpPr>
                <a:spLocks noGrp="1"/>
              </p:cNvSpPr>
              <p:nvPr>
                <p:ph idx="1"/>
              </p:nvPr>
            </p:nvSpPr>
            <p:spPr>
              <a:xfrm>
                <a:off x="241300" y="1016000"/>
                <a:ext cx="16027400" cy="6807200"/>
              </a:xfrm>
            </p:spPr>
            <p:txBody>
              <a:bodyPr>
                <a:noAutofit/>
              </a:bodyPr>
              <a:lstStyle/>
              <a:p>
                <a:pPr marL="0" indent="0">
                  <a:buNone/>
                </a:pPr>
                <a:r>
                  <a:rPr lang="en-US" dirty="0">
                    <a:latin typeface="Times New Roman" panose="02020603050405020304" pitchFamily="18" charset="0"/>
                    <a:cs typeface="Times New Roman" panose="02020603050405020304" pitchFamily="18" charset="0"/>
                  </a:rPr>
                  <a:t>The total amount of bits transferred in one frame = Target address bits + Read/Write bit + Acknowledgment bit + Target address bits + Acknowledgment bit + Target address bits + Read/Write bit + Acknowledgment bit + Data bit + Acknowledgment bit = 7 + 1 + 1 + 8 + 1 + 7 + 1 + 1 + 8 + 1 = 36 bits.</a:t>
                </a:r>
                <a:br>
                  <a:rPr lang="en-US" dirty="0">
                    <a:latin typeface="Times New Roman" panose="02020603050405020304" pitchFamily="18" charset="0"/>
                    <a:cs typeface="Times New Roman" panose="02020603050405020304" pitchFamily="18" charset="0"/>
                  </a:rPr>
                </a:br>
                <a:r>
                  <a:rPr lang="en-US" dirty="0"/>
                  <a:t>The total time for data transfer of 1 frame, i.e., 36 bits = 36×0.2 =  7.2 </a:t>
                </a:r>
                <a:r>
                  <a:rPr lang="en-US" dirty="0" err="1"/>
                  <a:t>μs</a:t>
                </a:r>
                <a:r>
                  <a:rPr lang="en-US" dirty="0"/>
                  <a:t>.</a:t>
                </a:r>
                <a:endParaRPr lang="en-US" i="1" dirty="0">
                  <a:latin typeface="Times New Roman" panose="02020603050405020304" pitchFamily="18" charset="0"/>
                  <a:cs typeface="Times New Roman" panose="02020603050405020304" pitchFamily="18" charset="0"/>
                </a:endParaRPr>
              </a:p>
              <a:p>
                <a:r>
                  <a:rPr lang="en-US" dirty="0"/>
                  <a:t>7.2 </a:t>
                </a:r>
                <a:r>
                  <a:rPr lang="en-US" dirty="0" err="1"/>
                  <a:t>μstime</a:t>
                </a:r>
                <a:r>
                  <a:rPr lang="en-US" dirty="0"/>
                  <a:t> is required to transfer 1 frame of data</a:t>
                </a:r>
              </a:p>
              <a:p>
                <a:r>
                  <a:rPr lang="en-US" dirty="0"/>
                  <a:t>∴1 </a:t>
                </a:r>
                <a:r>
                  <a:rPr lang="en-US" dirty="0" err="1"/>
                  <a:t>μstime</a:t>
                </a:r>
                <a:r>
                  <a:rPr lang="en-US" dirty="0"/>
                  <a:t> is required to transfer 1/7.2  frame</a:t>
                </a:r>
              </a:p>
              <a:p>
                <a:pPr marL="0" indent="0">
                  <a:buNone/>
                </a:pPr>
                <a:r>
                  <a:rPr lang="en-US" dirty="0">
                    <a:latin typeface="Times New Roman" panose="02020603050405020304" pitchFamily="18" charset="0"/>
                    <a:cs typeface="Times New Roman" panose="02020603050405020304" pitchFamily="18" charset="0"/>
                    <a:sym typeface="Symbol" panose="05050102010706020507" pitchFamily="18" charset="2"/>
                  </a:rPr>
                  <a:t></a:t>
                </a:r>
                <a:r>
                  <a:rPr lang="en-US" dirty="0">
                    <a:latin typeface="Times New Roman" panose="02020603050405020304" pitchFamily="18" charset="0"/>
                    <a:cs typeface="Times New Roman" panose="02020603050405020304" pitchFamily="18" charset="0"/>
                  </a:rPr>
                  <a:t> 1 s = 10</a:t>
                </a:r>
                <a:r>
                  <a:rPr lang="en-US" baseline="30000" dirty="0">
                    <a:latin typeface="Times New Roman" panose="02020603050405020304" pitchFamily="18" charset="0"/>
                    <a:cs typeface="Times New Roman" panose="02020603050405020304" pitchFamily="18" charset="0"/>
                  </a:rPr>
                  <a:t>6</a:t>
                </a:r>
                <a:r>
                  <a:rPr lang="en-US" dirty="0">
                    <a:latin typeface="Times New Roman" panose="02020603050405020304" pitchFamily="18" charset="0"/>
                    <a:cs typeface="Times New Roman" panose="02020603050405020304" pitchFamily="18" charset="0"/>
                  </a:rPr>
                  <a:t> </a:t>
                </a:r>
                <a:r>
                  <a:rPr lang="en-US" sz="3600" dirty="0">
                    <a:latin typeface="Symbol" panose="05050102010706020507" pitchFamily="18" charset="2"/>
                    <a:cs typeface="Times New Roman" panose="02020603050405020304" pitchFamily="18" charset="0"/>
                  </a:rPr>
                  <a:t>m</a:t>
                </a:r>
                <a:r>
                  <a:rPr lang="en-US" dirty="0">
                    <a:latin typeface="Times New Roman" panose="02020603050405020304" pitchFamily="18" charset="0"/>
                    <a:cs typeface="Times New Roman" panose="02020603050405020304" pitchFamily="18" charset="0"/>
                  </a:rPr>
                  <a:t>s time is required to transfer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1×</m:t>
                        </m:r>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6</m:t>
                            </m:r>
                          </m:sup>
                        </m:sSup>
                      </m:num>
                      <m:den>
                        <m:r>
                          <a:rPr lang="en-US" b="0" i="1" smtClean="0">
                            <a:latin typeface="Cambria Math" panose="02040503050406030204" pitchFamily="18" charset="0"/>
                          </a:rPr>
                          <m:t>7</m:t>
                        </m:r>
                        <m:r>
                          <a:rPr lang="en-US" i="1">
                            <a:latin typeface="Cambria Math" panose="02040503050406030204" pitchFamily="18" charset="0"/>
                          </a:rPr>
                          <m:t>.</m:t>
                        </m:r>
                        <m:r>
                          <a:rPr lang="en-US" b="0" i="1" smtClean="0">
                            <a:latin typeface="Cambria Math" panose="02040503050406030204" pitchFamily="18" charset="0"/>
                          </a:rPr>
                          <m:t>2</m:t>
                        </m:r>
                      </m:den>
                    </m:f>
                  </m:oMath>
                </a14:m>
                <a:r>
                  <a:rPr lang="en-US" dirty="0">
                    <a:latin typeface="Times New Roman" panose="02020603050405020304" pitchFamily="18" charset="0"/>
                    <a:cs typeface="Times New Roman" panose="02020603050405020304" pitchFamily="18" charset="0"/>
                  </a:rPr>
                  <a:t> frame</a:t>
                </a:r>
                <a:endParaRPr lang="en-US" i="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That is, </a:t>
                </a:r>
                <a14:m>
                  <m:oMath xmlns:m="http://schemas.openxmlformats.org/officeDocument/2006/math">
                    <m:f>
                      <m:fPr>
                        <m:ctrlPr>
                          <a:rPr lang="en-US" i="1">
                            <a:latin typeface="Cambria Math" panose="02040503050406030204" pitchFamily="18" charset="0"/>
                          </a:rPr>
                        </m:ctrlPr>
                      </m:fPr>
                      <m:num>
                        <m:sSup>
                          <m:sSupPr>
                            <m:ctrlPr>
                              <a:rPr lang="en-US" i="1">
                                <a:latin typeface="Cambria Math" panose="02040503050406030204" pitchFamily="18" charset="0"/>
                              </a:rPr>
                            </m:ctrlPr>
                          </m:sSupPr>
                          <m:e>
                            <m:r>
                              <a:rPr lang="en-US" i="1">
                                <a:latin typeface="Cambria Math" panose="02040503050406030204" pitchFamily="18" charset="0"/>
                              </a:rPr>
                              <m:t>10</m:t>
                            </m:r>
                          </m:e>
                          <m:sup>
                            <m:r>
                              <a:rPr lang="en-US" i="1">
                                <a:latin typeface="Cambria Math" panose="02040503050406030204" pitchFamily="18" charset="0"/>
                              </a:rPr>
                              <m:t>6</m:t>
                            </m:r>
                          </m:sup>
                        </m:sSup>
                      </m:num>
                      <m:den>
                        <m:r>
                          <a:rPr lang="en-US" b="0" i="1" smtClean="0">
                            <a:latin typeface="Cambria Math" panose="02040503050406030204" pitchFamily="18" charset="0"/>
                          </a:rPr>
                          <m:t>7</m:t>
                        </m:r>
                        <m:r>
                          <a:rPr lang="en-US" i="1">
                            <a:latin typeface="Cambria Math" panose="02040503050406030204" pitchFamily="18" charset="0"/>
                          </a:rPr>
                          <m:t>.</m:t>
                        </m:r>
                        <m:r>
                          <a:rPr lang="en-US" b="0" i="1" smtClean="0">
                            <a:latin typeface="Cambria Math" panose="02040503050406030204" pitchFamily="18" charset="0"/>
                          </a:rPr>
                          <m:t>2</m:t>
                        </m:r>
                      </m:den>
                    </m:f>
                    <m:r>
                      <a:rPr lang="en-US" i="1">
                        <a:latin typeface="Cambria Math" panose="02040503050406030204" pitchFamily="18" charset="0"/>
                      </a:rPr>
                      <m:t>=</m:t>
                    </m:r>
                    <m:r>
                      <m:rPr>
                        <m:nor/>
                      </m:rPr>
                      <a:rPr lang="en-US"/>
                      <m:t>138,888.8889</m:t>
                    </m:r>
                  </m:oMath>
                </a14:m>
                <a:r>
                  <a:rPr lang="en-US" dirty="0">
                    <a:latin typeface="Times New Roman" panose="02020603050405020304" pitchFamily="18" charset="0"/>
                    <a:cs typeface="Times New Roman" panose="02020603050405020304" pitchFamily="18" charset="0"/>
                  </a:rPr>
                  <a:t>frames are transferred each second. Therefore, the frame rate is </a:t>
                </a:r>
                <a:r>
                  <a:rPr lang="en-US" dirty="0"/>
                  <a:t>138.8889 </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kfps</a:t>
                </a:r>
                <a:r>
                  <a:rPr lang="en-US" dirty="0">
                    <a:latin typeface="Times New Roman" panose="02020603050405020304" pitchFamily="18" charset="0"/>
                    <a:cs typeface="Times New Roman" panose="02020603050405020304" pitchFamily="18" charset="0"/>
                  </a:rPr>
                  <a:t>.</a:t>
                </a:r>
                <a:endParaRPr lang="en-US" sz="3200" i="1" dirty="0">
                  <a:latin typeface="Times New Roman" panose="02020603050405020304" pitchFamily="18" charset="0"/>
                  <a:cs typeface="Times New Roman" panose="02020603050405020304" pitchFamily="18" charset="0"/>
                </a:endParaRPr>
              </a:p>
            </p:txBody>
          </p:sp>
        </mc:Choice>
        <mc:Fallback xmlns="">
          <p:sp>
            <p:nvSpPr>
              <p:cNvPr id="8" name="Content Placeholder 2">
                <a:extLst>
                  <a:ext uri="{FF2B5EF4-FFF2-40B4-BE49-F238E27FC236}">
                    <a16:creationId xmlns:a16="http://schemas.microsoft.com/office/drawing/2014/main" id="{56212457-4152-417B-71D8-04ACCE4632B6}"/>
                  </a:ext>
                </a:extLst>
              </p:cNvPr>
              <p:cNvSpPr>
                <a:spLocks noGrp="1" noRot="1" noChangeAspect="1" noMove="1" noResize="1" noEditPoints="1" noAdjustHandles="1" noChangeArrowheads="1" noChangeShapeType="1" noTextEdit="1"/>
              </p:cNvSpPr>
              <p:nvPr>
                <p:ph idx="1"/>
              </p:nvPr>
            </p:nvSpPr>
            <p:spPr>
              <a:xfrm>
                <a:off x="241300" y="1016000"/>
                <a:ext cx="16027400" cy="6807200"/>
              </a:xfrm>
              <a:blipFill>
                <a:blip r:embed="rId2"/>
                <a:stretch>
                  <a:fillRect l="-1065" t="-2061" r="-723"/>
                </a:stretch>
              </a:blipFill>
            </p:spPr>
            <p:txBody>
              <a:bodyPr/>
              <a:lstStyle/>
              <a:p>
                <a:r>
                  <a:rPr lang="en-US">
                    <a:noFill/>
                  </a:rPr>
                  <a:t> </a:t>
                </a:r>
              </a:p>
            </p:txBody>
          </p:sp>
        </mc:Fallback>
      </mc:AlternateContent>
    </p:spTree>
    <p:extLst>
      <p:ext uri="{BB962C8B-B14F-4D97-AF65-F5344CB8AC3E}">
        <p14:creationId xmlns:p14="http://schemas.microsoft.com/office/powerpoint/2010/main" val="3784476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left)">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wipe(left)">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wipe(left)">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wipe(left)">
                                      <p:cBhvr>
                                        <p:cTn id="27"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E020F-ECFF-4125-A2EF-C434AE487EEF}"/>
              </a:ext>
            </a:extLst>
          </p:cNvPr>
          <p:cNvSpPr>
            <a:spLocks noGrp="1"/>
          </p:cNvSpPr>
          <p:nvPr>
            <p:ph type="title"/>
          </p:nvPr>
        </p:nvSpPr>
        <p:spPr>
          <a:xfrm>
            <a:off x="1537848" y="83283"/>
            <a:ext cx="10351330" cy="925623"/>
          </a:xfrm>
        </p:spPr>
        <p:txBody>
          <a:bodyPr>
            <a:normAutofit fontScale="90000"/>
          </a:bodyPr>
          <a:lstStyle/>
          <a:p>
            <a:r>
              <a:rPr lang="en-US" sz="6000" b="1" dirty="0">
                <a:solidFill>
                  <a:srgbClr val="002060"/>
                </a:solidFill>
              </a:rPr>
              <a:t>Advantages and Disadvantages of I2C</a:t>
            </a:r>
          </a:p>
        </p:txBody>
      </p:sp>
      <p:sp>
        <p:nvSpPr>
          <p:cNvPr id="3" name="Content Placeholder 2">
            <a:extLst>
              <a:ext uri="{FF2B5EF4-FFF2-40B4-BE49-F238E27FC236}">
                <a16:creationId xmlns:a16="http://schemas.microsoft.com/office/drawing/2014/main" id="{89C393CF-1C98-4F2F-8066-8C9D4B1B00C0}"/>
              </a:ext>
            </a:extLst>
          </p:cNvPr>
          <p:cNvSpPr>
            <a:spLocks noGrp="1"/>
          </p:cNvSpPr>
          <p:nvPr>
            <p:ph idx="1"/>
          </p:nvPr>
        </p:nvSpPr>
        <p:spPr>
          <a:xfrm>
            <a:off x="290934" y="859280"/>
            <a:ext cx="15935510" cy="7204065"/>
          </a:xfrm>
        </p:spPr>
        <p:txBody>
          <a:bodyPr>
            <a:noAutofit/>
          </a:bodyPr>
          <a:lstStyle/>
          <a:p>
            <a:pPr>
              <a:lnSpc>
                <a:spcPct val="110000"/>
              </a:lnSpc>
              <a:spcBef>
                <a:spcPts val="0"/>
              </a:spcBef>
              <a:buFont typeface="Wingdings" panose="05000000000000000000" pitchFamily="2" charset="2"/>
              <a:buChar char="q"/>
            </a:pPr>
            <a:r>
              <a:rPr lang="en-US" sz="3200" b="1" dirty="0">
                <a:solidFill>
                  <a:srgbClr val="0070C0"/>
                </a:solidFill>
              </a:rPr>
              <a:t> </a:t>
            </a:r>
            <a:r>
              <a:rPr lang="en-US" sz="3600" b="1" dirty="0">
                <a:solidFill>
                  <a:srgbClr val="0070C0"/>
                </a:solidFill>
              </a:rPr>
              <a:t>Advantages</a:t>
            </a:r>
          </a:p>
          <a:p>
            <a:pPr>
              <a:lnSpc>
                <a:spcPct val="110000"/>
              </a:lnSpc>
              <a:spcBef>
                <a:spcPts val="0"/>
              </a:spcBef>
            </a:pPr>
            <a:r>
              <a:rPr lang="en-US" sz="3200" dirty="0"/>
              <a:t>Due to open collector design, limited slew rates can be achieved. </a:t>
            </a:r>
          </a:p>
          <a:p>
            <a:pPr>
              <a:lnSpc>
                <a:spcPct val="110000"/>
              </a:lnSpc>
              <a:spcBef>
                <a:spcPts val="0"/>
              </a:spcBef>
            </a:pPr>
            <a:r>
              <a:rPr lang="en-US" sz="3200" dirty="0"/>
              <a:t>More than one masters can be used in the electronic circuit design. </a:t>
            </a:r>
          </a:p>
          <a:p>
            <a:pPr>
              <a:lnSpc>
                <a:spcPct val="110000"/>
              </a:lnSpc>
              <a:spcBef>
                <a:spcPts val="0"/>
              </a:spcBef>
            </a:pPr>
            <a:r>
              <a:rPr lang="en-US" sz="3200" dirty="0"/>
              <a:t>Needs fewer i.e., only 2 wires for communication. </a:t>
            </a:r>
          </a:p>
          <a:p>
            <a:pPr>
              <a:lnSpc>
                <a:spcPct val="110000"/>
              </a:lnSpc>
              <a:spcBef>
                <a:spcPts val="0"/>
              </a:spcBef>
            </a:pPr>
            <a:r>
              <a:rPr lang="en-US" sz="3200" dirty="0"/>
              <a:t>I2C addressing is simple which does not require any CS lines used in SPI and it is easy to add extra devices on the bus. </a:t>
            </a:r>
          </a:p>
          <a:p>
            <a:pPr>
              <a:lnSpc>
                <a:spcPct val="110000"/>
              </a:lnSpc>
              <a:spcBef>
                <a:spcPts val="0"/>
              </a:spcBef>
            </a:pPr>
            <a:r>
              <a:rPr lang="en-US" sz="3200" dirty="0"/>
              <a:t>It uses open collector bus concept. Hence there is bus voltage flexibility on the interface bus. </a:t>
            </a:r>
          </a:p>
          <a:p>
            <a:pPr>
              <a:lnSpc>
                <a:spcPct val="110000"/>
              </a:lnSpc>
              <a:spcBef>
                <a:spcPts val="0"/>
              </a:spcBef>
            </a:pPr>
            <a:r>
              <a:rPr lang="en-US" sz="3200" dirty="0"/>
              <a:t>Uses flow control. </a:t>
            </a:r>
          </a:p>
          <a:p>
            <a:pPr>
              <a:lnSpc>
                <a:spcPct val="110000"/>
              </a:lnSpc>
              <a:spcBef>
                <a:spcPts val="0"/>
              </a:spcBef>
            </a:pPr>
            <a:r>
              <a:rPr lang="en-US" sz="3600" b="1" dirty="0">
                <a:solidFill>
                  <a:srgbClr val="0070C0"/>
                </a:solidFill>
              </a:rPr>
              <a:t>Disadvantages</a:t>
            </a:r>
          </a:p>
          <a:p>
            <a:pPr>
              <a:lnSpc>
                <a:spcPct val="110000"/>
              </a:lnSpc>
              <a:spcBef>
                <a:spcPts val="0"/>
              </a:spcBef>
            </a:pPr>
            <a:r>
              <a:rPr lang="en-US" sz="3200" dirty="0"/>
              <a:t>Increases complexity of the circuit when number of slaves and masters increases. </a:t>
            </a:r>
          </a:p>
          <a:p>
            <a:pPr>
              <a:lnSpc>
                <a:spcPct val="110000"/>
              </a:lnSpc>
              <a:spcBef>
                <a:spcPts val="0"/>
              </a:spcBef>
            </a:pPr>
            <a:r>
              <a:rPr lang="en-US" sz="3200" dirty="0"/>
              <a:t>I2C interface is </a:t>
            </a:r>
            <a:r>
              <a:rPr lang="en-US" sz="3200" b="1" dirty="0">
                <a:solidFill>
                  <a:srgbClr val="FF0000"/>
                </a:solidFill>
              </a:rPr>
              <a:t>half duplex</a:t>
            </a:r>
            <a:r>
              <a:rPr lang="en-US" sz="3200" dirty="0"/>
              <a:t>. </a:t>
            </a:r>
          </a:p>
          <a:p>
            <a:pPr>
              <a:lnSpc>
                <a:spcPct val="110000"/>
              </a:lnSpc>
              <a:spcBef>
                <a:spcPts val="0"/>
              </a:spcBef>
            </a:pPr>
            <a:r>
              <a:rPr lang="en-US" sz="3200" dirty="0"/>
              <a:t>Requires software stack to control the protocol and hence it needs some processing overheads on microcontroller/ microprocessor</a:t>
            </a:r>
          </a:p>
        </p:txBody>
      </p:sp>
      <p:sp>
        <p:nvSpPr>
          <p:cNvPr id="4" name="Date Placeholder 3"/>
          <p:cNvSpPr>
            <a:spLocks noGrp="1"/>
          </p:cNvSpPr>
          <p:nvPr>
            <p:ph type="dt" sz="half" idx="10"/>
          </p:nvPr>
        </p:nvSpPr>
        <p:spPr/>
        <p:txBody>
          <a:bodyPr/>
          <a:lstStyle/>
          <a:p>
            <a:fld id="{9F70FE1A-3772-4E13-8F1C-03E0D780A31B}" type="datetime3">
              <a:rPr lang="en-US" smtClean="0"/>
              <a:t>3 December 2025</a:t>
            </a:fld>
            <a:endParaRPr lang="en-US"/>
          </a:p>
        </p:txBody>
      </p:sp>
      <p:sp>
        <p:nvSpPr>
          <p:cNvPr id="6" name="Slide Number Placeholder 5"/>
          <p:cNvSpPr>
            <a:spLocks noGrp="1"/>
          </p:cNvSpPr>
          <p:nvPr>
            <p:ph type="sldNum" sz="quarter" idx="12"/>
          </p:nvPr>
        </p:nvSpPr>
        <p:spPr/>
        <p:txBody>
          <a:bodyPr/>
          <a:lstStyle/>
          <a:p>
            <a:fld id="{90416D69-EFB9-4734-9DF5-4234A5F1A98A}" type="slidenum">
              <a:rPr lang="en-US" smtClean="0"/>
              <a:t>60</a:t>
            </a:fld>
            <a:endParaRPr lang="en-US"/>
          </a:p>
        </p:txBody>
      </p:sp>
    </p:spTree>
    <p:extLst>
      <p:ext uri="{BB962C8B-B14F-4D97-AF65-F5344CB8AC3E}">
        <p14:creationId xmlns:p14="http://schemas.microsoft.com/office/powerpoint/2010/main" val="41275901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4B127-E08C-4905-9891-FFF8897DDACE}"/>
              </a:ext>
            </a:extLst>
          </p:cNvPr>
          <p:cNvSpPr>
            <a:spLocks noGrp="1"/>
          </p:cNvSpPr>
          <p:nvPr>
            <p:ph type="title"/>
          </p:nvPr>
        </p:nvSpPr>
        <p:spPr>
          <a:xfrm>
            <a:off x="1813416" y="136004"/>
            <a:ext cx="5878406" cy="925756"/>
          </a:xfrm>
        </p:spPr>
        <p:txBody>
          <a:bodyPr>
            <a:noAutofit/>
          </a:bodyPr>
          <a:lstStyle/>
          <a:p>
            <a:r>
              <a:rPr lang="en-US" sz="6600" b="1" dirty="0">
                <a:solidFill>
                  <a:srgbClr val="0070C0"/>
                </a:solidFill>
              </a:rPr>
              <a:t>RS232</a:t>
            </a:r>
          </a:p>
        </p:txBody>
      </p:sp>
      <p:sp>
        <p:nvSpPr>
          <p:cNvPr id="3" name="Content Placeholder 2">
            <a:extLst>
              <a:ext uri="{FF2B5EF4-FFF2-40B4-BE49-F238E27FC236}">
                <a16:creationId xmlns:a16="http://schemas.microsoft.com/office/drawing/2014/main" id="{BC3ABABB-8E3E-4A48-8301-8EAE5EB9F3B2}"/>
              </a:ext>
            </a:extLst>
          </p:cNvPr>
          <p:cNvSpPr>
            <a:spLocks noGrp="1"/>
          </p:cNvSpPr>
          <p:nvPr>
            <p:ph idx="1"/>
          </p:nvPr>
        </p:nvSpPr>
        <p:spPr>
          <a:xfrm>
            <a:off x="217374" y="1061760"/>
            <a:ext cx="8527615" cy="6532410"/>
          </a:xfrm>
        </p:spPr>
        <p:txBody>
          <a:bodyPr>
            <a:noAutofit/>
          </a:bodyPr>
          <a:lstStyle/>
          <a:p>
            <a:pPr fontAlgn="base">
              <a:lnSpc>
                <a:spcPct val="100000"/>
              </a:lnSpc>
              <a:spcBef>
                <a:spcPts val="0"/>
              </a:spcBef>
            </a:pPr>
            <a:r>
              <a:rPr lang="en-US" sz="3600" b="1" dirty="0">
                <a:solidFill>
                  <a:srgbClr val="FF0000"/>
                </a:solidFill>
              </a:rPr>
              <a:t>RS232</a:t>
            </a:r>
            <a:r>
              <a:rPr lang="en-US" sz="3600" dirty="0"/>
              <a:t> is the </a:t>
            </a:r>
            <a:r>
              <a:rPr lang="en-US" sz="3600" b="1" dirty="0">
                <a:solidFill>
                  <a:srgbClr val="FF0000"/>
                </a:solidFill>
              </a:rPr>
              <a:t>interface</a:t>
            </a:r>
            <a:r>
              <a:rPr lang="en-US" sz="3600" dirty="0"/>
              <a:t> mainly used for </a:t>
            </a:r>
            <a:r>
              <a:rPr lang="en-US" sz="3600" b="1" dirty="0">
                <a:solidFill>
                  <a:srgbClr val="FF0000"/>
                </a:solidFill>
              </a:rPr>
              <a:t>serial data communication</a:t>
            </a:r>
            <a:r>
              <a:rPr lang="en-US" sz="3600" dirty="0"/>
              <a:t>. </a:t>
            </a:r>
          </a:p>
          <a:p>
            <a:pPr fontAlgn="base">
              <a:lnSpc>
                <a:spcPct val="100000"/>
              </a:lnSpc>
              <a:spcBef>
                <a:spcPts val="0"/>
              </a:spcBef>
            </a:pPr>
            <a:r>
              <a:rPr lang="en-US" sz="3600" dirty="0"/>
              <a:t>It supports </a:t>
            </a:r>
            <a:r>
              <a:rPr lang="en-US" sz="3600" b="1" dirty="0">
                <a:solidFill>
                  <a:srgbClr val="0070C0"/>
                </a:solidFill>
              </a:rPr>
              <a:t>data transfer rate from about 110 bps to about 115200 bps</a:t>
            </a:r>
            <a:r>
              <a:rPr lang="en-US" sz="3600" dirty="0"/>
              <a:t>. </a:t>
            </a:r>
          </a:p>
          <a:p>
            <a:pPr fontAlgn="base">
              <a:lnSpc>
                <a:spcPct val="100000"/>
              </a:lnSpc>
              <a:spcBef>
                <a:spcPts val="0"/>
              </a:spcBef>
            </a:pPr>
            <a:r>
              <a:rPr lang="en-US" sz="3600" dirty="0"/>
              <a:t>Hyper terminal is the application mainly used to check serial communication port of the computer, often referred as </a:t>
            </a:r>
            <a:r>
              <a:rPr lang="en-US" sz="3600" b="1" dirty="0">
                <a:solidFill>
                  <a:srgbClr val="FF0000"/>
                </a:solidFill>
              </a:rPr>
              <a:t>COM port</a:t>
            </a:r>
            <a:r>
              <a:rPr lang="en-US" sz="3600" dirty="0"/>
              <a:t>.</a:t>
            </a:r>
          </a:p>
          <a:p>
            <a:pPr fontAlgn="base">
              <a:lnSpc>
                <a:spcPct val="100000"/>
              </a:lnSpc>
              <a:spcBef>
                <a:spcPts val="0"/>
              </a:spcBef>
            </a:pPr>
            <a:r>
              <a:rPr lang="en-US" sz="3600" dirty="0"/>
              <a:t>The interface is of </a:t>
            </a:r>
            <a:r>
              <a:rPr lang="en-US" sz="3600" b="1" dirty="0">
                <a:solidFill>
                  <a:srgbClr val="FF0000"/>
                </a:solidFill>
              </a:rPr>
              <a:t>two types- </a:t>
            </a:r>
          </a:p>
          <a:p>
            <a:pPr lvl="1" fontAlgn="base">
              <a:lnSpc>
                <a:spcPct val="100000"/>
              </a:lnSpc>
              <a:spcBef>
                <a:spcPts val="0"/>
              </a:spcBef>
              <a:buFont typeface="Wingdings" panose="05000000000000000000" pitchFamily="2" charset="2"/>
              <a:buChar char="§"/>
            </a:pPr>
            <a:r>
              <a:rPr lang="en-US" sz="3120" b="1" dirty="0">
                <a:solidFill>
                  <a:srgbClr val="FF0000"/>
                </a:solidFill>
              </a:rPr>
              <a:t>DB9 pin connector and </a:t>
            </a:r>
          </a:p>
          <a:p>
            <a:pPr lvl="1" fontAlgn="base">
              <a:lnSpc>
                <a:spcPct val="100000"/>
              </a:lnSpc>
              <a:spcBef>
                <a:spcPts val="0"/>
              </a:spcBef>
              <a:buFont typeface="Wingdings" panose="05000000000000000000" pitchFamily="2" charset="2"/>
              <a:buChar char="§"/>
            </a:pPr>
            <a:r>
              <a:rPr lang="en-US" sz="3120" b="1" dirty="0">
                <a:solidFill>
                  <a:srgbClr val="FF0000"/>
                </a:solidFill>
              </a:rPr>
              <a:t>DB25 pin connector</a:t>
            </a:r>
            <a:r>
              <a:rPr lang="en-US" sz="3120" dirty="0"/>
              <a:t>. </a:t>
            </a:r>
          </a:p>
          <a:p>
            <a:pPr fontAlgn="base">
              <a:lnSpc>
                <a:spcPct val="100000"/>
              </a:lnSpc>
              <a:spcBef>
                <a:spcPts val="0"/>
              </a:spcBef>
            </a:pPr>
            <a:r>
              <a:rPr lang="en-US" sz="3600" dirty="0"/>
              <a:t>The interface is </a:t>
            </a:r>
            <a:r>
              <a:rPr lang="en-US" sz="3600" b="1" dirty="0">
                <a:solidFill>
                  <a:srgbClr val="0070C0"/>
                </a:solidFill>
              </a:rPr>
              <a:t>mainly used for one-to-one serial communication</a:t>
            </a:r>
            <a:r>
              <a:rPr lang="en-US" sz="3600" dirty="0"/>
              <a:t>.</a:t>
            </a:r>
          </a:p>
        </p:txBody>
      </p:sp>
      <p:sp>
        <p:nvSpPr>
          <p:cNvPr id="4" name="Date Placeholder 3"/>
          <p:cNvSpPr>
            <a:spLocks noGrp="1"/>
          </p:cNvSpPr>
          <p:nvPr>
            <p:ph type="dt" sz="half" idx="10"/>
          </p:nvPr>
        </p:nvSpPr>
        <p:spPr/>
        <p:txBody>
          <a:bodyPr/>
          <a:lstStyle/>
          <a:p>
            <a:fld id="{2DCEA22E-349F-4A19-B2D1-AA159FD4F837}" type="datetime3">
              <a:rPr lang="en-US" smtClean="0"/>
              <a:t>3 December 2025</a:t>
            </a:fld>
            <a:endParaRPr lang="en-US"/>
          </a:p>
        </p:txBody>
      </p:sp>
      <p:sp>
        <p:nvSpPr>
          <p:cNvPr id="8" name="Slide Number Placeholder 7"/>
          <p:cNvSpPr>
            <a:spLocks noGrp="1"/>
          </p:cNvSpPr>
          <p:nvPr>
            <p:ph type="sldNum" sz="quarter" idx="12"/>
          </p:nvPr>
        </p:nvSpPr>
        <p:spPr/>
        <p:txBody>
          <a:bodyPr/>
          <a:lstStyle/>
          <a:p>
            <a:fld id="{90416D69-EFB9-4734-9DF5-4234A5F1A98A}" type="slidenum">
              <a:rPr lang="en-US" smtClean="0"/>
              <a:t>61</a:t>
            </a:fld>
            <a:endParaRPr lang="en-US"/>
          </a:p>
        </p:txBody>
      </p:sp>
      <p:pic>
        <p:nvPicPr>
          <p:cNvPr id="5" name="Picture 4"/>
          <p:cNvPicPr>
            <a:picLocks noChangeAspect="1"/>
          </p:cNvPicPr>
          <p:nvPr/>
        </p:nvPicPr>
        <p:blipFill>
          <a:blip r:embed="rId2"/>
          <a:stretch>
            <a:fillRect/>
          </a:stretch>
        </p:blipFill>
        <p:spPr>
          <a:xfrm>
            <a:off x="8744990" y="507204"/>
            <a:ext cx="7587854" cy="7412430"/>
          </a:xfrm>
          <a:prstGeom prst="rect">
            <a:avLst/>
          </a:prstGeom>
        </p:spPr>
      </p:pic>
      <p:sp>
        <p:nvSpPr>
          <p:cNvPr id="11" name="Rectangle 10"/>
          <p:cNvSpPr/>
          <p:nvPr/>
        </p:nvSpPr>
        <p:spPr>
          <a:xfrm>
            <a:off x="7331664" y="7416553"/>
            <a:ext cx="4312591" cy="584775"/>
          </a:xfrm>
          <a:prstGeom prst="rect">
            <a:avLst/>
          </a:prstGeom>
        </p:spPr>
        <p:txBody>
          <a:bodyPr wrap="none">
            <a:spAutoFit/>
          </a:bodyPr>
          <a:lstStyle/>
          <a:p>
            <a:r>
              <a:rPr lang="en-US" sz="3200" b="1" dirty="0">
                <a:solidFill>
                  <a:srgbClr val="FF0000"/>
                </a:solidFill>
              </a:rPr>
              <a:t>DB25: 25 pin connectors</a:t>
            </a:r>
            <a:endParaRPr lang="en-US" sz="3200" dirty="0"/>
          </a:p>
        </p:txBody>
      </p:sp>
    </p:spTree>
    <p:extLst>
      <p:ext uri="{BB962C8B-B14F-4D97-AF65-F5344CB8AC3E}">
        <p14:creationId xmlns:p14="http://schemas.microsoft.com/office/powerpoint/2010/main" val="253681612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04B127-E08C-4905-9891-FFF8897DDACE}"/>
              </a:ext>
            </a:extLst>
          </p:cNvPr>
          <p:cNvSpPr>
            <a:spLocks noGrp="1"/>
          </p:cNvSpPr>
          <p:nvPr>
            <p:ph type="title"/>
          </p:nvPr>
        </p:nvSpPr>
        <p:spPr>
          <a:xfrm>
            <a:off x="1796790" y="97066"/>
            <a:ext cx="5878406" cy="925756"/>
          </a:xfrm>
        </p:spPr>
        <p:txBody>
          <a:bodyPr>
            <a:noAutofit/>
          </a:bodyPr>
          <a:lstStyle/>
          <a:p>
            <a:r>
              <a:rPr lang="en-US" sz="6600" b="1" dirty="0">
                <a:solidFill>
                  <a:srgbClr val="0070C0"/>
                </a:solidFill>
              </a:rPr>
              <a:t>RS232</a:t>
            </a:r>
          </a:p>
        </p:txBody>
      </p:sp>
      <p:sp>
        <p:nvSpPr>
          <p:cNvPr id="4" name="Date Placeholder 3"/>
          <p:cNvSpPr>
            <a:spLocks noGrp="1"/>
          </p:cNvSpPr>
          <p:nvPr>
            <p:ph type="dt" sz="half" idx="10"/>
          </p:nvPr>
        </p:nvSpPr>
        <p:spPr/>
        <p:txBody>
          <a:bodyPr/>
          <a:lstStyle/>
          <a:p>
            <a:fld id="{2DCEA22E-349F-4A19-B2D1-AA159FD4F837}" type="datetime3">
              <a:rPr lang="en-US" smtClean="0"/>
              <a:t>3 December 2025</a:t>
            </a:fld>
            <a:endParaRPr lang="en-US"/>
          </a:p>
        </p:txBody>
      </p:sp>
      <p:sp>
        <p:nvSpPr>
          <p:cNvPr id="8" name="Slide Number Placeholder 7"/>
          <p:cNvSpPr>
            <a:spLocks noGrp="1"/>
          </p:cNvSpPr>
          <p:nvPr>
            <p:ph type="sldNum" sz="quarter" idx="12"/>
          </p:nvPr>
        </p:nvSpPr>
        <p:spPr/>
        <p:txBody>
          <a:bodyPr/>
          <a:lstStyle/>
          <a:p>
            <a:fld id="{90416D69-EFB9-4734-9DF5-4234A5F1A98A}" type="slidenum">
              <a:rPr lang="en-US" smtClean="0"/>
              <a:t>62</a:t>
            </a:fld>
            <a:endParaRPr lang="en-US"/>
          </a:p>
        </p:txBody>
      </p:sp>
      <p:pic>
        <p:nvPicPr>
          <p:cNvPr id="5" name="Picture 4" descr="A close up of text on a white background&#10;&#10;Description automatically generated">
            <a:extLst>
              <a:ext uri="{FF2B5EF4-FFF2-40B4-BE49-F238E27FC236}">
                <a16:creationId xmlns:a16="http://schemas.microsoft.com/office/drawing/2014/main" id="{0A902323-8750-4ACB-A359-8AED91F825E8}"/>
              </a:ext>
            </a:extLst>
          </p:cNvPr>
          <p:cNvPicPr>
            <a:picLocks noChangeAspect="1"/>
          </p:cNvPicPr>
          <p:nvPr/>
        </p:nvPicPr>
        <p:blipFill rotWithShape="1">
          <a:blip r:embed="rId2">
            <a:extLst>
              <a:ext uri="{28A0092B-C50C-407E-A947-70E740481C1C}">
                <a14:useLocalDpi xmlns:a14="http://schemas.microsoft.com/office/drawing/2010/main" val="0"/>
              </a:ext>
            </a:extLst>
          </a:blip>
          <a:srcRect l="2164" t="2698" r="1984" b="3506"/>
          <a:stretch/>
        </p:blipFill>
        <p:spPr>
          <a:xfrm>
            <a:off x="3923607" y="528854"/>
            <a:ext cx="8512233" cy="7390780"/>
          </a:xfrm>
          <a:prstGeom prst="rect">
            <a:avLst/>
          </a:prstGeom>
        </p:spPr>
      </p:pic>
      <p:sp>
        <p:nvSpPr>
          <p:cNvPr id="7" name="Rectangle 6"/>
          <p:cNvSpPr/>
          <p:nvPr/>
        </p:nvSpPr>
        <p:spPr>
          <a:xfrm>
            <a:off x="10423003" y="7334859"/>
            <a:ext cx="3895810" cy="584775"/>
          </a:xfrm>
          <a:prstGeom prst="rect">
            <a:avLst/>
          </a:prstGeom>
        </p:spPr>
        <p:txBody>
          <a:bodyPr wrap="none">
            <a:spAutoFit/>
          </a:bodyPr>
          <a:lstStyle/>
          <a:p>
            <a:r>
              <a:rPr lang="en-US" sz="3200" b="1" dirty="0">
                <a:solidFill>
                  <a:srgbClr val="FF0000"/>
                </a:solidFill>
              </a:rPr>
              <a:t>DB9: 9 pin connectors</a:t>
            </a:r>
            <a:endParaRPr lang="en-US" sz="3200" dirty="0"/>
          </a:p>
        </p:txBody>
      </p:sp>
    </p:spTree>
    <p:extLst>
      <p:ext uri="{BB962C8B-B14F-4D97-AF65-F5344CB8AC3E}">
        <p14:creationId xmlns:p14="http://schemas.microsoft.com/office/powerpoint/2010/main" val="168400915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E020F-ECFF-4125-A2EF-C434AE487EEF}"/>
              </a:ext>
            </a:extLst>
          </p:cNvPr>
          <p:cNvSpPr>
            <a:spLocks noGrp="1"/>
          </p:cNvSpPr>
          <p:nvPr>
            <p:ph type="title"/>
          </p:nvPr>
        </p:nvSpPr>
        <p:spPr>
          <a:xfrm>
            <a:off x="1537848" y="83283"/>
            <a:ext cx="10351330" cy="925623"/>
          </a:xfrm>
        </p:spPr>
        <p:txBody>
          <a:bodyPr>
            <a:normAutofit/>
          </a:bodyPr>
          <a:lstStyle/>
          <a:p>
            <a:r>
              <a:rPr lang="en-US" sz="6000" b="1" dirty="0">
                <a:solidFill>
                  <a:srgbClr val="002060"/>
                </a:solidFill>
              </a:rPr>
              <a:t>Summary</a:t>
            </a:r>
          </a:p>
        </p:txBody>
      </p:sp>
      <p:sp>
        <p:nvSpPr>
          <p:cNvPr id="3" name="Content Placeholder 2">
            <a:extLst>
              <a:ext uri="{FF2B5EF4-FFF2-40B4-BE49-F238E27FC236}">
                <a16:creationId xmlns:a16="http://schemas.microsoft.com/office/drawing/2014/main" id="{89C393CF-1C98-4F2F-8066-8C9D4B1B00C0}"/>
              </a:ext>
            </a:extLst>
          </p:cNvPr>
          <p:cNvSpPr>
            <a:spLocks noGrp="1"/>
          </p:cNvSpPr>
          <p:nvPr>
            <p:ph idx="1"/>
          </p:nvPr>
        </p:nvSpPr>
        <p:spPr>
          <a:xfrm>
            <a:off x="290934" y="1092034"/>
            <a:ext cx="15935510" cy="3878975"/>
          </a:xfrm>
        </p:spPr>
        <p:txBody>
          <a:bodyPr>
            <a:noAutofit/>
          </a:bodyPr>
          <a:lstStyle/>
          <a:p>
            <a:pPr>
              <a:lnSpc>
                <a:spcPct val="110000"/>
              </a:lnSpc>
              <a:spcBef>
                <a:spcPts val="0"/>
              </a:spcBef>
              <a:buFont typeface="Wingdings" panose="05000000000000000000" pitchFamily="2" charset="2"/>
              <a:buChar char="q"/>
            </a:pPr>
            <a:r>
              <a:rPr lang="en-US" sz="3600" dirty="0"/>
              <a:t> The </a:t>
            </a:r>
            <a:r>
              <a:rPr lang="en-US" sz="3600" dirty="0">
                <a:solidFill>
                  <a:srgbClr val="0070C0"/>
                </a:solidFill>
              </a:rPr>
              <a:t>UART</a:t>
            </a:r>
            <a:r>
              <a:rPr lang="en-US" sz="3600" dirty="0"/>
              <a:t> is good for </a:t>
            </a:r>
            <a:r>
              <a:rPr lang="en-US" sz="3600" b="1" dirty="0">
                <a:solidFill>
                  <a:srgbClr val="0070C0"/>
                </a:solidFill>
              </a:rPr>
              <a:t>basic, full-duplex </a:t>
            </a:r>
            <a:r>
              <a:rPr lang="en-US" sz="3600" dirty="0">
                <a:solidFill>
                  <a:srgbClr val="0070C0"/>
                </a:solidFill>
              </a:rPr>
              <a:t>data communication </a:t>
            </a:r>
            <a:r>
              <a:rPr lang="en-US" sz="3600" dirty="0"/>
              <a:t>between </a:t>
            </a:r>
            <a:r>
              <a:rPr lang="en-US" sz="3600" b="1" dirty="0">
                <a:solidFill>
                  <a:srgbClr val="0070C0"/>
                </a:solidFill>
              </a:rPr>
              <a:t>two devices </a:t>
            </a:r>
            <a:r>
              <a:rPr lang="en-US" sz="3600" dirty="0"/>
              <a:t>with a similar clock. </a:t>
            </a:r>
          </a:p>
          <a:p>
            <a:pPr>
              <a:lnSpc>
                <a:spcPct val="110000"/>
              </a:lnSpc>
              <a:spcBef>
                <a:spcPts val="0"/>
              </a:spcBef>
              <a:buFont typeface="Wingdings" panose="05000000000000000000" pitchFamily="2" charset="2"/>
              <a:buChar char="q"/>
            </a:pPr>
            <a:r>
              <a:rPr lang="en-US" sz="3600" dirty="0"/>
              <a:t> An </a:t>
            </a:r>
            <a:r>
              <a:rPr lang="en-US" sz="3600" dirty="0">
                <a:solidFill>
                  <a:srgbClr val="00B050"/>
                </a:solidFill>
              </a:rPr>
              <a:t>SPI</a:t>
            </a:r>
            <a:r>
              <a:rPr lang="en-US" sz="3600" dirty="0"/>
              <a:t> is good for </a:t>
            </a:r>
            <a:r>
              <a:rPr lang="en-US" sz="3600" b="1" dirty="0">
                <a:solidFill>
                  <a:srgbClr val="00B050"/>
                </a:solidFill>
              </a:rPr>
              <a:t>full-duplex, high-speed </a:t>
            </a:r>
            <a:r>
              <a:rPr lang="en-US" sz="3600" dirty="0">
                <a:solidFill>
                  <a:srgbClr val="00B050"/>
                </a:solidFill>
              </a:rPr>
              <a:t>data communication </a:t>
            </a:r>
            <a:r>
              <a:rPr lang="en-US" sz="3600" dirty="0"/>
              <a:t>with </a:t>
            </a:r>
            <a:r>
              <a:rPr lang="en-US" sz="3600" b="1" dirty="0">
                <a:solidFill>
                  <a:srgbClr val="00B050"/>
                </a:solidFill>
              </a:rPr>
              <a:t>two or more peripherals (slave) with a single controller (master) device</a:t>
            </a:r>
            <a:r>
              <a:rPr lang="en-US" sz="3600" dirty="0"/>
              <a:t>. </a:t>
            </a:r>
          </a:p>
          <a:p>
            <a:pPr>
              <a:lnSpc>
                <a:spcPct val="110000"/>
              </a:lnSpc>
              <a:spcBef>
                <a:spcPts val="0"/>
              </a:spcBef>
              <a:buFont typeface="Wingdings" panose="05000000000000000000" pitchFamily="2" charset="2"/>
              <a:buChar char="q"/>
            </a:pPr>
            <a:r>
              <a:rPr lang="en-US" sz="3600" dirty="0"/>
              <a:t> An </a:t>
            </a:r>
            <a:r>
              <a:rPr lang="en-US" sz="3600" dirty="0">
                <a:solidFill>
                  <a:srgbClr val="FF0000"/>
                </a:solidFill>
              </a:rPr>
              <a:t>I2C</a:t>
            </a:r>
            <a:r>
              <a:rPr lang="en-US" sz="3600" dirty="0"/>
              <a:t> is good for </a:t>
            </a:r>
            <a:r>
              <a:rPr lang="en-US" sz="3600" dirty="0">
                <a:solidFill>
                  <a:srgbClr val="FF0000"/>
                </a:solidFill>
              </a:rPr>
              <a:t>slow-speed data communication </a:t>
            </a:r>
            <a:r>
              <a:rPr lang="en-US" sz="3600" dirty="0"/>
              <a:t>with </a:t>
            </a:r>
            <a:r>
              <a:rPr lang="en-US" sz="3600" b="1" dirty="0">
                <a:solidFill>
                  <a:srgbClr val="FF0000"/>
                </a:solidFill>
              </a:rPr>
              <a:t>multiple devices, among multiple masters</a:t>
            </a:r>
            <a:r>
              <a:rPr lang="en-US" sz="3600" dirty="0"/>
              <a:t> over a 2-wire bus, but it is a </a:t>
            </a:r>
            <a:r>
              <a:rPr lang="en-US" sz="3600" dirty="0">
                <a:solidFill>
                  <a:srgbClr val="FF0000"/>
                </a:solidFill>
              </a:rPr>
              <a:t>half-duplex communication channel</a:t>
            </a:r>
            <a:r>
              <a:rPr lang="en-US" sz="3600" dirty="0"/>
              <a:t>. </a:t>
            </a:r>
          </a:p>
        </p:txBody>
      </p:sp>
      <p:sp>
        <p:nvSpPr>
          <p:cNvPr id="4" name="Date Placeholder 3"/>
          <p:cNvSpPr>
            <a:spLocks noGrp="1"/>
          </p:cNvSpPr>
          <p:nvPr>
            <p:ph type="dt" sz="half" idx="10"/>
          </p:nvPr>
        </p:nvSpPr>
        <p:spPr/>
        <p:txBody>
          <a:bodyPr/>
          <a:lstStyle/>
          <a:p>
            <a:fld id="{9F70FE1A-3772-4E13-8F1C-03E0D780A31B}" type="datetime3">
              <a:rPr lang="en-US" smtClean="0"/>
              <a:t>3 December 2025</a:t>
            </a:fld>
            <a:endParaRPr lang="en-US"/>
          </a:p>
        </p:txBody>
      </p:sp>
      <p:sp>
        <p:nvSpPr>
          <p:cNvPr id="6" name="Slide Number Placeholder 5"/>
          <p:cNvSpPr>
            <a:spLocks noGrp="1"/>
          </p:cNvSpPr>
          <p:nvPr>
            <p:ph type="sldNum" sz="quarter" idx="12"/>
          </p:nvPr>
        </p:nvSpPr>
        <p:spPr/>
        <p:txBody>
          <a:bodyPr/>
          <a:lstStyle/>
          <a:p>
            <a:fld id="{90416D69-EFB9-4734-9DF5-4234A5F1A98A}" type="slidenum">
              <a:rPr lang="en-US" smtClean="0"/>
              <a:t>63</a:t>
            </a:fld>
            <a:endParaRPr lang="en-US"/>
          </a:p>
        </p:txBody>
      </p:sp>
    </p:spTree>
    <p:extLst>
      <p:ext uri="{BB962C8B-B14F-4D97-AF65-F5344CB8AC3E}">
        <p14:creationId xmlns:p14="http://schemas.microsoft.com/office/powerpoint/2010/main" val="358217515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99652-6805-4BCB-82F2-65ABD02EC79B}"/>
              </a:ext>
            </a:extLst>
          </p:cNvPr>
          <p:cNvSpPr>
            <a:spLocks noGrp="1"/>
          </p:cNvSpPr>
          <p:nvPr>
            <p:ph type="title"/>
          </p:nvPr>
        </p:nvSpPr>
        <p:spPr>
          <a:xfrm>
            <a:off x="1765300" y="459817"/>
            <a:ext cx="11696700" cy="1191665"/>
          </a:xfrm>
        </p:spPr>
        <p:txBody>
          <a:bodyPr>
            <a:normAutofit/>
          </a:bodyPr>
          <a:lstStyle/>
          <a:p>
            <a:r>
              <a:rPr lang="en-US" sz="7200" b="1" dirty="0">
                <a:solidFill>
                  <a:srgbClr val="0070C0"/>
                </a:solidFill>
              </a:rPr>
              <a:t>Thanks for attending….</a:t>
            </a:r>
          </a:p>
        </p:txBody>
      </p:sp>
      <p:grpSp>
        <p:nvGrpSpPr>
          <p:cNvPr id="5" name="Group 6"/>
          <p:cNvGrpSpPr>
            <a:grpSpLocks/>
          </p:cNvGrpSpPr>
          <p:nvPr/>
        </p:nvGrpSpPr>
        <p:grpSpPr bwMode="auto">
          <a:xfrm>
            <a:off x="7398324" y="1197030"/>
            <a:ext cx="7015943" cy="6350923"/>
            <a:chOff x="432" y="1584"/>
            <a:chExt cx="3072" cy="2426"/>
          </a:xfrm>
        </p:grpSpPr>
        <p:sp>
          <p:nvSpPr>
            <p:cNvPr id="6" name="AutoShape 3"/>
            <p:cNvSpPr>
              <a:spLocks noChangeArrowheads="1"/>
            </p:cNvSpPr>
            <p:nvPr/>
          </p:nvSpPr>
          <p:spPr bwMode="auto">
            <a:xfrm>
              <a:off x="1296" y="1584"/>
              <a:ext cx="2208" cy="816"/>
            </a:xfrm>
            <a:prstGeom prst="cloudCallout">
              <a:avLst>
                <a:gd name="adj1" fmla="val -41574"/>
                <a:gd name="adj2" fmla="val 140565"/>
              </a:avLst>
            </a:prstGeom>
            <a:solidFill>
              <a:schemeClr val="accent3"/>
            </a:solidFill>
            <a:ln w="9525">
              <a:solidFill>
                <a:schemeClr val="accent3"/>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ctr" eaLnBrk="1" hangingPunct="1"/>
              <a:endParaRPr lang="en-US" altLang="en-US" sz="2800"/>
            </a:p>
          </p:txBody>
        </p:sp>
        <p:pic>
          <p:nvPicPr>
            <p:cNvPr id="7" name="Picture 4" descr="j030125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32" y="3024"/>
              <a:ext cx="1153" cy="9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WordArt 5"/>
            <p:cNvSpPr>
              <a:spLocks noChangeArrowheads="1" noChangeShapeType="1" noTextEdit="1"/>
            </p:cNvSpPr>
            <p:nvPr/>
          </p:nvSpPr>
          <p:spPr bwMode="auto">
            <a:xfrm>
              <a:off x="2208" y="1728"/>
              <a:ext cx="421" cy="612"/>
            </a:xfrm>
            <a:prstGeom prst="rect">
              <a:avLst/>
            </a:prstGeom>
          </p:spPr>
          <p:txBody>
            <a:bodyPr wrap="none" fromWordArt="1">
              <a:prstTxWarp prst="textPlain">
                <a:avLst>
                  <a:gd name="adj" fmla="val 50000"/>
                </a:avLst>
              </a:prstTxWarp>
            </a:bodyPr>
            <a:lstStyle/>
            <a:p>
              <a:pPr algn="ctr"/>
              <a:r>
                <a:rPr lang="en-US" sz="5520" kern="10" dirty="0">
                  <a:ln w="9525">
                    <a:solidFill>
                      <a:schemeClr val="accent5">
                        <a:lumMod val="75000"/>
                      </a:schemeClr>
                    </a:solidFill>
                    <a:round/>
                    <a:headEnd/>
                    <a:tailEnd/>
                  </a:ln>
                  <a:solidFill>
                    <a:srgbClr val="00B050"/>
                  </a:solidFill>
                  <a:latin typeface="Arial Black"/>
                </a:rPr>
                <a:t>?</a:t>
              </a:r>
            </a:p>
          </p:txBody>
        </p:sp>
      </p:grpSp>
      <p:sp>
        <p:nvSpPr>
          <p:cNvPr id="3" name="Date Placeholder 2"/>
          <p:cNvSpPr>
            <a:spLocks noGrp="1"/>
          </p:cNvSpPr>
          <p:nvPr>
            <p:ph type="dt" sz="half" idx="10"/>
          </p:nvPr>
        </p:nvSpPr>
        <p:spPr/>
        <p:txBody>
          <a:bodyPr/>
          <a:lstStyle/>
          <a:p>
            <a:fld id="{1C29ACD1-7F32-49E5-B33D-B5E4BC41569C}" type="datetime3">
              <a:rPr lang="en-US" smtClean="0"/>
              <a:t>3 December 2025</a:t>
            </a:fld>
            <a:endParaRPr lang="en-US"/>
          </a:p>
        </p:txBody>
      </p:sp>
      <p:sp>
        <p:nvSpPr>
          <p:cNvPr id="9" name="Slide Number Placeholder 8"/>
          <p:cNvSpPr>
            <a:spLocks noGrp="1"/>
          </p:cNvSpPr>
          <p:nvPr>
            <p:ph type="sldNum" sz="quarter" idx="12"/>
          </p:nvPr>
        </p:nvSpPr>
        <p:spPr/>
        <p:txBody>
          <a:bodyPr/>
          <a:lstStyle/>
          <a:p>
            <a:fld id="{48F63A3B-78C7-47BE-AE5E-E10140E04643}" type="slidenum">
              <a:rPr lang="en-US" smtClean="0"/>
              <a:t>64</a:t>
            </a:fld>
            <a:endParaRPr lang="en-US" dirty="0"/>
          </a:p>
        </p:txBody>
      </p:sp>
    </p:spTree>
    <p:extLst>
      <p:ext uri="{BB962C8B-B14F-4D97-AF65-F5344CB8AC3E}">
        <p14:creationId xmlns:p14="http://schemas.microsoft.com/office/powerpoint/2010/main" val="47875326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F810BBF67D7AB47AE77F6C7A7504E11" ma:contentTypeVersion="9" ma:contentTypeDescription="Create a new document." ma:contentTypeScope="" ma:versionID="20527a1f5442c6bf5a990be0ad4f6701">
  <xsd:schema xmlns:xsd="http://www.w3.org/2001/XMLSchema" xmlns:xs="http://www.w3.org/2001/XMLSchema" xmlns:p="http://schemas.microsoft.com/office/2006/metadata/properties" xmlns:ns2="f05aa4fc-6785-42fa-879e-4fefad1725f6" targetNamespace="http://schemas.microsoft.com/office/2006/metadata/properties" ma:root="true" ma:fieldsID="e3de2bbdc668caace9de9a704c17ecd5" ns2:_="">
    <xsd:import namespace="f05aa4fc-6785-42fa-879e-4fefad1725f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OCR" minOccurs="0"/>
                <xsd:element ref="ns2:MediaServiceAutoKeyPoints" minOccurs="0"/>
                <xsd:element ref="ns2:MediaServiceKeyPoint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5aa4fc-6785-42fa-879e-4fefad1725f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OCR" ma:index="13" nillable="true" ma:displayName="Extracted Text" ma:internalName="MediaServiceOCR" ma:readOnly="true">
      <xsd:simpleType>
        <xsd:restriction base="dms:Note">
          <xsd:maxLength value="255"/>
        </xsd:restriction>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LengthInSeconds" ma:index="16" nillable="true" ma:displayName="Length (seconds)"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6A4027F-3D24-4D53-BFC9-3C8233FBA003}">
  <ds:schemaRefs>
    <ds:schemaRef ds:uri="http://schemas.microsoft.com/sharepoint/v3/contenttype/forms"/>
  </ds:schemaRefs>
</ds:datastoreItem>
</file>

<file path=customXml/itemProps2.xml><?xml version="1.0" encoding="utf-8"?>
<ds:datastoreItem xmlns:ds="http://schemas.openxmlformats.org/officeDocument/2006/customXml" ds:itemID="{B5129C82-F178-4287-9D4C-6097486300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05aa4fc-6785-42fa-879e-4fefad1725f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358E20A-3CCF-4936-A030-6C75490658A6}">
  <ds:schemaRefs>
    <ds:schemaRef ds:uri="http://purl.org/dc/terms/"/>
    <ds:schemaRef ds:uri="http://schemas.microsoft.com/office/2006/documentManagement/types"/>
    <ds:schemaRef ds:uri="http://purl.org/dc/elements/1.1/"/>
    <ds:schemaRef ds:uri="f05aa4fc-6785-42fa-879e-4fefad1725f6"/>
    <ds:schemaRef ds:uri="http://www.w3.org/XML/1998/namespace"/>
    <ds:schemaRef ds:uri="http://purl.org/dc/dcmitype/"/>
    <ds:schemaRef ds:uri="http://schemas.microsoft.com/office/infopath/2007/PartnerControls"/>
    <ds:schemaRef ds:uri="http://schemas.openxmlformats.org/package/2006/metadata/core-properties"/>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Office Theme</Template>
  <TotalTime>15347</TotalTime>
  <Words>8578</Words>
  <Application>Microsoft Office PowerPoint</Application>
  <PresentationFormat>Custom</PresentationFormat>
  <Paragraphs>798</Paragraphs>
  <Slides>64</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64</vt:i4>
      </vt:variant>
    </vt:vector>
  </HeadingPairs>
  <TitlesOfParts>
    <vt:vector size="75" baseType="lpstr">
      <vt:lpstr>Arial</vt:lpstr>
      <vt:lpstr>Arial Black</vt:lpstr>
      <vt:lpstr>Calibri</vt:lpstr>
      <vt:lpstr>Calibri Light</vt:lpstr>
      <vt:lpstr>Cambria Math</vt:lpstr>
      <vt:lpstr>Consolas</vt:lpstr>
      <vt:lpstr>Courier New</vt:lpstr>
      <vt:lpstr>Symbol</vt:lpstr>
      <vt:lpstr>Times New Roman</vt:lpstr>
      <vt:lpstr>Wingdings</vt:lpstr>
      <vt:lpstr>Office Theme</vt:lpstr>
      <vt:lpstr>Lecture # 1 (Final) Serial Communications Interfaces</vt:lpstr>
      <vt:lpstr>Data Transmission</vt:lpstr>
      <vt:lpstr>Serial Data Communication</vt:lpstr>
      <vt:lpstr>Synchronous transmission</vt:lpstr>
      <vt:lpstr>Asynchronous transmission</vt:lpstr>
      <vt:lpstr>Types of Serial Communication</vt:lpstr>
      <vt:lpstr>USART vs. UART</vt:lpstr>
      <vt:lpstr>UART/USART</vt:lpstr>
      <vt:lpstr>USART</vt:lpstr>
      <vt:lpstr>USART: Internal Clock Generation – The Baud Rate Generator</vt:lpstr>
      <vt:lpstr>Calculation of the Baud Rate</vt:lpstr>
      <vt:lpstr>Find the baud rate for the three operating modes when fOSC  = 1 MHz and UBRRn = 25. Calculate the baud error and comment whether there will be any communication error or not.</vt:lpstr>
      <vt:lpstr>Continuation...</vt:lpstr>
      <vt:lpstr>Continuation...</vt:lpstr>
      <vt:lpstr>Practice Example # 1</vt:lpstr>
      <vt:lpstr>Practice Example # 2</vt:lpstr>
      <vt:lpstr>USART- Arduino Libraries</vt:lpstr>
      <vt:lpstr>USART: Camera shutter speed example</vt:lpstr>
      <vt:lpstr>Advantages and Disadvantages of USART</vt:lpstr>
      <vt:lpstr>Serial Peripheral Interfaces (SPI)</vt:lpstr>
      <vt:lpstr>Serial Peripheral Interfaces (SPI)</vt:lpstr>
      <vt:lpstr>Serial Peripheral Interfaces (SPI)</vt:lpstr>
      <vt:lpstr>Serial Peripheral Interfaces (SPI)</vt:lpstr>
      <vt:lpstr>SPI Arduino Libraries</vt:lpstr>
      <vt:lpstr>SPI Examples</vt:lpstr>
      <vt:lpstr>SPI Modes</vt:lpstr>
      <vt:lpstr>SPI Modes</vt:lpstr>
      <vt:lpstr>SPI Modes</vt:lpstr>
      <vt:lpstr>SPI Hardware Structures</vt:lpstr>
      <vt:lpstr>SPI Examples</vt:lpstr>
      <vt:lpstr>SPI Examples</vt:lpstr>
      <vt:lpstr>Practice Example # 1</vt:lpstr>
      <vt:lpstr>Practice Example # 1</vt:lpstr>
      <vt:lpstr>Advantages and Disadvantages of SPI</vt:lpstr>
      <vt:lpstr>I2C (Inter-Integrated Circuit): What is it?</vt:lpstr>
      <vt:lpstr>I2C (Inter-Integrated Circuit)</vt:lpstr>
      <vt:lpstr>I2C (Inter-Integrated Circuit)</vt:lpstr>
      <vt:lpstr>I2C Addresses</vt:lpstr>
      <vt:lpstr>Working of I2C in Arduino</vt:lpstr>
      <vt:lpstr>Working of I2C in Arduino</vt:lpstr>
      <vt:lpstr>Working of I2C in Arduino</vt:lpstr>
      <vt:lpstr>Working of I2C in Arduino</vt:lpstr>
      <vt:lpstr>Working of I2C in Arduino</vt:lpstr>
      <vt:lpstr>Working of I2C in Arduino</vt:lpstr>
      <vt:lpstr>Working of I2C in Arduino</vt:lpstr>
      <vt:lpstr>Working of I2C in Arduino</vt:lpstr>
      <vt:lpstr>Working of I2C in Arduino</vt:lpstr>
      <vt:lpstr>Working of I2C in Arduino</vt:lpstr>
      <vt:lpstr>Working of I2C in Arduino</vt:lpstr>
      <vt:lpstr>Working of I2C in Arduino</vt:lpstr>
      <vt:lpstr>Program for I2C: I2C_SCANNER</vt:lpstr>
      <vt:lpstr>Program for I2C: I2C_SCANNER</vt:lpstr>
      <vt:lpstr>Serial Monitoring</vt:lpstr>
      <vt:lpstr>Practice Example # 1</vt:lpstr>
      <vt:lpstr>Practice Example # 1</vt:lpstr>
      <vt:lpstr>Practice Example # 1</vt:lpstr>
      <vt:lpstr>Practice Example # 2</vt:lpstr>
      <vt:lpstr>Practice Example # 2</vt:lpstr>
      <vt:lpstr>Practice Example # 2</vt:lpstr>
      <vt:lpstr>Advantages and Disadvantages of I2C</vt:lpstr>
      <vt:lpstr>RS232</vt:lpstr>
      <vt:lpstr>RS232</vt:lpstr>
      <vt:lpstr>Summary</vt:lpstr>
      <vt:lpstr>Thanks for attending….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Jahid Hasan</dc:creator>
  <cp:lastModifiedBy>Debraj Das</cp:lastModifiedBy>
  <cp:revision>493</cp:revision>
  <dcterms:created xsi:type="dcterms:W3CDTF">2017-01-20T15:00:05Z</dcterms:created>
  <dcterms:modified xsi:type="dcterms:W3CDTF">2025-12-03T03:52:05Z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0x0101001F810BBF67D7AB47AE77F6C7A7504E11</vt:lpwstr>
  </property>
</Properties>
</file>