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7"/>
  </p:notesMasterIdLst>
  <p:handoutMasterIdLst>
    <p:handoutMasterId r:id="rId48"/>
  </p:handoutMasterIdLst>
  <p:sldIdLst>
    <p:sldId id="266" r:id="rId5"/>
    <p:sldId id="376" r:id="rId6"/>
    <p:sldId id="377" r:id="rId7"/>
    <p:sldId id="378" r:id="rId8"/>
    <p:sldId id="379" r:id="rId9"/>
    <p:sldId id="380" r:id="rId10"/>
    <p:sldId id="423" r:id="rId11"/>
    <p:sldId id="425" r:id="rId12"/>
    <p:sldId id="382" r:id="rId13"/>
    <p:sldId id="420" r:id="rId14"/>
    <p:sldId id="385" r:id="rId15"/>
    <p:sldId id="387" r:id="rId16"/>
    <p:sldId id="419" r:id="rId17"/>
    <p:sldId id="390" r:id="rId18"/>
    <p:sldId id="391" r:id="rId19"/>
    <p:sldId id="392" r:id="rId20"/>
    <p:sldId id="393" r:id="rId21"/>
    <p:sldId id="394" r:id="rId22"/>
    <p:sldId id="395" r:id="rId23"/>
    <p:sldId id="396" r:id="rId24"/>
    <p:sldId id="397" r:id="rId25"/>
    <p:sldId id="398" r:id="rId26"/>
    <p:sldId id="399" r:id="rId27"/>
    <p:sldId id="400" r:id="rId28"/>
    <p:sldId id="401" r:id="rId29"/>
    <p:sldId id="402" r:id="rId30"/>
    <p:sldId id="403" r:id="rId31"/>
    <p:sldId id="404" r:id="rId32"/>
    <p:sldId id="405" r:id="rId33"/>
    <p:sldId id="406" r:id="rId34"/>
    <p:sldId id="407" r:id="rId35"/>
    <p:sldId id="408" r:id="rId36"/>
    <p:sldId id="409" r:id="rId37"/>
    <p:sldId id="410" r:id="rId38"/>
    <p:sldId id="421" r:id="rId39"/>
    <p:sldId id="411" r:id="rId40"/>
    <p:sldId id="413" r:id="rId41"/>
    <p:sldId id="414" r:id="rId42"/>
    <p:sldId id="426" r:id="rId43"/>
    <p:sldId id="428" r:id="rId44"/>
    <p:sldId id="427" r:id="rId45"/>
    <p:sldId id="329" r:id="rId46"/>
  </p:sldIdLst>
  <p:sldSz cx="164592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64D4"/>
    <a:srgbClr val="FFA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9" d="100"/>
          <a:sy n="49" d="100"/>
        </p:scale>
        <p:origin x="660"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959C53-1F47-4EC3-BD04-DCF7D9853FE2}" type="datetimeFigureOut">
              <a:rPr lang="en-US" smtClean="0"/>
              <a:t>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966561-935E-43F2-AA27-F6429D640CD0}" type="slidenum">
              <a:rPr lang="en-US" smtClean="0"/>
              <a:t>‹#›</a:t>
            </a:fld>
            <a:endParaRPr lang="en-US"/>
          </a:p>
        </p:txBody>
      </p:sp>
    </p:spTree>
    <p:extLst>
      <p:ext uri="{BB962C8B-B14F-4D97-AF65-F5344CB8AC3E}">
        <p14:creationId xmlns:p14="http://schemas.microsoft.com/office/powerpoint/2010/main" val="28583798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3753D4-FC42-4AF9-9F67-FF67B8A220EF}" type="datetimeFigureOut">
              <a:rPr lang="en-US" smtClean="0"/>
              <a:t>1/6/2026</a:t>
            </a:fld>
            <a:endParaRPr lang="en-US"/>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D5281-AB0E-4AE5-96D1-620E2E6C6426}" type="slidenum">
              <a:rPr lang="en-US" smtClean="0"/>
              <a:t>‹#›</a:t>
            </a:fld>
            <a:endParaRPr lang="en-US"/>
          </a:p>
        </p:txBody>
      </p:sp>
    </p:spTree>
    <p:extLst>
      <p:ext uri="{BB962C8B-B14F-4D97-AF65-F5344CB8AC3E}">
        <p14:creationId xmlns:p14="http://schemas.microsoft.com/office/powerpoint/2010/main" val="3235946233"/>
      </p:ext>
    </p:extLst>
  </p:cSld>
  <p:clrMap bg1="lt1" tx1="dk1" bg2="lt2" tx2="dk2" accent1="accent1" accent2="accent2" accent3="accent3" accent4="accent4" accent5="accent5" accent6="accent6" hlink="hlink" folHlink="folHlink"/>
  <p:hf hdr="0" ftr="0" dt="0"/>
  <p:notesStyle>
    <a:lvl1pPr marL="0" algn="l" defTabSz="1185062" rtl="0" eaLnBrk="1" latinLnBrk="0" hangingPunct="1">
      <a:defRPr sz="1555" kern="1200">
        <a:solidFill>
          <a:schemeClr val="tx1"/>
        </a:solidFill>
        <a:latin typeface="+mn-lt"/>
        <a:ea typeface="+mn-ea"/>
        <a:cs typeface="+mn-cs"/>
      </a:defRPr>
    </a:lvl1pPr>
    <a:lvl2pPr marL="592531" algn="l" defTabSz="1185062" rtl="0" eaLnBrk="1" latinLnBrk="0" hangingPunct="1">
      <a:defRPr sz="1555" kern="1200">
        <a:solidFill>
          <a:schemeClr val="tx1"/>
        </a:solidFill>
        <a:latin typeface="+mn-lt"/>
        <a:ea typeface="+mn-ea"/>
        <a:cs typeface="+mn-cs"/>
      </a:defRPr>
    </a:lvl2pPr>
    <a:lvl3pPr marL="1185062" algn="l" defTabSz="1185062" rtl="0" eaLnBrk="1" latinLnBrk="0" hangingPunct="1">
      <a:defRPr sz="1555" kern="1200">
        <a:solidFill>
          <a:schemeClr val="tx1"/>
        </a:solidFill>
        <a:latin typeface="+mn-lt"/>
        <a:ea typeface="+mn-ea"/>
        <a:cs typeface="+mn-cs"/>
      </a:defRPr>
    </a:lvl3pPr>
    <a:lvl4pPr marL="1777594" algn="l" defTabSz="1185062" rtl="0" eaLnBrk="1" latinLnBrk="0" hangingPunct="1">
      <a:defRPr sz="1555" kern="1200">
        <a:solidFill>
          <a:schemeClr val="tx1"/>
        </a:solidFill>
        <a:latin typeface="+mn-lt"/>
        <a:ea typeface="+mn-ea"/>
        <a:cs typeface="+mn-cs"/>
      </a:defRPr>
    </a:lvl4pPr>
    <a:lvl5pPr marL="2370125" algn="l" defTabSz="1185062" rtl="0" eaLnBrk="1" latinLnBrk="0" hangingPunct="1">
      <a:defRPr sz="1555" kern="1200">
        <a:solidFill>
          <a:schemeClr val="tx1"/>
        </a:solidFill>
        <a:latin typeface="+mn-lt"/>
        <a:ea typeface="+mn-ea"/>
        <a:cs typeface="+mn-cs"/>
      </a:defRPr>
    </a:lvl5pPr>
    <a:lvl6pPr marL="2962656" algn="l" defTabSz="1185062" rtl="0" eaLnBrk="1" latinLnBrk="0" hangingPunct="1">
      <a:defRPr sz="1555" kern="1200">
        <a:solidFill>
          <a:schemeClr val="tx1"/>
        </a:solidFill>
        <a:latin typeface="+mn-lt"/>
        <a:ea typeface="+mn-ea"/>
        <a:cs typeface="+mn-cs"/>
      </a:defRPr>
    </a:lvl6pPr>
    <a:lvl7pPr marL="3555187" algn="l" defTabSz="1185062" rtl="0" eaLnBrk="1" latinLnBrk="0" hangingPunct="1">
      <a:defRPr sz="1555" kern="1200">
        <a:solidFill>
          <a:schemeClr val="tx1"/>
        </a:solidFill>
        <a:latin typeface="+mn-lt"/>
        <a:ea typeface="+mn-ea"/>
        <a:cs typeface="+mn-cs"/>
      </a:defRPr>
    </a:lvl7pPr>
    <a:lvl8pPr marL="4147718" algn="l" defTabSz="1185062" rtl="0" eaLnBrk="1" latinLnBrk="0" hangingPunct="1">
      <a:defRPr sz="1555" kern="1200">
        <a:solidFill>
          <a:schemeClr val="tx1"/>
        </a:solidFill>
        <a:latin typeface="+mn-lt"/>
        <a:ea typeface="+mn-ea"/>
        <a:cs typeface="+mn-cs"/>
      </a:defRPr>
    </a:lvl8pPr>
    <a:lvl9pPr marL="4740250" algn="l" defTabSz="1185062" rtl="0" eaLnBrk="1" latinLnBrk="0" hangingPunct="1">
      <a:defRPr sz="15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28</a:t>
            </a:fld>
            <a:endParaRPr lang="en-US"/>
          </a:p>
        </p:txBody>
      </p:sp>
    </p:spTree>
    <p:extLst>
      <p:ext uri="{BB962C8B-B14F-4D97-AF65-F5344CB8AC3E}">
        <p14:creationId xmlns:p14="http://schemas.microsoft.com/office/powerpoint/2010/main" val="3221609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86D01-6ACB-16F9-3F4D-0A20BC187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8C43B-63C9-E46F-A4E8-0A2354497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F22A0-89E2-A8F7-6D83-BA9A82499D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686DD1-6556-6A36-4C8A-E0D2E2067BC4}"/>
              </a:ext>
            </a:extLst>
          </p:cNvPr>
          <p:cNvSpPr>
            <a:spLocks noGrp="1"/>
          </p:cNvSpPr>
          <p:nvPr>
            <p:ph type="sldNum" sz="quarter" idx="10"/>
          </p:nvPr>
        </p:nvSpPr>
        <p:spPr/>
        <p:txBody>
          <a:bodyPr/>
          <a:lstStyle/>
          <a:p>
            <a:fld id="{3BCD5281-AB0E-4AE5-96D1-620E2E6C6426}" type="slidenum">
              <a:rPr lang="en-US" smtClean="0"/>
              <a:t>39</a:t>
            </a:fld>
            <a:endParaRPr lang="en-US"/>
          </a:p>
        </p:txBody>
      </p:sp>
    </p:spTree>
    <p:extLst>
      <p:ext uri="{BB962C8B-B14F-4D97-AF65-F5344CB8AC3E}">
        <p14:creationId xmlns:p14="http://schemas.microsoft.com/office/powerpoint/2010/main" val="319425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8D5C3-505E-0B92-7C61-C4DCFC19E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00D00-1DCA-1436-BB9F-B82DDE3BD8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682F07-0C91-4925-AAEE-0718E4BB4E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B3FF35-EA8D-64F9-52E2-DC49C0282549}"/>
              </a:ext>
            </a:extLst>
          </p:cNvPr>
          <p:cNvSpPr>
            <a:spLocks noGrp="1"/>
          </p:cNvSpPr>
          <p:nvPr>
            <p:ph type="sldNum" sz="quarter" idx="10"/>
          </p:nvPr>
        </p:nvSpPr>
        <p:spPr/>
        <p:txBody>
          <a:bodyPr/>
          <a:lstStyle/>
          <a:p>
            <a:fld id="{3BCD5281-AB0E-4AE5-96D1-620E2E6C6426}" type="slidenum">
              <a:rPr lang="en-US" smtClean="0"/>
              <a:t>40</a:t>
            </a:fld>
            <a:endParaRPr lang="en-US"/>
          </a:p>
        </p:txBody>
      </p:sp>
    </p:spTree>
    <p:extLst>
      <p:ext uri="{BB962C8B-B14F-4D97-AF65-F5344CB8AC3E}">
        <p14:creationId xmlns:p14="http://schemas.microsoft.com/office/powerpoint/2010/main" val="18693868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346836"/>
            <a:ext cx="123444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2057400" y="4322446"/>
            <a:ext cx="123444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10521" y="7950630"/>
            <a:ext cx="3703320" cy="278969"/>
          </a:xfrm>
        </p:spPr>
        <p:txBody>
          <a:bodyPr/>
          <a:lstStyle>
            <a:lvl1pPr>
              <a:defRPr>
                <a:solidFill>
                  <a:srgbClr val="0070C0"/>
                </a:solidFill>
              </a:defRPr>
            </a:lvl1pPr>
          </a:lstStyle>
          <a:p>
            <a:fld id="{F1CA4BB4-85BE-4904-A213-0A8AEE36A0E0}" type="datetime3">
              <a:rPr lang="en-US" smtClean="0"/>
              <a:t>6 January 2026</a:t>
            </a:fld>
            <a:endParaRPr lang="en-US" dirty="0"/>
          </a:p>
        </p:txBody>
      </p:sp>
      <p:sp>
        <p:nvSpPr>
          <p:cNvPr id="5" name="Footer Placeholder 4"/>
          <p:cNvSpPr>
            <a:spLocks noGrp="1"/>
          </p:cNvSpPr>
          <p:nvPr>
            <p:ph type="ftr" sz="quarter" idx="11"/>
          </p:nvPr>
        </p:nvSpPr>
        <p:spPr>
          <a:xfrm>
            <a:off x="5452110" y="7950630"/>
            <a:ext cx="5554980" cy="267212"/>
          </a:xfrm>
        </p:spPr>
        <p:txBody>
          <a:bodyPr/>
          <a:lstStyle>
            <a:lvl1pPr>
              <a:defRPr sz="1600">
                <a:solidFill>
                  <a:srgbClr val="0070C0"/>
                </a:solidFill>
              </a:defRPr>
            </a:lvl1pPr>
          </a:lstStyle>
          <a:p>
            <a:r>
              <a:rPr lang="en-US" dirty="0"/>
              <a:t>Course Teacher: Prof. Dr. Engr. </a:t>
            </a:r>
            <a:r>
              <a:rPr lang="en-US" dirty="0" err="1"/>
              <a:t>Muhibul</a:t>
            </a:r>
            <a:r>
              <a:rPr lang="en-US" dirty="0"/>
              <a:t> </a:t>
            </a:r>
            <a:r>
              <a:rPr lang="en-US" dirty="0" err="1"/>
              <a:t>Haque</a:t>
            </a:r>
            <a:r>
              <a:rPr lang="en-US" dirty="0"/>
              <a:t> </a:t>
            </a:r>
            <a:r>
              <a:rPr lang="en-US" dirty="0" err="1"/>
              <a:t>Bhuyan</a:t>
            </a:r>
            <a:endParaRPr lang="en-US" dirty="0"/>
          </a:p>
        </p:txBody>
      </p:sp>
      <p:sp>
        <p:nvSpPr>
          <p:cNvPr id="6" name="Slide Number Placeholder 5"/>
          <p:cNvSpPr>
            <a:spLocks noGrp="1"/>
          </p:cNvSpPr>
          <p:nvPr>
            <p:ph type="sldNum" sz="quarter" idx="12"/>
          </p:nvPr>
        </p:nvSpPr>
        <p:spPr>
          <a:xfrm>
            <a:off x="14401799" y="7950630"/>
            <a:ext cx="2031381" cy="2789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1" y="11980"/>
            <a:ext cx="2133997" cy="2012367"/>
          </a:xfrm>
          <a:prstGeom prst="rect">
            <a:avLst/>
          </a:prstGeom>
        </p:spPr>
      </p:pic>
      <p:sp>
        <p:nvSpPr>
          <p:cNvPr id="8" name="TextBox 7"/>
          <p:cNvSpPr txBox="1"/>
          <p:nvPr userDrawn="1"/>
        </p:nvSpPr>
        <p:spPr>
          <a:xfrm>
            <a:off x="2355742" y="405040"/>
            <a:ext cx="13331330" cy="941796"/>
          </a:xfrm>
          <a:prstGeom prst="rect">
            <a:avLst/>
          </a:prstGeom>
          <a:noFill/>
        </p:spPr>
        <p:txBody>
          <a:bodyPr wrap="square" rtlCol="0">
            <a:spAutoFit/>
          </a:bodyPr>
          <a:lstStyle/>
          <a:p>
            <a:pPr algn="l"/>
            <a:r>
              <a:rPr lang="en-US" sz="3600" b="1" dirty="0">
                <a:solidFill>
                  <a:schemeClr val="accent1">
                    <a:lumMod val="75000"/>
                  </a:schemeClr>
                </a:solidFill>
              </a:rPr>
              <a:t>AMERICAN INTERNATIONAL UNIVERSITY-BANGLADESH (AIUB)</a:t>
            </a:r>
          </a:p>
          <a:p>
            <a:pPr algn="l"/>
            <a:r>
              <a:rPr lang="en-US" sz="1920" dirty="0">
                <a:solidFill>
                  <a:srgbClr val="0070C0"/>
                </a:solidFill>
              </a:rPr>
              <a:t>Where leaders are created</a:t>
            </a:r>
          </a:p>
        </p:txBody>
      </p:sp>
      <p:sp>
        <p:nvSpPr>
          <p:cNvPr id="9" name="TextBox 8"/>
          <p:cNvSpPr txBox="1"/>
          <p:nvPr userDrawn="1"/>
        </p:nvSpPr>
        <p:spPr>
          <a:xfrm>
            <a:off x="11301557" y="7813972"/>
            <a:ext cx="2905681" cy="400110"/>
          </a:xfrm>
          <a:prstGeom prst="rect">
            <a:avLst/>
          </a:prstGeom>
          <a:noFill/>
        </p:spPr>
        <p:txBody>
          <a:bodyPr wrap="square" rtlCol="0">
            <a:spAutoFit/>
          </a:bodyPr>
          <a:lstStyle/>
          <a:p>
            <a:pPr algn="r"/>
            <a:r>
              <a:rPr lang="en-US" sz="2000" b="1" dirty="0">
                <a:solidFill>
                  <a:schemeClr val="accent1">
                    <a:lumMod val="75000"/>
                  </a:schemeClr>
                </a:solidFill>
              </a:rPr>
              <a:t>Department of EEE</a:t>
            </a:r>
          </a:p>
        </p:txBody>
      </p:sp>
    </p:spTree>
    <p:extLst>
      <p:ext uri="{BB962C8B-B14F-4D97-AF65-F5344CB8AC3E}">
        <p14:creationId xmlns:p14="http://schemas.microsoft.com/office/powerpoint/2010/main" val="4049715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274" y="7919634"/>
            <a:ext cx="2788920" cy="309966"/>
          </a:xfrm>
        </p:spPr>
        <p:txBody>
          <a:bodyPr/>
          <a:lstStyle>
            <a:lvl1pPr>
              <a:defRPr sz="1400">
                <a:solidFill>
                  <a:srgbClr val="0070C0"/>
                </a:solidFill>
              </a:defRPr>
            </a:lvl1pPr>
          </a:lstStyle>
          <a:p>
            <a:fld id="{149D4EF9-913A-4BD1-82F8-5C66921348E7}" type="datetime3">
              <a:rPr lang="en-US" smtClean="0"/>
              <a:t>6 January 2026</a:t>
            </a:fld>
            <a:endParaRPr lang="en-US"/>
          </a:p>
        </p:txBody>
      </p:sp>
      <p:sp>
        <p:nvSpPr>
          <p:cNvPr id="5" name="Footer Placeholder 4"/>
          <p:cNvSpPr>
            <a:spLocks noGrp="1"/>
          </p:cNvSpPr>
          <p:nvPr>
            <p:ph type="ftr" sz="quarter" idx="11"/>
          </p:nvPr>
        </p:nvSpPr>
        <p:spPr>
          <a:xfrm>
            <a:off x="5452110" y="7919634"/>
            <a:ext cx="6636568" cy="325464"/>
          </a:xfrm>
        </p:spPr>
        <p:txBody>
          <a:bodyPr/>
          <a:lstStyle>
            <a:lvl1pPr>
              <a:defRPr sz="1600">
                <a:solidFill>
                  <a:srgbClr val="0070C0"/>
                </a:solidFill>
              </a:defRPr>
            </a:lvl1pPr>
          </a:lstStyle>
          <a:p>
            <a:r>
              <a:rPr lang="en-US"/>
              <a:t>Course Teacher: Prof. Dr. Engr. Muhibul Haque Bhuyan</a:t>
            </a:r>
            <a:endParaRPr lang="en-US" dirty="0"/>
          </a:p>
        </p:txBody>
      </p:sp>
      <p:sp>
        <p:nvSpPr>
          <p:cNvPr id="6" name="Slide Number Placeholder 5"/>
          <p:cNvSpPr>
            <a:spLocks noGrp="1"/>
          </p:cNvSpPr>
          <p:nvPr>
            <p:ph type="sldNum" sz="quarter" idx="12"/>
          </p:nvPr>
        </p:nvSpPr>
        <p:spPr>
          <a:xfrm>
            <a:off x="15141845" y="7919634"/>
            <a:ext cx="1317356" cy="2902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0" y="18938"/>
            <a:ext cx="1689315" cy="645504"/>
          </a:xfrm>
          <a:prstGeom prst="rect">
            <a:avLst/>
          </a:prstGeom>
        </p:spPr>
      </p:pic>
      <p:sp>
        <p:nvSpPr>
          <p:cNvPr id="8" name="Rectangle 7"/>
          <p:cNvSpPr/>
          <p:nvPr userDrawn="1"/>
        </p:nvSpPr>
        <p:spPr>
          <a:xfrm>
            <a:off x="11794210" y="-16858"/>
            <a:ext cx="4682591" cy="4638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b="1" dirty="0">
                <a:solidFill>
                  <a:srgbClr val="FFFF00"/>
                </a:solidFill>
              </a:rPr>
              <a:t>Microprocessor and Embedded Systems</a:t>
            </a:r>
          </a:p>
        </p:txBody>
      </p:sp>
      <p:sp>
        <p:nvSpPr>
          <p:cNvPr id="9" name="TextBox 8"/>
          <p:cNvSpPr txBox="1"/>
          <p:nvPr userDrawn="1"/>
        </p:nvSpPr>
        <p:spPr>
          <a:xfrm>
            <a:off x="12241563" y="7635430"/>
            <a:ext cx="607859" cy="523220"/>
          </a:xfrm>
          <a:prstGeom prst="rect">
            <a:avLst/>
          </a:prstGeom>
          <a:noFill/>
        </p:spPr>
        <p:txBody>
          <a:bodyPr wrap="none" rtlCol="0">
            <a:spAutoFit/>
          </a:bodyPr>
          <a:lstStyle/>
          <a:p>
            <a:fld id="{4B2552B2-E763-405A-8E5A-B8DDC8F7B503}" type="slidenum">
              <a:rPr lang="en-US" sz="2800" smtClean="0">
                <a:solidFill>
                  <a:schemeClr val="bg1"/>
                </a:solidFill>
              </a:rPr>
              <a:t>‹#›</a:t>
            </a:fld>
            <a:endParaRPr lang="en-US" sz="2800" dirty="0">
              <a:solidFill>
                <a:schemeClr val="bg1"/>
              </a:solidFill>
            </a:endParaRPr>
          </a:p>
        </p:txBody>
      </p:sp>
    </p:spTree>
    <p:extLst>
      <p:ext uri="{BB962C8B-B14F-4D97-AF65-F5344CB8AC3E}">
        <p14:creationId xmlns:p14="http://schemas.microsoft.com/office/powerpoint/2010/main" val="4323048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438150"/>
            <a:ext cx="1419606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2190750"/>
            <a:ext cx="1419606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7627621"/>
            <a:ext cx="370332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05C7171A-9ACA-41EF-B583-62063757CF2C}" type="datetime3">
              <a:rPr lang="en-US" smtClean="0"/>
              <a:t>6 January 2026</a:t>
            </a:fld>
            <a:endParaRPr lang="en-US"/>
          </a:p>
        </p:txBody>
      </p:sp>
      <p:sp>
        <p:nvSpPr>
          <p:cNvPr id="5" name="Footer Placeholder 4"/>
          <p:cNvSpPr>
            <a:spLocks noGrp="1"/>
          </p:cNvSpPr>
          <p:nvPr>
            <p:ph type="ftr" sz="quarter" idx="3"/>
          </p:nvPr>
        </p:nvSpPr>
        <p:spPr>
          <a:xfrm>
            <a:off x="5452110" y="7627621"/>
            <a:ext cx="555498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r>
              <a:rPr lang="en-US"/>
              <a:t>Course Teacher: Prof. Dr. Engr. Muhibul Haque Bhuyan</a:t>
            </a:r>
          </a:p>
        </p:txBody>
      </p:sp>
      <p:sp>
        <p:nvSpPr>
          <p:cNvPr id="6" name="Slide Number Placeholder 5"/>
          <p:cNvSpPr>
            <a:spLocks noGrp="1"/>
          </p:cNvSpPr>
          <p:nvPr>
            <p:ph type="sldNum" sz="quarter" idx="4"/>
          </p:nvPr>
        </p:nvSpPr>
        <p:spPr>
          <a:xfrm>
            <a:off x="11624310" y="7627621"/>
            <a:ext cx="370332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C9C7C91F-6875-4C79-9E49-C73FDE57945E}" type="slidenum">
              <a:rPr lang="en-US" smtClean="0"/>
              <a:t>‹#›</a:t>
            </a:fld>
            <a:endParaRPr lang="en-US"/>
          </a:p>
        </p:txBody>
      </p:sp>
    </p:spTree>
    <p:extLst>
      <p:ext uri="{BB962C8B-B14F-4D97-AF65-F5344CB8AC3E}">
        <p14:creationId xmlns:p14="http://schemas.microsoft.com/office/powerpoint/2010/main" val="2637165226"/>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emf"/><Relationship Id="rId1" Type="http://schemas.openxmlformats.org/officeDocument/2006/relationships/slideLayout" Target="../slideLayouts/slideLayout2.xml"/><Relationship Id="rId4" Type="http://schemas.microsoft.com/office/2007/relationships/hdphoto" Target="../media/hdphoto2.wdp"/></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3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42.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F83542-990E-4AD7-9205-9BAC0D2B3160}"/>
              </a:ext>
            </a:extLst>
          </p:cNvPr>
          <p:cNvSpPr>
            <a:spLocks noGrp="1"/>
          </p:cNvSpPr>
          <p:nvPr>
            <p:ph type="ctrTitle"/>
          </p:nvPr>
        </p:nvSpPr>
        <p:spPr>
          <a:xfrm>
            <a:off x="1762298" y="2111433"/>
            <a:ext cx="13283738" cy="3138631"/>
          </a:xfrm>
        </p:spPr>
        <p:txBody>
          <a:bodyPr>
            <a:noAutofit/>
          </a:bodyPr>
          <a:lstStyle/>
          <a:p>
            <a:r>
              <a:rPr lang="en-US" b="1" dirty="0">
                <a:solidFill>
                  <a:srgbClr val="0070C0"/>
                </a:solidFill>
              </a:rPr>
              <a:t>Lecture # 6 (Final)</a:t>
            </a:r>
            <a:br>
              <a:rPr lang="en-US" b="1" dirty="0">
                <a:solidFill>
                  <a:srgbClr val="0070C0"/>
                </a:solidFill>
              </a:rPr>
            </a:br>
            <a:r>
              <a:rPr lang="en-US" b="1" dirty="0">
                <a:solidFill>
                  <a:srgbClr val="0070C0"/>
                </a:solidFill>
              </a:rPr>
              <a:t>Control Logic Design</a:t>
            </a:r>
            <a:br>
              <a:rPr lang="en-US" b="1" dirty="0">
                <a:solidFill>
                  <a:srgbClr val="0070C0"/>
                </a:solidFill>
              </a:rPr>
            </a:br>
            <a:r>
              <a:rPr lang="en-US" sz="6000" b="1" dirty="0">
                <a:solidFill>
                  <a:srgbClr val="0070C0"/>
                </a:solidFill>
              </a:rPr>
              <a:t>Microprogram, flow-chart, state-diagram</a:t>
            </a:r>
          </a:p>
        </p:txBody>
      </p:sp>
    </p:spTree>
    <p:extLst>
      <p:ext uri="{BB962C8B-B14F-4D97-AF65-F5344CB8AC3E}">
        <p14:creationId xmlns:p14="http://schemas.microsoft.com/office/powerpoint/2010/main" val="220196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C3288-FBD3-4641-B017-247F103CB6E6}"/>
              </a:ext>
            </a:extLst>
          </p:cNvPr>
          <p:cNvSpPr>
            <a:spLocks noGrp="1"/>
          </p:cNvSpPr>
          <p:nvPr>
            <p:ph type="title"/>
          </p:nvPr>
        </p:nvSpPr>
        <p:spPr>
          <a:xfrm>
            <a:off x="1787236" y="167468"/>
            <a:ext cx="9335194" cy="758884"/>
          </a:xfrm>
        </p:spPr>
        <p:txBody>
          <a:bodyPr>
            <a:normAutofit fontScale="90000"/>
          </a:bodyPr>
          <a:lstStyle/>
          <a:p>
            <a:r>
              <a:rPr lang="en-US" sz="6480" b="1" dirty="0">
                <a:solidFill>
                  <a:srgbClr val="0070C0"/>
                </a:solidFill>
              </a:rPr>
              <a:t>Microprogram Control</a:t>
            </a:r>
          </a:p>
        </p:txBody>
      </p:sp>
      <p:sp>
        <p:nvSpPr>
          <p:cNvPr id="3" name="Content Placeholder 2">
            <a:extLst>
              <a:ext uri="{FF2B5EF4-FFF2-40B4-BE49-F238E27FC236}">
                <a16:creationId xmlns:a16="http://schemas.microsoft.com/office/drawing/2014/main" id="{EB6EC5AD-2DA5-4C7A-AF82-D3F1C85AD5D9}"/>
              </a:ext>
            </a:extLst>
          </p:cNvPr>
          <p:cNvSpPr>
            <a:spLocks noGrp="1"/>
          </p:cNvSpPr>
          <p:nvPr>
            <p:ph idx="1"/>
          </p:nvPr>
        </p:nvSpPr>
        <p:spPr>
          <a:xfrm>
            <a:off x="182879" y="926352"/>
            <a:ext cx="16126691" cy="4201981"/>
          </a:xfrm>
        </p:spPr>
        <p:txBody>
          <a:bodyPr>
            <a:noAutofit/>
          </a:bodyPr>
          <a:lstStyle/>
          <a:p>
            <a:r>
              <a:rPr lang="en-US" sz="3600" dirty="0"/>
              <a:t>In microprogram control, the </a:t>
            </a:r>
            <a:r>
              <a:rPr lang="en-US" sz="3600" dirty="0">
                <a:solidFill>
                  <a:srgbClr val="FF0000"/>
                </a:solidFill>
              </a:rPr>
              <a:t>control variables that initiate micro-operations are stored in memory.</a:t>
            </a:r>
          </a:p>
          <a:p>
            <a:r>
              <a:rPr lang="en-US" sz="3600" dirty="0"/>
              <a:t>The control memory is usually a </a:t>
            </a:r>
            <a:r>
              <a:rPr lang="en-US" sz="3600" dirty="0">
                <a:solidFill>
                  <a:srgbClr val="FF0000"/>
                </a:solidFill>
              </a:rPr>
              <a:t>ROM</a:t>
            </a:r>
            <a:r>
              <a:rPr lang="en-US" sz="3600" dirty="0"/>
              <a:t> (</a:t>
            </a:r>
            <a:r>
              <a:rPr lang="en-US" sz="3600" dirty="0">
                <a:solidFill>
                  <a:srgbClr val="FF0000"/>
                </a:solidFill>
              </a:rPr>
              <a:t>Read Only Memory</a:t>
            </a:r>
            <a:r>
              <a:rPr lang="en-US" sz="3600" dirty="0"/>
              <a:t>).</a:t>
            </a:r>
          </a:p>
          <a:p>
            <a:r>
              <a:rPr lang="en-US" sz="3600" dirty="0"/>
              <a:t>The </a:t>
            </a:r>
            <a:r>
              <a:rPr lang="en-US" sz="3600" dirty="0">
                <a:solidFill>
                  <a:srgbClr val="FF0000"/>
                </a:solidFill>
              </a:rPr>
              <a:t>control variables stored in memory </a:t>
            </a:r>
            <a:r>
              <a:rPr lang="en-US" sz="3600" dirty="0"/>
              <a:t>are read once at a time to initiate the sequence of micro-operations for the system.</a:t>
            </a:r>
          </a:p>
          <a:p>
            <a:r>
              <a:rPr lang="en-US" sz="3600" dirty="0"/>
              <a:t>The words stored in a control memory are micro-instructions, and each micro-instruction specifies one or more micro-operations for the components in the system.</a:t>
            </a:r>
          </a:p>
        </p:txBody>
      </p:sp>
      <p:pic>
        <p:nvPicPr>
          <p:cNvPr id="4" name="Picture 3">
            <a:extLst>
              <a:ext uri="{FF2B5EF4-FFF2-40B4-BE49-F238E27FC236}">
                <a16:creationId xmlns:a16="http://schemas.microsoft.com/office/drawing/2014/main" id="{987E2057-F397-447A-93B0-40390E646A09}"/>
              </a:ext>
            </a:extLst>
          </p:cNvPr>
          <p:cNvPicPr>
            <a:picLocks noChangeAspect="1"/>
          </p:cNvPicPr>
          <p:nvPr/>
        </p:nvPicPr>
        <p:blipFill>
          <a:blip r:embed="rId2">
            <a:duotone>
              <a:schemeClr val="accent5">
                <a:shade val="45000"/>
                <a:satMod val="135000"/>
              </a:schemeClr>
              <a:prstClr val="white"/>
            </a:duotone>
            <a:lum contrast="20000"/>
          </a:blip>
          <a:stretch>
            <a:fillRect/>
          </a:stretch>
        </p:blipFill>
        <p:spPr>
          <a:xfrm>
            <a:off x="1145771" y="5128332"/>
            <a:ext cx="14640899" cy="2791302"/>
          </a:xfrm>
          <a:prstGeom prst="rect">
            <a:avLst/>
          </a:prstGeom>
        </p:spPr>
      </p:pic>
      <p:sp>
        <p:nvSpPr>
          <p:cNvPr id="5" name="Date Placeholder 4"/>
          <p:cNvSpPr>
            <a:spLocks noGrp="1"/>
          </p:cNvSpPr>
          <p:nvPr>
            <p:ph type="dt" sz="half" idx="10"/>
          </p:nvPr>
        </p:nvSpPr>
        <p:spPr/>
        <p:txBody>
          <a:bodyPr/>
          <a:lstStyle/>
          <a:p>
            <a:fld id="{003F447D-69E0-4ABE-B8C4-92E5E3B9F2DC}" type="datetime3">
              <a:rPr lang="en-US" smtClean="0"/>
              <a:t>6 January 2026</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75060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0298E-A078-4ADB-AB43-BA8168359DF1}"/>
              </a:ext>
            </a:extLst>
          </p:cNvPr>
          <p:cNvSpPr>
            <a:spLocks noGrp="1"/>
          </p:cNvSpPr>
          <p:nvPr>
            <p:ph type="title"/>
          </p:nvPr>
        </p:nvSpPr>
        <p:spPr>
          <a:xfrm>
            <a:off x="1679170" y="163430"/>
            <a:ext cx="12061767" cy="1066854"/>
          </a:xfrm>
        </p:spPr>
        <p:txBody>
          <a:bodyPr>
            <a:normAutofit/>
          </a:bodyPr>
          <a:lstStyle/>
          <a:p>
            <a:r>
              <a:rPr lang="en-US" sz="6000" b="1" dirty="0">
                <a:solidFill>
                  <a:srgbClr val="0070C0"/>
                </a:solidFill>
              </a:rPr>
              <a:t>Microprogram Control </a:t>
            </a:r>
            <a:r>
              <a:rPr lang="en-US" sz="4000" b="1" dirty="0">
                <a:solidFill>
                  <a:srgbClr val="0070C0"/>
                </a:solidFill>
              </a:rPr>
              <a:t>Contd..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3B80C9-4D13-4908-B1CA-74A6D655C2A2}"/>
                  </a:ext>
                </a:extLst>
              </p:cNvPr>
              <p:cNvSpPr>
                <a:spLocks noGrp="1"/>
              </p:cNvSpPr>
              <p:nvPr>
                <p:ph idx="1"/>
              </p:nvPr>
            </p:nvSpPr>
            <p:spPr>
              <a:xfrm>
                <a:off x="199505" y="1429789"/>
                <a:ext cx="16043564" cy="5918662"/>
              </a:xfrm>
            </p:spPr>
            <p:txBody>
              <a:bodyPr>
                <a:noAutofit/>
              </a:bodyPr>
              <a:lstStyle/>
              <a:p>
                <a:r>
                  <a:rPr lang="en-US" sz="4400" dirty="0"/>
                  <a:t>Inspection of state diagram reveals that the address sequencing in the microprogram control </a:t>
                </a:r>
                <a:r>
                  <a:rPr lang="en-US" sz="4400" b="1" dirty="0">
                    <a:solidFill>
                      <a:srgbClr val="FF0000"/>
                    </a:solidFill>
                  </a:rPr>
                  <a:t>must have</a:t>
                </a:r>
                <a:r>
                  <a:rPr lang="en-US" sz="4400" dirty="0"/>
                  <a:t> the following </a:t>
                </a:r>
                <a:r>
                  <a:rPr lang="en-US" sz="4400" b="1" dirty="0">
                    <a:solidFill>
                      <a:srgbClr val="FF0000"/>
                    </a:solidFill>
                  </a:rPr>
                  <a:t>capabilities</a:t>
                </a:r>
                <a:r>
                  <a:rPr lang="en-US" sz="4400" dirty="0"/>
                  <a:t>:</a:t>
                </a:r>
              </a:p>
              <a:p>
                <a:pPr lvl="1"/>
                <a:r>
                  <a:rPr lang="en-US" sz="4000" dirty="0"/>
                  <a:t>Provision for loading an external address as a result of the concurrence of </a:t>
                </a:r>
                <a:r>
                  <a:rPr lang="en-US" sz="4000" dirty="0">
                    <a:solidFill>
                      <a:srgbClr val="FF0000"/>
                    </a:solidFill>
                  </a:rPr>
                  <a:t>external signals </a:t>
                </a:r>
                <a14:m>
                  <m:oMath xmlns:m="http://schemas.openxmlformats.org/officeDocument/2006/math">
                    <m:sSub>
                      <m:sSubPr>
                        <m:ctrlPr>
                          <a:rPr lang="en-US" sz="4000" i="1">
                            <a:solidFill>
                              <a:srgbClr val="FF0000"/>
                            </a:solidFill>
                            <a:latin typeface="Cambria Math" panose="02040503050406030204" pitchFamily="18" charset="0"/>
                          </a:rPr>
                        </m:ctrlPr>
                      </m:sSubPr>
                      <m:e>
                        <m:r>
                          <a:rPr lang="en-US" sz="4000" i="1">
                            <a:solidFill>
                              <a:srgbClr val="FF0000"/>
                            </a:solidFill>
                            <a:latin typeface="Cambria Math" panose="02040503050406030204" pitchFamily="18" charset="0"/>
                          </a:rPr>
                          <m:t>𝑞</m:t>
                        </m:r>
                      </m:e>
                      <m:sub>
                        <m:r>
                          <a:rPr lang="en-US" sz="4000" i="1">
                            <a:solidFill>
                              <a:srgbClr val="FF0000"/>
                            </a:solidFill>
                            <a:latin typeface="Cambria Math" panose="02040503050406030204" pitchFamily="18" charset="0"/>
                          </a:rPr>
                          <m:t>𝑎</m:t>
                        </m:r>
                      </m:sub>
                    </m:sSub>
                  </m:oMath>
                </a14:m>
                <a:r>
                  <a:rPr lang="en-US" sz="4000" dirty="0">
                    <a:solidFill>
                      <a:srgbClr val="FF0000"/>
                    </a:solidFill>
                  </a:rPr>
                  <a:t> and </a:t>
                </a:r>
                <a14:m>
                  <m:oMath xmlns:m="http://schemas.openxmlformats.org/officeDocument/2006/math">
                    <m:sSub>
                      <m:sSubPr>
                        <m:ctrlPr>
                          <a:rPr lang="en-US" sz="4000" i="1">
                            <a:solidFill>
                              <a:srgbClr val="FF0000"/>
                            </a:solidFill>
                            <a:latin typeface="Cambria Math" panose="02040503050406030204" pitchFamily="18" charset="0"/>
                          </a:rPr>
                        </m:ctrlPr>
                      </m:sSubPr>
                      <m:e>
                        <m:r>
                          <a:rPr lang="en-US" sz="4000" i="1">
                            <a:solidFill>
                              <a:srgbClr val="FF0000"/>
                            </a:solidFill>
                            <a:latin typeface="Cambria Math" panose="02040503050406030204" pitchFamily="18" charset="0"/>
                          </a:rPr>
                          <m:t>𝑞</m:t>
                        </m:r>
                      </m:e>
                      <m:sub>
                        <m:r>
                          <a:rPr lang="en-US" sz="4000" i="1">
                            <a:solidFill>
                              <a:srgbClr val="FF0000"/>
                            </a:solidFill>
                            <a:latin typeface="Cambria Math" panose="02040503050406030204" pitchFamily="18" charset="0"/>
                          </a:rPr>
                          <m:t>𝑠</m:t>
                        </m:r>
                      </m:sub>
                    </m:sSub>
                  </m:oMath>
                </a14:m>
                <a:r>
                  <a:rPr lang="en-US" sz="4000" dirty="0"/>
                  <a:t>.</a:t>
                </a:r>
              </a:p>
              <a:p>
                <a:pPr lvl="1"/>
                <a:r>
                  <a:rPr lang="en-US" sz="4000" dirty="0"/>
                  <a:t>Provision for </a:t>
                </a:r>
                <a:r>
                  <a:rPr lang="en-US" sz="4000" dirty="0">
                    <a:solidFill>
                      <a:srgbClr val="FF0000"/>
                    </a:solidFill>
                  </a:rPr>
                  <a:t>sequencing consecutive addresses</a:t>
                </a:r>
                <a:r>
                  <a:rPr lang="en-US" sz="4000" dirty="0"/>
                  <a:t>.</a:t>
                </a:r>
              </a:p>
              <a:p>
                <a:pPr lvl="1"/>
                <a:r>
                  <a:rPr lang="en-US" sz="4000" dirty="0"/>
                  <a:t>Provision for </a:t>
                </a:r>
                <a:r>
                  <a:rPr lang="en-US" sz="4000" dirty="0">
                    <a:solidFill>
                      <a:srgbClr val="FF0000"/>
                    </a:solidFill>
                  </a:rPr>
                  <a:t>choosing between two addresses </a:t>
                </a:r>
                <a:r>
                  <a:rPr lang="en-US" sz="4000" dirty="0"/>
                  <a:t>as a function of the present value of the status variables </a:t>
                </a:r>
                <a:r>
                  <a:rPr lang="en-US" sz="4000" i="1" dirty="0"/>
                  <a:t>S</a:t>
                </a:r>
                <a:r>
                  <a:rPr lang="en-US" sz="4000" dirty="0"/>
                  <a:t> and </a:t>
                </a:r>
                <a:r>
                  <a:rPr lang="en-US" sz="4000" i="1" dirty="0"/>
                  <a:t>E</a:t>
                </a:r>
                <a:r>
                  <a:rPr lang="en-US" sz="4000" dirty="0"/>
                  <a:t>.</a:t>
                </a:r>
              </a:p>
              <a:p>
                <a:r>
                  <a:rPr lang="en-US" sz="4400" dirty="0">
                    <a:solidFill>
                      <a:srgbClr val="0070C0"/>
                    </a:solidFill>
                  </a:rPr>
                  <a:t>Each microinstruction must contain several bits to specify the way that the next address is to be selected</a:t>
                </a:r>
                <a:r>
                  <a:rPr lang="en-US" sz="4400" dirty="0"/>
                  <a:t>.</a:t>
                </a:r>
              </a:p>
            </p:txBody>
          </p:sp>
        </mc:Choice>
        <mc:Fallback xmlns="">
          <p:sp>
            <p:nvSpPr>
              <p:cNvPr id="3" name="Content Placeholder 2">
                <a:extLst>
                  <a:ext uri="{FF2B5EF4-FFF2-40B4-BE49-F238E27FC236}">
                    <a16:creationId xmlns:a16="http://schemas.microsoft.com/office/drawing/2014/main" id="{D03B80C9-4D13-4908-B1CA-74A6D655C2A2}"/>
                  </a:ext>
                </a:extLst>
              </p:cNvPr>
              <p:cNvSpPr>
                <a:spLocks noGrp="1" noRot="1" noChangeAspect="1" noMove="1" noResize="1" noEditPoints="1" noAdjustHandles="1" noChangeArrowheads="1" noChangeShapeType="1" noTextEdit="1"/>
              </p:cNvSpPr>
              <p:nvPr>
                <p:ph idx="1"/>
              </p:nvPr>
            </p:nvSpPr>
            <p:spPr>
              <a:xfrm>
                <a:off x="199505" y="1429789"/>
                <a:ext cx="16043564" cy="5918662"/>
              </a:xfrm>
              <a:blipFill>
                <a:blip r:embed="rId2"/>
                <a:stretch>
                  <a:fillRect l="-1406" t="-3299" b="-103"/>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78A0F32C-7624-4CE3-8865-44269EABD167}"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1772196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3">
            <a:extLst>
              <a:ext uri="{FF2B5EF4-FFF2-40B4-BE49-F238E27FC236}">
                <a16:creationId xmlns:a16="http://schemas.microsoft.com/office/drawing/2014/main" id="{9B42E9B8-AEB5-4CE1-BBD2-3B63950B76B0}"/>
              </a:ext>
            </a:extLst>
          </p:cNvPr>
          <p:cNvPicPr>
            <a:picLocks noChangeAspect="1"/>
          </p:cNvPicPr>
          <p:nvPr/>
        </p:nvPicPr>
        <p:blipFill rotWithShape="1">
          <a:blip r:embed="rId2">
            <a:duotone>
              <a:schemeClr val="accent1">
                <a:shade val="45000"/>
                <a:satMod val="135000"/>
              </a:schemeClr>
              <a:prstClr val="white"/>
            </a:duotone>
            <a:lum bright="-20000" contrast="40000"/>
          </a:blip>
          <a:srcRect l="4931" t="2271" r="1780" b="1920"/>
          <a:stretch/>
        </p:blipFill>
        <p:spPr>
          <a:xfrm>
            <a:off x="7683690" y="160304"/>
            <a:ext cx="8555411" cy="7846442"/>
          </a:xfrm>
          <a:prstGeom prst="rect">
            <a:avLst/>
          </a:prstGeom>
        </p:spPr>
      </p:pic>
      <p:sp>
        <p:nvSpPr>
          <p:cNvPr id="2" name="Title 1">
            <a:extLst>
              <a:ext uri="{FF2B5EF4-FFF2-40B4-BE49-F238E27FC236}">
                <a16:creationId xmlns:a16="http://schemas.microsoft.com/office/drawing/2014/main" id="{82612B63-3FDA-4A3A-858A-FEF97199229B}"/>
              </a:ext>
            </a:extLst>
          </p:cNvPr>
          <p:cNvSpPr>
            <a:spLocks noGrp="1"/>
          </p:cNvSpPr>
          <p:nvPr>
            <p:ph type="title"/>
          </p:nvPr>
        </p:nvSpPr>
        <p:spPr>
          <a:xfrm>
            <a:off x="1487606" y="146656"/>
            <a:ext cx="6608467" cy="767744"/>
          </a:xfrm>
        </p:spPr>
        <p:txBody>
          <a:bodyPr>
            <a:noAutofit/>
          </a:bodyPr>
          <a:lstStyle/>
          <a:p>
            <a:r>
              <a:rPr lang="en-US" sz="5000" b="1" dirty="0">
                <a:solidFill>
                  <a:srgbClr val="0070C0"/>
                </a:solidFill>
              </a:rPr>
              <a:t>Hardware Configuration</a:t>
            </a:r>
          </a:p>
        </p:txBody>
      </p:sp>
      <p:graphicFrame>
        <p:nvGraphicFramePr>
          <p:cNvPr id="5" name="Table 4">
            <a:extLst>
              <a:ext uri="{FF2B5EF4-FFF2-40B4-BE49-F238E27FC236}">
                <a16:creationId xmlns:a16="http://schemas.microsoft.com/office/drawing/2014/main" id="{7AE46B88-CFAB-437B-AD5F-E6908410A4F2}"/>
              </a:ext>
            </a:extLst>
          </p:cNvPr>
          <p:cNvGraphicFramePr>
            <a:graphicFrameLocks noGrp="1"/>
          </p:cNvGraphicFramePr>
          <p:nvPr>
            <p:extLst>
              <p:ext uri="{D42A27DB-BD31-4B8C-83A1-F6EECF244321}">
                <p14:modId xmlns:p14="http://schemas.microsoft.com/office/powerpoint/2010/main" val="2606293846"/>
              </p:ext>
            </p:extLst>
          </p:nvPr>
        </p:nvGraphicFramePr>
        <p:xfrm>
          <a:off x="382384" y="1843212"/>
          <a:ext cx="7081204" cy="4829290"/>
        </p:xfrm>
        <a:graphic>
          <a:graphicData uri="http://schemas.openxmlformats.org/drawingml/2006/table">
            <a:tbl>
              <a:tblPr firstRow="1" bandRow="1">
                <a:tableStyleId>{B301B821-A1FF-4177-AEE7-76D212191A09}</a:tableStyleId>
              </a:tblPr>
              <a:tblGrid>
                <a:gridCol w="1042641">
                  <a:extLst>
                    <a:ext uri="{9D8B030D-6E8A-4147-A177-3AD203B41FA5}">
                      <a16:colId xmlns:a16="http://schemas.microsoft.com/office/drawing/2014/main" val="803749714"/>
                    </a:ext>
                  </a:extLst>
                </a:gridCol>
                <a:gridCol w="1086163">
                  <a:extLst>
                    <a:ext uri="{9D8B030D-6E8A-4147-A177-3AD203B41FA5}">
                      <a16:colId xmlns:a16="http://schemas.microsoft.com/office/drawing/2014/main" val="2310412296"/>
                    </a:ext>
                  </a:extLst>
                </a:gridCol>
                <a:gridCol w="4952400">
                  <a:extLst>
                    <a:ext uri="{9D8B030D-6E8A-4147-A177-3AD203B41FA5}">
                      <a16:colId xmlns:a16="http://schemas.microsoft.com/office/drawing/2014/main" val="2601140234"/>
                    </a:ext>
                  </a:extLst>
                </a:gridCol>
              </a:tblGrid>
              <a:tr h="1174692">
                <a:tc gridSpan="2">
                  <a:txBody>
                    <a:bodyPr/>
                    <a:lstStyle/>
                    <a:p>
                      <a:pPr algn="ctr"/>
                      <a:r>
                        <a:rPr lang="en-US" sz="3200" dirty="0"/>
                        <a:t>ROM bits</a:t>
                      </a:r>
                    </a:p>
                    <a:p>
                      <a:r>
                        <a:rPr lang="en-US" sz="3200" dirty="0"/>
                        <a:t>  13       14         </a:t>
                      </a:r>
                    </a:p>
                  </a:txBody>
                  <a:tcPr marL="109728" marR="109728" marT="54864" marB="54864" anchor="ctr"/>
                </a:tc>
                <a:tc hMerge="1">
                  <a:txBody>
                    <a:bodyPr/>
                    <a:lstStyle/>
                    <a:p>
                      <a:endParaRPr lang="en-US"/>
                    </a:p>
                  </a:txBody>
                  <a:tcPr/>
                </a:tc>
                <a:tc>
                  <a:txBody>
                    <a:bodyPr/>
                    <a:lstStyle/>
                    <a:p>
                      <a:pPr algn="ctr"/>
                      <a:r>
                        <a:rPr lang="en-US" sz="3200" dirty="0"/>
                        <a:t>MUX Select Function</a:t>
                      </a:r>
                    </a:p>
                  </a:txBody>
                  <a:tcPr marL="109728" marR="109728" marT="54864" marB="54864" anchor="ctr"/>
                </a:tc>
                <a:extLst>
                  <a:ext uri="{0D108BD9-81ED-4DB2-BD59-A6C34878D82A}">
                    <a16:rowId xmlns:a16="http://schemas.microsoft.com/office/drawing/2014/main" val="1607342460"/>
                  </a:ext>
                </a:extLst>
              </a:tr>
              <a:tr h="652607">
                <a:tc>
                  <a:txBody>
                    <a:bodyPr/>
                    <a:lstStyle/>
                    <a:p>
                      <a:pPr algn="ctr"/>
                      <a:r>
                        <a:rPr lang="en-US" sz="3200" dirty="0"/>
                        <a:t>0</a:t>
                      </a:r>
                    </a:p>
                  </a:txBody>
                  <a:tcPr marL="109728" marR="109728" marT="54864" marB="54864" anchor="ctr"/>
                </a:tc>
                <a:tc>
                  <a:txBody>
                    <a:bodyPr/>
                    <a:lstStyle/>
                    <a:p>
                      <a:pPr algn="ctr"/>
                      <a:r>
                        <a:rPr lang="en-US" sz="3200" dirty="0"/>
                        <a:t>0</a:t>
                      </a:r>
                    </a:p>
                  </a:txBody>
                  <a:tcPr marL="109728" marR="109728" marT="54864" marB="54864" anchor="ctr"/>
                </a:tc>
                <a:tc>
                  <a:txBody>
                    <a:bodyPr/>
                    <a:lstStyle/>
                    <a:p>
                      <a:r>
                        <a:rPr lang="en-US" sz="3200" dirty="0"/>
                        <a:t>Increment CAR</a:t>
                      </a:r>
                    </a:p>
                  </a:txBody>
                  <a:tcPr marL="109728" marR="109728" marT="54864" marB="54864" anchor="ctr"/>
                </a:tc>
                <a:extLst>
                  <a:ext uri="{0D108BD9-81ED-4DB2-BD59-A6C34878D82A}">
                    <a16:rowId xmlns:a16="http://schemas.microsoft.com/office/drawing/2014/main" val="92411484"/>
                  </a:ext>
                </a:extLst>
              </a:tr>
              <a:tr h="652607">
                <a:tc>
                  <a:txBody>
                    <a:bodyPr/>
                    <a:lstStyle/>
                    <a:p>
                      <a:pPr algn="ctr"/>
                      <a:r>
                        <a:rPr lang="en-US" sz="3200" dirty="0"/>
                        <a:t>0</a:t>
                      </a:r>
                    </a:p>
                  </a:txBody>
                  <a:tcPr marL="109728" marR="109728" marT="54864" marB="54864" anchor="ctr"/>
                </a:tc>
                <a:tc>
                  <a:txBody>
                    <a:bodyPr/>
                    <a:lstStyle/>
                    <a:p>
                      <a:pPr algn="ctr"/>
                      <a:r>
                        <a:rPr lang="en-US" sz="3200" dirty="0"/>
                        <a:t>1</a:t>
                      </a:r>
                    </a:p>
                  </a:txBody>
                  <a:tcPr marL="109728" marR="109728" marT="54864" marB="54864" anchor="ctr"/>
                </a:tc>
                <a:tc>
                  <a:txBody>
                    <a:bodyPr/>
                    <a:lstStyle/>
                    <a:p>
                      <a:r>
                        <a:rPr lang="en-US" sz="3200" dirty="0"/>
                        <a:t>Load input to CAR</a:t>
                      </a:r>
                    </a:p>
                  </a:txBody>
                  <a:tcPr marL="109728" marR="109728" marT="54864" marB="54864" anchor="ctr"/>
                </a:tc>
                <a:extLst>
                  <a:ext uri="{0D108BD9-81ED-4DB2-BD59-A6C34878D82A}">
                    <a16:rowId xmlns:a16="http://schemas.microsoft.com/office/drawing/2014/main" val="104824788"/>
                  </a:ext>
                </a:extLst>
              </a:tr>
              <a:tr h="1174692">
                <a:tc>
                  <a:txBody>
                    <a:bodyPr/>
                    <a:lstStyle/>
                    <a:p>
                      <a:pPr algn="ctr"/>
                      <a:r>
                        <a:rPr lang="en-US" sz="3200" dirty="0"/>
                        <a:t>1</a:t>
                      </a:r>
                    </a:p>
                  </a:txBody>
                  <a:tcPr marL="109728" marR="109728" marT="54864" marB="54864" anchor="ctr"/>
                </a:tc>
                <a:tc>
                  <a:txBody>
                    <a:bodyPr/>
                    <a:lstStyle/>
                    <a:p>
                      <a:pPr algn="ctr"/>
                      <a:r>
                        <a:rPr lang="en-US" sz="3200" dirty="0"/>
                        <a:t>0</a:t>
                      </a:r>
                    </a:p>
                  </a:txBody>
                  <a:tcPr marL="109728" marR="109728" marT="54864" marB="54864" anchor="ctr"/>
                </a:tc>
                <a:tc>
                  <a:txBody>
                    <a:bodyPr/>
                    <a:lstStyle/>
                    <a:p>
                      <a:r>
                        <a:rPr lang="en-US" sz="3200" dirty="0"/>
                        <a:t>Load inputs to CAR if S = 1, increment CAR if S = 0</a:t>
                      </a:r>
                    </a:p>
                  </a:txBody>
                  <a:tcPr marL="109728" marR="109728" marT="54864" marB="54864" anchor="ctr"/>
                </a:tc>
                <a:extLst>
                  <a:ext uri="{0D108BD9-81ED-4DB2-BD59-A6C34878D82A}">
                    <a16:rowId xmlns:a16="http://schemas.microsoft.com/office/drawing/2014/main" val="241601024"/>
                  </a:ext>
                </a:extLst>
              </a:tr>
              <a:tr h="1174692">
                <a:tc>
                  <a:txBody>
                    <a:bodyPr/>
                    <a:lstStyle/>
                    <a:p>
                      <a:pPr algn="ctr"/>
                      <a:r>
                        <a:rPr lang="en-US" sz="3200" dirty="0"/>
                        <a:t>1</a:t>
                      </a:r>
                    </a:p>
                  </a:txBody>
                  <a:tcPr marL="109728" marR="109728" marT="54864" marB="54864" anchor="ctr"/>
                </a:tc>
                <a:tc>
                  <a:txBody>
                    <a:bodyPr/>
                    <a:lstStyle/>
                    <a:p>
                      <a:pPr algn="ctr"/>
                      <a:r>
                        <a:rPr lang="en-US" sz="3200" dirty="0"/>
                        <a:t>1</a:t>
                      </a:r>
                    </a:p>
                  </a:txBody>
                  <a:tcPr marL="109728" marR="109728" marT="54864" marB="54864" anchor="ctr"/>
                </a:tc>
                <a:tc>
                  <a:txBody>
                    <a:bodyPr/>
                    <a:lstStyle/>
                    <a:p>
                      <a:r>
                        <a:rPr lang="en-US" sz="3200" dirty="0"/>
                        <a:t>Load inputs to CAR if E = 1,increment CAR if E = 0</a:t>
                      </a:r>
                    </a:p>
                  </a:txBody>
                  <a:tcPr marL="109728" marR="109728" marT="54864" marB="54864" anchor="ctr"/>
                </a:tc>
                <a:extLst>
                  <a:ext uri="{0D108BD9-81ED-4DB2-BD59-A6C34878D82A}">
                    <a16:rowId xmlns:a16="http://schemas.microsoft.com/office/drawing/2014/main" val="1876642878"/>
                  </a:ext>
                </a:extLst>
              </a:tr>
            </a:tbl>
          </a:graphicData>
        </a:graphic>
      </p:graphicFrame>
      <p:sp>
        <p:nvSpPr>
          <p:cNvPr id="3" name="TextBox 2"/>
          <p:cNvSpPr txBox="1"/>
          <p:nvPr/>
        </p:nvSpPr>
        <p:spPr>
          <a:xfrm>
            <a:off x="1119070" y="7366110"/>
            <a:ext cx="10263163" cy="584775"/>
          </a:xfrm>
          <a:prstGeom prst="rect">
            <a:avLst/>
          </a:prstGeom>
          <a:noFill/>
        </p:spPr>
        <p:txBody>
          <a:bodyPr wrap="square" rtlCol="0">
            <a:spAutoFit/>
          </a:bodyPr>
          <a:lstStyle/>
          <a:p>
            <a:pPr algn="r"/>
            <a:r>
              <a:rPr lang="en-US" sz="3200" dirty="0">
                <a:solidFill>
                  <a:srgbClr val="FF0000"/>
                </a:solidFill>
              </a:rPr>
              <a:t>Fig. 10-10 </a:t>
            </a:r>
            <a:r>
              <a:rPr lang="en-US" sz="3200" dirty="0"/>
              <a:t>Organization of the microprogram control unit</a:t>
            </a:r>
          </a:p>
        </p:txBody>
      </p:sp>
      <p:sp>
        <p:nvSpPr>
          <p:cNvPr id="6" name="TextBox 5"/>
          <p:cNvSpPr txBox="1"/>
          <p:nvPr/>
        </p:nvSpPr>
        <p:spPr>
          <a:xfrm>
            <a:off x="11727156" y="2459331"/>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0</a:t>
            </a:r>
          </a:p>
        </p:txBody>
      </p:sp>
      <p:sp>
        <p:nvSpPr>
          <p:cNvPr id="7" name="TextBox 6"/>
          <p:cNvSpPr txBox="1"/>
          <p:nvPr/>
        </p:nvSpPr>
        <p:spPr>
          <a:xfrm>
            <a:off x="11703938" y="3048566"/>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1</a:t>
            </a:r>
          </a:p>
        </p:txBody>
      </p:sp>
      <p:sp>
        <p:nvSpPr>
          <p:cNvPr id="8" name="TextBox 7"/>
          <p:cNvSpPr txBox="1"/>
          <p:nvPr/>
        </p:nvSpPr>
        <p:spPr>
          <a:xfrm>
            <a:off x="11707381" y="3630861"/>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2</a:t>
            </a:r>
          </a:p>
        </p:txBody>
      </p:sp>
      <p:sp>
        <p:nvSpPr>
          <p:cNvPr id="4" name="Date Placeholder 3"/>
          <p:cNvSpPr>
            <a:spLocks noGrp="1"/>
          </p:cNvSpPr>
          <p:nvPr>
            <p:ph type="dt" sz="half" idx="10"/>
          </p:nvPr>
        </p:nvSpPr>
        <p:spPr/>
        <p:txBody>
          <a:bodyPr/>
          <a:lstStyle/>
          <a:p>
            <a:fld id="{E4C46F2F-E483-4EE1-B96D-DB03364E0FD9}" type="datetime3">
              <a:rPr lang="en-US" smtClean="0"/>
              <a:t>6 January 2026</a:t>
            </a:fld>
            <a:endParaRPr lang="en-US"/>
          </a:p>
        </p:txBody>
      </p:sp>
      <p:sp>
        <p:nvSpPr>
          <p:cNvPr id="11" name="Slide Number Placeholder 10"/>
          <p:cNvSpPr>
            <a:spLocks noGrp="1"/>
          </p:cNvSpPr>
          <p:nvPr>
            <p:ph type="sldNum" sz="quarter" idx="12"/>
          </p:nvPr>
        </p:nvSpPr>
        <p:spPr/>
        <p:txBody>
          <a:bodyPr/>
          <a:lstStyle/>
          <a:p>
            <a:fld id="{48F63A3B-78C7-47BE-AE5E-E10140E04643}" type="slidenum">
              <a:rPr lang="en-US" smtClean="0"/>
              <a:pPr/>
              <a:t>4</a:t>
            </a:fld>
            <a:endParaRPr lang="en-US" dirty="0"/>
          </a:p>
        </p:txBody>
      </p:sp>
      <p:sp>
        <p:nvSpPr>
          <p:cNvPr id="12" name="Rectangle 11"/>
          <p:cNvSpPr/>
          <p:nvPr/>
        </p:nvSpPr>
        <p:spPr>
          <a:xfrm>
            <a:off x="161423" y="1237444"/>
            <a:ext cx="7631447" cy="523220"/>
          </a:xfrm>
          <a:prstGeom prst="rect">
            <a:avLst/>
          </a:prstGeom>
        </p:spPr>
        <p:txBody>
          <a:bodyPr wrap="square">
            <a:spAutoFit/>
          </a:bodyPr>
          <a:lstStyle/>
          <a:p>
            <a:r>
              <a:rPr lang="en-US" sz="2800" dirty="0">
                <a:solidFill>
                  <a:srgbClr val="FF0000"/>
                </a:solidFill>
              </a:rPr>
              <a:t>Table for the functions of the multiplexer select bits </a:t>
            </a:r>
            <a:endParaRPr lang="en-US" sz="2800" dirty="0"/>
          </a:p>
        </p:txBody>
      </p:sp>
    </p:spTree>
    <p:extLst>
      <p:ext uri="{BB962C8B-B14F-4D97-AF65-F5344CB8AC3E}">
        <p14:creationId xmlns:p14="http://schemas.microsoft.com/office/powerpoint/2010/main" val="3417267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771797" y="97328"/>
            <a:ext cx="12660283" cy="957221"/>
          </a:xfrm>
        </p:spPr>
        <p:txBody>
          <a:bodyPr>
            <a:normAutofit/>
          </a:bodyPr>
          <a:lstStyle/>
          <a:p>
            <a:r>
              <a:rPr lang="en-US" sz="6000" b="1" dirty="0">
                <a:solidFill>
                  <a:srgbClr val="0070C0"/>
                </a:solidFill>
              </a:rPr>
              <a:t>Hardware Configuration</a:t>
            </a:r>
            <a:endParaRPr lang="en-US" sz="60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199505" y="914402"/>
            <a:ext cx="9597638" cy="6949440"/>
          </a:xfrm>
        </p:spPr>
        <p:txBody>
          <a:bodyPr>
            <a:noAutofit/>
          </a:bodyPr>
          <a:lstStyle/>
          <a:p>
            <a:pPr marL="0" indent="0">
              <a:buNone/>
            </a:pPr>
            <a:r>
              <a:rPr lang="en-US" sz="3600" dirty="0"/>
              <a:t>The control memory is an 8-word (usually, </a:t>
            </a:r>
            <a:r>
              <a:rPr lang="en-US" sz="3600" dirty="0">
                <a:solidFill>
                  <a:srgbClr val="FF0000"/>
                </a:solidFill>
              </a:rPr>
              <a:t>1 word = 2 contiguous 8-bit bytes, i.e., 1 word = 16 bits</a:t>
            </a:r>
            <a:r>
              <a:rPr lang="en-US" sz="3600" dirty="0"/>
              <a:t>) by </a:t>
            </a:r>
            <a:r>
              <a:rPr lang="en-US" sz="3600" b="1" dirty="0">
                <a:solidFill>
                  <a:srgbClr val="0070C0"/>
                </a:solidFill>
              </a:rPr>
              <a:t>14-bit ROM</a:t>
            </a:r>
            <a:r>
              <a:rPr lang="en-US" sz="3600" dirty="0"/>
              <a:t>. </a:t>
            </a:r>
          </a:p>
          <a:p>
            <a:pPr marL="0" indent="0">
              <a:buNone/>
            </a:pPr>
            <a:r>
              <a:rPr lang="en-US" sz="3600" dirty="0"/>
              <a:t>The </a:t>
            </a:r>
            <a:r>
              <a:rPr lang="en-US" sz="3600" dirty="0">
                <a:solidFill>
                  <a:srgbClr val="0070C0"/>
                </a:solidFill>
              </a:rPr>
              <a:t>first 9 bits</a:t>
            </a:r>
            <a:r>
              <a:rPr lang="en-US" sz="3600" dirty="0">
                <a:solidFill>
                  <a:srgbClr val="FF0000"/>
                </a:solidFill>
              </a:rPr>
              <a:t> of a micro-instruction word</a:t>
            </a:r>
            <a:r>
              <a:rPr lang="en-US" sz="3600" dirty="0"/>
              <a:t> contain the </a:t>
            </a:r>
            <a:r>
              <a:rPr lang="en-US" sz="3600" dirty="0">
                <a:solidFill>
                  <a:srgbClr val="0070C0"/>
                </a:solidFill>
              </a:rPr>
              <a:t>control variables</a:t>
            </a:r>
            <a:r>
              <a:rPr lang="en-US" sz="3600" dirty="0"/>
              <a:t> that </a:t>
            </a:r>
            <a:r>
              <a:rPr lang="en-US" sz="3600" dirty="0">
                <a:solidFill>
                  <a:srgbClr val="FF0000"/>
                </a:solidFill>
              </a:rPr>
              <a:t>initiate the micro-operations</a:t>
            </a:r>
            <a:r>
              <a:rPr lang="en-US" sz="3600" dirty="0"/>
              <a:t>.</a:t>
            </a:r>
          </a:p>
          <a:p>
            <a:pPr marL="0" indent="0">
              <a:buNone/>
            </a:pPr>
            <a:r>
              <a:rPr lang="en-US" sz="3600" dirty="0"/>
              <a:t>The </a:t>
            </a:r>
            <a:r>
              <a:rPr lang="en-US" sz="3600" dirty="0">
                <a:solidFill>
                  <a:srgbClr val="0070C0"/>
                </a:solidFill>
              </a:rPr>
              <a:t>last 5 bits </a:t>
            </a:r>
            <a:r>
              <a:rPr lang="en-US" sz="3600" dirty="0">
                <a:solidFill>
                  <a:srgbClr val="FF0000"/>
                </a:solidFill>
              </a:rPr>
              <a:t>provide </a:t>
            </a:r>
            <a:r>
              <a:rPr lang="en-US" sz="3600" dirty="0">
                <a:solidFill>
                  <a:srgbClr val="0070C0"/>
                </a:solidFill>
              </a:rPr>
              <a:t>information to select the next address</a:t>
            </a:r>
            <a:r>
              <a:rPr lang="en-US" sz="3600" dirty="0"/>
              <a:t>. </a:t>
            </a:r>
          </a:p>
          <a:p>
            <a:pPr marL="0" indent="0">
              <a:buNone/>
            </a:pPr>
            <a:r>
              <a:rPr lang="en-US" sz="3600" dirty="0"/>
              <a:t>The </a:t>
            </a:r>
            <a:r>
              <a:rPr lang="en-US" sz="3600" dirty="0">
                <a:solidFill>
                  <a:srgbClr val="FC64D4"/>
                </a:solidFill>
              </a:rPr>
              <a:t>Control Address Register (</a:t>
            </a:r>
            <a:r>
              <a:rPr lang="en-US" sz="3600" b="1" dirty="0">
                <a:solidFill>
                  <a:srgbClr val="FC64D4"/>
                </a:solidFill>
              </a:rPr>
              <a:t>CAR</a:t>
            </a:r>
            <a:r>
              <a:rPr lang="en-US" sz="3600" dirty="0">
                <a:solidFill>
                  <a:srgbClr val="FC64D4"/>
                </a:solidFill>
              </a:rPr>
              <a:t>) </a:t>
            </a:r>
            <a:r>
              <a:rPr lang="en-US" sz="3600" dirty="0">
                <a:solidFill>
                  <a:srgbClr val="FF0000"/>
                </a:solidFill>
              </a:rPr>
              <a:t>holds the address for the control memory</a:t>
            </a:r>
            <a:r>
              <a:rPr lang="en-US" sz="3600" dirty="0"/>
              <a:t>. This register receives an input value when its load control is enabled; otherwise, it is incremented by 1. That is, </a:t>
            </a:r>
            <a:r>
              <a:rPr lang="en-US" sz="3600" dirty="0">
                <a:solidFill>
                  <a:srgbClr val="FF0000"/>
                </a:solidFill>
              </a:rPr>
              <a:t>CAR is a </a:t>
            </a:r>
            <a:r>
              <a:rPr lang="en-US" sz="3600" b="1" dirty="0">
                <a:solidFill>
                  <a:srgbClr val="0070C0"/>
                </a:solidFill>
              </a:rPr>
              <a:t>counter</a:t>
            </a:r>
            <a:r>
              <a:rPr lang="en-US" sz="3600" dirty="0">
                <a:solidFill>
                  <a:srgbClr val="FF0000"/>
                </a:solidFill>
              </a:rPr>
              <a:t> having parallel-load capability</a:t>
            </a:r>
            <a:r>
              <a:rPr lang="en-US" sz="3600" dirty="0"/>
              <a:t>.</a:t>
            </a:r>
          </a:p>
        </p:txBody>
      </p:sp>
      <p:sp>
        <p:nvSpPr>
          <p:cNvPr id="4" name="Date Placeholder 3"/>
          <p:cNvSpPr>
            <a:spLocks noGrp="1"/>
          </p:cNvSpPr>
          <p:nvPr>
            <p:ph type="dt" sz="half" idx="10"/>
          </p:nvPr>
        </p:nvSpPr>
        <p:spPr/>
        <p:txBody>
          <a:bodyPr/>
          <a:lstStyle/>
          <a:p>
            <a:fld id="{F0B4BD8E-D8B3-4657-85FD-EC7924227748}"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5</a:t>
            </a:fld>
            <a:endParaRPr lang="en-US" dirty="0"/>
          </a:p>
        </p:txBody>
      </p:sp>
      <p:pic>
        <p:nvPicPr>
          <p:cNvPr id="7" name="Content Placeholder 3">
            <a:extLst>
              <a:ext uri="{FF2B5EF4-FFF2-40B4-BE49-F238E27FC236}">
                <a16:creationId xmlns:a16="http://schemas.microsoft.com/office/drawing/2014/main" id="{958AB20A-3C81-80F5-A68A-1B2C3675962E}"/>
              </a:ext>
            </a:extLst>
          </p:cNvPr>
          <p:cNvPicPr>
            <a:picLocks noChangeAspect="1"/>
          </p:cNvPicPr>
          <p:nvPr/>
        </p:nvPicPr>
        <p:blipFill rotWithShape="1">
          <a:blip r:embed="rId2">
            <a:duotone>
              <a:schemeClr val="accent1">
                <a:shade val="45000"/>
                <a:satMod val="135000"/>
              </a:schemeClr>
              <a:prstClr val="white"/>
            </a:duotone>
            <a:lum bright="-20000" contrast="40000"/>
          </a:blip>
          <a:srcRect l="4931" t="2271" r="1780" b="1920"/>
          <a:stretch/>
        </p:blipFill>
        <p:spPr>
          <a:xfrm>
            <a:off x="9623127" y="1188720"/>
            <a:ext cx="6636568" cy="6635917"/>
          </a:xfrm>
          <a:prstGeom prst="rect">
            <a:avLst/>
          </a:prstGeom>
        </p:spPr>
      </p:pic>
      <p:sp>
        <p:nvSpPr>
          <p:cNvPr id="8" name="Left Brace 7">
            <a:extLst>
              <a:ext uri="{FF2B5EF4-FFF2-40B4-BE49-F238E27FC236}">
                <a16:creationId xmlns:a16="http://schemas.microsoft.com/office/drawing/2014/main" id="{5EA33DB7-65B8-CD78-223F-FACD7B1219F2}"/>
              </a:ext>
            </a:extLst>
          </p:cNvPr>
          <p:cNvSpPr/>
          <p:nvPr/>
        </p:nvSpPr>
        <p:spPr>
          <a:xfrm>
            <a:off x="14538960" y="2312126"/>
            <a:ext cx="326571" cy="2037805"/>
          </a:xfrm>
          <a:prstGeom prst="leftBrace">
            <a:avLst>
              <a:gd name="adj1" fmla="val 76333"/>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6D27424-B1C8-3CDC-E546-283BC0262DBC}"/>
              </a:ext>
            </a:extLst>
          </p:cNvPr>
          <p:cNvCxnSpPr>
            <a:cxnSpLocks/>
          </p:cNvCxnSpPr>
          <p:nvPr/>
        </p:nvCxnSpPr>
        <p:spPr>
          <a:xfrm>
            <a:off x="8101938" y="3030583"/>
            <a:ext cx="6437022" cy="3004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Left Brace 10">
            <a:extLst>
              <a:ext uri="{FF2B5EF4-FFF2-40B4-BE49-F238E27FC236}">
                <a16:creationId xmlns:a16="http://schemas.microsoft.com/office/drawing/2014/main" id="{5B91660E-680B-6CE0-5958-2FE998879EA7}"/>
              </a:ext>
            </a:extLst>
          </p:cNvPr>
          <p:cNvSpPr/>
          <p:nvPr/>
        </p:nvSpPr>
        <p:spPr>
          <a:xfrm>
            <a:off x="13959840" y="4389122"/>
            <a:ext cx="317863" cy="1267095"/>
          </a:xfrm>
          <a:prstGeom prst="leftBrace">
            <a:avLst>
              <a:gd name="adj1" fmla="val 64004"/>
              <a:gd name="adj2" fmla="val 54124"/>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9CE5D96-20C1-B8FD-E837-EEE6DBE79CED}"/>
              </a:ext>
            </a:extLst>
          </p:cNvPr>
          <p:cNvCxnSpPr>
            <a:cxnSpLocks/>
          </p:cNvCxnSpPr>
          <p:nvPr/>
        </p:nvCxnSpPr>
        <p:spPr>
          <a:xfrm>
            <a:off x="2801982" y="4980505"/>
            <a:ext cx="11157858" cy="42164"/>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50DF3D4-622C-8A48-1955-513A334327EA}"/>
              </a:ext>
            </a:extLst>
          </p:cNvPr>
          <p:cNvCxnSpPr>
            <a:cxnSpLocks/>
          </p:cNvCxnSpPr>
          <p:nvPr/>
        </p:nvCxnSpPr>
        <p:spPr>
          <a:xfrm flipV="1">
            <a:off x="8770394" y="4183380"/>
            <a:ext cx="4492760" cy="1472837"/>
          </a:xfrm>
          <a:prstGeom prst="straightConnector1">
            <a:avLst/>
          </a:prstGeom>
          <a:ln w="28575">
            <a:solidFill>
              <a:srgbClr val="FC64D4"/>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A707548-8AA7-9152-00E3-D38CE13375B3}"/>
              </a:ext>
            </a:extLst>
          </p:cNvPr>
          <p:cNvSpPr txBox="1"/>
          <p:nvPr/>
        </p:nvSpPr>
        <p:spPr>
          <a:xfrm>
            <a:off x="12701195" y="3095895"/>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0</a:t>
            </a:r>
          </a:p>
        </p:txBody>
      </p:sp>
      <p:sp>
        <p:nvSpPr>
          <p:cNvPr id="18" name="TextBox 17">
            <a:extLst>
              <a:ext uri="{FF2B5EF4-FFF2-40B4-BE49-F238E27FC236}">
                <a16:creationId xmlns:a16="http://schemas.microsoft.com/office/drawing/2014/main" id="{52BA2CCC-07E0-EBA5-E67F-10DFBB2796DB}"/>
              </a:ext>
            </a:extLst>
          </p:cNvPr>
          <p:cNvSpPr txBox="1"/>
          <p:nvPr/>
        </p:nvSpPr>
        <p:spPr>
          <a:xfrm>
            <a:off x="12701195" y="3603242"/>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1</a:t>
            </a:r>
          </a:p>
        </p:txBody>
      </p:sp>
      <p:sp>
        <p:nvSpPr>
          <p:cNvPr id="19" name="TextBox 18">
            <a:extLst>
              <a:ext uri="{FF2B5EF4-FFF2-40B4-BE49-F238E27FC236}">
                <a16:creationId xmlns:a16="http://schemas.microsoft.com/office/drawing/2014/main" id="{7184CCBC-9214-6EAC-9158-215DAB6AC001}"/>
              </a:ext>
            </a:extLst>
          </p:cNvPr>
          <p:cNvSpPr txBox="1"/>
          <p:nvPr/>
        </p:nvSpPr>
        <p:spPr>
          <a:xfrm>
            <a:off x="12701195" y="4095851"/>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2</a:t>
            </a:r>
          </a:p>
        </p:txBody>
      </p:sp>
    </p:spTree>
    <p:extLst>
      <p:ext uri="{BB962C8B-B14F-4D97-AF65-F5344CB8AC3E}">
        <p14:creationId xmlns:p14="http://schemas.microsoft.com/office/powerpoint/2010/main" val="405157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665028" y="155523"/>
            <a:ext cx="7648790" cy="891882"/>
          </a:xfrm>
        </p:spPr>
        <p:txBody>
          <a:bodyPr>
            <a:normAutofit fontScale="90000"/>
          </a:bodyPr>
          <a:lstStyle/>
          <a:p>
            <a:r>
              <a:rPr lang="en-US" sz="6000" b="1" dirty="0">
                <a:solidFill>
                  <a:srgbClr val="0070C0"/>
                </a:solidFill>
              </a:rPr>
              <a:t>Hardware Configuration</a:t>
            </a:r>
            <a:endParaRPr lang="en-US" sz="60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216132" y="1047404"/>
            <a:ext cx="9097686" cy="6872229"/>
          </a:xfrm>
        </p:spPr>
        <p:txBody>
          <a:bodyPr>
            <a:noAutofit/>
          </a:bodyPr>
          <a:lstStyle/>
          <a:p>
            <a:pPr marL="0" indent="0">
              <a:buNone/>
            </a:pPr>
            <a:r>
              <a:rPr lang="en-US" sz="3600" dirty="0">
                <a:solidFill>
                  <a:srgbClr val="FC64D4"/>
                </a:solidFill>
              </a:rPr>
              <a:t>Bits 10, 11, and 12 </a:t>
            </a:r>
            <a:r>
              <a:rPr lang="en-US" sz="3600" dirty="0"/>
              <a:t>of a micro-instruction contain an address for the CAR.</a:t>
            </a:r>
          </a:p>
          <a:p>
            <a:pPr marL="0" indent="0">
              <a:buNone/>
            </a:pPr>
            <a:r>
              <a:rPr lang="en-US" sz="3600" dirty="0">
                <a:solidFill>
                  <a:srgbClr val="FF0000"/>
                </a:solidFill>
              </a:rPr>
              <a:t>Bits 13 and 14 select an input for a multiplexer</a:t>
            </a:r>
            <a:r>
              <a:rPr lang="en-US" sz="3600" dirty="0"/>
              <a:t>.</a:t>
            </a:r>
          </a:p>
          <a:p>
            <a:pPr marL="0" indent="0">
              <a:buNone/>
            </a:pPr>
            <a:r>
              <a:rPr lang="en-US" sz="3600" dirty="0"/>
              <a:t>Bit 1 provides the initial state condition denoted by a variable </a:t>
            </a:r>
            <a:r>
              <a:rPr lang="en-US" sz="3600" i="1" dirty="0"/>
              <a:t>x</a:t>
            </a:r>
            <a:r>
              <a:rPr lang="en-US" sz="3600" dirty="0"/>
              <a:t> and also enables an external address when </a:t>
            </a:r>
            <a:r>
              <a:rPr lang="en-US" sz="3600" i="1" dirty="0" err="1"/>
              <a:t>q</a:t>
            </a:r>
            <a:r>
              <a:rPr lang="en-US" sz="3600" i="1" baseline="-25000" dirty="0" err="1"/>
              <a:t>s</a:t>
            </a:r>
            <a:r>
              <a:rPr lang="en-US" sz="3600" dirty="0"/>
              <a:t> and </a:t>
            </a:r>
            <a:r>
              <a:rPr lang="en-US" sz="3600" i="1" dirty="0" err="1"/>
              <a:t>q</a:t>
            </a:r>
            <a:r>
              <a:rPr lang="en-US" sz="3600" i="1" baseline="-25000" dirty="0" err="1"/>
              <a:t>a</a:t>
            </a:r>
            <a:r>
              <a:rPr lang="en-US" sz="3600" dirty="0"/>
              <a:t> are equal to 1.</a:t>
            </a:r>
          </a:p>
          <a:p>
            <a:pPr marL="0" indent="0">
              <a:buNone/>
            </a:pPr>
            <a:r>
              <a:rPr lang="en-US" sz="3600" dirty="0">
                <a:solidFill>
                  <a:srgbClr val="FF0000"/>
                </a:solidFill>
              </a:rPr>
              <a:t>We stipulate that when </a:t>
            </a:r>
            <a:r>
              <a:rPr lang="en-US" sz="3600" i="1" dirty="0">
                <a:solidFill>
                  <a:srgbClr val="FF0000"/>
                </a:solidFill>
              </a:rPr>
              <a:t>x</a:t>
            </a:r>
            <a:r>
              <a:rPr lang="en-US" sz="3600" dirty="0">
                <a:solidFill>
                  <a:srgbClr val="FF0000"/>
                </a:solidFill>
              </a:rPr>
              <a:t> = 1, the address field of the micro-instruction must be 000. </a:t>
            </a:r>
          </a:p>
          <a:p>
            <a:pPr marL="0" indent="0">
              <a:buNone/>
            </a:pPr>
            <a:r>
              <a:rPr lang="en-US" sz="3600" dirty="0">
                <a:solidFill>
                  <a:srgbClr val="FF0000"/>
                </a:solidFill>
              </a:rPr>
              <a:t>If both </a:t>
            </a:r>
            <a:r>
              <a:rPr lang="en-US" sz="3600" i="1" dirty="0" err="1">
                <a:solidFill>
                  <a:srgbClr val="FF0000"/>
                </a:solidFill>
              </a:rPr>
              <a:t>q</a:t>
            </a:r>
            <a:r>
              <a:rPr lang="en-US" sz="3600" i="1" baseline="-25000" dirty="0" err="1">
                <a:solidFill>
                  <a:srgbClr val="FF0000"/>
                </a:solidFill>
              </a:rPr>
              <a:t>s</a:t>
            </a:r>
            <a:r>
              <a:rPr lang="en-US" sz="3600" dirty="0">
                <a:solidFill>
                  <a:srgbClr val="FF0000"/>
                </a:solidFill>
              </a:rPr>
              <a:t> and </a:t>
            </a:r>
            <a:r>
              <a:rPr lang="en-US" sz="3600" i="1" dirty="0" err="1">
                <a:solidFill>
                  <a:srgbClr val="FF0000"/>
                </a:solidFill>
              </a:rPr>
              <a:t>q</a:t>
            </a:r>
            <a:r>
              <a:rPr lang="en-US" sz="3600" i="1" baseline="-25000" dirty="0" err="1">
                <a:solidFill>
                  <a:srgbClr val="FF0000"/>
                </a:solidFill>
              </a:rPr>
              <a:t>a</a:t>
            </a:r>
            <a:r>
              <a:rPr lang="en-US" sz="3600" dirty="0">
                <a:solidFill>
                  <a:srgbClr val="FF0000"/>
                </a:solidFill>
              </a:rPr>
              <a:t> are zero</a:t>
            </a:r>
            <a:r>
              <a:rPr lang="en-US" sz="3600" dirty="0"/>
              <a:t>, addresses from bits </a:t>
            </a:r>
            <a:r>
              <a:rPr lang="en-US" sz="3600" dirty="0">
                <a:solidFill>
                  <a:srgbClr val="FF0000"/>
                </a:solidFill>
              </a:rPr>
              <a:t>10, 11, and 12 </a:t>
            </a:r>
            <a:r>
              <a:rPr lang="en-US" sz="3600" dirty="0"/>
              <a:t>are applied to the inputs of CAR. In this way, the control memory stays at address zero until an external variable is enabled.</a:t>
            </a:r>
          </a:p>
        </p:txBody>
      </p:sp>
      <p:sp>
        <p:nvSpPr>
          <p:cNvPr id="4" name="Date Placeholder 3"/>
          <p:cNvSpPr>
            <a:spLocks noGrp="1"/>
          </p:cNvSpPr>
          <p:nvPr>
            <p:ph type="dt" sz="half" idx="10"/>
          </p:nvPr>
        </p:nvSpPr>
        <p:spPr/>
        <p:txBody>
          <a:bodyPr/>
          <a:lstStyle/>
          <a:p>
            <a:fld id="{7D23D2F7-B1FF-4031-B306-55F7B2083B8E}"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6</a:t>
            </a:fld>
            <a:endParaRPr lang="en-US" dirty="0"/>
          </a:p>
        </p:txBody>
      </p:sp>
      <p:pic>
        <p:nvPicPr>
          <p:cNvPr id="7" name="Content Placeholder 3">
            <a:extLst>
              <a:ext uri="{FF2B5EF4-FFF2-40B4-BE49-F238E27FC236}">
                <a16:creationId xmlns:a16="http://schemas.microsoft.com/office/drawing/2014/main" id="{CF748C0B-6F96-2D96-9ECE-4068B8AAF8A9}"/>
              </a:ext>
            </a:extLst>
          </p:cNvPr>
          <p:cNvPicPr>
            <a:picLocks noChangeAspect="1"/>
          </p:cNvPicPr>
          <p:nvPr/>
        </p:nvPicPr>
        <p:blipFill rotWithShape="1">
          <a:blip r:embed="rId2">
            <a:duotone>
              <a:schemeClr val="accent1">
                <a:shade val="45000"/>
                <a:satMod val="135000"/>
              </a:schemeClr>
              <a:prstClr val="white"/>
            </a:duotone>
            <a:lum bright="-20000" contrast="40000"/>
          </a:blip>
          <a:srcRect l="4931" t="2271" r="1780" b="1920"/>
          <a:stretch/>
        </p:blipFill>
        <p:spPr>
          <a:xfrm>
            <a:off x="9313818" y="640080"/>
            <a:ext cx="6945877" cy="7184558"/>
          </a:xfrm>
          <a:prstGeom prst="rect">
            <a:avLst/>
          </a:prstGeom>
        </p:spPr>
      </p:pic>
      <p:sp>
        <p:nvSpPr>
          <p:cNvPr id="8" name="TextBox 7">
            <a:extLst>
              <a:ext uri="{FF2B5EF4-FFF2-40B4-BE49-F238E27FC236}">
                <a16:creationId xmlns:a16="http://schemas.microsoft.com/office/drawing/2014/main" id="{09587C7A-5136-A4E3-95E4-61B5539D7A2B}"/>
              </a:ext>
            </a:extLst>
          </p:cNvPr>
          <p:cNvSpPr txBox="1"/>
          <p:nvPr/>
        </p:nvSpPr>
        <p:spPr>
          <a:xfrm>
            <a:off x="15154908" y="1613967"/>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9" name="TextBox 8">
            <a:extLst>
              <a:ext uri="{FF2B5EF4-FFF2-40B4-BE49-F238E27FC236}">
                <a16:creationId xmlns:a16="http://schemas.microsoft.com/office/drawing/2014/main" id="{F7283380-39F0-3164-4562-C3041A1CFB5F}"/>
              </a:ext>
            </a:extLst>
          </p:cNvPr>
          <p:cNvSpPr txBox="1"/>
          <p:nvPr/>
        </p:nvSpPr>
        <p:spPr>
          <a:xfrm>
            <a:off x="10487113" y="404962"/>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10" name="TextBox 9">
            <a:extLst>
              <a:ext uri="{FF2B5EF4-FFF2-40B4-BE49-F238E27FC236}">
                <a16:creationId xmlns:a16="http://schemas.microsoft.com/office/drawing/2014/main" id="{3EF306BF-6FE5-8B0F-F6AB-FAC7ED16219F}"/>
              </a:ext>
            </a:extLst>
          </p:cNvPr>
          <p:cNvSpPr txBox="1"/>
          <p:nvPr/>
        </p:nvSpPr>
        <p:spPr>
          <a:xfrm>
            <a:off x="10110284" y="6181613"/>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11" name="TextBox 10">
            <a:extLst>
              <a:ext uri="{FF2B5EF4-FFF2-40B4-BE49-F238E27FC236}">
                <a16:creationId xmlns:a16="http://schemas.microsoft.com/office/drawing/2014/main" id="{81A136F5-7C15-6F48-997A-116BCFF10D05}"/>
              </a:ext>
            </a:extLst>
          </p:cNvPr>
          <p:cNvSpPr txBox="1"/>
          <p:nvPr/>
        </p:nvSpPr>
        <p:spPr>
          <a:xfrm>
            <a:off x="14935215" y="3987789"/>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2" name="TextBox 11">
            <a:extLst>
              <a:ext uri="{FF2B5EF4-FFF2-40B4-BE49-F238E27FC236}">
                <a16:creationId xmlns:a16="http://schemas.microsoft.com/office/drawing/2014/main" id="{379C64FE-49CA-78E5-EFB2-11910A5B4E51}"/>
              </a:ext>
            </a:extLst>
          </p:cNvPr>
          <p:cNvSpPr txBox="1"/>
          <p:nvPr/>
        </p:nvSpPr>
        <p:spPr>
          <a:xfrm>
            <a:off x="14935215" y="4241810"/>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3" name="TextBox 12">
            <a:extLst>
              <a:ext uri="{FF2B5EF4-FFF2-40B4-BE49-F238E27FC236}">
                <a16:creationId xmlns:a16="http://schemas.microsoft.com/office/drawing/2014/main" id="{35BDB07F-65E7-1B85-02CA-91B26EB5695E}"/>
              </a:ext>
            </a:extLst>
          </p:cNvPr>
          <p:cNvSpPr txBox="1"/>
          <p:nvPr/>
        </p:nvSpPr>
        <p:spPr>
          <a:xfrm flipV="1">
            <a:off x="15076539" y="4537903"/>
            <a:ext cx="182865"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4" name="TextBox 13">
            <a:extLst>
              <a:ext uri="{FF2B5EF4-FFF2-40B4-BE49-F238E27FC236}">
                <a16:creationId xmlns:a16="http://schemas.microsoft.com/office/drawing/2014/main" id="{37EDC989-9CC4-06AC-2A94-3F5AF62C4BB0}"/>
              </a:ext>
            </a:extLst>
          </p:cNvPr>
          <p:cNvSpPr txBox="1"/>
          <p:nvPr/>
        </p:nvSpPr>
        <p:spPr>
          <a:xfrm flipV="1">
            <a:off x="11973133" y="3725122"/>
            <a:ext cx="182865"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5" name="TextBox 14">
            <a:extLst>
              <a:ext uri="{FF2B5EF4-FFF2-40B4-BE49-F238E27FC236}">
                <a16:creationId xmlns:a16="http://schemas.microsoft.com/office/drawing/2014/main" id="{8402ED18-1600-2B4F-F881-69FBFABA66FC}"/>
              </a:ext>
            </a:extLst>
          </p:cNvPr>
          <p:cNvSpPr txBox="1"/>
          <p:nvPr/>
        </p:nvSpPr>
        <p:spPr>
          <a:xfrm>
            <a:off x="11831809" y="3226523"/>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6" name="TextBox 15">
            <a:extLst>
              <a:ext uri="{FF2B5EF4-FFF2-40B4-BE49-F238E27FC236}">
                <a16:creationId xmlns:a16="http://schemas.microsoft.com/office/drawing/2014/main" id="{2B0AFEDB-88E9-C932-3420-DCEDD855AD27}"/>
              </a:ext>
            </a:extLst>
          </p:cNvPr>
          <p:cNvSpPr txBox="1"/>
          <p:nvPr/>
        </p:nvSpPr>
        <p:spPr>
          <a:xfrm>
            <a:off x="11831809" y="2680427"/>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7" name="TextBox 16">
            <a:extLst>
              <a:ext uri="{FF2B5EF4-FFF2-40B4-BE49-F238E27FC236}">
                <a16:creationId xmlns:a16="http://schemas.microsoft.com/office/drawing/2014/main" id="{E542AE47-0C79-424A-EA9A-408EF0D3F731}"/>
              </a:ext>
            </a:extLst>
          </p:cNvPr>
          <p:cNvSpPr txBox="1"/>
          <p:nvPr/>
        </p:nvSpPr>
        <p:spPr>
          <a:xfrm>
            <a:off x="10468492" y="2846626"/>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8" name="TextBox 17">
            <a:extLst>
              <a:ext uri="{FF2B5EF4-FFF2-40B4-BE49-F238E27FC236}">
                <a16:creationId xmlns:a16="http://schemas.microsoft.com/office/drawing/2014/main" id="{68F64A2B-7C9A-0EA1-0526-652F57914241}"/>
              </a:ext>
            </a:extLst>
          </p:cNvPr>
          <p:cNvSpPr txBox="1"/>
          <p:nvPr/>
        </p:nvSpPr>
        <p:spPr>
          <a:xfrm>
            <a:off x="9786834" y="283577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9" name="TextBox 18">
            <a:extLst>
              <a:ext uri="{FF2B5EF4-FFF2-40B4-BE49-F238E27FC236}">
                <a16:creationId xmlns:a16="http://schemas.microsoft.com/office/drawing/2014/main" id="{3E082E3A-CEAD-7DCD-BA32-BE5AD8E6619D}"/>
              </a:ext>
            </a:extLst>
          </p:cNvPr>
          <p:cNvSpPr txBox="1"/>
          <p:nvPr/>
        </p:nvSpPr>
        <p:spPr>
          <a:xfrm>
            <a:off x="11158869" y="426982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0" name="TextBox 19">
            <a:extLst>
              <a:ext uri="{FF2B5EF4-FFF2-40B4-BE49-F238E27FC236}">
                <a16:creationId xmlns:a16="http://schemas.microsoft.com/office/drawing/2014/main" id="{0F88670E-B0C3-A457-BDB1-7AE9F8DE6B8C}"/>
              </a:ext>
            </a:extLst>
          </p:cNvPr>
          <p:cNvSpPr txBox="1"/>
          <p:nvPr/>
        </p:nvSpPr>
        <p:spPr>
          <a:xfrm>
            <a:off x="9770831" y="426982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1" name="TextBox 20">
            <a:extLst>
              <a:ext uri="{FF2B5EF4-FFF2-40B4-BE49-F238E27FC236}">
                <a16:creationId xmlns:a16="http://schemas.microsoft.com/office/drawing/2014/main" id="{39873082-E6EF-A06D-5689-F7699866DFAE}"/>
              </a:ext>
            </a:extLst>
          </p:cNvPr>
          <p:cNvSpPr txBox="1"/>
          <p:nvPr/>
        </p:nvSpPr>
        <p:spPr>
          <a:xfrm>
            <a:off x="10575796" y="5444831"/>
            <a:ext cx="465512" cy="332399"/>
          </a:xfrm>
          <a:prstGeom prst="rect">
            <a:avLst/>
          </a:prstGeom>
          <a:noFill/>
        </p:spPr>
        <p:txBody>
          <a:bodyPr wrap="square" lIns="0" tIns="0" rIns="0" bIns="0" rtlCol="0">
            <a:spAutoFit/>
          </a:bodyPr>
          <a:lstStyle/>
          <a:p>
            <a:pPr algn="ctr"/>
            <a:r>
              <a:rPr lang="en-US" sz="2160" i="1" dirty="0" err="1">
                <a:solidFill>
                  <a:srgbClr val="FF0000"/>
                </a:solidFill>
              </a:rPr>
              <a:t>q</a:t>
            </a:r>
            <a:r>
              <a:rPr lang="en-US" sz="2160" i="1" baseline="-25000" dirty="0" err="1">
                <a:solidFill>
                  <a:srgbClr val="FF0000"/>
                </a:solidFill>
              </a:rPr>
              <a:t>a</a:t>
            </a:r>
            <a:endParaRPr lang="en-US" sz="2160" i="1" baseline="-25000" dirty="0">
              <a:solidFill>
                <a:srgbClr val="FF0000"/>
              </a:solidFill>
            </a:endParaRPr>
          </a:p>
        </p:txBody>
      </p:sp>
      <p:sp>
        <p:nvSpPr>
          <p:cNvPr id="22" name="TextBox 21">
            <a:extLst>
              <a:ext uri="{FF2B5EF4-FFF2-40B4-BE49-F238E27FC236}">
                <a16:creationId xmlns:a16="http://schemas.microsoft.com/office/drawing/2014/main" id="{23D65379-95F5-C8C2-1C81-78073A4DCB5B}"/>
              </a:ext>
            </a:extLst>
          </p:cNvPr>
          <p:cNvSpPr txBox="1"/>
          <p:nvPr/>
        </p:nvSpPr>
        <p:spPr>
          <a:xfrm>
            <a:off x="10486125" y="4231993"/>
            <a:ext cx="465512" cy="332399"/>
          </a:xfrm>
          <a:prstGeom prst="rect">
            <a:avLst/>
          </a:prstGeom>
          <a:noFill/>
        </p:spPr>
        <p:txBody>
          <a:bodyPr wrap="square" lIns="0" tIns="0" rIns="0" bIns="0" rtlCol="0">
            <a:spAutoFit/>
          </a:bodyPr>
          <a:lstStyle/>
          <a:p>
            <a:pPr algn="ctr"/>
            <a:r>
              <a:rPr lang="en-US" sz="2160" i="1" dirty="0" err="1">
                <a:solidFill>
                  <a:srgbClr val="FF0000"/>
                </a:solidFill>
              </a:rPr>
              <a:t>q</a:t>
            </a:r>
            <a:r>
              <a:rPr lang="en-US" sz="2160" i="1" baseline="-25000" dirty="0" err="1">
                <a:solidFill>
                  <a:srgbClr val="FF0000"/>
                </a:solidFill>
              </a:rPr>
              <a:t>a</a:t>
            </a:r>
            <a:endParaRPr lang="en-US" sz="2160" i="1" baseline="-25000" dirty="0">
              <a:solidFill>
                <a:srgbClr val="FF0000"/>
              </a:solidFill>
            </a:endParaRPr>
          </a:p>
        </p:txBody>
      </p:sp>
      <p:sp>
        <p:nvSpPr>
          <p:cNvPr id="23" name="TextBox 22">
            <a:extLst>
              <a:ext uri="{FF2B5EF4-FFF2-40B4-BE49-F238E27FC236}">
                <a16:creationId xmlns:a16="http://schemas.microsoft.com/office/drawing/2014/main" id="{5273A2FC-65A0-AEBA-E070-7EDF793929AA}"/>
              </a:ext>
            </a:extLst>
          </p:cNvPr>
          <p:cNvSpPr txBox="1"/>
          <p:nvPr/>
        </p:nvSpPr>
        <p:spPr>
          <a:xfrm>
            <a:off x="12554000" y="3226523"/>
            <a:ext cx="465512" cy="332399"/>
          </a:xfrm>
          <a:prstGeom prst="rect">
            <a:avLst/>
          </a:prstGeom>
          <a:noFill/>
        </p:spPr>
        <p:txBody>
          <a:bodyPr wrap="square" lIns="0" tIns="0" rIns="0" bIns="0" rtlCol="0">
            <a:spAutoFit/>
          </a:bodyPr>
          <a:lstStyle/>
          <a:p>
            <a:pPr algn="ctr"/>
            <a:r>
              <a:rPr lang="en-US" sz="2160" i="1" dirty="0" err="1">
                <a:solidFill>
                  <a:srgbClr val="FF0000"/>
                </a:solidFill>
              </a:rPr>
              <a:t>q</a:t>
            </a:r>
            <a:r>
              <a:rPr lang="en-US" sz="2160" i="1" baseline="-25000" dirty="0" err="1">
                <a:solidFill>
                  <a:srgbClr val="FF0000"/>
                </a:solidFill>
              </a:rPr>
              <a:t>a</a:t>
            </a:r>
            <a:endParaRPr lang="en-US" sz="2160" i="1" baseline="-25000" dirty="0">
              <a:solidFill>
                <a:srgbClr val="FF0000"/>
              </a:solidFill>
            </a:endParaRPr>
          </a:p>
        </p:txBody>
      </p:sp>
      <p:sp>
        <p:nvSpPr>
          <p:cNvPr id="24" name="TextBox 23">
            <a:extLst>
              <a:ext uri="{FF2B5EF4-FFF2-40B4-BE49-F238E27FC236}">
                <a16:creationId xmlns:a16="http://schemas.microsoft.com/office/drawing/2014/main" id="{91FB9F3D-D687-7F1C-2136-7E845C9B89F7}"/>
              </a:ext>
            </a:extLst>
          </p:cNvPr>
          <p:cNvSpPr txBox="1"/>
          <p:nvPr/>
        </p:nvSpPr>
        <p:spPr>
          <a:xfrm>
            <a:off x="12513467" y="2747519"/>
            <a:ext cx="465512" cy="332399"/>
          </a:xfrm>
          <a:prstGeom prst="rect">
            <a:avLst/>
          </a:prstGeom>
          <a:noFill/>
        </p:spPr>
        <p:txBody>
          <a:bodyPr wrap="square" lIns="0" tIns="0" rIns="0" bIns="0" rtlCol="0">
            <a:spAutoFit/>
          </a:bodyPr>
          <a:lstStyle/>
          <a:p>
            <a:pPr algn="ctr"/>
            <a:r>
              <a:rPr lang="en-US" sz="2160" i="1" dirty="0" err="1">
                <a:solidFill>
                  <a:srgbClr val="FF0000"/>
                </a:solidFill>
              </a:rPr>
              <a:t>q</a:t>
            </a:r>
            <a:r>
              <a:rPr lang="en-US" sz="2160" i="1" baseline="-25000" dirty="0" err="1">
                <a:solidFill>
                  <a:srgbClr val="FF0000"/>
                </a:solidFill>
              </a:rPr>
              <a:t>s</a:t>
            </a:r>
            <a:endParaRPr lang="en-US" sz="2160" i="1" baseline="-25000" dirty="0">
              <a:solidFill>
                <a:srgbClr val="FF0000"/>
              </a:solidFill>
            </a:endParaRPr>
          </a:p>
        </p:txBody>
      </p:sp>
      <p:sp>
        <p:nvSpPr>
          <p:cNvPr id="25" name="TextBox 24">
            <a:extLst>
              <a:ext uri="{FF2B5EF4-FFF2-40B4-BE49-F238E27FC236}">
                <a16:creationId xmlns:a16="http://schemas.microsoft.com/office/drawing/2014/main" id="{D8C803BE-3C47-EA82-9B23-62C3C64EB8E0}"/>
              </a:ext>
            </a:extLst>
          </p:cNvPr>
          <p:cNvSpPr txBox="1"/>
          <p:nvPr/>
        </p:nvSpPr>
        <p:spPr>
          <a:xfrm>
            <a:off x="12525743" y="3773433"/>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6" name="TextBox 25">
            <a:extLst>
              <a:ext uri="{FF2B5EF4-FFF2-40B4-BE49-F238E27FC236}">
                <a16:creationId xmlns:a16="http://schemas.microsoft.com/office/drawing/2014/main" id="{FDA602EB-F4B3-9A61-FD7C-1FABEF3F71B5}"/>
              </a:ext>
            </a:extLst>
          </p:cNvPr>
          <p:cNvSpPr txBox="1"/>
          <p:nvPr/>
        </p:nvSpPr>
        <p:spPr>
          <a:xfrm>
            <a:off x="13250891" y="4366613"/>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29" name="TextBox 28">
            <a:extLst>
              <a:ext uri="{FF2B5EF4-FFF2-40B4-BE49-F238E27FC236}">
                <a16:creationId xmlns:a16="http://schemas.microsoft.com/office/drawing/2014/main" id="{FF5E05BC-0CBE-0A2C-54D2-9A9255F004F9}"/>
              </a:ext>
            </a:extLst>
          </p:cNvPr>
          <p:cNvSpPr txBox="1"/>
          <p:nvPr/>
        </p:nvSpPr>
        <p:spPr>
          <a:xfrm>
            <a:off x="13444986" y="3248156"/>
            <a:ext cx="465512" cy="332399"/>
          </a:xfrm>
          <a:prstGeom prst="rect">
            <a:avLst/>
          </a:prstGeom>
          <a:noFill/>
        </p:spPr>
        <p:txBody>
          <a:bodyPr wrap="square" lIns="0" tIns="0" rIns="0" bIns="0" rtlCol="0">
            <a:spAutoFit/>
          </a:bodyPr>
          <a:lstStyle/>
          <a:p>
            <a:pPr algn="ctr"/>
            <a:r>
              <a:rPr lang="en-US" sz="2160" i="1" dirty="0" err="1">
                <a:solidFill>
                  <a:srgbClr val="FF0000"/>
                </a:solidFill>
              </a:rPr>
              <a:t>q</a:t>
            </a:r>
            <a:r>
              <a:rPr lang="en-US" sz="2160" i="1" baseline="-25000" dirty="0" err="1">
                <a:solidFill>
                  <a:srgbClr val="FF0000"/>
                </a:solidFill>
              </a:rPr>
              <a:t>a</a:t>
            </a:r>
            <a:endParaRPr lang="en-US" sz="2160" i="1" baseline="-25000" dirty="0">
              <a:solidFill>
                <a:srgbClr val="FF0000"/>
              </a:solidFill>
            </a:endParaRPr>
          </a:p>
        </p:txBody>
      </p:sp>
      <p:sp>
        <p:nvSpPr>
          <p:cNvPr id="30" name="TextBox 29">
            <a:extLst>
              <a:ext uri="{FF2B5EF4-FFF2-40B4-BE49-F238E27FC236}">
                <a16:creationId xmlns:a16="http://schemas.microsoft.com/office/drawing/2014/main" id="{67E41608-687E-13EA-7648-BB184993F4D6}"/>
              </a:ext>
            </a:extLst>
          </p:cNvPr>
          <p:cNvSpPr txBox="1"/>
          <p:nvPr/>
        </p:nvSpPr>
        <p:spPr>
          <a:xfrm>
            <a:off x="13404453" y="2769152"/>
            <a:ext cx="465512" cy="332399"/>
          </a:xfrm>
          <a:prstGeom prst="rect">
            <a:avLst/>
          </a:prstGeom>
          <a:noFill/>
        </p:spPr>
        <p:txBody>
          <a:bodyPr wrap="square" lIns="0" tIns="0" rIns="0" bIns="0" rtlCol="0">
            <a:spAutoFit/>
          </a:bodyPr>
          <a:lstStyle/>
          <a:p>
            <a:pPr algn="ctr"/>
            <a:r>
              <a:rPr lang="en-US" sz="2160" i="1" dirty="0" err="1">
                <a:solidFill>
                  <a:srgbClr val="FF0000"/>
                </a:solidFill>
              </a:rPr>
              <a:t>q</a:t>
            </a:r>
            <a:r>
              <a:rPr lang="en-US" sz="2160" i="1" baseline="-25000" dirty="0" err="1">
                <a:solidFill>
                  <a:srgbClr val="FF0000"/>
                </a:solidFill>
              </a:rPr>
              <a:t>s</a:t>
            </a:r>
            <a:endParaRPr lang="en-US" sz="2160" baseline="-25000" dirty="0">
              <a:solidFill>
                <a:srgbClr val="FF0000"/>
              </a:solidFill>
            </a:endParaRPr>
          </a:p>
        </p:txBody>
      </p:sp>
      <p:sp>
        <p:nvSpPr>
          <p:cNvPr id="31" name="TextBox 30">
            <a:extLst>
              <a:ext uri="{FF2B5EF4-FFF2-40B4-BE49-F238E27FC236}">
                <a16:creationId xmlns:a16="http://schemas.microsoft.com/office/drawing/2014/main" id="{93ED135B-2A01-218A-4CDE-1AFAE0EB3698}"/>
              </a:ext>
            </a:extLst>
          </p:cNvPr>
          <p:cNvSpPr txBox="1"/>
          <p:nvPr/>
        </p:nvSpPr>
        <p:spPr>
          <a:xfrm>
            <a:off x="13416729" y="3795066"/>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cxnSp>
        <p:nvCxnSpPr>
          <p:cNvPr id="32" name="Straight Arrow Connector 31">
            <a:extLst>
              <a:ext uri="{FF2B5EF4-FFF2-40B4-BE49-F238E27FC236}">
                <a16:creationId xmlns:a16="http://schemas.microsoft.com/office/drawing/2014/main" id="{6C4ACD3D-134D-02AF-321D-29E26891E2FD}"/>
              </a:ext>
            </a:extLst>
          </p:cNvPr>
          <p:cNvCxnSpPr>
            <a:cxnSpLocks/>
          </p:cNvCxnSpPr>
          <p:nvPr/>
        </p:nvCxnSpPr>
        <p:spPr>
          <a:xfrm>
            <a:off x="6208488" y="1793658"/>
            <a:ext cx="7847146" cy="2739154"/>
          </a:xfrm>
          <a:prstGeom prst="straightConnector1">
            <a:avLst/>
          </a:prstGeom>
          <a:ln w="28575">
            <a:solidFill>
              <a:srgbClr val="FC64D4"/>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8603B17-77F4-4CEE-B52C-677EC28E7B32}"/>
              </a:ext>
            </a:extLst>
          </p:cNvPr>
          <p:cNvCxnSpPr>
            <a:cxnSpLocks/>
          </p:cNvCxnSpPr>
          <p:nvPr/>
        </p:nvCxnSpPr>
        <p:spPr>
          <a:xfrm>
            <a:off x="6884979" y="2652726"/>
            <a:ext cx="7191268" cy="25392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34A96B8A-9F7B-8190-CC26-0F9BF179B666}"/>
              </a:ext>
            </a:extLst>
          </p:cNvPr>
          <p:cNvSpPr txBox="1"/>
          <p:nvPr/>
        </p:nvSpPr>
        <p:spPr>
          <a:xfrm>
            <a:off x="10584086" y="1520893"/>
            <a:ext cx="465512" cy="332399"/>
          </a:xfrm>
          <a:prstGeom prst="rect">
            <a:avLst/>
          </a:prstGeom>
          <a:noFill/>
        </p:spPr>
        <p:txBody>
          <a:bodyPr wrap="square" lIns="0" tIns="0" rIns="0" bIns="0" rtlCol="0">
            <a:spAutoFit/>
          </a:bodyPr>
          <a:lstStyle/>
          <a:p>
            <a:pPr algn="ctr"/>
            <a:r>
              <a:rPr lang="en-US" sz="2160" i="1" dirty="0" err="1">
                <a:solidFill>
                  <a:srgbClr val="FF0000"/>
                </a:solidFill>
              </a:rPr>
              <a:t>q</a:t>
            </a:r>
            <a:r>
              <a:rPr lang="en-US" sz="2160" i="1" baseline="-25000" dirty="0" err="1">
                <a:solidFill>
                  <a:srgbClr val="FF0000"/>
                </a:solidFill>
              </a:rPr>
              <a:t>s</a:t>
            </a:r>
            <a:endParaRPr lang="en-US" sz="2160" i="1" baseline="-25000" dirty="0">
              <a:solidFill>
                <a:srgbClr val="FF0000"/>
              </a:solidFill>
            </a:endParaRPr>
          </a:p>
        </p:txBody>
      </p:sp>
      <p:sp>
        <p:nvSpPr>
          <p:cNvPr id="27" name="TextBox 26">
            <a:extLst>
              <a:ext uri="{FF2B5EF4-FFF2-40B4-BE49-F238E27FC236}">
                <a16:creationId xmlns:a16="http://schemas.microsoft.com/office/drawing/2014/main" id="{4694E77E-0B82-2D3C-D2D5-39D8FCBC747E}"/>
              </a:ext>
            </a:extLst>
          </p:cNvPr>
          <p:cNvSpPr txBox="1"/>
          <p:nvPr/>
        </p:nvSpPr>
        <p:spPr>
          <a:xfrm>
            <a:off x="11188987" y="2746442"/>
            <a:ext cx="465512" cy="332399"/>
          </a:xfrm>
          <a:prstGeom prst="rect">
            <a:avLst/>
          </a:prstGeom>
          <a:noFill/>
        </p:spPr>
        <p:txBody>
          <a:bodyPr wrap="square" lIns="0" tIns="0" rIns="0" bIns="0" rtlCol="0">
            <a:spAutoFit/>
          </a:bodyPr>
          <a:lstStyle/>
          <a:p>
            <a:pPr algn="ctr"/>
            <a:r>
              <a:rPr lang="en-US" sz="2160" i="1" dirty="0" err="1">
                <a:solidFill>
                  <a:srgbClr val="FF0000"/>
                </a:solidFill>
              </a:rPr>
              <a:t>q</a:t>
            </a:r>
            <a:r>
              <a:rPr lang="en-US" sz="2160" i="1" baseline="-25000" dirty="0" err="1">
                <a:solidFill>
                  <a:srgbClr val="FF0000"/>
                </a:solidFill>
              </a:rPr>
              <a:t>s</a:t>
            </a:r>
            <a:endParaRPr lang="en-US" sz="2160" i="1" baseline="-25000" dirty="0">
              <a:solidFill>
                <a:srgbClr val="FF0000"/>
              </a:solidFill>
            </a:endParaRPr>
          </a:p>
        </p:txBody>
      </p:sp>
      <p:sp>
        <p:nvSpPr>
          <p:cNvPr id="28" name="TextBox 27">
            <a:extLst>
              <a:ext uri="{FF2B5EF4-FFF2-40B4-BE49-F238E27FC236}">
                <a16:creationId xmlns:a16="http://schemas.microsoft.com/office/drawing/2014/main" id="{8BA2BC6C-BE12-7D1F-8DCD-5FFFDA424F53}"/>
              </a:ext>
            </a:extLst>
          </p:cNvPr>
          <p:cNvSpPr txBox="1"/>
          <p:nvPr/>
        </p:nvSpPr>
        <p:spPr>
          <a:xfrm flipV="1">
            <a:off x="14092079" y="6695418"/>
            <a:ext cx="182865"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33" name="TextBox 32">
            <a:extLst>
              <a:ext uri="{FF2B5EF4-FFF2-40B4-BE49-F238E27FC236}">
                <a16:creationId xmlns:a16="http://schemas.microsoft.com/office/drawing/2014/main" id="{CF3069EA-4D25-959E-EB14-3CCA97736625}"/>
              </a:ext>
            </a:extLst>
          </p:cNvPr>
          <p:cNvSpPr txBox="1"/>
          <p:nvPr/>
        </p:nvSpPr>
        <p:spPr>
          <a:xfrm>
            <a:off x="14065572" y="6342785"/>
            <a:ext cx="182865" cy="332399"/>
          </a:xfrm>
          <a:prstGeom prst="rect">
            <a:avLst/>
          </a:prstGeom>
          <a:noFill/>
        </p:spPr>
        <p:txBody>
          <a:bodyPr wrap="square" lIns="0" tIns="0" rIns="0" bIns="0" rtlCol="0">
            <a:spAutoFit/>
          </a:bodyPr>
          <a:lstStyle/>
          <a:p>
            <a:pPr algn="r"/>
            <a:r>
              <a:rPr lang="en-US" sz="2160" dirty="0">
                <a:solidFill>
                  <a:srgbClr val="FF0000"/>
                </a:solidFill>
              </a:rPr>
              <a:t>1</a:t>
            </a:r>
            <a:endParaRPr lang="en-US" sz="2160" baseline="-25000" dirty="0">
              <a:solidFill>
                <a:srgbClr val="FF0000"/>
              </a:solidFill>
            </a:endParaRPr>
          </a:p>
        </p:txBody>
      </p:sp>
    </p:spTree>
    <p:extLst>
      <p:ext uri="{BB962C8B-B14F-4D97-AF65-F5344CB8AC3E}">
        <p14:creationId xmlns:p14="http://schemas.microsoft.com/office/powerpoint/2010/main" val="350466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1+#ppt_w/2"/>
                                          </p:val>
                                        </p:tav>
                                        <p:tav tm="100000">
                                          <p:val>
                                            <p:strVal val="#ppt_x"/>
                                          </p:val>
                                        </p:tav>
                                      </p:tavLst>
                                    </p:anim>
                                    <p:anim calcmode="lin" valueType="num">
                                      <p:cBhvr additive="base">
                                        <p:cTn id="29"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1+#ppt_w/2"/>
                                          </p:val>
                                        </p:tav>
                                        <p:tav tm="100000">
                                          <p:val>
                                            <p:strVal val="#ppt_x"/>
                                          </p:val>
                                        </p:tav>
                                      </p:tavLst>
                                    </p:anim>
                                    <p:anim calcmode="lin" valueType="num">
                                      <p:cBhvr additive="base">
                                        <p:cTn id="3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ppt_x</p:attrName>
                                        </p:attrNameLst>
                                      </p:cBhvr>
                                      <p:tavLst>
                                        <p:tav tm="0">
                                          <p:val>
                                            <p:strVal val="1+#ppt_w/2"/>
                                          </p:val>
                                        </p:tav>
                                        <p:tav tm="100000">
                                          <p:val>
                                            <p:strVal val="#ppt_x"/>
                                          </p:val>
                                        </p:tav>
                                      </p:tavLst>
                                    </p:anim>
                                    <p:anim calcmode="lin" valueType="num">
                                      <p:cBhvr additive="base">
                                        <p:cTn id="41"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1+#ppt_w/2"/>
                                          </p:val>
                                        </p:tav>
                                        <p:tav tm="100000">
                                          <p:val>
                                            <p:strVal val="#ppt_x"/>
                                          </p:val>
                                        </p:tav>
                                      </p:tavLst>
                                    </p:anim>
                                    <p:anim calcmode="lin" valueType="num">
                                      <p:cBhvr additive="base">
                                        <p:cTn id="47"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1+#ppt_w/2"/>
                                          </p:val>
                                        </p:tav>
                                        <p:tav tm="100000">
                                          <p:val>
                                            <p:strVal val="#ppt_x"/>
                                          </p:val>
                                        </p:tav>
                                      </p:tavLst>
                                    </p:anim>
                                    <p:anim calcmode="lin" valueType="num">
                                      <p:cBhvr additive="base">
                                        <p:cTn id="5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additive="base">
                                        <p:cTn id="58" dur="500" fill="hold"/>
                                        <p:tgtEl>
                                          <p:spTgt spid="14"/>
                                        </p:tgtEl>
                                        <p:attrNameLst>
                                          <p:attrName>ppt_x</p:attrName>
                                        </p:attrNameLst>
                                      </p:cBhvr>
                                      <p:tavLst>
                                        <p:tav tm="0">
                                          <p:val>
                                            <p:strVal val="1+#ppt_w/2"/>
                                          </p:val>
                                        </p:tav>
                                        <p:tav tm="100000">
                                          <p:val>
                                            <p:strVal val="#ppt_x"/>
                                          </p:val>
                                        </p:tav>
                                      </p:tavLst>
                                    </p:anim>
                                    <p:anim calcmode="lin" valueType="num">
                                      <p:cBhvr additive="base">
                                        <p:cTn id="59"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additive="base">
                                        <p:cTn id="64" dur="500" fill="hold"/>
                                        <p:tgtEl>
                                          <p:spTgt spid="15"/>
                                        </p:tgtEl>
                                        <p:attrNameLst>
                                          <p:attrName>ppt_x</p:attrName>
                                        </p:attrNameLst>
                                      </p:cBhvr>
                                      <p:tavLst>
                                        <p:tav tm="0">
                                          <p:val>
                                            <p:strVal val="1+#ppt_w/2"/>
                                          </p:val>
                                        </p:tav>
                                        <p:tav tm="100000">
                                          <p:val>
                                            <p:strVal val="#ppt_x"/>
                                          </p:val>
                                        </p:tav>
                                      </p:tavLst>
                                    </p:anim>
                                    <p:anim calcmode="lin" valueType="num">
                                      <p:cBhvr additive="base">
                                        <p:cTn id="65"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ppt_x</p:attrName>
                                        </p:attrNameLst>
                                      </p:cBhvr>
                                      <p:tavLst>
                                        <p:tav tm="0">
                                          <p:val>
                                            <p:strVal val="1+#ppt_w/2"/>
                                          </p:val>
                                        </p:tav>
                                        <p:tav tm="100000">
                                          <p:val>
                                            <p:strVal val="#ppt_x"/>
                                          </p:val>
                                        </p:tav>
                                      </p:tavLst>
                                    </p:anim>
                                    <p:anim calcmode="lin" valueType="num">
                                      <p:cBhvr additive="base">
                                        <p:cTn id="71"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2" fill="hold" grpId="0" nodeType="clickEffect">
                                  <p:stCondLst>
                                    <p:cond delay="0"/>
                                  </p:stCondLst>
                                  <p:childTnLst>
                                    <p:set>
                                      <p:cBhvr>
                                        <p:cTn id="75" dur="1" fill="hold">
                                          <p:stCondLst>
                                            <p:cond delay="0"/>
                                          </p:stCondLst>
                                        </p:cTn>
                                        <p:tgtEl>
                                          <p:spTgt spid="36"/>
                                        </p:tgtEl>
                                        <p:attrNameLst>
                                          <p:attrName>style.visibility</p:attrName>
                                        </p:attrNameLst>
                                      </p:cBhvr>
                                      <p:to>
                                        <p:strVal val="visible"/>
                                      </p:to>
                                    </p:set>
                                    <p:anim calcmode="lin" valueType="num">
                                      <p:cBhvr additive="base">
                                        <p:cTn id="76" dur="500" fill="hold"/>
                                        <p:tgtEl>
                                          <p:spTgt spid="36"/>
                                        </p:tgtEl>
                                        <p:attrNameLst>
                                          <p:attrName>ppt_x</p:attrName>
                                        </p:attrNameLst>
                                      </p:cBhvr>
                                      <p:tavLst>
                                        <p:tav tm="0">
                                          <p:val>
                                            <p:strVal val="1+#ppt_w/2"/>
                                          </p:val>
                                        </p:tav>
                                        <p:tav tm="100000">
                                          <p:val>
                                            <p:strVal val="#ppt_x"/>
                                          </p:val>
                                        </p:tav>
                                      </p:tavLst>
                                    </p:anim>
                                    <p:anim calcmode="lin" valueType="num">
                                      <p:cBhvr additive="base">
                                        <p:cTn id="77"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2" fill="hold" grpId="0" nodeType="click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additive="base">
                                        <p:cTn id="82" dur="500" fill="hold"/>
                                        <p:tgtEl>
                                          <p:spTgt spid="21"/>
                                        </p:tgtEl>
                                        <p:attrNameLst>
                                          <p:attrName>ppt_x</p:attrName>
                                        </p:attrNameLst>
                                      </p:cBhvr>
                                      <p:tavLst>
                                        <p:tav tm="0">
                                          <p:val>
                                            <p:strVal val="1+#ppt_w/2"/>
                                          </p:val>
                                        </p:tav>
                                        <p:tav tm="100000">
                                          <p:val>
                                            <p:strVal val="#ppt_x"/>
                                          </p:val>
                                        </p:tav>
                                      </p:tavLst>
                                    </p:anim>
                                    <p:anim calcmode="lin" valueType="num">
                                      <p:cBhvr additive="base">
                                        <p:cTn id="83"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2"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1+#ppt_w/2"/>
                                          </p:val>
                                        </p:tav>
                                        <p:tav tm="100000">
                                          <p:val>
                                            <p:strVal val="#ppt_x"/>
                                          </p:val>
                                        </p:tav>
                                      </p:tavLst>
                                    </p:anim>
                                    <p:anim calcmode="lin" valueType="num">
                                      <p:cBhvr additive="base">
                                        <p:cTn id="89"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2" fill="hold" grpId="0" nodeType="clickEffect">
                                  <p:stCondLst>
                                    <p:cond delay="0"/>
                                  </p:stCondLst>
                                  <p:childTnLst>
                                    <p:set>
                                      <p:cBhvr>
                                        <p:cTn id="93" dur="1" fill="hold">
                                          <p:stCondLst>
                                            <p:cond delay="0"/>
                                          </p:stCondLst>
                                        </p:cTn>
                                        <p:tgtEl>
                                          <p:spTgt spid="17"/>
                                        </p:tgtEl>
                                        <p:attrNameLst>
                                          <p:attrName>style.visibility</p:attrName>
                                        </p:attrNameLst>
                                      </p:cBhvr>
                                      <p:to>
                                        <p:strVal val="visible"/>
                                      </p:to>
                                    </p:set>
                                    <p:anim calcmode="lin" valueType="num">
                                      <p:cBhvr additive="base">
                                        <p:cTn id="94" dur="500" fill="hold"/>
                                        <p:tgtEl>
                                          <p:spTgt spid="17"/>
                                        </p:tgtEl>
                                        <p:attrNameLst>
                                          <p:attrName>ppt_x</p:attrName>
                                        </p:attrNameLst>
                                      </p:cBhvr>
                                      <p:tavLst>
                                        <p:tav tm="0">
                                          <p:val>
                                            <p:strVal val="1+#ppt_w/2"/>
                                          </p:val>
                                        </p:tav>
                                        <p:tav tm="100000">
                                          <p:val>
                                            <p:strVal val="#ppt_x"/>
                                          </p:val>
                                        </p:tav>
                                      </p:tavLst>
                                    </p:anim>
                                    <p:anim calcmode="lin" valueType="num">
                                      <p:cBhvr additive="base">
                                        <p:cTn id="95"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2" fill="hold" grpId="0" nodeType="clickEffect">
                                  <p:stCondLst>
                                    <p:cond delay="0"/>
                                  </p:stCondLst>
                                  <p:childTnLst>
                                    <p:set>
                                      <p:cBhvr>
                                        <p:cTn id="99" dur="1" fill="hold">
                                          <p:stCondLst>
                                            <p:cond delay="0"/>
                                          </p:stCondLst>
                                        </p:cTn>
                                        <p:tgtEl>
                                          <p:spTgt spid="18"/>
                                        </p:tgtEl>
                                        <p:attrNameLst>
                                          <p:attrName>style.visibility</p:attrName>
                                        </p:attrNameLst>
                                      </p:cBhvr>
                                      <p:to>
                                        <p:strVal val="visible"/>
                                      </p:to>
                                    </p:set>
                                    <p:anim calcmode="lin" valueType="num">
                                      <p:cBhvr additive="base">
                                        <p:cTn id="100" dur="500" fill="hold"/>
                                        <p:tgtEl>
                                          <p:spTgt spid="18"/>
                                        </p:tgtEl>
                                        <p:attrNameLst>
                                          <p:attrName>ppt_x</p:attrName>
                                        </p:attrNameLst>
                                      </p:cBhvr>
                                      <p:tavLst>
                                        <p:tav tm="0">
                                          <p:val>
                                            <p:strVal val="1+#ppt_w/2"/>
                                          </p:val>
                                        </p:tav>
                                        <p:tav tm="100000">
                                          <p:val>
                                            <p:strVal val="#ppt_x"/>
                                          </p:val>
                                        </p:tav>
                                      </p:tavLst>
                                    </p:anim>
                                    <p:anim calcmode="lin" valueType="num">
                                      <p:cBhvr additive="base">
                                        <p:cTn id="101"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2" fill="hold" grpId="0" nodeType="clickEffect">
                                  <p:stCondLst>
                                    <p:cond delay="0"/>
                                  </p:stCondLst>
                                  <p:childTnLst>
                                    <p:set>
                                      <p:cBhvr>
                                        <p:cTn id="105" dur="1" fill="hold">
                                          <p:stCondLst>
                                            <p:cond delay="0"/>
                                          </p:stCondLst>
                                        </p:cTn>
                                        <p:tgtEl>
                                          <p:spTgt spid="19"/>
                                        </p:tgtEl>
                                        <p:attrNameLst>
                                          <p:attrName>style.visibility</p:attrName>
                                        </p:attrNameLst>
                                      </p:cBhvr>
                                      <p:to>
                                        <p:strVal val="visible"/>
                                      </p:to>
                                    </p:set>
                                    <p:anim calcmode="lin" valueType="num">
                                      <p:cBhvr additive="base">
                                        <p:cTn id="106" dur="500" fill="hold"/>
                                        <p:tgtEl>
                                          <p:spTgt spid="19"/>
                                        </p:tgtEl>
                                        <p:attrNameLst>
                                          <p:attrName>ppt_x</p:attrName>
                                        </p:attrNameLst>
                                      </p:cBhvr>
                                      <p:tavLst>
                                        <p:tav tm="0">
                                          <p:val>
                                            <p:strVal val="1+#ppt_w/2"/>
                                          </p:val>
                                        </p:tav>
                                        <p:tav tm="100000">
                                          <p:val>
                                            <p:strVal val="#ppt_x"/>
                                          </p:val>
                                        </p:tav>
                                      </p:tavLst>
                                    </p:anim>
                                    <p:anim calcmode="lin" valueType="num">
                                      <p:cBhvr additive="base">
                                        <p:cTn id="107"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2" fill="hold" grpId="0" nodeType="clickEffect">
                                  <p:stCondLst>
                                    <p:cond delay="0"/>
                                  </p:stCondLst>
                                  <p:childTnLst>
                                    <p:set>
                                      <p:cBhvr>
                                        <p:cTn id="111" dur="1" fill="hold">
                                          <p:stCondLst>
                                            <p:cond delay="0"/>
                                          </p:stCondLst>
                                        </p:cTn>
                                        <p:tgtEl>
                                          <p:spTgt spid="22"/>
                                        </p:tgtEl>
                                        <p:attrNameLst>
                                          <p:attrName>style.visibility</p:attrName>
                                        </p:attrNameLst>
                                      </p:cBhvr>
                                      <p:to>
                                        <p:strVal val="visible"/>
                                      </p:to>
                                    </p:set>
                                    <p:anim calcmode="lin" valueType="num">
                                      <p:cBhvr additive="base">
                                        <p:cTn id="112" dur="500" fill="hold"/>
                                        <p:tgtEl>
                                          <p:spTgt spid="22"/>
                                        </p:tgtEl>
                                        <p:attrNameLst>
                                          <p:attrName>ppt_x</p:attrName>
                                        </p:attrNameLst>
                                      </p:cBhvr>
                                      <p:tavLst>
                                        <p:tav tm="0">
                                          <p:val>
                                            <p:strVal val="1+#ppt_w/2"/>
                                          </p:val>
                                        </p:tav>
                                        <p:tav tm="100000">
                                          <p:val>
                                            <p:strVal val="#ppt_x"/>
                                          </p:val>
                                        </p:tav>
                                      </p:tavLst>
                                    </p:anim>
                                    <p:anim calcmode="lin" valueType="num">
                                      <p:cBhvr additive="base">
                                        <p:cTn id="113"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2" fill="hold" grpId="0" nodeType="clickEffect">
                                  <p:stCondLst>
                                    <p:cond delay="0"/>
                                  </p:stCondLst>
                                  <p:childTnLst>
                                    <p:set>
                                      <p:cBhvr>
                                        <p:cTn id="117" dur="1" fill="hold">
                                          <p:stCondLst>
                                            <p:cond delay="0"/>
                                          </p:stCondLst>
                                        </p:cTn>
                                        <p:tgtEl>
                                          <p:spTgt spid="20"/>
                                        </p:tgtEl>
                                        <p:attrNameLst>
                                          <p:attrName>style.visibility</p:attrName>
                                        </p:attrNameLst>
                                      </p:cBhvr>
                                      <p:to>
                                        <p:strVal val="visible"/>
                                      </p:to>
                                    </p:set>
                                    <p:anim calcmode="lin" valueType="num">
                                      <p:cBhvr additive="base">
                                        <p:cTn id="118" dur="500" fill="hold"/>
                                        <p:tgtEl>
                                          <p:spTgt spid="20"/>
                                        </p:tgtEl>
                                        <p:attrNameLst>
                                          <p:attrName>ppt_x</p:attrName>
                                        </p:attrNameLst>
                                      </p:cBhvr>
                                      <p:tavLst>
                                        <p:tav tm="0">
                                          <p:val>
                                            <p:strVal val="1+#ppt_w/2"/>
                                          </p:val>
                                        </p:tav>
                                        <p:tav tm="100000">
                                          <p:val>
                                            <p:strVal val="#ppt_x"/>
                                          </p:val>
                                        </p:tav>
                                      </p:tavLst>
                                    </p:anim>
                                    <p:anim calcmode="lin" valueType="num">
                                      <p:cBhvr additive="base">
                                        <p:cTn id="119"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2" fill="hold" grpId="0" nodeType="clickEffect">
                                  <p:stCondLst>
                                    <p:cond delay="0"/>
                                  </p:stCondLst>
                                  <p:childTnLst>
                                    <p:set>
                                      <p:cBhvr>
                                        <p:cTn id="123" dur="1" fill="hold">
                                          <p:stCondLst>
                                            <p:cond delay="0"/>
                                          </p:stCondLst>
                                        </p:cTn>
                                        <p:tgtEl>
                                          <p:spTgt spid="24"/>
                                        </p:tgtEl>
                                        <p:attrNameLst>
                                          <p:attrName>style.visibility</p:attrName>
                                        </p:attrNameLst>
                                      </p:cBhvr>
                                      <p:to>
                                        <p:strVal val="visible"/>
                                      </p:to>
                                    </p:set>
                                    <p:anim calcmode="lin" valueType="num">
                                      <p:cBhvr additive="base">
                                        <p:cTn id="124" dur="500" fill="hold"/>
                                        <p:tgtEl>
                                          <p:spTgt spid="24"/>
                                        </p:tgtEl>
                                        <p:attrNameLst>
                                          <p:attrName>ppt_x</p:attrName>
                                        </p:attrNameLst>
                                      </p:cBhvr>
                                      <p:tavLst>
                                        <p:tav tm="0">
                                          <p:val>
                                            <p:strVal val="1+#ppt_w/2"/>
                                          </p:val>
                                        </p:tav>
                                        <p:tav tm="100000">
                                          <p:val>
                                            <p:strVal val="#ppt_x"/>
                                          </p:val>
                                        </p:tav>
                                      </p:tavLst>
                                    </p:anim>
                                    <p:anim calcmode="lin" valueType="num">
                                      <p:cBhvr additive="base">
                                        <p:cTn id="125"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2" fill="hold" grpId="0" nodeType="clickEffect">
                                  <p:stCondLst>
                                    <p:cond delay="0"/>
                                  </p:stCondLst>
                                  <p:childTnLst>
                                    <p:set>
                                      <p:cBhvr>
                                        <p:cTn id="129" dur="1" fill="hold">
                                          <p:stCondLst>
                                            <p:cond delay="0"/>
                                          </p:stCondLst>
                                        </p:cTn>
                                        <p:tgtEl>
                                          <p:spTgt spid="23"/>
                                        </p:tgtEl>
                                        <p:attrNameLst>
                                          <p:attrName>style.visibility</p:attrName>
                                        </p:attrNameLst>
                                      </p:cBhvr>
                                      <p:to>
                                        <p:strVal val="visible"/>
                                      </p:to>
                                    </p:set>
                                    <p:anim calcmode="lin" valueType="num">
                                      <p:cBhvr additive="base">
                                        <p:cTn id="130" dur="500" fill="hold"/>
                                        <p:tgtEl>
                                          <p:spTgt spid="23"/>
                                        </p:tgtEl>
                                        <p:attrNameLst>
                                          <p:attrName>ppt_x</p:attrName>
                                        </p:attrNameLst>
                                      </p:cBhvr>
                                      <p:tavLst>
                                        <p:tav tm="0">
                                          <p:val>
                                            <p:strVal val="1+#ppt_w/2"/>
                                          </p:val>
                                        </p:tav>
                                        <p:tav tm="100000">
                                          <p:val>
                                            <p:strVal val="#ppt_x"/>
                                          </p:val>
                                        </p:tav>
                                      </p:tavLst>
                                    </p:anim>
                                    <p:anim calcmode="lin" valueType="num">
                                      <p:cBhvr additive="base">
                                        <p:cTn id="131"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2" fill="hold" grpId="0" nodeType="clickEffect">
                                  <p:stCondLst>
                                    <p:cond delay="0"/>
                                  </p:stCondLst>
                                  <p:childTnLst>
                                    <p:set>
                                      <p:cBhvr>
                                        <p:cTn id="135" dur="1" fill="hold">
                                          <p:stCondLst>
                                            <p:cond delay="0"/>
                                          </p:stCondLst>
                                        </p:cTn>
                                        <p:tgtEl>
                                          <p:spTgt spid="25"/>
                                        </p:tgtEl>
                                        <p:attrNameLst>
                                          <p:attrName>style.visibility</p:attrName>
                                        </p:attrNameLst>
                                      </p:cBhvr>
                                      <p:to>
                                        <p:strVal val="visible"/>
                                      </p:to>
                                    </p:set>
                                    <p:anim calcmode="lin" valueType="num">
                                      <p:cBhvr additive="base">
                                        <p:cTn id="136" dur="500" fill="hold"/>
                                        <p:tgtEl>
                                          <p:spTgt spid="25"/>
                                        </p:tgtEl>
                                        <p:attrNameLst>
                                          <p:attrName>ppt_x</p:attrName>
                                        </p:attrNameLst>
                                      </p:cBhvr>
                                      <p:tavLst>
                                        <p:tav tm="0">
                                          <p:val>
                                            <p:strVal val="1+#ppt_w/2"/>
                                          </p:val>
                                        </p:tav>
                                        <p:tav tm="100000">
                                          <p:val>
                                            <p:strVal val="#ppt_x"/>
                                          </p:val>
                                        </p:tav>
                                      </p:tavLst>
                                    </p:anim>
                                    <p:anim calcmode="lin" valueType="num">
                                      <p:cBhvr additive="base">
                                        <p:cTn id="137"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2" fill="hold" grpId="0" nodeType="clickEffect">
                                  <p:stCondLst>
                                    <p:cond delay="0"/>
                                  </p:stCondLst>
                                  <p:childTnLst>
                                    <p:set>
                                      <p:cBhvr>
                                        <p:cTn id="141" dur="1" fill="hold">
                                          <p:stCondLst>
                                            <p:cond delay="0"/>
                                          </p:stCondLst>
                                        </p:cTn>
                                        <p:tgtEl>
                                          <p:spTgt spid="33"/>
                                        </p:tgtEl>
                                        <p:attrNameLst>
                                          <p:attrName>style.visibility</p:attrName>
                                        </p:attrNameLst>
                                      </p:cBhvr>
                                      <p:to>
                                        <p:strVal val="visible"/>
                                      </p:to>
                                    </p:set>
                                    <p:anim calcmode="lin" valueType="num">
                                      <p:cBhvr additive="base">
                                        <p:cTn id="142" dur="500" fill="hold"/>
                                        <p:tgtEl>
                                          <p:spTgt spid="33"/>
                                        </p:tgtEl>
                                        <p:attrNameLst>
                                          <p:attrName>ppt_x</p:attrName>
                                        </p:attrNameLst>
                                      </p:cBhvr>
                                      <p:tavLst>
                                        <p:tav tm="0">
                                          <p:val>
                                            <p:strVal val="1+#ppt_w/2"/>
                                          </p:val>
                                        </p:tav>
                                        <p:tav tm="100000">
                                          <p:val>
                                            <p:strVal val="#ppt_x"/>
                                          </p:val>
                                        </p:tav>
                                      </p:tavLst>
                                    </p:anim>
                                    <p:anim calcmode="lin" valueType="num">
                                      <p:cBhvr additive="base">
                                        <p:cTn id="143"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 presetClass="entr" presetSubtype="2" fill="hold" grpId="0" nodeType="clickEffect">
                                  <p:stCondLst>
                                    <p:cond delay="0"/>
                                  </p:stCondLst>
                                  <p:childTnLst>
                                    <p:set>
                                      <p:cBhvr>
                                        <p:cTn id="147" dur="1" fill="hold">
                                          <p:stCondLst>
                                            <p:cond delay="0"/>
                                          </p:stCondLst>
                                        </p:cTn>
                                        <p:tgtEl>
                                          <p:spTgt spid="28"/>
                                        </p:tgtEl>
                                        <p:attrNameLst>
                                          <p:attrName>style.visibility</p:attrName>
                                        </p:attrNameLst>
                                      </p:cBhvr>
                                      <p:to>
                                        <p:strVal val="visible"/>
                                      </p:to>
                                    </p:set>
                                    <p:anim calcmode="lin" valueType="num">
                                      <p:cBhvr additive="base">
                                        <p:cTn id="148" dur="500" fill="hold"/>
                                        <p:tgtEl>
                                          <p:spTgt spid="28"/>
                                        </p:tgtEl>
                                        <p:attrNameLst>
                                          <p:attrName>ppt_x</p:attrName>
                                        </p:attrNameLst>
                                      </p:cBhvr>
                                      <p:tavLst>
                                        <p:tav tm="0">
                                          <p:val>
                                            <p:strVal val="1+#ppt_w/2"/>
                                          </p:val>
                                        </p:tav>
                                        <p:tav tm="100000">
                                          <p:val>
                                            <p:strVal val="#ppt_x"/>
                                          </p:val>
                                        </p:tav>
                                      </p:tavLst>
                                    </p:anim>
                                    <p:anim calcmode="lin" valueType="num">
                                      <p:cBhvr additive="base">
                                        <p:cTn id="149"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2" presetClass="entr" presetSubtype="2" fill="hold" grpId="0" nodeType="clickEffect">
                                  <p:stCondLst>
                                    <p:cond delay="0"/>
                                  </p:stCondLst>
                                  <p:childTnLst>
                                    <p:set>
                                      <p:cBhvr>
                                        <p:cTn id="153" dur="1" fill="hold">
                                          <p:stCondLst>
                                            <p:cond delay="0"/>
                                          </p:stCondLst>
                                        </p:cTn>
                                        <p:tgtEl>
                                          <p:spTgt spid="26"/>
                                        </p:tgtEl>
                                        <p:attrNameLst>
                                          <p:attrName>style.visibility</p:attrName>
                                        </p:attrNameLst>
                                      </p:cBhvr>
                                      <p:to>
                                        <p:strVal val="visible"/>
                                      </p:to>
                                    </p:set>
                                    <p:anim calcmode="lin" valueType="num">
                                      <p:cBhvr additive="base">
                                        <p:cTn id="154" dur="500" fill="hold"/>
                                        <p:tgtEl>
                                          <p:spTgt spid="26"/>
                                        </p:tgtEl>
                                        <p:attrNameLst>
                                          <p:attrName>ppt_x</p:attrName>
                                        </p:attrNameLst>
                                      </p:cBhvr>
                                      <p:tavLst>
                                        <p:tav tm="0">
                                          <p:val>
                                            <p:strVal val="1+#ppt_w/2"/>
                                          </p:val>
                                        </p:tav>
                                        <p:tav tm="100000">
                                          <p:val>
                                            <p:strVal val="#ppt_x"/>
                                          </p:val>
                                        </p:tav>
                                      </p:tavLst>
                                    </p:anim>
                                    <p:anim calcmode="lin" valueType="num">
                                      <p:cBhvr additive="base">
                                        <p:cTn id="155"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2" presetClass="entr" presetSubtype="8" fill="hold" grpId="0" nodeType="clickEffect">
                                  <p:stCondLst>
                                    <p:cond delay="0"/>
                                  </p:stCondLst>
                                  <p:childTnLst>
                                    <p:set>
                                      <p:cBhvr>
                                        <p:cTn id="159" dur="1" fill="hold">
                                          <p:stCondLst>
                                            <p:cond delay="0"/>
                                          </p:stCondLst>
                                        </p:cTn>
                                        <p:tgtEl>
                                          <p:spTgt spid="30"/>
                                        </p:tgtEl>
                                        <p:attrNameLst>
                                          <p:attrName>style.visibility</p:attrName>
                                        </p:attrNameLst>
                                      </p:cBhvr>
                                      <p:to>
                                        <p:strVal val="visible"/>
                                      </p:to>
                                    </p:set>
                                    <p:anim calcmode="lin" valueType="num">
                                      <p:cBhvr additive="base">
                                        <p:cTn id="160" dur="500" fill="hold"/>
                                        <p:tgtEl>
                                          <p:spTgt spid="30"/>
                                        </p:tgtEl>
                                        <p:attrNameLst>
                                          <p:attrName>ppt_x</p:attrName>
                                        </p:attrNameLst>
                                      </p:cBhvr>
                                      <p:tavLst>
                                        <p:tav tm="0">
                                          <p:val>
                                            <p:strVal val="0-#ppt_w/2"/>
                                          </p:val>
                                        </p:tav>
                                        <p:tav tm="100000">
                                          <p:val>
                                            <p:strVal val="#ppt_x"/>
                                          </p:val>
                                        </p:tav>
                                      </p:tavLst>
                                    </p:anim>
                                    <p:anim calcmode="lin" valueType="num">
                                      <p:cBhvr additive="base">
                                        <p:cTn id="161"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2" presetClass="entr" presetSubtype="8" fill="hold" grpId="0" nodeType="clickEffect">
                                  <p:stCondLst>
                                    <p:cond delay="0"/>
                                  </p:stCondLst>
                                  <p:childTnLst>
                                    <p:set>
                                      <p:cBhvr>
                                        <p:cTn id="165" dur="1" fill="hold">
                                          <p:stCondLst>
                                            <p:cond delay="0"/>
                                          </p:stCondLst>
                                        </p:cTn>
                                        <p:tgtEl>
                                          <p:spTgt spid="29"/>
                                        </p:tgtEl>
                                        <p:attrNameLst>
                                          <p:attrName>style.visibility</p:attrName>
                                        </p:attrNameLst>
                                      </p:cBhvr>
                                      <p:to>
                                        <p:strVal val="visible"/>
                                      </p:to>
                                    </p:set>
                                    <p:anim calcmode="lin" valueType="num">
                                      <p:cBhvr additive="base">
                                        <p:cTn id="166" dur="500" fill="hold"/>
                                        <p:tgtEl>
                                          <p:spTgt spid="29"/>
                                        </p:tgtEl>
                                        <p:attrNameLst>
                                          <p:attrName>ppt_x</p:attrName>
                                        </p:attrNameLst>
                                      </p:cBhvr>
                                      <p:tavLst>
                                        <p:tav tm="0">
                                          <p:val>
                                            <p:strVal val="0-#ppt_w/2"/>
                                          </p:val>
                                        </p:tav>
                                        <p:tav tm="100000">
                                          <p:val>
                                            <p:strVal val="#ppt_x"/>
                                          </p:val>
                                        </p:tav>
                                      </p:tavLst>
                                    </p:anim>
                                    <p:anim calcmode="lin" valueType="num">
                                      <p:cBhvr additive="base">
                                        <p:cTn id="167"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2" presetClass="entr" presetSubtype="8" fill="hold" grpId="0" nodeType="clickEffect">
                                  <p:stCondLst>
                                    <p:cond delay="0"/>
                                  </p:stCondLst>
                                  <p:childTnLst>
                                    <p:set>
                                      <p:cBhvr>
                                        <p:cTn id="171" dur="1" fill="hold">
                                          <p:stCondLst>
                                            <p:cond delay="0"/>
                                          </p:stCondLst>
                                        </p:cTn>
                                        <p:tgtEl>
                                          <p:spTgt spid="31"/>
                                        </p:tgtEl>
                                        <p:attrNameLst>
                                          <p:attrName>style.visibility</p:attrName>
                                        </p:attrNameLst>
                                      </p:cBhvr>
                                      <p:to>
                                        <p:strVal val="visible"/>
                                      </p:to>
                                    </p:set>
                                    <p:anim calcmode="lin" valueType="num">
                                      <p:cBhvr additive="base">
                                        <p:cTn id="172" dur="500" fill="hold"/>
                                        <p:tgtEl>
                                          <p:spTgt spid="31"/>
                                        </p:tgtEl>
                                        <p:attrNameLst>
                                          <p:attrName>ppt_x</p:attrName>
                                        </p:attrNameLst>
                                      </p:cBhvr>
                                      <p:tavLst>
                                        <p:tav tm="0">
                                          <p:val>
                                            <p:strVal val="0-#ppt_w/2"/>
                                          </p:val>
                                        </p:tav>
                                        <p:tav tm="100000">
                                          <p:val>
                                            <p:strVal val="#ppt_x"/>
                                          </p:val>
                                        </p:tav>
                                      </p:tavLst>
                                    </p:anim>
                                    <p:anim calcmode="lin" valueType="num">
                                      <p:cBhvr additive="base">
                                        <p:cTn id="173"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9" grpId="0"/>
      <p:bldP spid="30" grpId="0"/>
      <p:bldP spid="31" grpId="0"/>
      <p:bldP spid="36" grpId="0"/>
      <p:bldP spid="27" grpId="0"/>
      <p:bldP spid="28"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812174" y="155523"/>
            <a:ext cx="7248451" cy="891882"/>
          </a:xfrm>
        </p:spPr>
        <p:txBody>
          <a:bodyPr>
            <a:normAutofit/>
          </a:bodyPr>
          <a:lstStyle/>
          <a:p>
            <a:r>
              <a:rPr lang="en-US" sz="5400" b="1" dirty="0">
                <a:solidFill>
                  <a:srgbClr val="0070C0"/>
                </a:solidFill>
              </a:rPr>
              <a:t>Hardware Configuration</a:t>
            </a:r>
            <a:endParaRPr lang="en-US" sz="54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216132" y="1319349"/>
            <a:ext cx="8794878" cy="5708468"/>
          </a:xfrm>
        </p:spPr>
        <p:txBody>
          <a:bodyPr>
            <a:noAutofit/>
          </a:bodyPr>
          <a:lstStyle/>
          <a:p>
            <a:pPr marL="0" indent="0">
              <a:buNone/>
            </a:pPr>
            <a:r>
              <a:rPr lang="en-US" sz="3600" dirty="0">
                <a:solidFill>
                  <a:srgbClr val="FF0000"/>
                </a:solidFill>
              </a:rPr>
              <a:t>If </a:t>
            </a:r>
            <a:r>
              <a:rPr lang="en-US" sz="3600" i="1" dirty="0" err="1">
                <a:solidFill>
                  <a:srgbClr val="FF0000"/>
                </a:solidFill>
              </a:rPr>
              <a:t>q</a:t>
            </a:r>
            <a:r>
              <a:rPr lang="en-US" sz="3600" i="1" baseline="-25000" dirty="0" err="1">
                <a:solidFill>
                  <a:srgbClr val="FF0000"/>
                </a:solidFill>
              </a:rPr>
              <a:t>s</a:t>
            </a:r>
            <a:r>
              <a:rPr lang="en-US" sz="3600" dirty="0">
                <a:solidFill>
                  <a:srgbClr val="FF0000"/>
                </a:solidFill>
              </a:rPr>
              <a:t> = 1</a:t>
            </a:r>
            <a:r>
              <a:rPr lang="en-US" sz="3600" dirty="0"/>
              <a:t>, address </a:t>
            </a:r>
            <a:r>
              <a:rPr lang="en-US" sz="3600" dirty="0">
                <a:solidFill>
                  <a:srgbClr val="FF0000"/>
                </a:solidFill>
              </a:rPr>
              <a:t>001</a:t>
            </a:r>
            <a:r>
              <a:rPr lang="en-US" sz="3600" dirty="0"/>
              <a:t> is available at the inputs of the CAR. </a:t>
            </a:r>
          </a:p>
          <a:p>
            <a:pPr marL="0" indent="0">
              <a:buNone/>
            </a:pPr>
            <a:r>
              <a:rPr lang="en-US" sz="3600" dirty="0">
                <a:solidFill>
                  <a:srgbClr val="FF0000"/>
                </a:solidFill>
              </a:rPr>
              <a:t>Initially, </a:t>
            </a:r>
            <a:r>
              <a:rPr lang="en-US" sz="3600" i="1" dirty="0">
                <a:solidFill>
                  <a:srgbClr val="FF0000"/>
                </a:solidFill>
              </a:rPr>
              <a:t>x</a:t>
            </a:r>
            <a:r>
              <a:rPr lang="en-US" sz="3600" dirty="0">
                <a:solidFill>
                  <a:srgbClr val="FF0000"/>
                </a:solidFill>
              </a:rPr>
              <a:t> = 1. </a:t>
            </a:r>
          </a:p>
          <a:p>
            <a:pPr marL="0" indent="0">
              <a:buNone/>
            </a:pPr>
            <a:r>
              <a:rPr lang="en-US" sz="3600" dirty="0"/>
              <a:t>An input of 1 is selected by the multiplexer when </a:t>
            </a:r>
            <a:r>
              <a:rPr lang="en-US" sz="3600" dirty="0">
                <a:solidFill>
                  <a:srgbClr val="FF0000"/>
                </a:solidFill>
              </a:rPr>
              <a:t>bits 13 and 14 are 01</a:t>
            </a:r>
            <a:r>
              <a:rPr lang="en-US" sz="3600" dirty="0"/>
              <a:t>. The output of the multiplexer is 1, and the </a:t>
            </a:r>
            <a:r>
              <a:rPr lang="en-US" sz="3600" dirty="0">
                <a:solidFill>
                  <a:srgbClr val="FF0000"/>
                </a:solidFill>
              </a:rPr>
              <a:t>external input is loaded into CAR</a:t>
            </a:r>
            <a:r>
              <a:rPr lang="en-US" sz="3600" dirty="0"/>
              <a:t>.</a:t>
            </a:r>
          </a:p>
        </p:txBody>
      </p:sp>
      <p:sp>
        <p:nvSpPr>
          <p:cNvPr id="4" name="Date Placeholder 3"/>
          <p:cNvSpPr>
            <a:spLocks noGrp="1"/>
          </p:cNvSpPr>
          <p:nvPr>
            <p:ph type="dt" sz="half" idx="10"/>
          </p:nvPr>
        </p:nvSpPr>
        <p:spPr/>
        <p:txBody>
          <a:bodyPr/>
          <a:lstStyle/>
          <a:p>
            <a:fld id="{7D23D2F7-B1FF-4031-B306-55F7B2083B8E}"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7</a:t>
            </a:fld>
            <a:endParaRPr lang="en-US" dirty="0"/>
          </a:p>
        </p:txBody>
      </p:sp>
      <p:pic>
        <p:nvPicPr>
          <p:cNvPr id="7" name="Content Placeholder 3">
            <a:extLst>
              <a:ext uri="{FF2B5EF4-FFF2-40B4-BE49-F238E27FC236}">
                <a16:creationId xmlns:a16="http://schemas.microsoft.com/office/drawing/2014/main" id="{CF748C0B-6F96-2D96-9ECE-4068B8AAF8A9}"/>
              </a:ext>
            </a:extLst>
          </p:cNvPr>
          <p:cNvPicPr>
            <a:picLocks noChangeAspect="1"/>
          </p:cNvPicPr>
          <p:nvPr/>
        </p:nvPicPr>
        <p:blipFill rotWithShape="1">
          <a:blip r:embed="rId2">
            <a:duotone>
              <a:schemeClr val="accent1">
                <a:shade val="45000"/>
                <a:satMod val="135000"/>
              </a:schemeClr>
              <a:prstClr val="white"/>
            </a:duotone>
            <a:lum bright="-20000" contrast="40000"/>
          </a:blip>
          <a:srcRect l="4931" t="2271" r="1780" b="1920"/>
          <a:stretch/>
        </p:blipFill>
        <p:spPr>
          <a:xfrm>
            <a:off x="9313818" y="640080"/>
            <a:ext cx="6945877" cy="7184558"/>
          </a:xfrm>
          <a:prstGeom prst="rect">
            <a:avLst/>
          </a:prstGeom>
        </p:spPr>
      </p:pic>
      <p:sp>
        <p:nvSpPr>
          <p:cNvPr id="8" name="TextBox 7">
            <a:extLst>
              <a:ext uri="{FF2B5EF4-FFF2-40B4-BE49-F238E27FC236}">
                <a16:creationId xmlns:a16="http://schemas.microsoft.com/office/drawing/2014/main" id="{09587C7A-5136-A4E3-95E4-61B5539D7A2B}"/>
              </a:ext>
            </a:extLst>
          </p:cNvPr>
          <p:cNvSpPr txBox="1"/>
          <p:nvPr/>
        </p:nvSpPr>
        <p:spPr>
          <a:xfrm>
            <a:off x="15154908" y="1613967"/>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9" name="TextBox 8">
            <a:extLst>
              <a:ext uri="{FF2B5EF4-FFF2-40B4-BE49-F238E27FC236}">
                <a16:creationId xmlns:a16="http://schemas.microsoft.com/office/drawing/2014/main" id="{F7283380-39F0-3164-4562-C3041A1CFB5F}"/>
              </a:ext>
            </a:extLst>
          </p:cNvPr>
          <p:cNvSpPr txBox="1"/>
          <p:nvPr/>
        </p:nvSpPr>
        <p:spPr>
          <a:xfrm>
            <a:off x="10487113" y="404962"/>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10" name="TextBox 9">
            <a:extLst>
              <a:ext uri="{FF2B5EF4-FFF2-40B4-BE49-F238E27FC236}">
                <a16:creationId xmlns:a16="http://schemas.microsoft.com/office/drawing/2014/main" id="{3EF306BF-6FE5-8B0F-F6AB-FAC7ED16219F}"/>
              </a:ext>
            </a:extLst>
          </p:cNvPr>
          <p:cNvSpPr txBox="1"/>
          <p:nvPr/>
        </p:nvSpPr>
        <p:spPr>
          <a:xfrm>
            <a:off x="10110284" y="6181613"/>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11" name="TextBox 10">
            <a:extLst>
              <a:ext uri="{FF2B5EF4-FFF2-40B4-BE49-F238E27FC236}">
                <a16:creationId xmlns:a16="http://schemas.microsoft.com/office/drawing/2014/main" id="{81A136F5-7C15-6F48-997A-116BCFF10D05}"/>
              </a:ext>
            </a:extLst>
          </p:cNvPr>
          <p:cNvSpPr txBox="1"/>
          <p:nvPr/>
        </p:nvSpPr>
        <p:spPr>
          <a:xfrm>
            <a:off x="14935215" y="3987789"/>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2" name="TextBox 11">
            <a:extLst>
              <a:ext uri="{FF2B5EF4-FFF2-40B4-BE49-F238E27FC236}">
                <a16:creationId xmlns:a16="http://schemas.microsoft.com/office/drawing/2014/main" id="{379C64FE-49CA-78E5-EFB2-11910A5B4E51}"/>
              </a:ext>
            </a:extLst>
          </p:cNvPr>
          <p:cNvSpPr txBox="1"/>
          <p:nvPr/>
        </p:nvSpPr>
        <p:spPr>
          <a:xfrm>
            <a:off x="14935215" y="4241810"/>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3" name="TextBox 12">
            <a:extLst>
              <a:ext uri="{FF2B5EF4-FFF2-40B4-BE49-F238E27FC236}">
                <a16:creationId xmlns:a16="http://schemas.microsoft.com/office/drawing/2014/main" id="{35BDB07F-65E7-1B85-02CA-91B26EB5695E}"/>
              </a:ext>
            </a:extLst>
          </p:cNvPr>
          <p:cNvSpPr txBox="1"/>
          <p:nvPr/>
        </p:nvSpPr>
        <p:spPr>
          <a:xfrm flipV="1">
            <a:off x="15076539" y="4537903"/>
            <a:ext cx="182865"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4" name="TextBox 13">
            <a:extLst>
              <a:ext uri="{FF2B5EF4-FFF2-40B4-BE49-F238E27FC236}">
                <a16:creationId xmlns:a16="http://schemas.microsoft.com/office/drawing/2014/main" id="{37EDC989-9CC4-06AC-2A94-3F5AF62C4BB0}"/>
              </a:ext>
            </a:extLst>
          </p:cNvPr>
          <p:cNvSpPr txBox="1"/>
          <p:nvPr/>
        </p:nvSpPr>
        <p:spPr>
          <a:xfrm flipV="1">
            <a:off x="11973133" y="3725122"/>
            <a:ext cx="182865"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5" name="TextBox 14">
            <a:extLst>
              <a:ext uri="{FF2B5EF4-FFF2-40B4-BE49-F238E27FC236}">
                <a16:creationId xmlns:a16="http://schemas.microsoft.com/office/drawing/2014/main" id="{8402ED18-1600-2B4F-F881-69FBFABA66FC}"/>
              </a:ext>
            </a:extLst>
          </p:cNvPr>
          <p:cNvSpPr txBox="1"/>
          <p:nvPr/>
        </p:nvSpPr>
        <p:spPr>
          <a:xfrm>
            <a:off x="11831809" y="3226523"/>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6" name="TextBox 15">
            <a:extLst>
              <a:ext uri="{FF2B5EF4-FFF2-40B4-BE49-F238E27FC236}">
                <a16:creationId xmlns:a16="http://schemas.microsoft.com/office/drawing/2014/main" id="{2B0AFEDB-88E9-C932-3420-DCEDD855AD27}"/>
              </a:ext>
            </a:extLst>
          </p:cNvPr>
          <p:cNvSpPr txBox="1"/>
          <p:nvPr/>
        </p:nvSpPr>
        <p:spPr>
          <a:xfrm>
            <a:off x="11831809" y="2680427"/>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7" name="TextBox 16">
            <a:extLst>
              <a:ext uri="{FF2B5EF4-FFF2-40B4-BE49-F238E27FC236}">
                <a16:creationId xmlns:a16="http://schemas.microsoft.com/office/drawing/2014/main" id="{E542AE47-0C79-424A-EA9A-408EF0D3F731}"/>
              </a:ext>
            </a:extLst>
          </p:cNvPr>
          <p:cNvSpPr txBox="1"/>
          <p:nvPr/>
        </p:nvSpPr>
        <p:spPr>
          <a:xfrm>
            <a:off x="10468492" y="2846626"/>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8" name="TextBox 17">
            <a:extLst>
              <a:ext uri="{FF2B5EF4-FFF2-40B4-BE49-F238E27FC236}">
                <a16:creationId xmlns:a16="http://schemas.microsoft.com/office/drawing/2014/main" id="{68F64A2B-7C9A-0EA1-0526-652F57914241}"/>
              </a:ext>
            </a:extLst>
          </p:cNvPr>
          <p:cNvSpPr txBox="1"/>
          <p:nvPr/>
        </p:nvSpPr>
        <p:spPr>
          <a:xfrm>
            <a:off x="9786834" y="283577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9" name="TextBox 18">
            <a:extLst>
              <a:ext uri="{FF2B5EF4-FFF2-40B4-BE49-F238E27FC236}">
                <a16:creationId xmlns:a16="http://schemas.microsoft.com/office/drawing/2014/main" id="{3E082E3A-CEAD-7DCD-BA32-BE5AD8E6619D}"/>
              </a:ext>
            </a:extLst>
          </p:cNvPr>
          <p:cNvSpPr txBox="1"/>
          <p:nvPr/>
        </p:nvSpPr>
        <p:spPr>
          <a:xfrm>
            <a:off x="11158869" y="426982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0" name="TextBox 19">
            <a:extLst>
              <a:ext uri="{FF2B5EF4-FFF2-40B4-BE49-F238E27FC236}">
                <a16:creationId xmlns:a16="http://schemas.microsoft.com/office/drawing/2014/main" id="{0F88670E-B0C3-A457-BDB1-7AE9F8DE6B8C}"/>
              </a:ext>
            </a:extLst>
          </p:cNvPr>
          <p:cNvSpPr txBox="1"/>
          <p:nvPr/>
        </p:nvSpPr>
        <p:spPr>
          <a:xfrm>
            <a:off x="9770831" y="426982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1" name="TextBox 20">
            <a:extLst>
              <a:ext uri="{FF2B5EF4-FFF2-40B4-BE49-F238E27FC236}">
                <a16:creationId xmlns:a16="http://schemas.microsoft.com/office/drawing/2014/main" id="{39873082-E6EF-A06D-5689-F7699866DFAE}"/>
              </a:ext>
            </a:extLst>
          </p:cNvPr>
          <p:cNvSpPr txBox="1"/>
          <p:nvPr/>
        </p:nvSpPr>
        <p:spPr>
          <a:xfrm>
            <a:off x="10575796" y="5444831"/>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2" name="TextBox 21">
            <a:extLst>
              <a:ext uri="{FF2B5EF4-FFF2-40B4-BE49-F238E27FC236}">
                <a16:creationId xmlns:a16="http://schemas.microsoft.com/office/drawing/2014/main" id="{23D65379-95F5-C8C2-1C81-78073A4DCB5B}"/>
              </a:ext>
            </a:extLst>
          </p:cNvPr>
          <p:cNvSpPr txBox="1"/>
          <p:nvPr/>
        </p:nvSpPr>
        <p:spPr>
          <a:xfrm>
            <a:off x="10486125" y="4231993"/>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3" name="TextBox 22">
            <a:extLst>
              <a:ext uri="{FF2B5EF4-FFF2-40B4-BE49-F238E27FC236}">
                <a16:creationId xmlns:a16="http://schemas.microsoft.com/office/drawing/2014/main" id="{5273A2FC-65A0-AEBA-E070-7EDF793929AA}"/>
              </a:ext>
            </a:extLst>
          </p:cNvPr>
          <p:cNvSpPr txBox="1"/>
          <p:nvPr/>
        </p:nvSpPr>
        <p:spPr>
          <a:xfrm>
            <a:off x="12554000" y="3226523"/>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4" name="TextBox 23">
            <a:extLst>
              <a:ext uri="{FF2B5EF4-FFF2-40B4-BE49-F238E27FC236}">
                <a16:creationId xmlns:a16="http://schemas.microsoft.com/office/drawing/2014/main" id="{91FB9F3D-D687-7F1C-2136-7E845C9B89F7}"/>
              </a:ext>
            </a:extLst>
          </p:cNvPr>
          <p:cNvSpPr txBox="1"/>
          <p:nvPr/>
        </p:nvSpPr>
        <p:spPr>
          <a:xfrm>
            <a:off x="12513467" y="2747519"/>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25" name="TextBox 24">
            <a:extLst>
              <a:ext uri="{FF2B5EF4-FFF2-40B4-BE49-F238E27FC236}">
                <a16:creationId xmlns:a16="http://schemas.microsoft.com/office/drawing/2014/main" id="{D8C803BE-3C47-EA82-9B23-62C3C64EB8E0}"/>
              </a:ext>
            </a:extLst>
          </p:cNvPr>
          <p:cNvSpPr txBox="1"/>
          <p:nvPr/>
        </p:nvSpPr>
        <p:spPr>
          <a:xfrm>
            <a:off x="12525743" y="3773433"/>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6" name="TextBox 25">
            <a:extLst>
              <a:ext uri="{FF2B5EF4-FFF2-40B4-BE49-F238E27FC236}">
                <a16:creationId xmlns:a16="http://schemas.microsoft.com/office/drawing/2014/main" id="{FDA602EB-F4B3-9A61-FD7C-1FABEF3F71B5}"/>
              </a:ext>
            </a:extLst>
          </p:cNvPr>
          <p:cNvSpPr txBox="1"/>
          <p:nvPr/>
        </p:nvSpPr>
        <p:spPr>
          <a:xfrm>
            <a:off x="13250891" y="4366613"/>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29" name="TextBox 28">
            <a:extLst>
              <a:ext uri="{FF2B5EF4-FFF2-40B4-BE49-F238E27FC236}">
                <a16:creationId xmlns:a16="http://schemas.microsoft.com/office/drawing/2014/main" id="{FF5E05BC-0CBE-0A2C-54D2-9A9255F004F9}"/>
              </a:ext>
            </a:extLst>
          </p:cNvPr>
          <p:cNvSpPr txBox="1"/>
          <p:nvPr/>
        </p:nvSpPr>
        <p:spPr>
          <a:xfrm>
            <a:off x="13444986" y="3248156"/>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30" name="TextBox 29">
            <a:extLst>
              <a:ext uri="{FF2B5EF4-FFF2-40B4-BE49-F238E27FC236}">
                <a16:creationId xmlns:a16="http://schemas.microsoft.com/office/drawing/2014/main" id="{67E41608-687E-13EA-7648-BB184993F4D6}"/>
              </a:ext>
            </a:extLst>
          </p:cNvPr>
          <p:cNvSpPr txBox="1"/>
          <p:nvPr/>
        </p:nvSpPr>
        <p:spPr>
          <a:xfrm>
            <a:off x="13404453" y="2769152"/>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31" name="TextBox 30">
            <a:extLst>
              <a:ext uri="{FF2B5EF4-FFF2-40B4-BE49-F238E27FC236}">
                <a16:creationId xmlns:a16="http://schemas.microsoft.com/office/drawing/2014/main" id="{93ED135B-2A01-218A-4CDE-1AFAE0EB3698}"/>
              </a:ext>
            </a:extLst>
          </p:cNvPr>
          <p:cNvSpPr txBox="1"/>
          <p:nvPr/>
        </p:nvSpPr>
        <p:spPr>
          <a:xfrm>
            <a:off x="13416729" y="3795066"/>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36" name="TextBox 35">
            <a:extLst>
              <a:ext uri="{FF2B5EF4-FFF2-40B4-BE49-F238E27FC236}">
                <a16:creationId xmlns:a16="http://schemas.microsoft.com/office/drawing/2014/main" id="{34A96B8A-9F7B-8190-CC26-0F9BF179B666}"/>
              </a:ext>
            </a:extLst>
          </p:cNvPr>
          <p:cNvSpPr txBox="1"/>
          <p:nvPr/>
        </p:nvSpPr>
        <p:spPr>
          <a:xfrm>
            <a:off x="10584086" y="1520893"/>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27" name="TextBox 26">
            <a:extLst>
              <a:ext uri="{FF2B5EF4-FFF2-40B4-BE49-F238E27FC236}">
                <a16:creationId xmlns:a16="http://schemas.microsoft.com/office/drawing/2014/main" id="{17589851-6F92-FB3B-C913-3DAC5E9D4B0A}"/>
              </a:ext>
            </a:extLst>
          </p:cNvPr>
          <p:cNvSpPr txBox="1"/>
          <p:nvPr/>
        </p:nvSpPr>
        <p:spPr>
          <a:xfrm>
            <a:off x="13013465" y="2846626"/>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0</a:t>
            </a:r>
          </a:p>
        </p:txBody>
      </p:sp>
      <p:sp>
        <p:nvSpPr>
          <p:cNvPr id="28" name="TextBox 27">
            <a:extLst>
              <a:ext uri="{FF2B5EF4-FFF2-40B4-BE49-F238E27FC236}">
                <a16:creationId xmlns:a16="http://schemas.microsoft.com/office/drawing/2014/main" id="{18DF97F1-C495-B4DA-6198-E3C691629180}"/>
              </a:ext>
            </a:extLst>
          </p:cNvPr>
          <p:cNvSpPr txBox="1"/>
          <p:nvPr/>
        </p:nvSpPr>
        <p:spPr>
          <a:xfrm>
            <a:off x="12990247" y="3353973"/>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1</a:t>
            </a:r>
          </a:p>
        </p:txBody>
      </p:sp>
      <p:sp>
        <p:nvSpPr>
          <p:cNvPr id="33" name="TextBox 32">
            <a:extLst>
              <a:ext uri="{FF2B5EF4-FFF2-40B4-BE49-F238E27FC236}">
                <a16:creationId xmlns:a16="http://schemas.microsoft.com/office/drawing/2014/main" id="{ABAC561E-8752-B06A-7F17-6D754826ABBF}"/>
              </a:ext>
            </a:extLst>
          </p:cNvPr>
          <p:cNvSpPr txBox="1"/>
          <p:nvPr/>
        </p:nvSpPr>
        <p:spPr>
          <a:xfrm>
            <a:off x="12993690" y="3977212"/>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2</a:t>
            </a:r>
          </a:p>
        </p:txBody>
      </p:sp>
      <p:sp>
        <p:nvSpPr>
          <p:cNvPr id="35" name="TextBox 34">
            <a:extLst>
              <a:ext uri="{FF2B5EF4-FFF2-40B4-BE49-F238E27FC236}">
                <a16:creationId xmlns:a16="http://schemas.microsoft.com/office/drawing/2014/main" id="{727E4830-A596-2DFF-1F7D-F044143E3413}"/>
              </a:ext>
            </a:extLst>
          </p:cNvPr>
          <p:cNvSpPr txBox="1"/>
          <p:nvPr/>
        </p:nvSpPr>
        <p:spPr>
          <a:xfrm flipV="1">
            <a:off x="14170457" y="6695418"/>
            <a:ext cx="182865"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37" name="TextBox 36">
            <a:extLst>
              <a:ext uri="{FF2B5EF4-FFF2-40B4-BE49-F238E27FC236}">
                <a16:creationId xmlns:a16="http://schemas.microsoft.com/office/drawing/2014/main" id="{B8837488-9D9D-E0E4-7CBF-4B76F22D5497}"/>
              </a:ext>
            </a:extLst>
          </p:cNvPr>
          <p:cNvSpPr txBox="1"/>
          <p:nvPr/>
        </p:nvSpPr>
        <p:spPr>
          <a:xfrm>
            <a:off x="14143950" y="6342785"/>
            <a:ext cx="182865" cy="332399"/>
          </a:xfrm>
          <a:prstGeom prst="rect">
            <a:avLst/>
          </a:prstGeom>
          <a:noFill/>
        </p:spPr>
        <p:txBody>
          <a:bodyPr wrap="square" lIns="0" tIns="0" rIns="0" bIns="0" rtlCol="0">
            <a:spAutoFit/>
          </a:bodyPr>
          <a:lstStyle/>
          <a:p>
            <a:pPr algn="r"/>
            <a:r>
              <a:rPr lang="en-US" sz="2160" dirty="0">
                <a:solidFill>
                  <a:srgbClr val="FF0000"/>
                </a:solidFill>
              </a:rPr>
              <a:t>1</a:t>
            </a:r>
            <a:endParaRPr lang="en-US" sz="2160" baseline="-25000" dirty="0">
              <a:solidFill>
                <a:srgbClr val="FF0000"/>
              </a:solidFill>
            </a:endParaRPr>
          </a:p>
        </p:txBody>
      </p:sp>
      <p:sp>
        <p:nvSpPr>
          <p:cNvPr id="38" name="TextBox 37">
            <a:extLst>
              <a:ext uri="{FF2B5EF4-FFF2-40B4-BE49-F238E27FC236}">
                <a16:creationId xmlns:a16="http://schemas.microsoft.com/office/drawing/2014/main" id="{40FD328E-342E-E900-6013-AC64ACFC2780}"/>
              </a:ext>
            </a:extLst>
          </p:cNvPr>
          <p:cNvSpPr txBox="1"/>
          <p:nvPr/>
        </p:nvSpPr>
        <p:spPr>
          <a:xfrm>
            <a:off x="11110239" y="2782180"/>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39" name="TextBox 38">
            <a:extLst>
              <a:ext uri="{FF2B5EF4-FFF2-40B4-BE49-F238E27FC236}">
                <a16:creationId xmlns:a16="http://schemas.microsoft.com/office/drawing/2014/main" id="{1DB38532-E2A5-FDA5-0FFE-EB4C5A22D753}"/>
              </a:ext>
            </a:extLst>
          </p:cNvPr>
          <p:cNvSpPr txBox="1"/>
          <p:nvPr/>
        </p:nvSpPr>
        <p:spPr>
          <a:xfrm>
            <a:off x="10645848" y="623524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40" name="TextBox 39">
            <a:extLst>
              <a:ext uri="{FF2B5EF4-FFF2-40B4-BE49-F238E27FC236}">
                <a16:creationId xmlns:a16="http://schemas.microsoft.com/office/drawing/2014/main" id="{89654F39-6285-4995-F1A8-8C75C9C9CABE}"/>
              </a:ext>
            </a:extLst>
          </p:cNvPr>
          <p:cNvSpPr txBox="1"/>
          <p:nvPr/>
        </p:nvSpPr>
        <p:spPr>
          <a:xfrm>
            <a:off x="10110284" y="742096"/>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Tree>
    <p:extLst>
      <p:ext uri="{BB962C8B-B14F-4D97-AF65-F5344CB8AC3E}">
        <p14:creationId xmlns:p14="http://schemas.microsoft.com/office/powerpoint/2010/main" val="217071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1+#ppt_w/2"/>
                                          </p:val>
                                        </p:tav>
                                        <p:tav tm="100000">
                                          <p:val>
                                            <p:strVal val="#ppt_x"/>
                                          </p:val>
                                        </p:tav>
                                      </p:tavLst>
                                    </p:anim>
                                    <p:anim calcmode="lin" valueType="num">
                                      <p:cBhvr additive="base">
                                        <p:cTn id="4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40"/>
                                        </p:tgtEl>
                                        <p:attrNameLst>
                                          <p:attrName>style.visibility</p:attrName>
                                        </p:attrNameLst>
                                      </p:cBhvr>
                                      <p:to>
                                        <p:strVal val="visible"/>
                                      </p:to>
                                    </p:set>
                                    <p:anim calcmode="lin" valueType="num">
                                      <p:cBhvr additive="base">
                                        <p:cTn id="55" dur="500" fill="hold"/>
                                        <p:tgtEl>
                                          <p:spTgt spid="40"/>
                                        </p:tgtEl>
                                        <p:attrNameLst>
                                          <p:attrName>ppt_x</p:attrName>
                                        </p:attrNameLst>
                                      </p:cBhvr>
                                      <p:tavLst>
                                        <p:tav tm="0">
                                          <p:val>
                                            <p:strVal val="1+#ppt_w/2"/>
                                          </p:val>
                                        </p:tav>
                                        <p:tav tm="100000">
                                          <p:val>
                                            <p:strVal val="#ppt_x"/>
                                          </p:val>
                                        </p:tav>
                                      </p:tavLst>
                                    </p:anim>
                                    <p:anim calcmode="lin" valueType="num">
                                      <p:cBhvr additive="base">
                                        <p:cTn id="56"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1+#ppt_w/2"/>
                                          </p:val>
                                        </p:tav>
                                        <p:tav tm="100000">
                                          <p:val>
                                            <p:strVal val="#ppt_x"/>
                                          </p:val>
                                        </p:tav>
                                      </p:tavLst>
                                    </p:anim>
                                    <p:anim calcmode="lin" valueType="num">
                                      <p:cBhvr additive="base">
                                        <p:cTn id="6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 calcmode="lin" valueType="num">
                                      <p:cBhvr additive="base">
                                        <p:cTn id="67" dur="500" fill="hold"/>
                                        <p:tgtEl>
                                          <p:spTgt spid="36"/>
                                        </p:tgtEl>
                                        <p:attrNameLst>
                                          <p:attrName>ppt_x</p:attrName>
                                        </p:attrNameLst>
                                      </p:cBhvr>
                                      <p:tavLst>
                                        <p:tav tm="0">
                                          <p:val>
                                            <p:strVal val="1+#ppt_w/2"/>
                                          </p:val>
                                        </p:tav>
                                        <p:tav tm="100000">
                                          <p:val>
                                            <p:strVal val="#ppt_x"/>
                                          </p:val>
                                        </p:tav>
                                      </p:tavLst>
                                    </p:anim>
                                    <p:anim calcmode="lin" valueType="num">
                                      <p:cBhvr additive="base">
                                        <p:cTn id="6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1+#ppt_w/2"/>
                                          </p:val>
                                        </p:tav>
                                        <p:tav tm="100000">
                                          <p:val>
                                            <p:strVal val="#ppt_x"/>
                                          </p:val>
                                        </p:tav>
                                      </p:tavLst>
                                    </p:anim>
                                    <p:anim calcmode="lin" valueType="num">
                                      <p:cBhvr additive="base">
                                        <p:cTn id="7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500" fill="hold"/>
                                        <p:tgtEl>
                                          <p:spTgt spid="18"/>
                                        </p:tgtEl>
                                        <p:attrNameLst>
                                          <p:attrName>ppt_x</p:attrName>
                                        </p:attrNameLst>
                                      </p:cBhvr>
                                      <p:tavLst>
                                        <p:tav tm="0">
                                          <p:val>
                                            <p:strVal val="1+#ppt_w/2"/>
                                          </p:val>
                                        </p:tav>
                                        <p:tav tm="100000">
                                          <p:val>
                                            <p:strVal val="#ppt_x"/>
                                          </p:val>
                                        </p:tav>
                                      </p:tavLst>
                                    </p:anim>
                                    <p:anim calcmode="lin" valueType="num">
                                      <p:cBhvr additive="base">
                                        <p:cTn id="80"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38"/>
                                        </p:tgtEl>
                                        <p:attrNameLst>
                                          <p:attrName>style.visibility</p:attrName>
                                        </p:attrNameLst>
                                      </p:cBhvr>
                                      <p:to>
                                        <p:strVal val="visible"/>
                                      </p:to>
                                    </p:set>
                                    <p:anim calcmode="lin" valueType="num">
                                      <p:cBhvr additive="base">
                                        <p:cTn id="85" dur="500" fill="hold"/>
                                        <p:tgtEl>
                                          <p:spTgt spid="38"/>
                                        </p:tgtEl>
                                        <p:attrNameLst>
                                          <p:attrName>ppt_x</p:attrName>
                                        </p:attrNameLst>
                                      </p:cBhvr>
                                      <p:tavLst>
                                        <p:tav tm="0">
                                          <p:val>
                                            <p:strVal val="1+#ppt_w/2"/>
                                          </p:val>
                                        </p:tav>
                                        <p:tav tm="100000">
                                          <p:val>
                                            <p:strVal val="#ppt_x"/>
                                          </p:val>
                                        </p:tav>
                                      </p:tavLst>
                                    </p:anim>
                                    <p:anim calcmode="lin" valueType="num">
                                      <p:cBhvr additive="base">
                                        <p:cTn id="86"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additive="base">
                                        <p:cTn id="91" dur="500" fill="hold"/>
                                        <p:tgtEl>
                                          <p:spTgt spid="19"/>
                                        </p:tgtEl>
                                        <p:attrNameLst>
                                          <p:attrName>ppt_x</p:attrName>
                                        </p:attrNameLst>
                                      </p:cBhvr>
                                      <p:tavLst>
                                        <p:tav tm="0">
                                          <p:val>
                                            <p:strVal val="1+#ppt_w/2"/>
                                          </p:val>
                                        </p:tav>
                                        <p:tav tm="100000">
                                          <p:val>
                                            <p:strVal val="#ppt_x"/>
                                          </p:val>
                                        </p:tav>
                                      </p:tavLst>
                                    </p:anim>
                                    <p:anim calcmode="lin" valueType="num">
                                      <p:cBhvr additive="base">
                                        <p:cTn id="9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39"/>
                                        </p:tgtEl>
                                        <p:attrNameLst>
                                          <p:attrName>style.visibility</p:attrName>
                                        </p:attrNameLst>
                                      </p:cBhvr>
                                      <p:to>
                                        <p:strVal val="visible"/>
                                      </p:to>
                                    </p:set>
                                    <p:anim calcmode="lin" valueType="num">
                                      <p:cBhvr additive="base">
                                        <p:cTn id="97" dur="500" fill="hold"/>
                                        <p:tgtEl>
                                          <p:spTgt spid="39"/>
                                        </p:tgtEl>
                                        <p:attrNameLst>
                                          <p:attrName>ppt_x</p:attrName>
                                        </p:attrNameLst>
                                      </p:cBhvr>
                                      <p:tavLst>
                                        <p:tav tm="0">
                                          <p:val>
                                            <p:strVal val="1+#ppt_w/2"/>
                                          </p:val>
                                        </p:tav>
                                        <p:tav tm="100000">
                                          <p:val>
                                            <p:strVal val="#ppt_x"/>
                                          </p:val>
                                        </p:tav>
                                      </p:tavLst>
                                    </p:anim>
                                    <p:anim calcmode="lin" valueType="num">
                                      <p:cBhvr additive="base">
                                        <p:cTn id="98"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2" fill="hold" grpId="0" nodeType="clickEffect">
                                  <p:stCondLst>
                                    <p:cond delay="0"/>
                                  </p:stCondLst>
                                  <p:childTnLst>
                                    <p:set>
                                      <p:cBhvr>
                                        <p:cTn id="102" dur="1" fill="hold">
                                          <p:stCondLst>
                                            <p:cond delay="0"/>
                                          </p:stCondLst>
                                        </p:cTn>
                                        <p:tgtEl>
                                          <p:spTgt spid="20"/>
                                        </p:tgtEl>
                                        <p:attrNameLst>
                                          <p:attrName>style.visibility</p:attrName>
                                        </p:attrNameLst>
                                      </p:cBhvr>
                                      <p:to>
                                        <p:strVal val="visible"/>
                                      </p:to>
                                    </p:set>
                                    <p:anim calcmode="lin" valueType="num">
                                      <p:cBhvr additive="base">
                                        <p:cTn id="103" dur="500" fill="hold"/>
                                        <p:tgtEl>
                                          <p:spTgt spid="20"/>
                                        </p:tgtEl>
                                        <p:attrNameLst>
                                          <p:attrName>ppt_x</p:attrName>
                                        </p:attrNameLst>
                                      </p:cBhvr>
                                      <p:tavLst>
                                        <p:tav tm="0">
                                          <p:val>
                                            <p:strVal val="1+#ppt_w/2"/>
                                          </p:val>
                                        </p:tav>
                                        <p:tav tm="100000">
                                          <p:val>
                                            <p:strVal val="#ppt_x"/>
                                          </p:val>
                                        </p:tav>
                                      </p:tavLst>
                                    </p:anim>
                                    <p:anim calcmode="lin" valueType="num">
                                      <p:cBhvr additive="base">
                                        <p:cTn id="10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21"/>
                                        </p:tgtEl>
                                        <p:attrNameLst>
                                          <p:attrName>style.visibility</p:attrName>
                                        </p:attrNameLst>
                                      </p:cBhvr>
                                      <p:to>
                                        <p:strVal val="visible"/>
                                      </p:to>
                                    </p:set>
                                    <p:anim calcmode="lin" valueType="num">
                                      <p:cBhvr additive="base">
                                        <p:cTn id="109" dur="500" fill="hold"/>
                                        <p:tgtEl>
                                          <p:spTgt spid="21"/>
                                        </p:tgtEl>
                                        <p:attrNameLst>
                                          <p:attrName>ppt_x</p:attrName>
                                        </p:attrNameLst>
                                      </p:cBhvr>
                                      <p:tavLst>
                                        <p:tav tm="0">
                                          <p:val>
                                            <p:strVal val="1+#ppt_w/2"/>
                                          </p:val>
                                        </p:tav>
                                        <p:tav tm="100000">
                                          <p:val>
                                            <p:strVal val="#ppt_x"/>
                                          </p:val>
                                        </p:tav>
                                      </p:tavLst>
                                    </p:anim>
                                    <p:anim calcmode="lin" valueType="num">
                                      <p:cBhvr additive="base">
                                        <p:cTn id="110"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22"/>
                                        </p:tgtEl>
                                        <p:attrNameLst>
                                          <p:attrName>style.visibility</p:attrName>
                                        </p:attrNameLst>
                                      </p:cBhvr>
                                      <p:to>
                                        <p:strVal val="visible"/>
                                      </p:to>
                                    </p:set>
                                    <p:anim calcmode="lin" valueType="num">
                                      <p:cBhvr additive="base">
                                        <p:cTn id="115" dur="500" fill="hold"/>
                                        <p:tgtEl>
                                          <p:spTgt spid="22"/>
                                        </p:tgtEl>
                                        <p:attrNameLst>
                                          <p:attrName>ppt_x</p:attrName>
                                        </p:attrNameLst>
                                      </p:cBhvr>
                                      <p:tavLst>
                                        <p:tav tm="0">
                                          <p:val>
                                            <p:strVal val="1+#ppt_w/2"/>
                                          </p:val>
                                        </p:tav>
                                        <p:tav tm="100000">
                                          <p:val>
                                            <p:strVal val="#ppt_x"/>
                                          </p:val>
                                        </p:tav>
                                      </p:tavLst>
                                    </p:anim>
                                    <p:anim calcmode="lin" valueType="num">
                                      <p:cBhvr additive="base">
                                        <p:cTn id="116"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2" fill="hold" grpId="0" nodeType="clickEffect">
                                  <p:stCondLst>
                                    <p:cond delay="0"/>
                                  </p:stCondLst>
                                  <p:childTnLst>
                                    <p:set>
                                      <p:cBhvr>
                                        <p:cTn id="120" dur="1" fill="hold">
                                          <p:stCondLst>
                                            <p:cond delay="0"/>
                                          </p:stCondLst>
                                        </p:cTn>
                                        <p:tgtEl>
                                          <p:spTgt spid="24"/>
                                        </p:tgtEl>
                                        <p:attrNameLst>
                                          <p:attrName>style.visibility</p:attrName>
                                        </p:attrNameLst>
                                      </p:cBhvr>
                                      <p:to>
                                        <p:strVal val="visible"/>
                                      </p:to>
                                    </p:set>
                                    <p:anim calcmode="lin" valueType="num">
                                      <p:cBhvr additive="base">
                                        <p:cTn id="121" dur="500" fill="hold"/>
                                        <p:tgtEl>
                                          <p:spTgt spid="24"/>
                                        </p:tgtEl>
                                        <p:attrNameLst>
                                          <p:attrName>ppt_x</p:attrName>
                                        </p:attrNameLst>
                                      </p:cBhvr>
                                      <p:tavLst>
                                        <p:tav tm="0">
                                          <p:val>
                                            <p:strVal val="1+#ppt_w/2"/>
                                          </p:val>
                                        </p:tav>
                                        <p:tav tm="100000">
                                          <p:val>
                                            <p:strVal val="#ppt_x"/>
                                          </p:val>
                                        </p:tav>
                                      </p:tavLst>
                                    </p:anim>
                                    <p:anim calcmode="lin" valueType="num">
                                      <p:cBhvr additive="base">
                                        <p:cTn id="122"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2" fill="hold" grpId="0" nodeType="clickEffect">
                                  <p:stCondLst>
                                    <p:cond delay="0"/>
                                  </p:stCondLst>
                                  <p:childTnLst>
                                    <p:set>
                                      <p:cBhvr>
                                        <p:cTn id="126" dur="1" fill="hold">
                                          <p:stCondLst>
                                            <p:cond delay="0"/>
                                          </p:stCondLst>
                                        </p:cTn>
                                        <p:tgtEl>
                                          <p:spTgt spid="23"/>
                                        </p:tgtEl>
                                        <p:attrNameLst>
                                          <p:attrName>style.visibility</p:attrName>
                                        </p:attrNameLst>
                                      </p:cBhvr>
                                      <p:to>
                                        <p:strVal val="visible"/>
                                      </p:to>
                                    </p:set>
                                    <p:anim calcmode="lin" valueType="num">
                                      <p:cBhvr additive="base">
                                        <p:cTn id="127" dur="500" fill="hold"/>
                                        <p:tgtEl>
                                          <p:spTgt spid="23"/>
                                        </p:tgtEl>
                                        <p:attrNameLst>
                                          <p:attrName>ppt_x</p:attrName>
                                        </p:attrNameLst>
                                      </p:cBhvr>
                                      <p:tavLst>
                                        <p:tav tm="0">
                                          <p:val>
                                            <p:strVal val="1+#ppt_w/2"/>
                                          </p:val>
                                        </p:tav>
                                        <p:tav tm="100000">
                                          <p:val>
                                            <p:strVal val="#ppt_x"/>
                                          </p:val>
                                        </p:tav>
                                      </p:tavLst>
                                    </p:anim>
                                    <p:anim calcmode="lin" valueType="num">
                                      <p:cBhvr additive="base">
                                        <p:cTn id="12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2"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anim calcmode="lin" valueType="num">
                                      <p:cBhvr additive="base">
                                        <p:cTn id="133" dur="500" fill="hold"/>
                                        <p:tgtEl>
                                          <p:spTgt spid="25"/>
                                        </p:tgtEl>
                                        <p:attrNameLst>
                                          <p:attrName>ppt_x</p:attrName>
                                        </p:attrNameLst>
                                      </p:cBhvr>
                                      <p:tavLst>
                                        <p:tav tm="0">
                                          <p:val>
                                            <p:strVal val="1+#ppt_w/2"/>
                                          </p:val>
                                        </p:tav>
                                        <p:tav tm="100000">
                                          <p:val>
                                            <p:strVal val="#ppt_x"/>
                                          </p:val>
                                        </p:tav>
                                      </p:tavLst>
                                    </p:anim>
                                    <p:anim calcmode="lin" valueType="num">
                                      <p:cBhvr additive="base">
                                        <p:cTn id="134"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2" fill="hold" grpId="0" nodeType="clickEffect">
                                  <p:stCondLst>
                                    <p:cond delay="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500" fill="hold"/>
                                        <p:tgtEl>
                                          <p:spTgt spid="35"/>
                                        </p:tgtEl>
                                        <p:attrNameLst>
                                          <p:attrName>ppt_x</p:attrName>
                                        </p:attrNameLst>
                                      </p:cBhvr>
                                      <p:tavLst>
                                        <p:tav tm="0">
                                          <p:val>
                                            <p:strVal val="1+#ppt_w/2"/>
                                          </p:val>
                                        </p:tav>
                                        <p:tav tm="100000">
                                          <p:val>
                                            <p:strVal val="#ppt_x"/>
                                          </p:val>
                                        </p:tav>
                                      </p:tavLst>
                                    </p:anim>
                                    <p:anim calcmode="lin" valueType="num">
                                      <p:cBhvr additive="base">
                                        <p:cTn id="140"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2" fill="hold" grpId="0" nodeType="clickEffect">
                                  <p:stCondLst>
                                    <p:cond delay="0"/>
                                  </p:stCondLst>
                                  <p:childTnLst>
                                    <p:set>
                                      <p:cBhvr>
                                        <p:cTn id="144" dur="1" fill="hold">
                                          <p:stCondLst>
                                            <p:cond delay="0"/>
                                          </p:stCondLst>
                                        </p:cTn>
                                        <p:tgtEl>
                                          <p:spTgt spid="37"/>
                                        </p:tgtEl>
                                        <p:attrNameLst>
                                          <p:attrName>style.visibility</p:attrName>
                                        </p:attrNameLst>
                                      </p:cBhvr>
                                      <p:to>
                                        <p:strVal val="visible"/>
                                      </p:to>
                                    </p:set>
                                    <p:anim calcmode="lin" valueType="num">
                                      <p:cBhvr additive="base">
                                        <p:cTn id="145" dur="500" fill="hold"/>
                                        <p:tgtEl>
                                          <p:spTgt spid="37"/>
                                        </p:tgtEl>
                                        <p:attrNameLst>
                                          <p:attrName>ppt_x</p:attrName>
                                        </p:attrNameLst>
                                      </p:cBhvr>
                                      <p:tavLst>
                                        <p:tav tm="0">
                                          <p:val>
                                            <p:strVal val="1+#ppt_w/2"/>
                                          </p:val>
                                        </p:tav>
                                        <p:tav tm="100000">
                                          <p:val>
                                            <p:strVal val="#ppt_x"/>
                                          </p:val>
                                        </p:tav>
                                      </p:tavLst>
                                    </p:anim>
                                    <p:anim calcmode="lin" valueType="num">
                                      <p:cBhvr additive="base">
                                        <p:cTn id="146"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2" fill="hold" grpId="0" nodeType="clickEffect">
                                  <p:stCondLst>
                                    <p:cond delay="0"/>
                                  </p:stCondLst>
                                  <p:childTnLst>
                                    <p:set>
                                      <p:cBhvr>
                                        <p:cTn id="150" dur="1" fill="hold">
                                          <p:stCondLst>
                                            <p:cond delay="0"/>
                                          </p:stCondLst>
                                        </p:cTn>
                                        <p:tgtEl>
                                          <p:spTgt spid="26"/>
                                        </p:tgtEl>
                                        <p:attrNameLst>
                                          <p:attrName>style.visibility</p:attrName>
                                        </p:attrNameLst>
                                      </p:cBhvr>
                                      <p:to>
                                        <p:strVal val="visible"/>
                                      </p:to>
                                    </p:set>
                                    <p:anim calcmode="lin" valueType="num">
                                      <p:cBhvr additive="base">
                                        <p:cTn id="151" dur="500" fill="hold"/>
                                        <p:tgtEl>
                                          <p:spTgt spid="26"/>
                                        </p:tgtEl>
                                        <p:attrNameLst>
                                          <p:attrName>ppt_x</p:attrName>
                                        </p:attrNameLst>
                                      </p:cBhvr>
                                      <p:tavLst>
                                        <p:tav tm="0">
                                          <p:val>
                                            <p:strVal val="1+#ppt_w/2"/>
                                          </p:val>
                                        </p:tav>
                                        <p:tav tm="100000">
                                          <p:val>
                                            <p:strVal val="#ppt_x"/>
                                          </p:val>
                                        </p:tav>
                                      </p:tavLst>
                                    </p:anim>
                                    <p:anim calcmode="lin" valueType="num">
                                      <p:cBhvr additive="base">
                                        <p:cTn id="152"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30"/>
                                        </p:tgtEl>
                                        <p:attrNameLst>
                                          <p:attrName>style.visibility</p:attrName>
                                        </p:attrNameLst>
                                      </p:cBhvr>
                                      <p:to>
                                        <p:strVal val="visible"/>
                                      </p:to>
                                    </p:set>
                                    <p:anim calcmode="lin" valueType="num">
                                      <p:cBhvr additive="base">
                                        <p:cTn id="157" dur="500" fill="hold"/>
                                        <p:tgtEl>
                                          <p:spTgt spid="30"/>
                                        </p:tgtEl>
                                        <p:attrNameLst>
                                          <p:attrName>ppt_x</p:attrName>
                                        </p:attrNameLst>
                                      </p:cBhvr>
                                      <p:tavLst>
                                        <p:tav tm="0">
                                          <p:val>
                                            <p:strVal val="0-#ppt_w/2"/>
                                          </p:val>
                                        </p:tav>
                                        <p:tav tm="100000">
                                          <p:val>
                                            <p:strVal val="#ppt_x"/>
                                          </p:val>
                                        </p:tav>
                                      </p:tavLst>
                                    </p:anim>
                                    <p:anim calcmode="lin" valueType="num">
                                      <p:cBhvr additive="base">
                                        <p:cTn id="158"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29"/>
                                        </p:tgtEl>
                                        <p:attrNameLst>
                                          <p:attrName>style.visibility</p:attrName>
                                        </p:attrNameLst>
                                      </p:cBhvr>
                                      <p:to>
                                        <p:strVal val="visible"/>
                                      </p:to>
                                    </p:set>
                                    <p:anim calcmode="lin" valueType="num">
                                      <p:cBhvr additive="base">
                                        <p:cTn id="163" dur="500" fill="hold"/>
                                        <p:tgtEl>
                                          <p:spTgt spid="29"/>
                                        </p:tgtEl>
                                        <p:attrNameLst>
                                          <p:attrName>ppt_x</p:attrName>
                                        </p:attrNameLst>
                                      </p:cBhvr>
                                      <p:tavLst>
                                        <p:tav tm="0">
                                          <p:val>
                                            <p:strVal val="0-#ppt_w/2"/>
                                          </p:val>
                                        </p:tav>
                                        <p:tav tm="100000">
                                          <p:val>
                                            <p:strVal val="#ppt_x"/>
                                          </p:val>
                                        </p:tav>
                                      </p:tavLst>
                                    </p:anim>
                                    <p:anim calcmode="lin" valueType="num">
                                      <p:cBhvr additive="base">
                                        <p:cTn id="164"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31"/>
                                        </p:tgtEl>
                                        <p:attrNameLst>
                                          <p:attrName>style.visibility</p:attrName>
                                        </p:attrNameLst>
                                      </p:cBhvr>
                                      <p:to>
                                        <p:strVal val="visible"/>
                                      </p:to>
                                    </p:set>
                                    <p:anim calcmode="lin" valueType="num">
                                      <p:cBhvr additive="base">
                                        <p:cTn id="169" dur="500" fill="hold"/>
                                        <p:tgtEl>
                                          <p:spTgt spid="31"/>
                                        </p:tgtEl>
                                        <p:attrNameLst>
                                          <p:attrName>ppt_x</p:attrName>
                                        </p:attrNameLst>
                                      </p:cBhvr>
                                      <p:tavLst>
                                        <p:tav tm="0">
                                          <p:val>
                                            <p:strVal val="0-#ppt_w/2"/>
                                          </p:val>
                                        </p:tav>
                                        <p:tav tm="100000">
                                          <p:val>
                                            <p:strVal val="#ppt_x"/>
                                          </p:val>
                                        </p:tav>
                                      </p:tavLst>
                                    </p:anim>
                                    <p:anim calcmode="lin" valueType="num">
                                      <p:cBhvr additive="base">
                                        <p:cTn id="170"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9" grpId="0"/>
      <p:bldP spid="30" grpId="0"/>
      <p:bldP spid="31" grpId="0"/>
      <p:bldP spid="36" grpId="0"/>
      <p:bldP spid="35" grpId="0"/>
      <p:bldP spid="37" grpId="0"/>
      <p:bldP spid="38" grpId="0"/>
      <p:bldP spid="39"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812175" y="155523"/>
            <a:ext cx="7331826" cy="891882"/>
          </a:xfrm>
        </p:spPr>
        <p:txBody>
          <a:bodyPr>
            <a:normAutofit/>
          </a:bodyPr>
          <a:lstStyle/>
          <a:p>
            <a:r>
              <a:rPr lang="en-US" sz="5400" b="1" dirty="0">
                <a:solidFill>
                  <a:srgbClr val="0070C0"/>
                </a:solidFill>
              </a:rPr>
              <a:t>Hardware Configuration</a:t>
            </a:r>
            <a:endParaRPr lang="en-US" sz="54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216132" y="1319349"/>
            <a:ext cx="8794878" cy="5708468"/>
          </a:xfrm>
        </p:spPr>
        <p:txBody>
          <a:bodyPr>
            <a:noAutofit/>
          </a:bodyPr>
          <a:lstStyle/>
          <a:p>
            <a:pPr marL="0" indent="0">
              <a:buNone/>
            </a:pPr>
            <a:r>
              <a:rPr lang="en-US" sz="3600" dirty="0">
                <a:solidFill>
                  <a:srgbClr val="FF0000"/>
                </a:solidFill>
              </a:rPr>
              <a:t>If </a:t>
            </a:r>
            <a:r>
              <a:rPr lang="en-US" sz="3600" i="1" dirty="0" err="1">
                <a:solidFill>
                  <a:srgbClr val="FF0000"/>
                </a:solidFill>
              </a:rPr>
              <a:t>q</a:t>
            </a:r>
            <a:r>
              <a:rPr lang="en-US" sz="3600" i="1" baseline="-25000" dirty="0" err="1">
                <a:solidFill>
                  <a:srgbClr val="FF0000"/>
                </a:solidFill>
              </a:rPr>
              <a:t>a</a:t>
            </a:r>
            <a:r>
              <a:rPr lang="en-US" sz="3600" dirty="0">
                <a:solidFill>
                  <a:srgbClr val="FF0000"/>
                </a:solidFill>
              </a:rPr>
              <a:t> = 1</a:t>
            </a:r>
            <a:r>
              <a:rPr lang="en-US" sz="3600" dirty="0"/>
              <a:t>, address </a:t>
            </a:r>
            <a:r>
              <a:rPr lang="en-US" sz="3600" dirty="0">
                <a:solidFill>
                  <a:srgbClr val="FF0000"/>
                </a:solidFill>
              </a:rPr>
              <a:t>010</a:t>
            </a:r>
            <a:r>
              <a:rPr lang="en-US" sz="3600" dirty="0"/>
              <a:t> is applied to the CAR. </a:t>
            </a:r>
          </a:p>
          <a:p>
            <a:pPr marL="0" indent="0">
              <a:buNone/>
            </a:pPr>
            <a:r>
              <a:rPr lang="en-US" sz="3600" dirty="0">
                <a:solidFill>
                  <a:srgbClr val="FF0000"/>
                </a:solidFill>
              </a:rPr>
              <a:t>Initially, </a:t>
            </a:r>
            <a:r>
              <a:rPr lang="en-US" sz="3600" i="1" dirty="0">
                <a:solidFill>
                  <a:srgbClr val="FF0000"/>
                </a:solidFill>
              </a:rPr>
              <a:t>x</a:t>
            </a:r>
            <a:r>
              <a:rPr lang="en-US" sz="3600" dirty="0">
                <a:solidFill>
                  <a:srgbClr val="FF0000"/>
                </a:solidFill>
              </a:rPr>
              <a:t> = 1. </a:t>
            </a:r>
          </a:p>
          <a:p>
            <a:pPr marL="0" indent="0">
              <a:buNone/>
            </a:pPr>
            <a:r>
              <a:rPr lang="en-US" sz="3600" dirty="0"/>
              <a:t>An input of 1 is selected by the multiplexer when </a:t>
            </a:r>
            <a:r>
              <a:rPr lang="en-US" sz="3600" dirty="0">
                <a:solidFill>
                  <a:srgbClr val="FF0000"/>
                </a:solidFill>
              </a:rPr>
              <a:t>bits 13 and 14 are 01</a:t>
            </a:r>
            <a:r>
              <a:rPr lang="en-US" sz="3600" dirty="0"/>
              <a:t>. The output of the multiplexer is 1, and the </a:t>
            </a:r>
            <a:r>
              <a:rPr lang="en-US" sz="3600" dirty="0">
                <a:solidFill>
                  <a:srgbClr val="FF0000"/>
                </a:solidFill>
              </a:rPr>
              <a:t>external input is loaded into CAR</a:t>
            </a:r>
            <a:r>
              <a:rPr lang="en-US" sz="3600" dirty="0"/>
              <a:t>.</a:t>
            </a:r>
          </a:p>
        </p:txBody>
      </p:sp>
      <p:sp>
        <p:nvSpPr>
          <p:cNvPr id="4" name="Date Placeholder 3"/>
          <p:cNvSpPr>
            <a:spLocks noGrp="1"/>
          </p:cNvSpPr>
          <p:nvPr>
            <p:ph type="dt" sz="half" idx="10"/>
          </p:nvPr>
        </p:nvSpPr>
        <p:spPr/>
        <p:txBody>
          <a:bodyPr/>
          <a:lstStyle/>
          <a:p>
            <a:fld id="{7D23D2F7-B1FF-4031-B306-55F7B2083B8E}"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8</a:t>
            </a:fld>
            <a:endParaRPr lang="en-US" dirty="0"/>
          </a:p>
        </p:txBody>
      </p:sp>
      <p:pic>
        <p:nvPicPr>
          <p:cNvPr id="7" name="Content Placeholder 3">
            <a:extLst>
              <a:ext uri="{FF2B5EF4-FFF2-40B4-BE49-F238E27FC236}">
                <a16:creationId xmlns:a16="http://schemas.microsoft.com/office/drawing/2014/main" id="{CF748C0B-6F96-2D96-9ECE-4068B8AAF8A9}"/>
              </a:ext>
            </a:extLst>
          </p:cNvPr>
          <p:cNvPicPr>
            <a:picLocks noChangeAspect="1"/>
          </p:cNvPicPr>
          <p:nvPr/>
        </p:nvPicPr>
        <p:blipFill rotWithShape="1">
          <a:blip r:embed="rId2">
            <a:duotone>
              <a:schemeClr val="accent1">
                <a:shade val="45000"/>
                <a:satMod val="135000"/>
              </a:schemeClr>
              <a:prstClr val="white"/>
            </a:duotone>
            <a:lum bright="-20000" contrast="40000"/>
          </a:blip>
          <a:srcRect l="4931" t="2271" r="1780" b="1920"/>
          <a:stretch/>
        </p:blipFill>
        <p:spPr>
          <a:xfrm>
            <a:off x="9313818" y="640080"/>
            <a:ext cx="6945877" cy="7184558"/>
          </a:xfrm>
          <a:prstGeom prst="rect">
            <a:avLst/>
          </a:prstGeom>
        </p:spPr>
      </p:pic>
      <p:sp>
        <p:nvSpPr>
          <p:cNvPr id="8" name="TextBox 7">
            <a:extLst>
              <a:ext uri="{FF2B5EF4-FFF2-40B4-BE49-F238E27FC236}">
                <a16:creationId xmlns:a16="http://schemas.microsoft.com/office/drawing/2014/main" id="{09587C7A-5136-A4E3-95E4-61B5539D7A2B}"/>
              </a:ext>
            </a:extLst>
          </p:cNvPr>
          <p:cNvSpPr txBox="1"/>
          <p:nvPr/>
        </p:nvSpPr>
        <p:spPr>
          <a:xfrm>
            <a:off x="15154908" y="1613967"/>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9" name="TextBox 8">
            <a:extLst>
              <a:ext uri="{FF2B5EF4-FFF2-40B4-BE49-F238E27FC236}">
                <a16:creationId xmlns:a16="http://schemas.microsoft.com/office/drawing/2014/main" id="{F7283380-39F0-3164-4562-C3041A1CFB5F}"/>
              </a:ext>
            </a:extLst>
          </p:cNvPr>
          <p:cNvSpPr txBox="1"/>
          <p:nvPr/>
        </p:nvSpPr>
        <p:spPr>
          <a:xfrm>
            <a:off x="10487113" y="404962"/>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10" name="TextBox 9">
            <a:extLst>
              <a:ext uri="{FF2B5EF4-FFF2-40B4-BE49-F238E27FC236}">
                <a16:creationId xmlns:a16="http://schemas.microsoft.com/office/drawing/2014/main" id="{3EF306BF-6FE5-8B0F-F6AB-FAC7ED16219F}"/>
              </a:ext>
            </a:extLst>
          </p:cNvPr>
          <p:cNvSpPr txBox="1"/>
          <p:nvPr/>
        </p:nvSpPr>
        <p:spPr>
          <a:xfrm>
            <a:off x="10110284" y="6181613"/>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11" name="TextBox 10">
            <a:extLst>
              <a:ext uri="{FF2B5EF4-FFF2-40B4-BE49-F238E27FC236}">
                <a16:creationId xmlns:a16="http://schemas.microsoft.com/office/drawing/2014/main" id="{81A136F5-7C15-6F48-997A-116BCFF10D05}"/>
              </a:ext>
            </a:extLst>
          </p:cNvPr>
          <p:cNvSpPr txBox="1"/>
          <p:nvPr/>
        </p:nvSpPr>
        <p:spPr>
          <a:xfrm>
            <a:off x="14935215" y="3987789"/>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2" name="TextBox 11">
            <a:extLst>
              <a:ext uri="{FF2B5EF4-FFF2-40B4-BE49-F238E27FC236}">
                <a16:creationId xmlns:a16="http://schemas.microsoft.com/office/drawing/2014/main" id="{379C64FE-49CA-78E5-EFB2-11910A5B4E51}"/>
              </a:ext>
            </a:extLst>
          </p:cNvPr>
          <p:cNvSpPr txBox="1"/>
          <p:nvPr/>
        </p:nvSpPr>
        <p:spPr>
          <a:xfrm>
            <a:off x="14935215" y="4241810"/>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3" name="TextBox 12">
            <a:extLst>
              <a:ext uri="{FF2B5EF4-FFF2-40B4-BE49-F238E27FC236}">
                <a16:creationId xmlns:a16="http://schemas.microsoft.com/office/drawing/2014/main" id="{35BDB07F-65E7-1B85-02CA-91B26EB5695E}"/>
              </a:ext>
            </a:extLst>
          </p:cNvPr>
          <p:cNvSpPr txBox="1"/>
          <p:nvPr/>
        </p:nvSpPr>
        <p:spPr>
          <a:xfrm flipV="1">
            <a:off x="15076539" y="4537903"/>
            <a:ext cx="182865"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4" name="TextBox 13">
            <a:extLst>
              <a:ext uri="{FF2B5EF4-FFF2-40B4-BE49-F238E27FC236}">
                <a16:creationId xmlns:a16="http://schemas.microsoft.com/office/drawing/2014/main" id="{37EDC989-9CC4-06AC-2A94-3F5AF62C4BB0}"/>
              </a:ext>
            </a:extLst>
          </p:cNvPr>
          <p:cNvSpPr txBox="1"/>
          <p:nvPr/>
        </p:nvSpPr>
        <p:spPr>
          <a:xfrm flipV="1">
            <a:off x="11973133" y="3725122"/>
            <a:ext cx="182865"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5" name="TextBox 14">
            <a:extLst>
              <a:ext uri="{FF2B5EF4-FFF2-40B4-BE49-F238E27FC236}">
                <a16:creationId xmlns:a16="http://schemas.microsoft.com/office/drawing/2014/main" id="{8402ED18-1600-2B4F-F881-69FBFABA66FC}"/>
              </a:ext>
            </a:extLst>
          </p:cNvPr>
          <p:cNvSpPr txBox="1"/>
          <p:nvPr/>
        </p:nvSpPr>
        <p:spPr>
          <a:xfrm>
            <a:off x="11831809" y="3226523"/>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6" name="TextBox 15">
            <a:extLst>
              <a:ext uri="{FF2B5EF4-FFF2-40B4-BE49-F238E27FC236}">
                <a16:creationId xmlns:a16="http://schemas.microsoft.com/office/drawing/2014/main" id="{2B0AFEDB-88E9-C932-3420-DCEDD855AD27}"/>
              </a:ext>
            </a:extLst>
          </p:cNvPr>
          <p:cNvSpPr txBox="1"/>
          <p:nvPr/>
        </p:nvSpPr>
        <p:spPr>
          <a:xfrm>
            <a:off x="11831809" y="2680427"/>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7" name="TextBox 16">
            <a:extLst>
              <a:ext uri="{FF2B5EF4-FFF2-40B4-BE49-F238E27FC236}">
                <a16:creationId xmlns:a16="http://schemas.microsoft.com/office/drawing/2014/main" id="{E542AE47-0C79-424A-EA9A-408EF0D3F731}"/>
              </a:ext>
            </a:extLst>
          </p:cNvPr>
          <p:cNvSpPr txBox="1"/>
          <p:nvPr/>
        </p:nvSpPr>
        <p:spPr>
          <a:xfrm>
            <a:off x="10468492" y="2846626"/>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8" name="TextBox 17">
            <a:extLst>
              <a:ext uri="{FF2B5EF4-FFF2-40B4-BE49-F238E27FC236}">
                <a16:creationId xmlns:a16="http://schemas.microsoft.com/office/drawing/2014/main" id="{68F64A2B-7C9A-0EA1-0526-652F57914241}"/>
              </a:ext>
            </a:extLst>
          </p:cNvPr>
          <p:cNvSpPr txBox="1"/>
          <p:nvPr/>
        </p:nvSpPr>
        <p:spPr>
          <a:xfrm>
            <a:off x="9786834" y="283577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19" name="TextBox 18">
            <a:extLst>
              <a:ext uri="{FF2B5EF4-FFF2-40B4-BE49-F238E27FC236}">
                <a16:creationId xmlns:a16="http://schemas.microsoft.com/office/drawing/2014/main" id="{3E082E3A-CEAD-7DCD-BA32-BE5AD8E6619D}"/>
              </a:ext>
            </a:extLst>
          </p:cNvPr>
          <p:cNvSpPr txBox="1"/>
          <p:nvPr/>
        </p:nvSpPr>
        <p:spPr>
          <a:xfrm>
            <a:off x="11158869" y="426982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0" name="TextBox 19">
            <a:extLst>
              <a:ext uri="{FF2B5EF4-FFF2-40B4-BE49-F238E27FC236}">
                <a16:creationId xmlns:a16="http://schemas.microsoft.com/office/drawing/2014/main" id="{0F88670E-B0C3-A457-BDB1-7AE9F8DE6B8C}"/>
              </a:ext>
            </a:extLst>
          </p:cNvPr>
          <p:cNvSpPr txBox="1"/>
          <p:nvPr/>
        </p:nvSpPr>
        <p:spPr>
          <a:xfrm>
            <a:off x="9770831" y="426982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1" name="TextBox 20">
            <a:extLst>
              <a:ext uri="{FF2B5EF4-FFF2-40B4-BE49-F238E27FC236}">
                <a16:creationId xmlns:a16="http://schemas.microsoft.com/office/drawing/2014/main" id="{39873082-E6EF-A06D-5689-F7699866DFAE}"/>
              </a:ext>
            </a:extLst>
          </p:cNvPr>
          <p:cNvSpPr txBox="1"/>
          <p:nvPr/>
        </p:nvSpPr>
        <p:spPr>
          <a:xfrm>
            <a:off x="10575796" y="5444831"/>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22" name="TextBox 21">
            <a:extLst>
              <a:ext uri="{FF2B5EF4-FFF2-40B4-BE49-F238E27FC236}">
                <a16:creationId xmlns:a16="http://schemas.microsoft.com/office/drawing/2014/main" id="{23D65379-95F5-C8C2-1C81-78073A4DCB5B}"/>
              </a:ext>
            </a:extLst>
          </p:cNvPr>
          <p:cNvSpPr txBox="1"/>
          <p:nvPr/>
        </p:nvSpPr>
        <p:spPr>
          <a:xfrm>
            <a:off x="10486125" y="4231993"/>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23" name="TextBox 22">
            <a:extLst>
              <a:ext uri="{FF2B5EF4-FFF2-40B4-BE49-F238E27FC236}">
                <a16:creationId xmlns:a16="http://schemas.microsoft.com/office/drawing/2014/main" id="{5273A2FC-65A0-AEBA-E070-7EDF793929AA}"/>
              </a:ext>
            </a:extLst>
          </p:cNvPr>
          <p:cNvSpPr txBox="1"/>
          <p:nvPr/>
        </p:nvSpPr>
        <p:spPr>
          <a:xfrm>
            <a:off x="12554000" y="3226523"/>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24" name="TextBox 23">
            <a:extLst>
              <a:ext uri="{FF2B5EF4-FFF2-40B4-BE49-F238E27FC236}">
                <a16:creationId xmlns:a16="http://schemas.microsoft.com/office/drawing/2014/main" id="{91FB9F3D-D687-7F1C-2136-7E845C9B89F7}"/>
              </a:ext>
            </a:extLst>
          </p:cNvPr>
          <p:cNvSpPr txBox="1"/>
          <p:nvPr/>
        </p:nvSpPr>
        <p:spPr>
          <a:xfrm>
            <a:off x="12539593" y="2747519"/>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5" name="TextBox 24">
            <a:extLst>
              <a:ext uri="{FF2B5EF4-FFF2-40B4-BE49-F238E27FC236}">
                <a16:creationId xmlns:a16="http://schemas.microsoft.com/office/drawing/2014/main" id="{D8C803BE-3C47-EA82-9B23-62C3C64EB8E0}"/>
              </a:ext>
            </a:extLst>
          </p:cNvPr>
          <p:cNvSpPr txBox="1"/>
          <p:nvPr/>
        </p:nvSpPr>
        <p:spPr>
          <a:xfrm>
            <a:off x="12525743" y="3773433"/>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6" name="TextBox 25">
            <a:extLst>
              <a:ext uri="{FF2B5EF4-FFF2-40B4-BE49-F238E27FC236}">
                <a16:creationId xmlns:a16="http://schemas.microsoft.com/office/drawing/2014/main" id="{FDA602EB-F4B3-9A61-FD7C-1FABEF3F71B5}"/>
              </a:ext>
            </a:extLst>
          </p:cNvPr>
          <p:cNvSpPr txBox="1"/>
          <p:nvPr/>
        </p:nvSpPr>
        <p:spPr>
          <a:xfrm>
            <a:off x="13250891" y="4366613"/>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29" name="TextBox 28">
            <a:extLst>
              <a:ext uri="{FF2B5EF4-FFF2-40B4-BE49-F238E27FC236}">
                <a16:creationId xmlns:a16="http://schemas.microsoft.com/office/drawing/2014/main" id="{FF5E05BC-0CBE-0A2C-54D2-9A9255F004F9}"/>
              </a:ext>
            </a:extLst>
          </p:cNvPr>
          <p:cNvSpPr txBox="1"/>
          <p:nvPr/>
        </p:nvSpPr>
        <p:spPr>
          <a:xfrm>
            <a:off x="13444986" y="3248156"/>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30" name="TextBox 29">
            <a:extLst>
              <a:ext uri="{FF2B5EF4-FFF2-40B4-BE49-F238E27FC236}">
                <a16:creationId xmlns:a16="http://schemas.microsoft.com/office/drawing/2014/main" id="{67E41608-687E-13EA-7648-BB184993F4D6}"/>
              </a:ext>
            </a:extLst>
          </p:cNvPr>
          <p:cNvSpPr txBox="1"/>
          <p:nvPr/>
        </p:nvSpPr>
        <p:spPr>
          <a:xfrm>
            <a:off x="13404453" y="2769152"/>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31" name="TextBox 30">
            <a:extLst>
              <a:ext uri="{FF2B5EF4-FFF2-40B4-BE49-F238E27FC236}">
                <a16:creationId xmlns:a16="http://schemas.microsoft.com/office/drawing/2014/main" id="{93ED135B-2A01-218A-4CDE-1AFAE0EB3698}"/>
              </a:ext>
            </a:extLst>
          </p:cNvPr>
          <p:cNvSpPr txBox="1"/>
          <p:nvPr/>
        </p:nvSpPr>
        <p:spPr>
          <a:xfrm>
            <a:off x="13416729" y="3795066"/>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36" name="TextBox 35">
            <a:extLst>
              <a:ext uri="{FF2B5EF4-FFF2-40B4-BE49-F238E27FC236}">
                <a16:creationId xmlns:a16="http://schemas.microsoft.com/office/drawing/2014/main" id="{34A96B8A-9F7B-8190-CC26-0F9BF179B666}"/>
              </a:ext>
            </a:extLst>
          </p:cNvPr>
          <p:cNvSpPr txBox="1"/>
          <p:nvPr/>
        </p:nvSpPr>
        <p:spPr>
          <a:xfrm>
            <a:off x="10584086" y="1520893"/>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27" name="TextBox 26">
            <a:extLst>
              <a:ext uri="{FF2B5EF4-FFF2-40B4-BE49-F238E27FC236}">
                <a16:creationId xmlns:a16="http://schemas.microsoft.com/office/drawing/2014/main" id="{17589851-6F92-FB3B-C913-3DAC5E9D4B0A}"/>
              </a:ext>
            </a:extLst>
          </p:cNvPr>
          <p:cNvSpPr txBox="1"/>
          <p:nvPr/>
        </p:nvSpPr>
        <p:spPr>
          <a:xfrm>
            <a:off x="13013465" y="2846626"/>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0</a:t>
            </a:r>
          </a:p>
        </p:txBody>
      </p:sp>
      <p:sp>
        <p:nvSpPr>
          <p:cNvPr id="28" name="TextBox 27">
            <a:extLst>
              <a:ext uri="{FF2B5EF4-FFF2-40B4-BE49-F238E27FC236}">
                <a16:creationId xmlns:a16="http://schemas.microsoft.com/office/drawing/2014/main" id="{18DF97F1-C495-B4DA-6198-E3C691629180}"/>
              </a:ext>
            </a:extLst>
          </p:cNvPr>
          <p:cNvSpPr txBox="1"/>
          <p:nvPr/>
        </p:nvSpPr>
        <p:spPr>
          <a:xfrm>
            <a:off x="12990247" y="3353973"/>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1</a:t>
            </a:r>
          </a:p>
        </p:txBody>
      </p:sp>
      <p:sp>
        <p:nvSpPr>
          <p:cNvPr id="33" name="TextBox 32">
            <a:extLst>
              <a:ext uri="{FF2B5EF4-FFF2-40B4-BE49-F238E27FC236}">
                <a16:creationId xmlns:a16="http://schemas.microsoft.com/office/drawing/2014/main" id="{ABAC561E-8752-B06A-7F17-6D754826ABBF}"/>
              </a:ext>
            </a:extLst>
          </p:cNvPr>
          <p:cNvSpPr txBox="1"/>
          <p:nvPr/>
        </p:nvSpPr>
        <p:spPr>
          <a:xfrm>
            <a:off x="12993690" y="3977212"/>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2</a:t>
            </a:r>
          </a:p>
        </p:txBody>
      </p:sp>
      <p:sp>
        <p:nvSpPr>
          <p:cNvPr id="35" name="TextBox 34">
            <a:extLst>
              <a:ext uri="{FF2B5EF4-FFF2-40B4-BE49-F238E27FC236}">
                <a16:creationId xmlns:a16="http://schemas.microsoft.com/office/drawing/2014/main" id="{727E4830-A596-2DFF-1F7D-F044143E3413}"/>
              </a:ext>
            </a:extLst>
          </p:cNvPr>
          <p:cNvSpPr txBox="1"/>
          <p:nvPr/>
        </p:nvSpPr>
        <p:spPr>
          <a:xfrm flipV="1">
            <a:off x="14170457" y="6695418"/>
            <a:ext cx="182865"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37" name="TextBox 36">
            <a:extLst>
              <a:ext uri="{FF2B5EF4-FFF2-40B4-BE49-F238E27FC236}">
                <a16:creationId xmlns:a16="http://schemas.microsoft.com/office/drawing/2014/main" id="{B8837488-9D9D-E0E4-7CBF-4B76F22D5497}"/>
              </a:ext>
            </a:extLst>
          </p:cNvPr>
          <p:cNvSpPr txBox="1"/>
          <p:nvPr/>
        </p:nvSpPr>
        <p:spPr>
          <a:xfrm>
            <a:off x="14143950" y="6342785"/>
            <a:ext cx="182865" cy="332399"/>
          </a:xfrm>
          <a:prstGeom prst="rect">
            <a:avLst/>
          </a:prstGeom>
          <a:noFill/>
        </p:spPr>
        <p:txBody>
          <a:bodyPr wrap="square" lIns="0" tIns="0" rIns="0" bIns="0" rtlCol="0">
            <a:spAutoFit/>
          </a:bodyPr>
          <a:lstStyle/>
          <a:p>
            <a:pPr algn="r"/>
            <a:r>
              <a:rPr lang="en-US" sz="2160" dirty="0">
                <a:solidFill>
                  <a:srgbClr val="FF0000"/>
                </a:solidFill>
              </a:rPr>
              <a:t>1</a:t>
            </a:r>
            <a:endParaRPr lang="en-US" sz="2160" baseline="-25000" dirty="0">
              <a:solidFill>
                <a:srgbClr val="FF0000"/>
              </a:solidFill>
            </a:endParaRPr>
          </a:p>
        </p:txBody>
      </p:sp>
      <p:sp>
        <p:nvSpPr>
          <p:cNvPr id="38" name="TextBox 37">
            <a:extLst>
              <a:ext uri="{FF2B5EF4-FFF2-40B4-BE49-F238E27FC236}">
                <a16:creationId xmlns:a16="http://schemas.microsoft.com/office/drawing/2014/main" id="{40FD328E-342E-E900-6013-AC64ACFC2780}"/>
              </a:ext>
            </a:extLst>
          </p:cNvPr>
          <p:cNvSpPr txBox="1"/>
          <p:nvPr/>
        </p:nvSpPr>
        <p:spPr>
          <a:xfrm>
            <a:off x="11110239" y="2782180"/>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
        <p:nvSpPr>
          <p:cNvPr id="39" name="TextBox 38">
            <a:extLst>
              <a:ext uri="{FF2B5EF4-FFF2-40B4-BE49-F238E27FC236}">
                <a16:creationId xmlns:a16="http://schemas.microsoft.com/office/drawing/2014/main" id="{1DB38532-E2A5-FDA5-0FFE-EB4C5A22D753}"/>
              </a:ext>
            </a:extLst>
          </p:cNvPr>
          <p:cNvSpPr txBox="1"/>
          <p:nvPr/>
        </p:nvSpPr>
        <p:spPr>
          <a:xfrm>
            <a:off x="10645848" y="6235242"/>
            <a:ext cx="465512" cy="332399"/>
          </a:xfrm>
          <a:prstGeom prst="rect">
            <a:avLst/>
          </a:prstGeom>
          <a:noFill/>
        </p:spPr>
        <p:txBody>
          <a:bodyPr wrap="square" lIns="0" tIns="0" rIns="0" bIns="0" rtlCol="0">
            <a:spAutoFit/>
          </a:bodyPr>
          <a:lstStyle/>
          <a:p>
            <a:pPr algn="ctr"/>
            <a:r>
              <a:rPr lang="en-US" sz="2160" dirty="0">
                <a:solidFill>
                  <a:srgbClr val="FF0000"/>
                </a:solidFill>
              </a:rPr>
              <a:t>1</a:t>
            </a:r>
            <a:endParaRPr lang="en-US" sz="2160" baseline="-25000" dirty="0">
              <a:solidFill>
                <a:srgbClr val="FF0000"/>
              </a:solidFill>
            </a:endParaRPr>
          </a:p>
        </p:txBody>
      </p:sp>
      <p:sp>
        <p:nvSpPr>
          <p:cNvPr id="32" name="TextBox 31">
            <a:extLst>
              <a:ext uri="{FF2B5EF4-FFF2-40B4-BE49-F238E27FC236}">
                <a16:creationId xmlns:a16="http://schemas.microsoft.com/office/drawing/2014/main" id="{24DCDB23-33AA-0183-6C67-152BDD1D5357}"/>
              </a:ext>
            </a:extLst>
          </p:cNvPr>
          <p:cNvSpPr txBox="1"/>
          <p:nvPr/>
        </p:nvSpPr>
        <p:spPr>
          <a:xfrm>
            <a:off x="10023807" y="731045"/>
            <a:ext cx="465512" cy="332399"/>
          </a:xfrm>
          <a:prstGeom prst="rect">
            <a:avLst/>
          </a:prstGeom>
          <a:noFill/>
        </p:spPr>
        <p:txBody>
          <a:bodyPr wrap="square" lIns="0" tIns="0" rIns="0" bIns="0" rtlCol="0">
            <a:spAutoFit/>
          </a:bodyPr>
          <a:lstStyle/>
          <a:p>
            <a:pPr algn="ctr"/>
            <a:r>
              <a:rPr lang="en-US" sz="2160" dirty="0">
                <a:solidFill>
                  <a:srgbClr val="FF0000"/>
                </a:solidFill>
              </a:rPr>
              <a:t>0</a:t>
            </a:r>
            <a:endParaRPr lang="en-US" sz="2160" baseline="-25000" dirty="0">
              <a:solidFill>
                <a:srgbClr val="FF0000"/>
              </a:solidFill>
            </a:endParaRPr>
          </a:p>
        </p:txBody>
      </p:sp>
    </p:spTree>
    <p:extLst>
      <p:ext uri="{BB962C8B-B14F-4D97-AF65-F5344CB8AC3E}">
        <p14:creationId xmlns:p14="http://schemas.microsoft.com/office/powerpoint/2010/main" val="415267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1+#ppt_w/2"/>
                                          </p:val>
                                        </p:tav>
                                        <p:tav tm="100000">
                                          <p:val>
                                            <p:strVal val="#ppt_x"/>
                                          </p:val>
                                        </p:tav>
                                      </p:tavLst>
                                    </p:anim>
                                    <p:anim calcmode="lin" valueType="num">
                                      <p:cBhvr additive="base">
                                        <p:cTn id="4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1+#ppt_w/2"/>
                                          </p:val>
                                        </p:tav>
                                        <p:tav tm="100000">
                                          <p:val>
                                            <p:strVal val="#ppt_x"/>
                                          </p:val>
                                        </p:tav>
                                      </p:tavLst>
                                    </p:anim>
                                    <p:anim calcmode="lin" valueType="num">
                                      <p:cBhvr additive="base">
                                        <p:cTn id="5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 calcmode="lin" valueType="num">
                                      <p:cBhvr additive="base">
                                        <p:cTn id="61" dur="500" fill="hold"/>
                                        <p:tgtEl>
                                          <p:spTgt spid="32"/>
                                        </p:tgtEl>
                                        <p:attrNameLst>
                                          <p:attrName>ppt_x</p:attrName>
                                        </p:attrNameLst>
                                      </p:cBhvr>
                                      <p:tavLst>
                                        <p:tav tm="0">
                                          <p:val>
                                            <p:strVal val="1+#ppt_w/2"/>
                                          </p:val>
                                        </p:tav>
                                        <p:tav tm="100000">
                                          <p:val>
                                            <p:strVal val="#ppt_x"/>
                                          </p:val>
                                        </p:tav>
                                      </p:tavLst>
                                    </p:anim>
                                    <p:anim calcmode="lin" valueType="num">
                                      <p:cBhvr additive="base">
                                        <p:cTn id="62"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 calcmode="lin" valueType="num">
                                      <p:cBhvr additive="base">
                                        <p:cTn id="67" dur="500" fill="hold"/>
                                        <p:tgtEl>
                                          <p:spTgt spid="36"/>
                                        </p:tgtEl>
                                        <p:attrNameLst>
                                          <p:attrName>ppt_x</p:attrName>
                                        </p:attrNameLst>
                                      </p:cBhvr>
                                      <p:tavLst>
                                        <p:tav tm="0">
                                          <p:val>
                                            <p:strVal val="1+#ppt_w/2"/>
                                          </p:val>
                                        </p:tav>
                                        <p:tav tm="100000">
                                          <p:val>
                                            <p:strVal val="#ppt_x"/>
                                          </p:val>
                                        </p:tav>
                                      </p:tavLst>
                                    </p:anim>
                                    <p:anim calcmode="lin" valueType="num">
                                      <p:cBhvr additive="base">
                                        <p:cTn id="6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1+#ppt_w/2"/>
                                          </p:val>
                                        </p:tav>
                                        <p:tav tm="100000">
                                          <p:val>
                                            <p:strVal val="#ppt_x"/>
                                          </p:val>
                                        </p:tav>
                                      </p:tavLst>
                                    </p:anim>
                                    <p:anim calcmode="lin" valueType="num">
                                      <p:cBhvr additive="base">
                                        <p:cTn id="7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500" fill="hold"/>
                                        <p:tgtEl>
                                          <p:spTgt spid="18"/>
                                        </p:tgtEl>
                                        <p:attrNameLst>
                                          <p:attrName>ppt_x</p:attrName>
                                        </p:attrNameLst>
                                      </p:cBhvr>
                                      <p:tavLst>
                                        <p:tav tm="0">
                                          <p:val>
                                            <p:strVal val="1+#ppt_w/2"/>
                                          </p:val>
                                        </p:tav>
                                        <p:tav tm="100000">
                                          <p:val>
                                            <p:strVal val="#ppt_x"/>
                                          </p:val>
                                        </p:tav>
                                      </p:tavLst>
                                    </p:anim>
                                    <p:anim calcmode="lin" valueType="num">
                                      <p:cBhvr additive="base">
                                        <p:cTn id="80"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38"/>
                                        </p:tgtEl>
                                        <p:attrNameLst>
                                          <p:attrName>style.visibility</p:attrName>
                                        </p:attrNameLst>
                                      </p:cBhvr>
                                      <p:to>
                                        <p:strVal val="visible"/>
                                      </p:to>
                                    </p:set>
                                    <p:anim calcmode="lin" valueType="num">
                                      <p:cBhvr additive="base">
                                        <p:cTn id="85" dur="500" fill="hold"/>
                                        <p:tgtEl>
                                          <p:spTgt spid="38"/>
                                        </p:tgtEl>
                                        <p:attrNameLst>
                                          <p:attrName>ppt_x</p:attrName>
                                        </p:attrNameLst>
                                      </p:cBhvr>
                                      <p:tavLst>
                                        <p:tav tm="0">
                                          <p:val>
                                            <p:strVal val="1+#ppt_w/2"/>
                                          </p:val>
                                        </p:tav>
                                        <p:tav tm="100000">
                                          <p:val>
                                            <p:strVal val="#ppt_x"/>
                                          </p:val>
                                        </p:tav>
                                      </p:tavLst>
                                    </p:anim>
                                    <p:anim calcmode="lin" valueType="num">
                                      <p:cBhvr additive="base">
                                        <p:cTn id="86"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additive="base">
                                        <p:cTn id="91" dur="500" fill="hold"/>
                                        <p:tgtEl>
                                          <p:spTgt spid="19"/>
                                        </p:tgtEl>
                                        <p:attrNameLst>
                                          <p:attrName>ppt_x</p:attrName>
                                        </p:attrNameLst>
                                      </p:cBhvr>
                                      <p:tavLst>
                                        <p:tav tm="0">
                                          <p:val>
                                            <p:strVal val="1+#ppt_w/2"/>
                                          </p:val>
                                        </p:tav>
                                        <p:tav tm="100000">
                                          <p:val>
                                            <p:strVal val="#ppt_x"/>
                                          </p:val>
                                        </p:tav>
                                      </p:tavLst>
                                    </p:anim>
                                    <p:anim calcmode="lin" valueType="num">
                                      <p:cBhvr additive="base">
                                        <p:cTn id="9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39"/>
                                        </p:tgtEl>
                                        <p:attrNameLst>
                                          <p:attrName>style.visibility</p:attrName>
                                        </p:attrNameLst>
                                      </p:cBhvr>
                                      <p:to>
                                        <p:strVal val="visible"/>
                                      </p:to>
                                    </p:set>
                                    <p:anim calcmode="lin" valueType="num">
                                      <p:cBhvr additive="base">
                                        <p:cTn id="97" dur="500" fill="hold"/>
                                        <p:tgtEl>
                                          <p:spTgt spid="39"/>
                                        </p:tgtEl>
                                        <p:attrNameLst>
                                          <p:attrName>ppt_x</p:attrName>
                                        </p:attrNameLst>
                                      </p:cBhvr>
                                      <p:tavLst>
                                        <p:tav tm="0">
                                          <p:val>
                                            <p:strVal val="1+#ppt_w/2"/>
                                          </p:val>
                                        </p:tav>
                                        <p:tav tm="100000">
                                          <p:val>
                                            <p:strVal val="#ppt_x"/>
                                          </p:val>
                                        </p:tav>
                                      </p:tavLst>
                                    </p:anim>
                                    <p:anim calcmode="lin" valueType="num">
                                      <p:cBhvr additive="base">
                                        <p:cTn id="98"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2" fill="hold" grpId="0" nodeType="clickEffect">
                                  <p:stCondLst>
                                    <p:cond delay="0"/>
                                  </p:stCondLst>
                                  <p:childTnLst>
                                    <p:set>
                                      <p:cBhvr>
                                        <p:cTn id="102" dur="1" fill="hold">
                                          <p:stCondLst>
                                            <p:cond delay="0"/>
                                          </p:stCondLst>
                                        </p:cTn>
                                        <p:tgtEl>
                                          <p:spTgt spid="20"/>
                                        </p:tgtEl>
                                        <p:attrNameLst>
                                          <p:attrName>style.visibility</p:attrName>
                                        </p:attrNameLst>
                                      </p:cBhvr>
                                      <p:to>
                                        <p:strVal val="visible"/>
                                      </p:to>
                                    </p:set>
                                    <p:anim calcmode="lin" valueType="num">
                                      <p:cBhvr additive="base">
                                        <p:cTn id="103" dur="500" fill="hold"/>
                                        <p:tgtEl>
                                          <p:spTgt spid="20"/>
                                        </p:tgtEl>
                                        <p:attrNameLst>
                                          <p:attrName>ppt_x</p:attrName>
                                        </p:attrNameLst>
                                      </p:cBhvr>
                                      <p:tavLst>
                                        <p:tav tm="0">
                                          <p:val>
                                            <p:strVal val="1+#ppt_w/2"/>
                                          </p:val>
                                        </p:tav>
                                        <p:tav tm="100000">
                                          <p:val>
                                            <p:strVal val="#ppt_x"/>
                                          </p:val>
                                        </p:tav>
                                      </p:tavLst>
                                    </p:anim>
                                    <p:anim calcmode="lin" valueType="num">
                                      <p:cBhvr additive="base">
                                        <p:cTn id="10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21"/>
                                        </p:tgtEl>
                                        <p:attrNameLst>
                                          <p:attrName>style.visibility</p:attrName>
                                        </p:attrNameLst>
                                      </p:cBhvr>
                                      <p:to>
                                        <p:strVal val="visible"/>
                                      </p:to>
                                    </p:set>
                                    <p:anim calcmode="lin" valueType="num">
                                      <p:cBhvr additive="base">
                                        <p:cTn id="109" dur="500" fill="hold"/>
                                        <p:tgtEl>
                                          <p:spTgt spid="21"/>
                                        </p:tgtEl>
                                        <p:attrNameLst>
                                          <p:attrName>ppt_x</p:attrName>
                                        </p:attrNameLst>
                                      </p:cBhvr>
                                      <p:tavLst>
                                        <p:tav tm="0">
                                          <p:val>
                                            <p:strVal val="1+#ppt_w/2"/>
                                          </p:val>
                                        </p:tav>
                                        <p:tav tm="100000">
                                          <p:val>
                                            <p:strVal val="#ppt_x"/>
                                          </p:val>
                                        </p:tav>
                                      </p:tavLst>
                                    </p:anim>
                                    <p:anim calcmode="lin" valueType="num">
                                      <p:cBhvr additive="base">
                                        <p:cTn id="110"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22"/>
                                        </p:tgtEl>
                                        <p:attrNameLst>
                                          <p:attrName>style.visibility</p:attrName>
                                        </p:attrNameLst>
                                      </p:cBhvr>
                                      <p:to>
                                        <p:strVal val="visible"/>
                                      </p:to>
                                    </p:set>
                                    <p:anim calcmode="lin" valueType="num">
                                      <p:cBhvr additive="base">
                                        <p:cTn id="115" dur="500" fill="hold"/>
                                        <p:tgtEl>
                                          <p:spTgt spid="22"/>
                                        </p:tgtEl>
                                        <p:attrNameLst>
                                          <p:attrName>ppt_x</p:attrName>
                                        </p:attrNameLst>
                                      </p:cBhvr>
                                      <p:tavLst>
                                        <p:tav tm="0">
                                          <p:val>
                                            <p:strVal val="1+#ppt_w/2"/>
                                          </p:val>
                                        </p:tav>
                                        <p:tav tm="100000">
                                          <p:val>
                                            <p:strVal val="#ppt_x"/>
                                          </p:val>
                                        </p:tav>
                                      </p:tavLst>
                                    </p:anim>
                                    <p:anim calcmode="lin" valueType="num">
                                      <p:cBhvr additive="base">
                                        <p:cTn id="116"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2" fill="hold" grpId="0" nodeType="clickEffect">
                                  <p:stCondLst>
                                    <p:cond delay="0"/>
                                  </p:stCondLst>
                                  <p:childTnLst>
                                    <p:set>
                                      <p:cBhvr>
                                        <p:cTn id="120" dur="1" fill="hold">
                                          <p:stCondLst>
                                            <p:cond delay="0"/>
                                          </p:stCondLst>
                                        </p:cTn>
                                        <p:tgtEl>
                                          <p:spTgt spid="24"/>
                                        </p:tgtEl>
                                        <p:attrNameLst>
                                          <p:attrName>style.visibility</p:attrName>
                                        </p:attrNameLst>
                                      </p:cBhvr>
                                      <p:to>
                                        <p:strVal val="visible"/>
                                      </p:to>
                                    </p:set>
                                    <p:anim calcmode="lin" valueType="num">
                                      <p:cBhvr additive="base">
                                        <p:cTn id="121" dur="500" fill="hold"/>
                                        <p:tgtEl>
                                          <p:spTgt spid="24"/>
                                        </p:tgtEl>
                                        <p:attrNameLst>
                                          <p:attrName>ppt_x</p:attrName>
                                        </p:attrNameLst>
                                      </p:cBhvr>
                                      <p:tavLst>
                                        <p:tav tm="0">
                                          <p:val>
                                            <p:strVal val="1+#ppt_w/2"/>
                                          </p:val>
                                        </p:tav>
                                        <p:tav tm="100000">
                                          <p:val>
                                            <p:strVal val="#ppt_x"/>
                                          </p:val>
                                        </p:tav>
                                      </p:tavLst>
                                    </p:anim>
                                    <p:anim calcmode="lin" valueType="num">
                                      <p:cBhvr additive="base">
                                        <p:cTn id="122"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2" fill="hold" grpId="0" nodeType="clickEffect">
                                  <p:stCondLst>
                                    <p:cond delay="0"/>
                                  </p:stCondLst>
                                  <p:childTnLst>
                                    <p:set>
                                      <p:cBhvr>
                                        <p:cTn id="126" dur="1" fill="hold">
                                          <p:stCondLst>
                                            <p:cond delay="0"/>
                                          </p:stCondLst>
                                        </p:cTn>
                                        <p:tgtEl>
                                          <p:spTgt spid="23"/>
                                        </p:tgtEl>
                                        <p:attrNameLst>
                                          <p:attrName>style.visibility</p:attrName>
                                        </p:attrNameLst>
                                      </p:cBhvr>
                                      <p:to>
                                        <p:strVal val="visible"/>
                                      </p:to>
                                    </p:set>
                                    <p:anim calcmode="lin" valueType="num">
                                      <p:cBhvr additive="base">
                                        <p:cTn id="127" dur="500" fill="hold"/>
                                        <p:tgtEl>
                                          <p:spTgt spid="23"/>
                                        </p:tgtEl>
                                        <p:attrNameLst>
                                          <p:attrName>ppt_x</p:attrName>
                                        </p:attrNameLst>
                                      </p:cBhvr>
                                      <p:tavLst>
                                        <p:tav tm="0">
                                          <p:val>
                                            <p:strVal val="1+#ppt_w/2"/>
                                          </p:val>
                                        </p:tav>
                                        <p:tav tm="100000">
                                          <p:val>
                                            <p:strVal val="#ppt_x"/>
                                          </p:val>
                                        </p:tav>
                                      </p:tavLst>
                                    </p:anim>
                                    <p:anim calcmode="lin" valueType="num">
                                      <p:cBhvr additive="base">
                                        <p:cTn id="12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2"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anim calcmode="lin" valueType="num">
                                      <p:cBhvr additive="base">
                                        <p:cTn id="133" dur="500" fill="hold"/>
                                        <p:tgtEl>
                                          <p:spTgt spid="25"/>
                                        </p:tgtEl>
                                        <p:attrNameLst>
                                          <p:attrName>ppt_x</p:attrName>
                                        </p:attrNameLst>
                                      </p:cBhvr>
                                      <p:tavLst>
                                        <p:tav tm="0">
                                          <p:val>
                                            <p:strVal val="1+#ppt_w/2"/>
                                          </p:val>
                                        </p:tav>
                                        <p:tav tm="100000">
                                          <p:val>
                                            <p:strVal val="#ppt_x"/>
                                          </p:val>
                                        </p:tav>
                                      </p:tavLst>
                                    </p:anim>
                                    <p:anim calcmode="lin" valueType="num">
                                      <p:cBhvr additive="base">
                                        <p:cTn id="134"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2" fill="hold" grpId="0" nodeType="clickEffect">
                                  <p:stCondLst>
                                    <p:cond delay="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500" fill="hold"/>
                                        <p:tgtEl>
                                          <p:spTgt spid="35"/>
                                        </p:tgtEl>
                                        <p:attrNameLst>
                                          <p:attrName>ppt_x</p:attrName>
                                        </p:attrNameLst>
                                      </p:cBhvr>
                                      <p:tavLst>
                                        <p:tav tm="0">
                                          <p:val>
                                            <p:strVal val="1+#ppt_w/2"/>
                                          </p:val>
                                        </p:tav>
                                        <p:tav tm="100000">
                                          <p:val>
                                            <p:strVal val="#ppt_x"/>
                                          </p:val>
                                        </p:tav>
                                      </p:tavLst>
                                    </p:anim>
                                    <p:anim calcmode="lin" valueType="num">
                                      <p:cBhvr additive="base">
                                        <p:cTn id="140"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2" fill="hold" grpId="0" nodeType="clickEffect">
                                  <p:stCondLst>
                                    <p:cond delay="0"/>
                                  </p:stCondLst>
                                  <p:childTnLst>
                                    <p:set>
                                      <p:cBhvr>
                                        <p:cTn id="144" dur="1" fill="hold">
                                          <p:stCondLst>
                                            <p:cond delay="0"/>
                                          </p:stCondLst>
                                        </p:cTn>
                                        <p:tgtEl>
                                          <p:spTgt spid="37"/>
                                        </p:tgtEl>
                                        <p:attrNameLst>
                                          <p:attrName>style.visibility</p:attrName>
                                        </p:attrNameLst>
                                      </p:cBhvr>
                                      <p:to>
                                        <p:strVal val="visible"/>
                                      </p:to>
                                    </p:set>
                                    <p:anim calcmode="lin" valueType="num">
                                      <p:cBhvr additive="base">
                                        <p:cTn id="145" dur="500" fill="hold"/>
                                        <p:tgtEl>
                                          <p:spTgt spid="37"/>
                                        </p:tgtEl>
                                        <p:attrNameLst>
                                          <p:attrName>ppt_x</p:attrName>
                                        </p:attrNameLst>
                                      </p:cBhvr>
                                      <p:tavLst>
                                        <p:tav tm="0">
                                          <p:val>
                                            <p:strVal val="1+#ppt_w/2"/>
                                          </p:val>
                                        </p:tav>
                                        <p:tav tm="100000">
                                          <p:val>
                                            <p:strVal val="#ppt_x"/>
                                          </p:val>
                                        </p:tav>
                                      </p:tavLst>
                                    </p:anim>
                                    <p:anim calcmode="lin" valueType="num">
                                      <p:cBhvr additive="base">
                                        <p:cTn id="146"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2" fill="hold" grpId="0" nodeType="clickEffect">
                                  <p:stCondLst>
                                    <p:cond delay="0"/>
                                  </p:stCondLst>
                                  <p:childTnLst>
                                    <p:set>
                                      <p:cBhvr>
                                        <p:cTn id="150" dur="1" fill="hold">
                                          <p:stCondLst>
                                            <p:cond delay="0"/>
                                          </p:stCondLst>
                                        </p:cTn>
                                        <p:tgtEl>
                                          <p:spTgt spid="26"/>
                                        </p:tgtEl>
                                        <p:attrNameLst>
                                          <p:attrName>style.visibility</p:attrName>
                                        </p:attrNameLst>
                                      </p:cBhvr>
                                      <p:to>
                                        <p:strVal val="visible"/>
                                      </p:to>
                                    </p:set>
                                    <p:anim calcmode="lin" valueType="num">
                                      <p:cBhvr additive="base">
                                        <p:cTn id="151" dur="500" fill="hold"/>
                                        <p:tgtEl>
                                          <p:spTgt spid="26"/>
                                        </p:tgtEl>
                                        <p:attrNameLst>
                                          <p:attrName>ppt_x</p:attrName>
                                        </p:attrNameLst>
                                      </p:cBhvr>
                                      <p:tavLst>
                                        <p:tav tm="0">
                                          <p:val>
                                            <p:strVal val="1+#ppt_w/2"/>
                                          </p:val>
                                        </p:tav>
                                        <p:tav tm="100000">
                                          <p:val>
                                            <p:strVal val="#ppt_x"/>
                                          </p:val>
                                        </p:tav>
                                      </p:tavLst>
                                    </p:anim>
                                    <p:anim calcmode="lin" valueType="num">
                                      <p:cBhvr additive="base">
                                        <p:cTn id="152"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30"/>
                                        </p:tgtEl>
                                        <p:attrNameLst>
                                          <p:attrName>style.visibility</p:attrName>
                                        </p:attrNameLst>
                                      </p:cBhvr>
                                      <p:to>
                                        <p:strVal val="visible"/>
                                      </p:to>
                                    </p:set>
                                    <p:anim calcmode="lin" valueType="num">
                                      <p:cBhvr additive="base">
                                        <p:cTn id="157" dur="500" fill="hold"/>
                                        <p:tgtEl>
                                          <p:spTgt spid="30"/>
                                        </p:tgtEl>
                                        <p:attrNameLst>
                                          <p:attrName>ppt_x</p:attrName>
                                        </p:attrNameLst>
                                      </p:cBhvr>
                                      <p:tavLst>
                                        <p:tav tm="0">
                                          <p:val>
                                            <p:strVal val="0-#ppt_w/2"/>
                                          </p:val>
                                        </p:tav>
                                        <p:tav tm="100000">
                                          <p:val>
                                            <p:strVal val="#ppt_x"/>
                                          </p:val>
                                        </p:tav>
                                      </p:tavLst>
                                    </p:anim>
                                    <p:anim calcmode="lin" valueType="num">
                                      <p:cBhvr additive="base">
                                        <p:cTn id="158"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29"/>
                                        </p:tgtEl>
                                        <p:attrNameLst>
                                          <p:attrName>style.visibility</p:attrName>
                                        </p:attrNameLst>
                                      </p:cBhvr>
                                      <p:to>
                                        <p:strVal val="visible"/>
                                      </p:to>
                                    </p:set>
                                    <p:anim calcmode="lin" valueType="num">
                                      <p:cBhvr additive="base">
                                        <p:cTn id="163" dur="500" fill="hold"/>
                                        <p:tgtEl>
                                          <p:spTgt spid="29"/>
                                        </p:tgtEl>
                                        <p:attrNameLst>
                                          <p:attrName>ppt_x</p:attrName>
                                        </p:attrNameLst>
                                      </p:cBhvr>
                                      <p:tavLst>
                                        <p:tav tm="0">
                                          <p:val>
                                            <p:strVal val="0-#ppt_w/2"/>
                                          </p:val>
                                        </p:tav>
                                        <p:tav tm="100000">
                                          <p:val>
                                            <p:strVal val="#ppt_x"/>
                                          </p:val>
                                        </p:tav>
                                      </p:tavLst>
                                    </p:anim>
                                    <p:anim calcmode="lin" valueType="num">
                                      <p:cBhvr additive="base">
                                        <p:cTn id="164"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31"/>
                                        </p:tgtEl>
                                        <p:attrNameLst>
                                          <p:attrName>style.visibility</p:attrName>
                                        </p:attrNameLst>
                                      </p:cBhvr>
                                      <p:to>
                                        <p:strVal val="visible"/>
                                      </p:to>
                                    </p:set>
                                    <p:anim calcmode="lin" valueType="num">
                                      <p:cBhvr additive="base">
                                        <p:cTn id="169" dur="500" fill="hold"/>
                                        <p:tgtEl>
                                          <p:spTgt spid="31"/>
                                        </p:tgtEl>
                                        <p:attrNameLst>
                                          <p:attrName>ppt_x</p:attrName>
                                        </p:attrNameLst>
                                      </p:cBhvr>
                                      <p:tavLst>
                                        <p:tav tm="0">
                                          <p:val>
                                            <p:strVal val="0-#ppt_w/2"/>
                                          </p:val>
                                        </p:tav>
                                        <p:tav tm="100000">
                                          <p:val>
                                            <p:strVal val="#ppt_x"/>
                                          </p:val>
                                        </p:tav>
                                      </p:tavLst>
                                    </p:anim>
                                    <p:anim calcmode="lin" valueType="num">
                                      <p:cBhvr additive="base">
                                        <p:cTn id="170"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9" grpId="0"/>
      <p:bldP spid="30" grpId="0"/>
      <p:bldP spid="31" grpId="0"/>
      <p:bldP spid="36" grpId="0"/>
      <p:bldP spid="35" grpId="0"/>
      <p:bldP spid="37" grpId="0"/>
      <p:bldP spid="38" grpId="0"/>
      <p:bldP spid="39" grpId="0"/>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778924" y="155517"/>
            <a:ext cx="7883691" cy="801121"/>
          </a:xfrm>
        </p:spPr>
        <p:txBody>
          <a:bodyPr>
            <a:normAutofit fontScale="90000"/>
          </a:bodyPr>
          <a:lstStyle/>
          <a:p>
            <a:r>
              <a:rPr lang="en-US" sz="6000" b="1" dirty="0">
                <a:solidFill>
                  <a:srgbClr val="0070C0"/>
                </a:solidFill>
              </a:rPr>
              <a:t>Hardware Configuration</a:t>
            </a:r>
            <a:endParaRPr lang="en-US" sz="60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166254" y="906763"/>
            <a:ext cx="16159941" cy="7090082"/>
          </a:xfrm>
        </p:spPr>
        <p:txBody>
          <a:bodyPr>
            <a:noAutofit/>
          </a:bodyPr>
          <a:lstStyle/>
          <a:p>
            <a:pPr marL="0" indent="0">
              <a:buNone/>
            </a:pPr>
            <a:r>
              <a:rPr lang="en-US" sz="4000" dirty="0"/>
              <a:t>The multiplexer (MUX) has </a:t>
            </a:r>
            <a:r>
              <a:rPr lang="en-US" sz="4000" dirty="0">
                <a:solidFill>
                  <a:srgbClr val="FF0000"/>
                </a:solidFill>
              </a:rPr>
              <a:t>four inputs </a:t>
            </a:r>
            <a:r>
              <a:rPr lang="en-US" sz="4000" dirty="0"/>
              <a:t>that are </a:t>
            </a:r>
            <a:r>
              <a:rPr lang="en-US" sz="4000" dirty="0">
                <a:solidFill>
                  <a:srgbClr val="FF0000"/>
                </a:solidFill>
              </a:rPr>
              <a:t>selected with bits 13 and 14 </a:t>
            </a:r>
            <a:r>
              <a:rPr lang="en-US" sz="4000" dirty="0"/>
              <a:t>of the micro-instructions. The </a:t>
            </a:r>
            <a:r>
              <a:rPr lang="en-US" sz="4000" dirty="0">
                <a:solidFill>
                  <a:srgbClr val="FF0000"/>
                </a:solidFill>
              </a:rPr>
              <a:t>functions of the multiplexer select bits </a:t>
            </a:r>
            <a:r>
              <a:rPr lang="en-US" sz="4000" dirty="0"/>
              <a:t>are tabulated in the Table of Fig. 10-10.</a:t>
            </a:r>
          </a:p>
          <a:p>
            <a:pPr marL="0" indent="0">
              <a:buNone/>
            </a:pPr>
            <a:r>
              <a:rPr lang="en-US" sz="4000" dirty="0"/>
              <a:t>If </a:t>
            </a:r>
            <a:r>
              <a:rPr lang="en-US" sz="4000" dirty="0">
                <a:solidFill>
                  <a:srgbClr val="FF0000"/>
                </a:solidFill>
              </a:rPr>
              <a:t>bits 13 and 14 are 00</a:t>
            </a:r>
            <a:r>
              <a:rPr lang="en-US" sz="4000" dirty="0"/>
              <a:t>, a multiplexer input that is equal to 0 is selected. The output of the multiplexer is 0, and the increment input to CAR is enabled. This configuration </a:t>
            </a:r>
            <a:r>
              <a:rPr lang="en-US" sz="4000" dirty="0">
                <a:solidFill>
                  <a:srgbClr val="FF0000"/>
                </a:solidFill>
              </a:rPr>
              <a:t>increments CAR </a:t>
            </a:r>
            <a:r>
              <a:rPr lang="en-US" sz="4000" dirty="0"/>
              <a:t>to choose the next address in sequence.</a:t>
            </a:r>
          </a:p>
          <a:p>
            <a:pPr marL="0" indent="0">
              <a:buNone/>
            </a:pPr>
            <a:r>
              <a:rPr lang="en-US" sz="4000" dirty="0"/>
              <a:t>An input of 1 is selected by the multiplexer when </a:t>
            </a:r>
            <a:r>
              <a:rPr lang="en-US" sz="4000" dirty="0">
                <a:solidFill>
                  <a:srgbClr val="FF0000"/>
                </a:solidFill>
              </a:rPr>
              <a:t>bits 13 and 14 are 01</a:t>
            </a:r>
            <a:r>
              <a:rPr lang="en-US" sz="4000" dirty="0"/>
              <a:t>. The output of the multiplexer is 1, and the </a:t>
            </a:r>
            <a:r>
              <a:rPr lang="en-US" sz="4000" dirty="0">
                <a:solidFill>
                  <a:srgbClr val="FF0000"/>
                </a:solidFill>
              </a:rPr>
              <a:t>external input is loaded into CAR</a:t>
            </a:r>
            <a:r>
              <a:rPr lang="en-US" sz="4000" dirty="0"/>
              <a:t>.</a:t>
            </a:r>
          </a:p>
          <a:p>
            <a:pPr marL="0" indent="0">
              <a:buNone/>
            </a:pPr>
            <a:r>
              <a:rPr lang="en-US" sz="4000" dirty="0"/>
              <a:t>The status variable </a:t>
            </a:r>
            <a:r>
              <a:rPr lang="en-US" sz="4000" i="1" dirty="0"/>
              <a:t>S </a:t>
            </a:r>
            <a:r>
              <a:rPr lang="en-US" sz="4000" dirty="0"/>
              <a:t>is selected when </a:t>
            </a:r>
            <a:r>
              <a:rPr lang="en-US" sz="4000" dirty="0">
                <a:solidFill>
                  <a:srgbClr val="FF0000"/>
                </a:solidFill>
              </a:rPr>
              <a:t>bits 13 and 14 are equal to 10</a:t>
            </a:r>
            <a:r>
              <a:rPr lang="en-US" sz="4000" dirty="0"/>
              <a:t>. If </a:t>
            </a:r>
            <a:r>
              <a:rPr lang="en-US" sz="4000" i="1" dirty="0">
                <a:solidFill>
                  <a:srgbClr val="FF0000"/>
                </a:solidFill>
              </a:rPr>
              <a:t>S</a:t>
            </a:r>
            <a:r>
              <a:rPr lang="en-US" sz="4000" dirty="0">
                <a:solidFill>
                  <a:srgbClr val="FF0000"/>
                </a:solidFill>
              </a:rPr>
              <a:t> = 1</a:t>
            </a:r>
            <a:r>
              <a:rPr lang="en-US" sz="4000" dirty="0"/>
              <a:t>, the output of the multiplexer is 1 and the </a:t>
            </a:r>
            <a:r>
              <a:rPr lang="en-US" sz="4000" dirty="0">
                <a:solidFill>
                  <a:srgbClr val="FF0000"/>
                </a:solidFill>
              </a:rPr>
              <a:t>address bits</a:t>
            </a:r>
            <a:r>
              <a:rPr lang="en-US" sz="4000" dirty="0"/>
              <a:t> of the micro-instruction </a:t>
            </a:r>
            <a:r>
              <a:rPr lang="en-US" sz="4000" dirty="0">
                <a:solidFill>
                  <a:srgbClr val="FF0000"/>
                </a:solidFill>
              </a:rPr>
              <a:t>are loaded into the CAR </a:t>
            </a:r>
            <a:r>
              <a:rPr lang="en-US" sz="4000" dirty="0"/>
              <a:t>(only if </a:t>
            </a:r>
            <a:r>
              <a:rPr lang="en-US" sz="4000" i="1" dirty="0"/>
              <a:t>x</a:t>
            </a:r>
            <a:r>
              <a:rPr lang="en-US" sz="4000" dirty="0"/>
              <a:t> = 0). If </a:t>
            </a:r>
            <a:r>
              <a:rPr lang="en-US" sz="4000" i="1" dirty="0">
                <a:solidFill>
                  <a:srgbClr val="FF0000"/>
                </a:solidFill>
              </a:rPr>
              <a:t>S</a:t>
            </a:r>
            <a:r>
              <a:rPr lang="en-US" sz="4000" dirty="0">
                <a:solidFill>
                  <a:srgbClr val="FF0000"/>
                </a:solidFill>
              </a:rPr>
              <a:t> = 0</a:t>
            </a:r>
            <a:r>
              <a:rPr lang="en-US" sz="4000" dirty="0"/>
              <a:t>, the output of the multiplexer is 0 and </a:t>
            </a:r>
            <a:r>
              <a:rPr lang="en-US" sz="4000" dirty="0">
                <a:solidFill>
                  <a:srgbClr val="FF0000"/>
                </a:solidFill>
              </a:rPr>
              <a:t>the CAR is incremented</a:t>
            </a:r>
            <a:r>
              <a:rPr lang="en-US" sz="4000" dirty="0"/>
              <a:t>.</a:t>
            </a:r>
          </a:p>
        </p:txBody>
      </p:sp>
      <p:sp>
        <p:nvSpPr>
          <p:cNvPr id="4" name="Date Placeholder 3"/>
          <p:cNvSpPr>
            <a:spLocks noGrp="1"/>
          </p:cNvSpPr>
          <p:nvPr>
            <p:ph type="dt" sz="half" idx="10"/>
          </p:nvPr>
        </p:nvSpPr>
        <p:spPr/>
        <p:txBody>
          <a:bodyPr/>
          <a:lstStyle/>
          <a:p>
            <a:fld id="{CA60378A-5463-48E2-AFCA-83E540E4424F}"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746605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3">
            <a:extLst>
              <a:ext uri="{FF2B5EF4-FFF2-40B4-BE49-F238E27FC236}">
                <a16:creationId xmlns:a16="http://schemas.microsoft.com/office/drawing/2014/main" id="{9B42E9B8-AEB5-4CE1-BBD2-3B63950B76B0}"/>
              </a:ext>
            </a:extLst>
          </p:cNvPr>
          <p:cNvPicPr>
            <a:picLocks noChangeAspect="1"/>
          </p:cNvPicPr>
          <p:nvPr/>
        </p:nvPicPr>
        <p:blipFill rotWithShape="1">
          <a:blip r:embed="rId2">
            <a:duotone>
              <a:schemeClr val="accent1">
                <a:shade val="45000"/>
                <a:satMod val="135000"/>
              </a:schemeClr>
              <a:prstClr val="white"/>
            </a:duotone>
            <a:lum bright="-20000" contrast="40000"/>
          </a:blip>
          <a:srcRect l="4931" t="2271" r="1780" b="1920"/>
          <a:stretch/>
        </p:blipFill>
        <p:spPr>
          <a:xfrm>
            <a:off x="8082429" y="133008"/>
            <a:ext cx="8143028" cy="7846442"/>
          </a:xfrm>
          <a:prstGeom prst="rect">
            <a:avLst/>
          </a:prstGeom>
        </p:spPr>
      </p:pic>
      <p:sp>
        <p:nvSpPr>
          <p:cNvPr id="2" name="Title 1">
            <a:extLst>
              <a:ext uri="{FF2B5EF4-FFF2-40B4-BE49-F238E27FC236}">
                <a16:creationId xmlns:a16="http://schemas.microsoft.com/office/drawing/2014/main" id="{82612B63-3FDA-4A3A-858A-FEF97199229B}"/>
              </a:ext>
            </a:extLst>
          </p:cNvPr>
          <p:cNvSpPr>
            <a:spLocks noGrp="1"/>
          </p:cNvSpPr>
          <p:nvPr>
            <p:ph type="title"/>
          </p:nvPr>
        </p:nvSpPr>
        <p:spPr>
          <a:xfrm>
            <a:off x="1446663" y="250150"/>
            <a:ext cx="6782937" cy="825958"/>
          </a:xfrm>
        </p:spPr>
        <p:txBody>
          <a:bodyPr>
            <a:noAutofit/>
          </a:bodyPr>
          <a:lstStyle/>
          <a:p>
            <a:r>
              <a:rPr lang="en-US" sz="5400" b="1" dirty="0">
                <a:solidFill>
                  <a:srgbClr val="0070C0"/>
                </a:solidFill>
              </a:rPr>
              <a:t>Hardware Configuration</a:t>
            </a:r>
          </a:p>
        </p:txBody>
      </p:sp>
      <p:graphicFrame>
        <p:nvGraphicFramePr>
          <p:cNvPr id="5" name="Table 4">
            <a:extLst>
              <a:ext uri="{FF2B5EF4-FFF2-40B4-BE49-F238E27FC236}">
                <a16:creationId xmlns:a16="http://schemas.microsoft.com/office/drawing/2014/main" id="{7AE46B88-CFAB-437B-AD5F-E6908410A4F2}"/>
              </a:ext>
            </a:extLst>
          </p:cNvPr>
          <p:cNvGraphicFramePr>
            <a:graphicFrameLocks noGrp="1"/>
          </p:cNvGraphicFramePr>
          <p:nvPr>
            <p:extLst>
              <p:ext uri="{D42A27DB-BD31-4B8C-83A1-F6EECF244321}">
                <p14:modId xmlns:p14="http://schemas.microsoft.com/office/powerpoint/2010/main" val="3516660469"/>
              </p:ext>
            </p:extLst>
          </p:nvPr>
        </p:nvGraphicFramePr>
        <p:xfrm>
          <a:off x="382384" y="2061580"/>
          <a:ext cx="7274010" cy="4829290"/>
        </p:xfrm>
        <a:graphic>
          <a:graphicData uri="http://schemas.openxmlformats.org/drawingml/2006/table">
            <a:tbl>
              <a:tblPr firstRow="1" bandRow="1">
                <a:tableStyleId>{B301B821-A1FF-4177-AEE7-76D212191A09}</a:tableStyleId>
              </a:tblPr>
              <a:tblGrid>
                <a:gridCol w="1071030">
                  <a:extLst>
                    <a:ext uri="{9D8B030D-6E8A-4147-A177-3AD203B41FA5}">
                      <a16:colId xmlns:a16="http://schemas.microsoft.com/office/drawing/2014/main" val="803749714"/>
                    </a:ext>
                  </a:extLst>
                </a:gridCol>
                <a:gridCol w="1181932">
                  <a:extLst>
                    <a:ext uri="{9D8B030D-6E8A-4147-A177-3AD203B41FA5}">
                      <a16:colId xmlns:a16="http://schemas.microsoft.com/office/drawing/2014/main" val="2310412296"/>
                    </a:ext>
                  </a:extLst>
                </a:gridCol>
                <a:gridCol w="5021048">
                  <a:extLst>
                    <a:ext uri="{9D8B030D-6E8A-4147-A177-3AD203B41FA5}">
                      <a16:colId xmlns:a16="http://schemas.microsoft.com/office/drawing/2014/main" val="2601140234"/>
                    </a:ext>
                  </a:extLst>
                </a:gridCol>
              </a:tblGrid>
              <a:tr h="1174692">
                <a:tc gridSpan="2">
                  <a:txBody>
                    <a:bodyPr/>
                    <a:lstStyle/>
                    <a:p>
                      <a:pPr algn="ctr"/>
                      <a:r>
                        <a:rPr lang="en-US" sz="3200" dirty="0"/>
                        <a:t>ROM bits</a:t>
                      </a:r>
                    </a:p>
                    <a:p>
                      <a:r>
                        <a:rPr lang="en-US" sz="3200" dirty="0"/>
                        <a:t>  13       14         </a:t>
                      </a:r>
                    </a:p>
                  </a:txBody>
                  <a:tcPr marL="109728" marR="109728" marT="54864" marB="54864" anchor="ctr"/>
                </a:tc>
                <a:tc hMerge="1">
                  <a:txBody>
                    <a:bodyPr/>
                    <a:lstStyle/>
                    <a:p>
                      <a:endParaRPr lang="en-US"/>
                    </a:p>
                  </a:txBody>
                  <a:tcPr/>
                </a:tc>
                <a:tc>
                  <a:txBody>
                    <a:bodyPr/>
                    <a:lstStyle/>
                    <a:p>
                      <a:pPr algn="ctr"/>
                      <a:r>
                        <a:rPr lang="en-US" sz="3200" dirty="0"/>
                        <a:t>MUX Select Function</a:t>
                      </a:r>
                    </a:p>
                  </a:txBody>
                  <a:tcPr marL="109728" marR="109728" marT="54864" marB="54864" anchor="ctr"/>
                </a:tc>
                <a:extLst>
                  <a:ext uri="{0D108BD9-81ED-4DB2-BD59-A6C34878D82A}">
                    <a16:rowId xmlns:a16="http://schemas.microsoft.com/office/drawing/2014/main" val="1607342460"/>
                  </a:ext>
                </a:extLst>
              </a:tr>
              <a:tr h="652607">
                <a:tc>
                  <a:txBody>
                    <a:bodyPr/>
                    <a:lstStyle/>
                    <a:p>
                      <a:pPr algn="ctr"/>
                      <a:r>
                        <a:rPr lang="en-US" sz="3200" dirty="0"/>
                        <a:t>0</a:t>
                      </a:r>
                    </a:p>
                  </a:txBody>
                  <a:tcPr marL="109728" marR="109728" marT="54864" marB="54864" anchor="ctr"/>
                </a:tc>
                <a:tc>
                  <a:txBody>
                    <a:bodyPr/>
                    <a:lstStyle/>
                    <a:p>
                      <a:pPr algn="ctr"/>
                      <a:r>
                        <a:rPr lang="en-US" sz="3200" dirty="0"/>
                        <a:t>0</a:t>
                      </a:r>
                    </a:p>
                  </a:txBody>
                  <a:tcPr marL="109728" marR="109728" marT="54864" marB="54864" anchor="ctr"/>
                </a:tc>
                <a:tc>
                  <a:txBody>
                    <a:bodyPr/>
                    <a:lstStyle/>
                    <a:p>
                      <a:r>
                        <a:rPr lang="en-US" sz="3200" dirty="0"/>
                        <a:t>Increment CAR</a:t>
                      </a:r>
                    </a:p>
                  </a:txBody>
                  <a:tcPr marL="109728" marR="109728" marT="54864" marB="54864" anchor="ctr"/>
                </a:tc>
                <a:extLst>
                  <a:ext uri="{0D108BD9-81ED-4DB2-BD59-A6C34878D82A}">
                    <a16:rowId xmlns:a16="http://schemas.microsoft.com/office/drawing/2014/main" val="92411484"/>
                  </a:ext>
                </a:extLst>
              </a:tr>
              <a:tr h="652607">
                <a:tc>
                  <a:txBody>
                    <a:bodyPr/>
                    <a:lstStyle/>
                    <a:p>
                      <a:pPr algn="ctr"/>
                      <a:r>
                        <a:rPr lang="en-US" sz="3200" dirty="0"/>
                        <a:t>0</a:t>
                      </a:r>
                    </a:p>
                  </a:txBody>
                  <a:tcPr marL="109728" marR="109728" marT="54864" marB="54864" anchor="ctr"/>
                </a:tc>
                <a:tc>
                  <a:txBody>
                    <a:bodyPr/>
                    <a:lstStyle/>
                    <a:p>
                      <a:pPr algn="ctr"/>
                      <a:r>
                        <a:rPr lang="en-US" sz="3200" dirty="0"/>
                        <a:t>1</a:t>
                      </a:r>
                    </a:p>
                  </a:txBody>
                  <a:tcPr marL="109728" marR="109728" marT="54864" marB="54864" anchor="ctr"/>
                </a:tc>
                <a:tc>
                  <a:txBody>
                    <a:bodyPr/>
                    <a:lstStyle/>
                    <a:p>
                      <a:r>
                        <a:rPr lang="en-US" sz="3200" dirty="0"/>
                        <a:t>Load input to CAR</a:t>
                      </a:r>
                    </a:p>
                  </a:txBody>
                  <a:tcPr marL="109728" marR="109728" marT="54864" marB="54864" anchor="ctr"/>
                </a:tc>
                <a:extLst>
                  <a:ext uri="{0D108BD9-81ED-4DB2-BD59-A6C34878D82A}">
                    <a16:rowId xmlns:a16="http://schemas.microsoft.com/office/drawing/2014/main" val="104824788"/>
                  </a:ext>
                </a:extLst>
              </a:tr>
              <a:tr h="1174692">
                <a:tc>
                  <a:txBody>
                    <a:bodyPr/>
                    <a:lstStyle/>
                    <a:p>
                      <a:pPr algn="ctr"/>
                      <a:r>
                        <a:rPr lang="en-US" sz="3200" dirty="0"/>
                        <a:t>1</a:t>
                      </a:r>
                    </a:p>
                  </a:txBody>
                  <a:tcPr marL="109728" marR="109728" marT="54864" marB="54864" anchor="ctr"/>
                </a:tc>
                <a:tc>
                  <a:txBody>
                    <a:bodyPr/>
                    <a:lstStyle/>
                    <a:p>
                      <a:pPr algn="ctr"/>
                      <a:r>
                        <a:rPr lang="en-US" sz="3200" dirty="0"/>
                        <a:t>0</a:t>
                      </a:r>
                    </a:p>
                  </a:txBody>
                  <a:tcPr marL="109728" marR="109728" marT="54864" marB="54864" anchor="ctr"/>
                </a:tc>
                <a:tc>
                  <a:txBody>
                    <a:bodyPr/>
                    <a:lstStyle/>
                    <a:p>
                      <a:r>
                        <a:rPr lang="en-US" sz="3200" dirty="0"/>
                        <a:t>Load inputs to CAR if S = 1, increment CAR if S = 0</a:t>
                      </a:r>
                    </a:p>
                  </a:txBody>
                  <a:tcPr marL="109728" marR="109728" marT="54864" marB="54864" anchor="ctr"/>
                </a:tc>
                <a:extLst>
                  <a:ext uri="{0D108BD9-81ED-4DB2-BD59-A6C34878D82A}">
                    <a16:rowId xmlns:a16="http://schemas.microsoft.com/office/drawing/2014/main" val="241601024"/>
                  </a:ext>
                </a:extLst>
              </a:tr>
              <a:tr h="1174692">
                <a:tc>
                  <a:txBody>
                    <a:bodyPr/>
                    <a:lstStyle/>
                    <a:p>
                      <a:pPr algn="ctr"/>
                      <a:r>
                        <a:rPr lang="en-US" sz="3200" dirty="0"/>
                        <a:t>1</a:t>
                      </a:r>
                    </a:p>
                  </a:txBody>
                  <a:tcPr marL="109728" marR="109728" marT="54864" marB="54864" anchor="ctr"/>
                </a:tc>
                <a:tc>
                  <a:txBody>
                    <a:bodyPr/>
                    <a:lstStyle/>
                    <a:p>
                      <a:pPr algn="ctr"/>
                      <a:r>
                        <a:rPr lang="en-US" sz="3200" dirty="0"/>
                        <a:t>1</a:t>
                      </a:r>
                    </a:p>
                  </a:txBody>
                  <a:tcPr marL="109728" marR="109728" marT="54864" marB="54864" anchor="ctr"/>
                </a:tc>
                <a:tc>
                  <a:txBody>
                    <a:bodyPr/>
                    <a:lstStyle/>
                    <a:p>
                      <a:r>
                        <a:rPr lang="en-US" sz="3200" dirty="0"/>
                        <a:t>Load inputs to CAR if E = 1,increment CAR if E = 0</a:t>
                      </a:r>
                    </a:p>
                  </a:txBody>
                  <a:tcPr marL="109728" marR="109728" marT="54864" marB="54864" anchor="ctr"/>
                </a:tc>
                <a:extLst>
                  <a:ext uri="{0D108BD9-81ED-4DB2-BD59-A6C34878D82A}">
                    <a16:rowId xmlns:a16="http://schemas.microsoft.com/office/drawing/2014/main" val="1876642878"/>
                  </a:ext>
                </a:extLst>
              </a:tr>
            </a:tbl>
          </a:graphicData>
        </a:graphic>
      </p:graphicFrame>
      <p:sp>
        <p:nvSpPr>
          <p:cNvPr id="3" name="TextBox 2"/>
          <p:cNvSpPr txBox="1"/>
          <p:nvPr/>
        </p:nvSpPr>
        <p:spPr>
          <a:xfrm>
            <a:off x="1119070" y="7393406"/>
            <a:ext cx="10568627" cy="584775"/>
          </a:xfrm>
          <a:prstGeom prst="rect">
            <a:avLst/>
          </a:prstGeom>
          <a:noFill/>
        </p:spPr>
        <p:txBody>
          <a:bodyPr wrap="square" rtlCol="0">
            <a:spAutoFit/>
          </a:bodyPr>
          <a:lstStyle/>
          <a:p>
            <a:pPr algn="r"/>
            <a:r>
              <a:rPr lang="en-US" sz="3200" dirty="0">
                <a:solidFill>
                  <a:srgbClr val="FF0000"/>
                </a:solidFill>
              </a:rPr>
              <a:t>Fig. 10-10 </a:t>
            </a:r>
            <a:r>
              <a:rPr lang="en-US" sz="3200" dirty="0"/>
              <a:t>Organization of the microprogram control unit</a:t>
            </a:r>
          </a:p>
        </p:txBody>
      </p:sp>
      <p:sp>
        <p:nvSpPr>
          <p:cNvPr id="6" name="TextBox 5"/>
          <p:cNvSpPr txBox="1"/>
          <p:nvPr/>
        </p:nvSpPr>
        <p:spPr>
          <a:xfrm>
            <a:off x="11986461" y="2432035"/>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0</a:t>
            </a:r>
          </a:p>
        </p:txBody>
      </p:sp>
      <p:sp>
        <p:nvSpPr>
          <p:cNvPr id="7" name="TextBox 6"/>
          <p:cNvSpPr txBox="1"/>
          <p:nvPr/>
        </p:nvSpPr>
        <p:spPr>
          <a:xfrm>
            <a:off x="11963243" y="2993974"/>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1</a:t>
            </a:r>
          </a:p>
        </p:txBody>
      </p:sp>
      <p:sp>
        <p:nvSpPr>
          <p:cNvPr id="8" name="TextBox 7"/>
          <p:cNvSpPr txBox="1"/>
          <p:nvPr/>
        </p:nvSpPr>
        <p:spPr>
          <a:xfrm>
            <a:off x="11966686" y="3589917"/>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2</a:t>
            </a:r>
          </a:p>
        </p:txBody>
      </p:sp>
      <p:sp>
        <p:nvSpPr>
          <p:cNvPr id="4" name="Date Placeholder 3"/>
          <p:cNvSpPr>
            <a:spLocks noGrp="1"/>
          </p:cNvSpPr>
          <p:nvPr>
            <p:ph type="dt" sz="half" idx="10"/>
          </p:nvPr>
        </p:nvSpPr>
        <p:spPr/>
        <p:txBody>
          <a:bodyPr/>
          <a:lstStyle/>
          <a:p>
            <a:fld id="{E4C46F2F-E483-4EE1-B96D-DB03364E0FD9}" type="datetime3">
              <a:rPr lang="en-US" smtClean="0"/>
              <a:t>6 January 2026</a:t>
            </a:fld>
            <a:endParaRPr lang="en-US"/>
          </a:p>
        </p:txBody>
      </p:sp>
      <p:sp>
        <p:nvSpPr>
          <p:cNvPr id="11" name="Slide Number Placeholder 10"/>
          <p:cNvSpPr>
            <a:spLocks noGrp="1"/>
          </p:cNvSpPr>
          <p:nvPr>
            <p:ph type="sldNum" sz="quarter" idx="12"/>
          </p:nvPr>
        </p:nvSpPr>
        <p:spPr/>
        <p:txBody>
          <a:bodyPr/>
          <a:lstStyle/>
          <a:p>
            <a:fld id="{48F63A3B-78C7-47BE-AE5E-E10140E04643}" type="slidenum">
              <a:rPr lang="en-US" smtClean="0"/>
              <a:pPr/>
              <a:t>10</a:t>
            </a:fld>
            <a:endParaRPr lang="en-US" dirty="0"/>
          </a:p>
        </p:txBody>
      </p:sp>
      <p:sp>
        <p:nvSpPr>
          <p:cNvPr id="12" name="Rectangle 11"/>
          <p:cNvSpPr/>
          <p:nvPr/>
        </p:nvSpPr>
        <p:spPr>
          <a:xfrm>
            <a:off x="202367" y="1436212"/>
            <a:ext cx="7646318" cy="523220"/>
          </a:xfrm>
          <a:prstGeom prst="rect">
            <a:avLst/>
          </a:prstGeom>
        </p:spPr>
        <p:txBody>
          <a:bodyPr wrap="square">
            <a:spAutoFit/>
          </a:bodyPr>
          <a:lstStyle/>
          <a:p>
            <a:r>
              <a:rPr lang="en-US" sz="2800" dirty="0">
                <a:solidFill>
                  <a:srgbClr val="FF0000"/>
                </a:solidFill>
              </a:rPr>
              <a:t>Table for the functions of the multiplexer select bits </a:t>
            </a:r>
            <a:endParaRPr lang="en-US" sz="2800" dirty="0"/>
          </a:p>
        </p:txBody>
      </p:sp>
    </p:spTree>
    <p:extLst>
      <p:ext uri="{BB962C8B-B14F-4D97-AF65-F5344CB8AC3E}">
        <p14:creationId xmlns:p14="http://schemas.microsoft.com/office/powerpoint/2010/main" val="3308004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679170" y="122268"/>
            <a:ext cx="12577155" cy="775507"/>
          </a:xfrm>
        </p:spPr>
        <p:txBody>
          <a:bodyPr>
            <a:noAutofit/>
          </a:bodyPr>
          <a:lstStyle/>
          <a:p>
            <a:r>
              <a:rPr lang="en-US" sz="5400" b="1" dirty="0">
                <a:solidFill>
                  <a:srgbClr val="0070C0"/>
                </a:solidFill>
              </a:rPr>
              <a:t>Hardware Configuration</a:t>
            </a:r>
            <a:endParaRPr lang="en-US" sz="54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232758" y="831275"/>
            <a:ext cx="16043562" cy="6932812"/>
          </a:xfrm>
        </p:spPr>
        <p:txBody>
          <a:bodyPr vert="horz" lIns="0" tIns="45720" rIns="0" bIns="45720" rtlCol="0">
            <a:noAutofit/>
          </a:bodyPr>
          <a:lstStyle/>
          <a:p>
            <a:pPr marL="0" indent="0">
              <a:buNone/>
            </a:pPr>
            <a:r>
              <a:rPr lang="en-US" sz="4000" dirty="0"/>
              <a:t>With </a:t>
            </a:r>
            <a:r>
              <a:rPr lang="en-US" sz="4000" dirty="0">
                <a:solidFill>
                  <a:srgbClr val="FF0000"/>
                </a:solidFill>
              </a:rPr>
              <a:t>bits 13 and 14 equal to 11</a:t>
            </a:r>
            <a:r>
              <a:rPr lang="en-US" sz="4000" dirty="0"/>
              <a:t>, the status variable </a:t>
            </a:r>
            <a:r>
              <a:rPr lang="en-US" sz="4000" i="1" dirty="0"/>
              <a:t>E</a:t>
            </a:r>
            <a:r>
              <a:rPr lang="en-US" sz="4000" dirty="0"/>
              <a:t> is selected, and the </a:t>
            </a:r>
            <a:r>
              <a:rPr lang="en-US" sz="4000" dirty="0">
                <a:solidFill>
                  <a:srgbClr val="FF0000"/>
                </a:solidFill>
              </a:rPr>
              <a:t>address bits </a:t>
            </a:r>
            <a:r>
              <a:rPr lang="en-US" sz="4000" dirty="0"/>
              <a:t>of the micro-instruction </a:t>
            </a:r>
            <a:r>
              <a:rPr lang="en-US" sz="4000" dirty="0">
                <a:solidFill>
                  <a:srgbClr val="FF0000"/>
                </a:solidFill>
              </a:rPr>
              <a:t>are loaded into the CAR if </a:t>
            </a:r>
            <a:r>
              <a:rPr lang="en-US" sz="4000" i="1" dirty="0">
                <a:solidFill>
                  <a:srgbClr val="FF0000"/>
                </a:solidFill>
              </a:rPr>
              <a:t>E</a:t>
            </a:r>
            <a:r>
              <a:rPr lang="en-US" sz="4000" dirty="0">
                <a:solidFill>
                  <a:srgbClr val="FF0000"/>
                </a:solidFill>
              </a:rPr>
              <a:t> = 1</a:t>
            </a:r>
            <a:r>
              <a:rPr lang="en-US" sz="4000" dirty="0"/>
              <a:t>, but </a:t>
            </a:r>
            <a:r>
              <a:rPr lang="en-US" sz="4000" dirty="0">
                <a:solidFill>
                  <a:srgbClr val="FF0000"/>
                </a:solidFill>
              </a:rPr>
              <a:t>the CAR is incremented if </a:t>
            </a:r>
            <a:r>
              <a:rPr lang="en-US" sz="4000" i="1" dirty="0">
                <a:solidFill>
                  <a:srgbClr val="FF0000"/>
                </a:solidFill>
              </a:rPr>
              <a:t>E</a:t>
            </a:r>
            <a:r>
              <a:rPr lang="en-US" sz="4000" dirty="0">
                <a:solidFill>
                  <a:srgbClr val="FF0000"/>
                </a:solidFill>
              </a:rPr>
              <a:t> = 0</a:t>
            </a:r>
            <a:r>
              <a:rPr lang="en-US" sz="4000" dirty="0"/>
              <a:t>. Thus, the multiplexer allows the control to choose between two addresses, depending on the value of the selected status bit.</a:t>
            </a:r>
          </a:p>
          <a:p>
            <a:pPr marL="0" indent="0">
              <a:buNone/>
            </a:pPr>
            <a:r>
              <a:rPr lang="en-US" sz="4000" dirty="0"/>
              <a:t>Once the configuration of a micro-program control unit is established, the designer's task is to </a:t>
            </a:r>
            <a:r>
              <a:rPr lang="en-US" sz="4000" dirty="0">
                <a:solidFill>
                  <a:srgbClr val="FF0000"/>
                </a:solidFill>
              </a:rPr>
              <a:t>generate the micro-code for the control memory</a:t>
            </a:r>
            <a:r>
              <a:rPr lang="en-US" sz="4000" dirty="0"/>
              <a:t>. This code generation is called </a:t>
            </a:r>
            <a:r>
              <a:rPr lang="en-US" sz="4000" dirty="0">
                <a:solidFill>
                  <a:srgbClr val="FF0000"/>
                </a:solidFill>
              </a:rPr>
              <a:t>micro-programming</a:t>
            </a:r>
            <a:r>
              <a:rPr lang="en-US" sz="4000" dirty="0"/>
              <a:t> and is a process that determines the bit configuration for each all words in control memory.</a:t>
            </a:r>
          </a:p>
          <a:p>
            <a:pPr marL="0" indent="0">
              <a:buNone/>
            </a:pPr>
            <a:r>
              <a:rPr lang="en-US" sz="4000" dirty="0"/>
              <a:t>To appreciate this process, we will derive the micro-program for the adder-</a:t>
            </a:r>
            <a:r>
              <a:rPr lang="en-US" sz="4000" dirty="0" err="1"/>
              <a:t>subtractor</a:t>
            </a:r>
            <a:r>
              <a:rPr lang="en-US" sz="4000" dirty="0"/>
              <a:t> example. The </a:t>
            </a:r>
            <a:r>
              <a:rPr lang="en-US" sz="4000" dirty="0">
                <a:solidFill>
                  <a:srgbClr val="FF0000"/>
                </a:solidFill>
              </a:rPr>
              <a:t>control memory has 8 words, and each word contains 14 bits</a:t>
            </a:r>
            <a:r>
              <a:rPr lang="en-US" sz="4000" dirty="0"/>
              <a:t>. To micro-program the control memory, we must determine the </a:t>
            </a:r>
            <a:r>
              <a:rPr lang="en-US" sz="4000" dirty="0">
                <a:solidFill>
                  <a:srgbClr val="FF0000"/>
                </a:solidFill>
              </a:rPr>
              <a:t>bit values of each of the eight words</a:t>
            </a:r>
            <a:r>
              <a:rPr lang="en-US" sz="4000" dirty="0"/>
              <a:t>.</a:t>
            </a:r>
          </a:p>
        </p:txBody>
      </p:sp>
      <p:sp>
        <p:nvSpPr>
          <p:cNvPr id="4" name="Date Placeholder 3"/>
          <p:cNvSpPr>
            <a:spLocks noGrp="1"/>
          </p:cNvSpPr>
          <p:nvPr>
            <p:ph type="dt" sz="half" idx="10"/>
          </p:nvPr>
        </p:nvSpPr>
        <p:spPr/>
        <p:txBody>
          <a:bodyPr/>
          <a:lstStyle/>
          <a:p>
            <a:fld id="{28FD73B5-86B0-4299-91C4-D0EF31C9F708}"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59919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579419" y="110994"/>
            <a:ext cx="13175672" cy="830738"/>
          </a:xfrm>
        </p:spPr>
        <p:txBody>
          <a:bodyPr>
            <a:noAutofit/>
          </a:bodyPr>
          <a:lstStyle/>
          <a:p>
            <a:r>
              <a:rPr lang="en-US" sz="5400" b="1" dirty="0">
                <a:solidFill>
                  <a:srgbClr val="0070C0"/>
                </a:solidFill>
              </a:rPr>
              <a:t>Hardware Configuration</a:t>
            </a:r>
            <a:endParaRPr lang="en-US" sz="54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216130" y="941731"/>
            <a:ext cx="16060190" cy="6406719"/>
          </a:xfrm>
        </p:spPr>
        <p:txBody>
          <a:bodyPr vert="horz" lIns="0" tIns="45720" rIns="0" bIns="45720" rtlCol="0">
            <a:noAutofit/>
          </a:bodyPr>
          <a:lstStyle/>
          <a:p>
            <a:pPr marL="0" indent="0">
              <a:buNone/>
            </a:pPr>
            <a:r>
              <a:rPr lang="en-US" sz="4000" dirty="0"/>
              <a:t>The </a:t>
            </a:r>
            <a:r>
              <a:rPr lang="en-US" sz="4000" dirty="0">
                <a:solidFill>
                  <a:srgbClr val="FF0000"/>
                </a:solidFill>
              </a:rPr>
              <a:t>register-transfer method </a:t>
            </a:r>
            <a:r>
              <a:rPr lang="en-US" sz="4000" dirty="0"/>
              <a:t>can be adopted for developing a micro-program. The micro-program sequence can be specified with register-transfer statements. There is no need for listing control functions with Boolean variables since, in this case, the control variables are the control words stored in control memory. Instead of a control function, we specify an address with each register-transfer statement. </a:t>
            </a:r>
          </a:p>
          <a:p>
            <a:pPr marL="0" indent="0">
              <a:buNone/>
            </a:pPr>
            <a:r>
              <a:rPr lang="en-US" sz="4000" dirty="0"/>
              <a:t>The </a:t>
            </a:r>
            <a:r>
              <a:rPr lang="en-US" sz="4000" dirty="0">
                <a:solidFill>
                  <a:srgbClr val="FF0000"/>
                </a:solidFill>
              </a:rPr>
              <a:t>address associated with each symbolic statement corresponds to the address where the micro-instruction is to be stored in memory</a:t>
            </a:r>
            <a:r>
              <a:rPr lang="en-US" sz="4000" dirty="0"/>
              <a:t>. </a:t>
            </a:r>
          </a:p>
          <a:p>
            <a:pPr marL="0" indent="0">
              <a:buNone/>
            </a:pPr>
            <a:r>
              <a:rPr lang="en-US" sz="4000" dirty="0"/>
              <a:t>The </a:t>
            </a:r>
            <a:r>
              <a:rPr lang="en-US" sz="4000" dirty="0">
                <a:solidFill>
                  <a:srgbClr val="FF0000"/>
                </a:solidFill>
              </a:rPr>
              <a:t>sequencing</a:t>
            </a:r>
            <a:r>
              <a:rPr lang="en-US" sz="4000" dirty="0"/>
              <a:t> from one address to the next can be </a:t>
            </a:r>
            <a:r>
              <a:rPr lang="en-US" sz="4000" dirty="0">
                <a:solidFill>
                  <a:srgbClr val="FF0000"/>
                </a:solidFill>
              </a:rPr>
              <a:t>indicated</a:t>
            </a:r>
            <a:r>
              <a:rPr lang="en-US" sz="4000" dirty="0"/>
              <a:t> by means of </a:t>
            </a:r>
            <a:r>
              <a:rPr lang="en-US" sz="4000" dirty="0">
                <a:solidFill>
                  <a:srgbClr val="FF0000"/>
                </a:solidFill>
              </a:rPr>
              <a:t>conditional control statements</a:t>
            </a:r>
            <a:r>
              <a:rPr lang="en-US" sz="4000" dirty="0"/>
              <a:t>. This type of statement can specify the address to which control goes, depending on status conditions.</a:t>
            </a:r>
          </a:p>
        </p:txBody>
      </p:sp>
      <p:sp>
        <p:nvSpPr>
          <p:cNvPr id="4" name="Date Placeholder 3"/>
          <p:cNvSpPr>
            <a:spLocks noGrp="1"/>
          </p:cNvSpPr>
          <p:nvPr>
            <p:ph type="dt" sz="half" idx="10"/>
          </p:nvPr>
        </p:nvSpPr>
        <p:spPr/>
        <p:txBody>
          <a:bodyPr/>
          <a:lstStyle/>
          <a:p>
            <a:fld id="{142BF4D9-82EB-4652-8DBB-6228ADD04D1A}"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1860021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579419" y="110994"/>
            <a:ext cx="13175672" cy="830738"/>
          </a:xfrm>
        </p:spPr>
        <p:txBody>
          <a:bodyPr>
            <a:noAutofit/>
          </a:bodyPr>
          <a:lstStyle/>
          <a:p>
            <a:r>
              <a:rPr lang="en-US" sz="5400" b="1" dirty="0">
                <a:solidFill>
                  <a:srgbClr val="0070C0"/>
                </a:solidFill>
              </a:rPr>
              <a:t>Hardware Configuration</a:t>
            </a:r>
            <a:endParaRPr lang="en-US" sz="54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216130" y="941731"/>
            <a:ext cx="16060190" cy="6406719"/>
          </a:xfrm>
        </p:spPr>
        <p:txBody>
          <a:bodyPr vert="horz" lIns="0" tIns="45720" rIns="0" bIns="45720" rtlCol="0">
            <a:noAutofit/>
          </a:bodyPr>
          <a:lstStyle/>
          <a:p>
            <a:pPr marL="0" indent="0">
              <a:buNone/>
            </a:pPr>
            <a:r>
              <a:rPr lang="en-US" sz="4000" dirty="0"/>
              <a:t>Thus, instead of thinking in terms of the 1's and 0's that must be inserted for each micro-instruction, it is more convenient to think in terms of symbols in the register-transfer method. </a:t>
            </a:r>
            <a:r>
              <a:rPr lang="en-US" sz="4000" dirty="0">
                <a:solidFill>
                  <a:srgbClr val="FF0000"/>
                </a:solidFill>
              </a:rPr>
              <a:t>Once the symbolic micro-program is established</a:t>
            </a:r>
            <a:r>
              <a:rPr lang="en-US" sz="4000" dirty="0"/>
              <a:t>, it is possible to </a:t>
            </a:r>
            <a:r>
              <a:rPr lang="en-US" sz="4000" dirty="0">
                <a:solidFill>
                  <a:srgbClr val="FF0000"/>
                </a:solidFill>
              </a:rPr>
              <a:t>translate the register-transfer statements </a:t>
            </a:r>
            <a:r>
              <a:rPr lang="en-US" sz="4000" dirty="0"/>
              <a:t>to their </a:t>
            </a:r>
            <a:r>
              <a:rPr lang="en-US" sz="4000" dirty="0">
                <a:solidFill>
                  <a:srgbClr val="FF0000"/>
                </a:solidFill>
              </a:rPr>
              <a:t>equivalent</a:t>
            </a:r>
            <a:r>
              <a:rPr lang="en-US" sz="4000" dirty="0"/>
              <a:t> </a:t>
            </a:r>
            <a:r>
              <a:rPr lang="en-US" sz="4000" dirty="0">
                <a:solidFill>
                  <a:srgbClr val="FF0000"/>
                </a:solidFill>
              </a:rPr>
              <a:t>binary form</a:t>
            </a:r>
            <a:r>
              <a:rPr lang="en-US" sz="4000" dirty="0"/>
              <a:t>.</a:t>
            </a:r>
          </a:p>
          <a:p>
            <a:pPr marL="0" indent="0">
              <a:buNone/>
            </a:pPr>
            <a:r>
              <a:rPr lang="en-US" sz="4000" dirty="0"/>
              <a:t>The micro-program in symbolic form is given in Table 10-2. The </a:t>
            </a:r>
            <a:r>
              <a:rPr lang="en-US" sz="4000" dirty="0">
                <a:solidFill>
                  <a:srgbClr val="FF0000"/>
                </a:solidFill>
              </a:rPr>
              <a:t>eight addresses </a:t>
            </a:r>
            <a:r>
              <a:rPr lang="en-US" sz="4000" dirty="0"/>
              <a:t>of the ROM are listed in the </a:t>
            </a:r>
            <a:r>
              <a:rPr lang="en-US" sz="4000" dirty="0">
                <a:solidFill>
                  <a:srgbClr val="FF0000"/>
                </a:solidFill>
              </a:rPr>
              <a:t>first column</a:t>
            </a:r>
            <a:r>
              <a:rPr lang="en-US" sz="4000" dirty="0"/>
              <a:t>.</a:t>
            </a:r>
          </a:p>
          <a:p>
            <a:pPr marL="0" indent="0">
              <a:buNone/>
            </a:pPr>
            <a:r>
              <a:rPr lang="en-US" sz="4000" dirty="0"/>
              <a:t>In the </a:t>
            </a:r>
            <a:r>
              <a:rPr lang="en-US" sz="4000" dirty="0">
                <a:solidFill>
                  <a:srgbClr val="FF0000"/>
                </a:solidFill>
              </a:rPr>
              <a:t>second column</a:t>
            </a:r>
            <a:r>
              <a:rPr lang="en-US" sz="4000" dirty="0"/>
              <a:t>, the </a:t>
            </a:r>
            <a:r>
              <a:rPr lang="en-US" sz="4000" dirty="0">
                <a:solidFill>
                  <a:srgbClr val="FF0000"/>
                </a:solidFill>
              </a:rPr>
              <a:t>micro-instruction</a:t>
            </a:r>
            <a:r>
              <a:rPr lang="en-US" sz="4000" dirty="0"/>
              <a:t> that must be stored at each address is given in symbolic form. The comments are used to clarify the register-transfer statements.</a:t>
            </a:r>
          </a:p>
        </p:txBody>
      </p:sp>
      <p:sp>
        <p:nvSpPr>
          <p:cNvPr id="4" name="Date Placeholder 3"/>
          <p:cNvSpPr>
            <a:spLocks noGrp="1"/>
          </p:cNvSpPr>
          <p:nvPr>
            <p:ph type="dt" sz="half" idx="10"/>
          </p:nvPr>
        </p:nvSpPr>
        <p:spPr/>
        <p:txBody>
          <a:bodyPr/>
          <a:lstStyle/>
          <a:p>
            <a:fld id="{142BF4D9-82EB-4652-8DBB-6228ADD04D1A}"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4127160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9D899-315F-4D09-90CC-71AEF0F48478}"/>
              </a:ext>
            </a:extLst>
          </p:cNvPr>
          <p:cNvSpPr>
            <a:spLocks noGrp="1"/>
          </p:cNvSpPr>
          <p:nvPr>
            <p:ph type="title"/>
          </p:nvPr>
        </p:nvSpPr>
        <p:spPr>
          <a:xfrm>
            <a:off x="1579418" y="195818"/>
            <a:ext cx="13400116" cy="894754"/>
          </a:xfrm>
        </p:spPr>
        <p:txBody>
          <a:bodyPr>
            <a:noAutofit/>
          </a:bodyPr>
          <a:lstStyle/>
          <a:p>
            <a:r>
              <a:rPr lang="en-US" sz="5400" b="1" dirty="0">
                <a:solidFill>
                  <a:srgbClr val="0070C0"/>
                </a:solidFill>
              </a:rPr>
              <a:t>Microprogram for Control Memory </a:t>
            </a:r>
          </a:p>
        </p:txBody>
      </p:sp>
      <p:pic>
        <p:nvPicPr>
          <p:cNvPr id="3" name="Picture 2">
            <a:extLst>
              <a:ext uri="{FF2B5EF4-FFF2-40B4-BE49-F238E27FC236}">
                <a16:creationId xmlns:a16="http://schemas.microsoft.com/office/drawing/2014/main" id="{242E297B-EECC-43C3-AA14-F0AC64F8F5FF}"/>
              </a:ext>
            </a:extLst>
          </p:cNvPr>
          <p:cNvPicPr>
            <a:picLocks noChangeAspect="1"/>
          </p:cNvPicPr>
          <p:nvPr/>
        </p:nvPicPr>
        <p:blipFill rotWithShape="1">
          <a:blip r:embed="rId2">
            <a:duotone>
              <a:schemeClr val="accent1">
                <a:shade val="45000"/>
                <a:satMod val="135000"/>
              </a:schemeClr>
              <a:prstClr val="white"/>
            </a:duotone>
            <a:lum bright="-20000" contrast="40000"/>
          </a:blip>
          <a:srcRect l="2870" t="4812" r="3506" b="5673"/>
          <a:stretch/>
        </p:blipFill>
        <p:spPr>
          <a:xfrm>
            <a:off x="882385" y="1691355"/>
            <a:ext cx="15151446" cy="6072732"/>
          </a:xfrm>
          <a:prstGeom prst="rect">
            <a:avLst/>
          </a:prstGeom>
        </p:spPr>
      </p:pic>
      <p:sp>
        <p:nvSpPr>
          <p:cNvPr id="10" name="Rectangle 9"/>
          <p:cNvSpPr/>
          <p:nvPr/>
        </p:nvSpPr>
        <p:spPr>
          <a:xfrm>
            <a:off x="882385" y="983469"/>
            <a:ext cx="9829679" cy="707886"/>
          </a:xfrm>
          <a:prstGeom prst="rect">
            <a:avLst/>
          </a:prstGeom>
        </p:spPr>
        <p:txBody>
          <a:bodyPr wrap="none">
            <a:spAutoFit/>
          </a:bodyPr>
          <a:lstStyle/>
          <a:p>
            <a:r>
              <a:rPr lang="en-US" sz="4000" dirty="0">
                <a:solidFill>
                  <a:srgbClr val="FF0000"/>
                </a:solidFill>
              </a:rPr>
              <a:t>Table 10-2</a:t>
            </a:r>
            <a:r>
              <a:rPr lang="en-US" sz="4000" dirty="0"/>
              <a:t> Microprogram for Control Memory </a:t>
            </a:r>
          </a:p>
        </p:txBody>
      </p:sp>
      <p:sp>
        <p:nvSpPr>
          <p:cNvPr id="4" name="Date Placeholder 3"/>
          <p:cNvSpPr>
            <a:spLocks noGrp="1"/>
          </p:cNvSpPr>
          <p:nvPr>
            <p:ph type="dt" sz="half" idx="10"/>
          </p:nvPr>
        </p:nvSpPr>
        <p:spPr/>
        <p:txBody>
          <a:bodyPr/>
          <a:lstStyle/>
          <a:p>
            <a:fld id="{BF28E923-AB1B-479E-BD16-3EB9D3713A3F}"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457496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B56F2-AF78-46E4-AD5A-904FF321ACE4}"/>
              </a:ext>
            </a:extLst>
          </p:cNvPr>
          <p:cNvSpPr>
            <a:spLocks noGrp="1"/>
          </p:cNvSpPr>
          <p:nvPr>
            <p:ph type="title"/>
          </p:nvPr>
        </p:nvSpPr>
        <p:spPr>
          <a:xfrm>
            <a:off x="1162519" y="109957"/>
            <a:ext cx="12618720" cy="1006596"/>
          </a:xfrm>
        </p:spPr>
        <p:txBody>
          <a:bodyPr>
            <a:normAutofit/>
          </a:bodyPr>
          <a:lstStyle/>
          <a:p>
            <a:r>
              <a:rPr lang="en-US" sz="5760" b="1" dirty="0">
                <a:solidFill>
                  <a:srgbClr val="0070C0"/>
                </a:solidFill>
              </a:rPr>
              <a:t>Control State Diagram</a:t>
            </a:r>
          </a:p>
        </p:txBody>
      </p:sp>
      <p:pic>
        <p:nvPicPr>
          <p:cNvPr id="6" name="Picture 5">
            <a:extLst>
              <a:ext uri="{FF2B5EF4-FFF2-40B4-BE49-F238E27FC236}">
                <a16:creationId xmlns:a16="http://schemas.microsoft.com/office/drawing/2014/main" id="{7CD2AB0F-CDC8-41C6-82E5-C75E4C3C896F}"/>
              </a:ext>
            </a:extLst>
          </p:cNvPr>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8528859" y="187930"/>
            <a:ext cx="6612986" cy="7673369"/>
          </a:xfrm>
          <a:prstGeom prst="rect">
            <a:avLst/>
          </a:prstGeom>
        </p:spPr>
      </p:pic>
      <p:pic>
        <p:nvPicPr>
          <p:cNvPr id="9" name="Picture 8">
            <a:extLst>
              <a:ext uri="{FF2B5EF4-FFF2-40B4-BE49-F238E27FC236}">
                <a16:creationId xmlns:a16="http://schemas.microsoft.com/office/drawing/2014/main" id="{4D517515-3029-426D-86AA-9C826758A435}"/>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Lst>
          </a:blip>
          <a:srcRect l="3409" t="1962" r="4105" b="4670"/>
          <a:stretch/>
        </p:blipFill>
        <p:spPr>
          <a:xfrm>
            <a:off x="1162519" y="997528"/>
            <a:ext cx="5687167" cy="6820476"/>
          </a:xfrm>
          <a:prstGeom prst="rect">
            <a:avLst/>
          </a:prstGeom>
        </p:spPr>
      </p:pic>
      <p:sp>
        <p:nvSpPr>
          <p:cNvPr id="3" name="Date Placeholder 2"/>
          <p:cNvSpPr>
            <a:spLocks noGrp="1"/>
          </p:cNvSpPr>
          <p:nvPr>
            <p:ph type="dt" sz="half" idx="10"/>
          </p:nvPr>
        </p:nvSpPr>
        <p:spPr/>
        <p:txBody>
          <a:bodyPr/>
          <a:lstStyle/>
          <a:p>
            <a:fld id="{C44028A8-8170-44CA-880B-9BC964B6439C}" type="datetime3">
              <a:rPr lang="en-US" smtClean="0"/>
              <a:t>6 January 2026</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3620548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745673" y="122267"/>
            <a:ext cx="9659390" cy="908513"/>
          </a:xfrm>
        </p:spPr>
        <p:txBody>
          <a:bodyPr>
            <a:noAutofit/>
          </a:bodyPr>
          <a:lstStyle/>
          <a:p>
            <a:r>
              <a:rPr lang="en-US" sz="5400" b="1" dirty="0">
                <a:solidFill>
                  <a:srgbClr val="0070C0"/>
                </a:solidFill>
              </a:rPr>
              <a:t>Hardware Configuration</a:t>
            </a:r>
            <a:endParaRPr lang="en-US" sz="54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232756" y="1163782"/>
            <a:ext cx="15977062" cy="5951914"/>
          </a:xfrm>
        </p:spPr>
        <p:txBody>
          <a:bodyPr vert="horz" lIns="0" tIns="45720" rIns="0" bIns="45720" rtlCol="0">
            <a:noAutofit/>
          </a:bodyPr>
          <a:lstStyle/>
          <a:p>
            <a:pPr marL="0" indent="0">
              <a:spcBef>
                <a:spcPts val="720"/>
              </a:spcBef>
              <a:buNone/>
            </a:pPr>
            <a:r>
              <a:rPr lang="en-US" sz="4000" dirty="0"/>
              <a:t>The equivalent binary form of micro-program is given in </a:t>
            </a:r>
            <a:r>
              <a:rPr lang="en-US" sz="4000" dirty="0">
                <a:solidFill>
                  <a:srgbClr val="FF0000"/>
                </a:solidFill>
              </a:rPr>
              <a:t>Table 10-3. </a:t>
            </a:r>
            <a:r>
              <a:rPr lang="en-US" sz="4000" dirty="0"/>
              <a:t>The </a:t>
            </a:r>
            <a:r>
              <a:rPr lang="en-US" sz="4000" dirty="0">
                <a:solidFill>
                  <a:srgbClr val="FF0000"/>
                </a:solidFill>
              </a:rPr>
              <a:t>eight binary format addresses </a:t>
            </a:r>
            <a:r>
              <a:rPr lang="en-US" sz="4000" dirty="0"/>
              <a:t>of the ROM are listed in the </a:t>
            </a:r>
            <a:r>
              <a:rPr lang="en-US" sz="4000" dirty="0">
                <a:solidFill>
                  <a:srgbClr val="FF0000"/>
                </a:solidFill>
              </a:rPr>
              <a:t>first column</a:t>
            </a:r>
            <a:r>
              <a:rPr lang="en-US" sz="4000" dirty="0"/>
              <a:t>.</a:t>
            </a:r>
          </a:p>
          <a:p>
            <a:pPr marL="0" indent="0">
              <a:spcBef>
                <a:spcPts val="720"/>
              </a:spcBef>
              <a:buNone/>
            </a:pPr>
            <a:r>
              <a:rPr lang="en-US" sz="4000" dirty="0"/>
              <a:t>In the </a:t>
            </a:r>
            <a:r>
              <a:rPr lang="en-US" sz="4000" dirty="0">
                <a:solidFill>
                  <a:srgbClr val="FF0000"/>
                </a:solidFill>
              </a:rPr>
              <a:t>second column</a:t>
            </a:r>
            <a:r>
              <a:rPr lang="en-US" sz="4000" dirty="0"/>
              <a:t>, the </a:t>
            </a:r>
            <a:r>
              <a:rPr lang="en-US" sz="4000" dirty="0">
                <a:solidFill>
                  <a:srgbClr val="FF0000"/>
                </a:solidFill>
              </a:rPr>
              <a:t>micro-instruction</a:t>
            </a:r>
            <a:r>
              <a:rPr lang="en-US" sz="4000" dirty="0"/>
              <a:t> that must be stored at each address is given in the binary or machine language format. </a:t>
            </a:r>
          </a:p>
          <a:p>
            <a:pPr marL="0" indent="0">
              <a:spcBef>
                <a:spcPts val="720"/>
              </a:spcBef>
              <a:buNone/>
            </a:pPr>
            <a:r>
              <a:rPr lang="en-US" sz="4000" dirty="0"/>
              <a:t>In the </a:t>
            </a:r>
            <a:r>
              <a:rPr lang="en-US" sz="4000" dirty="0">
                <a:solidFill>
                  <a:srgbClr val="FF0000"/>
                </a:solidFill>
              </a:rPr>
              <a:t>third column</a:t>
            </a:r>
            <a:r>
              <a:rPr lang="en-US" sz="4000" dirty="0"/>
              <a:t>, the contents of each word of ROM is given in binary format. This is for programming the ROM.</a:t>
            </a:r>
          </a:p>
          <a:p>
            <a:pPr marL="0" indent="0">
              <a:spcBef>
                <a:spcPts val="720"/>
              </a:spcBef>
              <a:buNone/>
            </a:pPr>
            <a:r>
              <a:rPr lang="en-US" sz="4000" dirty="0"/>
              <a:t>The </a:t>
            </a:r>
            <a:r>
              <a:rPr lang="en-US" sz="4000" dirty="0">
                <a:solidFill>
                  <a:srgbClr val="FF0000"/>
                </a:solidFill>
              </a:rPr>
              <a:t>first 9 bits</a:t>
            </a:r>
            <a:r>
              <a:rPr lang="en-US" sz="4000" dirty="0"/>
              <a:t> in each ROM word give the </a:t>
            </a:r>
            <a:r>
              <a:rPr lang="en-US" sz="4000" dirty="0">
                <a:solidFill>
                  <a:srgbClr val="FF0000"/>
                </a:solidFill>
              </a:rPr>
              <a:t>control word </a:t>
            </a:r>
            <a:r>
              <a:rPr lang="en-US" sz="4000" dirty="0"/>
              <a:t>that initiates the specified micro-operations. These are taken from Fig. </a:t>
            </a:r>
            <a:r>
              <a:rPr lang="en-US" sz="4000" b="1" dirty="0">
                <a:solidFill>
                  <a:srgbClr val="FF0000"/>
                </a:solidFill>
              </a:rPr>
              <a:t>10-9 (b). </a:t>
            </a:r>
            <a:r>
              <a:rPr lang="en-US" sz="4000" dirty="0"/>
              <a:t>The </a:t>
            </a:r>
            <a:r>
              <a:rPr lang="en-US" sz="4000" dirty="0">
                <a:solidFill>
                  <a:srgbClr val="FF0000"/>
                </a:solidFill>
              </a:rPr>
              <a:t>last 5 bits </a:t>
            </a:r>
            <a:r>
              <a:rPr lang="en-US" sz="4000" dirty="0"/>
              <a:t>in each ROM word are derived from the </a:t>
            </a:r>
            <a:r>
              <a:rPr lang="en-US" sz="4000" dirty="0">
                <a:solidFill>
                  <a:srgbClr val="FF0000"/>
                </a:solidFill>
              </a:rPr>
              <a:t>conditional control statements </a:t>
            </a:r>
            <a:r>
              <a:rPr lang="en-US" sz="4000" dirty="0"/>
              <a:t>in the symbolic program.</a:t>
            </a:r>
          </a:p>
        </p:txBody>
      </p:sp>
      <p:sp>
        <p:nvSpPr>
          <p:cNvPr id="4" name="Date Placeholder 3"/>
          <p:cNvSpPr>
            <a:spLocks noGrp="1"/>
          </p:cNvSpPr>
          <p:nvPr>
            <p:ph type="dt" sz="half" idx="10"/>
          </p:nvPr>
        </p:nvSpPr>
        <p:spPr/>
        <p:txBody>
          <a:bodyPr/>
          <a:lstStyle/>
          <a:p>
            <a:fld id="{B189E428-FCFA-4E33-95A9-99F4957C0668}"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1524077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9D899-315F-4D09-90CC-71AEF0F48478}"/>
              </a:ext>
            </a:extLst>
          </p:cNvPr>
          <p:cNvSpPr>
            <a:spLocks noGrp="1"/>
          </p:cNvSpPr>
          <p:nvPr>
            <p:ph type="title"/>
          </p:nvPr>
        </p:nvSpPr>
        <p:spPr>
          <a:xfrm>
            <a:off x="1712422" y="195818"/>
            <a:ext cx="9892145" cy="894754"/>
          </a:xfrm>
        </p:spPr>
        <p:txBody>
          <a:bodyPr>
            <a:noAutofit/>
          </a:bodyPr>
          <a:lstStyle/>
          <a:p>
            <a:r>
              <a:rPr lang="en-US" sz="5400" b="1" dirty="0">
                <a:solidFill>
                  <a:srgbClr val="0070C0"/>
                </a:solidFill>
              </a:rPr>
              <a:t>Microprogram for Control Memory </a:t>
            </a:r>
          </a:p>
        </p:txBody>
      </p:sp>
      <p:pic>
        <p:nvPicPr>
          <p:cNvPr id="4" name="Content Placeholder 3">
            <a:extLst>
              <a:ext uri="{FF2B5EF4-FFF2-40B4-BE49-F238E27FC236}">
                <a16:creationId xmlns:a16="http://schemas.microsoft.com/office/drawing/2014/main" id="{5FB7EA2D-664C-4F64-AF27-7967FD6850CC}"/>
              </a:ext>
            </a:extLst>
          </p:cNvPr>
          <p:cNvPicPr>
            <a:picLocks noGrp="1" noChangeAspect="1"/>
          </p:cNvPicPr>
          <p:nvPr>
            <p:ph idx="1"/>
          </p:nvPr>
        </p:nvPicPr>
        <p:blipFill rotWithShape="1">
          <a:blip r:embed="rId2">
            <a:duotone>
              <a:schemeClr val="accent1">
                <a:shade val="45000"/>
                <a:satMod val="135000"/>
              </a:schemeClr>
              <a:prstClr val="white"/>
            </a:duotone>
            <a:lum bright="-20000" contrast="40000"/>
          </a:blip>
          <a:srcRect l="2849" t="6804" r="4290" b="7219"/>
          <a:stretch/>
        </p:blipFill>
        <p:spPr>
          <a:xfrm>
            <a:off x="615148" y="1562793"/>
            <a:ext cx="15477518" cy="6356841"/>
          </a:xfrm>
          <a:prstGeom prst="rect">
            <a:avLst/>
          </a:prstGeom>
        </p:spPr>
      </p:pic>
      <p:sp>
        <p:nvSpPr>
          <p:cNvPr id="5" name="Rectangle 4"/>
          <p:cNvSpPr/>
          <p:nvPr/>
        </p:nvSpPr>
        <p:spPr>
          <a:xfrm>
            <a:off x="1072991" y="949663"/>
            <a:ext cx="11150425" cy="707886"/>
          </a:xfrm>
          <a:prstGeom prst="rect">
            <a:avLst/>
          </a:prstGeom>
        </p:spPr>
        <p:txBody>
          <a:bodyPr wrap="none">
            <a:spAutoFit/>
          </a:bodyPr>
          <a:lstStyle/>
          <a:p>
            <a:r>
              <a:rPr lang="en-US" sz="4000" dirty="0">
                <a:solidFill>
                  <a:srgbClr val="FF0000"/>
                </a:solidFill>
              </a:rPr>
              <a:t>Table 10-3</a:t>
            </a:r>
            <a:r>
              <a:rPr lang="en-US" sz="4000" dirty="0"/>
              <a:t> Binary microprogram for control memory </a:t>
            </a:r>
          </a:p>
        </p:txBody>
      </p:sp>
      <p:sp>
        <p:nvSpPr>
          <p:cNvPr id="3" name="Date Placeholder 2"/>
          <p:cNvSpPr>
            <a:spLocks noGrp="1"/>
          </p:cNvSpPr>
          <p:nvPr>
            <p:ph type="dt" sz="half" idx="10"/>
          </p:nvPr>
        </p:nvSpPr>
        <p:spPr/>
        <p:txBody>
          <a:bodyPr/>
          <a:lstStyle/>
          <a:p>
            <a:fld id="{3BA110B9-3B1C-4212-AE55-4C0ADD33B117}" type="datetime3">
              <a:rPr lang="en-US" smtClean="0"/>
              <a:t>6 January 2026</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4183513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878676" y="222015"/>
            <a:ext cx="8911244" cy="1091392"/>
          </a:xfrm>
        </p:spPr>
        <p:txBody>
          <a:bodyPr>
            <a:normAutofit/>
          </a:bodyPr>
          <a:lstStyle/>
          <a:p>
            <a:r>
              <a:rPr lang="en-US" sz="5400" b="1" dirty="0">
                <a:solidFill>
                  <a:srgbClr val="0070C0"/>
                </a:solidFill>
              </a:rPr>
              <a:t>Hardware Configuration</a:t>
            </a:r>
            <a:endParaRPr lang="en-US" sz="54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232756" y="1230275"/>
            <a:ext cx="15993688" cy="6284426"/>
          </a:xfrm>
        </p:spPr>
        <p:txBody>
          <a:bodyPr vert="horz" lIns="0" tIns="45720" rIns="0" bIns="45720" rtlCol="0">
            <a:noAutofit/>
          </a:bodyPr>
          <a:lstStyle/>
          <a:p>
            <a:pPr marL="0" indent="0">
              <a:buNone/>
            </a:pPr>
            <a:r>
              <a:rPr lang="en-US" sz="4800" dirty="0">
                <a:solidFill>
                  <a:srgbClr val="FF0000"/>
                </a:solidFill>
              </a:rPr>
              <a:t>Address 0 </a:t>
            </a:r>
            <a:r>
              <a:rPr lang="en-US" sz="4800" dirty="0"/>
              <a:t>is equivalent to the initial state and </a:t>
            </a:r>
            <a:r>
              <a:rPr lang="en-US" sz="4800" dirty="0">
                <a:solidFill>
                  <a:srgbClr val="FF0000"/>
                </a:solidFill>
              </a:rPr>
              <a:t>produces an output </a:t>
            </a:r>
            <a:r>
              <a:rPr lang="en-US" sz="4800" i="1" dirty="0">
                <a:solidFill>
                  <a:srgbClr val="FF0000"/>
                </a:solidFill>
              </a:rPr>
              <a:t>x</a:t>
            </a:r>
            <a:r>
              <a:rPr lang="en-US" sz="4800" dirty="0">
                <a:solidFill>
                  <a:srgbClr val="FF0000"/>
                </a:solidFill>
              </a:rPr>
              <a:t> = 1</a:t>
            </a:r>
            <a:r>
              <a:rPr lang="en-US" sz="4800" dirty="0"/>
              <a:t>. The </a:t>
            </a:r>
            <a:r>
              <a:rPr lang="en-US" sz="4800" dirty="0">
                <a:solidFill>
                  <a:srgbClr val="FF0000"/>
                </a:solidFill>
              </a:rPr>
              <a:t>next address depends on</a:t>
            </a:r>
            <a:r>
              <a:rPr lang="en-US" sz="4800" dirty="0"/>
              <a:t> the values of </a:t>
            </a:r>
            <a:r>
              <a:rPr lang="en-US" sz="4800" dirty="0">
                <a:solidFill>
                  <a:srgbClr val="FF0000"/>
                </a:solidFill>
              </a:rPr>
              <a:t>external variables </a:t>
            </a:r>
            <a:r>
              <a:rPr lang="en-US" sz="4800" i="1" dirty="0" err="1">
                <a:solidFill>
                  <a:srgbClr val="FF0000"/>
                </a:solidFill>
              </a:rPr>
              <a:t>q</a:t>
            </a:r>
            <a:r>
              <a:rPr lang="en-US" sz="4800" i="1" baseline="-25000" dirty="0" err="1">
                <a:solidFill>
                  <a:srgbClr val="FF0000"/>
                </a:solidFill>
              </a:rPr>
              <a:t>s</a:t>
            </a:r>
            <a:r>
              <a:rPr lang="en-US" sz="4800" dirty="0">
                <a:solidFill>
                  <a:srgbClr val="FF0000"/>
                </a:solidFill>
              </a:rPr>
              <a:t> and </a:t>
            </a:r>
            <a:r>
              <a:rPr lang="en-US" sz="4800" i="1" dirty="0" err="1">
                <a:solidFill>
                  <a:srgbClr val="FF0000"/>
                </a:solidFill>
              </a:rPr>
              <a:t>q</a:t>
            </a:r>
            <a:r>
              <a:rPr lang="en-US" sz="4800" i="1" baseline="-25000" dirty="0" err="1">
                <a:solidFill>
                  <a:srgbClr val="FF0000"/>
                </a:solidFill>
              </a:rPr>
              <a:t>a</a:t>
            </a:r>
            <a:r>
              <a:rPr lang="en-US" sz="4800" dirty="0"/>
              <a:t>.</a:t>
            </a:r>
          </a:p>
          <a:p>
            <a:pPr marL="0" indent="0">
              <a:spcBef>
                <a:spcPts val="720"/>
              </a:spcBef>
              <a:buNone/>
            </a:pPr>
            <a:r>
              <a:rPr lang="en-US" sz="4800" dirty="0"/>
              <a:t>The </a:t>
            </a:r>
            <a:r>
              <a:rPr lang="en-US" sz="4800" dirty="0">
                <a:solidFill>
                  <a:srgbClr val="FF0000"/>
                </a:solidFill>
              </a:rPr>
              <a:t>three conditional control statements </a:t>
            </a:r>
            <a:r>
              <a:rPr lang="en-US" sz="4800" dirty="0"/>
              <a:t>in this micro-instruction use a </a:t>
            </a:r>
            <a:r>
              <a:rPr lang="en-US" sz="4800" i="1" dirty="0">
                <a:solidFill>
                  <a:srgbClr val="FF0000"/>
                </a:solidFill>
              </a:rPr>
              <a:t>go to </a:t>
            </a:r>
            <a:r>
              <a:rPr lang="en-US" sz="4800" dirty="0"/>
              <a:t>statement, control goes to the address written after the words </a:t>
            </a:r>
            <a:r>
              <a:rPr lang="en-US" sz="4800" i="1" dirty="0">
                <a:solidFill>
                  <a:srgbClr val="FF0000"/>
                </a:solidFill>
              </a:rPr>
              <a:t>go to</a:t>
            </a:r>
            <a:r>
              <a:rPr lang="en-US" sz="4800" dirty="0"/>
              <a:t>. </a:t>
            </a:r>
          </a:p>
          <a:p>
            <a:pPr marL="0" indent="0">
              <a:spcBef>
                <a:spcPts val="720"/>
              </a:spcBef>
              <a:buNone/>
            </a:pPr>
            <a:r>
              <a:rPr lang="en-US" sz="4800" dirty="0"/>
              <a:t>Thus, if </a:t>
            </a:r>
            <a:r>
              <a:rPr lang="en-US" sz="4800" dirty="0">
                <a:solidFill>
                  <a:srgbClr val="FF0000"/>
                </a:solidFill>
              </a:rPr>
              <a:t>both </a:t>
            </a:r>
            <a:r>
              <a:rPr lang="en-US" sz="4800" i="1" dirty="0" err="1">
                <a:solidFill>
                  <a:srgbClr val="FF0000"/>
                </a:solidFill>
              </a:rPr>
              <a:t>q</a:t>
            </a:r>
            <a:r>
              <a:rPr lang="en-US" sz="4800" i="1" baseline="-25000" dirty="0" err="1">
                <a:solidFill>
                  <a:srgbClr val="FF0000"/>
                </a:solidFill>
              </a:rPr>
              <a:t>s</a:t>
            </a:r>
            <a:r>
              <a:rPr lang="en-US" sz="4800" dirty="0">
                <a:solidFill>
                  <a:srgbClr val="FF0000"/>
                </a:solidFill>
              </a:rPr>
              <a:t> and </a:t>
            </a:r>
            <a:r>
              <a:rPr lang="en-US" sz="4800" i="1" dirty="0" err="1">
                <a:solidFill>
                  <a:srgbClr val="FF0000"/>
                </a:solidFill>
              </a:rPr>
              <a:t>q</a:t>
            </a:r>
            <a:r>
              <a:rPr lang="en-US" sz="4800" i="1" baseline="-25000" dirty="0" err="1">
                <a:solidFill>
                  <a:srgbClr val="FF0000"/>
                </a:solidFill>
              </a:rPr>
              <a:t>a</a:t>
            </a:r>
            <a:r>
              <a:rPr lang="en-US" sz="4800" i="1" baseline="-25000" dirty="0">
                <a:solidFill>
                  <a:srgbClr val="FF0000"/>
                </a:solidFill>
              </a:rPr>
              <a:t> </a:t>
            </a:r>
            <a:r>
              <a:rPr lang="en-US" sz="4800" dirty="0">
                <a:solidFill>
                  <a:srgbClr val="FF0000"/>
                </a:solidFill>
              </a:rPr>
              <a:t>are 0</a:t>
            </a:r>
            <a:r>
              <a:rPr lang="en-US" sz="4800" dirty="0"/>
              <a:t>, control stays in </a:t>
            </a:r>
            <a:r>
              <a:rPr lang="en-US" sz="4800" dirty="0">
                <a:solidFill>
                  <a:srgbClr val="FF0000"/>
                </a:solidFill>
              </a:rPr>
              <a:t>address 0</a:t>
            </a:r>
            <a:r>
              <a:rPr lang="en-US" sz="4800" dirty="0"/>
              <a:t> to repeat the micro-instruction.</a:t>
            </a:r>
          </a:p>
          <a:p>
            <a:pPr marL="0" indent="0">
              <a:spcBef>
                <a:spcPts val="720"/>
              </a:spcBef>
              <a:buNone/>
            </a:pPr>
            <a:r>
              <a:rPr lang="en-US" sz="4800" dirty="0"/>
              <a:t>If </a:t>
            </a:r>
            <a:r>
              <a:rPr lang="en-US" sz="4800" i="1" dirty="0" err="1">
                <a:solidFill>
                  <a:srgbClr val="FF0000"/>
                </a:solidFill>
              </a:rPr>
              <a:t>q</a:t>
            </a:r>
            <a:r>
              <a:rPr lang="en-US" sz="4800" i="1" baseline="-25000" dirty="0" err="1">
                <a:solidFill>
                  <a:srgbClr val="FF0000"/>
                </a:solidFill>
              </a:rPr>
              <a:t>s</a:t>
            </a:r>
            <a:r>
              <a:rPr lang="en-US" sz="4800" dirty="0">
                <a:solidFill>
                  <a:srgbClr val="FF0000"/>
                </a:solidFill>
              </a:rPr>
              <a:t> or </a:t>
            </a:r>
            <a:r>
              <a:rPr lang="en-US" sz="4800" i="1" dirty="0" err="1">
                <a:solidFill>
                  <a:srgbClr val="FF0000"/>
                </a:solidFill>
              </a:rPr>
              <a:t>q</a:t>
            </a:r>
            <a:r>
              <a:rPr lang="en-US" sz="4800" i="1" baseline="-25000" dirty="0" err="1">
                <a:solidFill>
                  <a:srgbClr val="FF0000"/>
                </a:solidFill>
              </a:rPr>
              <a:t>a</a:t>
            </a:r>
            <a:r>
              <a:rPr lang="en-US" sz="4800" i="1" baseline="-25000" dirty="0">
                <a:solidFill>
                  <a:srgbClr val="FF0000"/>
                </a:solidFill>
              </a:rPr>
              <a:t> </a:t>
            </a:r>
            <a:r>
              <a:rPr lang="en-US" sz="4800" dirty="0">
                <a:solidFill>
                  <a:srgbClr val="FF0000"/>
                </a:solidFill>
              </a:rPr>
              <a:t>is 1</a:t>
            </a:r>
            <a:r>
              <a:rPr lang="en-US" sz="4800" dirty="0"/>
              <a:t>, control goes to </a:t>
            </a:r>
            <a:r>
              <a:rPr lang="en-US" sz="4800" dirty="0">
                <a:solidFill>
                  <a:srgbClr val="FF0000"/>
                </a:solidFill>
              </a:rPr>
              <a:t>address 1 or 2</a:t>
            </a:r>
            <a:r>
              <a:rPr lang="en-US" sz="4800" dirty="0"/>
              <a:t>, respectively.</a:t>
            </a:r>
          </a:p>
        </p:txBody>
      </p:sp>
      <p:sp>
        <p:nvSpPr>
          <p:cNvPr id="4" name="Date Placeholder 3"/>
          <p:cNvSpPr>
            <a:spLocks noGrp="1"/>
          </p:cNvSpPr>
          <p:nvPr>
            <p:ph type="dt" sz="half" idx="10"/>
          </p:nvPr>
        </p:nvSpPr>
        <p:spPr/>
        <p:txBody>
          <a:bodyPr/>
          <a:lstStyle/>
          <a:p>
            <a:fld id="{D6155464-6E6E-46BA-A830-3078E47B9147}"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3337993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B42E9B8-AEB5-4CE1-BBD2-3B63950B76B0}"/>
              </a:ext>
            </a:extLst>
          </p:cNvPr>
          <p:cNvPicPr>
            <a:picLocks noGrp="1" noChangeAspect="1"/>
          </p:cNvPicPr>
          <p:nvPr>
            <p:ph idx="1"/>
          </p:nvPr>
        </p:nvPicPr>
        <p:blipFill rotWithShape="1">
          <a:blip r:embed="rId2">
            <a:duotone>
              <a:schemeClr val="accent1">
                <a:shade val="45000"/>
                <a:satMod val="135000"/>
              </a:schemeClr>
              <a:prstClr val="white"/>
            </a:duotone>
            <a:lum bright="-20000" contrast="40000"/>
          </a:blip>
          <a:srcRect l="4931" t="2271" r="1780" b="1920"/>
          <a:stretch/>
        </p:blipFill>
        <p:spPr>
          <a:xfrm>
            <a:off x="7385144" y="149631"/>
            <a:ext cx="8575292" cy="8101768"/>
          </a:xfrm>
          <a:prstGeom prst="rect">
            <a:avLst/>
          </a:prstGeom>
        </p:spPr>
      </p:pic>
      <p:sp>
        <p:nvSpPr>
          <p:cNvPr id="2" name="Title 1">
            <a:extLst>
              <a:ext uri="{FF2B5EF4-FFF2-40B4-BE49-F238E27FC236}">
                <a16:creationId xmlns:a16="http://schemas.microsoft.com/office/drawing/2014/main" id="{82612B63-3FDA-4A3A-858A-FEF97199229B}"/>
              </a:ext>
            </a:extLst>
          </p:cNvPr>
          <p:cNvSpPr>
            <a:spLocks noGrp="1"/>
          </p:cNvSpPr>
          <p:nvPr>
            <p:ph type="title"/>
          </p:nvPr>
        </p:nvSpPr>
        <p:spPr>
          <a:xfrm>
            <a:off x="1579418" y="138895"/>
            <a:ext cx="5652656" cy="1989164"/>
          </a:xfrm>
        </p:spPr>
        <p:txBody>
          <a:bodyPr>
            <a:normAutofit/>
          </a:bodyPr>
          <a:lstStyle/>
          <a:p>
            <a:r>
              <a:rPr lang="en-US" sz="6000" b="1" dirty="0">
                <a:solidFill>
                  <a:srgbClr val="0070C0"/>
                </a:solidFill>
              </a:rPr>
              <a:t>Hardware Configuration</a:t>
            </a:r>
          </a:p>
        </p:txBody>
      </p:sp>
      <p:graphicFrame>
        <p:nvGraphicFramePr>
          <p:cNvPr id="5" name="Table 4">
            <a:extLst>
              <a:ext uri="{FF2B5EF4-FFF2-40B4-BE49-F238E27FC236}">
                <a16:creationId xmlns:a16="http://schemas.microsoft.com/office/drawing/2014/main" id="{7AE46B88-CFAB-437B-AD5F-E6908410A4F2}"/>
              </a:ext>
            </a:extLst>
          </p:cNvPr>
          <p:cNvGraphicFramePr>
            <a:graphicFrameLocks noGrp="1"/>
          </p:cNvGraphicFramePr>
          <p:nvPr>
            <p:extLst>
              <p:ext uri="{D42A27DB-BD31-4B8C-83A1-F6EECF244321}">
                <p14:modId xmlns:p14="http://schemas.microsoft.com/office/powerpoint/2010/main" val="1968123157"/>
              </p:ext>
            </p:extLst>
          </p:nvPr>
        </p:nvGraphicFramePr>
        <p:xfrm>
          <a:off x="498763" y="2502512"/>
          <a:ext cx="6733311" cy="4579931"/>
        </p:xfrm>
        <a:graphic>
          <a:graphicData uri="http://schemas.openxmlformats.org/drawingml/2006/table">
            <a:tbl>
              <a:tblPr firstRow="1" bandRow="1">
                <a:tableStyleId>{B301B821-A1FF-4177-AEE7-76D212191A09}</a:tableStyleId>
              </a:tblPr>
              <a:tblGrid>
                <a:gridCol w="991417">
                  <a:extLst>
                    <a:ext uri="{9D8B030D-6E8A-4147-A177-3AD203B41FA5}">
                      <a16:colId xmlns:a16="http://schemas.microsoft.com/office/drawing/2014/main" val="803749714"/>
                    </a:ext>
                  </a:extLst>
                </a:gridCol>
                <a:gridCol w="991417">
                  <a:extLst>
                    <a:ext uri="{9D8B030D-6E8A-4147-A177-3AD203B41FA5}">
                      <a16:colId xmlns:a16="http://schemas.microsoft.com/office/drawing/2014/main" val="2310412296"/>
                    </a:ext>
                  </a:extLst>
                </a:gridCol>
                <a:gridCol w="4750477">
                  <a:extLst>
                    <a:ext uri="{9D8B030D-6E8A-4147-A177-3AD203B41FA5}">
                      <a16:colId xmlns:a16="http://schemas.microsoft.com/office/drawing/2014/main" val="2601140234"/>
                    </a:ext>
                  </a:extLst>
                </a:gridCol>
              </a:tblGrid>
              <a:tr h="1114037">
                <a:tc gridSpan="2">
                  <a:txBody>
                    <a:bodyPr/>
                    <a:lstStyle/>
                    <a:p>
                      <a:pPr algn="ctr"/>
                      <a:r>
                        <a:rPr lang="en-US" sz="3200" dirty="0"/>
                        <a:t>ROM bits</a:t>
                      </a:r>
                    </a:p>
                    <a:p>
                      <a:r>
                        <a:rPr lang="en-US" sz="3200" dirty="0"/>
                        <a:t>  13       14         </a:t>
                      </a:r>
                    </a:p>
                  </a:txBody>
                  <a:tcPr marL="109728" marR="109728" marT="54864" marB="54864" anchor="ctr"/>
                </a:tc>
                <a:tc hMerge="1">
                  <a:txBody>
                    <a:bodyPr/>
                    <a:lstStyle/>
                    <a:p>
                      <a:endParaRPr lang="en-US"/>
                    </a:p>
                  </a:txBody>
                  <a:tcPr/>
                </a:tc>
                <a:tc>
                  <a:txBody>
                    <a:bodyPr/>
                    <a:lstStyle/>
                    <a:p>
                      <a:pPr algn="ctr"/>
                      <a:r>
                        <a:rPr lang="en-US" sz="3200" dirty="0"/>
                        <a:t>MUX Select Function</a:t>
                      </a:r>
                    </a:p>
                  </a:txBody>
                  <a:tcPr marL="109728" marR="109728" marT="54864" marB="54864" anchor="ctr"/>
                </a:tc>
                <a:extLst>
                  <a:ext uri="{0D108BD9-81ED-4DB2-BD59-A6C34878D82A}">
                    <a16:rowId xmlns:a16="http://schemas.microsoft.com/office/drawing/2014/main" val="1607342460"/>
                  </a:ext>
                </a:extLst>
              </a:tr>
              <a:tr h="618910">
                <a:tc>
                  <a:txBody>
                    <a:bodyPr/>
                    <a:lstStyle/>
                    <a:p>
                      <a:pPr algn="ctr"/>
                      <a:r>
                        <a:rPr lang="en-US" sz="3200" dirty="0"/>
                        <a:t>0</a:t>
                      </a:r>
                    </a:p>
                  </a:txBody>
                  <a:tcPr marL="109728" marR="109728" marT="54864" marB="54864" anchor="ctr"/>
                </a:tc>
                <a:tc>
                  <a:txBody>
                    <a:bodyPr/>
                    <a:lstStyle/>
                    <a:p>
                      <a:pPr algn="ctr"/>
                      <a:r>
                        <a:rPr lang="en-US" sz="3200" dirty="0"/>
                        <a:t>0</a:t>
                      </a:r>
                    </a:p>
                  </a:txBody>
                  <a:tcPr marL="109728" marR="109728" marT="54864" marB="54864" anchor="ctr"/>
                </a:tc>
                <a:tc>
                  <a:txBody>
                    <a:bodyPr/>
                    <a:lstStyle/>
                    <a:p>
                      <a:r>
                        <a:rPr lang="en-US" sz="3200" dirty="0"/>
                        <a:t>Increment CAR</a:t>
                      </a:r>
                    </a:p>
                  </a:txBody>
                  <a:tcPr marL="109728" marR="109728" marT="54864" marB="54864" anchor="ctr"/>
                </a:tc>
                <a:extLst>
                  <a:ext uri="{0D108BD9-81ED-4DB2-BD59-A6C34878D82A}">
                    <a16:rowId xmlns:a16="http://schemas.microsoft.com/office/drawing/2014/main" val="92411484"/>
                  </a:ext>
                </a:extLst>
              </a:tr>
              <a:tr h="618910">
                <a:tc>
                  <a:txBody>
                    <a:bodyPr/>
                    <a:lstStyle/>
                    <a:p>
                      <a:pPr algn="ctr"/>
                      <a:r>
                        <a:rPr lang="en-US" sz="3200" dirty="0"/>
                        <a:t>0</a:t>
                      </a:r>
                    </a:p>
                  </a:txBody>
                  <a:tcPr marL="109728" marR="109728" marT="54864" marB="54864" anchor="ctr"/>
                </a:tc>
                <a:tc>
                  <a:txBody>
                    <a:bodyPr/>
                    <a:lstStyle/>
                    <a:p>
                      <a:pPr algn="ctr"/>
                      <a:r>
                        <a:rPr lang="en-US" sz="3200" dirty="0"/>
                        <a:t>1</a:t>
                      </a:r>
                    </a:p>
                  </a:txBody>
                  <a:tcPr marL="109728" marR="109728" marT="54864" marB="54864" anchor="ctr"/>
                </a:tc>
                <a:tc>
                  <a:txBody>
                    <a:bodyPr/>
                    <a:lstStyle/>
                    <a:p>
                      <a:r>
                        <a:rPr lang="en-US" sz="3200" dirty="0"/>
                        <a:t>Load input to CAR</a:t>
                      </a:r>
                    </a:p>
                  </a:txBody>
                  <a:tcPr marL="109728" marR="109728" marT="54864" marB="54864" anchor="ctr"/>
                </a:tc>
                <a:extLst>
                  <a:ext uri="{0D108BD9-81ED-4DB2-BD59-A6C34878D82A}">
                    <a16:rowId xmlns:a16="http://schemas.microsoft.com/office/drawing/2014/main" val="104824788"/>
                  </a:ext>
                </a:extLst>
              </a:tr>
              <a:tr h="1114037">
                <a:tc>
                  <a:txBody>
                    <a:bodyPr/>
                    <a:lstStyle/>
                    <a:p>
                      <a:pPr algn="ctr"/>
                      <a:r>
                        <a:rPr lang="en-US" sz="3200" dirty="0"/>
                        <a:t>1</a:t>
                      </a:r>
                    </a:p>
                  </a:txBody>
                  <a:tcPr marL="109728" marR="109728" marT="54864" marB="54864" anchor="ctr"/>
                </a:tc>
                <a:tc>
                  <a:txBody>
                    <a:bodyPr/>
                    <a:lstStyle/>
                    <a:p>
                      <a:pPr algn="ctr"/>
                      <a:r>
                        <a:rPr lang="en-US" sz="3200" dirty="0"/>
                        <a:t>0</a:t>
                      </a:r>
                    </a:p>
                  </a:txBody>
                  <a:tcPr marL="109728" marR="109728" marT="54864" marB="54864" anchor="ctr"/>
                </a:tc>
                <a:tc>
                  <a:txBody>
                    <a:bodyPr/>
                    <a:lstStyle/>
                    <a:p>
                      <a:r>
                        <a:rPr lang="en-US" sz="3200" dirty="0"/>
                        <a:t>Load inputs to CAR if S = 1, increment CAR if S = 0</a:t>
                      </a:r>
                    </a:p>
                  </a:txBody>
                  <a:tcPr marL="109728" marR="109728" marT="54864" marB="54864" anchor="ctr"/>
                </a:tc>
                <a:extLst>
                  <a:ext uri="{0D108BD9-81ED-4DB2-BD59-A6C34878D82A}">
                    <a16:rowId xmlns:a16="http://schemas.microsoft.com/office/drawing/2014/main" val="241601024"/>
                  </a:ext>
                </a:extLst>
              </a:tr>
              <a:tr h="1114037">
                <a:tc>
                  <a:txBody>
                    <a:bodyPr/>
                    <a:lstStyle/>
                    <a:p>
                      <a:pPr algn="ctr"/>
                      <a:r>
                        <a:rPr lang="en-US" sz="3200" dirty="0"/>
                        <a:t>1</a:t>
                      </a:r>
                    </a:p>
                  </a:txBody>
                  <a:tcPr marL="109728" marR="109728" marT="54864" marB="54864" anchor="ctr"/>
                </a:tc>
                <a:tc>
                  <a:txBody>
                    <a:bodyPr/>
                    <a:lstStyle/>
                    <a:p>
                      <a:pPr algn="ctr"/>
                      <a:r>
                        <a:rPr lang="en-US" sz="3200" dirty="0"/>
                        <a:t>1</a:t>
                      </a:r>
                    </a:p>
                  </a:txBody>
                  <a:tcPr marL="109728" marR="109728" marT="54864" marB="54864" anchor="ctr"/>
                </a:tc>
                <a:tc>
                  <a:txBody>
                    <a:bodyPr/>
                    <a:lstStyle/>
                    <a:p>
                      <a:r>
                        <a:rPr lang="en-US" sz="3200" dirty="0"/>
                        <a:t>Load inputs to CAR if E = 1,increment CAR if E = 0</a:t>
                      </a:r>
                    </a:p>
                  </a:txBody>
                  <a:tcPr marL="109728" marR="109728" marT="54864" marB="54864" anchor="ctr"/>
                </a:tc>
                <a:extLst>
                  <a:ext uri="{0D108BD9-81ED-4DB2-BD59-A6C34878D82A}">
                    <a16:rowId xmlns:a16="http://schemas.microsoft.com/office/drawing/2014/main" val="1876642878"/>
                  </a:ext>
                </a:extLst>
              </a:tr>
            </a:tbl>
          </a:graphicData>
        </a:graphic>
      </p:graphicFrame>
      <p:sp>
        <p:nvSpPr>
          <p:cNvPr id="3" name="TextBox 2"/>
          <p:cNvSpPr txBox="1"/>
          <p:nvPr/>
        </p:nvSpPr>
        <p:spPr>
          <a:xfrm>
            <a:off x="1325166" y="7332752"/>
            <a:ext cx="10079897" cy="609398"/>
          </a:xfrm>
          <a:prstGeom prst="rect">
            <a:avLst/>
          </a:prstGeom>
          <a:noFill/>
        </p:spPr>
        <p:txBody>
          <a:bodyPr wrap="square" rtlCol="0">
            <a:spAutoFit/>
          </a:bodyPr>
          <a:lstStyle/>
          <a:p>
            <a:pPr algn="r"/>
            <a:r>
              <a:rPr lang="en-US" sz="3360" dirty="0">
                <a:solidFill>
                  <a:srgbClr val="FF0000"/>
                </a:solidFill>
              </a:rPr>
              <a:t>Fig. 10-10 </a:t>
            </a:r>
            <a:r>
              <a:rPr lang="en-US" sz="3360" dirty="0"/>
              <a:t>Organization of the microprogram control unit</a:t>
            </a:r>
          </a:p>
        </p:txBody>
      </p:sp>
      <p:sp>
        <p:nvSpPr>
          <p:cNvPr id="6" name="TextBox 5"/>
          <p:cNvSpPr txBox="1"/>
          <p:nvPr/>
        </p:nvSpPr>
        <p:spPr>
          <a:xfrm>
            <a:off x="11471561" y="2576947"/>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0</a:t>
            </a:r>
          </a:p>
        </p:txBody>
      </p:sp>
      <p:sp>
        <p:nvSpPr>
          <p:cNvPr id="7" name="TextBox 6"/>
          <p:cNvSpPr txBox="1"/>
          <p:nvPr/>
        </p:nvSpPr>
        <p:spPr>
          <a:xfrm>
            <a:off x="11448343" y="3084294"/>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1</a:t>
            </a:r>
          </a:p>
        </p:txBody>
      </p:sp>
      <p:sp>
        <p:nvSpPr>
          <p:cNvPr id="8" name="TextBox 7"/>
          <p:cNvSpPr txBox="1"/>
          <p:nvPr/>
        </p:nvSpPr>
        <p:spPr>
          <a:xfrm>
            <a:off x="11451786" y="3707533"/>
            <a:ext cx="465512" cy="332399"/>
          </a:xfrm>
          <a:prstGeom prst="rect">
            <a:avLst/>
          </a:prstGeom>
          <a:noFill/>
        </p:spPr>
        <p:txBody>
          <a:bodyPr wrap="square" lIns="0" tIns="0" rIns="0" bIns="0" rtlCol="0">
            <a:spAutoFit/>
          </a:bodyPr>
          <a:lstStyle/>
          <a:p>
            <a:pPr algn="ctr"/>
            <a:r>
              <a:rPr lang="en-US" sz="2160" dirty="0">
                <a:solidFill>
                  <a:srgbClr val="FF0000"/>
                </a:solidFill>
              </a:rPr>
              <a:t>A</a:t>
            </a:r>
            <a:r>
              <a:rPr lang="en-US" sz="2160" baseline="-25000" dirty="0">
                <a:solidFill>
                  <a:srgbClr val="FF0000"/>
                </a:solidFill>
              </a:rPr>
              <a:t>2</a:t>
            </a:r>
          </a:p>
        </p:txBody>
      </p:sp>
      <p:sp>
        <p:nvSpPr>
          <p:cNvPr id="9" name="Rectangle 8"/>
          <p:cNvSpPr/>
          <p:nvPr/>
        </p:nvSpPr>
        <p:spPr>
          <a:xfrm>
            <a:off x="498764" y="1990478"/>
            <a:ext cx="6931154" cy="461665"/>
          </a:xfrm>
          <a:prstGeom prst="rect">
            <a:avLst/>
          </a:prstGeom>
        </p:spPr>
        <p:txBody>
          <a:bodyPr wrap="square">
            <a:spAutoFit/>
          </a:bodyPr>
          <a:lstStyle/>
          <a:p>
            <a:r>
              <a:rPr lang="en-US" sz="2400" dirty="0">
                <a:solidFill>
                  <a:srgbClr val="FF0000"/>
                </a:solidFill>
              </a:rPr>
              <a:t>Table for the functions of the multiplexer select bits </a:t>
            </a:r>
            <a:endParaRPr lang="en-US" sz="2400" dirty="0"/>
          </a:p>
        </p:txBody>
      </p:sp>
      <p:sp>
        <p:nvSpPr>
          <p:cNvPr id="10" name="Date Placeholder 9"/>
          <p:cNvSpPr>
            <a:spLocks noGrp="1"/>
          </p:cNvSpPr>
          <p:nvPr>
            <p:ph type="dt" sz="half" idx="10"/>
          </p:nvPr>
        </p:nvSpPr>
        <p:spPr/>
        <p:txBody>
          <a:bodyPr/>
          <a:lstStyle/>
          <a:p>
            <a:fld id="{5BB896B5-2C91-42DC-B30F-D3BDD3587666}" type="datetime3">
              <a:rPr lang="en-US" smtClean="0"/>
              <a:t>6 January 2026</a:t>
            </a:fld>
            <a:endParaRPr lang="en-US"/>
          </a:p>
        </p:txBody>
      </p:sp>
      <p:sp>
        <p:nvSpPr>
          <p:cNvPr id="12" name="Slide Number Placeholder 11"/>
          <p:cNvSpPr>
            <a:spLocks noGrp="1"/>
          </p:cNvSpPr>
          <p:nvPr>
            <p:ph type="sldNum" sz="quarter" idx="12"/>
          </p:nvPr>
        </p:nvSpPr>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156677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AA0DB-380A-4986-98C9-E5B5B5324B96}"/>
              </a:ext>
            </a:extLst>
          </p:cNvPr>
          <p:cNvSpPr>
            <a:spLocks noGrp="1"/>
          </p:cNvSpPr>
          <p:nvPr>
            <p:ph type="title"/>
          </p:nvPr>
        </p:nvSpPr>
        <p:spPr>
          <a:xfrm>
            <a:off x="1546166" y="175381"/>
            <a:ext cx="10058401" cy="838772"/>
          </a:xfrm>
        </p:spPr>
        <p:txBody>
          <a:bodyPr>
            <a:noAutofit/>
          </a:bodyPr>
          <a:lstStyle/>
          <a:p>
            <a:r>
              <a:rPr lang="en-US" sz="6000" b="1" dirty="0">
                <a:solidFill>
                  <a:srgbClr val="0070C0"/>
                </a:solidFill>
              </a:rPr>
              <a:t>Sequence of Register Transfers</a:t>
            </a:r>
          </a:p>
        </p:txBody>
      </p:sp>
      <p:pic>
        <p:nvPicPr>
          <p:cNvPr id="8" name="Content Placeholder 7">
            <a:extLst>
              <a:ext uri="{FF2B5EF4-FFF2-40B4-BE49-F238E27FC236}">
                <a16:creationId xmlns:a16="http://schemas.microsoft.com/office/drawing/2014/main" id="{40116FA0-DA94-457C-8A89-72F2F09255CC}"/>
              </a:ext>
            </a:extLst>
          </p:cNvPr>
          <p:cNvPicPr>
            <a:picLocks noGrp="1" noChangeAspect="1"/>
          </p:cNvPicPr>
          <p:nvPr>
            <p:ph idx="1"/>
          </p:nvPr>
        </p:nvPicPr>
        <p:blipFill rotWithShape="1">
          <a:blip r:embed="rId2">
            <a:duotone>
              <a:schemeClr val="accent4">
                <a:shade val="45000"/>
                <a:satMod val="135000"/>
              </a:schemeClr>
              <a:prstClr val="white"/>
            </a:duotone>
            <a:lum bright="-20000" contrast="40000"/>
          </a:blip>
          <a:srcRect l="2362" t="2636" r="3535" b="4916"/>
          <a:stretch/>
        </p:blipFill>
        <p:spPr>
          <a:xfrm>
            <a:off x="1247423" y="984613"/>
            <a:ext cx="11035472" cy="6935021"/>
          </a:xfrm>
          <a:prstGeom prst="rect">
            <a:avLst/>
          </a:prstGeom>
        </p:spPr>
      </p:pic>
      <p:pic>
        <p:nvPicPr>
          <p:cNvPr id="6" name="Picture 5">
            <a:extLst>
              <a:ext uri="{FF2B5EF4-FFF2-40B4-BE49-F238E27FC236}">
                <a16:creationId xmlns:a16="http://schemas.microsoft.com/office/drawing/2014/main" id="{1F2703D4-F55D-459B-917D-B8FA7903D295}"/>
              </a:ext>
            </a:extLst>
          </p:cNvPr>
          <p:cNvPicPr>
            <a:picLocks noChangeAspect="1"/>
          </p:cNvPicPr>
          <p:nvPr/>
        </p:nvPicPr>
        <p:blipFill rotWithShape="1">
          <a:blip r:embed="rId3">
            <a:duotone>
              <a:prstClr val="black"/>
              <a:schemeClr val="accent3">
                <a:tint val="45000"/>
                <a:satMod val="400000"/>
              </a:schemeClr>
            </a:duotone>
            <a:lum bright="-20000" contrast="40000"/>
          </a:blip>
          <a:srcRect l="62419" t="10872" r="3867" b="10360"/>
          <a:stretch/>
        </p:blipFill>
        <p:spPr>
          <a:xfrm>
            <a:off x="12435651" y="1568233"/>
            <a:ext cx="3596382" cy="5676980"/>
          </a:xfrm>
          <a:prstGeom prst="rect">
            <a:avLst/>
          </a:prstGeom>
        </p:spPr>
      </p:pic>
      <p:sp>
        <p:nvSpPr>
          <p:cNvPr id="3" name="TextBox 2"/>
          <p:cNvSpPr txBox="1"/>
          <p:nvPr/>
        </p:nvSpPr>
        <p:spPr>
          <a:xfrm>
            <a:off x="249383" y="1014153"/>
            <a:ext cx="5785658" cy="1323439"/>
          </a:xfrm>
          <a:prstGeom prst="rect">
            <a:avLst/>
          </a:prstGeom>
          <a:noFill/>
        </p:spPr>
        <p:txBody>
          <a:bodyPr wrap="square" rtlCol="0">
            <a:spAutoFit/>
          </a:bodyPr>
          <a:lstStyle/>
          <a:p>
            <a:r>
              <a:rPr lang="en-US" sz="2800" dirty="0">
                <a:solidFill>
                  <a:srgbClr val="FF0000"/>
                </a:solidFill>
              </a:rPr>
              <a:t>Fig. 10-9 </a:t>
            </a:r>
            <a:r>
              <a:rPr lang="en-US" sz="2800" dirty="0"/>
              <a:t>Control state diagram and sequence of micro-operations</a:t>
            </a:r>
          </a:p>
          <a:p>
            <a:r>
              <a:rPr lang="en-US" sz="2400" dirty="0">
                <a:solidFill>
                  <a:srgbClr val="FF0000"/>
                </a:solidFill>
              </a:rPr>
              <a:t>(b) Sequence of register transfer</a:t>
            </a:r>
          </a:p>
        </p:txBody>
      </p:sp>
      <p:sp>
        <p:nvSpPr>
          <p:cNvPr id="4" name="Date Placeholder 3"/>
          <p:cNvSpPr>
            <a:spLocks noGrp="1"/>
          </p:cNvSpPr>
          <p:nvPr>
            <p:ph type="dt" sz="half" idx="10"/>
          </p:nvPr>
        </p:nvSpPr>
        <p:spPr/>
        <p:txBody>
          <a:bodyPr/>
          <a:lstStyle/>
          <a:p>
            <a:fld id="{0CB3C8DF-2FB5-47BD-BA00-EEB9751A7CBE}" type="datetime3">
              <a:rPr lang="en-US" smtClean="0"/>
              <a:t>6 January 2026</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20</a:t>
            </a:fld>
            <a:endParaRPr lang="en-US" dirty="0"/>
          </a:p>
        </p:txBody>
      </p:sp>
    </p:spTree>
    <p:extLst>
      <p:ext uri="{BB962C8B-B14F-4D97-AF65-F5344CB8AC3E}">
        <p14:creationId xmlns:p14="http://schemas.microsoft.com/office/powerpoint/2010/main" val="378130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633451" y="227373"/>
            <a:ext cx="13175672" cy="1091392"/>
          </a:xfrm>
        </p:spPr>
        <p:txBody>
          <a:bodyPr>
            <a:normAutofit/>
          </a:bodyPr>
          <a:lstStyle/>
          <a:p>
            <a:r>
              <a:rPr lang="en-US" sz="6000" b="1" dirty="0">
                <a:solidFill>
                  <a:srgbClr val="0070C0"/>
                </a:solidFill>
              </a:rPr>
              <a:t>Hardware Configuration</a:t>
            </a:r>
            <a:endParaRPr lang="en-US" sz="60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199505" y="1463040"/>
            <a:ext cx="16043564" cy="6168043"/>
          </a:xfrm>
        </p:spPr>
        <p:txBody>
          <a:bodyPr vert="horz" lIns="0" tIns="45720" rIns="0" bIns="45720" rtlCol="0">
            <a:noAutofit/>
          </a:bodyPr>
          <a:lstStyle/>
          <a:p>
            <a:pPr marL="0" indent="0">
              <a:buNone/>
            </a:pPr>
            <a:r>
              <a:rPr lang="en-US" sz="4000" dirty="0"/>
              <a:t>The </a:t>
            </a:r>
            <a:r>
              <a:rPr lang="en-US" sz="4000" dirty="0">
                <a:solidFill>
                  <a:srgbClr val="FF0000"/>
                </a:solidFill>
              </a:rPr>
              <a:t>conditional control statements in the other micro-instructions use the status variables </a:t>
            </a:r>
            <a:r>
              <a:rPr lang="en-US" sz="4000" i="1" dirty="0">
                <a:solidFill>
                  <a:srgbClr val="FF0000"/>
                </a:solidFill>
              </a:rPr>
              <a:t>S</a:t>
            </a:r>
            <a:r>
              <a:rPr lang="en-US" sz="4000" dirty="0">
                <a:solidFill>
                  <a:srgbClr val="FF0000"/>
                </a:solidFill>
              </a:rPr>
              <a:t> and </a:t>
            </a:r>
            <a:r>
              <a:rPr lang="en-US" sz="4000" i="1" dirty="0">
                <a:solidFill>
                  <a:srgbClr val="FF0000"/>
                </a:solidFill>
              </a:rPr>
              <a:t>E</a:t>
            </a:r>
            <a:r>
              <a:rPr lang="en-US" sz="4000" dirty="0"/>
              <a:t>. The </a:t>
            </a:r>
            <a:r>
              <a:rPr lang="en-US" sz="4000" i="1" dirty="0">
                <a:solidFill>
                  <a:srgbClr val="FF0000"/>
                </a:solidFill>
              </a:rPr>
              <a:t>go to </a:t>
            </a:r>
            <a:r>
              <a:rPr lang="en-US" sz="4000" dirty="0"/>
              <a:t>statement </a:t>
            </a:r>
            <a:r>
              <a:rPr lang="en-US" sz="4000" dirty="0">
                <a:solidFill>
                  <a:srgbClr val="FF0000"/>
                </a:solidFill>
              </a:rPr>
              <a:t>without a condition </a:t>
            </a:r>
            <a:r>
              <a:rPr lang="en-US" sz="4000" dirty="0"/>
              <a:t>attached specifies an </a:t>
            </a:r>
            <a:r>
              <a:rPr lang="en-US" sz="4000" dirty="0">
                <a:solidFill>
                  <a:srgbClr val="FF0000"/>
                </a:solidFill>
              </a:rPr>
              <a:t>unconditional branch </a:t>
            </a:r>
            <a:r>
              <a:rPr lang="en-US" sz="4000" dirty="0"/>
              <a:t>to the indicated address. </a:t>
            </a:r>
          </a:p>
          <a:p>
            <a:pPr marL="0" indent="0">
              <a:buNone/>
            </a:pPr>
            <a:r>
              <a:rPr lang="en-US" sz="4000" dirty="0"/>
              <a:t>For example, </a:t>
            </a:r>
            <a:r>
              <a:rPr lang="en-US" sz="4000" i="1" dirty="0">
                <a:solidFill>
                  <a:srgbClr val="FF0000"/>
                </a:solidFill>
              </a:rPr>
              <a:t>go to </a:t>
            </a:r>
            <a:r>
              <a:rPr lang="en-US" sz="4000" dirty="0">
                <a:solidFill>
                  <a:srgbClr val="FF0000"/>
                </a:solidFill>
              </a:rPr>
              <a:t>0</a:t>
            </a:r>
            <a:r>
              <a:rPr lang="en-US" sz="4000" dirty="0"/>
              <a:t> means that control goes to address 0 after the present micro-instruction is executed. If there is no </a:t>
            </a:r>
            <a:r>
              <a:rPr lang="en-US" sz="4000" i="1" dirty="0">
                <a:solidFill>
                  <a:srgbClr val="FF0000"/>
                </a:solidFill>
              </a:rPr>
              <a:t>go to </a:t>
            </a:r>
            <a:r>
              <a:rPr lang="en-US" sz="4000" dirty="0"/>
              <a:t>statement in the micro-instruction, it implies that the next micro-instruction is taken from the </a:t>
            </a:r>
            <a:r>
              <a:rPr lang="en-US" sz="4000" dirty="0">
                <a:solidFill>
                  <a:srgbClr val="FF0000"/>
                </a:solidFill>
              </a:rPr>
              <a:t>next address in sequence</a:t>
            </a:r>
            <a:r>
              <a:rPr lang="en-US" sz="4000" dirty="0"/>
              <a:t>. Also, if the condition after an </a:t>
            </a:r>
            <a:r>
              <a:rPr lang="en-US" sz="4000" i="1" dirty="0">
                <a:solidFill>
                  <a:srgbClr val="FF0000"/>
                </a:solidFill>
              </a:rPr>
              <a:t>if</a:t>
            </a:r>
            <a:r>
              <a:rPr lang="en-US" sz="4000" dirty="0"/>
              <a:t> statement is </a:t>
            </a:r>
            <a:r>
              <a:rPr lang="en-US" sz="4000" dirty="0">
                <a:solidFill>
                  <a:srgbClr val="FF0000"/>
                </a:solidFill>
              </a:rPr>
              <a:t>not satisfied</a:t>
            </a:r>
            <a:r>
              <a:rPr lang="en-US" sz="4000" dirty="0"/>
              <a:t>, control goes to the </a:t>
            </a:r>
            <a:r>
              <a:rPr lang="en-US" sz="4000" dirty="0">
                <a:solidFill>
                  <a:srgbClr val="FF0000"/>
                </a:solidFill>
              </a:rPr>
              <a:t>next address in sequence</a:t>
            </a:r>
            <a:r>
              <a:rPr lang="en-US" sz="4000" dirty="0"/>
              <a:t>.</a:t>
            </a:r>
          </a:p>
        </p:txBody>
      </p:sp>
      <p:sp>
        <p:nvSpPr>
          <p:cNvPr id="4" name="Date Placeholder 3"/>
          <p:cNvSpPr>
            <a:spLocks noGrp="1"/>
          </p:cNvSpPr>
          <p:nvPr>
            <p:ph type="dt" sz="half" idx="10"/>
          </p:nvPr>
        </p:nvSpPr>
        <p:spPr/>
        <p:txBody>
          <a:bodyPr/>
          <a:lstStyle/>
          <a:p>
            <a:fld id="{B33B2F12-C444-44C4-A43A-27935F841744}"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21</a:t>
            </a:fld>
            <a:endParaRPr lang="en-US" dirty="0"/>
          </a:p>
        </p:txBody>
      </p:sp>
    </p:spTree>
    <p:extLst>
      <p:ext uri="{BB962C8B-B14F-4D97-AF65-F5344CB8AC3E}">
        <p14:creationId xmlns:p14="http://schemas.microsoft.com/office/powerpoint/2010/main" val="2454057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206F-8FE8-42B9-93DC-9F907172E939}"/>
              </a:ext>
            </a:extLst>
          </p:cNvPr>
          <p:cNvSpPr>
            <a:spLocks noGrp="1"/>
          </p:cNvSpPr>
          <p:nvPr>
            <p:ph type="title"/>
          </p:nvPr>
        </p:nvSpPr>
        <p:spPr>
          <a:xfrm>
            <a:off x="1230284" y="338397"/>
            <a:ext cx="13175672" cy="1091392"/>
          </a:xfrm>
        </p:spPr>
        <p:txBody>
          <a:bodyPr>
            <a:normAutofit/>
          </a:bodyPr>
          <a:lstStyle/>
          <a:p>
            <a:r>
              <a:rPr lang="en-US" sz="6000" b="1" dirty="0">
                <a:solidFill>
                  <a:srgbClr val="0070C0"/>
                </a:solidFill>
              </a:rPr>
              <a:t>Hardware Configuration</a:t>
            </a:r>
            <a:endParaRPr lang="en-US" sz="6000" dirty="0">
              <a:solidFill>
                <a:srgbClr val="0070C0"/>
              </a:solidFill>
            </a:endParaRPr>
          </a:p>
        </p:txBody>
      </p:sp>
      <p:sp>
        <p:nvSpPr>
          <p:cNvPr id="3" name="Content Placeholder 2">
            <a:extLst>
              <a:ext uri="{FF2B5EF4-FFF2-40B4-BE49-F238E27FC236}">
                <a16:creationId xmlns:a16="http://schemas.microsoft.com/office/drawing/2014/main" id="{4729F268-EBF3-4716-A687-7C4EA25104C2}"/>
              </a:ext>
            </a:extLst>
          </p:cNvPr>
          <p:cNvSpPr>
            <a:spLocks noGrp="1"/>
          </p:cNvSpPr>
          <p:nvPr>
            <p:ph idx="1"/>
          </p:nvPr>
        </p:nvSpPr>
        <p:spPr>
          <a:xfrm>
            <a:off x="199505" y="1413162"/>
            <a:ext cx="16010313" cy="6168043"/>
          </a:xfrm>
        </p:spPr>
        <p:txBody>
          <a:bodyPr vert="horz" lIns="0" tIns="45720" rIns="0" bIns="45720" rtlCol="0">
            <a:noAutofit/>
          </a:bodyPr>
          <a:lstStyle/>
          <a:p>
            <a:pPr marL="0" indent="0">
              <a:buNone/>
            </a:pPr>
            <a:r>
              <a:rPr lang="en-US" sz="4320" dirty="0"/>
              <a:t>The </a:t>
            </a:r>
            <a:r>
              <a:rPr lang="en-US" sz="4320" dirty="0">
                <a:solidFill>
                  <a:srgbClr val="FF0000"/>
                </a:solidFill>
              </a:rPr>
              <a:t>micro-instructions associated </a:t>
            </a:r>
            <a:r>
              <a:rPr lang="en-US" sz="4320" dirty="0"/>
              <a:t>with the </a:t>
            </a:r>
            <a:r>
              <a:rPr lang="en-US" sz="4320" dirty="0">
                <a:solidFill>
                  <a:srgbClr val="FF0000"/>
                </a:solidFill>
              </a:rPr>
              <a:t>eight addresses </a:t>
            </a:r>
            <a:r>
              <a:rPr lang="en-US" sz="4320" dirty="0"/>
              <a:t>are </a:t>
            </a:r>
            <a:r>
              <a:rPr lang="en-US" sz="4320" dirty="0">
                <a:solidFill>
                  <a:srgbClr val="FF0000"/>
                </a:solidFill>
              </a:rPr>
              <a:t>derived</a:t>
            </a:r>
            <a:r>
              <a:rPr lang="en-US" sz="4320" dirty="0"/>
              <a:t> directly from the </a:t>
            </a:r>
            <a:r>
              <a:rPr lang="en-US" sz="4320" dirty="0">
                <a:solidFill>
                  <a:srgbClr val="FF0000"/>
                </a:solidFill>
              </a:rPr>
              <a:t>control specifications </a:t>
            </a:r>
            <a:r>
              <a:rPr lang="en-US" sz="4320" dirty="0"/>
              <a:t>of Fig. 10-9. The micro-instructions listed are identical to the ones listed in Fig. 10-9 (b). The </a:t>
            </a:r>
            <a:r>
              <a:rPr lang="en-US" sz="4320" dirty="0">
                <a:solidFill>
                  <a:srgbClr val="FF0000"/>
                </a:solidFill>
              </a:rPr>
              <a:t>conditional control statement </a:t>
            </a:r>
            <a:r>
              <a:rPr lang="en-US" sz="4320" dirty="0"/>
              <a:t>specifies the </a:t>
            </a:r>
            <a:r>
              <a:rPr lang="en-US" sz="4320" dirty="0">
                <a:solidFill>
                  <a:srgbClr val="FF0000"/>
                </a:solidFill>
              </a:rPr>
              <a:t>address sequence </a:t>
            </a:r>
            <a:r>
              <a:rPr lang="en-US" sz="4320" dirty="0"/>
              <a:t>as given by the </a:t>
            </a:r>
            <a:r>
              <a:rPr lang="en-US" sz="4320" dirty="0">
                <a:solidFill>
                  <a:srgbClr val="FF0000"/>
                </a:solidFill>
              </a:rPr>
              <a:t>state diagram </a:t>
            </a:r>
            <a:r>
              <a:rPr lang="en-US" sz="4320" dirty="0"/>
              <a:t>of Fig. 10-9 (a).</a:t>
            </a:r>
          </a:p>
          <a:p>
            <a:pPr marL="0" indent="0">
              <a:buNone/>
            </a:pPr>
            <a:r>
              <a:rPr lang="en-US" sz="4320" dirty="0"/>
              <a:t>Note that </a:t>
            </a:r>
            <a:r>
              <a:rPr lang="en-US" sz="4320" dirty="0">
                <a:solidFill>
                  <a:srgbClr val="FF0000"/>
                </a:solidFill>
              </a:rPr>
              <a:t>each address number </a:t>
            </a:r>
            <a:r>
              <a:rPr lang="en-US" sz="4320" dirty="0"/>
              <a:t>is the same as the </a:t>
            </a:r>
            <a:r>
              <a:rPr lang="en-US" sz="4320" dirty="0">
                <a:solidFill>
                  <a:srgbClr val="FF0000"/>
                </a:solidFill>
              </a:rPr>
              <a:t>subscript number under the </a:t>
            </a:r>
            <a:r>
              <a:rPr lang="en-US" sz="4320" i="1" dirty="0">
                <a:solidFill>
                  <a:srgbClr val="FF0000"/>
                </a:solidFill>
              </a:rPr>
              <a:t>T</a:t>
            </a:r>
            <a:r>
              <a:rPr lang="en-US" sz="4320" dirty="0">
                <a:solidFill>
                  <a:srgbClr val="FF0000"/>
                </a:solidFill>
              </a:rPr>
              <a:t>'s </a:t>
            </a:r>
            <a:r>
              <a:rPr lang="en-US" sz="4320" dirty="0"/>
              <a:t>in the state diagram. It should be obvious that the conditional control statements provide a different way to specify a state diagram. This shows that the register-transfer method can be used to specify a sequential circuit.</a:t>
            </a:r>
          </a:p>
        </p:txBody>
      </p:sp>
      <p:sp>
        <p:nvSpPr>
          <p:cNvPr id="4" name="Date Placeholder 3"/>
          <p:cNvSpPr>
            <a:spLocks noGrp="1"/>
          </p:cNvSpPr>
          <p:nvPr>
            <p:ph type="dt" sz="half" idx="10"/>
          </p:nvPr>
        </p:nvSpPr>
        <p:spPr/>
        <p:txBody>
          <a:bodyPr/>
          <a:lstStyle/>
          <a:p>
            <a:fld id="{0A25B238-67F1-48D5-ACB1-1B91060194FB}"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22</a:t>
            </a:fld>
            <a:endParaRPr lang="en-US" dirty="0"/>
          </a:p>
        </p:txBody>
      </p:sp>
    </p:spTree>
    <p:extLst>
      <p:ext uri="{BB962C8B-B14F-4D97-AF65-F5344CB8AC3E}">
        <p14:creationId xmlns:p14="http://schemas.microsoft.com/office/powerpoint/2010/main" val="2451203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AA0DB-380A-4986-98C9-E5B5B5324B96}"/>
              </a:ext>
            </a:extLst>
          </p:cNvPr>
          <p:cNvSpPr>
            <a:spLocks noGrp="1"/>
          </p:cNvSpPr>
          <p:nvPr>
            <p:ph type="title"/>
          </p:nvPr>
        </p:nvSpPr>
        <p:spPr>
          <a:xfrm>
            <a:off x="1546166" y="175381"/>
            <a:ext cx="12167221" cy="838772"/>
          </a:xfrm>
        </p:spPr>
        <p:txBody>
          <a:bodyPr>
            <a:noAutofit/>
          </a:bodyPr>
          <a:lstStyle/>
          <a:p>
            <a:r>
              <a:rPr lang="en-US" sz="6000" b="1" dirty="0">
                <a:solidFill>
                  <a:srgbClr val="0070C0"/>
                </a:solidFill>
              </a:rPr>
              <a:t>Sequence of Register Transfers</a:t>
            </a:r>
          </a:p>
        </p:txBody>
      </p:sp>
      <p:pic>
        <p:nvPicPr>
          <p:cNvPr id="8" name="Content Placeholder 7">
            <a:extLst>
              <a:ext uri="{FF2B5EF4-FFF2-40B4-BE49-F238E27FC236}">
                <a16:creationId xmlns:a16="http://schemas.microsoft.com/office/drawing/2014/main" id="{40116FA0-DA94-457C-8A89-72F2F09255CC}"/>
              </a:ext>
            </a:extLst>
          </p:cNvPr>
          <p:cNvPicPr>
            <a:picLocks noGrp="1" noChangeAspect="1"/>
          </p:cNvPicPr>
          <p:nvPr>
            <p:ph idx="1"/>
          </p:nvPr>
        </p:nvPicPr>
        <p:blipFill rotWithShape="1">
          <a:blip r:embed="rId2">
            <a:duotone>
              <a:schemeClr val="accent4">
                <a:shade val="45000"/>
                <a:satMod val="135000"/>
              </a:schemeClr>
              <a:prstClr val="white"/>
            </a:duotone>
            <a:lum bright="-20000" contrast="40000"/>
          </a:blip>
          <a:srcRect l="2362" t="2636" r="3535" b="4916"/>
          <a:stretch/>
        </p:blipFill>
        <p:spPr>
          <a:xfrm>
            <a:off x="881149" y="984613"/>
            <a:ext cx="11055927" cy="6947876"/>
          </a:xfrm>
          <a:prstGeom prst="rect">
            <a:avLst/>
          </a:prstGeom>
        </p:spPr>
      </p:pic>
      <p:pic>
        <p:nvPicPr>
          <p:cNvPr id="6" name="Picture 5">
            <a:extLst>
              <a:ext uri="{FF2B5EF4-FFF2-40B4-BE49-F238E27FC236}">
                <a16:creationId xmlns:a16="http://schemas.microsoft.com/office/drawing/2014/main" id="{1F2703D4-F55D-459B-917D-B8FA7903D295}"/>
              </a:ext>
            </a:extLst>
          </p:cNvPr>
          <p:cNvPicPr>
            <a:picLocks noChangeAspect="1"/>
          </p:cNvPicPr>
          <p:nvPr/>
        </p:nvPicPr>
        <p:blipFill rotWithShape="1">
          <a:blip r:embed="rId3">
            <a:duotone>
              <a:prstClr val="black"/>
              <a:schemeClr val="accent3">
                <a:tint val="45000"/>
                <a:satMod val="400000"/>
              </a:schemeClr>
            </a:duotone>
            <a:lum bright="-20000" contrast="40000"/>
          </a:blip>
          <a:srcRect l="62419" t="10872" r="3867" b="10360"/>
          <a:stretch/>
        </p:blipFill>
        <p:spPr>
          <a:xfrm>
            <a:off x="12280926" y="1440849"/>
            <a:ext cx="3845764" cy="5700745"/>
          </a:xfrm>
          <a:prstGeom prst="rect">
            <a:avLst/>
          </a:prstGeom>
        </p:spPr>
      </p:pic>
      <p:sp>
        <p:nvSpPr>
          <p:cNvPr id="4" name="TextBox 3"/>
          <p:cNvSpPr txBox="1"/>
          <p:nvPr/>
        </p:nvSpPr>
        <p:spPr>
          <a:xfrm>
            <a:off x="1094667" y="964441"/>
            <a:ext cx="5671892" cy="1323439"/>
          </a:xfrm>
          <a:prstGeom prst="rect">
            <a:avLst/>
          </a:prstGeom>
          <a:noFill/>
        </p:spPr>
        <p:txBody>
          <a:bodyPr wrap="square" rtlCol="0">
            <a:spAutoFit/>
          </a:bodyPr>
          <a:lstStyle/>
          <a:p>
            <a:r>
              <a:rPr lang="en-US" sz="2800" dirty="0">
                <a:solidFill>
                  <a:srgbClr val="FF0000"/>
                </a:solidFill>
              </a:rPr>
              <a:t>Fig. 10-9 </a:t>
            </a:r>
            <a:r>
              <a:rPr lang="en-US" sz="2800" dirty="0"/>
              <a:t>Control state diagram and sequence of micro-operations</a:t>
            </a:r>
          </a:p>
          <a:p>
            <a:r>
              <a:rPr lang="en-US" sz="2400" dirty="0">
                <a:solidFill>
                  <a:srgbClr val="FF0000"/>
                </a:solidFill>
              </a:rPr>
              <a:t>(b) Sequence of register transfer</a:t>
            </a:r>
          </a:p>
        </p:txBody>
      </p:sp>
      <p:sp>
        <p:nvSpPr>
          <p:cNvPr id="3" name="Date Placeholder 2"/>
          <p:cNvSpPr>
            <a:spLocks noGrp="1"/>
          </p:cNvSpPr>
          <p:nvPr>
            <p:ph type="dt" sz="half" idx="10"/>
          </p:nvPr>
        </p:nvSpPr>
        <p:spPr/>
        <p:txBody>
          <a:bodyPr/>
          <a:lstStyle/>
          <a:p>
            <a:fld id="{FDFD8501-F4D2-4ECF-ABE1-FBB06A4DF388}" type="datetime3">
              <a:rPr lang="en-US" smtClean="0"/>
              <a:t>6 January 2026</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23</a:t>
            </a:fld>
            <a:endParaRPr lang="en-US" dirty="0"/>
          </a:p>
        </p:txBody>
      </p:sp>
    </p:spTree>
    <p:extLst>
      <p:ext uri="{BB962C8B-B14F-4D97-AF65-F5344CB8AC3E}">
        <p14:creationId xmlns:p14="http://schemas.microsoft.com/office/powerpoint/2010/main" val="2012222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90417B2-9FEF-4E40-9CBE-78EDE45FAAF7}"/>
              </a:ext>
            </a:extLst>
          </p:cNvPr>
          <p:cNvPicPr>
            <a:picLocks noGrp="1" noChangeAspect="1"/>
          </p:cNvPicPr>
          <p:nvPr>
            <p:ph idx="1"/>
          </p:nvPr>
        </p:nvPicPr>
        <p:blipFill rotWithShape="1">
          <a:blip r:embed="rId2">
            <a:duotone>
              <a:schemeClr val="accent4">
                <a:shade val="45000"/>
                <a:satMod val="135000"/>
              </a:schemeClr>
              <a:prstClr val="white"/>
            </a:duotone>
            <a:lum bright="-20000" contrast="40000"/>
          </a:blip>
          <a:srcRect l="4131" t="2005" r="5920" b="2986"/>
          <a:stretch/>
        </p:blipFill>
        <p:spPr>
          <a:xfrm>
            <a:off x="5586153" y="596740"/>
            <a:ext cx="10723414" cy="7427477"/>
          </a:xfrm>
          <a:prstGeom prst="rect">
            <a:avLst/>
          </a:prstGeom>
        </p:spPr>
      </p:pic>
      <p:pic>
        <p:nvPicPr>
          <p:cNvPr id="5" name="Picture 4">
            <a:extLst>
              <a:ext uri="{FF2B5EF4-FFF2-40B4-BE49-F238E27FC236}">
                <a16:creationId xmlns:a16="http://schemas.microsoft.com/office/drawing/2014/main" id="{4D517515-3029-426D-86AA-9C826758A435}"/>
              </a:ext>
            </a:extLst>
          </p:cNvPr>
          <p:cNvPicPr>
            <a:picLocks noChangeAspect="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brightnessContrast contrast="40000"/>
                    </a14:imgEffect>
                  </a14:imgLayer>
                </a14:imgProps>
              </a:ext>
            </a:extLst>
          </a:blip>
          <a:srcRect l="3409" t="1962" r="4105" b="4670"/>
          <a:stretch/>
        </p:blipFill>
        <p:spPr>
          <a:xfrm>
            <a:off x="220014" y="1257535"/>
            <a:ext cx="5370927" cy="6441217"/>
          </a:xfrm>
          <a:prstGeom prst="rect">
            <a:avLst/>
          </a:prstGeom>
        </p:spPr>
      </p:pic>
      <p:sp>
        <p:nvSpPr>
          <p:cNvPr id="2" name="Title 1">
            <a:extLst>
              <a:ext uri="{FF2B5EF4-FFF2-40B4-BE49-F238E27FC236}">
                <a16:creationId xmlns:a16="http://schemas.microsoft.com/office/drawing/2014/main" id="{6F5B56F2-AF78-46E4-AD5A-904FF321ACE4}"/>
              </a:ext>
            </a:extLst>
          </p:cNvPr>
          <p:cNvSpPr>
            <a:spLocks noGrp="1"/>
          </p:cNvSpPr>
          <p:nvPr>
            <p:ph type="title"/>
          </p:nvPr>
        </p:nvSpPr>
        <p:spPr>
          <a:xfrm>
            <a:off x="1778924" y="109957"/>
            <a:ext cx="7381702" cy="696750"/>
          </a:xfrm>
        </p:spPr>
        <p:txBody>
          <a:bodyPr>
            <a:noAutofit/>
          </a:bodyPr>
          <a:lstStyle/>
          <a:p>
            <a:r>
              <a:rPr lang="en-US" sz="5400" b="1" dirty="0">
                <a:solidFill>
                  <a:srgbClr val="0070C0"/>
                </a:solidFill>
              </a:rPr>
              <a:t>Control State Diagram</a:t>
            </a:r>
          </a:p>
        </p:txBody>
      </p:sp>
      <p:sp>
        <p:nvSpPr>
          <p:cNvPr id="6" name="TextBox 5"/>
          <p:cNvSpPr txBox="1"/>
          <p:nvPr/>
        </p:nvSpPr>
        <p:spPr>
          <a:xfrm>
            <a:off x="11910263" y="5919086"/>
            <a:ext cx="4199802" cy="2000548"/>
          </a:xfrm>
          <a:prstGeom prst="rect">
            <a:avLst/>
          </a:prstGeom>
          <a:noFill/>
        </p:spPr>
        <p:txBody>
          <a:bodyPr wrap="square" rtlCol="0">
            <a:spAutoFit/>
          </a:bodyPr>
          <a:lstStyle/>
          <a:p>
            <a:r>
              <a:rPr lang="en-US" sz="3200" dirty="0">
                <a:solidFill>
                  <a:srgbClr val="FF0000"/>
                </a:solidFill>
              </a:rPr>
              <a:t>Fig. 10-9 </a:t>
            </a:r>
            <a:r>
              <a:rPr lang="en-US" sz="3200" dirty="0"/>
              <a:t>Control state diagram and sequence of micro-operations</a:t>
            </a:r>
          </a:p>
          <a:p>
            <a:r>
              <a:rPr lang="en-US" sz="2800" dirty="0">
                <a:solidFill>
                  <a:srgbClr val="FF0000"/>
                </a:solidFill>
              </a:rPr>
              <a:t>(a) State diagram</a:t>
            </a:r>
          </a:p>
        </p:txBody>
      </p:sp>
      <p:sp>
        <p:nvSpPr>
          <p:cNvPr id="3" name="Date Placeholder 2"/>
          <p:cNvSpPr>
            <a:spLocks noGrp="1"/>
          </p:cNvSpPr>
          <p:nvPr>
            <p:ph type="dt" sz="half" idx="10"/>
          </p:nvPr>
        </p:nvSpPr>
        <p:spPr/>
        <p:txBody>
          <a:bodyPr/>
          <a:lstStyle/>
          <a:p>
            <a:fld id="{994E279F-D705-4941-8951-580BAB6A764E}" type="datetime3">
              <a:rPr lang="en-US" smtClean="0"/>
              <a:t>6 January 2026</a:t>
            </a:fld>
            <a:endParaRPr lang="en-US"/>
          </a:p>
        </p:txBody>
      </p:sp>
      <p:sp>
        <p:nvSpPr>
          <p:cNvPr id="8" name="Slide Number Placeholder 7"/>
          <p:cNvSpPr>
            <a:spLocks noGrp="1"/>
          </p:cNvSpPr>
          <p:nvPr>
            <p:ph type="sldNum" sz="quarter" idx="12"/>
          </p:nvPr>
        </p:nvSpPr>
        <p:spPr/>
        <p:txBody>
          <a:bodyPr/>
          <a:lstStyle/>
          <a:p>
            <a:fld id="{48F63A3B-78C7-47BE-AE5E-E10140E04643}" type="slidenum">
              <a:rPr lang="en-US" smtClean="0"/>
              <a:pPr/>
              <a:t>24</a:t>
            </a:fld>
            <a:endParaRPr lang="en-US" dirty="0"/>
          </a:p>
        </p:txBody>
      </p:sp>
    </p:spTree>
    <p:extLst>
      <p:ext uri="{BB962C8B-B14F-4D97-AF65-F5344CB8AC3E}">
        <p14:creationId xmlns:p14="http://schemas.microsoft.com/office/powerpoint/2010/main" val="2757652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994F-C899-4506-9661-6D8D7B39E845}"/>
              </a:ext>
            </a:extLst>
          </p:cNvPr>
          <p:cNvSpPr>
            <a:spLocks noGrp="1"/>
          </p:cNvSpPr>
          <p:nvPr>
            <p:ph type="title"/>
          </p:nvPr>
        </p:nvSpPr>
        <p:spPr>
          <a:xfrm>
            <a:off x="1812175" y="218694"/>
            <a:ext cx="11962014" cy="1127969"/>
          </a:xfrm>
        </p:spPr>
        <p:txBody>
          <a:bodyPr>
            <a:normAutofit/>
          </a:bodyPr>
          <a:lstStyle/>
          <a:p>
            <a:r>
              <a:rPr lang="en-US" sz="6000" b="1" dirty="0">
                <a:solidFill>
                  <a:srgbClr val="0070C0"/>
                </a:solidFill>
              </a:rPr>
              <a:t>Control of Processor Unit</a:t>
            </a:r>
          </a:p>
        </p:txBody>
      </p:sp>
      <p:sp>
        <p:nvSpPr>
          <p:cNvPr id="6" name="Content Placeholder 5">
            <a:extLst>
              <a:ext uri="{FF2B5EF4-FFF2-40B4-BE49-F238E27FC236}">
                <a16:creationId xmlns:a16="http://schemas.microsoft.com/office/drawing/2014/main" id="{26545628-CDA7-4941-A835-EBA42D26EC96}"/>
              </a:ext>
            </a:extLst>
          </p:cNvPr>
          <p:cNvSpPr>
            <a:spLocks noGrp="1"/>
          </p:cNvSpPr>
          <p:nvPr>
            <p:ph idx="1"/>
          </p:nvPr>
        </p:nvSpPr>
        <p:spPr>
          <a:xfrm>
            <a:off x="232756" y="1215449"/>
            <a:ext cx="16043563" cy="5451358"/>
          </a:xfrm>
        </p:spPr>
        <p:txBody>
          <a:bodyPr>
            <a:noAutofit/>
          </a:bodyPr>
          <a:lstStyle/>
          <a:p>
            <a:r>
              <a:rPr lang="en-US" sz="4400" dirty="0"/>
              <a:t>To construct correct micro-programs, it is necessary to </a:t>
            </a:r>
            <a:r>
              <a:rPr lang="en-US" sz="4400" dirty="0">
                <a:solidFill>
                  <a:srgbClr val="FF0000"/>
                </a:solidFill>
              </a:rPr>
              <a:t>specify exactly how the status bits are affected </a:t>
            </a:r>
            <a:r>
              <a:rPr lang="en-US" sz="4400" dirty="0"/>
              <a:t>by each micro-operation in the processor.</a:t>
            </a:r>
          </a:p>
          <a:p>
            <a:r>
              <a:rPr lang="en-US" sz="4400" dirty="0"/>
              <a:t>The </a:t>
            </a:r>
            <a:r>
              <a:rPr lang="en-US" sz="4400" dirty="0">
                <a:solidFill>
                  <a:srgbClr val="FF0000"/>
                </a:solidFill>
              </a:rPr>
              <a:t>S</a:t>
            </a:r>
            <a:r>
              <a:rPr lang="en-US" sz="4400" dirty="0"/>
              <a:t> (sign) and </a:t>
            </a:r>
            <a:r>
              <a:rPr lang="en-US" sz="4400" dirty="0">
                <a:solidFill>
                  <a:srgbClr val="FF0000"/>
                </a:solidFill>
              </a:rPr>
              <a:t>Z</a:t>
            </a:r>
            <a:r>
              <a:rPr lang="en-US" sz="4400" dirty="0"/>
              <a:t> (Zero) bits are </a:t>
            </a:r>
            <a:r>
              <a:rPr lang="en-US" sz="4400" dirty="0">
                <a:solidFill>
                  <a:srgbClr val="FF0000"/>
                </a:solidFill>
              </a:rPr>
              <a:t>affected by all micro-operations</a:t>
            </a:r>
            <a:r>
              <a:rPr lang="en-US" sz="4400" dirty="0"/>
              <a:t>.</a:t>
            </a:r>
          </a:p>
          <a:p>
            <a:r>
              <a:rPr lang="en-US" sz="4400" dirty="0"/>
              <a:t>The </a:t>
            </a:r>
            <a:r>
              <a:rPr lang="en-US" sz="4400" dirty="0">
                <a:solidFill>
                  <a:srgbClr val="FF0000"/>
                </a:solidFill>
              </a:rPr>
              <a:t>C</a:t>
            </a:r>
            <a:r>
              <a:rPr lang="en-US" sz="4400" dirty="0"/>
              <a:t> (Carry) and </a:t>
            </a:r>
            <a:r>
              <a:rPr lang="en-US" sz="4400" dirty="0">
                <a:solidFill>
                  <a:srgbClr val="FF0000"/>
                </a:solidFill>
              </a:rPr>
              <a:t>V</a:t>
            </a:r>
            <a:r>
              <a:rPr lang="en-US" sz="4400" dirty="0"/>
              <a:t> (Overflow) bits </a:t>
            </a:r>
            <a:r>
              <a:rPr lang="en-US" sz="4400" dirty="0">
                <a:solidFill>
                  <a:srgbClr val="FF0000"/>
                </a:solidFill>
              </a:rPr>
              <a:t>do not change </a:t>
            </a:r>
            <a:r>
              <a:rPr lang="en-US" sz="4400" dirty="0"/>
              <a:t>after the following ALU operations:</a:t>
            </a:r>
          </a:p>
          <a:p>
            <a:pPr lvl="1"/>
            <a:r>
              <a:rPr lang="en-US" sz="4000" dirty="0"/>
              <a:t>The </a:t>
            </a:r>
            <a:r>
              <a:rPr lang="en-US" sz="4000" dirty="0">
                <a:solidFill>
                  <a:srgbClr val="FF0000"/>
                </a:solidFill>
              </a:rPr>
              <a:t>four logic operations </a:t>
            </a:r>
            <a:r>
              <a:rPr lang="en-US" sz="4000" dirty="0"/>
              <a:t>OR, AND, XOR, and NOT.</a:t>
            </a:r>
          </a:p>
          <a:p>
            <a:pPr lvl="1"/>
            <a:r>
              <a:rPr lang="en-US" sz="4000" dirty="0"/>
              <a:t>The </a:t>
            </a:r>
            <a:r>
              <a:rPr lang="en-US" sz="4000" dirty="0">
                <a:solidFill>
                  <a:srgbClr val="FF0000"/>
                </a:solidFill>
              </a:rPr>
              <a:t>increment and decrement </a:t>
            </a:r>
            <a:r>
              <a:rPr lang="en-US" sz="4000" dirty="0"/>
              <a:t>operations.</a:t>
            </a:r>
          </a:p>
        </p:txBody>
      </p:sp>
      <p:sp>
        <p:nvSpPr>
          <p:cNvPr id="3" name="Date Placeholder 2"/>
          <p:cNvSpPr>
            <a:spLocks noGrp="1"/>
          </p:cNvSpPr>
          <p:nvPr>
            <p:ph type="dt" sz="half" idx="10"/>
          </p:nvPr>
        </p:nvSpPr>
        <p:spPr/>
        <p:txBody>
          <a:bodyPr/>
          <a:lstStyle/>
          <a:p>
            <a:fld id="{DDFEFF38-ADDB-49DA-B311-180936ECF3A0}" type="datetime3">
              <a:rPr lang="en-US" smtClean="0"/>
              <a:t>6 January 2026</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pPr/>
              <a:t>25</a:t>
            </a:fld>
            <a:endParaRPr lang="en-US" dirty="0"/>
          </a:p>
        </p:txBody>
      </p:sp>
    </p:spTree>
    <p:extLst>
      <p:ext uri="{BB962C8B-B14F-4D97-AF65-F5344CB8AC3E}">
        <p14:creationId xmlns:p14="http://schemas.microsoft.com/office/powerpoint/2010/main" val="145142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994F-C899-4506-9661-6D8D7B39E845}"/>
              </a:ext>
            </a:extLst>
          </p:cNvPr>
          <p:cNvSpPr>
            <a:spLocks noGrp="1"/>
          </p:cNvSpPr>
          <p:nvPr>
            <p:ph type="title"/>
          </p:nvPr>
        </p:nvSpPr>
        <p:spPr>
          <a:xfrm>
            <a:off x="11317184" y="615143"/>
            <a:ext cx="4992387" cy="1745672"/>
          </a:xfrm>
        </p:spPr>
        <p:txBody>
          <a:bodyPr>
            <a:noAutofit/>
          </a:bodyPr>
          <a:lstStyle/>
          <a:p>
            <a:r>
              <a:rPr lang="en-US" sz="6000" b="1" dirty="0">
                <a:solidFill>
                  <a:srgbClr val="0070C0"/>
                </a:solidFill>
              </a:rPr>
              <a:t>Control of Processor Unit</a:t>
            </a:r>
          </a:p>
        </p:txBody>
      </p:sp>
      <p:pic>
        <p:nvPicPr>
          <p:cNvPr id="7" name="Content Placeholder 3">
            <a:extLst>
              <a:ext uri="{FF2B5EF4-FFF2-40B4-BE49-F238E27FC236}">
                <a16:creationId xmlns:a16="http://schemas.microsoft.com/office/drawing/2014/main" id="{B92D1E6F-5ECF-46CE-8C0C-6985709BA2A0}"/>
              </a:ext>
            </a:extLst>
          </p:cNvPr>
          <p:cNvPicPr>
            <a:picLocks noChangeAspect="1"/>
          </p:cNvPicPr>
          <p:nvPr/>
        </p:nvPicPr>
        <p:blipFill rotWithShape="1">
          <a:blip r:embed="rId2">
            <a:duotone>
              <a:schemeClr val="accent4">
                <a:shade val="45000"/>
                <a:satMod val="135000"/>
              </a:schemeClr>
              <a:prstClr val="white"/>
            </a:duotone>
            <a:lum bright="-20000" contrast="40000"/>
          </a:blip>
          <a:srcRect l="3087" t="2666" r="6195" b="1660"/>
          <a:stretch/>
        </p:blipFill>
        <p:spPr>
          <a:xfrm>
            <a:off x="1820487" y="78040"/>
            <a:ext cx="9360131" cy="8004326"/>
          </a:xfrm>
          <a:prstGeom prst="rect">
            <a:avLst/>
          </a:prstGeom>
        </p:spPr>
      </p:pic>
      <p:sp>
        <p:nvSpPr>
          <p:cNvPr id="4" name="Rectangle 3"/>
          <p:cNvSpPr/>
          <p:nvPr/>
        </p:nvSpPr>
        <p:spPr>
          <a:xfrm>
            <a:off x="137743" y="6952284"/>
            <a:ext cx="6362810" cy="1077218"/>
          </a:xfrm>
          <a:prstGeom prst="rect">
            <a:avLst/>
          </a:prstGeom>
        </p:spPr>
        <p:txBody>
          <a:bodyPr wrap="square">
            <a:spAutoFit/>
          </a:bodyPr>
          <a:lstStyle/>
          <a:p>
            <a:r>
              <a:rPr lang="en-US" sz="3200" dirty="0">
                <a:solidFill>
                  <a:srgbClr val="FF0000"/>
                </a:solidFill>
              </a:rPr>
              <a:t>Fig. 10-10 </a:t>
            </a:r>
            <a:r>
              <a:rPr lang="en-US" sz="3200" dirty="0"/>
              <a:t>Micro-program control for processor unit</a:t>
            </a:r>
          </a:p>
        </p:txBody>
      </p:sp>
      <p:sp>
        <p:nvSpPr>
          <p:cNvPr id="3" name="Date Placeholder 2"/>
          <p:cNvSpPr>
            <a:spLocks noGrp="1"/>
          </p:cNvSpPr>
          <p:nvPr>
            <p:ph type="dt" sz="half" idx="10"/>
          </p:nvPr>
        </p:nvSpPr>
        <p:spPr/>
        <p:txBody>
          <a:bodyPr/>
          <a:lstStyle/>
          <a:p>
            <a:fld id="{07325291-8353-45DE-A318-5500EFBEBBDB}"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26</a:t>
            </a:fld>
            <a:endParaRPr lang="en-US" dirty="0"/>
          </a:p>
        </p:txBody>
      </p:sp>
    </p:spTree>
    <p:extLst>
      <p:ext uri="{BB962C8B-B14F-4D97-AF65-F5344CB8AC3E}">
        <p14:creationId xmlns:p14="http://schemas.microsoft.com/office/powerpoint/2010/main" val="1337717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4B22A-8CBD-492C-9B55-592122365C50}"/>
              </a:ext>
            </a:extLst>
          </p:cNvPr>
          <p:cNvSpPr>
            <a:spLocks noGrp="1"/>
          </p:cNvSpPr>
          <p:nvPr>
            <p:ph type="title"/>
          </p:nvPr>
        </p:nvSpPr>
        <p:spPr>
          <a:xfrm>
            <a:off x="1645919" y="188770"/>
            <a:ext cx="13582997" cy="746837"/>
          </a:xfrm>
        </p:spPr>
        <p:txBody>
          <a:bodyPr>
            <a:noAutofit/>
          </a:bodyPr>
          <a:lstStyle/>
          <a:p>
            <a:r>
              <a:rPr lang="en-US" sz="6000" b="1" dirty="0">
                <a:solidFill>
                  <a:srgbClr val="0070C0"/>
                </a:solidFill>
              </a:rPr>
              <a:t>Example of Micro-program</a:t>
            </a:r>
          </a:p>
        </p:txBody>
      </p:sp>
      <p:sp>
        <p:nvSpPr>
          <p:cNvPr id="3" name="Content Placeholder 2"/>
          <p:cNvSpPr>
            <a:spLocks noGrp="1"/>
          </p:cNvSpPr>
          <p:nvPr>
            <p:ph idx="1"/>
          </p:nvPr>
        </p:nvSpPr>
        <p:spPr>
          <a:xfrm>
            <a:off x="216131" y="935606"/>
            <a:ext cx="15993687" cy="6529223"/>
          </a:xfrm>
        </p:spPr>
        <p:txBody>
          <a:bodyPr>
            <a:normAutofit/>
          </a:bodyPr>
          <a:lstStyle/>
          <a:p>
            <a:r>
              <a:rPr lang="en-US" sz="4000" dirty="0"/>
              <a:t>We will now demonstrate by means of an example </a:t>
            </a:r>
            <a:r>
              <a:rPr lang="en-US" sz="4000" dirty="0">
                <a:solidFill>
                  <a:srgbClr val="FF0000"/>
                </a:solidFill>
              </a:rPr>
              <a:t>how a micro-program is written </a:t>
            </a:r>
            <a:r>
              <a:rPr lang="en-US" sz="4000" dirty="0"/>
              <a:t>to implement a given macro-operation. </a:t>
            </a:r>
          </a:p>
          <a:p>
            <a:r>
              <a:rPr lang="en-US" sz="4000" dirty="0"/>
              <a:t>A </a:t>
            </a:r>
            <a:r>
              <a:rPr lang="en-US" sz="4000" dirty="0">
                <a:solidFill>
                  <a:srgbClr val="FF0000"/>
                </a:solidFill>
              </a:rPr>
              <a:t>macro-operation initiates </a:t>
            </a:r>
            <a:r>
              <a:rPr lang="en-US" sz="4000" dirty="0"/>
              <a:t>a sequence of micro-instructions in the control memory.</a:t>
            </a:r>
          </a:p>
          <a:p>
            <a:r>
              <a:rPr lang="en-US" sz="4000" dirty="0"/>
              <a:t>This sequence constitutes a micro-program routine for executing the specified macro-operation.</a:t>
            </a:r>
          </a:p>
          <a:p>
            <a:r>
              <a:rPr lang="en-US" sz="4000" dirty="0"/>
              <a:t>A macro-operation is initiated by an external address that supplies the first address in the control memory for the micro-instruction routine.</a:t>
            </a:r>
          </a:p>
          <a:p>
            <a:r>
              <a:rPr lang="en-US" sz="4000" dirty="0"/>
              <a:t>The routine is terminated with a micro-instruction that loads a new external address to start executing the next macro-operation.</a:t>
            </a:r>
          </a:p>
        </p:txBody>
      </p:sp>
      <p:sp>
        <p:nvSpPr>
          <p:cNvPr id="4" name="Date Placeholder 3"/>
          <p:cNvSpPr>
            <a:spLocks noGrp="1"/>
          </p:cNvSpPr>
          <p:nvPr>
            <p:ph type="dt" sz="half" idx="10"/>
          </p:nvPr>
        </p:nvSpPr>
        <p:spPr/>
        <p:txBody>
          <a:bodyPr/>
          <a:lstStyle/>
          <a:p>
            <a:fld id="{EC596326-7241-48F1-97ED-4B207D8FBED7}"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27</a:t>
            </a:fld>
            <a:endParaRPr lang="en-US" dirty="0"/>
          </a:p>
        </p:txBody>
      </p:sp>
    </p:spTree>
    <p:extLst>
      <p:ext uri="{BB962C8B-B14F-4D97-AF65-F5344CB8AC3E}">
        <p14:creationId xmlns:p14="http://schemas.microsoft.com/office/powerpoint/2010/main" val="1909360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4B22A-8CBD-492C-9B55-592122365C50}"/>
              </a:ext>
            </a:extLst>
          </p:cNvPr>
          <p:cNvSpPr>
            <a:spLocks noGrp="1"/>
          </p:cNvSpPr>
          <p:nvPr>
            <p:ph type="title"/>
          </p:nvPr>
        </p:nvSpPr>
        <p:spPr>
          <a:xfrm>
            <a:off x="1413164" y="339699"/>
            <a:ext cx="14563897" cy="746837"/>
          </a:xfrm>
        </p:spPr>
        <p:txBody>
          <a:bodyPr>
            <a:noAutofit/>
          </a:bodyPr>
          <a:lstStyle/>
          <a:p>
            <a:r>
              <a:rPr lang="en-US" sz="4800" b="1" dirty="0">
                <a:solidFill>
                  <a:srgbClr val="0070C0"/>
                </a:solidFill>
              </a:rPr>
              <a:t>Flow chart for counting the number of 1’s in register R1</a:t>
            </a:r>
          </a:p>
        </p:txBody>
      </p:sp>
      <p:pic>
        <p:nvPicPr>
          <p:cNvPr id="4" name="Content Placeholder 3">
            <a:extLst>
              <a:ext uri="{FF2B5EF4-FFF2-40B4-BE49-F238E27FC236}">
                <a16:creationId xmlns:a16="http://schemas.microsoft.com/office/drawing/2014/main" id="{9D4BB3F9-B80B-43CC-AB4E-977660F24E7A}"/>
              </a:ext>
            </a:extLst>
          </p:cNvPr>
          <p:cNvPicPr>
            <a:picLocks noGrp="1" noChangeAspect="1"/>
          </p:cNvPicPr>
          <p:nvPr>
            <p:ph idx="1"/>
          </p:nvPr>
        </p:nvPicPr>
        <p:blipFill rotWithShape="1">
          <a:blip r:embed="rId3">
            <a:duotone>
              <a:schemeClr val="accent1">
                <a:shade val="45000"/>
                <a:satMod val="135000"/>
              </a:schemeClr>
              <a:prstClr val="white"/>
            </a:duotone>
            <a:lum bright="-20000" contrast="40000"/>
          </a:blip>
          <a:srcRect l="10309" t="1243" r="1522" b="2504"/>
          <a:stretch/>
        </p:blipFill>
        <p:spPr>
          <a:xfrm>
            <a:off x="246136" y="956596"/>
            <a:ext cx="4906716" cy="6951234"/>
          </a:xfrm>
          <a:prstGeom prst="rect">
            <a:avLst/>
          </a:prstGeom>
        </p:spPr>
      </p:pic>
      <p:sp>
        <p:nvSpPr>
          <p:cNvPr id="3" name="Rectangle 2"/>
          <p:cNvSpPr/>
          <p:nvPr/>
        </p:nvSpPr>
        <p:spPr>
          <a:xfrm>
            <a:off x="5152852" y="990711"/>
            <a:ext cx="11123467" cy="3250121"/>
          </a:xfrm>
          <a:prstGeom prst="rect">
            <a:avLst/>
          </a:prstGeom>
        </p:spPr>
        <p:txBody>
          <a:bodyPr wrap="square">
            <a:spAutoFit/>
          </a:bodyPr>
          <a:lstStyle/>
          <a:p>
            <a:pPr>
              <a:lnSpc>
                <a:spcPct val="95000"/>
              </a:lnSpc>
            </a:pPr>
            <a:r>
              <a:rPr lang="en-US" sz="3600" dirty="0"/>
              <a:t>The macro-operation, we wish to implement, counts the number of 1's presently stored in the processor register, R1, and sets the register, R2 to that number.</a:t>
            </a:r>
          </a:p>
          <a:p>
            <a:pPr>
              <a:lnSpc>
                <a:spcPct val="95000"/>
              </a:lnSpc>
            </a:pPr>
            <a:r>
              <a:rPr lang="en-US" sz="3600" dirty="0"/>
              <a:t>For example, if R1 = 00</a:t>
            </a:r>
            <a:r>
              <a:rPr lang="en-US" sz="3600" dirty="0">
                <a:solidFill>
                  <a:srgbClr val="FF0000"/>
                </a:solidFill>
              </a:rPr>
              <a:t>11</a:t>
            </a:r>
            <a:r>
              <a:rPr lang="en-US" sz="3600" dirty="0"/>
              <a:t>0</a:t>
            </a:r>
            <a:r>
              <a:rPr lang="en-US" sz="3600" dirty="0">
                <a:solidFill>
                  <a:srgbClr val="FF0000"/>
                </a:solidFill>
              </a:rPr>
              <a:t>1</a:t>
            </a:r>
            <a:r>
              <a:rPr lang="en-US" sz="3600" dirty="0"/>
              <a:t>0</a:t>
            </a:r>
            <a:r>
              <a:rPr lang="en-US" sz="3600" dirty="0">
                <a:solidFill>
                  <a:srgbClr val="FF0000"/>
                </a:solidFill>
              </a:rPr>
              <a:t>1</a:t>
            </a:r>
            <a:r>
              <a:rPr lang="en-US" sz="3600" dirty="0"/>
              <a:t>, the micro-program routine counts that there are </a:t>
            </a:r>
            <a:r>
              <a:rPr lang="en-US" sz="3600" dirty="0">
                <a:solidFill>
                  <a:srgbClr val="FF0000"/>
                </a:solidFill>
              </a:rPr>
              <a:t>four 1s stored in the R1 </a:t>
            </a:r>
            <a:r>
              <a:rPr lang="en-US" sz="3600" dirty="0"/>
              <a:t>register and thus it </a:t>
            </a:r>
            <a:r>
              <a:rPr lang="en-US" sz="3600" dirty="0">
                <a:solidFill>
                  <a:srgbClr val="FF0000"/>
                </a:solidFill>
              </a:rPr>
              <a:t>sets the R2 register value to 4</a:t>
            </a:r>
            <a:r>
              <a:rPr lang="en-US" sz="3600" dirty="0"/>
              <a:t>, i.e., 00000</a:t>
            </a:r>
            <a:r>
              <a:rPr lang="en-US" sz="3600" dirty="0">
                <a:solidFill>
                  <a:srgbClr val="FF0000"/>
                </a:solidFill>
              </a:rPr>
              <a:t>100b</a:t>
            </a:r>
            <a:r>
              <a:rPr lang="en-US" sz="3600" dirty="0"/>
              <a:t>.</a:t>
            </a:r>
          </a:p>
        </p:txBody>
      </p:sp>
      <p:sp>
        <p:nvSpPr>
          <p:cNvPr id="5" name="Rectangle 4"/>
          <p:cNvSpPr/>
          <p:nvPr/>
        </p:nvSpPr>
        <p:spPr>
          <a:xfrm>
            <a:off x="4366949" y="6446523"/>
            <a:ext cx="4285228" cy="1569660"/>
          </a:xfrm>
          <a:prstGeom prst="rect">
            <a:avLst/>
          </a:prstGeom>
        </p:spPr>
        <p:txBody>
          <a:bodyPr wrap="square">
            <a:spAutoFit/>
          </a:bodyPr>
          <a:lstStyle/>
          <a:p>
            <a:r>
              <a:rPr lang="en-US" sz="3200" dirty="0">
                <a:solidFill>
                  <a:srgbClr val="FF0000"/>
                </a:solidFill>
              </a:rPr>
              <a:t>Fig. 10-12 </a:t>
            </a:r>
            <a:r>
              <a:rPr lang="en-US" sz="3200" dirty="0"/>
              <a:t>Flowchart for counting the number of 1's in register R1</a:t>
            </a:r>
          </a:p>
        </p:txBody>
      </p:sp>
      <p:sp>
        <p:nvSpPr>
          <p:cNvPr id="6" name="Date Placeholder 5"/>
          <p:cNvSpPr>
            <a:spLocks noGrp="1"/>
          </p:cNvSpPr>
          <p:nvPr>
            <p:ph type="dt" sz="half" idx="10"/>
          </p:nvPr>
        </p:nvSpPr>
        <p:spPr/>
        <p:txBody>
          <a:bodyPr/>
          <a:lstStyle/>
          <a:p>
            <a:fld id="{E5AB5608-F5B8-4FE5-BFF2-759B9805A31D}" type="datetime3">
              <a:rPr lang="en-US" smtClean="0"/>
              <a:t>6 January 2026</a:t>
            </a:fld>
            <a:endParaRPr lang="en-US"/>
          </a:p>
        </p:txBody>
      </p:sp>
      <p:sp>
        <p:nvSpPr>
          <p:cNvPr id="8" name="Slide Number Placeholder 7"/>
          <p:cNvSpPr>
            <a:spLocks noGrp="1"/>
          </p:cNvSpPr>
          <p:nvPr>
            <p:ph type="sldNum" sz="quarter" idx="12"/>
          </p:nvPr>
        </p:nvSpPr>
        <p:spPr/>
        <p:txBody>
          <a:bodyPr/>
          <a:lstStyle/>
          <a:p>
            <a:fld id="{48F63A3B-78C7-47BE-AE5E-E10140E04643}" type="slidenum">
              <a:rPr lang="en-US" smtClean="0"/>
              <a:pPr/>
              <a:t>28</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660673702"/>
              </p:ext>
            </p:extLst>
          </p:nvPr>
        </p:nvGraphicFramePr>
        <p:xfrm>
          <a:off x="9376755" y="4221112"/>
          <a:ext cx="6185975" cy="3686720"/>
        </p:xfrm>
        <a:graphic>
          <a:graphicData uri="http://schemas.openxmlformats.org/drawingml/2006/table">
            <a:tbl>
              <a:tblPr firstRow="1" bandRow="1">
                <a:tableStyleId>{5C22544A-7EE6-4342-B048-85BDC9FD1C3A}</a:tableStyleId>
              </a:tblPr>
              <a:tblGrid>
                <a:gridCol w="515498">
                  <a:extLst>
                    <a:ext uri="{9D8B030D-6E8A-4147-A177-3AD203B41FA5}">
                      <a16:colId xmlns:a16="http://schemas.microsoft.com/office/drawing/2014/main" val="1861634225"/>
                    </a:ext>
                  </a:extLst>
                </a:gridCol>
                <a:gridCol w="515498">
                  <a:extLst>
                    <a:ext uri="{9D8B030D-6E8A-4147-A177-3AD203B41FA5}">
                      <a16:colId xmlns:a16="http://schemas.microsoft.com/office/drawing/2014/main" val="319664354"/>
                    </a:ext>
                  </a:extLst>
                </a:gridCol>
                <a:gridCol w="515498">
                  <a:extLst>
                    <a:ext uri="{9D8B030D-6E8A-4147-A177-3AD203B41FA5}">
                      <a16:colId xmlns:a16="http://schemas.microsoft.com/office/drawing/2014/main" val="4216423268"/>
                    </a:ext>
                  </a:extLst>
                </a:gridCol>
                <a:gridCol w="515498">
                  <a:extLst>
                    <a:ext uri="{9D8B030D-6E8A-4147-A177-3AD203B41FA5}">
                      <a16:colId xmlns:a16="http://schemas.microsoft.com/office/drawing/2014/main" val="401434253"/>
                    </a:ext>
                  </a:extLst>
                </a:gridCol>
                <a:gridCol w="515498">
                  <a:extLst>
                    <a:ext uri="{9D8B030D-6E8A-4147-A177-3AD203B41FA5}">
                      <a16:colId xmlns:a16="http://schemas.microsoft.com/office/drawing/2014/main" val="2899842173"/>
                    </a:ext>
                  </a:extLst>
                </a:gridCol>
                <a:gridCol w="515498">
                  <a:extLst>
                    <a:ext uri="{9D8B030D-6E8A-4147-A177-3AD203B41FA5}">
                      <a16:colId xmlns:a16="http://schemas.microsoft.com/office/drawing/2014/main" val="10811136"/>
                    </a:ext>
                  </a:extLst>
                </a:gridCol>
                <a:gridCol w="515498">
                  <a:extLst>
                    <a:ext uri="{9D8B030D-6E8A-4147-A177-3AD203B41FA5}">
                      <a16:colId xmlns:a16="http://schemas.microsoft.com/office/drawing/2014/main" val="3762230952"/>
                    </a:ext>
                  </a:extLst>
                </a:gridCol>
                <a:gridCol w="515498">
                  <a:extLst>
                    <a:ext uri="{9D8B030D-6E8A-4147-A177-3AD203B41FA5}">
                      <a16:colId xmlns:a16="http://schemas.microsoft.com/office/drawing/2014/main" val="340348496"/>
                    </a:ext>
                  </a:extLst>
                </a:gridCol>
                <a:gridCol w="752947">
                  <a:extLst>
                    <a:ext uri="{9D8B030D-6E8A-4147-A177-3AD203B41FA5}">
                      <a16:colId xmlns:a16="http://schemas.microsoft.com/office/drawing/2014/main" val="3783908055"/>
                    </a:ext>
                  </a:extLst>
                </a:gridCol>
                <a:gridCol w="1309044">
                  <a:extLst>
                    <a:ext uri="{9D8B030D-6E8A-4147-A177-3AD203B41FA5}">
                      <a16:colId xmlns:a16="http://schemas.microsoft.com/office/drawing/2014/main" val="3593710793"/>
                    </a:ext>
                  </a:extLst>
                </a:gridCol>
              </a:tblGrid>
              <a:tr h="460840">
                <a:tc gridSpan="8">
                  <a:txBody>
                    <a:bodyPr/>
                    <a:lstStyle/>
                    <a:p>
                      <a:pPr algn="ctr">
                        <a:lnSpc>
                          <a:spcPct val="80000"/>
                        </a:lnSpc>
                      </a:pPr>
                      <a:r>
                        <a:rPr lang="en-CA" sz="2800" dirty="0">
                          <a:latin typeface="+mj-lt"/>
                        </a:rPr>
                        <a:t>R1 (Binary)</a:t>
                      </a:r>
                    </a:p>
                  </a:txBody>
                  <a:tcPr anchor="ctr"/>
                </a:tc>
                <a:tc hMerge="1">
                  <a:txBody>
                    <a:bodyPr/>
                    <a:lstStyle/>
                    <a:p>
                      <a:pPr algn="ctr"/>
                      <a:endParaRPr lang="en-CA" sz="2800" dirty="0"/>
                    </a:p>
                  </a:txBody>
                  <a:tcPr anchor="ctr"/>
                </a:tc>
                <a:tc hMerge="1">
                  <a:txBody>
                    <a:bodyPr/>
                    <a:lstStyle/>
                    <a:p>
                      <a:pPr algn="ctr"/>
                      <a:r>
                        <a:rPr lang="en-CA" sz="2800" dirty="0"/>
                        <a:t>0</a:t>
                      </a:r>
                    </a:p>
                  </a:txBody>
                  <a:tcPr anchor="ctr"/>
                </a:tc>
                <a:tc hMerge="1">
                  <a:txBody>
                    <a:bodyPr/>
                    <a:lstStyle/>
                    <a:p>
                      <a:pPr algn="ctr"/>
                      <a:endParaRPr lang="en-CA" sz="2800" dirty="0"/>
                    </a:p>
                  </a:txBody>
                  <a:tcPr anchor="ctr"/>
                </a:tc>
                <a:tc hMerge="1">
                  <a:txBody>
                    <a:bodyPr/>
                    <a:lstStyle/>
                    <a:p>
                      <a:pPr algn="ctr"/>
                      <a:r>
                        <a:rPr lang="en-CA" sz="2800" dirty="0"/>
                        <a:t>1</a:t>
                      </a:r>
                    </a:p>
                  </a:txBody>
                  <a:tcPr anchor="ctr"/>
                </a:tc>
                <a:tc hMerge="1">
                  <a:txBody>
                    <a:bodyPr/>
                    <a:lstStyle/>
                    <a:p>
                      <a:pPr algn="ctr"/>
                      <a:endParaRPr lang="en-CA" sz="2800" dirty="0"/>
                    </a:p>
                  </a:txBody>
                  <a:tcPr anchor="ctr"/>
                </a:tc>
                <a:tc hMerge="1">
                  <a:txBody>
                    <a:bodyPr/>
                    <a:lstStyle/>
                    <a:p>
                      <a:pPr algn="ctr"/>
                      <a:r>
                        <a:rPr lang="en-CA" sz="2800" dirty="0"/>
                        <a:t>0</a:t>
                      </a:r>
                    </a:p>
                  </a:txBody>
                  <a:tcPr anchor="ctr"/>
                </a:tc>
                <a:tc hMerge="1">
                  <a:txBody>
                    <a:bodyPr/>
                    <a:lstStyle/>
                    <a:p>
                      <a:pPr algn="ctr"/>
                      <a:endParaRPr lang="en-CA" sz="2800" dirty="0"/>
                    </a:p>
                  </a:txBody>
                  <a:tcPr anchor="ctr"/>
                </a:tc>
                <a:tc>
                  <a:txBody>
                    <a:bodyPr/>
                    <a:lstStyle/>
                    <a:p>
                      <a:pPr algn="ctr">
                        <a:lnSpc>
                          <a:spcPct val="80000"/>
                        </a:lnSpc>
                      </a:pPr>
                      <a:r>
                        <a:rPr lang="en-CA" sz="2800" dirty="0">
                          <a:latin typeface="+mj-lt"/>
                        </a:rPr>
                        <a:t>C</a:t>
                      </a:r>
                    </a:p>
                  </a:txBody>
                  <a:tcPr anchor="ctr"/>
                </a:tc>
                <a:tc>
                  <a:txBody>
                    <a:bodyPr/>
                    <a:lstStyle/>
                    <a:p>
                      <a:pPr algn="ctr">
                        <a:lnSpc>
                          <a:spcPct val="80000"/>
                        </a:lnSpc>
                      </a:pPr>
                      <a:r>
                        <a:rPr lang="en-CA" sz="2800" dirty="0">
                          <a:latin typeface="+mj-lt"/>
                        </a:rPr>
                        <a:t>R2 (D)</a:t>
                      </a:r>
                    </a:p>
                  </a:txBody>
                  <a:tcPr anchor="ctr"/>
                </a:tc>
                <a:extLst>
                  <a:ext uri="{0D108BD9-81ED-4DB2-BD59-A6C34878D82A}">
                    <a16:rowId xmlns:a16="http://schemas.microsoft.com/office/drawing/2014/main" val="2072660025"/>
                  </a:ext>
                </a:extLst>
              </a:tr>
              <a:tr h="460840">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1</a:t>
                      </a:r>
                    </a:p>
                  </a:txBody>
                  <a:tcPr anchor="ctr"/>
                </a:tc>
                <a:tc>
                  <a:txBody>
                    <a:bodyPr/>
                    <a:lstStyle/>
                    <a:p>
                      <a:pPr algn="ctr">
                        <a:lnSpc>
                          <a:spcPct val="80000"/>
                        </a:lnSpc>
                      </a:pPr>
                      <a:r>
                        <a:rPr lang="en-CA" sz="2800" dirty="0">
                          <a:solidFill>
                            <a:srgbClr val="FF0000"/>
                          </a:solidFill>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1</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b="1" dirty="0">
                          <a:solidFill>
                            <a:srgbClr val="00B050"/>
                          </a:solidFill>
                          <a:latin typeface="+mj-lt"/>
                        </a:rPr>
                        <a:t>0</a:t>
                      </a:r>
                    </a:p>
                  </a:txBody>
                  <a:tcPr anchor="ctr"/>
                </a:tc>
                <a:extLst>
                  <a:ext uri="{0D108BD9-81ED-4DB2-BD59-A6C34878D82A}">
                    <a16:rowId xmlns:a16="http://schemas.microsoft.com/office/drawing/2014/main" val="2050964191"/>
                  </a:ext>
                </a:extLst>
              </a:tr>
              <a:tr h="460840">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1</a:t>
                      </a:r>
                    </a:p>
                  </a:txBody>
                  <a:tcPr anchor="ctr"/>
                </a:tc>
                <a:tc>
                  <a:txBody>
                    <a:bodyPr/>
                    <a:lstStyle/>
                    <a:p>
                      <a:pPr algn="ctr">
                        <a:lnSpc>
                          <a:spcPct val="80000"/>
                        </a:lnSpc>
                      </a:pPr>
                      <a:r>
                        <a:rPr lang="en-CA" sz="2800" b="1" dirty="0">
                          <a:solidFill>
                            <a:srgbClr val="00B050"/>
                          </a:solidFill>
                          <a:latin typeface="+mj-lt"/>
                        </a:rPr>
                        <a:t>1</a:t>
                      </a:r>
                    </a:p>
                  </a:txBody>
                  <a:tcPr anchor="ctr"/>
                </a:tc>
                <a:extLst>
                  <a:ext uri="{0D108BD9-81ED-4DB2-BD59-A6C34878D82A}">
                    <a16:rowId xmlns:a16="http://schemas.microsoft.com/office/drawing/2014/main" val="853321946"/>
                  </a:ext>
                </a:extLst>
              </a:tr>
              <a:tr h="460840">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b="1" dirty="0">
                          <a:solidFill>
                            <a:srgbClr val="00B050"/>
                          </a:solidFill>
                          <a:latin typeface="+mj-lt"/>
                        </a:rPr>
                        <a:t>1</a:t>
                      </a:r>
                    </a:p>
                  </a:txBody>
                  <a:tcPr anchor="ctr"/>
                </a:tc>
                <a:extLst>
                  <a:ext uri="{0D108BD9-81ED-4DB2-BD59-A6C34878D82A}">
                    <a16:rowId xmlns:a16="http://schemas.microsoft.com/office/drawing/2014/main" val="3241713093"/>
                  </a:ext>
                </a:extLst>
              </a:tr>
              <a:tr h="460840">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1</a:t>
                      </a:r>
                    </a:p>
                  </a:txBody>
                  <a:tcPr anchor="ctr"/>
                </a:tc>
                <a:tc>
                  <a:txBody>
                    <a:bodyPr/>
                    <a:lstStyle/>
                    <a:p>
                      <a:pPr algn="ctr">
                        <a:lnSpc>
                          <a:spcPct val="80000"/>
                        </a:lnSpc>
                      </a:pPr>
                      <a:r>
                        <a:rPr lang="en-CA" sz="2800" b="1" dirty="0">
                          <a:solidFill>
                            <a:srgbClr val="00B050"/>
                          </a:solidFill>
                          <a:latin typeface="+mj-lt"/>
                        </a:rPr>
                        <a:t>2</a:t>
                      </a:r>
                    </a:p>
                  </a:txBody>
                  <a:tcPr anchor="ctr"/>
                </a:tc>
                <a:extLst>
                  <a:ext uri="{0D108BD9-81ED-4DB2-BD59-A6C34878D82A}">
                    <a16:rowId xmlns:a16="http://schemas.microsoft.com/office/drawing/2014/main" val="2597952795"/>
                  </a:ext>
                </a:extLst>
              </a:tr>
              <a:tr h="460840">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b="1" dirty="0">
                          <a:solidFill>
                            <a:srgbClr val="00B050"/>
                          </a:solidFill>
                          <a:latin typeface="+mj-lt"/>
                        </a:rPr>
                        <a:t>2</a:t>
                      </a:r>
                    </a:p>
                  </a:txBody>
                  <a:tcPr anchor="ctr"/>
                </a:tc>
                <a:extLst>
                  <a:ext uri="{0D108BD9-81ED-4DB2-BD59-A6C34878D82A}">
                    <a16:rowId xmlns:a16="http://schemas.microsoft.com/office/drawing/2014/main" val="1532092460"/>
                  </a:ext>
                </a:extLst>
              </a:tr>
              <a:tr h="460840">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solidFill>
                            <a:srgbClr val="FF0000"/>
                          </a:solidFill>
                          <a:latin typeface="+mj-lt"/>
                        </a:rPr>
                        <a:t>1</a:t>
                      </a:r>
                    </a:p>
                  </a:txBody>
                  <a:tcPr anchor="ctr"/>
                </a:tc>
                <a:tc>
                  <a:txBody>
                    <a:bodyPr/>
                    <a:lstStyle/>
                    <a:p>
                      <a:pPr algn="ctr">
                        <a:lnSpc>
                          <a:spcPct val="80000"/>
                        </a:lnSpc>
                      </a:pPr>
                      <a:r>
                        <a:rPr lang="en-CA" sz="2800" b="1" dirty="0">
                          <a:solidFill>
                            <a:srgbClr val="00B050"/>
                          </a:solidFill>
                          <a:latin typeface="+mj-lt"/>
                        </a:rPr>
                        <a:t>3</a:t>
                      </a:r>
                    </a:p>
                  </a:txBody>
                  <a:tcPr anchor="ctr"/>
                </a:tc>
                <a:extLst>
                  <a:ext uri="{0D108BD9-81ED-4DB2-BD59-A6C34878D82A}">
                    <a16:rowId xmlns:a16="http://schemas.microsoft.com/office/drawing/2014/main" val="2122905002"/>
                  </a:ext>
                </a:extLst>
              </a:tr>
              <a:tr h="460840">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1</a:t>
                      </a:r>
                    </a:p>
                  </a:txBody>
                  <a:tcPr anchor="ctr"/>
                </a:tc>
                <a:tc>
                  <a:txBody>
                    <a:bodyPr/>
                    <a:lstStyle/>
                    <a:p>
                      <a:pPr algn="ctr">
                        <a:lnSpc>
                          <a:spcPct val="80000"/>
                        </a:lnSpc>
                      </a:pPr>
                      <a:r>
                        <a:rPr lang="en-CA" sz="2800" b="1" dirty="0">
                          <a:solidFill>
                            <a:srgbClr val="00B050"/>
                          </a:solidFill>
                          <a:latin typeface="+mj-lt"/>
                        </a:rPr>
                        <a:t>4</a:t>
                      </a:r>
                    </a:p>
                  </a:txBody>
                  <a:tcPr anchor="ctr"/>
                </a:tc>
                <a:extLst>
                  <a:ext uri="{0D108BD9-81ED-4DB2-BD59-A6C34878D82A}">
                    <a16:rowId xmlns:a16="http://schemas.microsoft.com/office/drawing/2014/main" val="2153210214"/>
                  </a:ext>
                </a:extLst>
              </a:tr>
            </a:tbl>
          </a:graphicData>
        </a:graphic>
      </p:graphicFrame>
      <p:cxnSp>
        <p:nvCxnSpPr>
          <p:cNvPr id="11" name="Straight Arrow Connector 10">
            <a:extLst>
              <a:ext uri="{FF2B5EF4-FFF2-40B4-BE49-F238E27FC236}">
                <a16:creationId xmlns:a16="http://schemas.microsoft.com/office/drawing/2014/main" id="{FA5D0769-6161-89EB-5AEA-C95B0D59B5B2}"/>
              </a:ext>
            </a:extLst>
          </p:cNvPr>
          <p:cNvCxnSpPr>
            <a:cxnSpLocks/>
          </p:cNvCxnSpPr>
          <p:nvPr/>
        </p:nvCxnSpPr>
        <p:spPr>
          <a:xfrm>
            <a:off x="13447059"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6E303E4-97D5-7594-2F62-A040330C7D10}"/>
              </a:ext>
            </a:extLst>
          </p:cNvPr>
          <p:cNvCxnSpPr>
            <a:cxnSpLocks/>
          </p:cNvCxnSpPr>
          <p:nvPr/>
        </p:nvCxnSpPr>
        <p:spPr>
          <a:xfrm>
            <a:off x="12916043"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E4E5F3D-4BB7-67D5-520A-690D08145400}"/>
              </a:ext>
            </a:extLst>
          </p:cNvPr>
          <p:cNvCxnSpPr>
            <a:cxnSpLocks/>
          </p:cNvCxnSpPr>
          <p:nvPr/>
        </p:nvCxnSpPr>
        <p:spPr>
          <a:xfrm>
            <a:off x="12385026"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3B8F897-C2C3-A265-DF76-7001FA17F0E6}"/>
              </a:ext>
            </a:extLst>
          </p:cNvPr>
          <p:cNvCxnSpPr>
            <a:cxnSpLocks/>
          </p:cNvCxnSpPr>
          <p:nvPr/>
        </p:nvCxnSpPr>
        <p:spPr>
          <a:xfrm>
            <a:off x="11854009"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B97DF7-C6D5-6645-525D-D9C86F3A5EEE}"/>
              </a:ext>
            </a:extLst>
          </p:cNvPr>
          <p:cNvCxnSpPr>
            <a:cxnSpLocks/>
          </p:cNvCxnSpPr>
          <p:nvPr/>
        </p:nvCxnSpPr>
        <p:spPr>
          <a:xfrm>
            <a:off x="11322992"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39E6A1D-6957-3374-5AAE-FCF7C14100A1}"/>
              </a:ext>
            </a:extLst>
          </p:cNvPr>
          <p:cNvCxnSpPr>
            <a:cxnSpLocks/>
          </p:cNvCxnSpPr>
          <p:nvPr/>
        </p:nvCxnSpPr>
        <p:spPr>
          <a:xfrm>
            <a:off x="10791975"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7E7FEE4-CF6A-959F-5755-C0991EF81A95}"/>
              </a:ext>
            </a:extLst>
          </p:cNvPr>
          <p:cNvCxnSpPr>
            <a:cxnSpLocks/>
          </p:cNvCxnSpPr>
          <p:nvPr/>
        </p:nvCxnSpPr>
        <p:spPr>
          <a:xfrm>
            <a:off x="10260958"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499DCD6-7F87-BC9C-D53C-E925A9D0C361}"/>
              </a:ext>
            </a:extLst>
          </p:cNvPr>
          <p:cNvCxnSpPr>
            <a:cxnSpLocks/>
          </p:cNvCxnSpPr>
          <p:nvPr/>
        </p:nvCxnSpPr>
        <p:spPr>
          <a:xfrm>
            <a:off x="9729941"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1FB1639-F97B-1D29-F4EC-6804F4535F12}"/>
              </a:ext>
            </a:extLst>
          </p:cNvPr>
          <p:cNvSpPr/>
          <p:nvPr/>
        </p:nvSpPr>
        <p:spPr>
          <a:xfrm>
            <a:off x="14682084" y="5115258"/>
            <a:ext cx="497261" cy="46079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7726179-33EC-D730-D051-A48D0342F883}"/>
              </a:ext>
            </a:extLst>
          </p:cNvPr>
          <p:cNvCxnSpPr>
            <a:cxnSpLocks/>
          </p:cNvCxnSpPr>
          <p:nvPr/>
        </p:nvCxnSpPr>
        <p:spPr>
          <a:xfrm>
            <a:off x="13429640"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A2EBD66-A734-2098-ECB7-55BFC6200ED5}"/>
              </a:ext>
            </a:extLst>
          </p:cNvPr>
          <p:cNvCxnSpPr>
            <a:cxnSpLocks/>
          </p:cNvCxnSpPr>
          <p:nvPr/>
        </p:nvCxnSpPr>
        <p:spPr>
          <a:xfrm>
            <a:off x="12898624"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E9EDFAC-1CA9-B688-0B0E-E2879B2048A2}"/>
              </a:ext>
            </a:extLst>
          </p:cNvPr>
          <p:cNvCxnSpPr>
            <a:cxnSpLocks/>
          </p:cNvCxnSpPr>
          <p:nvPr/>
        </p:nvCxnSpPr>
        <p:spPr>
          <a:xfrm>
            <a:off x="12367607"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CAA5246-E41A-FEE4-1D62-3210B01D1E6C}"/>
              </a:ext>
            </a:extLst>
          </p:cNvPr>
          <p:cNvCxnSpPr>
            <a:cxnSpLocks/>
          </p:cNvCxnSpPr>
          <p:nvPr/>
        </p:nvCxnSpPr>
        <p:spPr>
          <a:xfrm>
            <a:off x="11836590"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575FA3F-73E5-B305-BEFD-EAF8F3A175CB}"/>
              </a:ext>
            </a:extLst>
          </p:cNvPr>
          <p:cNvCxnSpPr>
            <a:cxnSpLocks/>
          </p:cNvCxnSpPr>
          <p:nvPr/>
        </p:nvCxnSpPr>
        <p:spPr>
          <a:xfrm>
            <a:off x="11305573"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4370E38-610F-68BA-B08C-720BD816A877}"/>
              </a:ext>
            </a:extLst>
          </p:cNvPr>
          <p:cNvCxnSpPr>
            <a:cxnSpLocks/>
          </p:cNvCxnSpPr>
          <p:nvPr/>
        </p:nvCxnSpPr>
        <p:spPr>
          <a:xfrm>
            <a:off x="10774556"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6E3FC58-DD26-64CB-EB98-736D03805729}"/>
              </a:ext>
            </a:extLst>
          </p:cNvPr>
          <p:cNvCxnSpPr>
            <a:cxnSpLocks/>
          </p:cNvCxnSpPr>
          <p:nvPr/>
        </p:nvCxnSpPr>
        <p:spPr>
          <a:xfrm>
            <a:off x="10243539"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4B55474-F5E6-5135-E920-E1B003DCE1B6}"/>
              </a:ext>
            </a:extLst>
          </p:cNvPr>
          <p:cNvCxnSpPr>
            <a:cxnSpLocks/>
          </p:cNvCxnSpPr>
          <p:nvPr/>
        </p:nvCxnSpPr>
        <p:spPr>
          <a:xfrm>
            <a:off x="9712522"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8AC6DE74-203E-8367-8CE9-F171C439D964}"/>
              </a:ext>
            </a:extLst>
          </p:cNvPr>
          <p:cNvSpPr/>
          <p:nvPr/>
        </p:nvSpPr>
        <p:spPr>
          <a:xfrm>
            <a:off x="14664665" y="6051438"/>
            <a:ext cx="497261" cy="46079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14E677DF-56D9-FC29-75B6-09C927C1363F}"/>
              </a:ext>
            </a:extLst>
          </p:cNvPr>
          <p:cNvCxnSpPr>
            <a:cxnSpLocks/>
          </p:cNvCxnSpPr>
          <p:nvPr/>
        </p:nvCxnSpPr>
        <p:spPr>
          <a:xfrm>
            <a:off x="13425284"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26B4346-9570-782C-9C8E-8C23DA6979F7}"/>
              </a:ext>
            </a:extLst>
          </p:cNvPr>
          <p:cNvCxnSpPr>
            <a:cxnSpLocks/>
          </p:cNvCxnSpPr>
          <p:nvPr/>
        </p:nvCxnSpPr>
        <p:spPr>
          <a:xfrm>
            <a:off x="12894268"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BE039DC-5A38-15F1-F5F6-8400960EB8DD}"/>
              </a:ext>
            </a:extLst>
          </p:cNvPr>
          <p:cNvCxnSpPr>
            <a:cxnSpLocks/>
          </p:cNvCxnSpPr>
          <p:nvPr/>
        </p:nvCxnSpPr>
        <p:spPr>
          <a:xfrm>
            <a:off x="12363251"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F6CD27B-ED2D-A20C-AB04-16E5E75323AC}"/>
              </a:ext>
            </a:extLst>
          </p:cNvPr>
          <p:cNvCxnSpPr>
            <a:cxnSpLocks/>
          </p:cNvCxnSpPr>
          <p:nvPr/>
        </p:nvCxnSpPr>
        <p:spPr>
          <a:xfrm>
            <a:off x="11832234"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80FF2FC-EA72-5C03-8ECA-199431A2A7BA}"/>
              </a:ext>
            </a:extLst>
          </p:cNvPr>
          <p:cNvCxnSpPr>
            <a:cxnSpLocks/>
          </p:cNvCxnSpPr>
          <p:nvPr/>
        </p:nvCxnSpPr>
        <p:spPr>
          <a:xfrm>
            <a:off x="11301217"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0AB9C7A-CC7A-831B-CD63-D9CABB50251F}"/>
              </a:ext>
            </a:extLst>
          </p:cNvPr>
          <p:cNvCxnSpPr>
            <a:cxnSpLocks/>
          </p:cNvCxnSpPr>
          <p:nvPr/>
        </p:nvCxnSpPr>
        <p:spPr>
          <a:xfrm>
            <a:off x="10770200"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31EAF27-C799-BFBA-5D58-4F88296E6C50}"/>
              </a:ext>
            </a:extLst>
          </p:cNvPr>
          <p:cNvCxnSpPr>
            <a:cxnSpLocks/>
          </p:cNvCxnSpPr>
          <p:nvPr/>
        </p:nvCxnSpPr>
        <p:spPr>
          <a:xfrm>
            <a:off x="10239183"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EFF30C4-E3F4-6386-A1A7-91085DA43371}"/>
              </a:ext>
            </a:extLst>
          </p:cNvPr>
          <p:cNvCxnSpPr>
            <a:cxnSpLocks/>
          </p:cNvCxnSpPr>
          <p:nvPr/>
        </p:nvCxnSpPr>
        <p:spPr>
          <a:xfrm>
            <a:off x="9708166"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BF5565B8-391B-F060-F369-FF44DF3895B1}"/>
              </a:ext>
            </a:extLst>
          </p:cNvPr>
          <p:cNvSpPr/>
          <p:nvPr/>
        </p:nvSpPr>
        <p:spPr>
          <a:xfrm>
            <a:off x="14686435" y="7431746"/>
            <a:ext cx="497261" cy="46079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D870F5AD-BF95-EBC9-70A5-0BBF015ECB13}"/>
              </a:ext>
            </a:extLst>
          </p:cNvPr>
          <p:cNvCxnSpPr/>
          <p:nvPr/>
        </p:nvCxnSpPr>
        <p:spPr>
          <a:xfrm>
            <a:off x="8895806" y="5361159"/>
            <a:ext cx="58782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217E924-7477-DA89-59EB-CF692E6BD786}"/>
              </a:ext>
            </a:extLst>
          </p:cNvPr>
          <p:cNvSpPr txBox="1"/>
          <p:nvPr/>
        </p:nvSpPr>
        <p:spPr>
          <a:xfrm>
            <a:off x="4924698" y="5139089"/>
            <a:ext cx="3966760" cy="430887"/>
          </a:xfrm>
          <a:prstGeom prst="rect">
            <a:avLst/>
          </a:prstGeom>
          <a:noFill/>
        </p:spPr>
        <p:txBody>
          <a:bodyPr wrap="square" rtlCol="0">
            <a:spAutoFit/>
          </a:bodyPr>
          <a:lstStyle/>
          <a:p>
            <a:pPr algn="r"/>
            <a:r>
              <a:rPr lang="en-US" sz="2200" dirty="0">
                <a:solidFill>
                  <a:srgbClr val="00B050"/>
                </a:solidFill>
                <a:latin typeface="Times New Roman" panose="02020603050405020304" pitchFamily="18" charset="0"/>
                <a:cs typeface="Times New Roman" panose="02020603050405020304" pitchFamily="18" charset="0"/>
              </a:rPr>
              <a:t>A zero (0) is inserted at the MSB</a:t>
            </a:r>
          </a:p>
        </p:txBody>
      </p:sp>
    </p:spTree>
    <p:extLst>
      <p:ext uri="{BB962C8B-B14F-4D97-AF65-F5344CB8AC3E}">
        <p14:creationId xmlns:p14="http://schemas.microsoft.com/office/powerpoint/2010/main" val="27339221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circle(in)">
                                      <p:cBhvr>
                                        <p:cTn id="11" dur="2000"/>
                                        <p:tgtEl>
                                          <p:spTgt spid="11"/>
                                        </p:tgtEl>
                                      </p:cBhvr>
                                    </p:animEffect>
                                  </p:childTnLst>
                                </p:cTn>
                              </p:par>
                              <p:par>
                                <p:cTn id="12" presetID="6" presetClass="entr" presetSubtype="16"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ircle(in)">
                                      <p:cBhvr>
                                        <p:cTn id="14" dur="2000"/>
                                        <p:tgtEl>
                                          <p:spTgt spid="12"/>
                                        </p:tgtEl>
                                      </p:cBhvr>
                                    </p:animEffect>
                                  </p:childTnLst>
                                </p:cTn>
                              </p:par>
                              <p:par>
                                <p:cTn id="15" presetID="6" presetClass="entr" presetSubtype="16"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ircle(in)">
                                      <p:cBhvr>
                                        <p:cTn id="17" dur="2000"/>
                                        <p:tgtEl>
                                          <p:spTgt spid="13"/>
                                        </p:tgtEl>
                                      </p:cBhvr>
                                    </p:animEffect>
                                  </p:childTnLst>
                                </p:cTn>
                              </p:par>
                              <p:par>
                                <p:cTn id="18" presetID="6" presetClass="entr" presetSubtype="16"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circle(in)">
                                      <p:cBhvr>
                                        <p:cTn id="20" dur="2000"/>
                                        <p:tgtEl>
                                          <p:spTgt spid="14"/>
                                        </p:tgtEl>
                                      </p:cBhvr>
                                    </p:animEffect>
                                  </p:childTnLst>
                                </p:cTn>
                              </p:par>
                              <p:par>
                                <p:cTn id="21" presetID="6" presetClass="entr" presetSubtype="16"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2000"/>
                                        <p:tgtEl>
                                          <p:spTgt spid="15"/>
                                        </p:tgtEl>
                                      </p:cBhvr>
                                    </p:animEffect>
                                  </p:childTnLst>
                                </p:cTn>
                              </p:par>
                              <p:par>
                                <p:cTn id="24" presetID="6" presetClass="entr" presetSubtype="16"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circle(in)">
                                      <p:cBhvr>
                                        <p:cTn id="26" dur="2000"/>
                                        <p:tgtEl>
                                          <p:spTgt spid="16"/>
                                        </p:tgtEl>
                                      </p:cBhvr>
                                    </p:animEffect>
                                  </p:childTnLst>
                                </p:cTn>
                              </p:par>
                              <p:par>
                                <p:cTn id="27" presetID="6" presetClass="entr" presetSubtype="16"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circle(in)">
                                      <p:cBhvr>
                                        <p:cTn id="29" dur="2000"/>
                                        <p:tgtEl>
                                          <p:spTgt spid="17"/>
                                        </p:tgtEl>
                                      </p:cBhvr>
                                    </p:animEffect>
                                  </p:childTnLst>
                                </p:cTn>
                              </p:par>
                              <p:par>
                                <p:cTn id="30" presetID="6" presetClass="entr" presetSubtype="16"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circle(in)">
                                      <p:cBhvr>
                                        <p:cTn id="32" dur="2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left)">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wipe(down)">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heel(1)">
                                      <p:cBhvr>
                                        <p:cTn id="47" dur="20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circle(in)">
                                      <p:cBhvr>
                                        <p:cTn id="52" dur="2000"/>
                                        <p:tgtEl>
                                          <p:spTgt spid="10"/>
                                        </p:tgtEl>
                                      </p:cBhvr>
                                    </p:animEffect>
                                  </p:childTnLst>
                                </p:cTn>
                              </p:par>
                              <p:par>
                                <p:cTn id="53" presetID="6" presetClass="entr" presetSubtype="16"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circle(in)">
                                      <p:cBhvr>
                                        <p:cTn id="55" dur="2000"/>
                                        <p:tgtEl>
                                          <p:spTgt spid="20"/>
                                        </p:tgtEl>
                                      </p:cBhvr>
                                    </p:animEffect>
                                  </p:childTnLst>
                                </p:cTn>
                              </p:par>
                              <p:par>
                                <p:cTn id="56" presetID="6" presetClass="entr" presetSubtype="16"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circle(in)">
                                      <p:cBhvr>
                                        <p:cTn id="58" dur="2000"/>
                                        <p:tgtEl>
                                          <p:spTgt spid="21"/>
                                        </p:tgtEl>
                                      </p:cBhvr>
                                    </p:animEffect>
                                  </p:childTnLst>
                                </p:cTn>
                              </p:par>
                              <p:par>
                                <p:cTn id="59" presetID="6" presetClass="entr" presetSubtype="16"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circle(in)">
                                      <p:cBhvr>
                                        <p:cTn id="61" dur="2000"/>
                                        <p:tgtEl>
                                          <p:spTgt spid="22"/>
                                        </p:tgtEl>
                                      </p:cBhvr>
                                    </p:animEffect>
                                  </p:childTnLst>
                                </p:cTn>
                              </p:par>
                              <p:par>
                                <p:cTn id="62" presetID="6" presetClass="entr" presetSubtype="16"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circle(in)">
                                      <p:cBhvr>
                                        <p:cTn id="64" dur="2000"/>
                                        <p:tgtEl>
                                          <p:spTgt spid="23"/>
                                        </p:tgtEl>
                                      </p:cBhvr>
                                    </p:animEffect>
                                  </p:childTnLst>
                                </p:cTn>
                              </p:par>
                              <p:par>
                                <p:cTn id="65" presetID="6" presetClass="entr" presetSubtype="16"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circle(in)">
                                      <p:cBhvr>
                                        <p:cTn id="67" dur="2000"/>
                                        <p:tgtEl>
                                          <p:spTgt spid="24"/>
                                        </p:tgtEl>
                                      </p:cBhvr>
                                    </p:animEffect>
                                  </p:childTnLst>
                                </p:cTn>
                              </p:par>
                              <p:par>
                                <p:cTn id="68" presetID="6" presetClass="entr" presetSubtype="16"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circle(in)">
                                      <p:cBhvr>
                                        <p:cTn id="70" dur="2000"/>
                                        <p:tgtEl>
                                          <p:spTgt spid="25"/>
                                        </p:tgtEl>
                                      </p:cBhvr>
                                    </p:animEffect>
                                  </p:childTnLst>
                                </p:cTn>
                              </p:par>
                              <p:par>
                                <p:cTn id="71" presetID="6" presetClass="entr" presetSubtype="16"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circle(in)">
                                      <p:cBhvr>
                                        <p:cTn id="73" dur="2000"/>
                                        <p:tgtEl>
                                          <p:spTgt spid="26"/>
                                        </p:tgtEl>
                                      </p:cBhvr>
                                    </p:animEffect>
                                  </p:childTnLst>
                                </p:cTn>
                              </p:par>
                            </p:childTnLst>
                          </p:cTn>
                        </p:par>
                      </p:childTnLst>
                    </p:cTn>
                  </p:par>
                  <p:par>
                    <p:cTn id="74" fill="hold">
                      <p:stCondLst>
                        <p:cond delay="indefinite"/>
                      </p:stCondLst>
                      <p:childTnLst>
                        <p:par>
                          <p:cTn id="75" fill="hold">
                            <p:stCondLst>
                              <p:cond delay="0"/>
                            </p:stCondLst>
                            <p:childTnLst>
                              <p:par>
                                <p:cTn id="76" presetID="21" presetClass="entr" presetSubtype="1" fill="hold" grpId="0" nodeType="click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heel(1)">
                                      <p:cBhvr>
                                        <p:cTn id="78" dur="2000"/>
                                        <p:tgtEl>
                                          <p:spTgt spid="27"/>
                                        </p:tgtEl>
                                      </p:cBhvr>
                                    </p:animEffect>
                                  </p:childTnLst>
                                </p:cTn>
                              </p:par>
                            </p:childTnLst>
                          </p:cTn>
                        </p:par>
                      </p:childTnLst>
                    </p:cTn>
                  </p:par>
                  <p:par>
                    <p:cTn id="79" fill="hold">
                      <p:stCondLst>
                        <p:cond delay="indefinite"/>
                      </p:stCondLst>
                      <p:childTnLst>
                        <p:par>
                          <p:cTn id="80" fill="hold">
                            <p:stCondLst>
                              <p:cond delay="0"/>
                            </p:stCondLst>
                            <p:childTnLst>
                              <p:par>
                                <p:cTn id="81" presetID="6" presetClass="entr" presetSubtype="16" fill="hold" nodeType="click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circle(in)">
                                      <p:cBhvr>
                                        <p:cTn id="83" dur="2000"/>
                                        <p:tgtEl>
                                          <p:spTgt spid="28"/>
                                        </p:tgtEl>
                                      </p:cBhvr>
                                    </p:animEffect>
                                  </p:childTnLst>
                                </p:cTn>
                              </p:par>
                              <p:par>
                                <p:cTn id="84" presetID="6" presetClass="entr" presetSubtype="16"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circle(in)">
                                      <p:cBhvr>
                                        <p:cTn id="86" dur="2000"/>
                                        <p:tgtEl>
                                          <p:spTgt spid="29"/>
                                        </p:tgtEl>
                                      </p:cBhvr>
                                    </p:animEffect>
                                  </p:childTnLst>
                                </p:cTn>
                              </p:par>
                              <p:par>
                                <p:cTn id="87" presetID="6" presetClass="entr" presetSubtype="16"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circle(in)">
                                      <p:cBhvr>
                                        <p:cTn id="89" dur="2000"/>
                                        <p:tgtEl>
                                          <p:spTgt spid="30"/>
                                        </p:tgtEl>
                                      </p:cBhvr>
                                    </p:animEffect>
                                  </p:childTnLst>
                                </p:cTn>
                              </p:par>
                              <p:par>
                                <p:cTn id="90" presetID="6" presetClass="entr" presetSubtype="16"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circle(in)">
                                      <p:cBhvr>
                                        <p:cTn id="92" dur="2000"/>
                                        <p:tgtEl>
                                          <p:spTgt spid="31"/>
                                        </p:tgtEl>
                                      </p:cBhvr>
                                    </p:animEffect>
                                  </p:childTnLst>
                                </p:cTn>
                              </p:par>
                              <p:par>
                                <p:cTn id="93" presetID="6" presetClass="entr" presetSubtype="16" fill="hold"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circle(in)">
                                      <p:cBhvr>
                                        <p:cTn id="95" dur="2000"/>
                                        <p:tgtEl>
                                          <p:spTgt spid="32"/>
                                        </p:tgtEl>
                                      </p:cBhvr>
                                    </p:animEffect>
                                  </p:childTnLst>
                                </p:cTn>
                              </p:par>
                              <p:par>
                                <p:cTn id="96" presetID="6" presetClass="entr" presetSubtype="16" fill="hold"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circle(in)">
                                      <p:cBhvr>
                                        <p:cTn id="98" dur="2000"/>
                                        <p:tgtEl>
                                          <p:spTgt spid="33"/>
                                        </p:tgtEl>
                                      </p:cBhvr>
                                    </p:animEffect>
                                  </p:childTnLst>
                                </p:cTn>
                              </p:par>
                              <p:par>
                                <p:cTn id="99" presetID="6" presetClass="entr" presetSubtype="16" fill="hold"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circle(in)">
                                      <p:cBhvr>
                                        <p:cTn id="101" dur="2000"/>
                                        <p:tgtEl>
                                          <p:spTgt spid="34"/>
                                        </p:tgtEl>
                                      </p:cBhvr>
                                    </p:animEffect>
                                  </p:childTnLst>
                                </p:cTn>
                              </p:par>
                              <p:par>
                                <p:cTn id="102" presetID="6" presetClass="entr" presetSubtype="16" fill="hold"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circle(in)">
                                      <p:cBhvr>
                                        <p:cTn id="104" dur="2000"/>
                                        <p:tgtEl>
                                          <p:spTgt spid="35"/>
                                        </p:tgtEl>
                                      </p:cBhvr>
                                    </p:animEffect>
                                  </p:childTnLst>
                                </p:cTn>
                              </p:par>
                            </p:childTnLst>
                          </p:cTn>
                        </p:par>
                      </p:childTnLst>
                    </p:cTn>
                  </p:par>
                  <p:par>
                    <p:cTn id="105" fill="hold">
                      <p:stCondLst>
                        <p:cond delay="indefinite"/>
                      </p:stCondLst>
                      <p:childTnLst>
                        <p:par>
                          <p:cTn id="106" fill="hold">
                            <p:stCondLst>
                              <p:cond delay="0"/>
                            </p:stCondLst>
                            <p:childTnLst>
                              <p:par>
                                <p:cTn id="107" presetID="21" presetClass="entr" presetSubtype="1" fill="hold" grpId="0" nodeType="click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wheel(1)">
                                      <p:cBhvr>
                                        <p:cTn id="109"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7" grpId="0" animBg="1"/>
      <p:bldP spid="36" grpId="0" animBg="1"/>
      <p:bldP spid="3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32F6-7347-4218-9E01-A34D356F5027}"/>
              </a:ext>
            </a:extLst>
          </p:cNvPr>
          <p:cNvSpPr>
            <a:spLocks noGrp="1"/>
          </p:cNvSpPr>
          <p:nvPr>
            <p:ph type="title"/>
          </p:nvPr>
        </p:nvSpPr>
        <p:spPr>
          <a:xfrm>
            <a:off x="1479665" y="271896"/>
            <a:ext cx="13787474" cy="875258"/>
          </a:xfrm>
        </p:spPr>
        <p:txBody>
          <a:bodyPr>
            <a:normAutofit fontScale="90000"/>
          </a:bodyPr>
          <a:lstStyle/>
          <a:p>
            <a:r>
              <a:rPr lang="en-US" b="1" dirty="0">
                <a:solidFill>
                  <a:srgbClr val="0070C0"/>
                </a:solidFill>
              </a:rPr>
              <a:t>Binary microprogram to count the number of 1’s in R1</a:t>
            </a:r>
          </a:p>
        </p:txBody>
      </p:sp>
      <p:sp>
        <p:nvSpPr>
          <p:cNvPr id="7" name="Content Placeholder 6"/>
          <p:cNvSpPr>
            <a:spLocks noGrp="1"/>
          </p:cNvSpPr>
          <p:nvPr>
            <p:ph idx="1"/>
          </p:nvPr>
        </p:nvSpPr>
        <p:spPr>
          <a:xfrm>
            <a:off x="182881" y="1080653"/>
            <a:ext cx="16060188" cy="6417427"/>
          </a:xfrm>
        </p:spPr>
        <p:txBody>
          <a:bodyPr>
            <a:noAutofit/>
          </a:bodyPr>
          <a:lstStyle/>
          <a:p>
            <a:r>
              <a:rPr lang="en-US" sz="4000" dirty="0"/>
              <a:t>Flowchart shows the sequence of micro-operations and decision paths.</a:t>
            </a:r>
          </a:p>
          <a:p>
            <a:r>
              <a:rPr lang="en-US" sz="4000" dirty="0"/>
              <a:t>We assume that the micro-program routine starts at address 8. </a:t>
            </a:r>
          </a:p>
          <a:p>
            <a:r>
              <a:rPr lang="en-US" sz="4000" dirty="0"/>
              <a:t>Register R2 and the carry bit (C) are first set to 0. </a:t>
            </a:r>
          </a:p>
          <a:p>
            <a:r>
              <a:rPr lang="en-US" sz="4000" dirty="0"/>
              <a:t>The </a:t>
            </a:r>
            <a:r>
              <a:rPr lang="en-US" sz="4000" dirty="0">
                <a:solidFill>
                  <a:srgbClr val="FF0000"/>
                </a:solidFill>
              </a:rPr>
              <a:t>contents of R1 </a:t>
            </a:r>
            <a:r>
              <a:rPr lang="en-US" sz="4000" dirty="0"/>
              <a:t>is then examined. </a:t>
            </a:r>
          </a:p>
          <a:p>
            <a:pPr lvl="1"/>
            <a:r>
              <a:rPr lang="en-US" sz="3600" dirty="0"/>
              <a:t>If it</a:t>
            </a:r>
            <a:r>
              <a:rPr lang="en-US" sz="3600" dirty="0">
                <a:solidFill>
                  <a:srgbClr val="FF0000"/>
                </a:solidFill>
              </a:rPr>
              <a:t> is 0</a:t>
            </a:r>
            <a:r>
              <a:rPr lang="en-US" sz="3600" dirty="0"/>
              <a:t>, it signifies that there is </a:t>
            </a:r>
            <a:r>
              <a:rPr lang="en-US" sz="3600" dirty="0">
                <a:solidFill>
                  <a:srgbClr val="FF0000"/>
                </a:solidFill>
              </a:rPr>
              <a:t>no 1's </a:t>
            </a:r>
            <a:r>
              <a:rPr lang="en-US" sz="3600" dirty="0"/>
              <a:t>stored in it, so the micro-program routine terminates with R2 = 0.</a:t>
            </a:r>
          </a:p>
          <a:p>
            <a:pPr lvl="1"/>
            <a:r>
              <a:rPr lang="en-US" sz="3600" dirty="0"/>
              <a:t>If the </a:t>
            </a:r>
            <a:r>
              <a:rPr lang="en-US" sz="3600" dirty="0">
                <a:solidFill>
                  <a:srgbClr val="FF0000"/>
                </a:solidFill>
              </a:rPr>
              <a:t>contents of R1 is not 0</a:t>
            </a:r>
            <a:r>
              <a:rPr lang="en-US" sz="3600" dirty="0"/>
              <a:t>, it indicates that there are </a:t>
            </a:r>
            <a:r>
              <a:rPr lang="en-US" sz="3600" dirty="0">
                <a:solidFill>
                  <a:srgbClr val="FF0000"/>
                </a:solidFill>
              </a:rPr>
              <a:t>some 1's </a:t>
            </a:r>
            <a:r>
              <a:rPr lang="en-US" sz="3600" dirty="0"/>
              <a:t>stored in it.</a:t>
            </a:r>
          </a:p>
          <a:p>
            <a:r>
              <a:rPr lang="en-US" sz="4000" dirty="0"/>
              <a:t>Register, R1 together with the carry is shifted (to either left or right side) in a circular manner as many times as necessary until a 1 is transferred into C.</a:t>
            </a:r>
          </a:p>
        </p:txBody>
      </p:sp>
      <p:sp>
        <p:nvSpPr>
          <p:cNvPr id="3" name="Date Placeholder 2"/>
          <p:cNvSpPr>
            <a:spLocks noGrp="1"/>
          </p:cNvSpPr>
          <p:nvPr>
            <p:ph type="dt" sz="half" idx="10"/>
          </p:nvPr>
        </p:nvSpPr>
        <p:spPr/>
        <p:txBody>
          <a:bodyPr/>
          <a:lstStyle/>
          <a:p>
            <a:fld id="{EAAF3DE9-1DC7-408C-B751-46439C6E8C33}" type="datetime3">
              <a:rPr lang="en-US" smtClean="0"/>
              <a:t>6 January 2026</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pPr/>
              <a:t>29</a:t>
            </a:fld>
            <a:endParaRPr lang="en-US" dirty="0"/>
          </a:p>
        </p:txBody>
      </p:sp>
    </p:spTree>
    <p:extLst>
      <p:ext uri="{BB962C8B-B14F-4D97-AF65-F5344CB8AC3E}">
        <p14:creationId xmlns:p14="http://schemas.microsoft.com/office/powerpoint/2010/main" val="3445789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32F6-7347-4218-9E01-A34D356F5027}"/>
              </a:ext>
            </a:extLst>
          </p:cNvPr>
          <p:cNvSpPr>
            <a:spLocks noGrp="1"/>
          </p:cNvSpPr>
          <p:nvPr>
            <p:ph type="title"/>
          </p:nvPr>
        </p:nvSpPr>
        <p:spPr>
          <a:xfrm>
            <a:off x="1252710" y="404895"/>
            <a:ext cx="14086783" cy="875258"/>
          </a:xfrm>
        </p:spPr>
        <p:txBody>
          <a:bodyPr>
            <a:normAutofit fontScale="90000"/>
          </a:bodyPr>
          <a:lstStyle/>
          <a:p>
            <a:r>
              <a:rPr lang="en-US" b="1" dirty="0">
                <a:solidFill>
                  <a:srgbClr val="0070C0"/>
                </a:solidFill>
              </a:rPr>
              <a:t>Binary microprogram to count the number of 1’s in R1</a:t>
            </a:r>
          </a:p>
        </p:txBody>
      </p:sp>
      <p:sp>
        <p:nvSpPr>
          <p:cNvPr id="7" name="Content Placeholder 6"/>
          <p:cNvSpPr>
            <a:spLocks noGrp="1"/>
          </p:cNvSpPr>
          <p:nvPr>
            <p:ph idx="1"/>
          </p:nvPr>
        </p:nvSpPr>
        <p:spPr>
          <a:xfrm>
            <a:off x="282633" y="1280153"/>
            <a:ext cx="16026938" cy="6234546"/>
          </a:xfrm>
        </p:spPr>
        <p:txBody>
          <a:bodyPr>
            <a:noAutofit/>
          </a:bodyPr>
          <a:lstStyle/>
          <a:p>
            <a:r>
              <a:rPr lang="en-US" sz="4000" dirty="0"/>
              <a:t>For every 1 detected in C, we increment register R2 and then go back to check if R1 = 0.</a:t>
            </a:r>
          </a:p>
          <a:p>
            <a:r>
              <a:rPr lang="en-US" sz="4000" dirty="0"/>
              <a:t>This loop is repeated until all the 1's in R1 are counted. The value of C is always 0 when it is circulated with the contents of R1.</a:t>
            </a:r>
          </a:p>
          <a:p>
            <a:r>
              <a:rPr lang="en-US" sz="4000" dirty="0"/>
              <a:t>The micro-program routine in </a:t>
            </a:r>
            <a:r>
              <a:rPr lang="en-US" sz="4000" dirty="0">
                <a:solidFill>
                  <a:srgbClr val="FF0000"/>
                </a:solidFill>
              </a:rPr>
              <a:t>symbolic form </a:t>
            </a:r>
            <a:r>
              <a:rPr lang="en-US" sz="4000" dirty="0"/>
              <a:t>is given in </a:t>
            </a:r>
            <a:r>
              <a:rPr lang="en-US" sz="4000" dirty="0">
                <a:solidFill>
                  <a:srgbClr val="FF0000"/>
                </a:solidFill>
              </a:rPr>
              <a:t>Table 10-4</a:t>
            </a:r>
            <a:r>
              <a:rPr lang="en-US" sz="4000" dirty="0"/>
              <a:t>.</a:t>
            </a:r>
          </a:p>
          <a:p>
            <a:r>
              <a:rPr lang="en-US" sz="4000" dirty="0"/>
              <a:t>The </a:t>
            </a:r>
            <a:r>
              <a:rPr lang="en-US" sz="4000" dirty="0">
                <a:solidFill>
                  <a:srgbClr val="FF0000"/>
                </a:solidFill>
              </a:rPr>
              <a:t>routine starts at address 8 </a:t>
            </a:r>
            <a:r>
              <a:rPr lang="en-US" sz="4000" dirty="0"/>
              <a:t>by clearing register, R2.</a:t>
            </a:r>
          </a:p>
          <a:p>
            <a:r>
              <a:rPr lang="en-US" sz="4000" dirty="0"/>
              <a:t>The micro-instruction in address 9 clears the C bit and </a:t>
            </a:r>
            <a:r>
              <a:rPr lang="en-US" sz="4000" dirty="0">
                <a:solidFill>
                  <a:srgbClr val="FF0000"/>
                </a:solidFill>
              </a:rPr>
              <a:t>sets the Z bit if R1 contains all 0's. This is done by transferring the contents of R1 into itself through the ALU</a:t>
            </a:r>
            <a:r>
              <a:rPr lang="en-US" sz="4000" dirty="0"/>
              <a:t>.</a:t>
            </a:r>
          </a:p>
        </p:txBody>
      </p:sp>
      <p:sp>
        <p:nvSpPr>
          <p:cNvPr id="3" name="Date Placeholder 2"/>
          <p:cNvSpPr>
            <a:spLocks noGrp="1"/>
          </p:cNvSpPr>
          <p:nvPr>
            <p:ph type="dt" sz="half" idx="10"/>
          </p:nvPr>
        </p:nvSpPr>
        <p:spPr/>
        <p:txBody>
          <a:bodyPr/>
          <a:lstStyle/>
          <a:p>
            <a:fld id="{166294CE-E54C-424F-8230-EA23E60D4B3C}" type="datetime3">
              <a:rPr lang="en-US" smtClean="0"/>
              <a:t>6 January 2026</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pPr/>
              <a:t>30</a:t>
            </a:fld>
            <a:endParaRPr lang="en-US" dirty="0"/>
          </a:p>
        </p:txBody>
      </p:sp>
    </p:spTree>
    <p:extLst>
      <p:ext uri="{BB962C8B-B14F-4D97-AF65-F5344CB8AC3E}">
        <p14:creationId xmlns:p14="http://schemas.microsoft.com/office/powerpoint/2010/main" val="803594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32F6-7347-4218-9E01-A34D356F5027}"/>
              </a:ext>
            </a:extLst>
          </p:cNvPr>
          <p:cNvSpPr>
            <a:spLocks noGrp="1"/>
          </p:cNvSpPr>
          <p:nvPr>
            <p:ph type="title"/>
          </p:nvPr>
        </p:nvSpPr>
        <p:spPr>
          <a:xfrm>
            <a:off x="1064030" y="321771"/>
            <a:ext cx="13474931" cy="875258"/>
          </a:xfrm>
        </p:spPr>
        <p:txBody>
          <a:bodyPr>
            <a:normAutofit fontScale="90000"/>
          </a:bodyPr>
          <a:lstStyle/>
          <a:p>
            <a:r>
              <a:rPr lang="en-US" b="1" dirty="0">
                <a:solidFill>
                  <a:srgbClr val="0070C0"/>
                </a:solidFill>
              </a:rPr>
              <a:t>Binary microprogram to count the number of 1’s in R1</a:t>
            </a:r>
          </a:p>
        </p:txBody>
      </p:sp>
      <p:pic>
        <p:nvPicPr>
          <p:cNvPr id="3" name="Picture 2">
            <a:extLst>
              <a:ext uri="{FF2B5EF4-FFF2-40B4-BE49-F238E27FC236}">
                <a16:creationId xmlns:a16="http://schemas.microsoft.com/office/drawing/2014/main" id="{35622BDB-4E42-45B4-A987-BF8937BAF040}"/>
              </a:ext>
            </a:extLst>
          </p:cNvPr>
          <p:cNvPicPr>
            <a:picLocks noChangeAspect="1"/>
          </p:cNvPicPr>
          <p:nvPr/>
        </p:nvPicPr>
        <p:blipFill rotWithShape="1">
          <a:blip r:embed="rId2">
            <a:duotone>
              <a:schemeClr val="accent1">
                <a:shade val="45000"/>
                <a:satMod val="135000"/>
              </a:schemeClr>
              <a:prstClr val="white"/>
            </a:duotone>
            <a:lum bright="-20000" contrast="40000"/>
          </a:blip>
          <a:srcRect l="2669" r="922"/>
          <a:stretch/>
        </p:blipFill>
        <p:spPr>
          <a:xfrm>
            <a:off x="1064029" y="1882507"/>
            <a:ext cx="14929657" cy="5725957"/>
          </a:xfrm>
          <a:prstGeom prst="rect">
            <a:avLst/>
          </a:prstGeom>
        </p:spPr>
      </p:pic>
      <p:sp>
        <p:nvSpPr>
          <p:cNvPr id="5" name="TextBox 4"/>
          <p:cNvSpPr txBox="1"/>
          <p:nvPr/>
        </p:nvSpPr>
        <p:spPr>
          <a:xfrm>
            <a:off x="1064030" y="1135947"/>
            <a:ext cx="11291087" cy="707886"/>
          </a:xfrm>
          <a:prstGeom prst="rect">
            <a:avLst/>
          </a:prstGeom>
          <a:noFill/>
        </p:spPr>
        <p:txBody>
          <a:bodyPr wrap="square" rtlCol="0">
            <a:spAutoFit/>
          </a:bodyPr>
          <a:lstStyle/>
          <a:p>
            <a:r>
              <a:rPr lang="en-US" sz="4000" dirty="0">
                <a:solidFill>
                  <a:srgbClr val="FF0000"/>
                </a:solidFill>
              </a:rPr>
              <a:t>Table 10-4 </a:t>
            </a:r>
            <a:r>
              <a:rPr lang="en-US" sz="4000" dirty="0"/>
              <a:t>Symbolic micro-program</a:t>
            </a:r>
            <a:endParaRPr lang="en-US" sz="4000" dirty="0">
              <a:solidFill>
                <a:srgbClr val="FF0000"/>
              </a:solidFill>
            </a:endParaRPr>
          </a:p>
        </p:txBody>
      </p:sp>
      <p:sp>
        <p:nvSpPr>
          <p:cNvPr id="4" name="Date Placeholder 3"/>
          <p:cNvSpPr>
            <a:spLocks noGrp="1"/>
          </p:cNvSpPr>
          <p:nvPr>
            <p:ph type="dt" sz="half" idx="10"/>
          </p:nvPr>
        </p:nvSpPr>
        <p:spPr/>
        <p:txBody>
          <a:bodyPr/>
          <a:lstStyle/>
          <a:p>
            <a:fld id="{94CBEF8B-A565-4284-A646-3898D8595E1A}" type="datetime3">
              <a:rPr lang="en-US" smtClean="0"/>
              <a:t>6 January 2026</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31</a:t>
            </a:fld>
            <a:endParaRPr lang="en-US" dirty="0"/>
          </a:p>
        </p:txBody>
      </p:sp>
    </p:spTree>
    <p:extLst>
      <p:ext uri="{BB962C8B-B14F-4D97-AF65-F5344CB8AC3E}">
        <p14:creationId xmlns:p14="http://schemas.microsoft.com/office/powerpoint/2010/main" val="1522085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32F6-7347-4218-9E01-A34D356F5027}"/>
              </a:ext>
            </a:extLst>
          </p:cNvPr>
          <p:cNvSpPr>
            <a:spLocks noGrp="1"/>
          </p:cNvSpPr>
          <p:nvPr>
            <p:ph type="title"/>
          </p:nvPr>
        </p:nvSpPr>
        <p:spPr>
          <a:xfrm>
            <a:off x="615143" y="442966"/>
            <a:ext cx="15511548" cy="875258"/>
          </a:xfrm>
        </p:spPr>
        <p:txBody>
          <a:bodyPr>
            <a:noAutofit/>
          </a:bodyPr>
          <a:lstStyle/>
          <a:p>
            <a:r>
              <a:rPr lang="en-US" sz="5400" b="1" dirty="0">
                <a:solidFill>
                  <a:srgbClr val="0070C0"/>
                </a:solidFill>
              </a:rPr>
              <a:t>Binary microprogram to count the number of 1’s in R1</a:t>
            </a:r>
          </a:p>
        </p:txBody>
      </p:sp>
      <p:sp>
        <p:nvSpPr>
          <p:cNvPr id="7" name="Content Placeholder 6"/>
          <p:cNvSpPr>
            <a:spLocks noGrp="1"/>
          </p:cNvSpPr>
          <p:nvPr>
            <p:ph idx="1"/>
          </p:nvPr>
        </p:nvSpPr>
        <p:spPr>
          <a:xfrm>
            <a:off x="216081" y="1318224"/>
            <a:ext cx="16093490" cy="6234546"/>
          </a:xfrm>
        </p:spPr>
        <p:txBody>
          <a:bodyPr>
            <a:noAutofit/>
          </a:bodyPr>
          <a:lstStyle/>
          <a:p>
            <a:r>
              <a:rPr lang="en-US" sz="4000" dirty="0"/>
              <a:t>The micro-instruction in address 10 checks the value of the </a:t>
            </a:r>
            <a:r>
              <a:rPr lang="en-US" sz="4000" dirty="0">
                <a:solidFill>
                  <a:srgbClr val="FF0000"/>
                </a:solidFill>
              </a:rPr>
              <a:t>Z bit</a:t>
            </a:r>
            <a:r>
              <a:rPr lang="en-US" sz="4000" dirty="0"/>
              <a:t>. If it </a:t>
            </a:r>
            <a:r>
              <a:rPr lang="en-US" sz="4000" dirty="0">
                <a:solidFill>
                  <a:srgbClr val="FF0000"/>
                </a:solidFill>
              </a:rPr>
              <a:t>is 1</a:t>
            </a:r>
            <a:r>
              <a:rPr lang="en-US" sz="4000" dirty="0"/>
              <a:t>, it indicates that R1 contains all 0's, and the </a:t>
            </a:r>
            <a:r>
              <a:rPr lang="en-US" sz="4000" dirty="0">
                <a:solidFill>
                  <a:srgbClr val="FF0000"/>
                </a:solidFill>
              </a:rPr>
              <a:t>routine is terminated </a:t>
            </a:r>
            <a:r>
              <a:rPr lang="en-US" sz="4000" dirty="0"/>
              <a:t>by accepting a </a:t>
            </a:r>
            <a:r>
              <a:rPr lang="en-US" sz="4000" dirty="0">
                <a:solidFill>
                  <a:srgbClr val="FF0000"/>
                </a:solidFill>
              </a:rPr>
              <a:t>new external address to start executing another macro-operation</a:t>
            </a:r>
            <a:r>
              <a:rPr lang="en-US" sz="4000" dirty="0"/>
              <a:t>.</a:t>
            </a:r>
          </a:p>
          <a:p>
            <a:r>
              <a:rPr lang="en-US" sz="4000" dirty="0"/>
              <a:t>If Z is not equal to 1, control continues with address 11.</a:t>
            </a:r>
          </a:p>
          <a:p>
            <a:r>
              <a:rPr lang="en-US" sz="4000" dirty="0"/>
              <a:t>The </a:t>
            </a:r>
            <a:r>
              <a:rPr lang="en-US" sz="4000" dirty="0">
                <a:solidFill>
                  <a:srgbClr val="0070C0"/>
                </a:solidFill>
              </a:rPr>
              <a:t>C</a:t>
            </a:r>
            <a:r>
              <a:rPr lang="en-US" sz="4000" dirty="0">
                <a:solidFill>
                  <a:srgbClr val="FF0000"/>
                </a:solidFill>
              </a:rPr>
              <a:t>ircular </a:t>
            </a:r>
            <a:r>
              <a:rPr lang="en-US" sz="4000" dirty="0">
                <a:solidFill>
                  <a:srgbClr val="0070C0"/>
                </a:solidFill>
              </a:rPr>
              <a:t>R</a:t>
            </a:r>
            <a:r>
              <a:rPr lang="en-US" sz="4000" dirty="0">
                <a:solidFill>
                  <a:srgbClr val="FF0000"/>
                </a:solidFill>
              </a:rPr>
              <a:t>ight-shift with </a:t>
            </a:r>
            <a:r>
              <a:rPr lang="en-US" sz="4000" dirty="0">
                <a:solidFill>
                  <a:srgbClr val="0070C0"/>
                </a:solidFill>
              </a:rPr>
              <a:t>C</a:t>
            </a:r>
            <a:r>
              <a:rPr lang="en-US" sz="4000" dirty="0">
                <a:solidFill>
                  <a:srgbClr val="FF0000"/>
                </a:solidFill>
              </a:rPr>
              <a:t>arry (</a:t>
            </a:r>
            <a:r>
              <a:rPr lang="en-US" sz="4000" dirty="0" err="1">
                <a:solidFill>
                  <a:srgbClr val="0070C0"/>
                </a:solidFill>
              </a:rPr>
              <a:t>crc</a:t>
            </a:r>
            <a:r>
              <a:rPr lang="en-US" sz="4000" dirty="0">
                <a:solidFill>
                  <a:srgbClr val="FF0000"/>
                </a:solidFill>
              </a:rPr>
              <a:t>) </a:t>
            </a:r>
            <a:r>
              <a:rPr lang="en-US" sz="4000" dirty="0"/>
              <a:t>places the </a:t>
            </a:r>
            <a:r>
              <a:rPr lang="en-US" sz="4000" dirty="0">
                <a:solidFill>
                  <a:srgbClr val="FF0000"/>
                </a:solidFill>
              </a:rPr>
              <a:t>L</a:t>
            </a:r>
            <a:r>
              <a:rPr lang="en-US" sz="4000" dirty="0"/>
              <a:t>east </a:t>
            </a:r>
            <a:r>
              <a:rPr lang="en-US" sz="4000" dirty="0">
                <a:solidFill>
                  <a:srgbClr val="FF0000"/>
                </a:solidFill>
              </a:rPr>
              <a:t>S</a:t>
            </a:r>
            <a:r>
              <a:rPr lang="en-US" sz="4000" dirty="0"/>
              <a:t>ignificant </a:t>
            </a:r>
            <a:r>
              <a:rPr lang="en-US" sz="4000" dirty="0">
                <a:solidFill>
                  <a:srgbClr val="FF0000"/>
                </a:solidFill>
              </a:rPr>
              <a:t>B</a:t>
            </a:r>
            <a:r>
              <a:rPr lang="en-US" sz="4000" dirty="0"/>
              <a:t>it (</a:t>
            </a:r>
            <a:r>
              <a:rPr lang="en-US" sz="4000" dirty="0">
                <a:solidFill>
                  <a:srgbClr val="FF0000"/>
                </a:solidFill>
              </a:rPr>
              <a:t>LSB</a:t>
            </a:r>
            <a:r>
              <a:rPr lang="en-US" sz="4000" dirty="0"/>
              <a:t>) of R1 into C.</a:t>
            </a:r>
          </a:p>
          <a:p>
            <a:r>
              <a:rPr lang="en-US" sz="4000" dirty="0"/>
              <a:t>Next, we check the value of C. If it is 0, goes back to address 11 to circulate again until C becomes a 1. When C = 1, control goes to address 13 to increment R2 and then returns to address 9 to check the content of R1 for an all 0's state.</a:t>
            </a:r>
          </a:p>
        </p:txBody>
      </p:sp>
      <p:sp>
        <p:nvSpPr>
          <p:cNvPr id="3" name="Date Placeholder 2"/>
          <p:cNvSpPr>
            <a:spLocks noGrp="1"/>
          </p:cNvSpPr>
          <p:nvPr>
            <p:ph type="dt" sz="half" idx="10"/>
          </p:nvPr>
        </p:nvSpPr>
        <p:spPr/>
        <p:txBody>
          <a:bodyPr/>
          <a:lstStyle/>
          <a:p>
            <a:fld id="{DAE4F68D-6DFF-46D3-BB84-1B187446FFAF}" type="datetime3">
              <a:rPr lang="en-US" smtClean="0"/>
              <a:t>6 January 2026</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pPr/>
              <a:t>32</a:t>
            </a:fld>
            <a:endParaRPr lang="en-US" dirty="0"/>
          </a:p>
        </p:txBody>
      </p:sp>
    </p:spTree>
    <p:extLst>
      <p:ext uri="{BB962C8B-B14F-4D97-AF65-F5344CB8AC3E}">
        <p14:creationId xmlns:p14="http://schemas.microsoft.com/office/powerpoint/2010/main" val="2550823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32F6-7347-4218-9E01-A34D356F5027}"/>
              </a:ext>
            </a:extLst>
          </p:cNvPr>
          <p:cNvSpPr>
            <a:spLocks noGrp="1"/>
          </p:cNvSpPr>
          <p:nvPr>
            <p:ph type="title"/>
          </p:nvPr>
        </p:nvSpPr>
        <p:spPr>
          <a:xfrm>
            <a:off x="548589" y="587225"/>
            <a:ext cx="15494975" cy="875258"/>
          </a:xfrm>
        </p:spPr>
        <p:txBody>
          <a:bodyPr>
            <a:noAutofit/>
          </a:bodyPr>
          <a:lstStyle/>
          <a:p>
            <a:r>
              <a:rPr lang="en-US" sz="5400" b="1" dirty="0">
                <a:solidFill>
                  <a:srgbClr val="0070C0"/>
                </a:solidFill>
              </a:rPr>
              <a:t>Binary microprogram to count the number of 1’s in R1</a:t>
            </a:r>
          </a:p>
        </p:txBody>
      </p:sp>
      <p:sp>
        <p:nvSpPr>
          <p:cNvPr id="7" name="Content Placeholder 6"/>
          <p:cNvSpPr>
            <a:spLocks noGrp="1"/>
          </p:cNvSpPr>
          <p:nvPr>
            <p:ph idx="1"/>
          </p:nvPr>
        </p:nvSpPr>
        <p:spPr>
          <a:xfrm>
            <a:off x="199505" y="1462483"/>
            <a:ext cx="16076815" cy="6284971"/>
          </a:xfrm>
        </p:spPr>
        <p:txBody>
          <a:bodyPr>
            <a:noAutofit/>
          </a:bodyPr>
          <a:lstStyle/>
          <a:p>
            <a:r>
              <a:rPr lang="en-US" sz="4000" dirty="0"/>
              <a:t>The binary micro-program is given in </a:t>
            </a:r>
            <a:r>
              <a:rPr lang="en-US" sz="4000" dirty="0">
                <a:solidFill>
                  <a:srgbClr val="FF0000"/>
                </a:solidFill>
              </a:rPr>
              <a:t>Table 10-5</a:t>
            </a:r>
            <a:r>
              <a:rPr lang="en-US" sz="4000" dirty="0"/>
              <a:t>. </a:t>
            </a:r>
          </a:p>
          <a:p>
            <a:r>
              <a:rPr lang="en-US" sz="4000" dirty="0"/>
              <a:t>The 16 bits for the control word that selects the processor micro-operations are derived from </a:t>
            </a:r>
            <a:r>
              <a:rPr lang="en-US" sz="4000" dirty="0">
                <a:solidFill>
                  <a:srgbClr val="FF0000"/>
                </a:solidFill>
              </a:rPr>
              <a:t>Table 9-8</a:t>
            </a:r>
            <a:r>
              <a:rPr lang="en-US" sz="4000" dirty="0"/>
              <a:t>.</a:t>
            </a:r>
          </a:p>
          <a:p>
            <a:r>
              <a:rPr lang="en-US" sz="4000" dirty="0"/>
              <a:t>The multiplexer select bits select the inputs to the two multiplexers. </a:t>
            </a:r>
            <a:r>
              <a:rPr lang="en-US" sz="4000" dirty="0">
                <a:solidFill>
                  <a:srgbClr val="FF0000"/>
                </a:solidFill>
              </a:rPr>
              <a:t>Bit 17 is 0 in address 10 </a:t>
            </a:r>
            <a:r>
              <a:rPr lang="en-US" sz="4000" dirty="0"/>
              <a:t>for selecting an external address. In all other cases, it is </a:t>
            </a:r>
            <a:r>
              <a:rPr lang="en-US" sz="4000" dirty="0">
                <a:solidFill>
                  <a:srgbClr val="FF0000"/>
                </a:solidFill>
              </a:rPr>
              <a:t>1 to select the address field of the micro-instruction</a:t>
            </a:r>
            <a:r>
              <a:rPr lang="en-US" sz="4000" dirty="0"/>
              <a:t>. When bits 18, 19, and 20 are 000, the next address is determined directly from the address field.</a:t>
            </a:r>
          </a:p>
          <a:p>
            <a:r>
              <a:rPr lang="en-US" sz="4000" dirty="0"/>
              <a:t>When bits 18, 19, 20 are 011, they select the Z bit for MUX 2. </a:t>
            </a:r>
          </a:p>
          <a:p>
            <a:pPr lvl="1"/>
            <a:r>
              <a:rPr lang="en-US" sz="3600" dirty="0"/>
              <a:t>If Z = 1, an external address is transferred to CAR. </a:t>
            </a:r>
          </a:p>
          <a:p>
            <a:pPr lvl="1"/>
            <a:r>
              <a:rPr lang="en-US" sz="3600" dirty="0"/>
              <a:t>If Z = 0, CAR is incremented and the next address is the next one in sequence.</a:t>
            </a:r>
          </a:p>
        </p:txBody>
      </p:sp>
      <p:sp>
        <p:nvSpPr>
          <p:cNvPr id="3" name="Date Placeholder 2"/>
          <p:cNvSpPr>
            <a:spLocks noGrp="1"/>
          </p:cNvSpPr>
          <p:nvPr>
            <p:ph type="dt" sz="half" idx="10"/>
          </p:nvPr>
        </p:nvSpPr>
        <p:spPr/>
        <p:txBody>
          <a:bodyPr/>
          <a:lstStyle/>
          <a:p>
            <a:fld id="{D71CBB8F-7627-4119-A68C-21F0DF8DF2F2}" type="datetime3">
              <a:rPr lang="en-US" smtClean="0"/>
              <a:t>6 January 2026</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pPr/>
              <a:t>33</a:t>
            </a:fld>
            <a:endParaRPr lang="en-US" dirty="0"/>
          </a:p>
        </p:txBody>
      </p:sp>
    </p:spTree>
    <p:extLst>
      <p:ext uri="{BB962C8B-B14F-4D97-AF65-F5344CB8AC3E}">
        <p14:creationId xmlns:p14="http://schemas.microsoft.com/office/powerpoint/2010/main" val="4283158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994F-C899-4506-9661-6D8D7B39E845}"/>
              </a:ext>
            </a:extLst>
          </p:cNvPr>
          <p:cNvSpPr>
            <a:spLocks noGrp="1"/>
          </p:cNvSpPr>
          <p:nvPr>
            <p:ph type="title"/>
          </p:nvPr>
        </p:nvSpPr>
        <p:spPr>
          <a:xfrm>
            <a:off x="1869743" y="117052"/>
            <a:ext cx="9362364" cy="872836"/>
          </a:xfrm>
        </p:spPr>
        <p:txBody>
          <a:bodyPr>
            <a:noAutofit/>
          </a:bodyPr>
          <a:lstStyle/>
          <a:p>
            <a:r>
              <a:rPr lang="en-US" sz="4800" b="1" dirty="0">
                <a:solidFill>
                  <a:srgbClr val="0070C0"/>
                </a:solidFill>
              </a:rPr>
              <a:t>Control of Processor Unit</a:t>
            </a:r>
          </a:p>
        </p:txBody>
      </p:sp>
      <p:pic>
        <p:nvPicPr>
          <p:cNvPr id="7" name="Content Placeholder 3">
            <a:extLst>
              <a:ext uri="{FF2B5EF4-FFF2-40B4-BE49-F238E27FC236}">
                <a16:creationId xmlns:a16="http://schemas.microsoft.com/office/drawing/2014/main" id="{B92D1E6F-5ECF-46CE-8C0C-6985709BA2A0}"/>
              </a:ext>
            </a:extLst>
          </p:cNvPr>
          <p:cNvPicPr>
            <a:picLocks noChangeAspect="1"/>
          </p:cNvPicPr>
          <p:nvPr/>
        </p:nvPicPr>
        <p:blipFill rotWithShape="1">
          <a:blip r:embed="rId2">
            <a:duotone>
              <a:schemeClr val="accent4">
                <a:shade val="45000"/>
                <a:satMod val="135000"/>
              </a:schemeClr>
              <a:prstClr val="white"/>
            </a:duotone>
            <a:lum bright="-20000" contrast="40000"/>
          </a:blip>
          <a:srcRect l="3087" t="2666" r="6195" b="1660"/>
          <a:stretch/>
        </p:blipFill>
        <p:spPr>
          <a:xfrm>
            <a:off x="637514" y="953209"/>
            <a:ext cx="7318168" cy="6574676"/>
          </a:xfrm>
          <a:prstGeom prst="rect">
            <a:avLst/>
          </a:prstGeom>
        </p:spPr>
      </p:pic>
      <p:sp>
        <p:nvSpPr>
          <p:cNvPr id="4" name="Rectangle 3"/>
          <p:cNvSpPr/>
          <p:nvPr/>
        </p:nvSpPr>
        <p:spPr>
          <a:xfrm>
            <a:off x="190582" y="7402662"/>
            <a:ext cx="9011059" cy="584775"/>
          </a:xfrm>
          <a:prstGeom prst="rect">
            <a:avLst/>
          </a:prstGeom>
        </p:spPr>
        <p:txBody>
          <a:bodyPr wrap="square">
            <a:spAutoFit/>
          </a:bodyPr>
          <a:lstStyle/>
          <a:p>
            <a:r>
              <a:rPr lang="en-US" sz="3200" dirty="0">
                <a:solidFill>
                  <a:srgbClr val="FF0000"/>
                </a:solidFill>
              </a:rPr>
              <a:t>Fig. 10-10 </a:t>
            </a:r>
            <a:r>
              <a:rPr lang="en-US" sz="3200" dirty="0"/>
              <a:t>Micro-program control for processor unit</a:t>
            </a:r>
          </a:p>
        </p:txBody>
      </p:sp>
      <p:sp>
        <p:nvSpPr>
          <p:cNvPr id="3" name="Date Placeholder 2"/>
          <p:cNvSpPr>
            <a:spLocks noGrp="1"/>
          </p:cNvSpPr>
          <p:nvPr>
            <p:ph type="dt" sz="half" idx="10"/>
          </p:nvPr>
        </p:nvSpPr>
        <p:spPr/>
        <p:txBody>
          <a:bodyPr/>
          <a:lstStyle/>
          <a:p>
            <a:fld id="{5275A8E5-4171-4139-AAEF-ED6F663E2C22}" type="datetime3">
              <a:rPr lang="en-US" smtClean="0"/>
              <a:t>6 January 2026</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34</a:t>
            </a:fld>
            <a:endParaRPr lang="en-US" dirty="0"/>
          </a:p>
        </p:txBody>
      </p:sp>
      <p:pic>
        <p:nvPicPr>
          <p:cNvPr id="8" name="Content Placeholder 3">
            <a:extLst>
              <a:ext uri="{FF2B5EF4-FFF2-40B4-BE49-F238E27FC236}">
                <a16:creationId xmlns:a16="http://schemas.microsoft.com/office/drawing/2014/main" id="{868E949A-8902-4E27-8C37-6688ABC66776}"/>
              </a:ext>
            </a:extLst>
          </p:cNvPr>
          <p:cNvPicPr>
            <a:picLocks noGrp="1" noChangeAspect="1"/>
          </p:cNvPicPr>
          <p:nvPr>
            <p:ph idx="1"/>
          </p:nvPr>
        </p:nvPicPr>
        <p:blipFill rotWithShape="1">
          <a:blip r:embed="rId3">
            <a:duotone>
              <a:schemeClr val="accent2">
                <a:shade val="45000"/>
                <a:satMod val="135000"/>
              </a:schemeClr>
              <a:prstClr val="white"/>
            </a:duotone>
            <a:lum bright="-20000" contrast="40000"/>
          </a:blip>
          <a:srcRect l="2877" t="2317" r="2530"/>
          <a:stretch/>
        </p:blipFill>
        <p:spPr>
          <a:xfrm>
            <a:off x="9191908" y="592874"/>
            <a:ext cx="7076709" cy="6026290"/>
          </a:xfrm>
          <a:prstGeom prst="rect">
            <a:avLst/>
          </a:prstGeom>
        </p:spPr>
      </p:pic>
      <p:pic>
        <p:nvPicPr>
          <p:cNvPr id="9" name="Picture 8">
            <a:extLst>
              <a:ext uri="{FF2B5EF4-FFF2-40B4-BE49-F238E27FC236}">
                <a16:creationId xmlns:a16="http://schemas.microsoft.com/office/drawing/2014/main" id="{8AB8ACFA-19E9-4EC1-9EC8-0849083C6E7F}"/>
              </a:ext>
            </a:extLst>
          </p:cNvPr>
          <p:cNvPicPr>
            <a:picLocks noChangeAspect="1"/>
          </p:cNvPicPr>
          <p:nvPr/>
        </p:nvPicPr>
        <p:blipFill rotWithShape="1">
          <a:blip r:embed="rId4">
            <a:duotone>
              <a:schemeClr val="accent1">
                <a:shade val="45000"/>
                <a:satMod val="135000"/>
              </a:schemeClr>
              <a:prstClr val="white"/>
            </a:duotone>
            <a:lum bright="-20000" contrast="40000"/>
          </a:blip>
          <a:srcRect l="1513" r="5569" b="45718"/>
          <a:stretch>
            <a:fillRect/>
          </a:stretch>
        </p:blipFill>
        <p:spPr>
          <a:xfrm>
            <a:off x="9567081" y="5761605"/>
            <a:ext cx="4200449" cy="978641"/>
          </a:xfrm>
          <a:prstGeom prst="rect">
            <a:avLst/>
          </a:prstGeom>
        </p:spPr>
      </p:pic>
      <p:sp>
        <p:nvSpPr>
          <p:cNvPr id="10" name="TextBox 9">
            <a:extLst>
              <a:ext uri="{FF2B5EF4-FFF2-40B4-BE49-F238E27FC236}">
                <a16:creationId xmlns:a16="http://schemas.microsoft.com/office/drawing/2014/main" id="{85F5D7F4-1280-418B-8FFB-3017DEF996AA}"/>
              </a:ext>
            </a:extLst>
          </p:cNvPr>
          <p:cNvSpPr txBox="1"/>
          <p:nvPr/>
        </p:nvSpPr>
        <p:spPr>
          <a:xfrm>
            <a:off x="12088678" y="6974542"/>
            <a:ext cx="1960793" cy="707886"/>
          </a:xfrm>
          <a:prstGeom prst="rect">
            <a:avLst/>
          </a:prstGeom>
          <a:noFill/>
        </p:spPr>
        <p:txBody>
          <a:bodyPr wrap="none" rtlCol="0">
            <a:spAutoFit/>
          </a:bodyPr>
          <a:lstStyle/>
          <a:p>
            <a:r>
              <a:rPr lang="en-US" sz="4000" dirty="0">
                <a:solidFill>
                  <a:srgbClr val="FF0000"/>
                </a:solidFill>
              </a:rPr>
              <a:t>Fig. 9-16</a:t>
            </a:r>
          </a:p>
        </p:txBody>
      </p:sp>
      <p:sp>
        <p:nvSpPr>
          <p:cNvPr id="11" name="Rectangle 10">
            <a:extLst>
              <a:ext uri="{FF2B5EF4-FFF2-40B4-BE49-F238E27FC236}">
                <a16:creationId xmlns:a16="http://schemas.microsoft.com/office/drawing/2014/main" id="{8350ACA0-91E9-C888-F17B-89DB2E7B4E34}"/>
              </a:ext>
            </a:extLst>
          </p:cNvPr>
          <p:cNvSpPr/>
          <p:nvPr/>
        </p:nvSpPr>
        <p:spPr>
          <a:xfrm>
            <a:off x="5046332" y="6044929"/>
            <a:ext cx="1941322" cy="957399"/>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022400A3-01E2-17CF-0538-9EAFFB759B94}"/>
              </a:ext>
            </a:extLst>
          </p:cNvPr>
          <p:cNvSpPr/>
          <p:nvPr/>
        </p:nvSpPr>
        <p:spPr>
          <a:xfrm>
            <a:off x="8750570" y="616247"/>
            <a:ext cx="7558991" cy="6186917"/>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37068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heel(1)">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arn(inVertical)">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32F6-7347-4218-9E01-A34D356F5027}"/>
              </a:ext>
            </a:extLst>
          </p:cNvPr>
          <p:cNvSpPr>
            <a:spLocks noGrp="1"/>
          </p:cNvSpPr>
          <p:nvPr>
            <p:ph type="title"/>
          </p:nvPr>
        </p:nvSpPr>
        <p:spPr>
          <a:xfrm>
            <a:off x="1064030" y="321771"/>
            <a:ext cx="13474931" cy="875258"/>
          </a:xfrm>
        </p:spPr>
        <p:txBody>
          <a:bodyPr>
            <a:normAutofit fontScale="90000"/>
          </a:bodyPr>
          <a:lstStyle/>
          <a:p>
            <a:r>
              <a:rPr lang="en-US" b="1" dirty="0">
                <a:solidFill>
                  <a:srgbClr val="0070C0"/>
                </a:solidFill>
              </a:rPr>
              <a:t>Binary microprogram to count the number of 1’s in R1</a:t>
            </a:r>
          </a:p>
        </p:txBody>
      </p:sp>
      <p:pic>
        <p:nvPicPr>
          <p:cNvPr id="3" name="Picture 2">
            <a:extLst>
              <a:ext uri="{FF2B5EF4-FFF2-40B4-BE49-F238E27FC236}">
                <a16:creationId xmlns:a16="http://schemas.microsoft.com/office/drawing/2014/main" id="{35622BDB-4E42-45B4-A987-BF8937BAF040}"/>
              </a:ext>
            </a:extLst>
          </p:cNvPr>
          <p:cNvPicPr>
            <a:picLocks noChangeAspect="1"/>
          </p:cNvPicPr>
          <p:nvPr/>
        </p:nvPicPr>
        <p:blipFill rotWithShape="1">
          <a:blip r:embed="rId2">
            <a:duotone>
              <a:schemeClr val="accent1">
                <a:shade val="45000"/>
                <a:satMod val="135000"/>
              </a:schemeClr>
              <a:prstClr val="white"/>
            </a:duotone>
            <a:lum bright="-20000" contrast="40000"/>
          </a:blip>
          <a:srcRect l="2669" r="922"/>
          <a:stretch/>
        </p:blipFill>
        <p:spPr>
          <a:xfrm>
            <a:off x="1064029" y="1882507"/>
            <a:ext cx="14929657" cy="5725957"/>
          </a:xfrm>
          <a:prstGeom prst="rect">
            <a:avLst/>
          </a:prstGeom>
        </p:spPr>
      </p:pic>
      <p:sp>
        <p:nvSpPr>
          <p:cNvPr id="5" name="TextBox 4"/>
          <p:cNvSpPr txBox="1"/>
          <p:nvPr/>
        </p:nvSpPr>
        <p:spPr>
          <a:xfrm>
            <a:off x="1064030" y="1135947"/>
            <a:ext cx="11291087" cy="707886"/>
          </a:xfrm>
          <a:prstGeom prst="rect">
            <a:avLst/>
          </a:prstGeom>
          <a:noFill/>
        </p:spPr>
        <p:txBody>
          <a:bodyPr wrap="square" rtlCol="0">
            <a:spAutoFit/>
          </a:bodyPr>
          <a:lstStyle/>
          <a:p>
            <a:r>
              <a:rPr lang="en-US" sz="4000" dirty="0">
                <a:solidFill>
                  <a:srgbClr val="FF0000"/>
                </a:solidFill>
              </a:rPr>
              <a:t>Table 10-4 </a:t>
            </a:r>
            <a:r>
              <a:rPr lang="en-US" sz="4000" dirty="0"/>
              <a:t>Symbolic micro-program</a:t>
            </a:r>
            <a:endParaRPr lang="en-US" sz="4000" dirty="0">
              <a:solidFill>
                <a:srgbClr val="FF0000"/>
              </a:solidFill>
            </a:endParaRPr>
          </a:p>
        </p:txBody>
      </p:sp>
      <p:sp>
        <p:nvSpPr>
          <p:cNvPr id="4" name="Date Placeholder 3"/>
          <p:cNvSpPr>
            <a:spLocks noGrp="1"/>
          </p:cNvSpPr>
          <p:nvPr>
            <p:ph type="dt" sz="half" idx="10"/>
          </p:nvPr>
        </p:nvSpPr>
        <p:spPr/>
        <p:txBody>
          <a:bodyPr/>
          <a:lstStyle/>
          <a:p>
            <a:fld id="{94CBEF8B-A565-4284-A646-3898D8595E1A}" type="datetime3">
              <a:rPr lang="en-US" smtClean="0"/>
              <a:t>6 January 2026</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35</a:t>
            </a:fld>
            <a:endParaRPr lang="en-US" dirty="0"/>
          </a:p>
        </p:txBody>
      </p:sp>
    </p:spTree>
    <p:extLst>
      <p:ext uri="{BB962C8B-B14F-4D97-AF65-F5344CB8AC3E}">
        <p14:creationId xmlns:p14="http://schemas.microsoft.com/office/powerpoint/2010/main" val="624542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32F6-7347-4218-9E01-A34D356F5027}"/>
              </a:ext>
            </a:extLst>
          </p:cNvPr>
          <p:cNvSpPr>
            <a:spLocks noGrp="1"/>
          </p:cNvSpPr>
          <p:nvPr>
            <p:ph type="title"/>
          </p:nvPr>
        </p:nvSpPr>
        <p:spPr>
          <a:xfrm>
            <a:off x="615142" y="420537"/>
            <a:ext cx="15361919" cy="875258"/>
          </a:xfrm>
        </p:spPr>
        <p:txBody>
          <a:bodyPr>
            <a:normAutofit/>
          </a:bodyPr>
          <a:lstStyle/>
          <a:p>
            <a:r>
              <a:rPr lang="en-US" sz="5400" b="1" dirty="0">
                <a:solidFill>
                  <a:srgbClr val="0070C0"/>
                </a:solidFill>
              </a:rPr>
              <a:t>Binary microprogram to count the number of 1’s in R1</a:t>
            </a:r>
          </a:p>
        </p:txBody>
      </p:sp>
      <p:pic>
        <p:nvPicPr>
          <p:cNvPr id="4" name="Content Placeholder 3">
            <a:extLst>
              <a:ext uri="{FF2B5EF4-FFF2-40B4-BE49-F238E27FC236}">
                <a16:creationId xmlns:a16="http://schemas.microsoft.com/office/drawing/2014/main" id="{3346490E-42A4-46BA-8AE1-D264A0138B80}"/>
              </a:ext>
            </a:extLst>
          </p:cNvPr>
          <p:cNvPicPr>
            <a:picLocks noGrp="1" noChangeAspect="1"/>
          </p:cNvPicPr>
          <p:nvPr>
            <p:ph idx="1"/>
          </p:nvPr>
        </p:nvPicPr>
        <p:blipFill rotWithShape="1">
          <a:blip r:embed="rId2">
            <a:duotone>
              <a:schemeClr val="accent4">
                <a:shade val="45000"/>
                <a:satMod val="135000"/>
              </a:schemeClr>
              <a:prstClr val="white"/>
            </a:duotone>
            <a:lum bright="-20000" contrast="40000"/>
          </a:blip>
          <a:srcRect l="2306" t="5555" r="2042" b="5579"/>
          <a:stretch/>
        </p:blipFill>
        <p:spPr>
          <a:xfrm>
            <a:off x="1180356" y="1958818"/>
            <a:ext cx="14086783" cy="5868786"/>
          </a:xfrm>
          <a:prstGeom prst="rect">
            <a:avLst/>
          </a:prstGeom>
        </p:spPr>
      </p:pic>
      <p:sp>
        <p:nvSpPr>
          <p:cNvPr id="6" name="TextBox 5"/>
          <p:cNvSpPr txBox="1"/>
          <p:nvPr/>
        </p:nvSpPr>
        <p:spPr>
          <a:xfrm>
            <a:off x="615141" y="1239223"/>
            <a:ext cx="8811492" cy="707886"/>
          </a:xfrm>
          <a:prstGeom prst="rect">
            <a:avLst/>
          </a:prstGeom>
          <a:noFill/>
        </p:spPr>
        <p:txBody>
          <a:bodyPr wrap="square" rtlCol="0">
            <a:spAutoFit/>
          </a:bodyPr>
          <a:lstStyle/>
          <a:p>
            <a:r>
              <a:rPr lang="en-US" sz="4000" dirty="0">
                <a:solidFill>
                  <a:srgbClr val="FF0000"/>
                </a:solidFill>
              </a:rPr>
              <a:t>Table 10-5 </a:t>
            </a:r>
            <a:r>
              <a:rPr lang="en-US" sz="4000" dirty="0"/>
              <a:t>Binary micro-program</a:t>
            </a:r>
            <a:endParaRPr lang="en-US" sz="4000" dirty="0">
              <a:solidFill>
                <a:srgbClr val="FF0000"/>
              </a:solidFill>
            </a:endParaRPr>
          </a:p>
        </p:txBody>
      </p:sp>
      <p:sp>
        <p:nvSpPr>
          <p:cNvPr id="3" name="Rectangle 2"/>
          <p:cNvSpPr/>
          <p:nvPr/>
        </p:nvSpPr>
        <p:spPr>
          <a:xfrm>
            <a:off x="2672915" y="2249329"/>
            <a:ext cx="5149295" cy="400110"/>
          </a:xfrm>
          <a:prstGeom prst="rect">
            <a:avLst/>
          </a:prstGeom>
        </p:spPr>
        <p:txBody>
          <a:bodyPr wrap="none">
            <a:spAutoFit/>
          </a:bodyPr>
          <a:lstStyle/>
          <a:p>
            <a:pPr algn="ctr"/>
            <a:r>
              <a:rPr lang="en-US" sz="2000" dirty="0">
                <a:solidFill>
                  <a:srgbClr val="C00000"/>
                </a:solidFill>
              </a:rPr>
              <a:t>16-bits control word to select micro-operations </a:t>
            </a:r>
          </a:p>
        </p:txBody>
      </p:sp>
      <p:pic>
        <p:nvPicPr>
          <p:cNvPr id="7" name="Picture 6">
            <a:extLst>
              <a:ext uri="{FF2B5EF4-FFF2-40B4-BE49-F238E27FC236}">
                <a16:creationId xmlns:a16="http://schemas.microsoft.com/office/drawing/2014/main" id="{8AB8ACFA-19E9-4EC1-9EC8-0849083C6E7F}"/>
              </a:ext>
            </a:extLst>
          </p:cNvPr>
          <p:cNvPicPr>
            <a:picLocks noChangeAspect="1"/>
          </p:cNvPicPr>
          <p:nvPr/>
        </p:nvPicPr>
        <p:blipFill rotWithShape="1">
          <a:blip r:embed="rId3">
            <a:duotone>
              <a:schemeClr val="accent1">
                <a:shade val="45000"/>
                <a:satMod val="135000"/>
              </a:schemeClr>
              <a:prstClr val="white"/>
            </a:duotone>
            <a:lum bright="-20000" contrast="40000"/>
          </a:blip>
          <a:srcRect l="1513" r="5570" b="46149"/>
          <a:stretch/>
        </p:blipFill>
        <p:spPr>
          <a:xfrm>
            <a:off x="10656903" y="1145896"/>
            <a:ext cx="5382078" cy="1005469"/>
          </a:xfrm>
          <a:prstGeom prst="rect">
            <a:avLst/>
          </a:prstGeom>
        </p:spPr>
      </p:pic>
      <p:sp>
        <p:nvSpPr>
          <p:cNvPr id="8" name="TextBox 7">
            <a:extLst>
              <a:ext uri="{FF2B5EF4-FFF2-40B4-BE49-F238E27FC236}">
                <a16:creationId xmlns:a16="http://schemas.microsoft.com/office/drawing/2014/main" id="{85F5D7F4-1280-418B-8FFB-3017DEF996AA}"/>
              </a:ext>
            </a:extLst>
          </p:cNvPr>
          <p:cNvSpPr txBox="1"/>
          <p:nvPr/>
        </p:nvSpPr>
        <p:spPr>
          <a:xfrm>
            <a:off x="10656904" y="2051630"/>
            <a:ext cx="5033237" cy="646331"/>
          </a:xfrm>
          <a:prstGeom prst="rect">
            <a:avLst/>
          </a:prstGeom>
          <a:noFill/>
        </p:spPr>
        <p:txBody>
          <a:bodyPr wrap="none" rtlCol="0">
            <a:spAutoFit/>
          </a:bodyPr>
          <a:lstStyle/>
          <a:p>
            <a:r>
              <a:rPr lang="en-US" sz="3600" dirty="0">
                <a:solidFill>
                  <a:srgbClr val="FF0000"/>
                </a:solidFill>
              </a:rPr>
              <a:t>Fig. 9-16 (b) </a:t>
            </a:r>
            <a:r>
              <a:rPr lang="en-US" sz="3600" dirty="0"/>
              <a:t>Control Word</a:t>
            </a:r>
          </a:p>
        </p:txBody>
      </p:sp>
      <p:sp>
        <p:nvSpPr>
          <p:cNvPr id="14" name="TextBox 13"/>
          <p:cNvSpPr txBox="1"/>
          <p:nvPr/>
        </p:nvSpPr>
        <p:spPr>
          <a:xfrm>
            <a:off x="11167334" y="3524587"/>
            <a:ext cx="4244795" cy="400110"/>
          </a:xfrm>
          <a:prstGeom prst="rect">
            <a:avLst/>
          </a:prstGeom>
          <a:solidFill>
            <a:schemeClr val="bg1"/>
          </a:solidFill>
        </p:spPr>
        <p:txBody>
          <a:bodyPr wrap="square" rtlCol="0">
            <a:spAutoFit/>
          </a:bodyPr>
          <a:lstStyle/>
          <a:p>
            <a:r>
              <a:rPr lang="en-US" sz="2000" b="1" dirty="0">
                <a:solidFill>
                  <a:srgbClr val="0070C0"/>
                </a:solidFill>
              </a:rPr>
              <a:t>What is the next ROM address?</a:t>
            </a:r>
          </a:p>
        </p:txBody>
      </p:sp>
      <p:cxnSp>
        <p:nvCxnSpPr>
          <p:cNvPr id="15" name="Straight Arrow Connector 14"/>
          <p:cNvCxnSpPr/>
          <p:nvPr/>
        </p:nvCxnSpPr>
        <p:spPr>
          <a:xfrm>
            <a:off x="8035921" y="3899272"/>
            <a:ext cx="864523" cy="137991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769033" y="3583387"/>
            <a:ext cx="5785657" cy="400110"/>
          </a:xfrm>
          <a:prstGeom prst="rect">
            <a:avLst/>
          </a:prstGeom>
          <a:noFill/>
        </p:spPr>
        <p:txBody>
          <a:bodyPr wrap="square" rtlCol="0">
            <a:spAutoFit/>
          </a:bodyPr>
          <a:lstStyle/>
          <a:p>
            <a:r>
              <a:rPr lang="en-US" sz="2000" b="1" dirty="0">
                <a:solidFill>
                  <a:srgbClr val="0070C0"/>
                </a:solidFill>
              </a:rPr>
              <a:t>21-26 internal ROM address field is selected</a:t>
            </a:r>
          </a:p>
        </p:txBody>
      </p:sp>
      <p:cxnSp>
        <p:nvCxnSpPr>
          <p:cNvPr id="11" name="Straight Arrow Connector 10"/>
          <p:cNvCxnSpPr/>
          <p:nvPr/>
        </p:nvCxnSpPr>
        <p:spPr>
          <a:xfrm>
            <a:off x="12286211" y="3857098"/>
            <a:ext cx="864523" cy="137991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fld id="{8EDB6C88-7605-4232-8C99-D2032F614D47}" type="datetime3">
              <a:rPr lang="en-US" smtClean="0"/>
              <a:t>6 January 2026</a:t>
            </a:fld>
            <a:endParaRPr lang="en-US"/>
          </a:p>
        </p:txBody>
      </p:sp>
      <p:sp>
        <p:nvSpPr>
          <p:cNvPr id="10" name="Slide Number Placeholder 9"/>
          <p:cNvSpPr>
            <a:spLocks noGrp="1"/>
          </p:cNvSpPr>
          <p:nvPr>
            <p:ph type="sldNum" sz="quarter" idx="12"/>
          </p:nvPr>
        </p:nvSpPr>
        <p:spPr/>
        <p:txBody>
          <a:bodyPr/>
          <a:lstStyle/>
          <a:p>
            <a:fld id="{48F63A3B-78C7-47BE-AE5E-E10140E04643}" type="slidenum">
              <a:rPr lang="en-US" smtClean="0"/>
              <a:pPr/>
              <a:t>36</a:t>
            </a:fld>
            <a:endParaRPr lang="en-US" dirty="0"/>
          </a:p>
        </p:txBody>
      </p:sp>
    </p:spTree>
    <p:extLst>
      <p:ext uri="{BB962C8B-B14F-4D97-AF65-F5344CB8AC3E}">
        <p14:creationId xmlns:p14="http://schemas.microsoft.com/office/powerpoint/2010/main" val="19821976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2245E3-DAF9-451F-9A44-65908EF52BD7}"/>
              </a:ext>
            </a:extLst>
          </p:cNvPr>
          <p:cNvPicPr>
            <a:picLocks noChangeAspect="1"/>
          </p:cNvPicPr>
          <p:nvPr/>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Lst>
          </a:blip>
          <a:srcRect l="1755" t="1287" b="3977"/>
          <a:stretch/>
        </p:blipFill>
        <p:spPr>
          <a:xfrm>
            <a:off x="731520" y="696005"/>
            <a:ext cx="15303395" cy="7223630"/>
          </a:xfrm>
          <a:prstGeom prst="rect">
            <a:avLst/>
          </a:prstGeom>
        </p:spPr>
      </p:pic>
      <p:sp>
        <p:nvSpPr>
          <p:cNvPr id="2" name="Date Placeholder 1"/>
          <p:cNvSpPr>
            <a:spLocks noGrp="1"/>
          </p:cNvSpPr>
          <p:nvPr>
            <p:ph type="dt" sz="half" idx="10"/>
          </p:nvPr>
        </p:nvSpPr>
        <p:spPr/>
        <p:txBody>
          <a:bodyPr/>
          <a:lstStyle/>
          <a:p>
            <a:fld id="{262A187A-5E7E-409B-BD39-1B815B637C85}" type="datetime3">
              <a:rPr lang="en-US" smtClean="0"/>
              <a:t>6 January 2026</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pPr/>
              <a:t>37</a:t>
            </a:fld>
            <a:endParaRPr lang="en-US" dirty="0"/>
          </a:p>
        </p:txBody>
      </p:sp>
    </p:spTree>
    <p:extLst>
      <p:ext uri="{BB962C8B-B14F-4D97-AF65-F5344CB8AC3E}">
        <p14:creationId xmlns:p14="http://schemas.microsoft.com/office/powerpoint/2010/main" val="5784018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32F6-7347-4218-9E01-A34D356F5027}"/>
              </a:ext>
            </a:extLst>
          </p:cNvPr>
          <p:cNvSpPr>
            <a:spLocks noGrp="1"/>
          </p:cNvSpPr>
          <p:nvPr>
            <p:ph type="title"/>
          </p:nvPr>
        </p:nvSpPr>
        <p:spPr>
          <a:xfrm>
            <a:off x="648394" y="448869"/>
            <a:ext cx="15212290" cy="875258"/>
          </a:xfrm>
        </p:spPr>
        <p:txBody>
          <a:bodyPr>
            <a:noAutofit/>
          </a:bodyPr>
          <a:lstStyle/>
          <a:p>
            <a:r>
              <a:rPr lang="en-US" sz="5400" b="1" dirty="0">
                <a:solidFill>
                  <a:srgbClr val="0070C0"/>
                </a:solidFill>
              </a:rPr>
              <a:t>Binary microprogram to count the number of 1’s in R1</a:t>
            </a:r>
          </a:p>
        </p:txBody>
      </p:sp>
      <p:sp>
        <p:nvSpPr>
          <p:cNvPr id="7" name="Content Placeholder 6"/>
          <p:cNvSpPr>
            <a:spLocks noGrp="1"/>
          </p:cNvSpPr>
          <p:nvPr>
            <p:ph idx="1"/>
          </p:nvPr>
        </p:nvSpPr>
        <p:spPr>
          <a:xfrm>
            <a:off x="249332" y="1219574"/>
            <a:ext cx="15960486" cy="6700060"/>
          </a:xfrm>
        </p:spPr>
        <p:txBody>
          <a:bodyPr>
            <a:noAutofit/>
          </a:bodyPr>
          <a:lstStyle/>
          <a:p>
            <a:r>
              <a:rPr lang="en-US" sz="4000" dirty="0"/>
              <a:t>The micro-instruction at address 12 selects the complement of the carry bit or C'. </a:t>
            </a:r>
          </a:p>
          <a:p>
            <a:pPr lvl="1"/>
            <a:r>
              <a:rPr lang="en-US" sz="3600" dirty="0"/>
              <a:t>If C = 0 then C'= 1, the address field (binary 1011) is transferred into CAR.</a:t>
            </a:r>
          </a:p>
          <a:p>
            <a:pPr lvl="1"/>
            <a:r>
              <a:rPr lang="en-US" sz="3600" dirty="0"/>
              <a:t>If C = 1 then C'= 0, the CAR is incremented to give 13 for the next address.</a:t>
            </a:r>
          </a:p>
          <a:p>
            <a:r>
              <a:rPr lang="en-US" sz="4000" dirty="0"/>
              <a:t>The </a:t>
            </a:r>
            <a:r>
              <a:rPr lang="en-US" sz="4000" dirty="0">
                <a:solidFill>
                  <a:srgbClr val="FF0000"/>
                </a:solidFill>
              </a:rPr>
              <a:t>micro-program </a:t>
            </a:r>
            <a:r>
              <a:rPr lang="en-US" sz="4000" dirty="0"/>
              <a:t>concept is a </a:t>
            </a:r>
            <a:r>
              <a:rPr lang="en-US" sz="4000" dirty="0">
                <a:solidFill>
                  <a:srgbClr val="FF0000"/>
                </a:solidFill>
              </a:rPr>
              <a:t>systematic procedure </a:t>
            </a:r>
            <a:r>
              <a:rPr lang="en-US" sz="4000" dirty="0"/>
              <a:t>for </a:t>
            </a:r>
            <a:r>
              <a:rPr lang="en-US" sz="4000" dirty="0">
                <a:solidFill>
                  <a:srgbClr val="FF0000"/>
                </a:solidFill>
              </a:rPr>
              <a:t>designing the control unit </a:t>
            </a:r>
            <a:r>
              <a:rPr lang="en-US" sz="4000" dirty="0"/>
              <a:t>of a digital system. Once the micro-instruction format is established, the design is done by writing a micro-program, which is similar to writing a program for a computer. For this reason, the </a:t>
            </a:r>
            <a:r>
              <a:rPr lang="en-US" sz="4000" dirty="0">
                <a:solidFill>
                  <a:srgbClr val="FF0000"/>
                </a:solidFill>
              </a:rPr>
              <a:t>micro-program method </a:t>
            </a:r>
            <a:r>
              <a:rPr lang="en-US" sz="4000" dirty="0"/>
              <a:t>is sometimes referred to as </a:t>
            </a:r>
            <a:r>
              <a:rPr lang="en-US" sz="4000" b="1" dirty="0">
                <a:solidFill>
                  <a:srgbClr val="FF0000"/>
                </a:solidFill>
              </a:rPr>
              <a:t>firmware</a:t>
            </a:r>
            <a:r>
              <a:rPr lang="en-US" sz="4000" dirty="0"/>
              <a:t> to </a:t>
            </a:r>
            <a:r>
              <a:rPr lang="en-US" sz="4000" dirty="0">
                <a:solidFill>
                  <a:srgbClr val="FF0000"/>
                </a:solidFill>
              </a:rPr>
              <a:t>distinguish it from the </a:t>
            </a:r>
            <a:r>
              <a:rPr lang="en-US" sz="4000" i="1" dirty="0">
                <a:solidFill>
                  <a:srgbClr val="FF0000"/>
                </a:solidFill>
              </a:rPr>
              <a:t>hardware method </a:t>
            </a:r>
            <a:r>
              <a:rPr lang="en-US" sz="4000" dirty="0"/>
              <a:t>(which we called a </a:t>
            </a:r>
            <a:r>
              <a:rPr lang="en-US" sz="4000" i="1" dirty="0">
                <a:solidFill>
                  <a:srgbClr val="FF0000"/>
                </a:solidFill>
              </a:rPr>
              <a:t>hard-wired control</a:t>
            </a:r>
            <a:r>
              <a:rPr lang="en-US" sz="4000" dirty="0"/>
              <a:t>) and the </a:t>
            </a:r>
            <a:r>
              <a:rPr lang="en-US" sz="4000" i="1" dirty="0">
                <a:solidFill>
                  <a:srgbClr val="FF0000"/>
                </a:solidFill>
              </a:rPr>
              <a:t>software concept </a:t>
            </a:r>
            <a:r>
              <a:rPr lang="en-US" sz="4000" dirty="0"/>
              <a:t>which constitutes a </a:t>
            </a:r>
            <a:r>
              <a:rPr lang="en-US" sz="4000" i="1" dirty="0">
                <a:solidFill>
                  <a:srgbClr val="FF0000"/>
                </a:solidFill>
              </a:rPr>
              <a:t>programming method</a:t>
            </a:r>
            <a:r>
              <a:rPr lang="en-US" sz="4000" dirty="0"/>
              <a:t>.</a:t>
            </a:r>
          </a:p>
        </p:txBody>
      </p:sp>
      <p:sp>
        <p:nvSpPr>
          <p:cNvPr id="3" name="Date Placeholder 2"/>
          <p:cNvSpPr>
            <a:spLocks noGrp="1"/>
          </p:cNvSpPr>
          <p:nvPr>
            <p:ph type="dt" sz="half" idx="10"/>
          </p:nvPr>
        </p:nvSpPr>
        <p:spPr/>
        <p:txBody>
          <a:bodyPr/>
          <a:lstStyle/>
          <a:p>
            <a:fld id="{5CE681A0-1887-4535-8032-6C37433F9D45}" type="datetime3">
              <a:rPr lang="en-US" smtClean="0"/>
              <a:t>6 January 2026</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pPr/>
              <a:t>38</a:t>
            </a:fld>
            <a:endParaRPr lang="en-US" dirty="0"/>
          </a:p>
        </p:txBody>
      </p:sp>
    </p:spTree>
    <p:extLst>
      <p:ext uri="{BB962C8B-B14F-4D97-AF65-F5344CB8AC3E}">
        <p14:creationId xmlns:p14="http://schemas.microsoft.com/office/powerpoint/2010/main" val="1042222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CA4D-A2FF-F970-BA58-0B7CB8CF65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D9CDF-6B99-62DB-9F6C-1AC24F7183FA}"/>
              </a:ext>
            </a:extLst>
          </p:cNvPr>
          <p:cNvSpPr>
            <a:spLocks noGrp="1"/>
          </p:cNvSpPr>
          <p:nvPr>
            <p:ph type="title"/>
          </p:nvPr>
        </p:nvSpPr>
        <p:spPr>
          <a:xfrm>
            <a:off x="1413164" y="339699"/>
            <a:ext cx="14563897" cy="746837"/>
          </a:xfrm>
        </p:spPr>
        <p:txBody>
          <a:bodyPr>
            <a:noAutofit/>
          </a:bodyPr>
          <a:lstStyle/>
          <a:p>
            <a:r>
              <a:rPr lang="en-US" sz="4800" b="1" dirty="0">
                <a:solidFill>
                  <a:srgbClr val="0070C0"/>
                </a:solidFill>
              </a:rPr>
              <a:t>Flow chart for counting the number of 0s in register R2</a:t>
            </a:r>
          </a:p>
        </p:txBody>
      </p:sp>
      <p:sp>
        <p:nvSpPr>
          <p:cNvPr id="3" name="Rectangle 2">
            <a:extLst>
              <a:ext uri="{FF2B5EF4-FFF2-40B4-BE49-F238E27FC236}">
                <a16:creationId xmlns:a16="http://schemas.microsoft.com/office/drawing/2014/main" id="{93EC9029-E4A2-E21D-57C2-296BABA3C9E6}"/>
              </a:ext>
            </a:extLst>
          </p:cNvPr>
          <p:cNvSpPr/>
          <p:nvPr/>
        </p:nvSpPr>
        <p:spPr>
          <a:xfrm>
            <a:off x="4067692" y="990711"/>
            <a:ext cx="12208627" cy="3250121"/>
          </a:xfrm>
          <a:prstGeom prst="rect">
            <a:avLst/>
          </a:prstGeom>
        </p:spPr>
        <p:txBody>
          <a:bodyPr wrap="square">
            <a:spAutoFit/>
          </a:bodyPr>
          <a:lstStyle/>
          <a:p>
            <a:pPr>
              <a:lnSpc>
                <a:spcPct val="95000"/>
              </a:lnSpc>
            </a:pPr>
            <a:r>
              <a:rPr lang="en-US" sz="3600" dirty="0"/>
              <a:t>The macro-operation, we wish to implement, counts the number of 0s presently stored in the processor register, R2, and sets the register, R3 to that number.</a:t>
            </a:r>
          </a:p>
          <a:p>
            <a:pPr>
              <a:lnSpc>
                <a:spcPct val="95000"/>
              </a:lnSpc>
            </a:pPr>
            <a:r>
              <a:rPr lang="en-US" sz="3600" dirty="0"/>
              <a:t>For example, if R2 = 11</a:t>
            </a:r>
            <a:r>
              <a:rPr lang="en-US" sz="3600" dirty="0">
                <a:solidFill>
                  <a:srgbClr val="FF0000"/>
                </a:solidFill>
              </a:rPr>
              <a:t>00</a:t>
            </a:r>
            <a:r>
              <a:rPr lang="en-US" sz="3600" dirty="0"/>
              <a:t>1</a:t>
            </a:r>
            <a:r>
              <a:rPr lang="en-US" sz="3600" dirty="0">
                <a:solidFill>
                  <a:srgbClr val="FF0000"/>
                </a:solidFill>
              </a:rPr>
              <a:t>000</a:t>
            </a:r>
            <a:r>
              <a:rPr lang="en-US" sz="3600" dirty="0"/>
              <a:t>, the micro-program routine counts that there are </a:t>
            </a:r>
            <a:r>
              <a:rPr lang="en-US" sz="3600" dirty="0">
                <a:solidFill>
                  <a:srgbClr val="FF0000"/>
                </a:solidFill>
              </a:rPr>
              <a:t>five 0s stored in the R2 </a:t>
            </a:r>
            <a:r>
              <a:rPr lang="en-US" sz="3600" dirty="0"/>
              <a:t>register and thus it </a:t>
            </a:r>
            <a:r>
              <a:rPr lang="en-US" sz="3600" dirty="0">
                <a:solidFill>
                  <a:srgbClr val="FF0000"/>
                </a:solidFill>
              </a:rPr>
              <a:t>sets the R3 register value to 5</a:t>
            </a:r>
            <a:r>
              <a:rPr lang="en-US" sz="3600" dirty="0"/>
              <a:t>, i.e., 00000</a:t>
            </a:r>
            <a:r>
              <a:rPr lang="en-US" sz="3600" dirty="0">
                <a:solidFill>
                  <a:srgbClr val="FF0000"/>
                </a:solidFill>
              </a:rPr>
              <a:t>101b</a:t>
            </a:r>
            <a:r>
              <a:rPr lang="en-US" sz="3600" dirty="0"/>
              <a:t>.</a:t>
            </a:r>
          </a:p>
        </p:txBody>
      </p:sp>
      <p:sp>
        <p:nvSpPr>
          <p:cNvPr id="5" name="Rectangle 4">
            <a:extLst>
              <a:ext uri="{FF2B5EF4-FFF2-40B4-BE49-F238E27FC236}">
                <a16:creationId xmlns:a16="http://schemas.microsoft.com/office/drawing/2014/main" id="{86A299CA-C117-4132-B835-86DB274BFBD7}"/>
              </a:ext>
            </a:extLst>
          </p:cNvPr>
          <p:cNvSpPr/>
          <p:nvPr/>
        </p:nvSpPr>
        <p:spPr>
          <a:xfrm>
            <a:off x="4366949" y="6446523"/>
            <a:ext cx="4285228" cy="1569660"/>
          </a:xfrm>
          <a:prstGeom prst="rect">
            <a:avLst/>
          </a:prstGeom>
        </p:spPr>
        <p:txBody>
          <a:bodyPr wrap="square">
            <a:spAutoFit/>
          </a:bodyPr>
          <a:lstStyle/>
          <a:p>
            <a:r>
              <a:rPr lang="en-US" sz="3200" dirty="0">
                <a:solidFill>
                  <a:srgbClr val="FF0000"/>
                </a:solidFill>
              </a:rPr>
              <a:t>Fig. 10-12 </a:t>
            </a:r>
            <a:r>
              <a:rPr lang="en-US" sz="3200" dirty="0"/>
              <a:t>Flowchart for counting the number of 0s in register R2</a:t>
            </a:r>
          </a:p>
        </p:txBody>
      </p:sp>
      <p:sp>
        <p:nvSpPr>
          <p:cNvPr id="6" name="Date Placeholder 5">
            <a:extLst>
              <a:ext uri="{FF2B5EF4-FFF2-40B4-BE49-F238E27FC236}">
                <a16:creationId xmlns:a16="http://schemas.microsoft.com/office/drawing/2014/main" id="{899E25D0-A51B-6189-21D1-7599BE3FCAEA}"/>
              </a:ext>
            </a:extLst>
          </p:cNvPr>
          <p:cNvSpPr>
            <a:spLocks noGrp="1"/>
          </p:cNvSpPr>
          <p:nvPr>
            <p:ph type="dt" sz="half" idx="10"/>
          </p:nvPr>
        </p:nvSpPr>
        <p:spPr/>
        <p:txBody>
          <a:bodyPr/>
          <a:lstStyle/>
          <a:p>
            <a:fld id="{E5AB5608-F5B8-4FE5-BFF2-759B9805A31D}" type="datetime3">
              <a:rPr lang="en-US" smtClean="0"/>
              <a:t>6 January 2026</a:t>
            </a:fld>
            <a:endParaRPr lang="en-US"/>
          </a:p>
        </p:txBody>
      </p:sp>
      <p:sp>
        <p:nvSpPr>
          <p:cNvPr id="8" name="Slide Number Placeholder 7">
            <a:extLst>
              <a:ext uri="{FF2B5EF4-FFF2-40B4-BE49-F238E27FC236}">
                <a16:creationId xmlns:a16="http://schemas.microsoft.com/office/drawing/2014/main" id="{F94A9C96-9EEC-E8E1-404C-39D0FD554324}"/>
              </a:ext>
            </a:extLst>
          </p:cNvPr>
          <p:cNvSpPr>
            <a:spLocks noGrp="1"/>
          </p:cNvSpPr>
          <p:nvPr>
            <p:ph type="sldNum" sz="quarter" idx="12"/>
          </p:nvPr>
        </p:nvSpPr>
        <p:spPr/>
        <p:txBody>
          <a:bodyPr/>
          <a:lstStyle/>
          <a:p>
            <a:fld id="{48F63A3B-78C7-47BE-AE5E-E10140E04643}" type="slidenum">
              <a:rPr lang="en-US" smtClean="0"/>
              <a:pPr/>
              <a:t>39</a:t>
            </a:fld>
            <a:endParaRPr lang="en-US" dirty="0"/>
          </a:p>
        </p:txBody>
      </p:sp>
      <p:graphicFrame>
        <p:nvGraphicFramePr>
          <p:cNvPr id="9" name="Table 8">
            <a:extLst>
              <a:ext uri="{FF2B5EF4-FFF2-40B4-BE49-F238E27FC236}">
                <a16:creationId xmlns:a16="http://schemas.microsoft.com/office/drawing/2014/main" id="{DBAF98D3-6F5E-58C4-49A0-F0B8725BCF5C}"/>
              </a:ext>
            </a:extLst>
          </p:cNvPr>
          <p:cNvGraphicFramePr>
            <a:graphicFrameLocks noGrp="1"/>
          </p:cNvGraphicFramePr>
          <p:nvPr>
            <p:extLst>
              <p:ext uri="{D42A27DB-BD31-4B8C-83A1-F6EECF244321}">
                <p14:modId xmlns:p14="http://schemas.microsoft.com/office/powerpoint/2010/main" val="576079141"/>
              </p:ext>
            </p:extLst>
          </p:nvPr>
        </p:nvGraphicFramePr>
        <p:xfrm>
          <a:off x="9376755" y="4228630"/>
          <a:ext cx="6185975" cy="3686720"/>
        </p:xfrm>
        <a:graphic>
          <a:graphicData uri="http://schemas.openxmlformats.org/drawingml/2006/table">
            <a:tbl>
              <a:tblPr firstRow="1" bandRow="1">
                <a:tableStyleId>{5C22544A-7EE6-4342-B048-85BDC9FD1C3A}</a:tableStyleId>
              </a:tblPr>
              <a:tblGrid>
                <a:gridCol w="515498">
                  <a:extLst>
                    <a:ext uri="{9D8B030D-6E8A-4147-A177-3AD203B41FA5}">
                      <a16:colId xmlns:a16="http://schemas.microsoft.com/office/drawing/2014/main" val="1861634225"/>
                    </a:ext>
                  </a:extLst>
                </a:gridCol>
                <a:gridCol w="515498">
                  <a:extLst>
                    <a:ext uri="{9D8B030D-6E8A-4147-A177-3AD203B41FA5}">
                      <a16:colId xmlns:a16="http://schemas.microsoft.com/office/drawing/2014/main" val="319664354"/>
                    </a:ext>
                  </a:extLst>
                </a:gridCol>
                <a:gridCol w="515498">
                  <a:extLst>
                    <a:ext uri="{9D8B030D-6E8A-4147-A177-3AD203B41FA5}">
                      <a16:colId xmlns:a16="http://schemas.microsoft.com/office/drawing/2014/main" val="4216423268"/>
                    </a:ext>
                  </a:extLst>
                </a:gridCol>
                <a:gridCol w="515498">
                  <a:extLst>
                    <a:ext uri="{9D8B030D-6E8A-4147-A177-3AD203B41FA5}">
                      <a16:colId xmlns:a16="http://schemas.microsoft.com/office/drawing/2014/main" val="401434253"/>
                    </a:ext>
                  </a:extLst>
                </a:gridCol>
                <a:gridCol w="515498">
                  <a:extLst>
                    <a:ext uri="{9D8B030D-6E8A-4147-A177-3AD203B41FA5}">
                      <a16:colId xmlns:a16="http://schemas.microsoft.com/office/drawing/2014/main" val="2899842173"/>
                    </a:ext>
                  </a:extLst>
                </a:gridCol>
                <a:gridCol w="515498">
                  <a:extLst>
                    <a:ext uri="{9D8B030D-6E8A-4147-A177-3AD203B41FA5}">
                      <a16:colId xmlns:a16="http://schemas.microsoft.com/office/drawing/2014/main" val="10811136"/>
                    </a:ext>
                  </a:extLst>
                </a:gridCol>
                <a:gridCol w="515498">
                  <a:extLst>
                    <a:ext uri="{9D8B030D-6E8A-4147-A177-3AD203B41FA5}">
                      <a16:colId xmlns:a16="http://schemas.microsoft.com/office/drawing/2014/main" val="3762230952"/>
                    </a:ext>
                  </a:extLst>
                </a:gridCol>
                <a:gridCol w="515498">
                  <a:extLst>
                    <a:ext uri="{9D8B030D-6E8A-4147-A177-3AD203B41FA5}">
                      <a16:colId xmlns:a16="http://schemas.microsoft.com/office/drawing/2014/main" val="340348496"/>
                    </a:ext>
                  </a:extLst>
                </a:gridCol>
                <a:gridCol w="752947">
                  <a:extLst>
                    <a:ext uri="{9D8B030D-6E8A-4147-A177-3AD203B41FA5}">
                      <a16:colId xmlns:a16="http://schemas.microsoft.com/office/drawing/2014/main" val="3783908055"/>
                    </a:ext>
                  </a:extLst>
                </a:gridCol>
                <a:gridCol w="1309044">
                  <a:extLst>
                    <a:ext uri="{9D8B030D-6E8A-4147-A177-3AD203B41FA5}">
                      <a16:colId xmlns:a16="http://schemas.microsoft.com/office/drawing/2014/main" val="3593710793"/>
                    </a:ext>
                  </a:extLst>
                </a:gridCol>
              </a:tblGrid>
              <a:tr h="460840">
                <a:tc gridSpan="8">
                  <a:txBody>
                    <a:bodyPr/>
                    <a:lstStyle/>
                    <a:p>
                      <a:pPr algn="ctr">
                        <a:lnSpc>
                          <a:spcPct val="80000"/>
                        </a:lnSpc>
                      </a:pPr>
                      <a:r>
                        <a:rPr lang="en-CA" sz="2800" dirty="0">
                          <a:latin typeface="+mj-lt"/>
                        </a:rPr>
                        <a:t>R2 (Binary)</a:t>
                      </a:r>
                    </a:p>
                  </a:txBody>
                  <a:tcPr anchor="ctr"/>
                </a:tc>
                <a:tc hMerge="1">
                  <a:txBody>
                    <a:bodyPr/>
                    <a:lstStyle/>
                    <a:p>
                      <a:pPr algn="ctr"/>
                      <a:endParaRPr lang="en-CA" sz="2800" dirty="0"/>
                    </a:p>
                  </a:txBody>
                  <a:tcPr anchor="ctr"/>
                </a:tc>
                <a:tc hMerge="1">
                  <a:txBody>
                    <a:bodyPr/>
                    <a:lstStyle/>
                    <a:p>
                      <a:pPr algn="ctr"/>
                      <a:r>
                        <a:rPr lang="en-CA" sz="2800" dirty="0"/>
                        <a:t>0</a:t>
                      </a:r>
                    </a:p>
                  </a:txBody>
                  <a:tcPr anchor="ctr"/>
                </a:tc>
                <a:tc hMerge="1">
                  <a:txBody>
                    <a:bodyPr/>
                    <a:lstStyle/>
                    <a:p>
                      <a:pPr algn="ctr"/>
                      <a:endParaRPr lang="en-CA" sz="2800" dirty="0"/>
                    </a:p>
                  </a:txBody>
                  <a:tcPr anchor="ctr"/>
                </a:tc>
                <a:tc hMerge="1">
                  <a:txBody>
                    <a:bodyPr/>
                    <a:lstStyle/>
                    <a:p>
                      <a:pPr algn="ctr"/>
                      <a:r>
                        <a:rPr lang="en-CA" sz="2800" dirty="0"/>
                        <a:t>1</a:t>
                      </a:r>
                    </a:p>
                  </a:txBody>
                  <a:tcPr anchor="ctr"/>
                </a:tc>
                <a:tc hMerge="1">
                  <a:txBody>
                    <a:bodyPr/>
                    <a:lstStyle/>
                    <a:p>
                      <a:pPr algn="ctr"/>
                      <a:endParaRPr lang="en-CA" sz="2800" dirty="0"/>
                    </a:p>
                  </a:txBody>
                  <a:tcPr anchor="ctr"/>
                </a:tc>
                <a:tc hMerge="1">
                  <a:txBody>
                    <a:bodyPr/>
                    <a:lstStyle/>
                    <a:p>
                      <a:pPr algn="ctr"/>
                      <a:r>
                        <a:rPr lang="en-CA" sz="2800" dirty="0"/>
                        <a:t>0</a:t>
                      </a:r>
                    </a:p>
                  </a:txBody>
                  <a:tcPr anchor="ctr"/>
                </a:tc>
                <a:tc hMerge="1">
                  <a:txBody>
                    <a:bodyPr/>
                    <a:lstStyle/>
                    <a:p>
                      <a:pPr algn="ctr"/>
                      <a:endParaRPr lang="en-CA" sz="2800" dirty="0"/>
                    </a:p>
                  </a:txBody>
                  <a:tcPr anchor="ctr"/>
                </a:tc>
                <a:tc>
                  <a:txBody>
                    <a:bodyPr/>
                    <a:lstStyle/>
                    <a:p>
                      <a:pPr algn="ctr">
                        <a:lnSpc>
                          <a:spcPct val="80000"/>
                        </a:lnSpc>
                      </a:pPr>
                      <a:r>
                        <a:rPr lang="en-CA" sz="2800" dirty="0">
                          <a:latin typeface="+mj-lt"/>
                        </a:rPr>
                        <a:t>C</a:t>
                      </a:r>
                    </a:p>
                  </a:txBody>
                  <a:tcPr anchor="ctr"/>
                </a:tc>
                <a:tc>
                  <a:txBody>
                    <a:bodyPr/>
                    <a:lstStyle/>
                    <a:p>
                      <a:pPr algn="ctr">
                        <a:lnSpc>
                          <a:spcPct val="80000"/>
                        </a:lnSpc>
                      </a:pPr>
                      <a:r>
                        <a:rPr lang="en-CA" sz="2800" dirty="0">
                          <a:latin typeface="+mj-lt"/>
                        </a:rPr>
                        <a:t>R3 (D)</a:t>
                      </a:r>
                    </a:p>
                  </a:txBody>
                  <a:tcPr anchor="ctr"/>
                </a:tc>
                <a:extLst>
                  <a:ext uri="{0D108BD9-81ED-4DB2-BD59-A6C34878D82A}">
                    <a16:rowId xmlns:a16="http://schemas.microsoft.com/office/drawing/2014/main" val="2072660025"/>
                  </a:ext>
                </a:extLst>
              </a:tr>
              <a:tr h="460840">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b="1" dirty="0">
                          <a:solidFill>
                            <a:srgbClr val="00B050"/>
                          </a:solidFill>
                          <a:latin typeface="+mj-lt"/>
                        </a:rPr>
                        <a:t>0</a:t>
                      </a:r>
                    </a:p>
                  </a:txBody>
                  <a:tcPr anchor="ctr"/>
                </a:tc>
                <a:extLst>
                  <a:ext uri="{0D108BD9-81ED-4DB2-BD59-A6C34878D82A}">
                    <a16:rowId xmlns:a16="http://schemas.microsoft.com/office/drawing/2014/main" val="2050964191"/>
                  </a:ext>
                </a:extLst>
              </a:tr>
              <a:tr h="460840">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b="1" dirty="0">
                          <a:solidFill>
                            <a:srgbClr val="00B050"/>
                          </a:solidFill>
                          <a:latin typeface="+mj-lt"/>
                        </a:rPr>
                        <a:t>1</a:t>
                      </a:r>
                    </a:p>
                  </a:txBody>
                  <a:tcPr anchor="ctr"/>
                </a:tc>
                <a:extLst>
                  <a:ext uri="{0D108BD9-81ED-4DB2-BD59-A6C34878D82A}">
                    <a16:rowId xmlns:a16="http://schemas.microsoft.com/office/drawing/2014/main" val="853321946"/>
                  </a:ext>
                </a:extLst>
              </a:tr>
              <a:tr h="460840">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b="1" dirty="0">
                          <a:solidFill>
                            <a:srgbClr val="00B050"/>
                          </a:solidFill>
                          <a:latin typeface="+mj-lt"/>
                        </a:rPr>
                        <a:t>2</a:t>
                      </a:r>
                    </a:p>
                  </a:txBody>
                  <a:tcPr anchor="ctr"/>
                </a:tc>
                <a:extLst>
                  <a:ext uri="{0D108BD9-81ED-4DB2-BD59-A6C34878D82A}">
                    <a16:rowId xmlns:a16="http://schemas.microsoft.com/office/drawing/2014/main" val="3241713093"/>
                  </a:ext>
                </a:extLst>
              </a:tr>
              <a:tr h="460840">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b="1" dirty="0">
                          <a:solidFill>
                            <a:srgbClr val="00B050"/>
                          </a:solidFill>
                          <a:latin typeface="+mj-lt"/>
                        </a:rPr>
                        <a:t>3</a:t>
                      </a:r>
                    </a:p>
                  </a:txBody>
                  <a:tcPr anchor="ctr"/>
                </a:tc>
                <a:extLst>
                  <a:ext uri="{0D108BD9-81ED-4DB2-BD59-A6C34878D82A}">
                    <a16:rowId xmlns:a16="http://schemas.microsoft.com/office/drawing/2014/main" val="2597952795"/>
                  </a:ext>
                </a:extLst>
              </a:tr>
              <a:tr h="460840">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1</a:t>
                      </a:r>
                    </a:p>
                  </a:txBody>
                  <a:tcPr anchor="ctr"/>
                </a:tc>
                <a:tc>
                  <a:txBody>
                    <a:bodyPr/>
                    <a:lstStyle/>
                    <a:p>
                      <a:pPr algn="ctr">
                        <a:lnSpc>
                          <a:spcPct val="80000"/>
                        </a:lnSpc>
                      </a:pPr>
                      <a:r>
                        <a:rPr lang="en-CA" sz="2800" b="1" dirty="0">
                          <a:solidFill>
                            <a:srgbClr val="00B050"/>
                          </a:solidFill>
                          <a:latin typeface="+mj-lt"/>
                        </a:rPr>
                        <a:t>3</a:t>
                      </a:r>
                    </a:p>
                  </a:txBody>
                  <a:tcPr anchor="ctr"/>
                </a:tc>
                <a:extLst>
                  <a:ext uri="{0D108BD9-81ED-4DB2-BD59-A6C34878D82A}">
                    <a16:rowId xmlns:a16="http://schemas.microsoft.com/office/drawing/2014/main" val="1532092460"/>
                  </a:ext>
                </a:extLst>
              </a:tr>
              <a:tr h="460840">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0</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b="1" dirty="0">
                          <a:solidFill>
                            <a:srgbClr val="00B050"/>
                          </a:solidFill>
                          <a:latin typeface="+mj-lt"/>
                        </a:rPr>
                        <a:t>4</a:t>
                      </a:r>
                    </a:p>
                  </a:txBody>
                  <a:tcPr anchor="ctr"/>
                </a:tc>
                <a:extLst>
                  <a:ext uri="{0D108BD9-81ED-4DB2-BD59-A6C34878D82A}">
                    <a16:rowId xmlns:a16="http://schemas.microsoft.com/office/drawing/2014/main" val="2122905002"/>
                  </a:ext>
                </a:extLst>
              </a:tr>
              <a:tr h="460840">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latin typeface="+mj-lt"/>
                        </a:rPr>
                        <a:t>1</a:t>
                      </a:r>
                    </a:p>
                  </a:txBody>
                  <a:tcPr anchor="ctr"/>
                </a:tc>
                <a:tc>
                  <a:txBody>
                    <a:bodyPr/>
                    <a:lstStyle/>
                    <a:p>
                      <a:pPr algn="ctr">
                        <a:lnSpc>
                          <a:spcPct val="80000"/>
                        </a:lnSpc>
                      </a:pPr>
                      <a:r>
                        <a:rPr lang="en-CA" sz="2800" dirty="0">
                          <a:solidFill>
                            <a:srgbClr val="FF0000"/>
                          </a:solidFill>
                          <a:latin typeface="+mj-lt"/>
                        </a:rPr>
                        <a:t>0</a:t>
                      </a:r>
                    </a:p>
                  </a:txBody>
                  <a:tcPr anchor="ctr"/>
                </a:tc>
                <a:tc>
                  <a:txBody>
                    <a:bodyPr/>
                    <a:lstStyle/>
                    <a:p>
                      <a:pPr algn="ctr">
                        <a:lnSpc>
                          <a:spcPct val="80000"/>
                        </a:lnSpc>
                      </a:pPr>
                      <a:r>
                        <a:rPr lang="en-CA" sz="2800" b="1" dirty="0">
                          <a:solidFill>
                            <a:srgbClr val="00B050"/>
                          </a:solidFill>
                          <a:latin typeface="+mj-lt"/>
                        </a:rPr>
                        <a:t>5</a:t>
                      </a:r>
                    </a:p>
                  </a:txBody>
                  <a:tcPr anchor="ctr"/>
                </a:tc>
                <a:extLst>
                  <a:ext uri="{0D108BD9-81ED-4DB2-BD59-A6C34878D82A}">
                    <a16:rowId xmlns:a16="http://schemas.microsoft.com/office/drawing/2014/main" val="2153210214"/>
                  </a:ext>
                </a:extLst>
              </a:tr>
            </a:tbl>
          </a:graphicData>
        </a:graphic>
      </p:graphicFrame>
      <p:cxnSp>
        <p:nvCxnSpPr>
          <p:cNvPr id="11" name="Straight Arrow Connector 10">
            <a:extLst>
              <a:ext uri="{FF2B5EF4-FFF2-40B4-BE49-F238E27FC236}">
                <a16:creationId xmlns:a16="http://schemas.microsoft.com/office/drawing/2014/main" id="{CD7BF6D5-3402-0115-BFBC-FA258B3610AE}"/>
              </a:ext>
            </a:extLst>
          </p:cNvPr>
          <p:cNvCxnSpPr>
            <a:cxnSpLocks/>
          </p:cNvCxnSpPr>
          <p:nvPr/>
        </p:nvCxnSpPr>
        <p:spPr>
          <a:xfrm>
            <a:off x="13447059"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68553AA-E396-A720-3E98-A1370214A5D6}"/>
              </a:ext>
            </a:extLst>
          </p:cNvPr>
          <p:cNvCxnSpPr>
            <a:cxnSpLocks/>
          </p:cNvCxnSpPr>
          <p:nvPr/>
        </p:nvCxnSpPr>
        <p:spPr>
          <a:xfrm>
            <a:off x="12916043"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41CDB88-CEAC-5BF7-6BD5-27B9A319A507}"/>
              </a:ext>
            </a:extLst>
          </p:cNvPr>
          <p:cNvCxnSpPr>
            <a:cxnSpLocks/>
          </p:cNvCxnSpPr>
          <p:nvPr/>
        </p:nvCxnSpPr>
        <p:spPr>
          <a:xfrm>
            <a:off x="12385026"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D942989-D432-2149-56AE-9F0C6DE26C38}"/>
              </a:ext>
            </a:extLst>
          </p:cNvPr>
          <p:cNvCxnSpPr>
            <a:cxnSpLocks/>
          </p:cNvCxnSpPr>
          <p:nvPr/>
        </p:nvCxnSpPr>
        <p:spPr>
          <a:xfrm>
            <a:off x="11854009"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01D8891-0DD6-23EB-CDBE-DD4DF683FC15}"/>
              </a:ext>
            </a:extLst>
          </p:cNvPr>
          <p:cNvCxnSpPr>
            <a:cxnSpLocks/>
          </p:cNvCxnSpPr>
          <p:nvPr/>
        </p:nvCxnSpPr>
        <p:spPr>
          <a:xfrm>
            <a:off x="11322992"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C1DE50E-4D30-F1A1-E227-73AB7B99E338}"/>
              </a:ext>
            </a:extLst>
          </p:cNvPr>
          <p:cNvCxnSpPr>
            <a:cxnSpLocks/>
          </p:cNvCxnSpPr>
          <p:nvPr/>
        </p:nvCxnSpPr>
        <p:spPr>
          <a:xfrm>
            <a:off x="10791975"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972C464-9A5E-2CB6-FC89-3A17EAF382FD}"/>
              </a:ext>
            </a:extLst>
          </p:cNvPr>
          <p:cNvCxnSpPr>
            <a:cxnSpLocks/>
          </p:cNvCxnSpPr>
          <p:nvPr/>
        </p:nvCxnSpPr>
        <p:spPr>
          <a:xfrm>
            <a:off x="10260958"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B2C4595-2CEC-2EB2-0C3F-9603F795AA9F}"/>
              </a:ext>
            </a:extLst>
          </p:cNvPr>
          <p:cNvCxnSpPr>
            <a:cxnSpLocks/>
          </p:cNvCxnSpPr>
          <p:nvPr/>
        </p:nvCxnSpPr>
        <p:spPr>
          <a:xfrm>
            <a:off x="9729941" y="5017171"/>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BDDCC9A-66DF-CE52-27C8-DE268C9E8CB6}"/>
              </a:ext>
            </a:extLst>
          </p:cNvPr>
          <p:cNvSpPr/>
          <p:nvPr/>
        </p:nvSpPr>
        <p:spPr>
          <a:xfrm>
            <a:off x="14682084" y="5115258"/>
            <a:ext cx="497261" cy="46079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A9ED0CD0-DDF4-C24F-EBCE-C4C878D8CF57}"/>
              </a:ext>
            </a:extLst>
          </p:cNvPr>
          <p:cNvCxnSpPr>
            <a:cxnSpLocks/>
          </p:cNvCxnSpPr>
          <p:nvPr/>
        </p:nvCxnSpPr>
        <p:spPr>
          <a:xfrm>
            <a:off x="13429640"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EAB43C2-59C0-AE0A-98EB-BAD2899F1A59}"/>
              </a:ext>
            </a:extLst>
          </p:cNvPr>
          <p:cNvCxnSpPr>
            <a:cxnSpLocks/>
          </p:cNvCxnSpPr>
          <p:nvPr/>
        </p:nvCxnSpPr>
        <p:spPr>
          <a:xfrm>
            <a:off x="12898624"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6F4FDB1-7A65-DB1D-099B-6969247FF085}"/>
              </a:ext>
            </a:extLst>
          </p:cNvPr>
          <p:cNvCxnSpPr>
            <a:cxnSpLocks/>
          </p:cNvCxnSpPr>
          <p:nvPr/>
        </p:nvCxnSpPr>
        <p:spPr>
          <a:xfrm>
            <a:off x="12367607"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5C374CD-7F8B-7A66-C993-4E72A7217ABC}"/>
              </a:ext>
            </a:extLst>
          </p:cNvPr>
          <p:cNvCxnSpPr>
            <a:cxnSpLocks/>
          </p:cNvCxnSpPr>
          <p:nvPr/>
        </p:nvCxnSpPr>
        <p:spPr>
          <a:xfrm>
            <a:off x="11836590"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4C4E774-3529-5FD1-63A3-4E0AE064031D}"/>
              </a:ext>
            </a:extLst>
          </p:cNvPr>
          <p:cNvCxnSpPr>
            <a:cxnSpLocks/>
          </p:cNvCxnSpPr>
          <p:nvPr/>
        </p:nvCxnSpPr>
        <p:spPr>
          <a:xfrm>
            <a:off x="11305573"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A355D9E-C7A6-6233-A001-F0D7C4D94728}"/>
              </a:ext>
            </a:extLst>
          </p:cNvPr>
          <p:cNvCxnSpPr>
            <a:cxnSpLocks/>
          </p:cNvCxnSpPr>
          <p:nvPr/>
        </p:nvCxnSpPr>
        <p:spPr>
          <a:xfrm>
            <a:off x="10774556"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21D1B1F-A0EB-C106-F968-B5389797AE88}"/>
              </a:ext>
            </a:extLst>
          </p:cNvPr>
          <p:cNvCxnSpPr>
            <a:cxnSpLocks/>
          </p:cNvCxnSpPr>
          <p:nvPr/>
        </p:nvCxnSpPr>
        <p:spPr>
          <a:xfrm>
            <a:off x="10243539"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F048602-96F3-7200-6ECB-6798FCB1FB83}"/>
              </a:ext>
            </a:extLst>
          </p:cNvPr>
          <p:cNvCxnSpPr>
            <a:cxnSpLocks/>
          </p:cNvCxnSpPr>
          <p:nvPr/>
        </p:nvCxnSpPr>
        <p:spPr>
          <a:xfrm>
            <a:off x="9712522" y="5901089"/>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A3D6C72A-F33F-6836-F9F5-9CCC5BDF3E15}"/>
              </a:ext>
            </a:extLst>
          </p:cNvPr>
          <p:cNvSpPr/>
          <p:nvPr/>
        </p:nvSpPr>
        <p:spPr>
          <a:xfrm>
            <a:off x="14664665" y="6051438"/>
            <a:ext cx="497261" cy="46079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5D22E896-7D71-C17C-A619-40AD08674426}"/>
              </a:ext>
            </a:extLst>
          </p:cNvPr>
          <p:cNvCxnSpPr>
            <a:cxnSpLocks/>
          </p:cNvCxnSpPr>
          <p:nvPr/>
        </p:nvCxnSpPr>
        <p:spPr>
          <a:xfrm>
            <a:off x="13425284"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783FEA7-1D93-784D-4304-E687D40E88E0}"/>
              </a:ext>
            </a:extLst>
          </p:cNvPr>
          <p:cNvCxnSpPr>
            <a:cxnSpLocks/>
          </p:cNvCxnSpPr>
          <p:nvPr/>
        </p:nvCxnSpPr>
        <p:spPr>
          <a:xfrm>
            <a:off x="12894268"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7C20FFA-61D7-EDCB-4C2E-D1A4CD33693A}"/>
              </a:ext>
            </a:extLst>
          </p:cNvPr>
          <p:cNvCxnSpPr>
            <a:cxnSpLocks/>
          </p:cNvCxnSpPr>
          <p:nvPr/>
        </p:nvCxnSpPr>
        <p:spPr>
          <a:xfrm>
            <a:off x="12363251"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D82B930-859E-D45D-A6DD-8E92922B2015}"/>
              </a:ext>
            </a:extLst>
          </p:cNvPr>
          <p:cNvCxnSpPr>
            <a:cxnSpLocks/>
          </p:cNvCxnSpPr>
          <p:nvPr/>
        </p:nvCxnSpPr>
        <p:spPr>
          <a:xfrm>
            <a:off x="11832234"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503E9F6-C131-7C08-8488-8DF6F4884215}"/>
              </a:ext>
            </a:extLst>
          </p:cNvPr>
          <p:cNvCxnSpPr>
            <a:cxnSpLocks/>
          </p:cNvCxnSpPr>
          <p:nvPr/>
        </p:nvCxnSpPr>
        <p:spPr>
          <a:xfrm>
            <a:off x="11301217"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286793F-2737-175D-D098-3A19A90526AD}"/>
              </a:ext>
            </a:extLst>
          </p:cNvPr>
          <p:cNvCxnSpPr>
            <a:cxnSpLocks/>
          </p:cNvCxnSpPr>
          <p:nvPr/>
        </p:nvCxnSpPr>
        <p:spPr>
          <a:xfrm>
            <a:off x="10770200"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B5CD738-D93C-0B3C-D594-DE3C8DE2DA20}"/>
              </a:ext>
            </a:extLst>
          </p:cNvPr>
          <p:cNvCxnSpPr>
            <a:cxnSpLocks/>
          </p:cNvCxnSpPr>
          <p:nvPr/>
        </p:nvCxnSpPr>
        <p:spPr>
          <a:xfrm>
            <a:off x="10239183"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4E0822F-E8B0-23FF-EC08-C61B24D99A8F}"/>
              </a:ext>
            </a:extLst>
          </p:cNvPr>
          <p:cNvCxnSpPr>
            <a:cxnSpLocks/>
          </p:cNvCxnSpPr>
          <p:nvPr/>
        </p:nvCxnSpPr>
        <p:spPr>
          <a:xfrm>
            <a:off x="9708166" y="7294458"/>
            <a:ext cx="215153"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A349C1EF-5D17-5652-EF86-EF4D6FBAF791}"/>
              </a:ext>
            </a:extLst>
          </p:cNvPr>
          <p:cNvSpPr/>
          <p:nvPr/>
        </p:nvSpPr>
        <p:spPr>
          <a:xfrm>
            <a:off x="14686435" y="7431746"/>
            <a:ext cx="497261" cy="46079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89D8937B-260C-32B4-84F1-801DB1674645}"/>
              </a:ext>
            </a:extLst>
          </p:cNvPr>
          <p:cNvCxnSpPr/>
          <p:nvPr/>
        </p:nvCxnSpPr>
        <p:spPr>
          <a:xfrm>
            <a:off x="8895806" y="5361159"/>
            <a:ext cx="58782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CC21E63-6F5B-4A71-CCC2-1ADEEAB03F7D}"/>
              </a:ext>
            </a:extLst>
          </p:cNvPr>
          <p:cNvSpPr txBox="1"/>
          <p:nvPr/>
        </p:nvSpPr>
        <p:spPr>
          <a:xfrm>
            <a:off x="4924698" y="5139089"/>
            <a:ext cx="3966760" cy="430887"/>
          </a:xfrm>
          <a:prstGeom prst="rect">
            <a:avLst/>
          </a:prstGeom>
          <a:noFill/>
        </p:spPr>
        <p:txBody>
          <a:bodyPr wrap="square" rtlCol="0">
            <a:spAutoFit/>
          </a:bodyPr>
          <a:lstStyle/>
          <a:p>
            <a:pPr algn="r"/>
            <a:r>
              <a:rPr lang="en-US" sz="2200" dirty="0">
                <a:solidFill>
                  <a:srgbClr val="00B050"/>
                </a:solidFill>
                <a:latin typeface="Times New Roman" panose="02020603050405020304" pitchFamily="18" charset="0"/>
                <a:cs typeface="Times New Roman" panose="02020603050405020304" pitchFamily="18" charset="0"/>
              </a:rPr>
              <a:t>A one (1) is inserted at the MSB</a:t>
            </a:r>
          </a:p>
        </p:txBody>
      </p:sp>
      <p:sp>
        <p:nvSpPr>
          <p:cNvPr id="37" name="Oval 36">
            <a:extLst>
              <a:ext uri="{FF2B5EF4-FFF2-40B4-BE49-F238E27FC236}">
                <a16:creationId xmlns:a16="http://schemas.microsoft.com/office/drawing/2014/main" id="{E5E254C1-8039-6ECA-B861-0B2D54EA0573}"/>
              </a:ext>
            </a:extLst>
          </p:cNvPr>
          <p:cNvSpPr/>
          <p:nvPr/>
        </p:nvSpPr>
        <p:spPr>
          <a:xfrm>
            <a:off x="14666942" y="5589684"/>
            <a:ext cx="497261" cy="46079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FCC99B63-FCC7-9919-9F58-48A937A8C75E}"/>
              </a:ext>
            </a:extLst>
          </p:cNvPr>
          <p:cNvPicPr>
            <a:picLocks noChangeAspect="1"/>
          </p:cNvPicPr>
          <p:nvPr/>
        </p:nvPicPr>
        <p:blipFill>
          <a:blip r:embed="rId3"/>
          <a:stretch>
            <a:fillRect/>
          </a:stretch>
        </p:blipFill>
        <p:spPr>
          <a:xfrm>
            <a:off x="655094" y="977352"/>
            <a:ext cx="3412598" cy="6929647"/>
          </a:xfrm>
          <a:prstGeom prst="rect">
            <a:avLst/>
          </a:prstGeom>
        </p:spPr>
      </p:pic>
    </p:spTree>
    <p:extLst>
      <p:ext uri="{BB962C8B-B14F-4D97-AF65-F5344CB8AC3E}">
        <p14:creationId xmlns:p14="http://schemas.microsoft.com/office/powerpoint/2010/main" val="163416060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circle(in)">
                                      <p:cBhvr>
                                        <p:cTn id="11" dur="2000"/>
                                        <p:tgtEl>
                                          <p:spTgt spid="11"/>
                                        </p:tgtEl>
                                      </p:cBhvr>
                                    </p:animEffect>
                                  </p:childTnLst>
                                </p:cTn>
                              </p:par>
                              <p:par>
                                <p:cTn id="12" presetID="6" presetClass="entr" presetSubtype="16"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ircle(in)">
                                      <p:cBhvr>
                                        <p:cTn id="14" dur="2000"/>
                                        <p:tgtEl>
                                          <p:spTgt spid="12"/>
                                        </p:tgtEl>
                                      </p:cBhvr>
                                    </p:animEffect>
                                  </p:childTnLst>
                                </p:cTn>
                              </p:par>
                              <p:par>
                                <p:cTn id="15" presetID="6" presetClass="entr" presetSubtype="16"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ircle(in)">
                                      <p:cBhvr>
                                        <p:cTn id="17" dur="2000"/>
                                        <p:tgtEl>
                                          <p:spTgt spid="13"/>
                                        </p:tgtEl>
                                      </p:cBhvr>
                                    </p:animEffect>
                                  </p:childTnLst>
                                </p:cTn>
                              </p:par>
                              <p:par>
                                <p:cTn id="18" presetID="6" presetClass="entr" presetSubtype="16"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circle(in)">
                                      <p:cBhvr>
                                        <p:cTn id="20" dur="2000"/>
                                        <p:tgtEl>
                                          <p:spTgt spid="14"/>
                                        </p:tgtEl>
                                      </p:cBhvr>
                                    </p:animEffect>
                                  </p:childTnLst>
                                </p:cTn>
                              </p:par>
                              <p:par>
                                <p:cTn id="21" presetID="6" presetClass="entr" presetSubtype="16"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ircle(in)">
                                      <p:cBhvr>
                                        <p:cTn id="23" dur="2000"/>
                                        <p:tgtEl>
                                          <p:spTgt spid="15"/>
                                        </p:tgtEl>
                                      </p:cBhvr>
                                    </p:animEffect>
                                  </p:childTnLst>
                                </p:cTn>
                              </p:par>
                              <p:par>
                                <p:cTn id="24" presetID="6" presetClass="entr" presetSubtype="16"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circle(in)">
                                      <p:cBhvr>
                                        <p:cTn id="26" dur="2000"/>
                                        <p:tgtEl>
                                          <p:spTgt spid="16"/>
                                        </p:tgtEl>
                                      </p:cBhvr>
                                    </p:animEffect>
                                  </p:childTnLst>
                                </p:cTn>
                              </p:par>
                              <p:par>
                                <p:cTn id="27" presetID="6" presetClass="entr" presetSubtype="16"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circle(in)">
                                      <p:cBhvr>
                                        <p:cTn id="29" dur="2000"/>
                                        <p:tgtEl>
                                          <p:spTgt spid="17"/>
                                        </p:tgtEl>
                                      </p:cBhvr>
                                    </p:animEffect>
                                  </p:childTnLst>
                                </p:cTn>
                              </p:par>
                              <p:par>
                                <p:cTn id="30" presetID="6" presetClass="entr" presetSubtype="16"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circle(in)">
                                      <p:cBhvr>
                                        <p:cTn id="32" dur="20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left)">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wipe(down)">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heel(1)">
                                      <p:cBhvr>
                                        <p:cTn id="47" dur="20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circle(in)">
                                      <p:cBhvr>
                                        <p:cTn id="52" dur="2000"/>
                                        <p:tgtEl>
                                          <p:spTgt spid="10"/>
                                        </p:tgtEl>
                                      </p:cBhvr>
                                    </p:animEffect>
                                  </p:childTnLst>
                                </p:cTn>
                              </p:par>
                              <p:par>
                                <p:cTn id="53" presetID="6" presetClass="entr" presetSubtype="16"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circle(in)">
                                      <p:cBhvr>
                                        <p:cTn id="55" dur="2000"/>
                                        <p:tgtEl>
                                          <p:spTgt spid="20"/>
                                        </p:tgtEl>
                                      </p:cBhvr>
                                    </p:animEffect>
                                  </p:childTnLst>
                                </p:cTn>
                              </p:par>
                              <p:par>
                                <p:cTn id="56" presetID="6" presetClass="entr" presetSubtype="16"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circle(in)">
                                      <p:cBhvr>
                                        <p:cTn id="58" dur="2000"/>
                                        <p:tgtEl>
                                          <p:spTgt spid="21"/>
                                        </p:tgtEl>
                                      </p:cBhvr>
                                    </p:animEffect>
                                  </p:childTnLst>
                                </p:cTn>
                              </p:par>
                              <p:par>
                                <p:cTn id="59" presetID="6" presetClass="entr" presetSubtype="16"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circle(in)">
                                      <p:cBhvr>
                                        <p:cTn id="61" dur="2000"/>
                                        <p:tgtEl>
                                          <p:spTgt spid="22"/>
                                        </p:tgtEl>
                                      </p:cBhvr>
                                    </p:animEffect>
                                  </p:childTnLst>
                                </p:cTn>
                              </p:par>
                              <p:par>
                                <p:cTn id="62" presetID="6" presetClass="entr" presetSubtype="16"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circle(in)">
                                      <p:cBhvr>
                                        <p:cTn id="64" dur="20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21" presetClass="entr" presetSubtype="1"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wheel(1)">
                                      <p:cBhvr>
                                        <p:cTn id="69" dur="2000"/>
                                        <p:tgtEl>
                                          <p:spTgt spid="37"/>
                                        </p:tgtEl>
                                      </p:cBhvr>
                                    </p:animEffect>
                                  </p:childTnLst>
                                </p:cTn>
                              </p:par>
                              <p:par>
                                <p:cTn id="70" presetID="6" presetClass="entr" presetSubtype="16"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circle(in)">
                                      <p:cBhvr>
                                        <p:cTn id="72" dur="2000"/>
                                        <p:tgtEl>
                                          <p:spTgt spid="24"/>
                                        </p:tgtEl>
                                      </p:cBhvr>
                                    </p:animEffect>
                                  </p:childTnLst>
                                </p:cTn>
                              </p:par>
                              <p:par>
                                <p:cTn id="73" presetID="6" presetClass="entr" presetSubtype="16"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circle(in)">
                                      <p:cBhvr>
                                        <p:cTn id="75" dur="2000"/>
                                        <p:tgtEl>
                                          <p:spTgt spid="25"/>
                                        </p:tgtEl>
                                      </p:cBhvr>
                                    </p:animEffect>
                                  </p:childTnLst>
                                </p:cTn>
                              </p:par>
                              <p:par>
                                <p:cTn id="76" presetID="6" presetClass="entr" presetSubtype="16"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circle(in)">
                                      <p:cBhvr>
                                        <p:cTn id="78" dur="2000"/>
                                        <p:tgtEl>
                                          <p:spTgt spid="26"/>
                                        </p:tgtEl>
                                      </p:cBhvr>
                                    </p:animEffect>
                                  </p:childTnLst>
                                </p:cTn>
                              </p:par>
                            </p:childTnLst>
                          </p:cTn>
                        </p:par>
                      </p:childTnLst>
                    </p:cTn>
                  </p:par>
                  <p:par>
                    <p:cTn id="79" fill="hold">
                      <p:stCondLst>
                        <p:cond delay="indefinite"/>
                      </p:stCondLst>
                      <p:childTnLst>
                        <p:par>
                          <p:cTn id="80" fill="hold">
                            <p:stCondLst>
                              <p:cond delay="0"/>
                            </p:stCondLst>
                            <p:childTnLst>
                              <p:par>
                                <p:cTn id="81" presetID="21" presetClass="entr" presetSubtype="1"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heel(1)">
                                      <p:cBhvr>
                                        <p:cTn id="83" dur="2000"/>
                                        <p:tgtEl>
                                          <p:spTgt spid="27"/>
                                        </p:tgtEl>
                                      </p:cBhvr>
                                    </p:animEffect>
                                  </p:childTnLst>
                                </p:cTn>
                              </p:par>
                            </p:childTnLst>
                          </p:cTn>
                        </p:par>
                      </p:childTnLst>
                    </p:cTn>
                  </p:par>
                  <p:par>
                    <p:cTn id="84" fill="hold">
                      <p:stCondLst>
                        <p:cond delay="indefinite"/>
                      </p:stCondLst>
                      <p:childTnLst>
                        <p:par>
                          <p:cTn id="85" fill="hold">
                            <p:stCondLst>
                              <p:cond delay="0"/>
                            </p:stCondLst>
                            <p:childTnLst>
                              <p:par>
                                <p:cTn id="86" presetID="6" presetClass="entr" presetSubtype="16" fill="hold" nodeType="click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circle(in)">
                                      <p:cBhvr>
                                        <p:cTn id="88" dur="2000"/>
                                        <p:tgtEl>
                                          <p:spTgt spid="28"/>
                                        </p:tgtEl>
                                      </p:cBhvr>
                                    </p:animEffect>
                                  </p:childTnLst>
                                </p:cTn>
                              </p:par>
                              <p:par>
                                <p:cTn id="89" presetID="6" presetClass="entr" presetSubtype="16" fill="hold"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circle(in)">
                                      <p:cBhvr>
                                        <p:cTn id="91" dur="2000"/>
                                        <p:tgtEl>
                                          <p:spTgt spid="29"/>
                                        </p:tgtEl>
                                      </p:cBhvr>
                                    </p:animEffect>
                                  </p:childTnLst>
                                </p:cTn>
                              </p:par>
                              <p:par>
                                <p:cTn id="92" presetID="6" presetClass="entr" presetSubtype="16" fill="hold" nodeType="with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circle(in)">
                                      <p:cBhvr>
                                        <p:cTn id="94" dur="2000"/>
                                        <p:tgtEl>
                                          <p:spTgt spid="30"/>
                                        </p:tgtEl>
                                      </p:cBhvr>
                                    </p:animEffect>
                                  </p:childTnLst>
                                </p:cTn>
                              </p:par>
                              <p:par>
                                <p:cTn id="95" presetID="6" presetClass="entr" presetSubtype="16" fill="hold"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circle(in)">
                                      <p:cBhvr>
                                        <p:cTn id="97" dur="2000"/>
                                        <p:tgtEl>
                                          <p:spTgt spid="31"/>
                                        </p:tgtEl>
                                      </p:cBhvr>
                                    </p:animEffect>
                                  </p:childTnLst>
                                </p:cTn>
                              </p:par>
                              <p:par>
                                <p:cTn id="98" presetID="6" presetClass="entr" presetSubtype="16" fill="hold" nodeType="with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circle(in)">
                                      <p:cBhvr>
                                        <p:cTn id="100" dur="2000"/>
                                        <p:tgtEl>
                                          <p:spTgt spid="32"/>
                                        </p:tgtEl>
                                      </p:cBhvr>
                                    </p:animEffect>
                                  </p:childTnLst>
                                </p:cTn>
                              </p:par>
                              <p:par>
                                <p:cTn id="101" presetID="6" presetClass="entr" presetSubtype="16" fill="hold"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circle(in)">
                                      <p:cBhvr>
                                        <p:cTn id="103" dur="2000"/>
                                        <p:tgtEl>
                                          <p:spTgt spid="33"/>
                                        </p:tgtEl>
                                      </p:cBhvr>
                                    </p:animEffect>
                                  </p:childTnLst>
                                </p:cTn>
                              </p:par>
                              <p:par>
                                <p:cTn id="104" presetID="6" presetClass="entr" presetSubtype="16" fill="hold"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circle(in)">
                                      <p:cBhvr>
                                        <p:cTn id="106" dur="2000"/>
                                        <p:tgtEl>
                                          <p:spTgt spid="34"/>
                                        </p:tgtEl>
                                      </p:cBhvr>
                                    </p:animEffect>
                                  </p:childTnLst>
                                </p:cTn>
                              </p:par>
                              <p:par>
                                <p:cTn id="107" presetID="6" presetClass="entr" presetSubtype="16" fill="hold" nodeType="with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circle(in)">
                                      <p:cBhvr>
                                        <p:cTn id="109" dur="2000"/>
                                        <p:tgtEl>
                                          <p:spTgt spid="35"/>
                                        </p:tgtEl>
                                      </p:cBhvr>
                                    </p:animEffect>
                                  </p:childTnLst>
                                </p:cTn>
                              </p:par>
                            </p:childTnLst>
                          </p:cTn>
                        </p:par>
                      </p:childTnLst>
                    </p:cTn>
                  </p:par>
                  <p:par>
                    <p:cTn id="110" fill="hold">
                      <p:stCondLst>
                        <p:cond delay="indefinite"/>
                      </p:stCondLst>
                      <p:childTnLst>
                        <p:par>
                          <p:cTn id="111" fill="hold">
                            <p:stCondLst>
                              <p:cond delay="0"/>
                            </p:stCondLst>
                            <p:childTnLst>
                              <p:par>
                                <p:cTn id="112" presetID="21" presetClass="entr" presetSubtype="1" fill="hold" grpId="0" nodeType="clickEffect">
                                  <p:stCondLst>
                                    <p:cond delay="0"/>
                                  </p:stCondLst>
                                  <p:childTnLst>
                                    <p:set>
                                      <p:cBhvr>
                                        <p:cTn id="113" dur="1" fill="hold">
                                          <p:stCondLst>
                                            <p:cond delay="0"/>
                                          </p:stCondLst>
                                        </p:cTn>
                                        <p:tgtEl>
                                          <p:spTgt spid="36"/>
                                        </p:tgtEl>
                                        <p:attrNameLst>
                                          <p:attrName>style.visibility</p:attrName>
                                        </p:attrNameLst>
                                      </p:cBhvr>
                                      <p:to>
                                        <p:strVal val="visible"/>
                                      </p:to>
                                    </p:set>
                                    <p:animEffect transition="in" filter="wheel(1)">
                                      <p:cBhvr>
                                        <p:cTn id="114"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7" grpId="0" animBg="1"/>
      <p:bldP spid="36" grpId="0" animBg="1"/>
      <p:bldP spid="39" grpId="0"/>
      <p:bldP spid="3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F39DD-B26D-82A0-E51F-1297CA0DE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17BE8-5304-A086-005A-00B366906C7B}"/>
              </a:ext>
            </a:extLst>
          </p:cNvPr>
          <p:cNvSpPr>
            <a:spLocks noGrp="1"/>
          </p:cNvSpPr>
          <p:nvPr>
            <p:ph type="title"/>
          </p:nvPr>
        </p:nvSpPr>
        <p:spPr>
          <a:xfrm>
            <a:off x="1413164" y="339699"/>
            <a:ext cx="14563897" cy="746837"/>
          </a:xfrm>
        </p:spPr>
        <p:txBody>
          <a:bodyPr>
            <a:noAutofit/>
          </a:bodyPr>
          <a:lstStyle/>
          <a:p>
            <a:r>
              <a:rPr lang="en-US" sz="4800" b="1" dirty="0">
                <a:solidFill>
                  <a:srgbClr val="0070C0"/>
                </a:solidFill>
              </a:rPr>
              <a:t>Example: Micro-operation</a:t>
            </a:r>
          </a:p>
        </p:txBody>
      </p:sp>
      <p:sp>
        <p:nvSpPr>
          <p:cNvPr id="3" name="Rectangle 2">
            <a:extLst>
              <a:ext uri="{FF2B5EF4-FFF2-40B4-BE49-F238E27FC236}">
                <a16:creationId xmlns:a16="http://schemas.microsoft.com/office/drawing/2014/main" id="{F4400F87-3DC8-1B49-8722-5DB1B747893E}"/>
              </a:ext>
            </a:extLst>
          </p:cNvPr>
          <p:cNvSpPr/>
          <p:nvPr/>
        </p:nvSpPr>
        <p:spPr>
          <a:xfrm>
            <a:off x="232012" y="990711"/>
            <a:ext cx="16044307" cy="1495794"/>
          </a:xfrm>
          <a:prstGeom prst="rect">
            <a:avLst/>
          </a:prstGeom>
        </p:spPr>
        <p:txBody>
          <a:bodyPr wrap="square">
            <a:spAutoFit/>
          </a:bodyPr>
          <a:lstStyle/>
          <a:p>
            <a:pPr>
              <a:lnSpc>
                <a:spcPct val="95000"/>
              </a:lnSpc>
            </a:pPr>
            <a:r>
              <a:rPr lang="en-US" sz="3200" dirty="0"/>
              <a:t>Write a 16-bit control word in binary and hexadecimal for a micro-operation of ANDing two numbers stored in the registers R3 and R5 with zero carry, and then storing the results in the R7 register after right shifting with carry. Write the necessary micro-operation in symbolic form.</a:t>
            </a:r>
          </a:p>
        </p:txBody>
      </p:sp>
      <p:sp>
        <p:nvSpPr>
          <p:cNvPr id="6" name="Date Placeholder 5">
            <a:extLst>
              <a:ext uri="{FF2B5EF4-FFF2-40B4-BE49-F238E27FC236}">
                <a16:creationId xmlns:a16="http://schemas.microsoft.com/office/drawing/2014/main" id="{62532014-296C-BDC3-E0A8-1F4FCBD0C721}"/>
              </a:ext>
            </a:extLst>
          </p:cNvPr>
          <p:cNvSpPr>
            <a:spLocks noGrp="1"/>
          </p:cNvSpPr>
          <p:nvPr>
            <p:ph type="dt" sz="half" idx="10"/>
          </p:nvPr>
        </p:nvSpPr>
        <p:spPr/>
        <p:txBody>
          <a:bodyPr/>
          <a:lstStyle/>
          <a:p>
            <a:fld id="{E5AB5608-F5B8-4FE5-BFF2-759B9805A31D}" type="datetime3">
              <a:rPr lang="en-US" smtClean="0"/>
              <a:t>6 January 2026</a:t>
            </a:fld>
            <a:endParaRPr lang="en-US"/>
          </a:p>
        </p:txBody>
      </p:sp>
      <p:graphicFrame>
        <p:nvGraphicFramePr>
          <p:cNvPr id="4" name="Table 3">
            <a:extLst>
              <a:ext uri="{FF2B5EF4-FFF2-40B4-BE49-F238E27FC236}">
                <a16:creationId xmlns:a16="http://schemas.microsoft.com/office/drawing/2014/main" id="{F744A081-968C-3F75-F99C-C6E1F69B9457}"/>
              </a:ext>
            </a:extLst>
          </p:cNvPr>
          <p:cNvGraphicFramePr>
            <a:graphicFrameLocks noGrp="1"/>
          </p:cNvGraphicFramePr>
          <p:nvPr>
            <p:extLst>
              <p:ext uri="{D42A27DB-BD31-4B8C-83A1-F6EECF244321}">
                <p14:modId xmlns:p14="http://schemas.microsoft.com/office/powerpoint/2010/main" val="2302908806"/>
              </p:ext>
            </p:extLst>
          </p:nvPr>
        </p:nvGraphicFramePr>
        <p:xfrm>
          <a:off x="337099" y="2486505"/>
          <a:ext cx="13092299" cy="1501140"/>
        </p:xfrm>
        <a:graphic>
          <a:graphicData uri="http://schemas.openxmlformats.org/drawingml/2006/table">
            <a:tbl>
              <a:tblPr firstRow="1" firstCol="1" bandRow="1">
                <a:tableStyleId>{5C22544A-7EE6-4342-B048-85BDC9FD1C3A}</a:tableStyleId>
              </a:tblPr>
              <a:tblGrid>
                <a:gridCol w="2155401">
                  <a:extLst>
                    <a:ext uri="{9D8B030D-6E8A-4147-A177-3AD203B41FA5}">
                      <a16:colId xmlns:a16="http://schemas.microsoft.com/office/drawing/2014/main" val="1217038304"/>
                    </a:ext>
                  </a:extLst>
                </a:gridCol>
                <a:gridCol w="1754105">
                  <a:extLst>
                    <a:ext uri="{9D8B030D-6E8A-4147-A177-3AD203B41FA5}">
                      <a16:colId xmlns:a16="http://schemas.microsoft.com/office/drawing/2014/main" val="4198420477"/>
                    </a:ext>
                  </a:extLst>
                </a:gridCol>
                <a:gridCol w="1307349">
                  <a:extLst>
                    <a:ext uri="{9D8B030D-6E8A-4147-A177-3AD203B41FA5}">
                      <a16:colId xmlns:a16="http://schemas.microsoft.com/office/drawing/2014/main" val="3777207924"/>
                    </a:ext>
                  </a:extLst>
                </a:gridCol>
                <a:gridCol w="1305781">
                  <a:extLst>
                    <a:ext uri="{9D8B030D-6E8A-4147-A177-3AD203B41FA5}">
                      <a16:colId xmlns:a16="http://schemas.microsoft.com/office/drawing/2014/main" val="3026128943"/>
                    </a:ext>
                  </a:extLst>
                </a:gridCol>
                <a:gridCol w="1305781">
                  <a:extLst>
                    <a:ext uri="{9D8B030D-6E8A-4147-A177-3AD203B41FA5}">
                      <a16:colId xmlns:a16="http://schemas.microsoft.com/office/drawing/2014/main" val="1066695343"/>
                    </a:ext>
                  </a:extLst>
                </a:gridCol>
                <a:gridCol w="1305781">
                  <a:extLst>
                    <a:ext uri="{9D8B030D-6E8A-4147-A177-3AD203B41FA5}">
                      <a16:colId xmlns:a16="http://schemas.microsoft.com/office/drawing/2014/main" val="2861399145"/>
                    </a:ext>
                  </a:extLst>
                </a:gridCol>
                <a:gridCol w="1305781">
                  <a:extLst>
                    <a:ext uri="{9D8B030D-6E8A-4147-A177-3AD203B41FA5}">
                      <a16:colId xmlns:a16="http://schemas.microsoft.com/office/drawing/2014/main" val="3266429552"/>
                    </a:ext>
                  </a:extLst>
                </a:gridCol>
                <a:gridCol w="1305781">
                  <a:extLst>
                    <a:ext uri="{9D8B030D-6E8A-4147-A177-3AD203B41FA5}">
                      <a16:colId xmlns:a16="http://schemas.microsoft.com/office/drawing/2014/main" val="1937236051"/>
                    </a:ext>
                  </a:extLst>
                </a:gridCol>
                <a:gridCol w="1346539">
                  <a:extLst>
                    <a:ext uri="{9D8B030D-6E8A-4147-A177-3AD203B41FA5}">
                      <a16:colId xmlns:a16="http://schemas.microsoft.com/office/drawing/2014/main" val="1656078883"/>
                    </a:ext>
                  </a:extLst>
                </a:gridCol>
              </a:tblGrid>
              <a:tr h="330305">
                <a:tc>
                  <a:txBody>
                    <a:bodyPr/>
                    <a:lstStyle/>
                    <a:p>
                      <a:pPr marL="0" marR="0" algn="ctr">
                        <a:spcAft>
                          <a:spcPts val="300"/>
                        </a:spcAft>
                        <a:buNone/>
                      </a:pPr>
                      <a:r>
                        <a:rPr lang="en-US" sz="2400">
                          <a:effectLst/>
                        </a:rPr>
                        <a:t>Register</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gridSpan="8">
                  <a:txBody>
                    <a:bodyPr/>
                    <a:lstStyle/>
                    <a:p>
                      <a:pPr marL="0" marR="0" algn="ctr">
                        <a:spcAft>
                          <a:spcPts val="300"/>
                        </a:spcAft>
                        <a:buNone/>
                      </a:pPr>
                      <a:r>
                        <a:rPr lang="en-US" sz="2400" dirty="0">
                          <a:solidFill>
                            <a:srgbClr val="FF0000"/>
                          </a:solidFill>
                          <a:effectLst/>
                        </a:rPr>
                        <a:t>Initial Register Contents</a:t>
                      </a:r>
                      <a:endParaRPr lang="en-US" sz="3600" i="1"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6369457"/>
                  </a:ext>
                </a:extLst>
              </a:tr>
              <a:tr h="330305">
                <a:tc>
                  <a:txBody>
                    <a:bodyPr/>
                    <a:lstStyle/>
                    <a:p>
                      <a:pPr marL="0" marR="0" algn="ctr">
                        <a:spcAft>
                          <a:spcPts val="300"/>
                        </a:spcAft>
                        <a:buNone/>
                      </a:pPr>
                      <a:r>
                        <a:rPr lang="en-US" sz="2400">
                          <a:effectLst/>
                        </a:rPr>
                        <a:t>R3</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1</a:t>
                      </a:r>
                      <a:endParaRPr lang="en-US" sz="36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extLst>
                  <a:ext uri="{0D108BD9-81ED-4DB2-BD59-A6C34878D82A}">
                    <a16:rowId xmlns:a16="http://schemas.microsoft.com/office/drawing/2014/main" val="1429714064"/>
                  </a:ext>
                </a:extLst>
              </a:tr>
              <a:tr h="330305">
                <a:tc>
                  <a:txBody>
                    <a:bodyPr/>
                    <a:lstStyle/>
                    <a:p>
                      <a:pPr marL="0" marR="0" algn="ctr">
                        <a:spcAft>
                          <a:spcPts val="300"/>
                        </a:spcAft>
                        <a:buNone/>
                      </a:pPr>
                      <a:r>
                        <a:rPr lang="en-US" sz="2400">
                          <a:effectLst/>
                        </a:rPr>
                        <a:t>R5</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extLst>
                  <a:ext uri="{0D108BD9-81ED-4DB2-BD59-A6C34878D82A}">
                    <a16:rowId xmlns:a16="http://schemas.microsoft.com/office/drawing/2014/main" val="3331200226"/>
                  </a:ext>
                </a:extLst>
              </a:tr>
              <a:tr h="330305">
                <a:tc>
                  <a:txBody>
                    <a:bodyPr/>
                    <a:lstStyle/>
                    <a:p>
                      <a:pPr marL="0" marR="0" algn="ctr">
                        <a:spcAft>
                          <a:spcPts val="300"/>
                        </a:spcAft>
                        <a:buNone/>
                      </a:pPr>
                      <a:r>
                        <a:rPr lang="en-US" sz="2400">
                          <a:effectLst/>
                        </a:rPr>
                        <a:t>R7</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1</a:t>
                      </a:r>
                      <a:endParaRPr lang="en-US" sz="36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extLst>
                  <a:ext uri="{0D108BD9-81ED-4DB2-BD59-A6C34878D82A}">
                    <a16:rowId xmlns:a16="http://schemas.microsoft.com/office/drawing/2014/main" val="1379391673"/>
                  </a:ext>
                </a:extLst>
              </a:tr>
            </a:tbl>
          </a:graphicData>
        </a:graphic>
      </p:graphicFrame>
      <p:graphicFrame>
        <p:nvGraphicFramePr>
          <p:cNvPr id="40" name="Table 39">
            <a:extLst>
              <a:ext uri="{FF2B5EF4-FFF2-40B4-BE49-F238E27FC236}">
                <a16:creationId xmlns:a16="http://schemas.microsoft.com/office/drawing/2014/main" id="{6598E1F8-53BE-9BC5-A71B-1A118BFF0AA0}"/>
              </a:ext>
            </a:extLst>
          </p:cNvPr>
          <p:cNvGraphicFramePr>
            <a:graphicFrameLocks noGrp="1"/>
          </p:cNvGraphicFramePr>
          <p:nvPr>
            <p:extLst>
              <p:ext uri="{D42A27DB-BD31-4B8C-83A1-F6EECF244321}">
                <p14:modId xmlns:p14="http://schemas.microsoft.com/office/powerpoint/2010/main" val="1474509058"/>
              </p:ext>
            </p:extLst>
          </p:nvPr>
        </p:nvGraphicFramePr>
        <p:xfrm>
          <a:off x="300252" y="4241956"/>
          <a:ext cx="9048465" cy="2251710"/>
        </p:xfrm>
        <a:graphic>
          <a:graphicData uri="http://schemas.openxmlformats.org/drawingml/2006/table">
            <a:tbl>
              <a:tblPr firstRow="1" firstCol="1" bandRow="1">
                <a:tableStyleId>{5C22544A-7EE6-4342-B048-85BDC9FD1C3A}</a:tableStyleId>
              </a:tblPr>
              <a:tblGrid>
                <a:gridCol w="2183641">
                  <a:extLst>
                    <a:ext uri="{9D8B030D-6E8A-4147-A177-3AD203B41FA5}">
                      <a16:colId xmlns:a16="http://schemas.microsoft.com/office/drawing/2014/main" val="3939368163"/>
                    </a:ext>
                  </a:extLst>
                </a:gridCol>
                <a:gridCol w="858103">
                  <a:extLst>
                    <a:ext uri="{9D8B030D-6E8A-4147-A177-3AD203B41FA5}">
                      <a16:colId xmlns:a16="http://schemas.microsoft.com/office/drawing/2014/main" val="4084416779"/>
                    </a:ext>
                  </a:extLst>
                </a:gridCol>
                <a:gridCol w="858103">
                  <a:extLst>
                    <a:ext uri="{9D8B030D-6E8A-4147-A177-3AD203B41FA5}">
                      <a16:colId xmlns:a16="http://schemas.microsoft.com/office/drawing/2014/main" val="1664944087"/>
                    </a:ext>
                  </a:extLst>
                </a:gridCol>
                <a:gridCol w="858103">
                  <a:extLst>
                    <a:ext uri="{9D8B030D-6E8A-4147-A177-3AD203B41FA5}">
                      <a16:colId xmlns:a16="http://schemas.microsoft.com/office/drawing/2014/main" val="1694836330"/>
                    </a:ext>
                  </a:extLst>
                </a:gridCol>
                <a:gridCol w="858103">
                  <a:extLst>
                    <a:ext uri="{9D8B030D-6E8A-4147-A177-3AD203B41FA5}">
                      <a16:colId xmlns:a16="http://schemas.microsoft.com/office/drawing/2014/main" val="4052878488"/>
                    </a:ext>
                  </a:extLst>
                </a:gridCol>
                <a:gridCol w="858103">
                  <a:extLst>
                    <a:ext uri="{9D8B030D-6E8A-4147-A177-3AD203B41FA5}">
                      <a16:colId xmlns:a16="http://schemas.microsoft.com/office/drawing/2014/main" val="1199649137"/>
                    </a:ext>
                  </a:extLst>
                </a:gridCol>
                <a:gridCol w="858103">
                  <a:extLst>
                    <a:ext uri="{9D8B030D-6E8A-4147-A177-3AD203B41FA5}">
                      <a16:colId xmlns:a16="http://schemas.microsoft.com/office/drawing/2014/main" val="1345684637"/>
                    </a:ext>
                  </a:extLst>
                </a:gridCol>
                <a:gridCol w="858103">
                  <a:extLst>
                    <a:ext uri="{9D8B030D-6E8A-4147-A177-3AD203B41FA5}">
                      <a16:colId xmlns:a16="http://schemas.microsoft.com/office/drawing/2014/main" val="4122707490"/>
                    </a:ext>
                  </a:extLst>
                </a:gridCol>
                <a:gridCol w="858103">
                  <a:extLst>
                    <a:ext uri="{9D8B030D-6E8A-4147-A177-3AD203B41FA5}">
                      <a16:colId xmlns:a16="http://schemas.microsoft.com/office/drawing/2014/main" val="1064491795"/>
                    </a:ext>
                  </a:extLst>
                </a:gridCol>
              </a:tblGrid>
              <a:tr h="182880">
                <a:tc>
                  <a:txBody>
                    <a:bodyPr/>
                    <a:lstStyle/>
                    <a:p>
                      <a:pPr marL="0" marR="0" algn="ctr">
                        <a:spcAft>
                          <a:spcPts val="300"/>
                        </a:spcAft>
                        <a:buNone/>
                      </a:pPr>
                      <a:r>
                        <a:rPr lang="en-US" sz="2400" dirty="0">
                          <a:effectLst/>
                        </a:rPr>
                        <a:t>Processor Part</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gridSpan="8">
                  <a:txBody>
                    <a:bodyPr/>
                    <a:lstStyle/>
                    <a:p>
                      <a:pPr marL="0" marR="0" algn="ctr">
                        <a:spcAft>
                          <a:spcPts val="300"/>
                        </a:spcAft>
                        <a:buNone/>
                      </a:pPr>
                      <a:r>
                        <a:rPr lang="en-US" sz="2400" dirty="0">
                          <a:solidFill>
                            <a:srgbClr val="FF0000"/>
                          </a:solidFill>
                          <a:effectLst/>
                        </a:rPr>
                        <a:t>Register Contents After the Operation</a:t>
                      </a:r>
                      <a:endParaRPr lang="en-US" sz="2400" i="1"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34112408"/>
                  </a:ext>
                </a:extLst>
              </a:tr>
              <a:tr h="182880">
                <a:tc>
                  <a:txBody>
                    <a:bodyPr/>
                    <a:lstStyle/>
                    <a:p>
                      <a:pPr marL="0" marR="0" algn="ctr">
                        <a:spcAft>
                          <a:spcPts val="300"/>
                        </a:spcAft>
                        <a:buNone/>
                      </a:pPr>
                      <a:r>
                        <a:rPr lang="en-US" sz="2400" dirty="0">
                          <a:effectLst/>
                        </a:rPr>
                        <a:t>R3</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1</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1</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1</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extLst>
                  <a:ext uri="{0D108BD9-81ED-4DB2-BD59-A6C34878D82A}">
                    <a16:rowId xmlns:a16="http://schemas.microsoft.com/office/drawing/2014/main" val="2898026921"/>
                  </a:ext>
                </a:extLst>
              </a:tr>
              <a:tr h="182880">
                <a:tc>
                  <a:txBody>
                    <a:bodyPr/>
                    <a:lstStyle/>
                    <a:p>
                      <a:pPr marL="0" marR="0" algn="ctr">
                        <a:spcAft>
                          <a:spcPts val="300"/>
                        </a:spcAft>
                        <a:buNone/>
                      </a:pPr>
                      <a:r>
                        <a:rPr lang="en-US" sz="2400" dirty="0">
                          <a:effectLst/>
                        </a:rPr>
                        <a:t>R5</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1</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extLst>
                  <a:ext uri="{0D108BD9-81ED-4DB2-BD59-A6C34878D82A}">
                    <a16:rowId xmlns:a16="http://schemas.microsoft.com/office/drawing/2014/main" val="2963004971"/>
                  </a:ext>
                </a:extLst>
              </a:tr>
              <a:tr h="182880">
                <a:tc>
                  <a:txBody>
                    <a:bodyPr/>
                    <a:lstStyle/>
                    <a:p>
                      <a:pPr marL="0" marR="0" algn="ctr">
                        <a:spcAft>
                          <a:spcPts val="300"/>
                        </a:spcAft>
                        <a:buNone/>
                      </a:pPr>
                      <a:r>
                        <a:rPr lang="en-US" sz="2400" dirty="0">
                          <a:effectLst/>
                        </a:rPr>
                        <a:t>ALU Output</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0</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0</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extLst>
                  <a:ext uri="{0D108BD9-81ED-4DB2-BD59-A6C34878D82A}">
                    <a16:rowId xmlns:a16="http://schemas.microsoft.com/office/drawing/2014/main" val="3093864596"/>
                  </a:ext>
                </a:extLst>
              </a:tr>
              <a:tr h="182880">
                <a:tc>
                  <a:txBody>
                    <a:bodyPr/>
                    <a:lstStyle/>
                    <a:p>
                      <a:pPr marL="0" marR="0" lvl="0" indent="0" algn="ctr" defTabSz="1097280" rtl="0" eaLnBrk="1" fontAlgn="auto" latinLnBrk="0" hangingPunct="1">
                        <a:lnSpc>
                          <a:spcPct val="100000"/>
                        </a:lnSpc>
                        <a:spcBef>
                          <a:spcPts val="0"/>
                        </a:spcBef>
                        <a:spcAft>
                          <a:spcPts val="300"/>
                        </a:spcAft>
                        <a:buClrTx/>
                        <a:buSzTx/>
                        <a:buFontTx/>
                        <a:buNone/>
                        <a:tabLst/>
                        <a:defRPr/>
                      </a:pPr>
                      <a:r>
                        <a:rPr lang="en-US" sz="2400" dirty="0">
                          <a:effectLst/>
                        </a:rPr>
                        <a:t>Shifter Output</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0</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extLst>
                  <a:ext uri="{0D108BD9-81ED-4DB2-BD59-A6C34878D82A}">
                    <a16:rowId xmlns:a16="http://schemas.microsoft.com/office/drawing/2014/main" val="1497336604"/>
                  </a:ext>
                </a:extLst>
              </a:tr>
              <a:tr h="182880">
                <a:tc>
                  <a:txBody>
                    <a:bodyPr/>
                    <a:lstStyle/>
                    <a:p>
                      <a:pPr marL="0" marR="0" lvl="0" indent="0" algn="ctr" defTabSz="1097280" rtl="0" eaLnBrk="1" fontAlgn="auto" latinLnBrk="0" hangingPunct="1">
                        <a:lnSpc>
                          <a:spcPct val="100000"/>
                        </a:lnSpc>
                        <a:spcBef>
                          <a:spcPts val="0"/>
                        </a:spcBef>
                        <a:spcAft>
                          <a:spcPts val="300"/>
                        </a:spcAft>
                        <a:buClrTx/>
                        <a:buSzTx/>
                        <a:buFontTx/>
                        <a:buNone/>
                        <a:tabLst/>
                        <a:defRPr/>
                      </a:pPr>
                      <a:r>
                        <a:rPr lang="en-US" sz="2400" dirty="0">
                          <a:effectLst/>
                        </a:rPr>
                        <a:t>R7</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24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0</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0</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1</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0</a:t>
                      </a:r>
                      <a:endParaRPr lang="en-US" sz="24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extLst>
                  <a:ext uri="{0D108BD9-81ED-4DB2-BD59-A6C34878D82A}">
                    <a16:rowId xmlns:a16="http://schemas.microsoft.com/office/drawing/2014/main" val="730437558"/>
                  </a:ext>
                </a:extLst>
              </a:tr>
            </a:tbl>
          </a:graphicData>
        </a:graphic>
      </p:graphicFrame>
      <p:graphicFrame>
        <p:nvGraphicFramePr>
          <p:cNvPr id="41" name="Table 40">
            <a:extLst>
              <a:ext uri="{FF2B5EF4-FFF2-40B4-BE49-F238E27FC236}">
                <a16:creationId xmlns:a16="http://schemas.microsoft.com/office/drawing/2014/main" id="{57C7E010-4F94-CBCF-BFD2-15D6749FA365}"/>
              </a:ext>
            </a:extLst>
          </p:cNvPr>
          <p:cNvGraphicFramePr>
            <a:graphicFrameLocks noGrp="1"/>
          </p:cNvGraphicFramePr>
          <p:nvPr>
            <p:extLst>
              <p:ext uri="{D42A27DB-BD31-4B8C-83A1-F6EECF244321}">
                <p14:modId xmlns:p14="http://schemas.microsoft.com/office/powerpoint/2010/main" val="3506265386"/>
              </p:ext>
            </p:extLst>
          </p:nvPr>
        </p:nvGraphicFramePr>
        <p:xfrm>
          <a:off x="9444249" y="4222153"/>
          <a:ext cx="6714699" cy="1125855"/>
        </p:xfrm>
        <a:graphic>
          <a:graphicData uri="http://schemas.openxmlformats.org/drawingml/2006/table">
            <a:tbl>
              <a:tblPr firstRow="1" firstCol="1" bandRow="1">
                <a:tableStyleId>{5C22544A-7EE6-4342-B048-85BDC9FD1C3A}</a:tableStyleId>
              </a:tblPr>
              <a:tblGrid>
                <a:gridCol w="538655">
                  <a:extLst>
                    <a:ext uri="{9D8B030D-6E8A-4147-A177-3AD203B41FA5}">
                      <a16:colId xmlns:a16="http://schemas.microsoft.com/office/drawing/2014/main" val="2538109934"/>
                    </a:ext>
                  </a:extLst>
                </a:gridCol>
                <a:gridCol w="539459">
                  <a:extLst>
                    <a:ext uri="{9D8B030D-6E8A-4147-A177-3AD203B41FA5}">
                      <a16:colId xmlns:a16="http://schemas.microsoft.com/office/drawing/2014/main" val="2979765257"/>
                    </a:ext>
                  </a:extLst>
                </a:gridCol>
                <a:gridCol w="401178">
                  <a:extLst>
                    <a:ext uri="{9D8B030D-6E8A-4147-A177-3AD203B41FA5}">
                      <a16:colId xmlns:a16="http://schemas.microsoft.com/office/drawing/2014/main" val="234139486"/>
                    </a:ext>
                  </a:extLst>
                </a:gridCol>
                <a:gridCol w="401178">
                  <a:extLst>
                    <a:ext uri="{9D8B030D-6E8A-4147-A177-3AD203B41FA5}">
                      <a16:colId xmlns:a16="http://schemas.microsoft.com/office/drawing/2014/main" val="27559168"/>
                    </a:ext>
                  </a:extLst>
                </a:gridCol>
                <a:gridCol w="400373">
                  <a:extLst>
                    <a:ext uri="{9D8B030D-6E8A-4147-A177-3AD203B41FA5}">
                      <a16:colId xmlns:a16="http://schemas.microsoft.com/office/drawing/2014/main" val="2211478766"/>
                    </a:ext>
                  </a:extLst>
                </a:gridCol>
                <a:gridCol w="401178">
                  <a:extLst>
                    <a:ext uri="{9D8B030D-6E8A-4147-A177-3AD203B41FA5}">
                      <a16:colId xmlns:a16="http://schemas.microsoft.com/office/drawing/2014/main" val="1979718887"/>
                    </a:ext>
                  </a:extLst>
                </a:gridCol>
                <a:gridCol w="400373">
                  <a:extLst>
                    <a:ext uri="{9D8B030D-6E8A-4147-A177-3AD203B41FA5}">
                      <a16:colId xmlns:a16="http://schemas.microsoft.com/office/drawing/2014/main" val="809384214"/>
                    </a:ext>
                  </a:extLst>
                </a:gridCol>
                <a:gridCol w="401178">
                  <a:extLst>
                    <a:ext uri="{9D8B030D-6E8A-4147-A177-3AD203B41FA5}">
                      <a16:colId xmlns:a16="http://schemas.microsoft.com/office/drawing/2014/main" val="3878717284"/>
                    </a:ext>
                  </a:extLst>
                </a:gridCol>
                <a:gridCol w="400373">
                  <a:extLst>
                    <a:ext uri="{9D8B030D-6E8A-4147-A177-3AD203B41FA5}">
                      <a16:colId xmlns:a16="http://schemas.microsoft.com/office/drawing/2014/main" val="615695956"/>
                    </a:ext>
                  </a:extLst>
                </a:gridCol>
                <a:gridCol w="401178">
                  <a:extLst>
                    <a:ext uri="{9D8B030D-6E8A-4147-A177-3AD203B41FA5}">
                      <a16:colId xmlns:a16="http://schemas.microsoft.com/office/drawing/2014/main" val="3307046630"/>
                    </a:ext>
                  </a:extLst>
                </a:gridCol>
                <a:gridCol w="400373">
                  <a:extLst>
                    <a:ext uri="{9D8B030D-6E8A-4147-A177-3AD203B41FA5}">
                      <a16:colId xmlns:a16="http://schemas.microsoft.com/office/drawing/2014/main" val="3783153711"/>
                    </a:ext>
                  </a:extLst>
                </a:gridCol>
                <a:gridCol w="401178">
                  <a:extLst>
                    <a:ext uri="{9D8B030D-6E8A-4147-A177-3AD203B41FA5}">
                      <a16:colId xmlns:a16="http://schemas.microsoft.com/office/drawing/2014/main" val="49746523"/>
                    </a:ext>
                  </a:extLst>
                </a:gridCol>
                <a:gridCol w="577149">
                  <a:extLst>
                    <a:ext uri="{9D8B030D-6E8A-4147-A177-3AD203B41FA5}">
                      <a16:colId xmlns:a16="http://schemas.microsoft.com/office/drawing/2014/main" val="1176110639"/>
                    </a:ext>
                  </a:extLst>
                </a:gridCol>
                <a:gridCol w="350292">
                  <a:extLst>
                    <a:ext uri="{9D8B030D-6E8A-4147-A177-3AD203B41FA5}">
                      <a16:colId xmlns:a16="http://schemas.microsoft.com/office/drawing/2014/main" val="3923953462"/>
                    </a:ext>
                  </a:extLst>
                </a:gridCol>
                <a:gridCol w="350292">
                  <a:extLst>
                    <a:ext uri="{9D8B030D-6E8A-4147-A177-3AD203B41FA5}">
                      <a16:colId xmlns:a16="http://schemas.microsoft.com/office/drawing/2014/main" val="3360118156"/>
                    </a:ext>
                  </a:extLst>
                </a:gridCol>
                <a:gridCol w="350292">
                  <a:extLst>
                    <a:ext uri="{9D8B030D-6E8A-4147-A177-3AD203B41FA5}">
                      <a16:colId xmlns:a16="http://schemas.microsoft.com/office/drawing/2014/main" val="1142764540"/>
                    </a:ext>
                  </a:extLst>
                </a:gridCol>
              </a:tblGrid>
              <a:tr h="182880">
                <a:tc gridSpan="16">
                  <a:txBody>
                    <a:bodyPr/>
                    <a:lstStyle/>
                    <a:p>
                      <a:pPr marL="0" marR="0" algn="ctr">
                        <a:spcAft>
                          <a:spcPts val="300"/>
                        </a:spcAft>
                        <a:buNone/>
                      </a:pPr>
                      <a:r>
                        <a:rPr lang="en-US" sz="2400" dirty="0">
                          <a:effectLst/>
                        </a:rPr>
                        <a:t>Processor’s Control Word</a:t>
                      </a:r>
                      <a:endParaRPr lang="en-US" sz="36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55978994"/>
                  </a:ext>
                </a:extLst>
              </a:tr>
              <a:tr h="182880">
                <a:tc gridSpan="3">
                  <a:txBody>
                    <a:bodyPr/>
                    <a:lstStyle/>
                    <a:p>
                      <a:pPr marL="0" marR="0" algn="ctr">
                        <a:spcAft>
                          <a:spcPts val="300"/>
                        </a:spcAft>
                        <a:buNone/>
                      </a:pPr>
                      <a:r>
                        <a:rPr lang="en-US" sz="2400">
                          <a:effectLst/>
                        </a:rPr>
                        <a:t>A</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hMerge="1">
                  <a:txBody>
                    <a:bodyPr/>
                    <a:lstStyle/>
                    <a:p>
                      <a:endParaRPr lang="en-US"/>
                    </a:p>
                  </a:txBody>
                  <a:tcPr/>
                </a:tc>
                <a:tc hMerge="1">
                  <a:txBody>
                    <a:bodyPr/>
                    <a:lstStyle/>
                    <a:p>
                      <a:endParaRPr lang="en-US"/>
                    </a:p>
                  </a:txBody>
                  <a:tcPr/>
                </a:tc>
                <a:tc gridSpan="3">
                  <a:txBody>
                    <a:bodyPr/>
                    <a:lstStyle/>
                    <a:p>
                      <a:pPr marL="0" marR="0" algn="ctr">
                        <a:spcAft>
                          <a:spcPts val="300"/>
                        </a:spcAft>
                        <a:buNone/>
                      </a:pPr>
                      <a:r>
                        <a:rPr lang="en-US" sz="2400">
                          <a:effectLst/>
                        </a:rPr>
                        <a:t>B</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gridSpan="3">
                  <a:txBody>
                    <a:bodyPr/>
                    <a:lstStyle/>
                    <a:p>
                      <a:pPr marL="0" marR="0" algn="ctr">
                        <a:spcAft>
                          <a:spcPts val="300"/>
                        </a:spcAft>
                        <a:buNone/>
                      </a:pPr>
                      <a:r>
                        <a:rPr lang="en-US" sz="2400">
                          <a:effectLst/>
                        </a:rPr>
                        <a:t>D</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hMerge="1">
                  <a:txBody>
                    <a:bodyPr/>
                    <a:lstStyle/>
                    <a:p>
                      <a:endParaRPr lang="en-US"/>
                    </a:p>
                  </a:txBody>
                  <a:tcPr/>
                </a:tc>
                <a:tc hMerge="1">
                  <a:txBody>
                    <a:bodyPr/>
                    <a:lstStyle/>
                    <a:p>
                      <a:endParaRPr lang="en-US"/>
                    </a:p>
                  </a:txBody>
                  <a:tcPr/>
                </a:tc>
                <a:tc gridSpan="3">
                  <a:txBody>
                    <a:bodyPr/>
                    <a:lstStyle/>
                    <a:p>
                      <a:pPr marL="0" marR="0" algn="ctr">
                        <a:spcAft>
                          <a:spcPts val="300"/>
                        </a:spcAft>
                        <a:buNone/>
                      </a:pPr>
                      <a:r>
                        <a:rPr lang="en-US" sz="2400">
                          <a:effectLst/>
                        </a:rPr>
                        <a:t>F</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a:txBody>
                    <a:bodyPr/>
                    <a:lstStyle/>
                    <a:p>
                      <a:pPr marL="0" marR="0" algn="ctr">
                        <a:spcAft>
                          <a:spcPts val="300"/>
                        </a:spcAft>
                        <a:buNone/>
                      </a:pPr>
                      <a:r>
                        <a:rPr lang="en-US" sz="2400">
                          <a:effectLst/>
                        </a:rPr>
                        <a:t>Cin</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gridSpan="3">
                  <a:txBody>
                    <a:bodyPr/>
                    <a:lstStyle/>
                    <a:p>
                      <a:pPr marL="0" marR="0" algn="ctr">
                        <a:spcAft>
                          <a:spcPts val="300"/>
                        </a:spcAft>
                        <a:buNone/>
                      </a:pPr>
                      <a:r>
                        <a:rPr lang="en-US" sz="2400">
                          <a:effectLst/>
                        </a:rPr>
                        <a:t>H</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47199226"/>
                  </a:ext>
                </a:extLst>
              </a:tr>
              <a:tr h="182880">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a:effectLst/>
                        </a:rPr>
                        <a:t>1</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2400">
                          <a:effectLst/>
                        </a:rPr>
                        <a:t>0</a:t>
                      </a:r>
                      <a:endParaRPr lang="en-US" sz="36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2400" dirty="0">
                          <a:effectLst/>
                        </a:rPr>
                        <a:t>1</a:t>
                      </a:r>
                      <a:endParaRPr lang="en-US" sz="36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445315428"/>
                  </a:ext>
                </a:extLst>
              </a:tr>
            </a:tbl>
          </a:graphicData>
        </a:graphic>
      </p:graphicFrame>
      <p:graphicFrame>
        <p:nvGraphicFramePr>
          <p:cNvPr id="42" name="Table 41">
            <a:extLst>
              <a:ext uri="{FF2B5EF4-FFF2-40B4-BE49-F238E27FC236}">
                <a16:creationId xmlns:a16="http://schemas.microsoft.com/office/drawing/2014/main" id="{9E9C1DAC-C129-05B8-6933-7853574E74D3}"/>
              </a:ext>
            </a:extLst>
          </p:cNvPr>
          <p:cNvGraphicFramePr>
            <a:graphicFrameLocks noGrp="1"/>
          </p:cNvGraphicFramePr>
          <p:nvPr>
            <p:extLst>
              <p:ext uri="{D42A27DB-BD31-4B8C-83A1-F6EECF244321}">
                <p14:modId xmlns:p14="http://schemas.microsoft.com/office/powerpoint/2010/main" val="1075972264"/>
              </p:ext>
            </p:extLst>
          </p:nvPr>
        </p:nvGraphicFramePr>
        <p:xfrm>
          <a:off x="241568" y="6747977"/>
          <a:ext cx="15976064" cy="1116330"/>
        </p:xfrm>
        <a:graphic>
          <a:graphicData uri="http://schemas.openxmlformats.org/drawingml/2006/table">
            <a:tbl>
              <a:tblPr firstRow="1" firstCol="1" bandRow="1">
                <a:tableStyleId>{5C22544A-7EE6-4342-B048-85BDC9FD1C3A}</a:tableStyleId>
              </a:tblPr>
              <a:tblGrid>
                <a:gridCol w="294109">
                  <a:extLst>
                    <a:ext uri="{9D8B030D-6E8A-4147-A177-3AD203B41FA5}">
                      <a16:colId xmlns:a16="http://schemas.microsoft.com/office/drawing/2014/main" val="1265660742"/>
                    </a:ext>
                  </a:extLst>
                </a:gridCol>
                <a:gridCol w="294109">
                  <a:extLst>
                    <a:ext uri="{9D8B030D-6E8A-4147-A177-3AD203B41FA5}">
                      <a16:colId xmlns:a16="http://schemas.microsoft.com/office/drawing/2014/main" val="4177256346"/>
                    </a:ext>
                  </a:extLst>
                </a:gridCol>
                <a:gridCol w="294109">
                  <a:extLst>
                    <a:ext uri="{9D8B030D-6E8A-4147-A177-3AD203B41FA5}">
                      <a16:colId xmlns:a16="http://schemas.microsoft.com/office/drawing/2014/main" val="1431859392"/>
                    </a:ext>
                  </a:extLst>
                </a:gridCol>
                <a:gridCol w="294109">
                  <a:extLst>
                    <a:ext uri="{9D8B030D-6E8A-4147-A177-3AD203B41FA5}">
                      <a16:colId xmlns:a16="http://schemas.microsoft.com/office/drawing/2014/main" val="2172422288"/>
                    </a:ext>
                  </a:extLst>
                </a:gridCol>
                <a:gridCol w="294109">
                  <a:extLst>
                    <a:ext uri="{9D8B030D-6E8A-4147-A177-3AD203B41FA5}">
                      <a16:colId xmlns:a16="http://schemas.microsoft.com/office/drawing/2014/main" val="2668724608"/>
                    </a:ext>
                  </a:extLst>
                </a:gridCol>
                <a:gridCol w="294108">
                  <a:extLst>
                    <a:ext uri="{9D8B030D-6E8A-4147-A177-3AD203B41FA5}">
                      <a16:colId xmlns:a16="http://schemas.microsoft.com/office/drawing/2014/main" val="3624413161"/>
                    </a:ext>
                  </a:extLst>
                </a:gridCol>
                <a:gridCol w="516470">
                  <a:extLst>
                    <a:ext uri="{9D8B030D-6E8A-4147-A177-3AD203B41FA5}">
                      <a16:colId xmlns:a16="http://schemas.microsoft.com/office/drawing/2014/main" val="1378906772"/>
                    </a:ext>
                  </a:extLst>
                </a:gridCol>
                <a:gridCol w="25400">
                  <a:extLst>
                    <a:ext uri="{9D8B030D-6E8A-4147-A177-3AD203B41FA5}">
                      <a16:colId xmlns:a16="http://schemas.microsoft.com/office/drawing/2014/main" val="3248706813"/>
                    </a:ext>
                  </a:extLst>
                </a:gridCol>
                <a:gridCol w="645486">
                  <a:extLst>
                    <a:ext uri="{9D8B030D-6E8A-4147-A177-3AD203B41FA5}">
                      <a16:colId xmlns:a16="http://schemas.microsoft.com/office/drawing/2014/main" val="3105659111"/>
                    </a:ext>
                  </a:extLst>
                </a:gridCol>
                <a:gridCol w="309346">
                  <a:extLst>
                    <a:ext uri="{9D8B030D-6E8A-4147-A177-3AD203B41FA5}">
                      <a16:colId xmlns:a16="http://schemas.microsoft.com/office/drawing/2014/main" val="2974960274"/>
                    </a:ext>
                  </a:extLst>
                </a:gridCol>
                <a:gridCol w="479960">
                  <a:extLst>
                    <a:ext uri="{9D8B030D-6E8A-4147-A177-3AD203B41FA5}">
                      <a16:colId xmlns:a16="http://schemas.microsoft.com/office/drawing/2014/main" val="4055741291"/>
                    </a:ext>
                  </a:extLst>
                </a:gridCol>
                <a:gridCol w="473176">
                  <a:extLst>
                    <a:ext uri="{9D8B030D-6E8A-4147-A177-3AD203B41FA5}">
                      <a16:colId xmlns:a16="http://schemas.microsoft.com/office/drawing/2014/main" val="61896953"/>
                    </a:ext>
                  </a:extLst>
                </a:gridCol>
                <a:gridCol w="481656">
                  <a:extLst>
                    <a:ext uri="{9D8B030D-6E8A-4147-A177-3AD203B41FA5}">
                      <a16:colId xmlns:a16="http://schemas.microsoft.com/office/drawing/2014/main" val="3777414320"/>
                    </a:ext>
                  </a:extLst>
                </a:gridCol>
                <a:gridCol w="473176">
                  <a:extLst>
                    <a:ext uri="{9D8B030D-6E8A-4147-A177-3AD203B41FA5}">
                      <a16:colId xmlns:a16="http://schemas.microsoft.com/office/drawing/2014/main" val="2009520013"/>
                    </a:ext>
                  </a:extLst>
                </a:gridCol>
                <a:gridCol w="481656">
                  <a:extLst>
                    <a:ext uri="{9D8B030D-6E8A-4147-A177-3AD203B41FA5}">
                      <a16:colId xmlns:a16="http://schemas.microsoft.com/office/drawing/2014/main" val="819996870"/>
                    </a:ext>
                  </a:extLst>
                </a:gridCol>
                <a:gridCol w="473176">
                  <a:extLst>
                    <a:ext uri="{9D8B030D-6E8A-4147-A177-3AD203B41FA5}">
                      <a16:colId xmlns:a16="http://schemas.microsoft.com/office/drawing/2014/main" val="881201848"/>
                    </a:ext>
                  </a:extLst>
                </a:gridCol>
                <a:gridCol w="481656">
                  <a:extLst>
                    <a:ext uri="{9D8B030D-6E8A-4147-A177-3AD203B41FA5}">
                      <a16:colId xmlns:a16="http://schemas.microsoft.com/office/drawing/2014/main" val="1460679292"/>
                    </a:ext>
                  </a:extLst>
                </a:gridCol>
                <a:gridCol w="473176">
                  <a:extLst>
                    <a:ext uri="{9D8B030D-6E8A-4147-A177-3AD203B41FA5}">
                      <a16:colId xmlns:a16="http://schemas.microsoft.com/office/drawing/2014/main" val="2480169398"/>
                    </a:ext>
                  </a:extLst>
                </a:gridCol>
                <a:gridCol w="659733">
                  <a:extLst>
                    <a:ext uri="{9D8B030D-6E8A-4147-A177-3AD203B41FA5}">
                      <a16:colId xmlns:a16="http://schemas.microsoft.com/office/drawing/2014/main" val="2854851831"/>
                    </a:ext>
                  </a:extLst>
                </a:gridCol>
                <a:gridCol w="473176">
                  <a:extLst>
                    <a:ext uri="{9D8B030D-6E8A-4147-A177-3AD203B41FA5}">
                      <a16:colId xmlns:a16="http://schemas.microsoft.com/office/drawing/2014/main" val="1800566391"/>
                    </a:ext>
                  </a:extLst>
                </a:gridCol>
                <a:gridCol w="491833">
                  <a:extLst>
                    <a:ext uri="{9D8B030D-6E8A-4147-A177-3AD203B41FA5}">
                      <a16:colId xmlns:a16="http://schemas.microsoft.com/office/drawing/2014/main" val="1032843366"/>
                    </a:ext>
                  </a:extLst>
                </a:gridCol>
                <a:gridCol w="730966">
                  <a:extLst>
                    <a:ext uri="{9D8B030D-6E8A-4147-A177-3AD203B41FA5}">
                      <a16:colId xmlns:a16="http://schemas.microsoft.com/office/drawing/2014/main" val="2649394652"/>
                    </a:ext>
                  </a:extLst>
                </a:gridCol>
                <a:gridCol w="1064525">
                  <a:extLst>
                    <a:ext uri="{9D8B030D-6E8A-4147-A177-3AD203B41FA5}">
                      <a16:colId xmlns:a16="http://schemas.microsoft.com/office/drawing/2014/main" val="2600964773"/>
                    </a:ext>
                  </a:extLst>
                </a:gridCol>
                <a:gridCol w="573206">
                  <a:extLst>
                    <a:ext uri="{9D8B030D-6E8A-4147-A177-3AD203B41FA5}">
                      <a16:colId xmlns:a16="http://schemas.microsoft.com/office/drawing/2014/main" val="1125152633"/>
                    </a:ext>
                  </a:extLst>
                </a:gridCol>
                <a:gridCol w="299069">
                  <a:extLst>
                    <a:ext uri="{9D8B030D-6E8A-4147-A177-3AD203B41FA5}">
                      <a16:colId xmlns:a16="http://schemas.microsoft.com/office/drawing/2014/main" val="2022166433"/>
                    </a:ext>
                  </a:extLst>
                </a:gridCol>
                <a:gridCol w="1147595">
                  <a:extLst>
                    <a:ext uri="{9D8B030D-6E8A-4147-A177-3AD203B41FA5}">
                      <a16:colId xmlns:a16="http://schemas.microsoft.com/office/drawing/2014/main" val="1387631171"/>
                    </a:ext>
                  </a:extLst>
                </a:gridCol>
                <a:gridCol w="559557">
                  <a:extLst>
                    <a:ext uri="{9D8B030D-6E8A-4147-A177-3AD203B41FA5}">
                      <a16:colId xmlns:a16="http://schemas.microsoft.com/office/drawing/2014/main" val="1150571795"/>
                    </a:ext>
                  </a:extLst>
                </a:gridCol>
                <a:gridCol w="265265">
                  <a:extLst>
                    <a:ext uri="{9D8B030D-6E8A-4147-A177-3AD203B41FA5}">
                      <a16:colId xmlns:a16="http://schemas.microsoft.com/office/drawing/2014/main" val="632174941"/>
                    </a:ext>
                  </a:extLst>
                </a:gridCol>
                <a:gridCol w="658038">
                  <a:extLst>
                    <a:ext uri="{9D8B030D-6E8A-4147-A177-3AD203B41FA5}">
                      <a16:colId xmlns:a16="http://schemas.microsoft.com/office/drawing/2014/main" val="747838077"/>
                    </a:ext>
                  </a:extLst>
                </a:gridCol>
                <a:gridCol w="658038">
                  <a:extLst>
                    <a:ext uri="{9D8B030D-6E8A-4147-A177-3AD203B41FA5}">
                      <a16:colId xmlns:a16="http://schemas.microsoft.com/office/drawing/2014/main" val="4220770404"/>
                    </a:ext>
                  </a:extLst>
                </a:gridCol>
                <a:gridCol w="658038">
                  <a:extLst>
                    <a:ext uri="{9D8B030D-6E8A-4147-A177-3AD203B41FA5}">
                      <a16:colId xmlns:a16="http://schemas.microsoft.com/office/drawing/2014/main" val="526906734"/>
                    </a:ext>
                  </a:extLst>
                </a:gridCol>
                <a:gridCol w="658038">
                  <a:extLst>
                    <a:ext uri="{9D8B030D-6E8A-4147-A177-3AD203B41FA5}">
                      <a16:colId xmlns:a16="http://schemas.microsoft.com/office/drawing/2014/main" val="4242555925"/>
                    </a:ext>
                  </a:extLst>
                </a:gridCol>
              </a:tblGrid>
              <a:tr h="182880">
                <a:tc gridSpan="6">
                  <a:txBody>
                    <a:bodyPr/>
                    <a:lstStyle/>
                    <a:p>
                      <a:pPr marL="0" marR="0" algn="ctr">
                        <a:spcAft>
                          <a:spcPts val="300"/>
                        </a:spcAft>
                        <a:buNone/>
                      </a:pPr>
                      <a:r>
                        <a:rPr lang="pt-BR" sz="1800">
                          <a:effectLst/>
                        </a:rPr>
                        <a:t>Current ROM Address</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6">
                  <a:txBody>
                    <a:bodyPr/>
                    <a:lstStyle/>
                    <a:p>
                      <a:pPr marL="0" marR="0" algn="ctr">
                        <a:spcAft>
                          <a:spcPts val="300"/>
                        </a:spcAft>
                        <a:buNone/>
                      </a:pPr>
                      <a:r>
                        <a:rPr lang="pt-BR" sz="1800" dirty="0">
                          <a:effectLst/>
                        </a:rPr>
                        <a:t>Control Word</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spcAft>
                          <a:spcPts val="300"/>
                        </a:spcAft>
                        <a:buNone/>
                      </a:pPr>
                      <a:r>
                        <a:rPr lang="pt-BR" sz="1800" dirty="0">
                          <a:effectLst/>
                        </a:rPr>
                        <a:t>Mux1 Select</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gridSpan="3">
                  <a:txBody>
                    <a:bodyPr/>
                    <a:lstStyle/>
                    <a:p>
                      <a:pPr marL="0" marR="0" algn="ctr">
                        <a:spcAft>
                          <a:spcPts val="300"/>
                        </a:spcAft>
                        <a:buNone/>
                      </a:pPr>
                      <a:r>
                        <a:rPr lang="pt-BR" sz="1800" dirty="0">
                          <a:effectLst/>
                        </a:rPr>
                        <a:t>Mux2 Select</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gridSpan="6">
                  <a:txBody>
                    <a:bodyPr/>
                    <a:lstStyle/>
                    <a:p>
                      <a:pPr marL="0" marR="0" algn="ctr">
                        <a:spcAft>
                          <a:spcPts val="300"/>
                        </a:spcAft>
                        <a:buNone/>
                      </a:pPr>
                      <a:r>
                        <a:rPr lang="pt-BR" sz="1800" dirty="0">
                          <a:effectLst/>
                        </a:rPr>
                        <a:t>Address</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64777508"/>
                  </a:ext>
                </a:extLst>
              </a:tr>
              <a:tr h="182880">
                <a:tc>
                  <a:txBody>
                    <a:bodyPr/>
                    <a:lstStyle/>
                    <a:p>
                      <a:pPr marL="0" marR="0" algn="ctr">
                        <a:spcAft>
                          <a:spcPts val="300"/>
                        </a:spcAft>
                        <a:buNone/>
                      </a:pPr>
                      <a:r>
                        <a:rPr lang="pt-BR" sz="1800" dirty="0">
                          <a:effectLst/>
                        </a:rPr>
                        <a:t>A5</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dirty="0">
                          <a:effectLst/>
                        </a:rPr>
                        <a:t>A4</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dirty="0">
                          <a:effectLst/>
                        </a:rPr>
                        <a:t>A3</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dirty="0">
                          <a:effectLst/>
                        </a:rPr>
                        <a:t>A2</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dirty="0">
                          <a:effectLst/>
                        </a:rPr>
                        <a:t>A1</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dirty="0">
                          <a:effectLst/>
                        </a:rPr>
                        <a:t>A0</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gridSpan="3">
                  <a:txBody>
                    <a:bodyPr/>
                    <a:lstStyle/>
                    <a:p>
                      <a:pPr marL="0" marR="0" algn="ctr">
                        <a:spcAft>
                          <a:spcPts val="300"/>
                        </a:spcAft>
                        <a:buNone/>
                      </a:pPr>
                      <a:r>
                        <a:rPr lang="pt-BR" sz="1800" dirty="0">
                          <a:effectLst/>
                        </a:rPr>
                        <a:t>A</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hMerge="1">
                  <a:txBody>
                    <a:bodyPr/>
                    <a:lstStyle/>
                    <a:p>
                      <a:endParaRPr lang="en-US"/>
                    </a:p>
                  </a:txBody>
                  <a:tcPr/>
                </a:tc>
                <a:tc hMerge="1">
                  <a:txBody>
                    <a:bodyPr/>
                    <a:lstStyle/>
                    <a:p>
                      <a:endParaRPr lang="en-US"/>
                    </a:p>
                  </a:txBody>
                  <a:tcPr/>
                </a:tc>
                <a:tc gridSpan="3">
                  <a:txBody>
                    <a:bodyPr/>
                    <a:lstStyle/>
                    <a:p>
                      <a:pPr marL="0" marR="0" algn="ctr">
                        <a:spcAft>
                          <a:spcPts val="300"/>
                        </a:spcAft>
                        <a:buNone/>
                      </a:pPr>
                      <a:r>
                        <a:rPr lang="pt-BR" sz="1800">
                          <a:effectLst/>
                        </a:rPr>
                        <a:t>B</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gridSpan="3">
                  <a:txBody>
                    <a:bodyPr/>
                    <a:lstStyle/>
                    <a:p>
                      <a:pPr marL="0" marR="0" algn="ctr">
                        <a:spcAft>
                          <a:spcPts val="300"/>
                        </a:spcAft>
                        <a:buNone/>
                      </a:pPr>
                      <a:r>
                        <a:rPr lang="pt-BR" sz="1800">
                          <a:effectLst/>
                        </a:rPr>
                        <a:t>D</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hMerge="1">
                  <a:txBody>
                    <a:bodyPr/>
                    <a:lstStyle/>
                    <a:p>
                      <a:endParaRPr lang="en-US"/>
                    </a:p>
                  </a:txBody>
                  <a:tcPr/>
                </a:tc>
                <a:tc hMerge="1">
                  <a:txBody>
                    <a:bodyPr/>
                    <a:lstStyle/>
                    <a:p>
                      <a:endParaRPr lang="en-US"/>
                    </a:p>
                  </a:txBody>
                  <a:tcPr/>
                </a:tc>
                <a:tc gridSpan="3">
                  <a:txBody>
                    <a:bodyPr/>
                    <a:lstStyle/>
                    <a:p>
                      <a:pPr marL="0" marR="0" algn="ctr">
                        <a:spcAft>
                          <a:spcPts val="300"/>
                        </a:spcAft>
                        <a:buNone/>
                      </a:pPr>
                      <a:r>
                        <a:rPr lang="pt-BR" sz="1800">
                          <a:effectLst/>
                        </a:rPr>
                        <a:t>F</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a:txBody>
                    <a:bodyPr/>
                    <a:lstStyle/>
                    <a:p>
                      <a:pPr marL="0" marR="0" algn="ctr">
                        <a:spcAft>
                          <a:spcPts val="300"/>
                        </a:spcAft>
                        <a:buNone/>
                      </a:pPr>
                      <a:r>
                        <a:rPr lang="pt-BR" sz="1800">
                          <a:effectLst/>
                        </a:rPr>
                        <a:t>Cin</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gridSpan="3">
                  <a:txBody>
                    <a:bodyPr/>
                    <a:lstStyle/>
                    <a:p>
                      <a:pPr marL="0" marR="0" algn="ctr">
                        <a:spcAft>
                          <a:spcPts val="300"/>
                        </a:spcAft>
                        <a:buNone/>
                      </a:pPr>
                      <a:r>
                        <a:rPr lang="pt-BR" sz="1800">
                          <a:effectLst/>
                        </a:rPr>
                        <a:t>H</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hMerge="1">
                  <a:txBody>
                    <a:bodyPr/>
                    <a:lstStyle/>
                    <a:p>
                      <a:endParaRPr lang="en-US"/>
                    </a:p>
                  </a:txBody>
                  <a:tcPr/>
                </a:tc>
                <a:tc hMerge="1">
                  <a:txBody>
                    <a:bodyPr/>
                    <a:lstStyle/>
                    <a:p>
                      <a:endParaRPr lang="en-US"/>
                    </a:p>
                  </a:txBody>
                  <a:tcPr/>
                </a:tc>
                <a:tc>
                  <a:txBody>
                    <a:bodyPr/>
                    <a:lstStyle/>
                    <a:p>
                      <a:pPr marL="0" marR="0" algn="ctr">
                        <a:spcAft>
                          <a:spcPts val="300"/>
                        </a:spcAft>
                        <a:buNone/>
                      </a:pPr>
                      <a:r>
                        <a:rPr lang="pt-BR" sz="1800">
                          <a:effectLst/>
                        </a:rPr>
                        <a:t>S0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S2</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S1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S0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dirty="0">
                          <a:effectLst/>
                        </a:rPr>
                        <a:t>A5</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dirty="0">
                          <a:effectLst/>
                        </a:rPr>
                        <a:t>A4</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A3</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A2</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A1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A0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696741118"/>
                  </a:ext>
                </a:extLst>
              </a:tr>
              <a:tr h="81448">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dirty="0">
                          <a:effectLst/>
                        </a:rPr>
                        <a:t>0</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en-US"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en-US"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8890" marR="8890" marT="9525"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1</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a:effectLst/>
                        </a:rPr>
                        <a:t>0</a:t>
                      </a:r>
                      <a:endParaRPr lang="en-US" sz="3200" i="1">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tc>
                  <a:txBody>
                    <a:bodyPr/>
                    <a:lstStyle/>
                    <a:p>
                      <a:pPr marL="0" marR="0" algn="ctr">
                        <a:spcAft>
                          <a:spcPts val="300"/>
                        </a:spcAft>
                        <a:buNone/>
                      </a:pPr>
                      <a:r>
                        <a:rPr lang="pt-BR" sz="1800" dirty="0">
                          <a:effectLst/>
                        </a:rPr>
                        <a:t>0</a:t>
                      </a:r>
                      <a:endParaRPr lang="en-US" sz="3200" i="1"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739677919"/>
                  </a:ext>
                </a:extLst>
              </a:tr>
            </a:tbl>
          </a:graphicData>
        </a:graphic>
      </p:graphicFrame>
    </p:spTree>
    <p:extLst>
      <p:ext uri="{BB962C8B-B14F-4D97-AF65-F5344CB8AC3E}">
        <p14:creationId xmlns:p14="http://schemas.microsoft.com/office/powerpoint/2010/main" val="4194362256"/>
      </p:ext>
    </p:extLst>
  </p:cSld>
  <p:clrMapOvr>
    <a:masterClrMapping/>
  </p:clrMapOvr>
  <p:transition spd="med">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AC072-6395-17F5-F5F4-E2993DE4E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D8330-BF86-BE08-BBFD-85B02319E8D4}"/>
              </a:ext>
            </a:extLst>
          </p:cNvPr>
          <p:cNvSpPr>
            <a:spLocks noGrp="1"/>
          </p:cNvSpPr>
          <p:nvPr>
            <p:ph type="title"/>
          </p:nvPr>
        </p:nvSpPr>
        <p:spPr>
          <a:xfrm>
            <a:off x="1869743" y="117052"/>
            <a:ext cx="9362364" cy="872836"/>
          </a:xfrm>
        </p:spPr>
        <p:txBody>
          <a:bodyPr>
            <a:noAutofit/>
          </a:bodyPr>
          <a:lstStyle/>
          <a:p>
            <a:r>
              <a:rPr lang="en-US" sz="4800" b="1" dirty="0">
                <a:solidFill>
                  <a:srgbClr val="0070C0"/>
                </a:solidFill>
              </a:rPr>
              <a:t>Control of Processor Unit</a:t>
            </a:r>
          </a:p>
        </p:txBody>
      </p:sp>
      <p:pic>
        <p:nvPicPr>
          <p:cNvPr id="7" name="Content Placeholder 3">
            <a:extLst>
              <a:ext uri="{FF2B5EF4-FFF2-40B4-BE49-F238E27FC236}">
                <a16:creationId xmlns:a16="http://schemas.microsoft.com/office/drawing/2014/main" id="{DC71D579-1BD8-285A-BF49-F45DC0C1F4F3}"/>
              </a:ext>
            </a:extLst>
          </p:cNvPr>
          <p:cNvPicPr>
            <a:picLocks noChangeAspect="1"/>
          </p:cNvPicPr>
          <p:nvPr/>
        </p:nvPicPr>
        <p:blipFill rotWithShape="1">
          <a:blip r:embed="rId2">
            <a:duotone>
              <a:schemeClr val="accent4">
                <a:shade val="45000"/>
                <a:satMod val="135000"/>
              </a:schemeClr>
              <a:prstClr val="white"/>
            </a:duotone>
            <a:lum bright="-20000" contrast="40000"/>
          </a:blip>
          <a:srcRect l="3087" t="2666" r="6195" b="1660"/>
          <a:stretch/>
        </p:blipFill>
        <p:spPr>
          <a:xfrm>
            <a:off x="637514" y="953209"/>
            <a:ext cx="7318168" cy="6574676"/>
          </a:xfrm>
          <a:prstGeom prst="rect">
            <a:avLst/>
          </a:prstGeom>
        </p:spPr>
      </p:pic>
      <p:sp>
        <p:nvSpPr>
          <p:cNvPr id="4" name="Rectangle 3">
            <a:extLst>
              <a:ext uri="{FF2B5EF4-FFF2-40B4-BE49-F238E27FC236}">
                <a16:creationId xmlns:a16="http://schemas.microsoft.com/office/drawing/2014/main" id="{326165EE-702C-1147-FD37-E1FEB455728F}"/>
              </a:ext>
            </a:extLst>
          </p:cNvPr>
          <p:cNvSpPr/>
          <p:nvPr/>
        </p:nvSpPr>
        <p:spPr>
          <a:xfrm>
            <a:off x="190582" y="7402662"/>
            <a:ext cx="9011059" cy="584775"/>
          </a:xfrm>
          <a:prstGeom prst="rect">
            <a:avLst/>
          </a:prstGeom>
        </p:spPr>
        <p:txBody>
          <a:bodyPr wrap="square">
            <a:spAutoFit/>
          </a:bodyPr>
          <a:lstStyle/>
          <a:p>
            <a:r>
              <a:rPr lang="en-US" sz="3200" dirty="0">
                <a:solidFill>
                  <a:srgbClr val="FF0000"/>
                </a:solidFill>
              </a:rPr>
              <a:t>Fig. 10-10 </a:t>
            </a:r>
            <a:r>
              <a:rPr lang="en-US" sz="3200" dirty="0"/>
              <a:t>Micro-program control for processor unit</a:t>
            </a:r>
          </a:p>
        </p:txBody>
      </p:sp>
      <p:sp>
        <p:nvSpPr>
          <p:cNvPr id="3" name="Date Placeholder 2">
            <a:extLst>
              <a:ext uri="{FF2B5EF4-FFF2-40B4-BE49-F238E27FC236}">
                <a16:creationId xmlns:a16="http://schemas.microsoft.com/office/drawing/2014/main" id="{5EE53EA7-E510-B01B-CA50-5DAADD7BE2C9}"/>
              </a:ext>
            </a:extLst>
          </p:cNvPr>
          <p:cNvSpPr>
            <a:spLocks noGrp="1"/>
          </p:cNvSpPr>
          <p:nvPr>
            <p:ph type="dt" sz="half" idx="10"/>
          </p:nvPr>
        </p:nvSpPr>
        <p:spPr/>
        <p:txBody>
          <a:bodyPr/>
          <a:lstStyle/>
          <a:p>
            <a:fld id="{5275A8E5-4171-4139-AAEF-ED6F663E2C22}" type="datetime3">
              <a:rPr lang="en-US" smtClean="0"/>
              <a:t>6 January 2026</a:t>
            </a:fld>
            <a:endParaRPr lang="en-US"/>
          </a:p>
        </p:txBody>
      </p:sp>
      <p:sp>
        <p:nvSpPr>
          <p:cNvPr id="6" name="Slide Number Placeholder 5">
            <a:extLst>
              <a:ext uri="{FF2B5EF4-FFF2-40B4-BE49-F238E27FC236}">
                <a16:creationId xmlns:a16="http://schemas.microsoft.com/office/drawing/2014/main" id="{0CC7372D-10C1-37CE-150B-18EB95A71357}"/>
              </a:ext>
            </a:extLst>
          </p:cNvPr>
          <p:cNvSpPr>
            <a:spLocks noGrp="1"/>
          </p:cNvSpPr>
          <p:nvPr>
            <p:ph type="sldNum" sz="quarter" idx="12"/>
          </p:nvPr>
        </p:nvSpPr>
        <p:spPr/>
        <p:txBody>
          <a:bodyPr/>
          <a:lstStyle/>
          <a:p>
            <a:fld id="{48F63A3B-78C7-47BE-AE5E-E10140E04643}" type="slidenum">
              <a:rPr lang="en-US" smtClean="0"/>
              <a:pPr/>
              <a:t>41</a:t>
            </a:fld>
            <a:endParaRPr lang="en-US" dirty="0"/>
          </a:p>
        </p:txBody>
      </p:sp>
      <p:pic>
        <p:nvPicPr>
          <p:cNvPr id="8" name="Content Placeholder 3">
            <a:extLst>
              <a:ext uri="{FF2B5EF4-FFF2-40B4-BE49-F238E27FC236}">
                <a16:creationId xmlns:a16="http://schemas.microsoft.com/office/drawing/2014/main" id="{6CE79C4C-F50A-AC15-008C-DC25CFFEC439}"/>
              </a:ext>
            </a:extLst>
          </p:cNvPr>
          <p:cNvPicPr>
            <a:picLocks noGrp="1" noChangeAspect="1"/>
          </p:cNvPicPr>
          <p:nvPr>
            <p:ph idx="1"/>
          </p:nvPr>
        </p:nvPicPr>
        <p:blipFill rotWithShape="1">
          <a:blip r:embed="rId3">
            <a:duotone>
              <a:schemeClr val="accent2">
                <a:shade val="45000"/>
                <a:satMod val="135000"/>
              </a:schemeClr>
              <a:prstClr val="white"/>
            </a:duotone>
            <a:lum bright="-20000" contrast="40000"/>
          </a:blip>
          <a:srcRect l="2877" t="2317" r="2530"/>
          <a:stretch/>
        </p:blipFill>
        <p:spPr>
          <a:xfrm>
            <a:off x="9191908" y="592874"/>
            <a:ext cx="7076709" cy="6026290"/>
          </a:xfrm>
          <a:prstGeom prst="rect">
            <a:avLst/>
          </a:prstGeom>
        </p:spPr>
      </p:pic>
      <p:pic>
        <p:nvPicPr>
          <p:cNvPr id="9" name="Picture 8">
            <a:extLst>
              <a:ext uri="{FF2B5EF4-FFF2-40B4-BE49-F238E27FC236}">
                <a16:creationId xmlns:a16="http://schemas.microsoft.com/office/drawing/2014/main" id="{0989E2A0-0324-8E33-C5DA-AE8CB106823A}"/>
              </a:ext>
            </a:extLst>
          </p:cNvPr>
          <p:cNvPicPr>
            <a:picLocks noChangeAspect="1"/>
          </p:cNvPicPr>
          <p:nvPr/>
        </p:nvPicPr>
        <p:blipFill rotWithShape="1">
          <a:blip r:embed="rId4">
            <a:duotone>
              <a:schemeClr val="accent1">
                <a:shade val="45000"/>
                <a:satMod val="135000"/>
              </a:schemeClr>
              <a:prstClr val="white"/>
            </a:duotone>
            <a:lum bright="-20000" contrast="40000"/>
          </a:blip>
          <a:srcRect l="1513" r="5569" b="45718"/>
          <a:stretch>
            <a:fillRect/>
          </a:stretch>
        </p:blipFill>
        <p:spPr>
          <a:xfrm>
            <a:off x="7107070" y="6891600"/>
            <a:ext cx="2879763" cy="670941"/>
          </a:xfrm>
          <a:prstGeom prst="rect">
            <a:avLst/>
          </a:prstGeom>
        </p:spPr>
      </p:pic>
      <p:sp>
        <p:nvSpPr>
          <p:cNvPr id="10" name="TextBox 9">
            <a:extLst>
              <a:ext uri="{FF2B5EF4-FFF2-40B4-BE49-F238E27FC236}">
                <a16:creationId xmlns:a16="http://schemas.microsoft.com/office/drawing/2014/main" id="{89915D13-5C94-083B-D123-1A2DF0D25388}"/>
              </a:ext>
            </a:extLst>
          </p:cNvPr>
          <p:cNvSpPr txBox="1"/>
          <p:nvPr/>
        </p:nvSpPr>
        <p:spPr>
          <a:xfrm>
            <a:off x="12088678" y="6974542"/>
            <a:ext cx="1960793" cy="707886"/>
          </a:xfrm>
          <a:prstGeom prst="rect">
            <a:avLst/>
          </a:prstGeom>
          <a:noFill/>
        </p:spPr>
        <p:txBody>
          <a:bodyPr wrap="none" rtlCol="0">
            <a:spAutoFit/>
          </a:bodyPr>
          <a:lstStyle/>
          <a:p>
            <a:r>
              <a:rPr lang="en-US" sz="4000" dirty="0">
                <a:solidFill>
                  <a:srgbClr val="FF0000"/>
                </a:solidFill>
              </a:rPr>
              <a:t>Fig. 9-16</a:t>
            </a:r>
          </a:p>
        </p:txBody>
      </p:sp>
      <p:sp>
        <p:nvSpPr>
          <p:cNvPr id="11" name="Rectangle 10">
            <a:extLst>
              <a:ext uri="{FF2B5EF4-FFF2-40B4-BE49-F238E27FC236}">
                <a16:creationId xmlns:a16="http://schemas.microsoft.com/office/drawing/2014/main" id="{5454AE18-6B28-F0BC-E102-8E93E6F49EAF}"/>
              </a:ext>
            </a:extLst>
          </p:cNvPr>
          <p:cNvSpPr/>
          <p:nvPr/>
        </p:nvSpPr>
        <p:spPr>
          <a:xfrm>
            <a:off x="5046332" y="6044929"/>
            <a:ext cx="1941322" cy="957399"/>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E9670B0F-9287-1CE1-A2BB-31750214C74E}"/>
              </a:ext>
            </a:extLst>
          </p:cNvPr>
          <p:cNvSpPr/>
          <p:nvPr/>
        </p:nvSpPr>
        <p:spPr>
          <a:xfrm>
            <a:off x="8750570" y="616247"/>
            <a:ext cx="7558991" cy="6186917"/>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C0003A39-D1A7-E08A-C9D0-429D0DE10C4D}"/>
              </a:ext>
            </a:extLst>
          </p:cNvPr>
          <p:cNvSpPr txBox="1"/>
          <p:nvPr/>
        </p:nvSpPr>
        <p:spPr>
          <a:xfrm>
            <a:off x="6030495" y="7039231"/>
            <a:ext cx="1188720" cy="400110"/>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0011001</a:t>
            </a:r>
          </a:p>
        </p:txBody>
      </p:sp>
      <p:sp>
        <p:nvSpPr>
          <p:cNvPr id="14" name="TextBox 13">
            <a:extLst>
              <a:ext uri="{FF2B5EF4-FFF2-40B4-BE49-F238E27FC236}">
                <a16:creationId xmlns:a16="http://schemas.microsoft.com/office/drawing/2014/main" id="{DDB5C6E7-565D-1308-AB22-540649646731}"/>
              </a:ext>
            </a:extLst>
          </p:cNvPr>
          <p:cNvSpPr txBox="1"/>
          <p:nvPr/>
        </p:nvSpPr>
        <p:spPr>
          <a:xfrm>
            <a:off x="6704915" y="1514778"/>
            <a:ext cx="2316256" cy="400110"/>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0111011111100101</a:t>
            </a:r>
          </a:p>
        </p:txBody>
      </p:sp>
      <p:sp>
        <p:nvSpPr>
          <p:cNvPr id="15" name="TextBox 14">
            <a:extLst>
              <a:ext uri="{FF2B5EF4-FFF2-40B4-BE49-F238E27FC236}">
                <a16:creationId xmlns:a16="http://schemas.microsoft.com/office/drawing/2014/main" id="{7ECAE395-BCDF-8C65-DA1E-1113D75C05CE}"/>
              </a:ext>
            </a:extLst>
          </p:cNvPr>
          <p:cNvSpPr txBox="1"/>
          <p:nvPr/>
        </p:nvSpPr>
        <p:spPr>
          <a:xfrm>
            <a:off x="6704915" y="1973441"/>
            <a:ext cx="664876" cy="400110"/>
          </a:xfrm>
          <a:prstGeom prst="rect">
            <a:avLst/>
          </a:prstGeom>
          <a:noFill/>
        </p:spPr>
        <p:txBody>
          <a:bodyPr wrap="square" rtlCol="0">
            <a:spAutoFit/>
          </a:bodyPr>
          <a:lstStyle/>
          <a:p>
            <a:pPr algn="ctr"/>
            <a:r>
              <a:rPr lang="en-US" sz="2000" dirty="0">
                <a:solidFill>
                  <a:srgbClr val="FF0000"/>
                </a:solidFill>
                <a:latin typeface="Times New Roman" panose="02020603050405020304" pitchFamily="18" charset="0"/>
                <a:cs typeface="Times New Roman" panose="02020603050405020304" pitchFamily="18" charset="0"/>
              </a:rPr>
              <a:t>1</a:t>
            </a:r>
          </a:p>
        </p:txBody>
      </p:sp>
      <p:sp>
        <p:nvSpPr>
          <p:cNvPr id="17" name="TextBox 16">
            <a:extLst>
              <a:ext uri="{FF2B5EF4-FFF2-40B4-BE49-F238E27FC236}">
                <a16:creationId xmlns:a16="http://schemas.microsoft.com/office/drawing/2014/main" id="{1E4E083C-2554-46FF-9FBF-5D4D28D634C4}"/>
              </a:ext>
            </a:extLst>
          </p:cNvPr>
          <p:cNvSpPr txBox="1"/>
          <p:nvPr/>
        </p:nvSpPr>
        <p:spPr>
          <a:xfrm>
            <a:off x="6797075" y="2256445"/>
            <a:ext cx="818376" cy="400110"/>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000</a:t>
            </a:r>
          </a:p>
        </p:txBody>
      </p:sp>
      <p:sp>
        <p:nvSpPr>
          <p:cNvPr id="18" name="TextBox 17">
            <a:extLst>
              <a:ext uri="{FF2B5EF4-FFF2-40B4-BE49-F238E27FC236}">
                <a16:creationId xmlns:a16="http://schemas.microsoft.com/office/drawing/2014/main" id="{BF09B56E-ECC8-FB06-7620-4D7A775C5165}"/>
              </a:ext>
            </a:extLst>
          </p:cNvPr>
          <p:cNvSpPr txBox="1"/>
          <p:nvPr/>
        </p:nvSpPr>
        <p:spPr>
          <a:xfrm>
            <a:off x="5886539" y="4461211"/>
            <a:ext cx="818376" cy="400110"/>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000</a:t>
            </a:r>
          </a:p>
        </p:txBody>
      </p:sp>
      <p:sp>
        <p:nvSpPr>
          <p:cNvPr id="19" name="TextBox 18">
            <a:extLst>
              <a:ext uri="{FF2B5EF4-FFF2-40B4-BE49-F238E27FC236}">
                <a16:creationId xmlns:a16="http://schemas.microsoft.com/office/drawing/2014/main" id="{49FD216C-CF4E-98FD-2CC3-C094F2BF4CF7}"/>
              </a:ext>
            </a:extLst>
          </p:cNvPr>
          <p:cNvSpPr txBox="1"/>
          <p:nvPr/>
        </p:nvSpPr>
        <p:spPr>
          <a:xfrm>
            <a:off x="3998794" y="4033805"/>
            <a:ext cx="706992"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1</a:t>
            </a:r>
          </a:p>
        </p:txBody>
      </p:sp>
      <p:sp>
        <p:nvSpPr>
          <p:cNvPr id="21" name="TextBox 20">
            <a:extLst>
              <a:ext uri="{FF2B5EF4-FFF2-40B4-BE49-F238E27FC236}">
                <a16:creationId xmlns:a16="http://schemas.microsoft.com/office/drawing/2014/main" id="{EEA428B8-2DD3-E0FB-0399-1DA9B86D2222}"/>
              </a:ext>
            </a:extLst>
          </p:cNvPr>
          <p:cNvSpPr txBox="1"/>
          <p:nvPr/>
        </p:nvSpPr>
        <p:spPr>
          <a:xfrm>
            <a:off x="6968291" y="5996401"/>
            <a:ext cx="2182673" cy="400110"/>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0111011111100101</a:t>
            </a:r>
          </a:p>
        </p:txBody>
      </p:sp>
      <p:sp>
        <p:nvSpPr>
          <p:cNvPr id="22" name="TextBox 21">
            <a:extLst>
              <a:ext uri="{FF2B5EF4-FFF2-40B4-BE49-F238E27FC236}">
                <a16:creationId xmlns:a16="http://schemas.microsoft.com/office/drawing/2014/main" id="{440C8A97-1634-C584-5F53-F546E7A4BF2F}"/>
              </a:ext>
            </a:extLst>
          </p:cNvPr>
          <p:cNvSpPr txBox="1"/>
          <p:nvPr/>
        </p:nvSpPr>
        <p:spPr>
          <a:xfrm>
            <a:off x="4904499" y="5631171"/>
            <a:ext cx="1188720" cy="400110"/>
          </a:xfrm>
          <a:prstGeom prst="rect">
            <a:avLst/>
          </a:prstGeom>
          <a:noFill/>
        </p:spPr>
        <p:txBody>
          <a:bodyPr wrap="square" rtlCol="0">
            <a:spAutoFit/>
          </a:bodyPr>
          <a:lstStyle/>
          <a:p>
            <a:pPr algn="ctr"/>
            <a:r>
              <a:rPr lang="en-US" sz="2000" dirty="0">
                <a:solidFill>
                  <a:srgbClr val="FF0000"/>
                </a:solidFill>
                <a:latin typeface="Times New Roman" panose="02020603050405020304" pitchFamily="18" charset="0"/>
                <a:cs typeface="Times New Roman" panose="02020603050405020304" pitchFamily="18" charset="0"/>
              </a:rPr>
              <a:t>11101101</a:t>
            </a:r>
          </a:p>
        </p:txBody>
      </p:sp>
      <p:sp>
        <p:nvSpPr>
          <p:cNvPr id="23" name="TextBox 22">
            <a:extLst>
              <a:ext uri="{FF2B5EF4-FFF2-40B4-BE49-F238E27FC236}">
                <a16:creationId xmlns:a16="http://schemas.microsoft.com/office/drawing/2014/main" id="{6DD86776-6E93-5EF8-C58F-40662FBE1E8F}"/>
              </a:ext>
            </a:extLst>
          </p:cNvPr>
          <p:cNvSpPr txBox="1"/>
          <p:nvPr/>
        </p:nvSpPr>
        <p:spPr>
          <a:xfrm>
            <a:off x="6030495" y="5637995"/>
            <a:ext cx="1188720" cy="400110"/>
          </a:xfrm>
          <a:prstGeom prst="rect">
            <a:avLst/>
          </a:prstGeom>
          <a:noFill/>
        </p:spPr>
        <p:txBody>
          <a:bodyPr wrap="square" rtlCol="0">
            <a:spAutoFit/>
          </a:bodyPr>
          <a:lstStyle/>
          <a:p>
            <a:pPr algn="ctr"/>
            <a:r>
              <a:rPr lang="en-US" sz="2000" dirty="0">
                <a:solidFill>
                  <a:srgbClr val="FF0000"/>
                </a:solidFill>
                <a:latin typeface="Times New Roman" panose="02020603050405020304" pitchFamily="18" charset="0"/>
                <a:cs typeface="Times New Roman" panose="02020603050405020304" pitchFamily="18" charset="0"/>
              </a:rPr>
              <a:t>01110110</a:t>
            </a:r>
          </a:p>
        </p:txBody>
      </p:sp>
      <p:sp>
        <p:nvSpPr>
          <p:cNvPr id="24" name="TextBox 23">
            <a:extLst>
              <a:ext uri="{FF2B5EF4-FFF2-40B4-BE49-F238E27FC236}">
                <a16:creationId xmlns:a16="http://schemas.microsoft.com/office/drawing/2014/main" id="{490CCDCC-A5D7-BCA0-4260-BD2D4550D60E}"/>
              </a:ext>
            </a:extLst>
          </p:cNvPr>
          <p:cNvSpPr txBox="1"/>
          <p:nvPr/>
        </p:nvSpPr>
        <p:spPr>
          <a:xfrm>
            <a:off x="3105009" y="5731881"/>
            <a:ext cx="2108435"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1 0 0 1 0 1 0</a:t>
            </a:r>
          </a:p>
        </p:txBody>
      </p:sp>
      <p:sp>
        <p:nvSpPr>
          <p:cNvPr id="25" name="TextBox 24">
            <a:extLst>
              <a:ext uri="{FF2B5EF4-FFF2-40B4-BE49-F238E27FC236}">
                <a16:creationId xmlns:a16="http://schemas.microsoft.com/office/drawing/2014/main" id="{FC52B96A-9DD2-0255-D138-1278516B1DDC}"/>
              </a:ext>
            </a:extLst>
          </p:cNvPr>
          <p:cNvSpPr txBox="1"/>
          <p:nvPr/>
        </p:nvSpPr>
        <p:spPr>
          <a:xfrm>
            <a:off x="2751513" y="3197577"/>
            <a:ext cx="706992"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0</a:t>
            </a:r>
          </a:p>
        </p:txBody>
      </p:sp>
      <p:sp>
        <p:nvSpPr>
          <p:cNvPr id="27" name="TextBox 26">
            <a:extLst>
              <a:ext uri="{FF2B5EF4-FFF2-40B4-BE49-F238E27FC236}">
                <a16:creationId xmlns:a16="http://schemas.microsoft.com/office/drawing/2014/main" id="{1A26A0C1-F71A-C05B-9DF5-BB34BE6C1375}"/>
              </a:ext>
            </a:extLst>
          </p:cNvPr>
          <p:cNvSpPr txBox="1"/>
          <p:nvPr/>
        </p:nvSpPr>
        <p:spPr>
          <a:xfrm>
            <a:off x="6797075" y="2738770"/>
            <a:ext cx="1392071" cy="461665"/>
          </a:xfrm>
          <a:prstGeom prst="rect">
            <a:avLst/>
          </a:prstGeom>
          <a:noFill/>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0b110000</a:t>
            </a:r>
          </a:p>
        </p:txBody>
      </p:sp>
      <p:sp>
        <p:nvSpPr>
          <p:cNvPr id="28" name="TextBox 27">
            <a:extLst>
              <a:ext uri="{FF2B5EF4-FFF2-40B4-BE49-F238E27FC236}">
                <a16:creationId xmlns:a16="http://schemas.microsoft.com/office/drawing/2014/main" id="{1C7750E2-7CE3-7193-62D1-C1809FFF702F}"/>
              </a:ext>
            </a:extLst>
          </p:cNvPr>
          <p:cNvSpPr txBox="1"/>
          <p:nvPr/>
        </p:nvSpPr>
        <p:spPr>
          <a:xfrm>
            <a:off x="568907" y="1616262"/>
            <a:ext cx="1392071" cy="461665"/>
          </a:xfrm>
          <a:prstGeom prst="rect">
            <a:avLst/>
          </a:prstGeom>
          <a:noFill/>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0b110000</a:t>
            </a:r>
          </a:p>
        </p:txBody>
      </p:sp>
      <p:sp>
        <p:nvSpPr>
          <p:cNvPr id="29" name="TextBox 28">
            <a:extLst>
              <a:ext uri="{FF2B5EF4-FFF2-40B4-BE49-F238E27FC236}">
                <a16:creationId xmlns:a16="http://schemas.microsoft.com/office/drawing/2014/main" id="{7F6BB29B-B9A8-95AE-B59F-5DB551CBC614}"/>
              </a:ext>
            </a:extLst>
          </p:cNvPr>
          <p:cNvSpPr txBox="1"/>
          <p:nvPr/>
        </p:nvSpPr>
        <p:spPr>
          <a:xfrm>
            <a:off x="2046183" y="1573331"/>
            <a:ext cx="664876" cy="400110"/>
          </a:xfrm>
          <a:prstGeom prst="rect">
            <a:avLst/>
          </a:prstGeom>
          <a:noFill/>
        </p:spPr>
        <p:txBody>
          <a:bodyPr wrap="square" rtlCol="0">
            <a:spAutoFit/>
          </a:bodyPr>
          <a:lstStyle/>
          <a:p>
            <a:pPr algn="ctr"/>
            <a:r>
              <a:rPr lang="en-US" sz="2000" dirty="0">
                <a:solidFill>
                  <a:srgbClr val="FF0000"/>
                </a:solidFill>
                <a:latin typeface="Times New Roman" panose="02020603050405020304" pitchFamily="18" charset="0"/>
                <a:cs typeface="Times New Roman" panose="02020603050405020304" pitchFamily="18" charset="0"/>
              </a:rPr>
              <a:t>1</a:t>
            </a:r>
          </a:p>
        </p:txBody>
      </p:sp>
      <p:sp>
        <p:nvSpPr>
          <p:cNvPr id="30" name="TextBox 29">
            <a:extLst>
              <a:ext uri="{FF2B5EF4-FFF2-40B4-BE49-F238E27FC236}">
                <a16:creationId xmlns:a16="http://schemas.microsoft.com/office/drawing/2014/main" id="{A35884CE-8594-B040-CCFB-A9DE3F31E734}"/>
              </a:ext>
            </a:extLst>
          </p:cNvPr>
          <p:cNvSpPr txBox="1"/>
          <p:nvPr/>
        </p:nvSpPr>
        <p:spPr>
          <a:xfrm>
            <a:off x="2671297" y="989887"/>
            <a:ext cx="553998" cy="1519219"/>
          </a:xfrm>
          <a:prstGeom prst="rect">
            <a:avLst/>
          </a:prstGeom>
          <a:noFill/>
        </p:spPr>
        <p:txBody>
          <a:bodyPr vert="vert270"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0b110000</a:t>
            </a:r>
          </a:p>
        </p:txBody>
      </p:sp>
      <p:sp>
        <p:nvSpPr>
          <p:cNvPr id="31" name="TextBox 30">
            <a:extLst>
              <a:ext uri="{FF2B5EF4-FFF2-40B4-BE49-F238E27FC236}">
                <a16:creationId xmlns:a16="http://schemas.microsoft.com/office/drawing/2014/main" id="{1DDCB279-C615-E517-EC01-EA47EAE092AF}"/>
              </a:ext>
            </a:extLst>
          </p:cNvPr>
          <p:cNvSpPr txBox="1"/>
          <p:nvPr/>
        </p:nvSpPr>
        <p:spPr>
          <a:xfrm>
            <a:off x="4035524" y="1034781"/>
            <a:ext cx="553998" cy="1405898"/>
          </a:xfrm>
          <a:prstGeom prst="rect">
            <a:avLst/>
          </a:prstGeom>
          <a:noFill/>
        </p:spPr>
        <p:txBody>
          <a:bodyPr vert="vert270"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0b111010</a:t>
            </a:r>
          </a:p>
        </p:txBody>
      </p:sp>
      <p:sp>
        <p:nvSpPr>
          <p:cNvPr id="33" name="TextBox 32">
            <a:extLst>
              <a:ext uri="{FF2B5EF4-FFF2-40B4-BE49-F238E27FC236}">
                <a16:creationId xmlns:a16="http://schemas.microsoft.com/office/drawing/2014/main" id="{D87C11E9-E8A1-A710-6F74-B52EAE6D2283}"/>
              </a:ext>
            </a:extLst>
          </p:cNvPr>
          <p:cNvSpPr txBox="1"/>
          <p:nvPr/>
        </p:nvSpPr>
        <p:spPr>
          <a:xfrm>
            <a:off x="8746755" y="601040"/>
            <a:ext cx="5051153" cy="461665"/>
          </a:xfrm>
          <a:prstGeom prst="rect">
            <a:avLst/>
          </a:prstGeom>
          <a:noFill/>
        </p:spPr>
        <p:txBody>
          <a:bodyPr wrap="square" rtlCol="0">
            <a:spAutoFit/>
          </a:bodyPr>
          <a:lstStyle/>
          <a:p>
            <a:r>
              <a:rPr lang="en-US" sz="2400" dirty="0">
                <a:solidFill>
                  <a:srgbClr val="FF0000"/>
                </a:solidFill>
                <a:latin typeface="Times New Roman" panose="02020603050405020304" pitchFamily="18" charset="0"/>
                <a:cs typeface="Times New Roman" panose="02020603050405020304" pitchFamily="18" charset="0"/>
              </a:rPr>
              <a:t>Desired Operation: </a:t>
            </a:r>
            <a:r>
              <a:rPr lang="en-US" sz="2400" dirty="0">
                <a:latin typeface="Times New Roman" panose="02020603050405020304" pitchFamily="18" charset="0"/>
                <a:cs typeface="Times New Roman" panose="02020603050405020304" pitchFamily="18" charset="0"/>
              </a:rPr>
              <a:t>R7 </a:t>
            </a:r>
            <a:r>
              <a:rPr lang="en-US" sz="2400" dirty="0">
                <a:latin typeface="Times New Roman" panose="02020603050405020304" pitchFamily="18" charset="0"/>
                <a:cs typeface="Times New Roman" panose="02020603050405020304" pitchFamily="18" charset="0"/>
                <a:sym typeface="Wingdings" panose="05000000000000000000" pitchFamily="2" charset="2"/>
              </a:rPr>
              <a:t> R2</a:t>
            </a:r>
            <a:r>
              <a:rPr lang="en-US" sz="2400" dirty="0">
                <a:latin typeface="Times New Roman" panose="02020603050405020304" pitchFamily="18" charset="0"/>
                <a:cs typeface="Times New Roman" panose="02020603050405020304" pitchFamily="18" charset="0"/>
                <a:sym typeface="Symbol" panose="05050102010706020507" pitchFamily="18" charset="2"/>
              </a:rPr>
              <a:t>R5</a:t>
            </a:r>
            <a:endParaRPr lang="en-US" sz="2400" dirty="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B19D4F7A-2AE2-7FD0-8E14-3E35188BACF8}"/>
              </a:ext>
            </a:extLst>
          </p:cNvPr>
          <p:cNvSpPr/>
          <p:nvPr/>
        </p:nvSpPr>
        <p:spPr>
          <a:xfrm>
            <a:off x="10768107" y="1198943"/>
            <a:ext cx="1105468" cy="957399"/>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Rectangle 34">
            <a:extLst>
              <a:ext uri="{FF2B5EF4-FFF2-40B4-BE49-F238E27FC236}">
                <a16:creationId xmlns:a16="http://schemas.microsoft.com/office/drawing/2014/main" id="{AE021A52-D9DC-7465-D6D5-927BACF5EA8F}"/>
              </a:ext>
            </a:extLst>
          </p:cNvPr>
          <p:cNvSpPr/>
          <p:nvPr/>
        </p:nvSpPr>
        <p:spPr>
          <a:xfrm>
            <a:off x="12895874" y="2126634"/>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36" name="Rectangle 35">
            <a:extLst>
              <a:ext uri="{FF2B5EF4-FFF2-40B4-BE49-F238E27FC236}">
                <a16:creationId xmlns:a16="http://schemas.microsoft.com/office/drawing/2014/main" id="{466495E0-ED73-7F72-9241-4C5A49C8F8A6}"/>
              </a:ext>
            </a:extLst>
          </p:cNvPr>
          <p:cNvSpPr/>
          <p:nvPr/>
        </p:nvSpPr>
        <p:spPr>
          <a:xfrm>
            <a:off x="12895874" y="2401866"/>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7" name="Rectangle 36">
            <a:extLst>
              <a:ext uri="{FF2B5EF4-FFF2-40B4-BE49-F238E27FC236}">
                <a16:creationId xmlns:a16="http://schemas.microsoft.com/office/drawing/2014/main" id="{D67EDB9A-1A24-AE79-951F-334CABCD362D}"/>
              </a:ext>
            </a:extLst>
          </p:cNvPr>
          <p:cNvSpPr/>
          <p:nvPr/>
        </p:nvSpPr>
        <p:spPr>
          <a:xfrm>
            <a:off x="12895874" y="2661931"/>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8" name="Rectangle 37">
            <a:extLst>
              <a:ext uri="{FF2B5EF4-FFF2-40B4-BE49-F238E27FC236}">
                <a16:creationId xmlns:a16="http://schemas.microsoft.com/office/drawing/2014/main" id="{CAD650FB-9D61-6211-8573-28D533F0B934}"/>
              </a:ext>
            </a:extLst>
          </p:cNvPr>
          <p:cNvSpPr/>
          <p:nvPr/>
        </p:nvSpPr>
        <p:spPr>
          <a:xfrm>
            <a:off x="15286516" y="2128906"/>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9" name="Rectangle 38">
            <a:extLst>
              <a:ext uri="{FF2B5EF4-FFF2-40B4-BE49-F238E27FC236}">
                <a16:creationId xmlns:a16="http://schemas.microsoft.com/office/drawing/2014/main" id="{43E0FBD8-0B49-4CB6-A9C8-CDDCB04AF358}"/>
              </a:ext>
            </a:extLst>
          </p:cNvPr>
          <p:cNvSpPr/>
          <p:nvPr/>
        </p:nvSpPr>
        <p:spPr>
          <a:xfrm>
            <a:off x="15286516" y="2390490"/>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0" name="Rectangle 39">
            <a:extLst>
              <a:ext uri="{FF2B5EF4-FFF2-40B4-BE49-F238E27FC236}">
                <a16:creationId xmlns:a16="http://schemas.microsoft.com/office/drawing/2014/main" id="{85262913-FFF5-34F9-A48B-031896C883A0}"/>
              </a:ext>
            </a:extLst>
          </p:cNvPr>
          <p:cNvSpPr/>
          <p:nvPr/>
        </p:nvSpPr>
        <p:spPr>
          <a:xfrm>
            <a:off x="15286516" y="2623259"/>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41" name="Rectangle 40">
            <a:extLst>
              <a:ext uri="{FF2B5EF4-FFF2-40B4-BE49-F238E27FC236}">
                <a16:creationId xmlns:a16="http://schemas.microsoft.com/office/drawing/2014/main" id="{46570EFC-9003-CFBE-D01F-67891392E286}"/>
              </a:ext>
            </a:extLst>
          </p:cNvPr>
          <p:cNvSpPr/>
          <p:nvPr/>
        </p:nvSpPr>
        <p:spPr>
          <a:xfrm>
            <a:off x="15150037" y="4571864"/>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42" name="Rectangle 41">
            <a:extLst>
              <a:ext uri="{FF2B5EF4-FFF2-40B4-BE49-F238E27FC236}">
                <a16:creationId xmlns:a16="http://schemas.microsoft.com/office/drawing/2014/main" id="{8FBC8C69-8835-1440-A70F-0B53E8D8C8D6}"/>
              </a:ext>
            </a:extLst>
          </p:cNvPr>
          <p:cNvSpPr/>
          <p:nvPr/>
        </p:nvSpPr>
        <p:spPr>
          <a:xfrm>
            <a:off x="15150037" y="4847096"/>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43" name="Rectangle 42">
            <a:extLst>
              <a:ext uri="{FF2B5EF4-FFF2-40B4-BE49-F238E27FC236}">
                <a16:creationId xmlns:a16="http://schemas.microsoft.com/office/drawing/2014/main" id="{FFF3EA12-5EAF-D256-A43D-3A4CF607A7CB}"/>
              </a:ext>
            </a:extLst>
          </p:cNvPr>
          <p:cNvSpPr/>
          <p:nvPr/>
        </p:nvSpPr>
        <p:spPr>
          <a:xfrm>
            <a:off x="15150037" y="5107161"/>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44" name="Rectangle 43">
            <a:extLst>
              <a:ext uri="{FF2B5EF4-FFF2-40B4-BE49-F238E27FC236}">
                <a16:creationId xmlns:a16="http://schemas.microsoft.com/office/drawing/2014/main" id="{A2E2603F-832A-186A-3FD2-F60698D86656}"/>
              </a:ext>
            </a:extLst>
          </p:cNvPr>
          <p:cNvSpPr/>
          <p:nvPr/>
        </p:nvSpPr>
        <p:spPr>
          <a:xfrm>
            <a:off x="15220549" y="3509622"/>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45" name="Rectangle 44">
            <a:extLst>
              <a:ext uri="{FF2B5EF4-FFF2-40B4-BE49-F238E27FC236}">
                <a16:creationId xmlns:a16="http://schemas.microsoft.com/office/drawing/2014/main" id="{FE7693D8-5793-57F8-4A14-F4E1A39CCD8F}"/>
              </a:ext>
            </a:extLst>
          </p:cNvPr>
          <p:cNvSpPr/>
          <p:nvPr/>
        </p:nvSpPr>
        <p:spPr>
          <a:xfrm>
            <a:off x="15220549" y="3757558"/>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
        <p:nvSpPr>
          <p:cNvPr id="46" name="Rectangle 45">
            <a:extLst>
              <a:ext uri="{FF2B5EF4-FFF2-40B4-BE49-F238E27FC236}">
                <a16:creationId xmlns:a16="http://schemas.microsoft.com/office/drawing/2014/main" id="{A8B85221-F69D-53D3-27B4-BC0A2E65DD71}"/>
              </a:ext>
            </a:extLst>
          </p:cNvPr>
          <p:cNvSpPr/>
          <p:nvPr/>
        </p:nvSpPr>
        <p:spPr>
          <a:xfrm>
            <a:off x="15220549" y="4017623"/>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47" name="Rectangle 46">
            <a:extLst>
              <a:ext uri="{FF2B5EF4-FFF2-40B4-BE49-F238E27FC236}">
                <a16:creationId xmlns:a16="http://schemas.microsoft.com/office/drawing/2014/main" id="{7E0E3EF5-A075-B112-7701-45F546521575}"/>
              </a:ext>
            </a:extLst>
          </p:cNvPr>
          <p:cNvSpPr/>
          <p:nvPr/>
        </p:nvSpPr>
        <p:spPr>
          <a:xfrm>
            <a:off x="15209173" y="3279880"/>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48" name="Rectangle 47">
            <a:extLst>
              <a:ext uri="{FF2B5EF4-FFF2-40B4-BE49-F238E27FC236}">
                <a16:creationId xmlns:a16="http://schemas.microsoft.com/office/drawing/2014/main" id="{AAABB2D9-D06B-02FF-CF54-9B08107E01A8}"/>
              </a:ext>
            </a:extLst>
          </p:cNvPr>
          <p:cNvSpPr/>
          <p:nvPr/>
        </p:nvSpPr>
        <p:spPr>
          <a:xfrm>
            <a:off x="11232107" y="3702956"/>
            <a:ext cx="1825256" cy="258681"/>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800" b="1" dirty="0">
                <a:solidFill>
                  <a:srgbClr val="FF0000"/>
                </a:solidFill>
              </a:rPr>
              <a:t>0   0    0    0</a:t>
            </a:r>
          </a:p>
        </p:txBody>
      </p:sp>
      <p:sp>
        <p:nvSpPr>
          <p:cNvPr id="49" name="Rectangle 48">
            <a:extLst>
              <a:ext uri="{FF2B5EF4-FFF2-40B4-BE49-F238E27FC236}">
                <a16:creationId xmlns:a16="http://schemas.microsoft.com/office/drawing/2014/main" id="{CBA77D7E-B2C6-5BB0-C7E7-9D1A687DE400}"/>
              </a:ext>
            </a:extLst>
          </p:cNvPr>
          <p:cNvSpPr/>
          <p:nvPr/>
        </p:nvSpPr>
        <p:spPr>
          <a:xfrm>
            <a:off x="10168591" y="2169850"/>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0" name="Rectangle 49">
            <a:extLst>
              <a:ext uri="{FF2B5EF4-FFF2-40B4-BE49-F238E27FC236}">
                <a16:creationId xmlns:a16="http://schemas.microsoft.com/office/drawing/2014/main" id="{CA859A46-0DF0-95CC-6B47-41A9AB7E79A3}"/>
              </a:ext>
            </a:extLst>
          </p:cNvPr>
          <p:cNvSpPr/>
          <p:nvPr/>
        </p:nvSpPr>
        <p:spPr>
          <a:xfrm>
            <a:off x="10168591" y="2417786"/>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1" name="Rectangle 50">
            <a:extLst>
              <a:ext uri="{FF2B5EF4-FFF2-40B4-BE49-F238E27FC236}">
                <a16:creationId xmlns:a16="http://schemas.microsoft.com/office/drawing/2014/main" id="{125AE86C-9ACC-D15C-A455-E125EC742465}"/>
              </a:ext>
            </a:extLst>
          </p:cNvPr>
          <p:cNvSpPr/>
          <p:nvPr/>
        </p:nvSpPr>
        <p:spPr>
          <a:xfrm>
            <a:off x="10168591" y="2609611"/>
            <a:ext cx="595356" cy="28901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2" name="TextBox 51">
            <a:extLst>
              <a:ext uri="{FF2B5EF4-FFF2-40B4-BE49-F238E27FC236}">
                <a16:creationId xmlns:a16="http://schemas.microsoft.com/office/drawing/2014/main" id="{7A1E5FB1-6433-B3CF-249A-BE911E2EB3AF}"/>
              </a:ext>
            </a:extLst>
          </p:cNvPr>
          <p:cNvSpPr txBox="1"/>
          <p:nvPr/>
        </p:nvSpPr>
        <p:spPr>
          <a:xfrm>
            <a:off x="12674367" y="3006508"/>
            <a:ext cx="118872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11101101</a:t>
            </a:r>
          </a:p>
        </p:txBody>
      </p:sp>
      <p:sp>
        <p:nvSpPr>
          <p:cNvPr id="53" name="TextBox 52">
            <a:extLst>
              <a:ext uri="{FF2B5EF4-FFF2-40B4-BE49-F238E27FC236}">
                <a16:creationId xmlns:a16="http://schemas.microsoft.com/office/drawing/2014/main" id="{B28076E1-1676-C06C-FE9E-FA23BE54C047}"/>
              </a:ext>
            </a:extLst>
          </p:cNvPr>
          <p:cNvSpPr txBox="1"/>
          <p:nvPr/>
        </p:nvSpPr>
        <p:spPr>
          <a:xfrm>
            <a:off x="14928474" y="2973603"/>
            <a:ext cx="118872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01110110</a:t>
            </a:r>
          </a:p>
        </p:txBody>
      </p:sp>
      <p:sp>
        <p:nvSpPr>
          <p:cNvPr id="54" name="TextBox 53">
            <a:extLst>
              <a:ext uri="{FF2B5EF4-FFF2-40B4-BE49-F238E27FC236}">
                <a16:creationId xmlns:a16="http://schemas.microsoft.com/office/drawing/2014/main" id="{AE67A762-DF52-12E9-E0F4-D97F548DF1A8}"/>
              </a:ext>
            </a:extLst>
          </p:cNvPr>
          <p:cNvSpPr txBox="1"/>
          <p:nvPr/>
        </p:nvSpPr>
        <p:spPr>
          <a:xfrm>
            <a:off x="13824756" y="3900458"/>
            <a:ext cx="1103718" cy="369332"/>
          </a:xfrm>
          <a:prstGeom prst="rect">
            <a:avLst/>
          </a:prstGeom>
          <a:noFill/>
        </p:spPr>
        <p:txBody>
          <a:bodyPr wrap="square">
            <a:spAutoFit/>
          </a:bodyPr>
          <a:lstStyle/>
          <a:p>
            <a:pPr algn="ctr"/>
            <a:r>
              <a:rPr lang="en-US" sz="1800" dirty="0">
                <a:latin typeface="Times New Roman" panose="02020603050405020304" pitchFamily="18" charset="0"/>
                <a:cs typeface="Times New Roman" panose="02020603050405020304" pitchFamily="18" charset="0"/>
                <a:sym typeface="Wingdings" panose="05000000000000000000" pitchFamily="2" charset="2"/>
              </a:rPr>
              <a:t>R2</a:t>
            </a:r>
            <a:r>
              <a:rPr lang="en-US" sz="1800" dirty="0">
                <a:latin typeface="Times New Roman" panose="02020603050405020304" pitchFamily="18" charset="0"/>
                <a:cs typeface="Times New Roman" panose="02020603050405020304" pitchFamily="18" charset="0"/>
                <a:sym typeface="Symbol" panose="05050102010706020507" pitchFamily="18" charset="2"/>
              </a:rPr>
              <a:t>R5</a:t>
            </a:r>
            <a:endParaRPr lang="en-US" dirty="0"/>
          </a:p>
        </p:txBody>
      </p:sp>
      <p:sp>
        <p:nvSpPr>
          <p:cNvPr id="55" name="TextBox 54">
            <a:extLst>
              <a:ext uri="{FF2B5EF4-FFF2-40B4-BE49-F238E27FC236}">
                <a16:creationId xmlns:a16="http://schemas.microsoft.com/office/drawing/2014/main" id="{4DF4CA67-D146-8FA1-E42E-510892B53D61}"/>
              </a:ext>
            </a:extLst>
          </p:cNvPr>
          <p:cNvSpPr txBox="1"/>
          <p:nvPr/>
        </p:nvSpPr>
        <p:spPr>
          <a:xfrm>
            <a:off x="14382850" y="4334933"/>
            <a:ext cx="118872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0110010</a:t>
            </a:r>
          </a:p>
        </p:txBody>
      </p:sp>
      <p:sp>
        <p:nvSpPr>
          <p:cNvPr id="56" name="TextBox 55">
            <a:extLst>
              <a:ext uri="{FF2B5EF4-FFF2-40B4-BE49-F238E27FC236}">
                <a16:creationId xmlns:a16="http://schemas.microsoft.com/office/drawing/2014/main" id="{976A781D-F97A-14EC-4E4E-1CC03D07845C}"/>
              </a:ext>
            </a:extLst>
          </p:cNvPr>
          <p:cNvSpPr txBox="1"/>
          <p:nvPr/>
        </p:nvSpPr>
        <p:spPr>
          <a:xfrm>
            <a:off x="14868383" y="6846699"/>
            <a:ext cx="118872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0011001</a:t>
            </a:r>
          </a:p>
        </p:txBody>
      </p:sp>
      <p:sp>
        <p:nvSpPr>
          <p:cNvPr id="57" name="TextBox 56">
            <a:extLst>
              <a:ext uri="{FF2B5EF4-FFF2-40B4-BE49-F238E27FC236}">
                <a16:creationId xmlns:a16="http://schemas.microsoft.com/office/drawing/2014/main" id="{6DBD8DDD-DCE8-54DE-01A2-46BD3185EA09}"/>
              </a:ext>
            </a:extLst>
          </p:cNvPr>
          <p:cNvSpPr txBox="1"/>
          <p:nvPr/>
        </p:nvSpPr>
        <p:spPr>
          <a:xfrm>
            <a:off x="9364169" y="1113756"/>
            <a:ext cx="118872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0011001</a:t>
            </a:r>
          </a:p>
        </p:txBody>
      </p:sp>
      <p:cxnSp>
        <p:nvCxnSpPr>
          <p:cNvPr id="59" name="Straight Arrow Connector 58">
            <a:extLst>
              <a:ext uri="{FF2B5EF4-FFF2-40B4-BE49-F238E27FC236}">
                <a16:creationId xmlns:a16="http://schemas.microsoft.com/office/drawing/2014/main" id="{F5CD833E-F593-32D8-1388-A6CB5555A95C}"/>
              </a:ext>
            </a:extLst>
          </p:cNvPr>
          <p:cNvCxnSpPr>
            <a:cxnSpLocks/>
            <a:stCxn id="9" idx="0"/>
            <a:endCxn id="21" idx="2"/>
          </p:cNvCxnSpPr>
          <p:nvPr/>
        </p:nvCxnSpPr>
        <p:spPr>
          <a:xfrm flipH="1" flipV="1">
            <a:off x="8059628" y="6396511"/>
            <a:ext cx="487324" cy="4950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77C3952E-1911-EB41-628E-715A5C38BC90}"/>
              </a:ext>
            </a:extLst>
          </p:cNvPr>
          <p:cNvSpPr txBox="1"/>
          <p:nvPr/>
        </p:nvSpPr>
        <p:spPr>
          <a:xfrm>
            <a:off x="14319153" y="5672051"/>
            <a:ext cx="118872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0011001</a:t>
            </a:r>
          </a:p>
        </p:txBody>
      </p:sp>
      <p:sp>
        <p:nvSpPr>
          <p:cNvPr id="16" name="TextBox 15">
            <a:extLst>
              <a:ext uri="{FF2B5EF4-FFF2-40B4-BE49-F238E27FC236}">
                <a16:creationId xmlns:a16="http://schemas.microsoft.com/office/drawing/2014/main" id="{179B1D2C-6D04-E88E-C2BA-98FA8135FA79}"/>
              </a:ext>
            </a:extLst>
          </p:cNvPr>
          <p:cNvSpPr txBox="1"/>
          <p:nvPr/>
        </p:nvSpPr>
        <p:spPr>
          <a:xfrm>
            <a:off x="10448788" y="5693543"/>
            <a:ext cx="3966760" cy="400110"/>
          </a:xfrm>
          <a:prstGeom prst="rect">
            <a:avLst/>
          </a:prstGeom>
          <a:noFill/>
        </p:spPr>
        <p:txBody>
          <a:bodyPr wrap="square" rtlCol="0">
            <a:spAutoFit/>
          </a:bodyPr>
          <a:lstStyle/>
          <a:p>
            <a:pPr algn="r"/>
            <a:r>
              <a:rPr lang="en-US" sz="2000" dirty="0">
                <a:solidFill>
                  <a:srgbClr val="00B050"/>
                </a:solidFill>
                <a:latin typeface="Times New Roman" panose="02020603050405020304" pitchFamily="18" charset="0"/>
                <a:cs typeface="Times New Roman" panose="02020603050405020304" pitchFamily="18" charset="0"/>
              </a:rPr>
              <a:t>A zero (0) is inserted at the MSB</a:t>
            </a:r>
          </a:p>
        </p:txBody>
      </p:sp>
    </p:spTree>
    <p:extLst>
      <p:ext uri="{BB962C8B-B14F-4D97-AF65-F5344CB8AC3E}">
        <p14:creationId xmlns:p14="http://schemas.microsoft.com/office/powerpoint/2010/main" val="308142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heel(1)">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arn(inVertical)">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1"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1"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p:tgtEl>
                                          <p:spTgt spid="14"/>
                                        </p:tgtEl>
                                        <p:attrNameLst>
                                          <p:attrName>ppt_x</p:attrName>
                                        </p:attrNameLst>
                                      </p:cBhvr>
                                      <p:tavLst>
                                        <p:tav tm="0">
                                          <p:val>
                                            <p:strVal val="#ppt_x"/>
                                          </p:val>
                                        </p:tav>
                                        <p:tav tm="100000">
                                          <p:val>
                                            <p:strVal val="#ppt_x"/>
                                          </p:val>
                                        </p:tav>
                                      </p:tavLst>
                                    </p:anim>
                                    <p:anim calcmode="lin" valueType="num">
                                      <p:cBhvr additive="base">
                                        <p:cTn id="41"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1"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500" fill="hold"/>
                                        <p:tgtEl>
                                          <p:spTgt spid="15"/>
                                        </p:tgtEl>
                                        <p:attrNameLst>
                                          <p:attrName>ppt_x</p:attrName>
                                        </p:attrNameLst>
                                      </p:cBhvr>
                                      <p:tavLst>
                                        <p:tav tm="0">
                                          <p:val>
                                            <p:strVal val="#ppt_x"/>
                                          </p:val>
                                        </p:tav>
                                        <p:tav tm="100000">
                                          <p:val>
                                            <p:strVal val="#ppt_x"/>
                                          </p:val>
                                        </p:tav>
                                      </p:tavLst>
                                    </p:anim>
                                    <p:anim calcmode="lin" valueType="num">
                                      <p:cBhvr additive="base">
                                        <p:cTn id="47"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1"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1"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500" fill="hold"/>
                                        <p:tgtEl>
                                          <p:spTgt spid="18"/>
                                        </p:tgtEl>
                                        <p:attrNameLst>
                                          <p:attrName>ppt_x</p:attrName>
                                        </p:attrNameLst>
                                      </p:cBhvr>
                                      <p:tavLst>
                                        <p:tav tm="0">
                                          <p:val>
                                            <p:strVal val="#ppt_x"/>
                                          </p:val>
                                        </p:tav>
                                        <p:tav tm="100000">
                                          <p:val>
                                            <p:strVal val="#ppt_x"/>
                                          </p:val>
                                        </p:tav>
                                      </p:tavLst>
                                    </p:anim>
                                    <p:anim calcmode="lin" valueType="num">
                                      <p:cBhvr additive="base">
                                        <p:cTn id="59"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1"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 calcmode="lin" valueType="num">
                                      <p:cBhvr additive="base">
                                        <p:cTn id="64" dur="500" fill="hold"/>
                                        <p:tgtEl>
                                          <p:spTgt spid="19"/>
                                        </p:tgtEl>
                                        <p:attrNameLst>
                                          <p:attrName>ppt_x</p:attrName>
                                        </p:attrNameLst>
                                      </p:cBhvr>
                                      <p:tavLst>
                                        <p:tav tm="0">
                                          <p:val>
                                            <p:strVal val="#ppt_x"/>
                                          </p:val>
                                        </p:tav>
                                        <p:tav tm="100000">
                                          <p:val>
                                            <p:strVal val="#ppt_x"/>
                                          </p:val>
                                        </p:tav>
                                      </p:tavLst>
                                    </p:anim>
                                    <p:anim calcmode="lin" valueType="num">
                                      <p:cBhvr additive="base">
                                        <p:cTn id="65"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1"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 calcmode="lin" valueType="num">
                                      <p:cBhvr additive="base">
                                        <p:cTn id="70" dur="500" fill="hold"/>
                                        <p:tgtEl>
                                          <p:spTgt spid="21"/>
                                        </p:tgtEl>
                                        <p:attrNameLst>
                                          <p:attrName>ppt_x</p:attrName>
                                        </p:attrNameLst>
                                      </p:cBhvr>
                                      <p:tavLst>
                                        <p:tav tm="0">
                                          <p:val>
                                            <p:strVal val="#ppt_x"/>
                                          </p:val>
                                        </p:tav>
                                        <p:tav tm="100000">
                                          <p:val>
                                            <p:strVal val="#ppt_x"/>
                                          </p:val>
                                        </p:tav>
                                      </p:tavLst>
                                    </p:anim>
                                    <p:anim calcmode="lin" valueType="num">
                                      <p:cBhvr additive="base">
                                        <p:cTn id="71" dur="500" fill="hold"/>
                                        <p:tgtEl>
                                          <p:spTgt spid="21"/>
                                        </p:tgtEl>
                                        <p:attrNameLst>
                                          <p:attrName>ppt_y</p:attrName>
                                        </p:attrNameLst>
                                      </p:cBhvr>
                                      <p:tavLst>
                                        <p:tav tm="0">
                                          <p:val>
                                            <p:strVal val="0-#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1" fill="hold" grpId="0" nodeType="clickEffect">
                                  <p:stCondLst>
                                    <p:cond delay="0"/>
                                  </p:stCondLst>
                                  <p:childTnLst>
                                    <p:set>
                                      <p:cBhvr>
                                        <p:cTn id="75" dur="1" fill="hold">
                                          <p:stCondLst>
                                            <p:cond delay="0"/>
                                          </p:stCondLst>
                                        </p:cTn>
                                        <p:tgtEl>
                                          <p:spTgt spid="22"/>
                                        </p:tgtEl>
                                        <p:attrNameLst>
                                          <p:attrName>style.visibility</p:attrName>
                                        </p:attrNameLst>
                                      </p:cBhvr>
                                      <p:to>
                                        <p:strVal val="visible"/>
                                      </p:to>
                                    </p:set>
                                    <p:anim calcmode="lin" valueType="num">
                                      <p:cBhvr additive="base">
                                        <p:cTn id="76" dur="500" fill="hold"/>
                                        <p:tgtEl>
                                          <p:spTgt spid="22"/>
                                        </p:tgtEl>
                                        <p:attrNameLst>
                                          <p:attrName>ppt_x</p:attrName>
                                        </p:attrNameLst>
                                      </p:cBhvr>
                                      <p:tavLst>
                                        <p:tav tm="0">
                                          <p:val>
                                            <p:strVal val="#ppt_x"/>
                                          </p:val>
                                        </p:tav>
                                        <p:tav tm="100000">
                                          <p:val>
                                            <p:strVal val="#ppt_x"/>
                                          </p:val>
                                        </p:tav>
                                      </p:tavLst>
                                    </p:anim>
                                    <p:anim calcmode="lin" valueType="num">
                                      <p:cBhvr additive="base">
                                        <p:cTn id="77"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1"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1" fill="hold" grpId="0" nodeType="clickEffect">
                                  <p:stCondLst>
                                    <p:cond delay="0"/>
                                  </p:stCondLst>
                                  <p:childTnLst>
                                    <p:set>
                                      <p:cBhvr>
                                        <p:cTn id="87" dur="1" fill="hold">
                                          <p:stCondLst>
                                            <p:cond delay="0"/>
                                          </p:stCondLst>
                                        </p:cTn>
                                        <p:tgtEl>
                                          <p:spTgt spid="24"/>
                                        </p:tgtEl>
                                        <p:attrNameLst>
                                          <p:attrName>style.visibility</p:attrName>
                                        </p:attrNameLst>
                                      </p:cBhvr>
                                      <p:to>
                                        <p:strVal val="visible"/>
                                      </p:to>
                                    </p:set>
                                    <p:anim calcmode="lin" valueType="num">
                                      <p:cBhvr additive="base">
                                        <p:cTn id="88" dur="500" fill="hold"/>
                                        <p:tgtEl>
                                          <p:spTgt spid="24"/>
                                        </p:tgtEl>
                                        <p:attrNameLst>
                                          <p:attrName>ppt_x</p:attrName>
                                        </p:attrNameLst>
                                      </p:cBhvr>
                                      <p:tavLst>
                                        <p:tav tm="0">
                                          <p:val>
                                            <p:strVal val="#ppt_x"/>
                                          </p:val>
                                        </p:tav>
                                        <p:tav tm="100000">
                                          <p:val>
                                            <p:strVal val="#ppt_x"/>
                                          </p:val>
                                        </p:tav>
                                      </p:tavLst>
                                    </p:anim>
                                    <p:anim calcmode="lin" valueType="num">
                                      <p:cBhvr additive="base">
                                        <p:cTn id="89"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1" fill="hold" grpId="0" nodeType="clickEffect">
                                  <p:stCondLst>
                                    <p:cond delay="0"/>
                                  </p:stCondLst>
                                  <p:childTnLst>
                                    <p:set>
                                      <p:cBhvr>
                                        <p:cTn id="93" dur="1" fill="hold">
                                          <p:stCondLst>
                                            <p:cond delay="0"/>
                                          </p:stCondLst>
                                        </p:cTn>
                                        <p:tgtEl>
                                          <p:spTgt spid="25"/>
                                        </p:tgtEl>
                                        <p:attrNameLst>
                                          <p:attrName>style.visibility</p:attrName>
                                        </p:attrNameLst>
                                      </p:cBhvr>
                                      <p:to>
                                        <p:strVal val="visible"/>
                                      </p:to>
                                    </p:set>
                                    <p:anim calcmode="lin" valueType="num">
                                      <p:cBhvr additive="base">
                                        <p:cTn id="94" dur="500" fill="hold"/>
                                        <p:tgtEl>
                                          <p:spTgt spid="25"/>
                                        </p:tgtEl>
                                        <p:attrNameLst>
                                          <p:attrName>ppt_x</p:attrName>
                                        </p:attrNameLst>
                                      </p:cBhvr>
                                      <p:tavLst>
                                        <p:tav tm="0">
                                          <p:val>
                                            <p:strVal val="#ppt_x"/>
                                          </p:val>
                                        </p:tav>
                                        <p:tav tm="100000">
                                          <p:val>
                                            <p:strVal val="#ppt_x"/>
                                          </p:val>
                                        </p:tav>
                                      </p:tavLst>
                                    </p:anim>
                                    <p:anim calcmode="lin" valueType="num">
                                      <p:cBhvr additive="base">
                                        <p:cTn id="95" dur="500" fill="hold"/>
                                        <p:tgtEl>
                                          <p:spTgt spid="25"/>
                                        </p:tgtEl>
                                        <p:attrNameLst>
                                          <p:attrName>ppt_y</p:attrName>
                                        </p:attrNameLst>
                                      </p:cBhvr>
                                      <p:tavLst>
                                        <p:tav tm="0">
                                          <p:val>
                                            <p:strVal val="0-#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1"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1" presetClass="entr" presetSubtype="1" fill="hold" grpId="0" nodeType="click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wheel(1)">
                                      <p:cBhvr>
                                        <p:cTn id="106" dur="2000"/>
                                        <p:tgtEl>
                                          <p:spTgt spid="34"/>
                                        </p:tgtEl>
                                      </p:cBhvr>
                                    </p:animEffect>
                                  </p:childTnLst>
                                </p:cTn>
                              </p:par>
                            </p:childTnLst>
                          </p:cTn>
                        </p:par>
                      </p:childTnLst>
                    </p:cTn>
                  </p:par>
                  <p:par>
                    <p:cTn id="107" fill="hold">
                      <p:stCondLst>
                        <p:cond delay="indefinite"/>
                      </p:stCondLst>
                      <p:childTnLst>
                        <p:par>
                          <p:cTn id="108" fill="hold">
                            <p:stCondLst>
                              <p:cond delay="0"/>
                            </p:stCondLst>
                            <p:childTnLst>
                              <p:par>
                                <p:cTn id="109" presetID="16" presetClass="entr" presetSubtype="37" fill="hold" grpId="0" nodeType="click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barn(outVertical)">
                                      <p:cBhvr>
                                        <p:cTn id="111" dur="500"/>
                                        <p:tgtEl>
                                          <p:spTgt spid="33"/>
                                        </p:tgtEl>
                                      </p:cBhvr>
                                    </p:animEffect>
                                  </p:childTnLst>
                                </p:cTn>
                              </p:par>
                            </p:childTnLst>
                          </p:cTn>
                        </p:par>
                      </p:childTnLst>
                    </p:cTn>
                  </p:par>
                  <p:par>
                    <p:cTn id="112" fill="hold">
                      <p:stCondLst>
                        <p:cond delay="indefinite"/>
                      </p:stCondLst>
                      <p:childTnLst>
                        <p:par>
                          <p:cTn id="113" fill="hold">
                            <p:stCondLst>
                              <p:cond delay="0"/>
                            </p:stCondLst>
                            <p:childTnLst>
                              <p:par>
                                <p:cTn id="114" presetID="21" presetClass="entr" presetSubtype="1" fill="hold" grpId="0" nodeType="clickEffect">
                                  <p:stCondLst>
                                    <p:cond delay="0"/>
                                  </p:stCondLst>
                                  <p:childTnLst>
                                    <p:set>
                                      <p:cBhvr>
                                        <p:cTn id="115" dur="1" fill="hold">
                                          <p:stCondLst>
                                            <p:cond delay="0"/>
                                          </p:stCondLst>
                                        </p:cTn>
                                        <p:tgtEl>
                                          <p:spTgt spid="35"/>
                                        </p:tgtEl>
                                        <p:attrNameLst>
                                          <p:attrName>style.visibility</p:attrName>
                                        </p:attrNameLst>
                                      </p:cBhvr>
                                      <p:to>
                                        <p:strVal val="visible"/>
                                      </p:to>
                                    </p:set>
                                    <p:animEffect transition="in" filter="wheel(1)">
                                      <p:cBhvr>
                                        <p:cTn id="116" dur="2000"/>
                                        <p:tgtEl>
                                          <p:spTgt spid="35"/>
                                        </p:tgtEl>
                                      </p:cBhvr>
                                    </p:animEffect>
                                  </p:childTnLst>
                                </p:cTn>
                              </p:par>
                            </p:childTnLst>
                          </p:cTn>
                        </p:par>
                      </p:childTnLst>
                    </p:cTn>
                  </p:par>
                  <p:par>
                    <p:cTn id="117" fill="hold">
                      <p:stCondLst>
                        <p:cond delay="indefinite"/>
                      </p:stCondLst>
                      <p:childTnLst>
                        <p:par>
                          <p:cTn id="118" fill="hold">
                            <p:stCondLst>
                              <p:cond delay="0"/>
                            </p:stCondLst>
                            <p:childTnLst>
                              <p:par>
                                <p:cTn id="119" presetID="21" presetClass="entr" presetSubtype="1" fill="hold" grpId="0" nodeType="clickEffect">
                                  <p:stCondLst>
                                    <p:cond delay="0"/>
                                  </p:stCondLst>
                                  <p:childTnLst>
                                    <p:set>
                                      <p:cBhvr>
                                        <p:cTn id="120" dur="1" fill="hold">
                                          <p:stCondLst>
                                            <p:cond delay="0"/>
                                          </p:stCondLst>
                                        </p:cTn>
                                        <p:tgtEl>
                                          <p:spTgt spid="36"/>
                                        </p:tgtEl>
                                        <p:attrNameLst>
                                          <p:attrName>style.visibility</p:attrName>
                                        </p:attrNameLst>
                                      </p:cBhvr>
                                      <p:to>
                                        <p:strVal val="visible"/>
                                      </p:to>
                                    </p:set>
                                    <p:animEffect transition="in" filter="wheel(1)">
                                      <p:cBhvr>
                                        <p:cTn id="121" dur="2000"/>
                                        <p:tgtEl>
                                          <p:spTgt spid="36"/>
                                        </p:tgtEl>
                                      </p:cBhvr>
                                    </p:animEffect>
                                  </p:childTnLst>
                                </p:cTn>
                              </p:par>
                            </p:childTnLst>
                          </p:cTn>
                        </p:par>
                      </p:childTnLst>
                    </p:cTn>
                  </p:par>
                  <p:par>
                    <p:cTn id="122" fill="hold">
                      <p:stCondLst>
                        <p:cond delay="indefinite"/>
                      </p:stCondLst>
                      <p:childTnLst>
                        <p:par>
                          <p:cTn id="123" fill="hold">
                            <p:stCondLst>
                              <p:cond delay="0"/>
                            </p:stCondLst>
                            <p:childTnLst>
                              <p:par>
                                <p:cTn id="124" presetID="21" presetClass="entr" presetSubtype="1" fill="hold" grpId="0" nodeType="clickEffect">
                                  <p:stCondLst>
                                    <p:cond delay="0"/>
                                  </p:stCondLst>
                                  <p:childTnLst>
                                    <p:set>
                                      <p:cBhvr>
                                        <p:cTn id="125" dur="1" fill="hold">
                                          <p:stCondLst>
                                            <p:cond delay="0"/>
                                          </p:stCondLst>
                                        </p:cTn>
                                        <p:tgtEl>
                                          <p:spTgt spid="37"/>
                                        </p:tgtEl>
                                        <p:attrNameLst>
                                          <p:attrName>style.visibility</p:attrName>
                                        </p:attrNameLst>
                                      </p:cBhvr>
                                      <p:to>
                                        <p:strVal val="visible"/>
                                      </p:to>
                                    </p:set>
                                    <p:animEffect transition="in" filter="wheel(1)">
                                      <p:cBhvr>
                                        <p:cTn id="126" dur="2000"/>
                                        <p:tgtEl>
                                          <p:spTgt spid="37"/>
                                        </p:tgtEl>
                                      </p:cBhvr>
                                    </p:animEffect>
                                  </p:childTnLst>
                                </p:cTn>
                              </p:par>
                            </p:childTnLst>
                          </p:cTn>
                        </p:par>
                      </p:childTnLst>
                    </p:cTn>
                  </p:par>
                  <p:par>
                    <p:cTn id="127" fill="hold">
                      <p:stCondLst>
                        <p:cond delay="indefinite"/>
                      </p:stCondLst>
                      <p:childTnLst>
                        <p:par>
                          <p:cTn id="128" fill="hold">
                            <p:stCondLst>
                              <p:cond delay="0"/>
                            </p:stCondLst>
                            <p:childTnLst>
                              <p:par>
                                <p:cTn id="129" presetID="2" presetClass="entr" presetSubtype="1" fill="hold" grpId="0" nodeType="clickEffect">
                                  <p:stCondLst>
                                    <p:cond delay="0"/>
                                  </p:stCondLst>
                                  <p:childTnLst>
                                    <p:set>
                                      <p:cBhvr>
                                        <p:cTn id="130" dur="1" fill="hold">
                                          <p:stCondLst>
                                            <p:cond delay="0"/>
                                          </p:stCondLst>
                                        </p:cTn>
                                        <p:tgtEl>
                                          <p:spTgt spid="52"/>
                                        </p:tgtEl>
                                        <p:attrNameLst>
                                          <p:attrName>style.visibility</p:attrName>
                                        </p:attrNameLst>
                                      </p:cBhvr>
                                      <p:to>
                                        <p:strVal val="visible"/>
                                      </p:to>
                                    </p:set>
                                    <p:anim calcmode="lin" valueType="num">
                                      <p:cBhvr additive="base">
                                        <p:cTn id="131" dur="500" fill="hold"/>
                                        <p:tgtEl>
                                          <p:spTgt spid="52"/>
                                        </p:tgtEl>
                                        <p:attrNameLst>
                                          <p:attrName>ppt_x</p:attrName>
                                        </p:attrNameLst>
                                      </p:cBhvr>
                                      <p:tavLst>
                                        <p:tav tm="0">
                                          <p:val>
                                            <p:strVal val="#ppt_x"/>
                                          </p:val>
                                        </p:tav>
                                        <p:tav tm="100000">
                                          <p:val>
                                            <p:strVal val="#ppt_x"/>
                                          </p:val>
                                        </p:tav>
                                      </p:tavLst>
                                    </p:anim>
                                    <p:anim calcmode="lin" valueType="num">
                                      <p:cBhvr additive="base">
                                        <p:cTn id="132" dur="500" fill="hold"/>
                                        <p:tgtEl>
                                          <p:spTgt spid="52"/>
                                        </p:tgtEl>
                                        <p:attrNameLst>
                                          <p:attrName>ppt_y</p:attrName>
                                        </p:attrNameLst>
                                      </p:cBhvr>
                                      <p:tavLst>
                                        <p:tav tm="0">
                                          <p:val>
                                            <p:strVal val="0-#ppt_h/2"/>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1" presetClass="entr" presetSubtype="1" fill="hold" grpId="0" nodeType="clickEffect">
                                  <p:stCondLst>
                                    <p:cond delay="0"/>
                                  </p:stCondLst>
                                  <p:childTnLst>
                                    <p:set>
                                      <p:cBhvr>
                                        <p:cTn id="136" dur="1" fill="hold">
                                          <p:stCondLst>
                                            <p:cond delay="0"/>
                                          </p:stCondLst>
                                        </p:cTn>
                                        <p:tgtEl>
                                          <p:spTgt spid="38"/>
                                        </p:tgtEl>
                                        <p:attrNameLst>
                                          <p:attrName>style.visibility</p:attrName>
                                        </p:attrNameLst>
                                      </p:cBhvr>
                                      <p:to>
                                        <p:strVal val="visible"/>
                                      </p:to>
                                    </p:set>
                                    <p:animEffect transition="in" filter="wheel(1)">
                                      <p:cBhvr>
                                        <p:cTn id="137" dur="2000"/>
                                        <p:tgtEl>
                                          <p:spTgt spid="38"/>
                                        </p:tgtEl>
                                      </p:cBhvr>
                                    </p:animEffect>
                                  </p:childTnLst>
                                </p:cTn>
                              </p:par>
                            </p:childTnLst>
                          </p:cTn>
                        </p:par>
                      </p:childTnLst>
                    </p:cTn>
                  </p:par>
                  <p:par>
                    <p:cTn id="138" fill="hold">
                      <p:stCondLst>
                        <p:cond delay="indefinite"/>
                      </p:stCondLst>
                      <p:childTnLst>
                        <p:par>
                          <p:cTn id="139" fill="hold">
                            <p:stCondLst>
                              <p:cond delay="0"/>
                            </p:stCondLst>
                            <p:childTnLst>
                              <p:par>
                                <p:cTn id="140" presetID="21" presetClass="entr" presetSubtype="1" fill="hold" grpId="0" nodeType="clickEffect">
                                  <p:stCondLst>
                                    <p:cond delay="0"/>
                                  </p:stCondLst>
                                  <p:childTnLst>
                                    <p:set>
                                      <p:cBhvr>
                                        <p:cTn id="141" dur="1" fill="hold">
                                          <p:stCondLst>
                                            <p:cond delay="0"/>
                                          </p:stCondLst>
                                        </p:cTn>
                                        <p:tgtEl>
                                          <p:spTgt spid="39"/>
                                        </p:tgtEl>
                                        <p:attrNameLst>
                                          <p:attrName>style.visibility</p:attrName>
                                        </p:attrNameLst>
                                      </p:cBhvr>
                                      <p:to>
                                        <p:strVal val="visible"/>
                                      </p:to>
                                    </p:set>
                                    <p:animEffect transition="in" filter="wheel(1)">
                                      <p:cBhvr>
                                        <p:cTn id="142" dur="2000"/>
                                        <p:tgtEl>
                                          <p:spTgt spid="39"/>
                                        </p:tgtEl>
                                      </p:cBhvr>
                                    </p:animEffect>
                                  </p:childTnLst>
                                </p:cTn>
                              </p:par>
                            </p:childTnLst>
                          </p:cTn>
                        </p:par>
                      </p:childTnLst>
                    </p:cTn>
                  </p:par>
                  <p:par>
                    <p:cTn id="143" fill="hold">
                      <p:stCondLst>
                        <p:cond delay="indefinite"/>
                      </p:stCondLst>
                      <p:childTnLst>
                        <p:par>
                          <p:cTn id="144" fill="hold">
                            <p:stCondLst>
                              <p:cond delay="0"/>
                            </p:stCondLst>
                            <p:childTnLst>
                              <p:par>
                                <p:cTn id="145" presetID="21" presetClass="entr" presetSubtype="1" fill="hold" grpId="0" nodeType="clickEffect">
                                  <p:stCondLst>
                                    <p:cond delay="0"/>
                                  </p:stCondLst>
                                  <p:childTnLst>
                                    <p:set>
                                      <p:cBhvr>
                                        <p:cTn id="146" dur="1" fill="hold">
                                          <p:stCondLst>
                                            <p:cond delay="0"/>
                                          </p:stCondLst>
                                        </p:cTn>
                                        <p:tgtEl>
                                          <p:spTgt spid="40"/>
                                        </p:tgtEl>
                                        <p:attrNameLst>
                                          <p:attrName>style.visibility</p:attrName>
                                        </p:attrNameLst>
                                      </p:cBhvr>
                                      <p:to>
                                        <p:strVal val="visible"/>
                                      </p:to>
                                    </p:set>
                                    <p:animEffect transition="in" filter="wheel(1)">
                                      <p:cBhvr>
                                        <p:cTn id="147" dur="2000"/>
                                        <p:tgtEl>
                                          <p:spTgt spid="40"/>
                                        </p:tgtEl>
                                      </p:cBhvr>
                                    </p:animEffect>
                                  </p:childTnLst>
                                </p:cTn>
                              </p:par>
                            </p:childTnLst>
                          </p:cTn>
                        </p:par>
                      </p:childTnLst>
                    </p:cTn>
                  </p:par>
                  <p:par>
                    <p:cTn id="148" fill="hold">
                      <p:stCondLst>
                        <p:cond delay="indefinite"/>
                      </p:stCondLst>
                      <p:childTnLst>
                        <p:par>
                          <p:cTn id="149" fill="hold">
                            <p:stCondLst>
                              <p:cond delay="0"/>
                            </p:stCondLst>
                            <p:childTnLst>
                              <p:par>
                                <p:cTn id="150" presetID="2" presetClass="entr" presetSubtype="1" fill="hold" grpId="0" nodeType="clickEffect">
                                  <p:stCondLst>
                                    <p:cond delay="0"/>
                                  </p:stCondLst>
                                  <p:childTnLst>
                                    <p:set>
                                      <p:cBhvr>
                                        <p:cTn id="151" dur="1" fill="hold">
                                          <p:stCondLst>
                                            <p:cond delay="0"/>
                                          </p:stCondLst>
                                        </p:cTn>
                                        <p:tgtEl>
                                          <p:spTgt spid="53"/>
                                        </p:tgtEl>
                                        <p:attrNameLst>
                                          <p:attrName>style.visibility</p:attrName>
                                        </p:attrNameLst>
                                      </p:cBhvr>
                                      <p:to>
                                        <p:strVal val="visible"/>
                                      </p:to>
                                    </p:set>
                                    <p:anim calcmode="lin" valueType="num">
                                      <p:cBhvr additive="base">
                                        <p:cTn id="152" dur="500" fill="hold"/>
                                        <p:tgtEl>
                                          <p:spTgt spid="53"/>
                                        </p:tgtEl>
                                        <p:attrNameLst>
                                          <p:attrName>ppt_x</p:attrName>
                                        </p:attrNameLst>
                                      </p:cBhvr>
                                      <p:tavLst>
                                        <p:tav tm="0">
                                          <p:val>
                                            <p:strVal val="#ppt_x"/>
                                          </p:val>
                                        </p:tav>
                                        <p:tav tm="100000">
                                          <p:val>
                                            <p:strVal val="#ppt_x"/>
                                          </p:val>
                                        </p:tav>
                                      </p:tavLst>
                                    </p:anim>
                                    <p:anim calcmode="lin" valueType="num">
                                      <p:cBhvr additive="base">
                                        <p:cTn id="153" dur="500" fill="hold"/>
                                        <p:tgtEl>
                                          <p:spTgt spid="53"/>
                                        </p:tgtEl>
                                        <p:attrNameLst>
                                          <p:attrName>ppt_y</p:attrName>
                                        </p:attrNameLst>
                                      </p:cBhvr>
                                      <p:tavLst>
                                        <p:tav tm="0">
                                          <p:val>
                                            <p:strVal val="0-#ppt_h/2"/>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21" presetClass="entr" presetSubtype="1" fill="hold" grpId="0" nodeType="clickEffect">
                                  <p:stCondLst>
                                    <p:cond delay="0"/>
                                  </p:stCondLst>
                                  <p:childTnLst>
                                    <p:set>
                                      <p:cBhvr>
                                        <p:cTn id="157" dur="1" fill="hold">
                                          <p:stCondLst>
                                            <p:cond delay="0"/>
                                          </p:stCondLst>
                                        </p:cTn>
                                        <p:tgtEl>
                                          <p:spTgt spid="47"/>
                                        </p:tgtEl>
                                        <p:attrNameLst>
                                          <p:attrName>style.visibility</p:attrName>
                                        </p:attrNameLst>
                                      </p:cBhvr>
                                      <p:to>
                                        <p:strVal val="visible"/>
                                      </p:to>
                                    </p:set>
                                    <p:animEffect transition="in" filter="wheel(1)">
                                      <p:cBhvr>
                                        <p:cTn id="158" dur="2000"/>
                                        <p:tgtEl>
                                          <p:spTgt spid="47"/>
                                        </p:tgtEl>
                                      </p:cBhvr>
                                    </p:animEffect>
                                  </p:childTnLst>
                                </p:cTn>
                              </p:par>
                            </p:childTnLst>
                          </p:cTn>
                        </p:par>
                      </p:childTnLst>
                    </p:cTn>
                  </p:par>
                  <p:par>
                    <p:cTn id="159" fill="hold">
                      <p:stCondLst>
                        <p:cond delay="indefinite"/>
                      </p:stCondLst>
                      <p:childTnLst>
                        <p:par>
                          <p:cTn id="160" fill="hold">
                            <p:stCondLst>
                              <p:cond delay="0"/>
                            </p:stCondLst>
                            <p:childTnLst>
                              <p:par>
                                <p:cTn id="161" presetID="21" presetClass="entr" presetSubtype="1" fill="hold" grpId="0" nodeType="clickEffect">
                                  <p:stCondLst>
                                    <p:cond delay="0"/>
                                  </p:stCondLst>
                                  <p:childTnLst>
                                    <p:set>
                                      <p:cBhvr>
                                        <p:cTn id="162" dur="1" fill="hold">
                                          <p:stCondLst>
                                            <p:cond delay="0"/>
                                          </p:stCondLst>
                                        </p:cTn>
                                        <p:tgtEl>
                                          <p:spTgt spid="44"/>
                                        </p:tgtEl>
                                        <p:attrNameLst>
                                          <p:attrName>style.visibility</p:attrName>
                                        </p:attrNameLst>
                                      </p:cBhvr>
                                      <p:to>
                                        <p:strVal val="visible"/>
                                      </p:to>
                                    </p:set>
                                    <p:animEffect transition="in" filter="wheel(1)">
                                      <p:cBhvr>
                                        <p:cTn id="163" dur="2000"/>
                                        <p:tgtEl>
                                          <p:spTgt spid="44"/>
                                        </p:tgtEl>
                                      </p:cBhvr>
                                    </p:animEffect>
                                  </p:childTnLst>
                                </p:cTn>
                              </p:par>
                            </p:childTnLst>
                          </p:cTn>
                        </p:par>
                      </p:childTnLst>
                    </p:cTn>
                  </p:par>
                  <p:par>
                    <p:cTn id="164" fill="hold">
                      <p:stCondLst>
                        <p:cond delay="indefinite"/>
                      </p:stCondLst>
                      <p:childTnLst>
                        <p:par>
                          <p:cTn id="165" fill="hold">
                            <p:stCondLst>
                              <p:cond delay="0"/>
                            </p:stCondLst>
                            <p:childTnLst>
                              <p:par>
                                <p:cTn id="166" presetID="21" presetClass="entr" presetSubtype="1" fill="hold" grpId="0" nodeType="clickEffect">
                                  <p:stCondLst>
                                    <p:cond delay="0"/>
                                  </p:stCondLst>
                                  <p:childTnLst>
                                    <p:set>
                                      <p:cBhvr>
                                        <p:cTn id="167" dur="1" fill="hold">
                                          <p:stCondLst>
                                            <p:cond delay="0"/>
                                          </p:stCondLst>
                                        </p:cTn>
                                        <p:tgtEl>
                                          <p:spTgt spid="45"/>
                                        </p:tgtEl>
                                        <p:attrNameLst>
                                          <p:attrName>style.visibility</p:attrName>
                                        </p:attrNameLst>
                                      </p:cBhvr>
                                      <p:to>
                                        <p:strVal val="visible"/>
                                      </p:to>
                                    </p:set>
                                    <p:animEffect transition="in" filter="wheel(1)">
                                      <p:cBhvr>
                                        <p:cTn id="168" dur="2000"/>
                                        <p:tgtEl>
                                          <p:spTgt spid="45"/>
                                        </p:tgtEl>
                                      </p:cBhvr>
                                    </p:animEffect>
                                  </p:childTnLst>
                                </p:cTn>
                              </p:par>
                            </p:childTnLst>
                          </p:cTn>
                        </p:par>
                      </p:childTnLst>
                    </p:cTn>
                  </p:par>
                  <p:par>
                    <p:cTn id="169" fill="hold">
                      <p:stCondLst>
                        <p:cond delay="indefinite"/>
                      </p:stCondLst>
                      <p:childTnLst>
                        <p:par>
                          <p:cTn id="170" fill="hold">
                            <p:stCondLst>
                              <p:cond delay="0"/>
                            </p:stCondLst>
                            <p:childTnLst>
                              <p:par>
                                <p:cTn id="171" presetID="21" presetClass="entr" presetSubtype="1" fill="hold" grpId="0" nodeType="clickEffect">
                                  <p:stCondLst>
                                    <p:cond delay="0"/>
                                  </p:stCondLst>
                                  <p:childTnLst>
                                    <p:set>
                                      <p:cBhvr>
                                        <p:cTn id="172" dur="1" fill="hold">
                                          <p:stCondLst>
                                            <p:cond delay="0"/>
                                          </p:stCondLst>
                                        </p:cTn>
                                        <p:tgtEl>
                                          <p:spTgt spid="46"/>
                                        </p:tgtEl>
                                        <p:attrNameLst>
                                          <p:attrName>style.visibility</p:attrName>
                                        </p:attrNameLst>
                                      </p:cBhvr>
                                      <p:to>
                                        <p:strVal val="visible"/>
                                      </p:to>
                                    </p:set>
                                    <p:animEffect transition="in" filter="wheel(1)">
                                      <p:cBhvr>
                                        <p:cTn id="173" dur="2000"/>
                                        <p:tgtEl>
                                          <p:spTgt spid="46"/>
                                        </p:tgtEl>
                                      </p:cBhvr>
                                    </p:animEffect>
                                  </p:childTnLst>
                                </p:cTn>
                              </p:par>
                            </p:childTnLst>
                          </p:cTn>
                        </p:par>
                      </p:childTnLst>
                    </p:cTn>
                  </p:par>
                  <p:par>
                    <p:cTn id="174" fill="hold">
                      <p:stCondLst>
                        <p:cond delay="indefinite"/>
                      </p:stCondLst>
                      <p:childTnLst>
                        <p:par>
                          <p:cTn id="175" fill="hold">
                            <p:stCondLst>
                              <p:cond delay="0"/>
                            </p:stCondLst>
                            <p:childTnLst>
                              <p:par>
                                <p:cTn id="176" presetID="16" presetClass="entr" presetSubtype="37" fill="hold" grpId="0" nodeType="clickEffect">
                                  <p:stCondLst>
                                    <p:cond delay="0"/>
                                  </p:stCondLst>
                                  <p:childTnLst>
                                    <p:set>
                                      <p:cBhvr>
                                        <p:cTn id="177" dur="1" fill="hold">
                                          <p:stCondLst>
                                            <p:cond delay="0"/>
                                          </p:stCondLst>
                                        </p:cTn>
                                        <p:tgtEl>
                                          <p:spTgt spid="54"/>
                                        </p:tgtEl>
                                        <p:attrNameLst>
                                          <p:attrName>style.visibility</p:attrName>
                                        </p:attrNameLst>
                                      </p:cBhvr>
                                      <p:to>
                                        <p:strVal val="visible"/>
                                      </p:to>
                                    </p:set>
                                    <p:animEffect transition="in" filter="barn(outVertical)">
                                      <p:cBhvr>
                                        <p:cTn id="178" dur="500"/>
                                        <p:tgtEl>
                                          <p:spTgt spid="54"/>
                                        </p:tgtEl>
                                      </p:cBhvr>
                                    </p:animEffect>
                                  </p:childTnLst>
                                </p:cTn>
                              </p:par>
                            </p:childTnLst>
                          </p:cTn>
                        </p:par>
                      </p:childTnLst>
                    </p:cTn>
                  </p:par>
                  <p:par>
                    <p:cTn id="179" fill="hold">
                      <p:stCondLst>
                        <p:cond delay="indefinite"/>
                      </p:stCondLst>
                      <p:childTnLst>
                        <p:par>
                          <p:cTn id="180" fill="hold">
                            <p:stCondLst>
                              <p:cond delay="0"/>
                            </p:stCondLst>
                            <p:childTnLst>
                              <p:par>
                                <p:cTn id="181" presetID="2" presetClass="entr" presetSubtype="1" fill="hold" grpId="0" nodeType="clickEffect">
                                  <p:stCondLst>
                                    <p:cond delay="0"/>
                                  </p:stCondLst>
                                  <p:childTnLst>
                                    <p:set>
                                      <p:cBhvr>
                                        <p:cTn id="182" dur="1" fill="hold">
                                          <p:stCondLst>
                                            <p:cond delay="0"/>
                                          </p:stCondLst>
                                        </p:cTn>
                                        <p:tgtEl>
                                          <p:spTgt spid="55"/>
                                        </p:tgtEl>
                                        <p:attrNameLst>
                                          <p:attrName>style.visibility</p:attrName>
                                        </p:attrNameLst>
                                      </p:cBhvr>
                                      <p:to>
                                        <p:strVal val="visible"/>
                                      </p:to>
                                    </p:set>
                                    <p:anim calcmode="lin" valueType="num">
                                      <p:cBhvr additive="base">
                                        <p:cTn id="183" dur="500" fill="hold"/>
                                        <p:tgtEl>
                                          <p:spTgt spid="55"/>
                                        </p:tgtEl>
                                        <p:attrNameLst>
                                          <p:attrName>ppt_x</p:attrName>
                                        </p:attrNameLst>
                                      </p:cBhvr>
                                      <p:tavLst>
                                        <p:tav tm="0">
                                          <p:val>
                                            <p:strVal val="#ppt_x"/>
                                          </p:val>
                                        </p:tav>
                                        <p:tav tm="100000">
                                          <p:val>
                                            <p:strVal val="#ppt_x"/>
                                          </p:val>
                                        </p:tav>
                                      </p:tavLst>
                                    </p:anim>
                                    <p:anim calcmode="lin" valueType="num">
                                      <p:cBhvr additive="base">
                                        <p:cTn id="184" dur="500" fill="hold"/>
                                        <p:tgtEl>
                                          <p:spTgt spid="55"/>
                                        </p:tgtEl>
                                        <p:attrNameLst>
                                          <p:attrName>ppt_y</p:attrName>
                                        </p:attrNameLst>
                                      </p:cBhvr>
                                      <p:tavLst>
                                        <p:tav tm="0">
                                          <p:val>
                                            <p:strVal val="0-#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1" presetClass="entr" presetSubtype="1" fill="hold" grpId="0" nodeType="clickEffect">
                                  <p:stCondLst>
                                    <p:cond delay="0"/>
                                  </p:stCondLst>
                                  <p:childTnLst>
                                    <p:set>
                                      <p:cBhvr>
                                        <p:cTn id="188" dur="1" fill="hold">
                                          <p:stCondLst>
                                            <p:cond delay="0"/>
                                          </p:stCondLst>
                                        </p:cTn>
                                        <p:tgtEl>
                                          <p:spTgt spid="48"/>
                                        </p:tgtEl>
                                        <p:attrNameLst>
                                          <p:attrName>style.visibility</p:attrName>
                                        </p:attrNameLst>
                                      </p:cBhvr>
                                      <p:to>
                                        <p:strVal val="visible"/>
                                      </p:to>
                                    </p:set>
                                    <p:animEffect transition="in" filter="wheel(1)">
                                      <p:cBhvr>
                                        <p:cTn id="189" dur="2000"/>
                                        <p:tgtEl>
                                          <p:spTgt spid="48"/>
                                        </p:tgtEl>
                                      </p:cBhvr>
                                    </p:animEffect>
                                  </p:childTnLst>
                                </p:cTn>
                              </p:par>
                            </p:childTnLst>
                          </p:cTn>
                        </p:par>
                      </p:childTnLst>
                    </p:cTn>
                  </p:par>
                  <p:par>
                    <p:cTn id="190" fill="hold">
                      <p:stCondLst>
                        <p:cond delay="indefinite"/>
                      </p:stCondLst>
                      <p:childTnLst>
                        <p:par>
                          <p:cTn id="191" fill="hold">
                            <p:stCondLst>
                              <p:cond delay="0"/>
                            </p:stCondLst>
                            <p:childTnLst>
                              <p:par>
                                <p:cTn id="192" presetID="21" presetClass="entr" presetSubtype="1" fill="hold" grpId="0" nodeType="clickEffect">
                                  <p:stCondLst>
                                    <p:cond delay="0"/>
                                  </p:stCondLst>
                                  <p:childTnLst>
                                    <p:set>
                                      <p:cBhvr>
                                        <p:cTn id="193" dur="1" fill="hold">
                                          <p:stCondLst>
                                            <p:cond delay="0"/>
                                          </p:stCondLst>
                                        </p:cTn>
                                        <p:tgtEl>
                                          <p:spTgt spid="41"/>
                                        </p:tgtEl>
                                        <p:attrNameLst>
                                          <p:attrName>style.visibility</p:attrName>
                                        </p:attrNameLst>
                                      </p:cBhvr>
                                      <p:to>
                                        <p:strVal val="visible"/>
                                      </p:to>
                                    </p:set>
                                    <p:animEffect transition="in" filter="wheel(1)">
                                      <p:cBhvr>
                                        <p:cTn id="194" dur="2000"/>
                                        <p:tgtEl>
                                          <p:spTgt spid="41"/>
                                        </p:tgtEl>
                                      </p:cBhvr>
                                    </p:animEffect>
                                  </p:childTnLst>
                                </p:cTn>
                              </p:par>
                            </p:childTnLst>
                          </p:cTn>
                        </p:par>
                      </p:childTnLst>
                    </p:cTn>
                  </p:par>
                  <p:par>
                    <p:cTn id="195" fill="hold">
                      <p:stCondLst>
                        <p:cond delay="indefinite"/>
                      </p:stCondLst>
                      <p:childTnLst>
                        <p:par>
                          <p:cTn id="196" fill="hold">
                            <p:stCondLst>
                              <p:cond delay="0"/>
                            </p:stCondLst>
                            <p:childTnLst>
                              <p:par>
                                <p:cTn id="197" presetID="21" presetClass="entr" presetSubtype="1" fill="hold" grpId="0" nodeType="clickEffect">
                                  <p:stCondLst>
                                    <p:cond delay="0"/>
                                  </p:stCondLst>
                                  <p:childTnLst>
                                    <p:set>
                                      <p:cBhvr>
                                        <p:cTn id="198" dur="1" fill="hold">
                                          <p:stCondLst>
                                            <p:cond delay="0"/>
                                          </p:stCondLst>
                                        </p:cTn>
                                        <p:tgtEl>
                                          <p:spTgt spid="42"/>
                                        </p:tgtEl>
                                        <p:attrNameLst>
                                          <p:attrName>style.visibility</p:attrName>
                                        </p:attrNameLst>
                                      </p:cBhvr>
                                      <p:to>
                                        <p:strVal val="visible"/>
                                      </p:to>
                                    </p:set>
                                    <p:animEffect transition="in" filter="wheel(1)">
                                      <p:cBhvr>
                                        <p:cTn id="199" dur="2000"/>
                                        <p:tgtEl>
                                          <p:spTgt spid="42"/>
                                        </p:tgtEl>
                                      </p:cBhvr>
                                    </p:animEffect>
                                  </p:childTnLst>
                                </p:cTn>
                              </p:par>
                            </p:childTnLst>
                          </p:cTn>
                        </p:par>
                      </p:childTnLst>
                    </p:cTn>
                  </p:par>
                  <p:par>
                    <p:cTn id="200" fill="hold">
                      <p:stCondLst>
                        <p:cond delay="indefinite"/>
                      </p:stCondLst>
                      <p:childTnLst>
                        <p:par>
                          <p:cTn id="201" fill="hold">
                            <p:stCondLst>
                              <p:cond delay="0"/>
                            </p:stCondLst>
                            <p:childTnLst>
                              <p:par>
                                <p:cTn id="202" presetID="21" presetClass="entr" presetSubtype="1" fill="hold" grpId="0" nodeType="clickEffect">
                                  <p:stCondLst>
                                    <p:cond delay="0"/>
                                  </p:stCondLst>
                                  <p:childTnLst>
                                    <p:set>
                                      <p:cBhvr>
                                        <p:cTn id="203" dur="1" fill="hold">
                                          <p:stCondLst>
                                            <p:cond delay="0"/>
                                          </p:stCondLst>
                                        </p:cTn>
                                        <p:tgtEl>
                                          <p:spTgt spid="43"/>
                                        </p:tgtEl>
                                        <p:attrNameLst>
                                          <p:attrName>style.visibility</p:attrName>
                                        </p:attrNameLst>
                                      </p:cBhvr>
                                      <p:to>
                                        <p:strVal val="visible"/>
                                      </p:to>
                                    </p:set>
                                    <p:animEffect transition="in" filter="wheel(1)">
                                      <p:cBhvr>
                                        <p:cTn id="204" dur="2000"/>
                                        <p:tgtEl>
                                          <p:spTgt spid="43"/>
                                        </p:tgtEl>
                                      </p:cBhvr>
                                    </p:animEffect>
                                  </p:childTnLst>
                                </p:cTn>
                              </p:par>
                            </p:childTnLst>
                          </p:cTn>
                        </p:par>
                      </p:childTnLst>
                    </p:cTn>
                  </p:par>
                  <p:par>
                    <p:cTn id="205" fill="hold">
                      <p:stCondLst>
                        <p:cond delay="indefinite"/>
                      </p:stCondLst>
                      <p:childTnLst>
                        <p:par>
                          <p:cTn id="206" fill="hold">
                            <p:stCondLst>
                              <p:cond delay="0"/>
                            </p:stCondLst>
                            <p:childTnLst>
                              <p:par>
                                <p:cTn id="207" presetID="2" presetClass="entr" presetSubtype="1" fill="hold" grpId="0" nodeType="clickEffect">
                                  <p:stCondLst>
                                    <p:cond delay="0"/>
                                  </p:stCondLst>
                                  <p:childTnLst>
                                    <p:set>
                                      <p:cBhvr>
                                        <p:cTn id="208" dur="1" fill="hold">
                                          <p:stCondLst>
                                            <p:cond delay="0"/>
                                          </p:stCondLst>
                                        </p:cTn>
                                        <p:tgtEl>
                                          <p:spTgt spid="56"/>
                                        </p:tgtEl>
                                        <p:attrNameLst>
                                          <p:attrName>style.visibility</p:attrName>
                                        </p:attrNameLst>
                                      </p:cBhvr>
                                      <p:to>
                                        <p:strVal val="visible"/>
                                      </p:to>
                                    </p:set>
                                    <p:anim calcmode="lin" valueType="num">
                                      <p:cBhvr additive="base">
                                        <p:cTn id="209" dur="500" fill="hold"/>
                                        <p:tgtEl>
                                          <p:spTgt spid="56"/>
                                        </p:tgtEl>
                                        <p:attrNameLst>
                                          <p:attrName>ppt_x</p:attrName>
                                        </p:attrNameLst>
                                      </p:cBhvr>
                                      <p:tavLst>
                                        <p:tav tm="0">
                                          <p:val>
                                            <p:strVal val="#ppt_x"/>
                                          </p:val>
                                        </p:tav>
                                        <p:tav tm="100000">
                                          <p:val>
                                            <p:strVal val="#ppt_x"/>
                                          </p:val>
                                        </p:tav>
                                      </p:tavLst>
                                    </p:anim>
                                    <p:anim calcmode="lin" valueType="num">
                                      <p:cBhvr additive="base">
                                        <p:cTn id="210" dur="500" fill="hold"/>
                                        <p:tgtEl>
                                          <p:spTgt spid="56"/>
                                        </p:tgtEl>
                                        <p:attrNameLst>
                                          <p:attrName>ppt_y</p:attrName>
                                        </p:attrNameLst>
                                      </p:cBhvr>
                                      <p:tavLst>
                                        <p:tav tm="0">
                                          <p:val>
                                            <p:strVal val="0-#ppt_h/2"/>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21" presetClass="entr" presetSubtype="1" fill="hold" grpId="0" nodeType="clickEffect">
                                  <p:stCondLst>
                                    <p:cond delay="0"/>
                                  </p:stCondLst>
                                  <p:childTnLst>
                                    <p:set>
                                      <p:cBhvr>
                                        <p:cTn id="214" dur="1" fill="hold">
                                          <p:stCondLst>
                                            <p:cond delay="0"/>
                                          </p:stCondLst>
                                        </p:cTn>
                                        <p:tgtEl>
                                          <p:spTgt spid="49"/>
                                        </p:tgtEl>
                                        <p:attrNameLst>
                                          <p:attrName>style.visibility</p:attrName>
                                        </p:attrNameLst>
                                      </p:cBhvr>
                                      <p:to>
                                        <p:strVal val="visible"/>
                                      </p:to>
                                    </p:set>
                                    <p:animEffect transition="in" filter="wheel(1)">
                                      <p:cBhvr>
                                        <p:cTn id="215" dur="2000"/>
                                        <p:tgtEl>
                                          <p:spTgt spid="49"/>
                                        </p:tgtEl>
                                      </p:cBhvr>
                                    </p:animEffect>
                                  </p:childTnLst>
                                </p:cTn>
                              </p:par>
                            </p:childTnLst>
                          </p:cTn>
                        </p:par>
                      </p:childTnLst>
                    </p:cTn>
                  </p:par>
                  <p:par>
                    <p:cTn id="216" fill="hold">
                      <p:stCondLst>
                        <p:cond delay="indefinite"/>
                      </p:stCondLst>
                      <p:childTnLst>
                        <p:par>
                          <p:cTn id="217" fill="hold">
                            <p:stCondLst>
                              <p:cond delay="0"/>
                            </p:stCondLst>
                            <p:childTnLst>
                              <p:par>
                                <p:cTn id="218" presetID="21" presetClass="entr" presetSubtype="1" fill="hold" grpId="0" nodeType="clickEffect">
                                  <p:stCondLst>
                                    <p:cond delay="0"/>
                                  </p:stCondLst>
                                  <p:childTnLst>
                                    <p:set>
                                      <p:cBhvr>
                                        <p:cTn id="219" dur="1" fill="hold">
                                          <p:stCondLst>
                                            <p:cond delay="0"/>
                                          </p:stCondLst>
                                        </p:cTn>
                                        <p:tgtEl>
                                          <p:spTgt spid="50"/>
                                        </p:tgtEl>
                                        <p:attrNameLst>
                                          <p:attrName>style.visibility</p:attrName>
                                        </p:attrNameLst>
                                      </p:cBhvr>
                                      <p:to>
                                        <p:strVal val="visible"/>
                                      </p:to>
                                    </p:set>
                                    <p:animEffect transition="in" filter="wheel(1)">
                                      <p:cBhvr>
                                        <p:cTn id="220" dur="2000"/>
                                        <p:tgtEl>
                                          <p:spTgt spid="50"/>
                                        </p:tgtEl>
                                      </p:cBhvr>
                                    </p:animEffect>
                                  </p:childTnLst>
                                </p:cTn>
                              </p:par>
                            </p:childTnLst>
                          </p:cTn>
                        </p:par>
                      </p:childTnLst>
                    </p:cTn>
                  </p:par>
                  <p:par>
                    <p:cTn id="221" fill="hold">
                      <p:stCondLst>
                        <p:cond delay="indefinite"/>
                      </p:stCondLst>
                      <p:childTnLst>
                        <p:par>
                          <p:cTn id="222" fill="hold">
                            <p:stCondLst>
                              <p:cond delay="0"/>
                            </p:stCondLst>
                            <p:childTnLst>
                              <p:par>
                                <p:cTn id="223" presetID="21" presetClass="entr" presetSubtype="1" fill="hold" grpId="0" nodeType="clickEffect">
                                  <p:stCondLst>
                                    <p:cond delay="0"/>
                                  </p:stCondLst>
                                  <p:childTnLst>
                                    <p:set>
                                      <p:cBhvr>
                                        <p:cTn id="224" dur="1" fill="hold">
                                          <p:stCondLst>
                                            <p:cond delay="0"/>
                                          </p:stCondLst>
                                        </p:cTn>
                                        <p:tgtEl>
                                          <p:spTgt spid="51"/>
                                        </p:tgtEl>
                                        <p:attrNameLst>
                                          <p:attrName>style.visibility</p:attrName>
                                        </p:attrNameLst>
                                      </p:cBhvr>
                                      <p:to>
                                        <p:strVal val="visible"/>
                                      </p:to>
                                    </p:set>
                                    <p:animEffect transition="in" filter="wheel(1)">
                                      <p:cBhvr>
                                        <p:cTn id="225" dur="2000"/>
                                        <p:tgtEl>
                                          <p:spTgt spid="51"/>
                                        </p:tgtEl>
                                      </p:cBhvr>
                                    </p:animEffect>
                                  </p:childTnLst>
                                </p:cTn>
                              </p:par>
                            </p:childTnLst>
                          </p:cTn>
                        </p:par>
                      </p:childTnLst>
                    </p:cTn>
                  </p:par>
                  <p:par>
                    <p:cTn id="226" fill="hold">
                      <p:stCondLst>
                        <p:cond delay="indefinite"/>
                      </p:stCondLst>
                      <p:childTnLst>
                        <p:par>
                          <p:cTn id="227" fill="hold">
                            <p:stCondLst>
                              <p:cond delay="0"/>
                            </p:stCondLst>
                            <p:childTnLst>
                              <p:par>
                                <p:cTn id="228" presetID="2" presetClass="entr" presetSubtype="4" fill="hold" grpId="0" nodeType="clickEffect">
                                  <p:stCondLst>
                                    <p:cond delay="0"/>
                                  </p:stCondLst>
                                  <p:childTnLst>
                                    <p:set>
                                      <p:cBhvr>
                                        <p:cTn id="229" dur="1" fill="hold">
                                          <p:stCondLst>
                                            <p:cond delay="0"/>
                                          </p:stCondLst>
                                        </p:cTn>
                                        <p:tgtEl>
                                          <p:spTgt spid="57"/>
                                        </p:tgtEl>
                                        <p:attrNameLst>
                                          <p:attrName>style.visibility</p:attrName>
                                        </p:attrNameLst>
                                      </p:cBhvr>
                                      <p:to>
                                        <p:strVal val="visible"/>
                                      </p:to>
                                    </p:set>
                                    <p:anim calcmode="lin" valueType="num">
                                      <p:cBhvr additive="base">
                                        <p:cTn id="230" dur="500" fill="hold"/>
                                        <p:tgtEl>
                                          <p:spTgt spid="57"/>
                                        </p:tgtEl>
                                        <p:attrNameLst>
                                          <p:attrName>ppt_x</p:attrName>
                                        </p:attrNameLst>
                                      </p:cBhvr>
                                      <p:tavLst>
                                        <p:tav tm="0">
                                          <p:val>
                                            <p:strVal val="#ppt_x"/>
                                          </p:val>
                                        </p:tav>
                                        <p:tav tm="100000">
                                          <p:val>
                                            <p:strVal val="#ppt_x"/>
                                          </p:val>
                                        </p:tav>
                                      </p:tavLst>
                                    </p:anim>
                                    <p:anim calcmode="lin" valueType="num">
                                      <p:cBhvr additive="base">
                                        <p:cTn id="231"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32" fill="hold">
                      <p:stCondLst>
                        <p:cond delay="indefinite"/>
                      </p:stCondLst>
                      <p:childTnLst>
                        <p:par>
                          <p:cTn id="233" fill="hold">
                            <p:stCondLst>
                              <p:cond delay="0"/>
                            </p:stCondLst>
                            <p:childTnLst>
                              <p:par>
                                <p:cTn id="234" presetID="2" presetClass="entr" presetSubtype="1" fill="hold" grpId="0" nodeType="clickEffect">
                                  <p:stCondLst>
                                    <p:cond delay="0"/>
                                  </p:stCondLst>
                                  <p:childTnLst>
                                    <p:set>
                                      <p:cBhvr>
                                        <p:cTn id="235" dur="1" fill="hold">
                                          <p:stCondLst>
                                            <p:cond delay="0"/>
                                          </p:stCondLst>
                                        </p:cTn>
                                        <p:tgtEl>
                                          <p:spTgt spid="60"/>
                                        </p:tgtEl>
                                        <p:attrNameLst>
                                          <p:attrName>style.visibility</p:attrName>
                                        </p:attrNameLst>
                                      </p:cBhvr>
                                      <p:to>
                                        <p:strVal val="visible"/>
                                      </p:to>
                                    </p:set>
                                    <p:anim calcmode="lin" valueType="num">
                                      <p:cBhvr additive="base">
                                        <p:cTn id="236" dur="500" fill="hold"/>
                                        <p:tgtEl>
                                          <p:spTgt spid="60"/>
                                        </p:tgtEl>
                                        <p:attrNameLst>
                                          <p:attrName>ppt_x</p:attrName>
                                        </p:attrNameLst>
                                      </p:cBhvr>
                                      <p:tavLst>
                                        <p:tav tm="0">
                                          <p:val>
                                            <p:strVal val="#ppt_x"/>
                                          </p:val>
                                        </p:tav>
                                        <p:tav tm="100000">
                                          <p:val>
                                            <p:strVal val="#ppt_x"/>
                                          </p:val>
                                        </p:tav>
                                      </p:tavLst>
                                    </p:anim>
                                    <p:anim calcmode="lin" valueType="num">
                                      <p:cBhvr additive="base">
                                        <p:cTn id="237" dur="500" fill="hold"/>
                                        <p:tgtEl>
                                          <p:spTgt spid="60"/>
                                        </p:tgtEl>
                                        <p:attrNameLst>
                                          <p:attrName>ppt_y</p:attrName>
                                        </p:attrNameLst>
                                      </p:cBhvr>
                                      <p:tavLst>
                                        <p:tav tm="0">
                                          <p:val>
                                            <p:strVal val="0-#ppt_h/2"/>
                                          </p:val>
                                        </p:tav>
                                        <p:tav tm="100000">
                                          <p:val>
                                            <p:strVal val="#ppt_y"/>
                                          </p:val>
                                        </p:tav>
                                      </p:tavLst>
                                    </p:anim>
                                  </p:childTnLst>
                                </p:cTn>
                              </p:par>
                            </p:childTnLst>
                          </p:cTn>
                        </p:par>
                      </p:childTnLst>
                    </p:cTn>
                  </p:par>
                  <p:par>
                    <p:cTn id="238" fill="hold">
                      <p:stCondLst>
                        <p:cond delay="indefinite"/>
                      </p:stCondLst>
                      <p:childTnLst>
                        <p:par>
                          <p:cTn id="239" fill="hold">
                            <p:stCondLst>
                              <p:cond delay="0"/>
                            </p:stCondLst>
                            <p:childTnLst>
                              <p:par>
                                <p:cTn id="240" presetID="22" presetClass="entr" presetSubtype="4" fill="hold" grpId="0" nodeType="clickEffect">
                                  <p:stCondLst>
                                    <p:cond delay="0"/>
                                  </p:stCondLst>
                                  <p:childTnLst>
                                    <p:set>
                                      <p:cBhvr>
                                        <p:cTn id="241" dur="1" fill="hold">
                                          <p:stCondLst>
                                            <p:cond delay="0"/>
                                          </p:stCondLst>
                                        </p:cTn>
                                        <p:tgtEl>
                                          <p:spTgt spid="16"/>
                                        </p:tgtEl>
                                        <p:attrNameLst>
                                          <p:attrName>style.visibility</p:attrName>
                                        </p:attrNameLst>
                                      </p:cBhvr>
                                      <p:to>
                                        <p:strVal val="visible"/>
                                      </p:to>
                                    </p:set>
                                    <p:animEffect transition="in" filter="wipe(down)">
                                      <p:cBhvr>
                                        <p:cTn id="2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3" grpId="0" animBg="1"/>
      <p:bldP spid="12" grpId="0"/>
      <p:bldP spid="14" grpId="0"/>
      <p:bldP spid="15" grpId="0"/>
      <p:bldP spid="17" grpId="0"/>
      <p:bldP spid="18" grpId="0"/>
      <p:bldP spid="19" grpId="0"/>
      <p:bldP spid="21" grpId="0"/>
      <p:bldP spid="22" grpId="0"/>
      <p:bldP spid="23" grpId="0"/>
      <p:bldP spid="24" grpId="0"/>
      <p:bldP spid="25" grpId="0"/>
      <p:bldP spid="29" grpId="0"/>
      <p:bldP spid="33" grpId="0"/>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p:bldP spid="53" grpId="0"/>
      <p:bldP spid="54" grpId="0"/>
      <p:bldP spid="55" grpId="0"/>
      <p:bldP spid="56" grpId="0"/>
      <p:bldP spid="57" grpId="0"/>
      <p:bldP spid="60" grpId="0"/>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1410734" y="459817"/>
            <a:ext cx="13142422" cy="1191665"/>
          </a:xfrm>
        </p:spPr>
        <p:txBody>
          <a:bodyPr>
            <a:normAutofit/>
          </a:bodyPr>
          <a:lstStyle/>
          <a:p>
            <a:r>
              <a:rPr lang="en-US" sz="7200" b="1" dirty="0">
                <a:solidFill>
                  <a:srgbClr val="0070C0"/>
                </a:solidFill>
              </a:rPr>
              <a:t>Thanks for attending….</a:t>
            </a:r>
          </a:p>
        </p:txBody>
      </p:sp>
      <p:grpSp>
        <p:nvGrpSpPr>
          <p:cNvPr id="5" name="Group 6"/>
          <p:cNvGrpSpPr>
            <a:grpSpLocks/>
          </p:cNvGrpSpPr>
          <p:nvPr/>
        </p:nvGrpSpPr>
        <p:grpSpPr bwMode="auto">
          <a:xfrm>
            <a:off x="7398324" y="1197030"/>
            <a:ext cx="7015943" cy="6350923"/>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00"/>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520"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1C29ACD1-7F32-49E5-B33D-B5E4BC41569C}" type="datetime3">
              <a:rPr lang="en-US" smtClean="0"/>
              <a:t>6 January 2026</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42</a:t>
            </a:fld>
            <a:endParaRPr lang="en-US" dirty="0"/>
          </a:p>
        </p:txBody>
      </p:sp>
    </p:spTree>
    <p:extLst>
      <p:ext uri="{BB962C8B-B14F-4D97-AF65-F5344CB8AC3E}">
        <p14:creationId xmlns:p14="http://schemas.microsoft.com/office/powerpoint/2010/main" val="4787532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9" ma:contentTypeDescription="Create a new document." ma:contentTypeScope="" ma:versionID="20527a1f5442c6bf5a990be0ad4f6701">
  <xsd:schema xmlns:xsd="http://www.w3.org/2001/XMLSchema" xmlns:xs="http://www.w3.org/2001/XMLSchema" xmlns:p="http://schemas.microsoft.com/office/2006/metadata/properties" xmlns:ns2="f05aa4fc-6785-42fa-879e-4fefad1725f6" targetNamespace="http://schemas.microsoft.com/office/2006/metadata/properties" ma:root="true" ma:fieldsID="e3de2bbdc668caace9de9a704c17ecd5" ns2:_="">
    <xsd:import namespace="f05aa4fc-6785-42fa-879e-4fefad1725f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5aa4fc-6785-42fa-879e-4fefad1725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A4027F-3D24-4D53-BFC9-3C8233FBA003}">
  <ds:schemaRefs>
    <ds:schemaRef ds:uri="http://schemas.microsoft.com/sharepoint/v3/contenttype/forms"/>
  </ds:schemaRefs>
</ds:datastoreItem>
</file>

<file path=customXml/itemProps2.xml><?xml version="1.0" encoding="utf-8"?>
<ds:datastoreItem xmlns:ds="http://schemas.openxmlformats.org/officeDocument/2006/customXml" ds:itemID="{F358E20A-3CCF-4936-A030-6C75490658A6}">
  <ds:schemaRefs>
    <ds:schemaRef ds:uri="http://purl.org/dc/terms/"/>
    <ds:schemaRef ds:uri="http://purl.org/dc/elements/1.1/"/>
    <ds:schemaRef ds:uri="http://purl.org/dc/dcmitype/"/>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f05aa4fc-6785-42fa-879e-4fefad1725f6"/>
  </ds:schemaRefs>
</ds:datastoreItem>
</file>

<file path=customXml/itemProps3.xml><?xml version="1.0" encoding="utf-8"?>
<ds:datastoreItem xmlns:ds="http://schemas.openxmlformats.org/officeDocument/2006/customXml" ds:itemID="{B5129C82-F178-4287-9D4C-6097486300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5aa4fc-6785-42fa-879e-4fefad1725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9538</TotalTime>
  <Words>3682</Words>
  <Application>Microsoft Office PowerPoint</Application>
  <PresentationFormat>Custom</PresentationFormat>
  <Paragraphs>737</Paragraphs>
  <Slides>42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Arial Black</vt:lpstr>
      <vt:lpstr>Calibri</vt:lpstr>
      <vt:lpstr>Calibri Light</vt:lpstr>
      <vt:lpstr>Cambria Math</vt:lpstr>
      <vt:lpstr>Times New Roman</vt:lpstr>
      <vt:lpstr>Office Theme</vt:lpstr>
      <vt:lpstr>Lecture # 6 (Final) Control Logic Design Microprogram, flow-chart, state-diagram</vt:lpstr>
      <vt:lpstr>Microprogram Control</vt:lpstr>
      <vt:lpstr>Microprogram Control Contd..</vt:lpstr>
      <vt:lpstr>Hardware Configuration</vt:lpstr>
      <vt:lpstr>Hardware Configuration</vt:lpstr>
      <vt:lpstr>Hardware Configuration</vt:lpstr>
      <vt:lpstr>Hardware Configuration</vt:lpstr>
      <vt:lpstr>Hardware Configuration</vt:lpstr>
      <vt:lpstr>Hardware Configuration</vt:lpstr>
      <vt:lpstr>Hardware Configuration</vt:lpstr>
      <vt:lpstr>Hardware Configuration</vt:lpstr>
      <vt:lpstr>Hardware Configuration</vt:lpstr>
      <vt:lpstr>Hardware Configuration</vt:lpstr>
      <vt:lpstr>Microprogram for Control Memory </vt:lpstr>
      <vt:lpstr>Control State Diagram</vt:lpstr>
      <vt:lpstr>Hardware Configuration</vt:lpstr>
      <vt:lpstr>Microprogram for Control Memory </vt:lpstr>
      <vt:lpstr>Hardware Configuration</vt:lpstr>
      <vt:lpstr>Hardware Configuration</vt:lpstr>
      <vt:lpstr>Sequence of Register Transfers</vt:lpstr>
      <vt:lpstr>Hardware Configuration</vt:lpstr>
      <vt:lpstr>Hardware Configuration</vt:lpstr>
      <vt:lpstr>Sequence of Register Transfers</vt:lpstr>
      <vt:lpstr>Control State Diagram</vt:lpstr>
      <vt:lpstr>Control of Processor Unit</vt:lpstr>
      <vt:lpstr>Control of Processor Unit</vt:lpstr>
      <vt:lpstr>Example of Micro-program</vt:lpstr>
      <vt:lpstr>Flow chart for counting the number of 1’s in register R1</vt:lpstr>
      <vt:lpstr>Binary microprogram to count the number of 1’s in R1</vt:lpstr>
      <vt:lpstr>Binary microprogram to count the number of 1’s in R1</vt:lpstr>
      <vt:lpstr>Binary microprogram to count the number of 1’s in R1</vt:lpstr>
      <vt:lpstr>Binary microprogram to count the number of 1’s in R1</vt:lpstr>
      <vt:lpstr>Binary microprogram to count the number of 1’s in R1</vt:lpstr>
      <vt:lpstr>Control of Processor Unit</vt:lpstr>
      <vt:lpstr>Binary microprogram to count the number of 1’s in R1</vt:lpstr>
      <vt:lpstr>Binary microprogram to count the number of 1’s in R1</vt:lpstr>
      <vt:lpstr>PowerPoint Presentation</vt:lpstr>
      <vt:lpstr>Binary microprogram to count the number of 1’s in R1</vt:lpstr>
      <vt:lpstr>Flow chart for counting the number of 0s in register R2</vt:lpstr>
      <vt:lpstr>Example: Micro-operation</vt:lpstr>
      <vt:lpstr>Control of Processor Unit</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Jahid Hasan</dc:creator>
  <cp:lastModifiedBy>Debraj Das</cp:lastModifiedBy>
  <cp:revision>387</cp:revision>
  <dcterms:created xsi:type="dcterms:W3CDTF">2017-01-20T15:00:05Z</dcterms:created>
  <dcterms:modified xsi:type="dcterms:W3CDTF">2026-01-06T06:33:02Z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