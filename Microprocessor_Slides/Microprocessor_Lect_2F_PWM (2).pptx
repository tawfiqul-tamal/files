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7"/>
  </p:notesMasterIdLst>
  <p:handoutMasterIdLst>
    <p:handoutMasterId r:id="rId48"/>
  </p:handoutMasterIdLst>
  <p:sldIdLst>
    <p:sldId id="266" r:id="rId5"/>
    <p:sldId id="458" r:id="rId6"/>
    <p:sldId id="478" r:id="rId7"/>
    <p:sldId id="501" r:id="rId8"/>
    <p:sldId id="502" r:id="rId9"/>
    <p:sldId id="504" r:id="rId10"/>
    <p:sldId id="503" r:id="rId11"/>
    <p:sldId id="459" r:id="rId12"/>
    <p:sldId id="485" r:id="rId13"/>
    <p:sldId id="463" r:id="rId14"/>
    <p:sldId id="486" r:id="rId15"/>
    <p:sldId id="471" r:id="rId16"/>
    <p:sldId id="460" r:id="rId17"/>
    <p:sldId id="461" r:id="rId18"/>
    <p:sldId id="462" r:id="rId19"/>
    <p:sldId id="464" r:id="rId20"/>
    <p:sldId id="487" r:id="rId21"/>
    <p:sldId id="488" r:id="rId22"/>
    <p:sldId id="465" r:id="rId23"/>
    <p:sldId id="466" r:id="rId24"/>
    <p:sldId id="472" r:id="rId25"/>
    <p:sldId id="467" r:id="rId26"/>
    <p:sldId id="473" r:id="rId27"/>
    <p:sldId id="468" r:id="rId28"/>
    <p:sldId id="474" r:id="rId29"/>
    <p:sldId id="469" r:id="rId30"/>
    <p:sldId id="499" r:id="rId31"/>
    <p:sldId id="500" r:id="rId32"/>
    <p:sldId id="475" r:id="rId33"/>
    <p:sldId id="476" r:id="rId34"/>
    <p:sldId id="477" r:id="rId35"/>
    <p:sldId id="496" r:id="rId36"/>
    <p:sldId id="497" r:id="rId37"/>
    <p:sldId id="498" r:id="rId38"/>
    <p:sldId id="491" r:id="rId39"/>
    <p:sldId id="489" r:id="rId40"/>
    <p:sldId id="492" r:id="rId41"/>
    <p:sldId id="490" r:id="rId42"/>
    <p:sldId id="493" r:id="rId43"/>
    <p:sldId id="494" r:id="rId44"/>
    <p:sldId id="495" r:id="rId45"/>
    <p:sldId id="329" r:id="rId46"/>
  </p:sldIdLst>
  <p:sldSz cx="164592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3FF"/>
    <a:srgbClr val="FC64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53" d="100"/>
          <a:sy n="53" d="100"/>
        </p:scale>
        <p:origin x="444" y="1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959C53-1F47-4EC3-BD04-DCF7D9853FE2}" type="datetimeFigureOut">
              <a:rPr lang="en-US" smtClean="0"/>
              <a:t>12/17/2025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966561-935E-43F2-AA27-F6429D640CD0}" type="slidenum">
              <a:rPr lang="en-US" smtClean="0"/>
              <a:t>‹#›</a:t>
            </a:fld>
            <a:endParaRPr lang="en-US"/>
          </a:p>
        </p:txBody>
      </p:sp>
    </p:spTree>
    <p:extLst>
      <p:ext uri="{BB962C8B-B14F-4D97-AF65-F5344CB8AC3E}">
        <p14:creationId xmlns:p14="http://schemas.microsoft.com/office/powerpoint/2010/main" val="28583798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3753D4-FC42-4AF9-9F67-FF67B8A220EF}" type="datetimeFigureOut">
              <a:rPr lang="en-US" smtClean="0"/>
              <a:t>12/17/2025</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D5281-AB0E-4AE5-96D1-620E2E6C6426}" type="slidenum">
              <a:rPr lang="en-US" smtClean="0"/>
              <a:t>‹#›</a:t>
            </a:fld>
            <a:endParaRPr lang="en-US"/>
          </a:p>
        </p:txBody>
      </p:sp>
    </p:spTree>
    <p:extLst>
      <p:ext uri="{BB962C8B-B14F-4D97-AF65-F5344CB8AC3E}">
        <p14:creationId xmlns:p14="http://schemas.microsoft.com/office/powerpoint/2010/main" val="3235946233"/>
      </p:ext>
    </p:extLst>
  </p:cSld>
  <p:clrMap bg1="lt1" tx1="dk1" bg2="lt2" tx2="dk2" accent1="accent1" accent2="accent2" accent3="accent3" accent4="accent4" accent5="accent5" accent6="accent6" hlink="hlink" folHlink="folHlink"/>
  <p:hf hdr="0" ftr="0" dt="0"/>
  <p:notesStyle>
    <a:lvl1pPr marL="0" algn="l" defTabSz="1185062" rtl="0" eaLnBrk="1" latinLnBrk="0" hangingPunct="1">
      <a:defRPr sz="1555" kern="1200">
        <a:solidFill>
          <a:schemeClr val="tx1"/>
        </a:solidFill>
        <a:latin typeface="+mn-lt"/>
        <a:ea typeface="+mn-ea"/>
        <a:cs typeface="+mn-cs"/>
      </a:defRPr>
    </a:lvl1pPr>
    <a:lvl2pPr marL="592531" algn="l" defTabSz="1185062" rtl="0" eaLnBrk="1" latinLnBrk="0" hangingPunct="1">
      <a:defRPr sz="1555" kern="1200">
        <a:solidFill>
          <a:schemeClr val="tx1"/>
        </a:solidFill>
        <a:latin typeface="+mn-lt"/>
        <a:ea typeface="+mn-ea"/>
        <a:cs typeface="+mn-cs"/>
      </a:defRPr>
    </a:lvl2pPr>
    <a:lvl3pPr marL="1185062" algn="l" defTabSz="1185062" rtl="0" eaLnBrk="1" latinLnBrk="0" hangingPunct="1">
      <a:defRPr sz="1555" kern="1200">
        <a:solidFill>
          <a:schemeClr val="tx1"/>
        </a:solidFill>
        <a:latin typeface="+mn-lt"/>
        <a:ea typeface="+mn-ea"/>
        <a:cs typeface="+mn-cs"/>
      </a:defRPr>
    </a:lvl3pPr>
    <a:lvl4pPr marL="1777594" algn="l" defTabSz="1185062" rtl="0" eaLnBrk="1" latinLnBrk="0" hangingPunct="1">
      <a:defRPr sz="1555" kern="1200">
        <a:solidFill>
          <a:schemeClr val="tx1"/>
        </a:solidFill>
        <a:latin typeface="+mn-lt"/>
        <a:ea typeface="+mn-ea"/>
        <a:cs typeface="+mn-cs"/>
      </a:defRPr>
    </a:lvl4pPr>
    <a:lvl5pPr marL="2370125" algn="l" defTabSz="1185062" rtl="0" eaLnBrk="1" latinLnBrk="0" hangingPunct="1">
      <a:defRPr sz="1555" kern="1200">
        <a:solidFill>
          <a:schemeClr val="tx1"/>
        </a:solidFill>
        <a:latin typeface="+mn-lt"/>
        <a:ea typeface="+mn-ea"/>
        <a:cs typeface="+mn-cs"/>
      </a:defRPr>
    </a:lvl5pPr>
    <a:lvl6pPr marL="2962656" algn="l" defTabSz="1185062" rtl="0" eaLnBrk="1" latinLnBrk="0" hangingPunct="1">
      <a:defRPr sz="1555" kern="1200">
        <a:solidFill>
          <a:schemeClr val="tx1"/>
        </a:solidFill>
        <a:latin typeface="+mn-lt"/>
        <a:ea typeface="+mn-ea"/>
        <a:cs typeface="+mn-cs"/>
      </a:defRPr>
    </a:lvl6pPr>
    <a:lvl7pPr marL="3555187" algn="l" defTabSz="1185062" rtl="0" eaLnBrk="1" latinLnBrk="0" hangingPunct="1">
      <a:defRPr sz="1555" kern="1200">
        <a:solidFill>
          <a:schemeClr val="tx1"/>
        </a:solidFill>
        <a:latin typeface="+mn-lt"/>
        <a:ea typeface="+mn-ea"/>
        <a:cs typeface="+mn-cs"/>
      </a:defRPr>
    </a:lvl7pPr>
    <a:lvl8pPr marL="4147718" algn="l" defTabSz="1185062" rtl="0" eaLnBrk="1" latinLnBrk="0" hangingPunct="1">
      <a:defRPr sz="1555" kern="1200">
        <a:solidFill>
          <a:schemeClr val="tx1"/>
        </a:solidFill>
        <a:latin typeface="+mn-lt"/>
        <a:ea typeface="+mn-ea"/>
        <a:cs typeface="+mn-cs"/>
      </a:defRPr>
    </a:lvl8pPr>
    <a:lvl9pPr marL="4740250" algn="l" defTabSz="1185062" rtl="0" eaLnBrk="1" latinLnBrk="0" hangingPunct="1">
      <a:defRPr sz="15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CD5281-AB0E-4AE5-96D1-620E2E6C6426}" type="slidenum">
              <a:rPr lang="en-US" smtClean="0"/>
              <a:t>15</a:t>
            </a:fld>
            <a:endParaRPr lang="en-US"/>
          </a:p>
        </p:txBody>
      </p:sp>
    </p:spTree>
    <p:extLst>
      <p:ext uri="{BB962C8B-B14F-4D97-AF65-F5344CB8AC3E}">
        <p14:creationId xmlns:p14="http://schemas.microsoft.com/office/powerpoint/2010/main" val="2911452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CD5281-AB0E-4AE5-96D1-620E2E6C6426}" type="slidenum">
              <a:rPr lang="en-US" smtClean="0"/>
              <a:t>27</a:t>
            </a:fld>
            <a:endParaRPr lang="en-US"/>
          </a:p>
        </p:txBody>
      </p:sp>
    </p:spTree>
    <p:extLst>
      <p:ext uri="{BB962C8B-B14F-4D97-AF65-F5344CB8AC3E}">
        <p14:creationId xmlns:p14="http://schemas.microsoft.com/office/powerpoint/2010/main" val="3187990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29</a:t>
            </a:fld>
            <a:endParaRPr lang="en-US"/>
          </a:p>
        </p:txBody>
      </p:sp>
    </p:spTree>
    <p:extLst>
      <p:ext uri="{BB962C8B-B14F-4D97-AF65-F5344CB8AC3E}">
        <p14:creationId xmlns:p14="http://schemas.microsoft.com/office/powerpoint/2010/main" val="3180780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CD5281-AB0E-4AE5-96D1-620E2E6C6426}" type="slidenum">
              <a:rPr lang="en-US" smtClean="0"/>
              <a:t>31</a:t>
            </a:fld>
            <a:endParaRPr lang="en-US"/>
          </a:p>
        </p:txBody>
      </p:sp>
    </p:spTree>
    <p:extLst>
      <p:ext uri="{BB962C8B-B14F-4D97-AF65-F5344CB8AC3E}">
        <p14:creationId xmlns:p14="http://schemas.microsoft.com/office/powerpoint/2010/main" val="1117253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CD5281-AB0E-4AE5-96D1-620E2E6C6426}" type="slidenum">
              <a:rPr lang="en-US" smtClean="0"/>
              <a:t>35</a:t>
            </a:fld>
            <a:endParaRPr lang="en-US"/>
          </a:p>
        </p:txBody>
      </p:sp>
    </p:spTree>
    <p:extLst>
      <p:ext uri="{BB962C8B-B14F-4D97-AF65-F5344CB8AC3E}">
        <p14:creationId xmlns:p14="http://schemas.microsoft.com/office/powerpoint/2010/main" val="1194714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CD5281-AB0E-4AE5-96D1-620E2E6C6426}" type="slidenum">
              <a:rPr lang="en-US" smtClean="0"/>
              <a:t>37</a:t>
            </a:fld>
            <a:endParaRPr lang="en-US"/>
          </a:p>
        </p:txBody>
      </p:sp>
    </p:spTree>
    <p:extLst>
      <p:ext uri="{BB962C8B-B14F-4D97-AF65-F5344CB8AC3E}">
        <p14:creationId xmlns:p14="http://schemas.microsoft.com/office/powerpoint/2010/main" val="10481135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346836"/>
            <a:ext cx="123444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2057400" y="4322446"/>
            <a:ext cx="123444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10521" y="7950630"/>
            <a:ext cx="3703320" cy="278969"/>
          </a:xfrm>
        </p:spPr>
        <p:txBody>
          <a:bodyPr/>
          <a:lstStyle>
            <a:lvl1pPr>
              <a:defRPr>
                <a:solidFill>
                  <a:srgbClr val="0070C0"/>
                </a:solidFill>
              </a:defRPr>
            </a:lvl1pPr>
          </a:lstStyle>
          <a:p>
            <a:fld id="{AB62C641-6135-451E-B001-0C5DD0FECF51}" type="datetime3">
              <a:rPr lang="en-US" smtClean="0"/>
              <a:t>17 December 2025</a:t>
            </a:fld>
            <a:endParaRPr lang="en-US" dirty="0"/>
          </a:p>
        </p:txBody>
      </p:sp>
      <p:sp>
        <p:nvSpPr>
          <p:cNvPr id="5" name="Footer Placeholder 4"/>
          <p:cNvSpPr>
            <a:spLocks noGrp="1"/>
          </p:cNvSpPr>
          <p:nvPr>
            <p:ph type="ftr" sz="quarter" idx="11"/>
          </p:nvPr>
        </p:nvSpPr>
        <p:spPr>
          <a:xfrm>
            <a:off x="5452110" y="7950630"/>
            <a:ext cx="5554980" cy="267212"/>
          </a:xfrm>
        </p:spPr>
        <p:txBody>
          <a:bodyPr/>
          <a:lstStyle>
            <a:lvl1pPr>
              <a:defRPr sz="1600">
                <a:solidFill>
                  <a:srgbClr val="0070C0"/>
                </a:solidFill>
              </a:defRPr>
            </a:lvl1pPr>
          </a:lstStyle>
          <a:p>
            <a:r>
              <a:rPr lang="en-US" dirty="0"/>
              <a:t>Course Teacher: Prof. Dr. Engr. </a:t>
            </a:r>
            <a:r>
              <a:rPr lang="en-US" dirty="0" err="1"/>
              <a:t>Muhibul</a:t>
            </a:r>
            <a:r>
              <a:rPr lang="en-US" dirty="0"/>
              <a:t> </a:t>
            </a:r>
            <a:r>
              <a:rPr lang="en-US" dirty="0" err="1"/>
              <a:t>Haque</a:t>
            </a:r>
            <a:r>
              <a:rPr lang="en-US" dirty="0"/>
              <a:t> </a:t>
            </a:r>
            <a:r>
              <a:rPr lang="en-US" dirty="0" err="1"/>
              <a:t>Bhuyan</a:t>
            </a:r>
            <a:endParaRPr lang="en-US" dirty="0"/>
          </a:p>
        </p:txBody>
      </p:sp>
      <p:sp>
        <p:nvSpPr>
          <p:cNvPr id="6" name="Slide Number Placeholder 5"/>
          <p:cNvSpPr>
            <a:spLocks noGrp="1"/>
          </p:cNvSpPr>
          <p:nvPr>
            <p:ph type="sldNum" sz="quarter" idx="12"/>
          </p:nvPr>
        </p:nvSpPr>
        <p:spPr>
          <a:xfrm>
            <a:off x="14401799" y="7950630"/>
            <a:ext cx="2031381" cy="2789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1" y="11980"/>
            <a:ext cx="2133997" cy="2012367"/>
          </a:xfrm>
          <a:prstGeom prst="rect">
            <a:avLst/>
          </a:prstGeom>
        </p:spPr>
      </p:pic>
      <p:sp>
        <p:nvSpPr>
          <p:cNvPr id="8" name="TextBox 7"/>
          <p:cNvSpPr txBox="1"/>
          <p:nvPr userDrawn="1"/>
        </p:nvSpPr>
        <p:spPr>
          <a:xfrm>
            <a:off x="2355742" y="405040"/>
            <a:ext cx="13331330" cy="941796"/>
          </a:xfrm>
          <a:prstGeom prst="rect">
            <a:avLst/>
          </a:prstGeom>
          <a:noFill/>
        </p:spPr>
        <p:txBody>
          <a:bodyPr wrap="square" rtlCol="0">
            <a:spAutoFit/>
          </a:bodyPr>
          <a:lstStyle/>
          <a:p>
            <a:pPr algn="l"/>
            <a:r>
              <a:rPr lang="en-US" sz="3600" b="1" dirty="0">
                <a:solidFill>
                  <a:schemeClr val="accent1">
                    <a:lumMod val="75000"/>
                  </a:schemeClr>
                </a:solidFill>
              </a:rPr>
              <a:t>AMERICAN INTERNATIONAL UNIVERSITY-BANGLADESH (AIUB)</a:t>
            </a:r>
          </a:p>
          <a:p>
            <a:pPr algn="l"/>
            <a:r>
              <a:rPr lang="en-US" sz="1920" dirty="0">
                <a:solidFill>
                  <a:srgbClr val="0070C0"/>
                </a:solidFill>
              </a:rPr>
              <a:t>Where leaders are created</a:t>
            </a:r>
          </a:p>
        </p:txBody>
      </p:sp>
      <p:sp>
        <p:nvSpPr>
          <p:cNvPr id="9" name="TextBox 8"/>
          <p:cNvSpPr txBox="1"/>
          <p:nvPr userDrawn="1"/>
        </p:nvSpPr>
        <p:spPr>
          <a:xfrm>
            <a:off x="11301557" y="7813972"/>
            <a:ext cx="2905681" cy="400110"/>
          </a:xfrm>
          <a:prstGeom prst="rect">
            <a:avLst/>
          </a:prstGeom>
          <a:noFill/>
        </p:spPr>
        <p:txBody>
          <a:bodyPr wrap="square" rtlCol="0">
            <a:spAutoFit/>
          </a:bodyPr>
          <a:lstStyle/>
          <a:p>
            <a:pPr algn="r"/>
            <a:r>
              <a:rPr lang="en-US" sz="2000" b="1" dirty="0">
                <a:solidFill>
                  <a:schemeClr val="accent1">
                    <a:lumMod val="75000"/>
                  </a:schemeClr>
                </a:solidFill>
              </a:rPr>
              <a:t>Department of EEE</a:t>
            </a:r>
          </a:p>
        </p:txBody>
      </p:sp>
    </p:spTree>
    <p:extLst>
      <p:ext uri="{BB962C8B-B14F-4D97-AF65-F5344CB8AC3E}">
        <p14:creationId xmlns:p14="http://schemas.microsoft.com/office/powerpoint/2010/main" val="4049715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274" y="7919634"/>
            <a:ext cx="2788920" cy="309966"/>
          </a:xfrm>
        </p:spPr>
        <p:txBody>
          <a:bodyPr/>
          <a:lstStyle>
            <a:lvl1pPr>
              <a:defRPr sz="1400">
                <a:solidFill>
                  <a:srgbClr val="0070C0"/>
                </a:solidFill>
              </a:defRPr>
            </a:lvl1pPr>
          </a:lstStyle>
          <a:p>
            <a:fld id="{CEB6A4FC-AAA1-4F41-A17E-7BE1ED99D460}" type="datetime3">
              <a:rPr lang="en-US" smtClean="0"/>
              <a:t>17 December 2025</a:t>
            </a:fld>
            <a:endParaRPr lang="en-US"/>
          </a:p>
        </p:txBody>
      </p:sp>
      <p:sp>
        <p:nvSpPr>
          <p:cNvPr id="5" name="Footer Placeholder 4"/>
          <p:cNvSpPr>
            <a:spLocks noGrp="1"/>
          </p:cNvSpPr>
          <p:nvPr>
            <p:ph type="ftr" sz="quarter" idx="11"/>
          </p:nvPr>
        </p:nvSpPr>
        <p:spPr>
          <a:xfrm>
            <a:off x="5452110" y="7919634"/>
            <a:ext cx="6636568" cy="325464"/>
          </a:xfrm>
        </p:spPr>
        <p:txBody>
          <a:bodyPr/>
          <a:lstStyle>
            <a:lvl1pPr>
              <a:defRPr sz="1600">
                <a:solidFill>
                  <a:srgbClr val="0070C0"/>
                </a:solidFill>
              </a:defRPr>
            </a:lvl1pPr>
          </a:lstStyle>
          <a:p>
            <a:r>
              <a:rPr lang="en-US"/>
              <a:t>Course Teacher: Prof. Dr. Engr. Muhibul Haque Bhuyan</a:t>
            </a:r>
            <a:endParaRPr lang="en-US" dirty="0"/>
          </a:p>
        </p:txBody>
      </p:sp>
      <p:sp>
        <p:nvSpPr>
          <p:cNvPr id="6" name="Slide Number Placeholder 5"/>
          <p:cNvSpPr>
            <a:spLocks noGrp="1"/>
          </p:cNvSpPr>
          <p:nvPr>
            <p:ph type="sldNum" sz="quarter" idx="12"/>
          </p:nvPr>
        </p:nvSpPr>
        <p:spPr>
          <a:xfrm>
            <a:off x="15141845" y="7919634"/>
            <a:ext cx="1317356" cy="2902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0" y="18938"/>
            <a:ext cx="1689315" cy="645504"/>
          </a:xfrm>
          <a:prstGeom prst="rect">
            <a:avLst/>
          </a:prstGeom>
        </p:spPr>
      </p:pic>
      <p:sp>
        <p:nvSpPr>
          <p:cNvPr id="8" name="Rectangle 7"/>
          <p:cNvSpPr/>
          <p:nvPr userDrawn="1"/>
        </p:nvSpPr>
        <p:spPr>
          <a:xfrm>
            <a:off x="11794210" y="-16858"/>
            <a:ext cx="4682591" cy="4638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rgbClr val="FFFF00"/>
                </a:solidFill>
              </a:rPr>
              <a:t>Microprocessor and Embedded Systems</a:t>
            </a:r>
          </a:p>
        </p:txBody>
      </p:sp>
      <p:sp>
        <p:nvSpPr>
          <p:cNvPr id="9" name="TextBox 8"/>
          <p:cNvSpPr txBox="1"/>
          <p:nvPr userDrawn="1"/>
        </p:nvSpPr>
        <p:spPr>
          <a:xfrm>
            <a:off x="12241563" y="7635430"/>
            <a:ext cx="607859" cy="523220"/>
          </a:xfrm>
          <a:prstGeom prst="rect">
            <a:avLst/>
          </a:prstGeom>
          <a:noFill/>
        </p:spPr>
        <p:txBody>
          <a:bodyPr wrap="none" rtlCol="0">
            <a:spAutoFit/>
          </a:bodyPr>
          <a:lstStyle/>
          <a:p>
            <a:fld id="{4B2552B2-E763-405A-8E5A-B8DDC8F7B503}" type="slidenum">
              <a:rPr lang="en-US" sz="2800" smtClean="0">
                <a:solidFill>
                  <a:schemeClr val="bg1"/>
                </a:solidFill>
              </a:rPr>
              <a:t>‹#›</a:t>
            </a:fld>
            <a:endParaRPr lang="en-US" sz="2800" dirty="0">
              <a:solidFill>
                <a:schemeClr val="bg1"/>
              </a:solidFill>
            </a:endParaRPr>
          </a:p>
        </p:txBody>
      </p:sp>
    </p:spTree>
    <p:extLst>
      <p:ext uri="{BB962C8B-B14F-4D97-AF65-F5344CB8AC3E}">
        <p14:creationId xmlns:p14="http://schemas.microsoft.com/office/powerpoint/2010/main" val="4323048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438150"/>
            <a:ext cx="1419606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2190750"/>
            <a:ext cx="1419606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7627621"/>
            <a:ext cx="370332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A69B6C27-AF24-4B5B-9188-3ED46CE63375}" type="datetime3">
              <a:rPr lang="en-US" smtClean="0"/>
              <a:t>17 December 2025</a:t>
            </a:fld>
            <a:endParaRPr lang="en-US"/>
          </a:p>
        </p:txBody>
      </p:sp>
      <p:sp>
        <p:nvSpPr>
          <p:cNvPr id="5" name="Footer Placeholder 4"/>
          <p:cNvSpPr>
            <a:spLocks noGrp="1"/>
          </p:cNvSpPr>
          <p:nvPr>
            <p:ph type="ftr" sz="quarter" idx="3"/>
          </p:nvPr>
        </p:nvSpPr>
        <p:spPr>
          <a:xfrm>
            <a:off x="5452110" y="7627621"/>
            <a:ext cx="555498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r>
              <a:rPr lang="en-US"/>
              <a:t>Course Teacher: Prof. Dr. Engr. Muhibul Haque Bhuyan</a:t>
            </a:r>
          </a:p>
        </p:txBody>
      </p:sp>
      <p:sp>
        <p:nvSpPr>
          <p:cNvPr id="6" name="Slide Number Placeholder 5"/>
          <p:cNvSpPr>
            <a:spLocks noGrp="1"/>
          </p:cNvSpPr>
          <p:nvPr>
            <p:ph type="sldNum" sz="quarter" idx="4"/>
          </p:nvPr>
        </p:nvSpPr>
        <p:spPr>
          <a:xfrm>
            <a:off x="11624310" y="7627621"/>
            <a:ext cx="370332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C9C7C91F-6875-4C79-9E49-C73FDE57945E}" type="slidenum">
              <a:rPr lang="en-US" smtClean="0"/>
              <a:t>‹#›</a:t>
            </a:fld>
            <a:endParaRPr lang="en-US"/>
          </a:p>
        </p:txBody>
      </p:sp>
    </p:spTree>
    <p:extLst>
      <p:ext uri="{BB962C8B-B14F-4D97-AF65-F5344CB8AC3E}">
        <p14:creationId xmlns:p14="http://schemas.microsoft.com/office/powerpoint/2010/main" val="2637165226"/>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31.emf"/></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330.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2.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83542-990E-4AD7-9205-9BAC0D2B3160}"/>
              </a:ext>
            </a:extLst>
          </p:cNvPr>
          <p:cNvSpPr>
            <a:spLocks noGrp="1"/>
          </p:cNvSpPr>
          <p:nvPr>
            <p:ph type="ctrTitle"/>
          </p:nvPr>
        </p:nvSpPr>
        <p:spPr>
          <a:xfrm>
            <a:off x="1762298" y="2149533"/>
            <a:ext cx="13283738" cy="3138631"/>
          </a:xfrm>
        </p:spPr>
        <p:txBody>
          <a:bodyPr>
            <a:noAutofit/>
          </a:bodyPr>
          <a:lstStyle/>
          <a:p>
            <a:r>
              <a:rPr lang="en-US" b="1" dirty="0">
                <a:solidFill>
                  <a:srgbClr val="0070C0"/>
                </a:solidFill>
              </a:rPr>
              <a:t>Lecture # 2 (Final)</a:t>
            </a:r>
            <a:br>
              <a:rPr lang="en-US" b="1" dirty="0">
                <a:solidFill>
                  <a:srgbClr val="0070C0"/>
                </a:solidFill>
              </a:rPr>
            </a:br>
            <a:r>
              <a:rPr lang="en-US" b="1" dirty="0">
                <a:solidFill>
                  <a:srgbClr val="0070C0"/>
                </a:solidFill>
              </a:rPr>
              <a:t>Pulse Width Modulation (PWM)</a:t>
            </a:r>
            <a:endParaRPr lang="en-US" sz="6000" b="1" dirty="0">
              <a:solidFill>
                <a:srgbClr val="0070C0"/>
              </a:solidFill>
            </a:endParaRPr>
          </a:p>
        </p:txBody>
      </p:sp>
      <p:sp>
        <p:nvSpPr>
          <p:cNvPr id="2" name="Footer Placeholder 5">
            <a:extLst>
              <a:ext uri="{FF2B5EF4-FFF2-40B4-BE49-F238E27FC236}">
                <a16:creationId xmlns:a16="http://schemas.microsoft.com/office/drawing/2014/main" id="{A9919CF8-3805-DEE8-A3E2-20314B15A1F8}"/>
              </a:ext>
            </a:extLst>
          </p:cNvPr>
          <p:cNvSpPr>
            <a:spLocks noGrp="1"/>
          </p:cNvSpPr>
          <p:nvPr>
            <p:ph type="ftr" sz="quarter" idx="11"/>
          </p:nvPr>
        </p:nvSpPr>
        <p:spPr>
          <a:xfrm>
            <a:off x="4885509" y="5808199"/>
            <a:ext cx="11307683" cy="1407247"/>
          </a:xfrm>
        </p:spPr>
        <p:txBody>
          <a:bodyPr/>
          <a:lstStyle/>
          <a:p>
            <a:pPr algn="r"/>
            <a:r>
              <a:rPr lang="en-US" sz="2800" dirty="0"/>
              <a:t>Course Teacher: Debraj Das</a:t>
            </a:r>
            <a:endParaRPr lang="en-US" sz="2800" dirty="0">
              <a:solidFill>
                <a:srgbClr val="00B050"/>
              </a:solidFill>
            </a:endParaRPr>
          </a:p>
          <a:p>
            <a:pPr algn="r"/>
            <a:r>
              <a:rPr lang="en-US" sz="2800" dirty="0">
                <a:solidFill>
                  <a:srgbClr val="00B050"/>
                </a:solidFill>
              </a:rPr>
              <a:t>EEE Department, AIUB</a:t>
            </a:r>
          </a:p>
        </p:txBody>
      </p:sp>
    </p:spTree>
    <p:extLst>
      <p:ext uri="{BB962C8B-B14F-4D97-AF65-F5344CB8AC3E}">
        <p14:creationId xmlns:p14="http://schemas.microsoft.com/office/powerpoint/2010/main" val="220196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359106" y="4239491"/>
            <a:ext cx="10998510" cy="3880717"/>
            <a:chOff x="359106" y="4239491"/>
            <a:chExt cx="10998510" cy="3880717"/>
          </a:xfrm>
        </p:grpSpPr>
        <p:pic>
          <p:nvPicPr>
            <p:cNvPr id="4" name="Picture 3"/>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artisticPhotocopy/>
                      </a14:imgEffect>
                      <a14:imgEffect>
                        <a14:brightnessContrast contrast="40000"/>
                      </a14:imgEffect>
                    </a14:imgLayer>
                  </a14:imgProps>
                </a:ext>
              </a:extLst>
            </a:blip>
            <a:stretch>
              <a:fillRect/>
            </a:stretch>
          </p:blipFill>
          <p:spPr>
            <a:xfrm>
              <a:off x="359106" y="4239491"/>
              <a:ext cx="10998510" cy="3880717"/>
            </a:xfrm>
            <a:prstGeom prst="rect">
              <a:avLst/>
            </a:prstGeom>
          </p:spPr>
        </p:pic>
        <p:cxnSp>
          <p:nvCxnSpPr>
            <p:cNvPr id="9" name="Straight Arrow Connector 8"/>
            <p:cNvCxnSpPr/>
            <p:nvPr/>
          </p:nvCxnSpPr>
          <p:spPr>
            <a:xfrm>
              <a:off x="548640" y="6470072"/>
              <a:ext cx="897775"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446415" y="6470072"/>
              <a:ext cx="897775"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65018" y="6417427"/>
              <a:ext cx="615142" cy="369332"/>
            </a:xfrm>
            <a:prstGeom prst="rect">
              <a:avLst/>
            </a:prstGeom>
            <a:noFill/>
          </p:spPr>
          <p:txBody>
            <a:bodyPr wrap="square" lIns="0" tIns="0" rIns="0" bIns="0" rtlCol="0">
              <a:spAutoFit/>
            </a:bodyPr>
            <a:lstStyle/>
            <a:p>
              <a:pPr algn="ctr"/>
              <a:r>
                <a:rPr lang="en-US" sz="2400" i="1" dirty="0">
                  <a:solidFill>
                    <a:srgbClr val="FF0000"/>
                  </a:solidFill>
                </a:rPr>
                <a:t>T</a:t>
              </a:r>
              <a:r>
                <a:rPr lang="en-US" sz="2400" i="1" baseline="-25000" dirty="0">
                  <a:solidFill>
                    <a:srgbClr val="FF0000"/>
                  </a:solidFill>
                </a:rPr>
                <a:t>ON</a:t>
              </a:r>
            </a:p>
          </p:txBody>
        </p:sp>
        <p:sp>
          <p:nvSpPr>
            <p:cNvPr id="12" name="TextBox 11"/>
            <p:cNvSpPr txBox="1"/>
            <p:nvPr/>
          </p:nvSpPr>
          <p:spPr>
            <a:xfrm>
              <a:off x="1586072" y="6419118"/>
              <a:ext cx="615142" cy="369332"/>
            </a:xfrm>
            <a:prstGeom prst="rect">
              <a:avLst/>
            </a:prstGeom>
            <a:noFill/>
          </p:spPr>
          <p:txBody>
            <a:bodyPr wrap="square" lIns="0" tIns="0" rIns="0" bIns="0" rtlCol="0">
              <a:spAutoFit/>
            </a:bodyPr>
            <a:lstStyle/>
            <a:p>
              <a:pPr algn="ctr"/>
              <a:r>
                <a:rPr lang="en-US" sz="2400" i="1" dirty="0">
                  <a:solidFill>
                    <a:srgbClr val="FF0000"/>
                  </a:solidFill>
                </a:rPr>
                <a:t>T</a:t>
              </a:r>
              <a:r>
                <a:rPr lang="en-US" sz="2400" i="1" baseline="-25000" dirty="0">
                  <a:solidFill>
                    <a:srgbClr val="FF0000"/>
                  </a:solidFill>
                </a:rPr>
                <a:t>OFF</a:t>
              </a:r>
            </a:p>
          </p:txBody>
        </p:sp>
      </p:grpSp>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870365" y="135381"/>
            <a:ext cx="7538719" cy="912024"/>
          </a:xfrm>
        </p:spPr>
        <p:txBody>
          <a:bodyPr>
            <a:normAutofit/>
          </a:bodyPr>
          <a:lstStyle/>
          <a:p>
            <a:r>
              <a:rPr lang="en-US" sz="5400" b="1" dirty="0">
                <a:solidFill>
                  <a:srgbClr val="0070C0"/>
                </a:solidFill>
              </a:rPr>
              <a:t>PWM</a:t>
            </a: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16131" y="794222"/>
            <a:ext cx="16076814" cy="3657778"/>
          </a:xfrm>
        </p:spPr>
        <p:txBody>
          <a:bodyPr>
            <a:normAutofit/>
          </a:bodyPr>
          <a:lstStyle/>
          <a:p>
            <a:pPr marL="0" indent="0">
              <a:buNone/>
            </a:pPr>
            <a:r>
              <a:rPr lang="en-CA" sz="3600" b="1" dirty="0">
                <a:solidFill>
                  <a:srgbClr val="0070C0"/>
                </a:solidFill>
              </a:rPr>
              <a:t>Pulse Width Modulation, or PWM</a:t>
            </a:r>
            <a:r>
              <a:rPr lang="en-CA" sz="3600" dirty="0"/>
              <a:t>, is a technique for </a:t>
            </a:r>
            <a:r>
              <a:rPr lang="en-CA" sz="3600" b="1" dirty="0">
                <a:solidFill>
                  <a:srgbClr val="0070C0"/>
                </a:solidFill>
              </a:rPr>
              <a:t>getting analog results with digital means</a:t>
            </a:r>
            <a:r>
              <a:rPr lang="en-CA" sz="3600" dirty="0"/>
              <a:t>. Digital control is used to create a </a:t>
            </a:r>
            <a:r>
              <a:rPr lang="en-CA" sz="3600" b="1" dirty="0">
                <a:solidFill>
                  <a:srgbClr val="0070C0"/>
                </a:solidFill>
              </a:rPr>
              <a:t>square wave</a:t>
            </a:r>
            <a:r>
              <a:rPr lang="en-CA" sz="3600" dirty="0"/>
              <a:t>, a signal switched between on and off. This on-off pattern can simulate voltages in between the full </a:t>
            </a:r>
            <a:r>
              <a:rPr lang="en-CA" sz="3600" i="1" dirty="0"/>
              <a:t>V</a:t>
            </a:r>
            <a:r>
              <a:rPr lang="en-CA" sz="3600" i="1" baseline="-25000" dirty="0"/>
              <a:t>CC</a:t>
            </a:r>
            <a:r>
              <a:rPr lang="en-CA" sz="3600" dirty="0"/>
              <a:t> of the board (e.g., 5 V on UNO) and off (0 Volts). The duration of "</a:t>
            </a:r>
            <a:r>
              <a:rPr lang="en-CA" sz="3600" b="1" dirty="0">
                <a:solidFill>
                  <a:srgbClr val="FF0000"/>
                </a:solidFill>
              </a:rPr>
              <a:t>on time</a:t>
            </a:r>
            <a:r>
              <a:rPr lang="en-CA" sz="3600" dirty="0"/>
              <a:t>" is called the </a:t>
            </a:r>
            <a:r>
              <a:rPr lang="en-CA" sz="3600" b="1" dirty="0">
                <a:solidFill>
                  <a:srgbClr val="FF0000"/>
                </a:solidFill>
              </a:rPr>
              <a:t>pulse width</a:t>
            </a:r>
            <a:r>
              <a:rPr lang="en-CA" sz="3600" dirty="0"/>
              <a:t>. To get varying analog values, the pulse width can be varied. If this on-off pattern is repeated fast enough with an LED, for example, the result is as if the signal is a steady voltage between 0 and </a:t>
            </a:r>
            <a:r>
              <a:rPr lang="en-CA" sz="3600" i="1" dirty="0"/>
              <a:t>V</a:t>
            </a:r>
            <a:r>
              <a:rPr lang="en-CA" sz="3600" i="1" baseline="-25000" dirty="0"/>
              <a:t>CC</a:t>
            </a:r>
            <a:r>
              <a:rPr lang="en-CA" sz="3600" dirty="0"/>
              <a:t> controlling the brightness of the LED.</a:t>
            </a:r>
            <a:endParaRPr lang="en-US" sz="3600" dirty="0"/>
          </a:p>
        </p:txBody>
      </p:sp>
      <p:sp>
        <p:nvSpPr>
          <p:cNvPr id="5" name="Date Placeholder 4"/>
          <p:cNvSpPr>
            <a:spLocks noGrp="1"/>
          </p:cNvSpPr>
          <p:nvPr>
            <p:ph type="dt" sz="half" idx="10"/>
          </p:nvPr>
        </p:nvSpPr>
        <p:spPr/>
        <p:txBody>
          <a:bodyPr/>
          <a:lstStyle/>
          <a:p>
            <a:fld id="{C84CD2B0-F30F-4AAB-B743-7808FC739967}"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a:t>
            </a:fld>
            <a:endParaRPr lang="en-US" dirty="0"/>
          </a:p>
        </p:txBody>
      </p:sp>
      <mc:AlternateContent xmlns:mc="http://schemas.openxmlformats.org/markup-compatibility/2006" xmlns:a14="http://schemas.microsoft.com/office/drawing/2010/main">
        <mc:Choice Requires="a14">
          <p:sp>
            <p:nvSpPr>
              <p:cNvPr id="14" name="TextBox 13"/>
              <p:cNvSpPr txBox="1"/>
              <p:nvPr/>
            </p:nvSpPr>
            <p:spPr>
              <a:xfrm>
                <a:off x="11663528" y="4359519"/>
                <a:ext cx="4592497" cy="3820020"/>
              </a:xfrm>
              <a:prstGeom prst="rect">
                <a:avLst/>
              </a:prstGeom>
              <a:noFill/>
            </p:spPr>
            <p:txBody>
              <a:bodyPr wrap="square" lIns="0" tIns="0" rIns="0" bIns="0" rtlCol="0">
                <a:spAutoFit/>
              </a:bodyPr>
              <a:lstStyle/>
              <a:p>
                <a:r>
                  <a:rPr lang="en-US" sz="2800" dirty="0">
                    <a:solidFill>
                      <a:srgbClr val="FF0000"/>
                    </a:solidFill>
                  </a:rPr>
                  <a:t>The duty cycle is defined as the ratio of ON pulse duration to the time period. </a:t>
                </a:r>
              </a:p>
              <a:p>
                <a:pPr/>
                <a14:m>
                  <m:oMathPara xmlns:m="http://schemas.openxmlformats.org/officeDocument/2006/math">
                    <m:oMathParaPr>
                      <m:jc m:val="centerGroup"/>
                    </m:oMathParaPr>
                    <m:oMath xmlns:m="http://schemas.openxmlformats.org/officeDocument/2006/math">
                      <m:r>
                        <a:rPr lang="en-US" sz="2800" b="1" i="1" smtClean="0">
                          <a:solidFill>
                            <a:srgbClr val="FF0000"/>
                          </a:solidFill>
                          <a:latin typeface="Cambria Math" panose="02040503050406030204" pitchFamily="18" charset="0"/>
                        </a:rPr>
                        <m:t>𝑫</m:t>
                      </m:r>
                      <m:r>
                        <a:rPr lang="en-US" sz="2800" b="1" i="1" smtClean="0">
                          <a:solidFill>
                            <a:srgbClr val="FF0000"/>
                          </a:solidFill>
                          <a:latin typeface="Cambria Math" panose="02040503050406030204" pitchFamily="18" charset="0"/>
                        </a:rPr>
                        <m:t>=</m:t>
                      </m:r>
                      <m:f>
                        <m:fPr>
                          <m:ctrlPr>
                            <a:rPr lang="en-US" sz="2800" b="1" i="1" smtClean="0">
                              <a:solidFill>
                                <a:srgbClr val="FF0000"/>
                              </a:solidFill>
                              <a:latin typeface="Cambria Math" panose="02040503050406030204" pitchFamily="18" charset="0"/>
                            </a:rPr>
                          </m:ctrlPr>
                        </m:fPr>
                        <m:num>
                          <m:sSub>
                            <m:sSubPr>
                              <m:ctrlPr>
                                <a:rPr lang="en-US" sz="2800" b="1" i="1" smtClean="0">
                                  <a:solidFill>
                                    <a:srgbClr val="FF0000"/>
                                  </a:solidFill>
                                  <a:latin typeface="Cambria Math" panose="02040503050406030204" pitchFamily="18" charset="0"/>
                                </a:rPr>
                              </m:ctrlPr>
                            </m:sSubPr>
                            <m:e>
                              <m:r>
                                <a:rPr lang="en-US" sz="2800" b="1" i="1" smtClean="0">
                                  <a:solidFill>
                                    <a:srgbClr val="FF0000"/>
                                  </a:solidFill>
                                  <a:latin typeface="Cambria Math" panose="02040503050406030204" pitchFamily="18" charset="0"/>
                                </a:rPr>
                                <m:t>𝑻</m:t>
                              </m:r>
                            </m:e>
                            <m:sub>
                              <m:r>
                                <a:rPr lang="en-US" sz="2800" b="1" i="1" smtClean="0">
                                  <a:solidFill>
                                    <a:srgbClr val="FF0000"/>
                                  </a:solidFill>
                                  <a:latin typeface="Cambria Math" panose="02040503050406030204" pitchFamily="18" charset="0"/>
                                </a:rPr>
                                <m:t>𝑶𝑵</m:t>
                              </m:r>
                            </m:sub>
                          </m:sSub>
                        </m:num>
                        <m:den>
                          <m:r>
                            <a:rPr lang="en-US" sz="2800" b="1" i="1" smtClean="0">
                              <a:solidFill>
                                <a:srgbClr val="FF0000"/>
                              </a:solidFill>
                              <a:latin typeface="Cambria Math" panose="02040503050406030204" pitchFamily="18" charset="0"/>
                            </a:rPr>
                            <m:t>𝑻</m:t>
                          </m:r>
                        </m:den>
                      </m:f>
                      <m:r>
                        <a:rPr lang="en-US" sz="2800" b="1" i="1" smtClean="0">
                          <a:solidFill>
                            <a:srgbClr val="FF0000"/>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𝟏𝟎𝟎</m:t>
                      </m:r>
                      <m:r>
                        <a:rPr lang="en-US" sz="2800" b="1" i="1" smtClean="0">
                          <a:solidFill>
                            <a:srgbClr val="FF0000"/>
                          </a:solidFill>
                          <a:latin typeface="Cambria Math" panose="02040503050406030204" pitchFamily="18" charset="0"/>
                          <a:ea typeface="Cambria Math" panose="02040503050406030204" pitchFamily="18" charset="0"/>
                        </a:rPr>
                        <m:t>%</m:t>
                      </m:r>
                    </m:oMath>
                  </m:oMathPara>
                </a14:m>
                <a:endParaRPr lang="en-US" sz="2000" b="1" dirty="0">
                  <a:solidFill>
                    <a:srgbClr val="FF0000"/>
                  </a:solidFill>
                </a:endParaRPr>
              </a:p>
              <a:p>
                <a:r>
                  <a:rPr lang="en-US" sz="2800" dirty="0">
                    <a:solidFill>
                      <a:srgbClr val="FF0000"/>
                    </a:solidFill>
                  </a:rPr>
                  <a:t>Here, </a:t>
                </a:r>
                <a:r>
                  <a:rPr lang="en-US" sz="2800" i="1" dirty="0">
                    <a:solidFill>
                      <a:srgbClr val="FF0000"/>
                    </a:solidFill>
                  </a:rPr>
                  <a:t>T</a:t>
                </a:r>
                <a:r>
                  <a:rPr lang="en-US" sz="2800" i="1" baseline="-25000" dirty="0">
                    <a:solidFill>
                      <a:srgbClr val="FF0000"/>
                    </a:solidFill>
                  </a:rPr>
                  <a:t>ON</a:t>
                </a:r>
                <a:r>
                  <a:rPr lang="en-US" sz="2800" dirty="0">
                    <a:solidFill>
                      <a:srgbClr val="FF0000"/>
                    </a:solidFill>
                  </a:rPr>
                  <a:t> = ON pulse duration</a:t>
                </a:r>
              </a:p>
              <a:p>
                <a:r>
                  <a:rPr lang="en-US" sz="2800" i="1" dirty="0">
                    <a:solidFill>
                      <a:srgbClr val="FF0000"/>
                    </a:solidFill>
                  </a:rPr>
                  <a:t>T</a:t>
                </a:r>
                <a:r>
                  <a:rPr lang="en-US" sz="2800" dirty="0">
                    <a:solidFill>
                      <a:srgbClr val="FF0000"/>
                    </a:solidFill>
                  </a:rPr>
                  <a:t> = Time period = </a:t>
                </a:r>
                <a:r>
                  <a:rPr lang="en-US" sz="2800" i="1" dirty="0">
                    <a:solidFill>
                      <a:srgbClr val="FF0000"/>
                    </a:solidFill>
                  </a:rPr>
                  <a:t>T</a:t>
                </a:r>
                <a:r>
                  <a:rPr lang="en-US" sz="2800" i="1" baseline="-25000" dirty="0">
                    <a:solidFill>
                      <a:srgbClr val="FF0000"/>
                    </a:solidFill>
                  </a:rPr>
                  <a:t>ON</a:t>
                </a:r>
                <a:r>
                  <a:rPr lang="en-US" sz="2800" dirty="0">
                    <a:solidFill>
                      <a:srgbClr val="FF0000"/>
                    </a:solidFill>
                  </a:rPr>
                  <a:t> + </a:t>
                </a:r>
                <a:r>
                  <a:rPr lang="en-US" sz="2800" i="1" dirty="0">
                    <a:solidFill>
                      <a:srgbClr val="FF0000"/>
                    </a:solidFill>
                  </a:rPr>
                  <a:t>T</a:t>
                </a:r>
                <a:r>
                  <a:rPr lang="en-US" sz="2800" i="1" baseline="-25000" dirty="0">
                    <a:solidFill>
                      <a:srgbClr val="FF0000"/>
                    </a:solidFill>
                  </a:rPr>
                  <a:t>OFF</a:t>
                </a:r>
                <a:r>
                  <a:rPr lang="en-US" sz="2800" i="1" dirty="0">
                    <a:solidFill>
                      <a:srgbClr val="FF0000"/>
                    </a:solidFill>
                  </a:rPr>
                  <a:t> </a:t>
                </a:r>
                <a:r>
                  <a:rPr lang="en-US" sz="2800" dirty="0">
                    <a:solidFill>
                      <a:srgbClr val="FF0000"/>
                    </a:solidFill>
                  </a:rPr>
                  <a:t>,where </a:t>
                </a:r>
                <a:r>
                  <a:rPr lang="en-US" sz="2800" i="1" dirty="0">
                    <a:solidFill>
                      <a:srgbClr val="FF0000"/>
                    </a:solidFill>
                  </a:rPr>
                  <a:t>T</a:t>
                </a:r>
                <a:r>
                  <a:rPr lang="en-US" sz="2800" i="1" baseline="-25000" dirty="0">
                    <a:solidFill>
                      <a:srgbClr val="FF0000"/>
                    </a:solidFill>
                  </a:rPr>
                  <a:t>OFF</a:t>
                </a:r>
                <a:r>
                  <a:rPr lang="en-US" sz="2800" dirty="0">
                    <a:solidFill>
                      <a:srgbClr val="FF0000"/>
                    </a:solidFill>
                  </a:rPr>
                  <a:t> = OFF pulse duration</a:t>
                </a:r>
              </a:p>
            </p:txBody>
          </p:sp>
        </mc:Choice>
        <mc:Fallback xmlns="">
          <p:sp>
            <p:nvSpPr>
              <p:cNvPr id="14" name="TextBox 13"/>
              <p:cNvSpPr txBox="1">
                <a:spLocks noRot="1" noChangeAspect="1" noMove="1" noResize="1" noEditPoints="1" noAdjustHandles="1" noChangeArrowheads="1" noChangeShapeType="1" noTextEdit="1"/>
              </p:cNvSpPr>
              <p:nvPr/>
            </p:nvSpPr>
            <p:spPr>
              <a:xfrm>
                <a:off x="11663528" y="4359519"/>
                <a:ext cx="4592497" cy="3820020"/>
              </a:xfrm>
              <a:prstGeom prst="rect">
                <a:avLst/>
              </a:prstGeom>
              <a:blipFill>
                <a:blip r:embed="rId4"/>
                <a:stretch>
                  <a:fillRect l="-4642" t="-2711" r="-4509" b="-4785"/>
                </a:stretch>
              </a:blipFill>
            </p:spPr>
            <p:txBody>
              <a:bodyPr/>
              <a:lstStyle/>
              <a:p>
                <a:r>
                  <a:rPr lang="en-US">
                    <a:noFill/>
                  </a:rPr>
                  <a:t> </a:t>
                </a:r>
              </a:p>
            </p:txBody>
          </p:sp>
        </mc:Fallback>
      </mc:AlternateContent>
    </p:spTree>
    <p:extLst>
      <p:ext uri="{BB962C8B-B14F-4D97-AF65-F5344CB8AC3E}">
        <p14:creationId xmlns:p14="http://schemas.microsoft.com/office/powerpoint/2010/main" val="448916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rduino et Timer [Wiki]">
            <a:extLst>
              <a:ext uri="{FF2B5EF4-FFF2-40B4-BE49-F238E27FC236}">
                <a16:creationId xmlns:a16="http://schemas.microsoft.com/office/drawing/2014/main" id="{56AAAEB1-2031-42FE-EF00-FEFBCD7A53A0}"/>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200000"/>
                    </a14:imgEffect>
                    <a14:imgEffect>
                      <a14:brightnessContrast contrast="-20000"/>
                    </a14:imgEffect>
                  </a14:imgLayer>
                </a14:imgProps>
              </a:ext>
              <a:ext uri="{28A0092B-C50C-407E-A947-70E740481C1C}">
                <a14:useLocalDpi xmlns:a14="http://schemas.microsoft.com/office/drawing/2010/main" val="0"/>
              </a:ext>
            </a:extLst>
          </a:blip>
          <a:srcRect l="1602" t="2864" b="2508"/>
          <a:stretch/>
        </p:blipFill>
        <p:spPr bwMode="auto">
          <a:xfrm>
            <a:off x="8792323" y="586854"/>
            <a:ext cx="7538719" cy="72247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37361" y="418013"/>
            <a:ext cx="7538719" cy="1065929"/>
          </a:xfrm>
        </p:spPr>
        <p:txBody>
          <a:bodyPr>
            <a:normAutofit/>
          </a:bodyPr>
          <a:lstStyle/>
          <a:p>
            <a:r>
              <a:rPr lang="en-US" b="1" u="sng" dirty="0">
                <a:solidFill>
                  <a:schemeClr val="bg1"/>
                </a:solidFill>
              </a:rPr>
              <a:t>PWM</a:t>
            </a: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32755" y="893970"/>
            <a:ext cx="8559568" cy="6960880"/>
          </a:xfrm>
        </p:spPr>
        <p:txBody>
          <a:bodyPr>
            <a:noAutofit/>
          </a:bodyPr>
          <a:lstStyle/>
          <a:p>
            <a:pPr marL="0" indent="0">
              <a:buNone/>
            </a:pPr>
            <a:r>
              <a:rPr lang="en-CA" sz="3600" dirty="0"/>
              <a:t>The Arduino’s programming language makes PWM easy to use; simply call the built-in function </a:t>
            </a:r>
            <a:r>
              <a:rPr lang="en-CA" sz="3600" b="1" dirty="0" err="1">
                <a:solidFill>
                  <a:srgbClr val="FF0000"/>
                </a:solidFill>
              </a:rPr>
              <a:t>analogWrite</a:t>
            </a:r>
            <a:r>
              <a:rPr lang="en-CA" sz="3600" b="1" dirty="0">
                <a:solidFill>
                  <a:srgbClr val="FF0000"/>
                </a:solidFill>
              </a:rPr>
              <a:t>(pin, </a:t>
            </a:r>
            <a:r>
              <a:rPr lang="en-CA" sz="3600" b="1" dirty="0" err="1">
                <a:solidFill>
                  <a:srgbClr val="FF0000"/>
                </a:solidFill>
              </a:rPr>
              <a:t>dutyCycle</a:t>
            </a:r>
            <a:r>
              <a:rPr lang="en-CA" sz="3600" b="1" dirty="0">
                <a:solidFill>
                  <a:srgbClr val="FF0000"/>
                </a:solidFill>
              </a:rPr>
              <a:t>)</a:t>
            </a:r>
            <a:r>
              <a:rPr lang="en-CA" sz="3600" dirty="0"/>
              <a:t>,</a:t>
            </a:r>
            <a:r>
              <a:rPr lang="en-CA" sz="3600" b="1" dirty="0"/>
              <a:t> </a:t>
            </a:r>
            <a:r>
              <a:rPr lang="en-CA" sz="3600" dirty="0"/>
              <a:t>where </a:t>
            </a:r>
            <a:r>
              <a:rPr lang="en-CA" sz="3600" b="1" dirty="0" err="1"/>
              <a:t>dutyCycle</a:t>
            </a:r>
            <a:r>
              <a:rPr lang="en-CA" sz="3600" b="1" dirty="0"/>
              <a:t> </a:t>
            </a:r>
            <a:r>
              <a:rPr lang="en-CA" sz="3600" dirty="0"/>
              <a:t>is a value</a:t>
            </a:r>
            <a:r>
              <a:rPr lang="en-CA" sz="3600" b="1" dirty="0"/>
              <a:t> </a:t>
            </a:r>
            <a:r>
              <a:rPr lang="en-CA" sz="3600" b="1" dirty="0">
                <a:solidFill>
                  <a:srgbClr val="FF0000"/>
                </a:solidFill>
              </a:rPr>
              <a:t>from 0 to 255</a:t>
            </a:r>
            <a:r>
              <a:rPr lang="en-CA" sz="3600" dirty="0"/>
              <a:t>, and </a:t>
            </a:r>
            <a:r>
              <a:rPr lang="en-CA" sz="3600" b="1" dirty="0"/>
              <a:t>pin</a:t>
            </a:r>
            <a:r>
              <a:rPr lang="en-CA" sz="3600" dirty="0"/>
              <a:t> is one of the </a:t>
            </a:r>
            <a:r>
              <a:rPr lang="en-CA" sz="3600" b="1" dirty="0"/>
              <a:t>PWM pins (</a:t>
            </a:r>
            <a:r>
              <a:rPr lang="en-CA" sz="3600" b="1" dirty="0">
                <a:solidFill>
                  <a:srgbClr val="FF0000"/>
                </a:solidFill>
              </a:rPr>
              <a:t>3, 5, 6, 9, 10, or 11</a:t>
            </a:r>
            <a:r>
              <a:rPr lang="en-CA" sz="3600" b="1" dirty="0"/>
              <a:t>).</a:t>
            </a:r>
          </a:p>
          <a:p>
            <a:pPr marL="0" indent="0">
              <a:buNone/>
            </a:pPr>
            <a:r>
              <a:rPr lang="en-CA" sz="3600" dirty="0"/>
              <a:t>The </a:t>
            </a:r>
            <a:r>
              <a:rPr lang="en-CA" sz="3600" b="1" dirty="0" err="1"/>
              <a:t>analogWrite</a:t>
            </a:r>
            <a:r>
              <a:rPr lang="en-CA" sz="3600" b="1" dirty="0"/>
              <a:t>() </a:t>
            </a:r>
            <a:r>
              <a:rPr lang="en-CA" sz="3600" dirty="0"/>
              <a:t>function provides a simple interface to the hardware PWM but doesn’t provide any control over frequency. </a:t>
            </a:r>
            <a:endParaRPr lang="en-CA" sz="3600" b="1" dirty="0"/>
          </a:p>
          <a:p>
            <a:pPr marL="0" indent="0">
              <a:buNone/>
            </a:pPr>
            <a:r>
              <a:rPr lang="en-CA" sz="3600" b="1" dirty="0">
                <a:solidFill>
                  <a:srgbClr val="FF0000"/>
                </a:solidFill>
              </a:rPr>
              <a:t>Note the tilde ~ sign </a:t>
            </a:r>
            <a:r>
              <a:rPr lang="en-CA" sz="3600" dirty="0"/>
              <a:t>with the pin numbers of the image with the PWM pins.</a:t>
            </a:r>
          </a:p>
          <a:p>
            <a:pPr marL="0" indent="0">
              <a:buNone/>
            </a:pPr>
            <a:r>
              <a:rPr lang="en-CA" sz="3600" dirty="0"/>
              <a:t>The mappings of the PWM pins with the timers are </a:t>
            </a:r>
            <a:r>
              <a:rPr lang="en-CA" sz="3600" b="1" dirty="0">
                <a:solidFill>
                  <a:srgbClr val="FF0000"/>
                </a:solidFill>
              </a:rPr>
              <a:t>3&gt;&gt;OC2B, 5&gt;&gt;OC0B, 6&gt;&gt;OC0A, 9&gt;&gt;OC1A, 10&gt;&gt;OC1B, and 11&gt;&gt;OC2A</a:t>
            </a:r>
            <a:r>
              <a:rPr lang="en-CA" sz="3600" b="1" dirty="0"/>
              <a:t>).</a:t>
            </a:r>
            <a:endParaRPr lang="en-CA" sz="3600" dirty="0"/>
          </a:p>
        </p:txBody>
      </p:sp>
      <p:sp>
        <p:nvSpPr>
          <p:cNvPr id="5" name="Date Placeholder 4"/>
          <p:cNvSpPr>
            <a:spLocks noGrp="1"/>
          </p:cNvSpPr>
          <p:nvPr>
            <p:ph type="dt" sz="half" idx="10"/>
          </p:nvPr>
        </p:nvSpPr>
        <p:spPr/>
        <p:txBody>
          <a:bodyPr/>
          <a:lstStyle/>
          <a:p>
            <a:fld id="{2E8C2DAC-8D2E-4895-91CC-772841FF2F53}"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3</a:t>
            </a:fld>
            <a:endParaRPr lang="en-US" dirty="0"/>
          </a:p>
        </p:txBody>
      </p:sp>
      <p:sp>
        <p:nvSpPr>
          <p:cNvPr id="8" name="Title 1">
            <a:extLst>
              <a:ext uri="{FF2B5EF4-FFF2-40B4-BE49-F238E27FC236}">
                <a16:creationId xmlns:a16="http://schemas.microsoft.com/office/drawing/2014/main" id="{0659A64C-EA0D-4DC2-A8C5-C88EFBF64979}"/>
              </a:ext>
            </a:extLst>
          </p:cNvPr>
          <p:cNvSpPr txBox="1">
            <a:spLocks/>
          </p:cNvSpPr>
          <p:nvPr/>
        </p:nvSpPr>
        <p:spPr>
          <a:xfrm>
            <a:off x="1870365" y="135381"/>
            <a:ext cx="7538719" cy="912024"/>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5400" b="1">
                <a:solidFill>
                  <a:srgbClr val="0070C0"/>
                </a:solidFill>
              </a:rPr>
              <a:t>PWM</a:t>
            </a:r>
            <a:endParaRPr lang="en-US" sz="5400" b="1" dirty="0">
              <a:solidFill>
                <a:srgbClr val="0070C0"/>
              </a:solidFill>
            </a:endParaRPr>
          </a:p>
        </p:txBody>
      </p:sp>
      <p:cxnSp>
        <p:nvCxnSpPr>
          <p:cNvPr id="16" name="Straight Arrow Connector 15"/>
          <p:cNvCxnSpPr>
            <a:cxnSpLocks/>
          </p:cNvCxnSpPr>
          <p:nvPr/>
        </p:nvCxnSpPr>
        <p:spPr>
          <a:xfrm flipV="1">
            <a:off x="6464300" y="5016500"/>
            <a:ext cx="5816600" cy="9271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1988800" y="4373981"/>
            <a:ext cx="773269" cy="2369880"/>
          </a:xfrm>
          <a:prstGeom prst="rect">
            <a:avLst/>
          </a:prstGeom>
          <a:noFill/>
          <a:ln w="57150">
            <a:solidFill>
              <a:srgbClr val="FF0000"/>
            </a:solidFill>
            <a:prstDash val="sysDash"/>
          </a:ln>
        </p:spPr>
        <p:txBody>
          <a:bodyPr wrap="square" rtlCol="0">
            <a:spAutoFit/>
          </a:bodyPr>
          <a:lstStyle/>
          <a:p>
            <a:endParaRPr lang="en-US" sz="14800" dirty="0"/>
          </a:p>
        </p:txBody>
      </p:sp>
    </p:spTree>
    <p:extLst>
      <p:ext uri="{BB962C8B-B14F-4D97-AF65-F5344CB8AC3E}">
        <p14:creationId xmlns:p14="http://schemas.microsoft.com/office/powerpoint/2010/main" val="399766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heel(1)">
                                      <p:cBhvr>
                                        <p:cTn id="17" dur="20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34590-694E-0FF5-8D28-58CB6500A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9A15B-0651-F284-527A-7A9653160B9A}"/>
              </a:ext>
            </a:extLst>
          </p:cNvPr>
          <p:cNvSpPr>
            <a:spLocks noGrp="1"/>
          </p:cNvSpPr>
          <p:nvPr>
            <p:ph type="title"/>
          </p:nvPr>
        </p:nvSpPr>
        <p:spPr>
          <a:xfrm>
            <a:off x="1737361" y="418013"/>
            <a:ext cx="7538719" cy="1065929"/>
          </a:xfrm>
        </p:spPr>
        <p:txBody>
          <a:bodyPr>
            <a:normAutofit/>
          </a:bodyPr>
          <a:lstStyle/>
          <a:p>
            <a:r>
              <a:rPr lang="en-US" b="1" u="sng" dirty="0">
                <a:solidFill>
                  <a:schemeClr val="bg1"/>
                </a:solidFill>
              </a:rPr>
              <a:t>PWM</a:t>
            </a:r>
          </a:p>
        </p:txBody>
      </p:sp>
      <p:sp>
        <p:nvSpPr>
          <p:cNvPr id="3" name="Content Placeholder 2">
            <a:extLst>
              <a:ext uri="{FF2B5EF4-FFF2-40B4-BE49-F238E27FC236}">
                <a16:creationId xmlns:a16="http://schemas.microsoft.com/office/drawing/2014/main" id="{67C0C1B3-6430-1295-AEDE-EDD17B6C8425}"/>
              </a:ext>
            </a:extLst>
          </p:cNvPr>
          <p:cNvSpPr>
            <a:spLocks noGrp="1"/>
          </p:cNvSpPr>
          <p:nvPr>
            <p:ph idx="1"/>
          </p:nvPr>
        </p:nvSpPr>
        <p:spPr>
          <a:xfrm>
            <a:off x="232754" y="893970"/>
            <a:ext cx="8606446" cy="6960880"/>
          </a:xfrm>
        </p:spPr>
        <p:txBody>
          <a:bodyPr>
            <a:noAutofit/>
          </a:bodyPr>
          <a:lstStyle/>
          <a:p>
            <a:pPr marL="0" indent="0">
              <a:buNone/>
            </a:pPr>
            <a:r>
              <a:rPr lang="en-US" sz="3600" dirty="0"/>
              <a:t>In the graphic below, </a:t>
            </a:r>
            <a:r>
              <a:rPr lang="en-US" sz="3600" dirty="0">
                <a:solidFill>
                  <a:srgbClr val="00B050"/>
                </a:solidFill>
              </a:rPr>
              <a:t>the green lines </a:t>
            </a:r>
            <a:r>
              <a:rPr lang="en-US" sz="3600" dirty="0"/>
              <a:t>represent a regular time period. This duration or period is the inverse of the PWM frequency. In other words, with Arduino's PWM frequency at about 500 Hz, the green lines would measure 2 </a:t>
            </a:r>
            <a:r>
              <a:rPr lang="en-US" sz="3600" dirty="0" err="1"/>
              <a:t>ms</a:t>
            </a:r>
            <a:r>
              <a:rPr lang="en-US" sz="3600" dirty="0"/>
              <a:t> in each interval.</a:t>
            </a:r>
          </a:p>
          <a:p>
            <a:pPr marL="0" indent="0">
              <a:buNone/>
            </a:pPr>
            <a:r>
              <a:rPr lang="en-US" sz="3600" dirty="0"/>
              <a:t>A call to </a:t>
            </a:r>
            <a:r>
              <a:rPr lang="en-US" sz="3600" dirty="0" err="1"/>
              <a:t>analogWrite</a:t>
            </a:r>
            <a:r>
              <a:rPr lang="en-US" sz="3600" dirty="0"/>
              <a:t>() is on a scale of 0-255 (</a:t>
            </a:r>
            <a:r>
              <a:rPr lang="en-US" sz="3600" i="1" dirty="0"/>
              <a:t>int</a:t>
            </a:r>
            <a:r>
              <a:rPr lang="en-US" sz="3600" dirty="0"/>
              <a:t> data type), such that </a:t>
            </a:r>
            <a:r>
              <a:rPr lang="en-US" sz="3600" b="1" dirty="0" err="1">
                <a:solidFill>
                  <a:srgbClr val="00B050"/>
                </a:solidFill>
              </a:rPr>
              <a:t>analogWrite</a:t>
            </a:r>
            <a:r>
              <a:rPr lang="en-US" sz="3600" b="1" dirty="0">
                <a:solidFill>
                  <a:srgbClr val="00B050"/>
                </a:solidFill>
              </a:rPr>
              <a:t>(255) </a:t>
            </a:r>
            <a:r>
              <a:rPr lang="en-US" sz="3600" dirty="0"/>
              <a:t>requests a </a:t>
            </a:r>
            <a:r>
              <a:rPr lang="en-US" sz="3600" b="1" dirty="0">
                <a:solidFill>
                  <a:srgbClr val="00B050"/>
                </a:solidFill>
              </a:rPr>
              <a:t>100% duty cycle </a:t>
            </a:r>
            <a:r>
              <a:rPr lang="en-US" sz="3600" dirty="0"/>
              <a:t>(</a:t>
            </a:r>
            <a:r>
              <a:rPr lang="en-US" sz="3600" b="1" dirty="0">
                <a:solidFill>
                  <a:srgbClr val="00B050"/>
                </a:solidFill>
              </a:rPr>
              <a:t>always ON</a:t>
            </a:r>
            <a:r>
              <a:rPr lang="en-US" sz="3600" dirty="0"/>
              <a:t>), whereas </a:t>
            </a:r>
            <a:r>
              <a:rPr lang="en-US" sz="3600" b="1" dirty="0" err="1">
                <a:solidFill>
                  <a:srgbClr val="FF0000"/>
                </a:solidFill>
              </a:rPr>
              <a:t>analogWrite</a:t>
            </a:r>
            <a:r>
              <a:rPr lang="en-US" sz="3600" b="1" dirty="0">
                <a:solidFill>
                  <a:srgbClr val="FF0000"/>
                </a:solidFill>
              </a:rPr>
              <a:t>(0)</a:t>
            </a:r>
            <a:r>
              <a:rPr lang="en-US" sz="3600" dirty="0"/>
              <a:t> requests a </a:t>
            </a:r>
            <a:r>
              <a:rPr lang="en-US" sz="3600" b="1" dirty="0">
                <a:solidFill>
                  <a:srgbClr val="FF0000"/>
                </a:solidFill>
              </a:rPr>
              <a:t>0% duty cycle</a:t>
            </a:r>
            <a:r>
              <a:rPr lang="en-US" sz="3600" b="1" dirty="0">
                <a:solidFill>
                  <a:srgbClr val="00B050"/>
                </a:solidFill>
              </a:rPr>
              <a:t> </a:t>
            </a:r>
            <a:r>
              <a:rPr lang="en-US" sz="3600" dirty="0"/>
              <a:t>(</a:t>
            </a:r>
            <a:r>
              <a:rPr lang="en-US" sz="3600" b="1" dirty="0">
                <a:solidFill>
                  <a:srgbClr val="FF0000"/>
                </a:solidFill>
              </a:rPr>
              <a:t>always OFF</a:t>
            </a:r>
            <a:r>
              <a:rPr lang="en-US" sz="3600" dirty="0"/>
              <a:t>), and </a:t>
            </a:r>
            <a:r>
              <a:rPr lang="en-US" sz="3600" b="1" dirty="0" err="1">
                <a:solidFill>
                  <a:srgbClr val="FFFF00"/>
                </a:solidFill>
                <a:highlight>
                  <a:srgbClr val="000080"/>
                </a:highlight>
              </a:rPr>
              <a:t>analogWrite</a:t>
            </a:r>
            <a:r>
              <a:rPr lang="en-US" sz="3600" b="1" dirty="0">
                <a:solidFill>
                  <a:srgbClr val="FFFF00"/>
                </a:solidFill>
                <a:highlight>
                  <a:srgbClr val="000080"/>
                </a:highlight>
              </a:rPr>
              <a:t>(127)</a:t>
            </a:r>
            <a:r>
              <a:rPr lang="en-US" sz="3600" dirty="0">
                <a:highlight>
                  <a:srgbClr val="000080"/>
                </a:highlight>
              </a:rPr>
              <a:t> is a </a:t>
            </a:r>
            <a:r>
              <a:rPr lang="en-US" sz="3600" b="1" dirty="0">
                <a:solidFill>
                  <a:srgbClr val="FFFF00"/>
                </a:solidFill>
                <a:highlight>
                  <a:srgbClr val="000080"/>
                </a:highlight>
              </a:rPr>
              <a:t>50% duty cycle</a:t>
            </a:r>
            <a:r>
              <a:rPr lang="en-US" sz="3600" dirty="0">
                <a:solidFill>
                  <a:srgbClr val="FFFF00"/>
                </a:solidFill>
                <a:highlight>
                  <a:srgbClr val="000080"/>
                </a:highlight>
              </a:rPr>
              <a:t> </a:t>
            </a:r>
            <a:r>
              <a:rPr lang="en-US" sz="3600" dirty="0">
                <a:highlight>
                  <a:srgbClr val="000080"/>
                </a:highlight>
              </a:rPr>
              <a:t>(</a:t>
            </a:r>
            <a:r>
              <a:rPr lang="en-US" sz="3600" b="1" dirty="0">
                <a:solidFill>
                  <a:srgbClr val="FFFF00"/>
                </a:solidFill>
                <a:highlight>
                  <a:srgbClr val="000080"/>
                </a:highlight>
              </a:rPr>
              <a:t>50% ON time of a time period</a:t>
            </a:r>
            <a:r>
              <a:rPr lang="en-US" sz="3600" dirty="0"/>
              <a:t>) for example.</a:t>
            </a:r>
            <a:endParaRPr lang="en-CA" sz="3600" dirty="0"/>
          </a:p>
        </p:txBody>
      </p:sp>
      <p:sp>
        <p:nvSpPr>
          <p:cNvPr id="5" name="Date Placeholder 4">
            <a:extLst>
              <a:ext uri="{FF2B5EF4-FFF2-40B4-BE49-F238E27FC236}">
                <a16:creationId xmlns:a16="http://schemas.microsoft.com/office/drawing/2014/main" id="{DDA1A623-322A-53DD-228B-108670E75310}"/>
              </a:ext>
            </a:extLst>
          </p:cNvPr>
          <p:cNvSpPr>
            <a:spLocks noGrp="1"/>
          </p:cNvSpPr>
          <p:nvPr>
            <p:ph type="dt" sz="half" idx="10"/>
          </p:nvPr>
        </p:nvSpPr>
        <p:spPr/>
        <p:txBody>
          <a:bodyPr/>
          <a:lstStyle/>
          <a:p>
            <a:fld id="{2E8C2DAC-8D2E-4895-91CC-772841FF2F53}" type="datetime3">
              <a:rPr lang="en-US" smtClean="0"/>
              <a:t>17 December 2025</a:t>
            </a:fld>
            <a:endParaRPr lang="en-US"/>
          </a:p>
        </p:txBody>
      </p:sp>
      <p:sp>
        <p:nvSpPr>
          <p:cNvPr id="7" name="Slide Number Placeholder 6">
            <a:extLst>
              <a:ext uri="{FF2B5EF4-FFF2-40B4-BE49-F238E27FC236}">
                <a16:creationId xmlns:a16="http://schemas.microsoft.com/office/drawing/2014/main" id="{89D5EC5E-93DC-F574-8FB0-67F4791C28A6}"/>
              </a:ext>
            </a:extLst>
          </p:cNvPr>
          <p:cNvSpPr>
            <a:spLocks noGrp="1"/>
          </p:cNvSpPr>
          <p:nvPr>
            <p:ph type="sldNum" sz="quarter" idx="12"/>
          </p:nvPr>
        </p:nvSpPr>
        <p:spPr/>
        <p:txBody>
          <a:bodyPr/>
          <a:lstStyle/>
          <a:p>
            <a:fld id="{48F63A3B-78C7-47BE-AE5E-E10140E04643}" type="slidenum">
              <a:rPr lang="en-US" smtClean="0"/>
              <a:pPr/>
              <a:t>4</a:t>
            </a:fld>
            <a:endParaRPr lang="en-US" dirty="0"/>
          </a:p>
        </p:txBody>
      </p:sp>
      <p:sp>
        <p:nvSpPr>
          <p:cNvPr id="8" name="Title 1">
            <a:extLst>
              <a:ext uri="{FF2B5EF4-FFF2-40B4-BE49-F238E27FC236}">
                <a16:creationId xmlns:a16="http://schemas.microsoft.com/office/drawing/2014/main" id="{208F2A38-D7E6-F6A2-33CF-CC0D1194035E}"/>
              </a:ext>
            </a:extLst>
          </p:cNvPr>
          <p:cNvSpPr txBox="1">
            <a:spLocks/>
          </p:cNvSpPr>
          <p:nvPr/>
        </p:nvSpPr>
        <p:spPr>
          <a:xfrm>
            <a:off x="1870365" y="135381"/>
            <a:ext cx="7538719" cy="912024"/>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5400" b="1">
                <a:solidFill>
                  <a:srgbClr val="0070C0"/>
                </a:solidFill>
              </a:rPr>
              <a:t>PWM</a:t>
            </a:r>
            <a:endParaRPr lang="en-US" sz="5400" b="1" dirty="0">
              <a:solidFill>
                <a:srgbClr val="0070C0"/>
              </a:solidFill>
            </a:endParaRPr>
          </a:p>
        </p:txBody>
      </p:sp>
      <p:pic>
        <p:nvPicPr>
          <p:cNvPr id="9" name="Picture 8">
            <a:extLst>
              <a:ext uri="{FF2B5EF4-FFF2-40B4-BE49-F238E27FC236}">
                <a16:creationId xmlns:a16="http://schemas.microsoft.com/office/drawing/2014/main" id="{9E25D370-0CA2-DD80-6444-07C50BD51CD6}"/>
              </a:ext>
            </a:extLst>
          </p:cNvPr>
          <p:cNvPicPr>
            <a:picLocks noChangeAspect="1"/>
          </p:cNvPicPr>
          <p:nvPr/>
        </p:nvPicPr>
        <p:blipFill>
          <a:blip r:embed="rId2"/>
          <a:stretch>
            <a:fillRect/>
          </a:stretch>
        </p:blipFill>
        <p:spPr>
          <a:xfrm>
            <a:off x="8839200" y="584200"/>
            <a:ext cx="7480300" cy="7322266"/>
          </a:xfrm>
          <a:prstGeom prst="rect">
            <a:avLst/>
          </a:prstGeom>
        </p:spPr>
      </p:pic>
    </p:spTree>
    <p:extLst>
      <p:ext uri="{BB962C8B-B14F-4D97-AF65-F5344CB8AC3E}">
        <p14:creationId xmlns:p14="http://schemas.microsoft.com/office/powerpoint/2010/main" val="1825319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45910-EB02-88FF-426C-5F1EB9BB4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38D85-60DE-D96A-4E6C-BBB9F88EE07F}"/>
              </a:ext>
            </a:extLst>
          </p:cNvPr>
          <p:cNvSpPr>
            <a:spLocks noGrp="1"/>
          </p:cNvSpPr>
          <p:nvPr>
            <p:ph type="title"/>
          </p:nvPr>
        </p:nvSpPr>
        <p:spPr>
          <a:xfrm>
            <a:off x="1737361" y="418013"/>
            <a:ext cx="7538719" cy="1065929"/>
          </a:xfrm>
        </p:spPr>
        <p:txBody>
          <a:bodyPr>
            <a:normAutofit/>
          </a:bodyPr>
          <a:lstStyle/>
          <a:p>
            <a:r>
              <a:rPr lang="en-US" b="1" u="sng" dirty="0">
                <a:solidFill>
                  <a:schemeClr val="bg1"/>
                </a:solidFill>
              </a:rPr>
              <a:t>PWM</a:t>
            </a:r>
          </a:p>
        </p:txBody>
      </p:sp>
      <p:sp>
        <p:nvSpPr>
          <p:cNvPr id="3" name="Content Placeholder 2">
            <a:extLst>
              <a:ext uri="{FF2B5EF4-FFF2-40B4-BE49-F238E27FC236}">
                <a16:creationId xmlns:a16="http://schemas.microsoft.com/office/drawing/2014/main" id="{8C7465FD-BC9F-38E7-10D1-3FAC9E659738}"/>
              </a:ext>
            </a:extLst>
          </p:cNvPr>
          <p:cNvSpPr>
            <a:spLocks noGrp="1"/>
          </p:cNvSpPr>
          <p:nvPr>
            <p:ph idx="1"/>
          </p:nvPr>
        </p:nvSpPr>
        <p:spPr>
          <a:xfrm>
            <a:off x="304800" y="893970"/>
            <a:ext cx="15925800" cy="6960880"/>
          </a:xfrm>
        </p:spPr>
        <p:txBody>
          <a:bodyPr>
            <a:noAutofit/>
          </a:bodyPr>
          <a:lstStyle/>
          <a:p>
            <a:pPr marL="0" indent="0">
              <a:lnSpc>
                <a:spcPct val="100000"/>
              </a:lnSpc>
              <a:spcBef>
                <a:spcPts val="600"/>
              </a:spcBef>
              <a:buNone/>
            </a:pPr>
            <a:r>
              <a:rPr lang="en-US" sz="3200" dirty="0"/>
              <a:t>int </a:t>
            </a:r>
            <a:r>
              <a:rPr lang="en-US" sz="3200" dirty="0" err="1"/>
              <a:t>ledPin</a:t>
            </a:r>
            <a:r>
              <a:rPr lang="en-US" sz="3200" dirty="0"/>
              <a:t> = 9;    // LED connected to digital pin 9 (8-bit data)</a:t>
            </a:r>
          </a:p>
          <a:p>
            <a:pPr marL="0" indent="0">
              <a:lnSpc>
                <a:spcPct val="100000"/>
              </a:lnSpc>
              <a:spcBef>
                <a:spcPts val="600"/>
              </a:spcBef>
              <a:buNone/>
            </a:pPr>
            <a:r>
              <a:rPr lang="en-US" sz="3200" dirty="0"/>
              <a:t>int </a:t>
            </a:r>
            <a:r>
              <a:rPr lang="en-US" sz="3200" dirty="0" err="1"/>
              <a:t>analogPin</a:t>
            </a:r>
            <a:r>
              <a:rPr lang="en-US" sz="3200" dirty="0"/>
              <a:t> = A3;   // potentiometer connected to analog pin 3 (A3) to read analog voltage</a:t>
            </a:r>
          </a:p>
          <a:p>
            <a:pPr marL="0" indent="0">
              <a:lnSpc>
                <a:spcPct val="100000"/>
              </a:lnSpc>
              <a:spcBef>
                <a:spcPts val="600"/>
              </a:spcBef>
              <a:buNone/>
            </a:pPr>
            <a:r>
              <a:rPr lang="en-US" sz="3200" dirty="0"/>
              <a:t>int </a:t>
            </a:r>
            <a:r>
              <a:rPr lang="en-US" sz="3200" dirty="0" err="1"/>
              <a:t>val</a:t>
            </a:r>
            <a:r>
              <a:rPr lang="en-US" sz="3200" dirty="0"/>
              <a:t> = 0;         // variable to store the read value in 10-bit digital data format (analog data is </a:t>
            </a:r>
          </a:p>
          <a:p>
            <a:pPr marL="0" indent="0">
              <a:lnSpc>
                <a:spcPct val="100000"/>
              </a:lnSpc>
              <a:spcBef>
                <a:spcPts val="600"/>
              </a:spcBef>
              <a:buNone/>
            </a:pPr>
            <a:r>
              <a:rPr lang="en-US" sz="3200" dirty="0"/>
              <a:t>		 // converted to digital data by the 10-bit ADC module of the microcontroller)</a:t>
            </a:r>
          </a:p>
          <a:p>
            <a:pPr marL="0" indent="0">
              <a:lnSpc>
                <a:spcPct val="100000"/>
              </a:lnSpc>
              <a:spcBef>
                <a:spcPts val="600"/>
              </a:spcBef>
              <a:buNone/>
            </a:pPr>
            <a:endParaRPr lang="en-US" sz="2000" dirty="0"/>
          </a:p>
          <a:p>
            <a:pPr marL="0" indent="0">
              <a:lnSpc>
                <a:spcPct val="100000"/>
              </a:lnSpc>
              <a:spcBef>
                <a:spcPts val="600"/>
              </a:spcBef>
              <a:buNone/>
            </a:pPr>
            <a:r>
              <a:rPr lang="en-US" sz="3200" dirty="0"/>
              <a:t>void setup() {</a:t>
            </a:r>
          </a:p>
          <a:p>
            <a:pPr marL="0" indent="0">
              <a:lnSpc>
                <a:spcPct val="100000"/>
              </a:lnSpc>
              <a:spcBef>
                <a:spcPts val="600"/>
              </a:spcBef>
              <a:buNone/>
            </a:pPr>
            <a:r>
              <a:rPr lang="en-US" sz="3200" dirty="0"/>
              <a:t>  </a:t>
            </a:r>
            <a:r>
              <a:rPr lang="en-US" sz="3200" dirty="0" err="1"/>
              <a:t>pinMode</a:t>
            </a:r>
            <a:r>
              <a:rPr lang="en-US" sz="3200" dirty="0"/>
              <a:t>(</a:t>
            </a:r>
            <a:r>
              <a:rPr lang="en-US" sz="3200" dirty="0" err="1"/>
              <a:t>ledPin</a:t>
            </a:r>
            <a:r>
              <a:rPr lang="en-US" sz="3200" dirty="0"/>
              <a:t>, OUTPUT);  // sets the pin as output</a:t>
            </a:r>
          </a:p>
          <a:p>
            <a:pPr marL="0" indent="0">
              <a:lnSpc>
                <a:spcPct val="100000"/>
              </a:lnSpc>
              <a:spcBef>
                <a:spcPts val="600"/>
              </a:spcBef>
              <a:buNone/>
            </a:pPr>
            <a:r>
              <a:rPr lang="en-US" sz="3200" dirty="0"/>
              <a:t>}</a:t>
            </a:r>
          </a:p>
          <a:p>
            <a:pPr marL="0" indent="0">
              <a:lnSpc>
                <a:spcPct val="100000"/>
              </a:lnSpc>
              <a:spcBef>
                <a:spcPts val="600"/>
              </a:spcBef>
              <a:buNone/>
            </a:pPr>
            <a:endParaRPr lang="en-US" sz="2400" dirty="0"/>
          </a:p>
          <a:p>
            <a:pPr marL="0" indent="0">
              <a:lnSpc>
                <a:spcPct val="100000"/>
              </a:lnSpc>
              <a:spcBef>
                <a:spcPts val="600"/>
              </a:spcBef>
              <a:buNone/>
            </a:pPr>
            <a:r>
              <a:rPr lang="en-US" sz="3200" dirty="0"/>
              <a:t>void loop() {</a:t>
            </a:r>
          </a:p>
          <a:p>
            <a:pPr marL="0" indent="0">
              <a:lnSpc>
                <a:spcPct val="100000"/>
              </a:lnSpc>
              <a:spcBef>
                <a:spcPts val="600"/>
              </a:spcBef>
              <a:buNone/>
            </a:pPr>
            <a:r>
              <a:rPr lang="en-US" sz="3200" dirty="0"/>
              <a:t>  </a:t>
            </a:r>
            <a:r>
              <a:rPr lang="en-US" sz="3200" dirty="0" err="1"/>
              <a:t>val</a:t>
            </a:r>
            <a:r>
              <a:rPr lang="en-US" sz="3200" dirty="0"/>
              <a:t> = </a:t>
            </a:r>
            <a:r>
              <a:rPr lang="en-US" sz="3200" dirty="0" err="1"/>
              <a:t>analogRead</a:t>
            </a:r>
            <a:r>
              <a:rPr lang="en-US" sz="3200" dirty="0"/>
              <a:t>(</a:t>
            </a:r>
            <a:r>
              <a:rPr lang="en-US" sz="3200" dirty="0" err="1"/>
              <a:t>analogPin</a:t>
            </a:r>
            <a:r>
              <a:rPr lang="en-US" sz="3200" dirty="0"/>
              <a:t>);  // read the input pin</a:t>
            </a:r>
          </a:p>
          <a:p>
            <a:pPr marL="0" indent="0">
              <a:lnSpc>
                <a:spcPct val="100000"/>
              </a:lnSpc>
              <a:spcBef>
                <a:spcPts val="600"/>
              </a:spcBef>
              <a:buNone/>
            </a:pPr>
            <a:r>
              <a:rPr lang="en-US" sz="3200" dirty="0"/>
              <a:t>  </a:t>
            </a:r>
            <a:r>
              <a:rPr lang="en-US" sz="3200" dirty="0" err="1"/>
              <a:t>analogWrite</a:t>
            </a:r>
            <a:r>
              <a:rPr lang="en-US" sz="3200" dirty="0"/>
              <a:t>(</a:t>
            </a:r>
            <a:r>
              <a:rPr lang="en-US" sz="3200" dirty="0" err="1"/>
              <a:t>ledPin</a:t>
            </a:r>
            <a:r>
              <a:rPr lang="en-US" sz="3200" dirty="0"/>
              <a:t>, </a:t>
            </a:r>
            <a:r>
              <a:rPr lang="en-US" sz="3200" dirty="0" err="1"/>
              <a:t>val</a:t>
            </a:r>
            <a:r>
              <a:rPr lang="en-US" sz="3200" dirty="0"/>
              <a:t> / 4); </a:t>
            </a:r>
            <a:r>
              <a:rPr lang="en-US" sz="2800" dirty="0"/>
              <a:t>// </a:t>
            </a:r>
            <a:r>
              <a:rPr lang="en-US" sz="2800" dirty="0" err="1"/>
              <a:t>analogRead</a:t>
            </a:r>
            <a:r>
              <a:rPr lang="en-US" sz="2800" dirty="0"/>
              <a:t> values go from 0 to 1023, </a:t>
            </a:r>
            <a:r>
              <a:rPr lang="en-US" sz="2800" dirty="0" err="1"/>
              <a:t>analogWrite</a:t>
            </a:r>
            <a:r>
              <a:rPr lang="en-US" sz="2800" dirty="0"/>
              <a:t> values from 0 to 255</a:t>
            </a:r>
            <a:endParaRPr lang="en-US" sz="3200" dirty="0"/>
          </a:p>
          <a:p>
            <a:pPr marL="0" indent="0">
              <a:lnSpc>
                <a:spcPct val="100000"/>
              </a:lnSpc>
              <a:spcBef>
                <a:spcPts val="600"/>
              </a:spcBef>
              <a:buNone/>
            </a:pPr>
            <a:r>
              <a:rPr lang="en-US" sz="3200" dirty="0"/>
              <a:t>}</a:t>
            </a:r>
            <a:endParaRPr lang="en-CA" sz="3200" dirty="0"/>
          </a:p>
        </p:txBody>
      </p:sp>
      <p:sp>
        <p:nvSpPr>
          <p:cNvPr id="5" name="Date Placeholder 4">
            <a:extLst>
              <a:ext uri="{FF2B5EF4-FFF2-40B4-BE49-F238E27FC236}">
                <a16:creationId xmlns:a16="http://schemas.microsoft.com/office/drawing/2014/main" id="{5A876796-E13E-A223-F559-76A5A4743787}"/>
              </a:ext>
            </a:extLst>
          </p:cNvPr>
          <p:cNvSpPr>
            <a:spLocks noGrp="1"/>
          </p:cNvSpPr>
          <p:nvPr>
            <p:ph type="dt" sz="half" idx="10"/>
          </p:nvPr>
        </p:nvSpPr>
        <p:spPr/>
        <p:txBody>
          <a:bodyPr/>
          <a:lstStyle/>
          <a:p>
            <a:fld id="{2E8C2DAC-8D2E-4895-91CC-772841FF2F53}" type="datetime3">
              <a:rPr lang="en-US" smtClean="0"/>
              <a:t>17 December 2025</a:t>
            </a:fld>
            <a:endParaRPr lang="en-US"/>
          </a:p>
        </p:txBody>
      </p:sp>
      <p:sp>
        <p:nvSpPr>
          <p:cNvPr id="7" name="Slide Number Placeholder 6">
            <a:extLst>
              <a:ext uri="{FF2B5EF4-FFF2-40B4-BE49-F238E27FC236}">
                <a16:creationId xmlns:a16="http://schemas.microsoft.com/office/drawing/2014/main" id="{10EE67FA-FD25-AB7F-B394-18EE95DAF687}"/>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
        <p:nvSpPr>
          <p:cNvPr id="8" name="Title 1">
            <a:extLst>
              <a:ext uri="{FF2B5EF4-FFF2-40B4-BE49-F238E27FC236}">
                <a16:creationId xmlns:a16="http://schemas.microsoft.com/office/drawing/2014/main" id="{E0C4916A-1C68-B742-EB9B-E2D06FA06E76}"/>
              </a:ext>
            </a:extLst>
          </p:cNvPr>
          <p:cNvSpPr txBox="1">
            <a:spLocks/>
          </p:cNvSpPr>
          <p:nvPr/>
        </p:nvSpPr>
        <p:spPr>
          <a:xfrm>
            <a:off x="1870365" y="135381"/>
            <a:ext cx="7538719" cy="912024"/>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5400" b="1" dirty="0">
                <a:solidFill>
                  <a:srgbClr val="0070C0"/>
                </a:solidFill>
              </a:rPr>
              <a:t>PWM: Example # 1</a:t>
            </a:r>
          </a:p>
        </p:txBody>
      </p:sp>
      <p:sp>
        <p:nvSpPr>
          <p:cNvPr id="11" name="TextBox 10">
            <a:extLst>
              <a:ext uri="{FF2B5EF4-FFF2-40B4-BE49-F238E27FC236}">
                <a16:creationId xmlns:a16="http://schemas.microsoft.com/office/drawing/2014/main" id="{273BA5C7-D9AC-22E9-826C-25850BD1B760}"/>
              </a:ext>
            </a:extLst>
          </p:cNvPr>
          <p:cNvSpPr txBox="1"/>
          <p:nvPr/>
        </p:nvSpPr>
        <p:spPr>
          <a:xfrm>
            <a:off x="10045700" y="3425058"/>
            <a:ext cx="6108700" cy="3170099"/>
          </a:xfrm>
          <a:prstGeom prst="rect">
            <a:avLst/>
          </a:prstGeom>
          <a:noFill/>
        </p:spPr>
        <p:txBody>
          <a:bodyPr wrap="square">
            <a:spAutoFit/>
          </a:bodyPr>
          <a:lstStyle/>
          <a:p>
            <a:r>
              <a:rPr lang="en-US" sz="2000" b="1" dirty="0">
                <a:solidFill>
                  <a:srgbClr val="FF0000"/>
                </a:solidFill>
              </a:rPr>
              <a:t>Notes on Boards Capabilities:</a:t>
            </a:r>
          </a:p>
          <a:p>
            <a:r>
              <a:rPr lang="en-US" dirty="0"/>
              <a:t>Boards with an 8-bit PWM resolution are capable of slicing the PWM duty cycle on 255 steps.</a:t>
            </a:r>
          </a:p>
          <a:p>
            <a:r>
              <a:rPr lang="en-US" dirty="0"/>
              <a:t>Boards with a 10-bit PWM resolution are capable of slicing the PWM duty cycle on 1024 steps.</a:t>
            </a:r>
          </a:p>
          <a:p>
            <a:r>
              <a:rPr lang="en-US" dirty="0"/>
              <a:t>Boards with a 12-bit PWM resolution are capable of slicing the PWM duty cycle on 4095 steps.</a:t>
            </a:r>
          </a:p>
          <a:p>
            <a:r>
              <a:rPr lang="en-US" dirty="0"/>
              <a:t>Boards with a 16-bit PWM resolution are capable of slicing the PWM duty cycle on 65536 steps.</a:t>
            </a:r>
          </a:p>
          <a:p>
            <a:endParaRPr lang="en-US" dirty="0"/>
          </a:p>
          <a:p>
            <a:r>
              <a:rPr lang="en-US" b="1" dirty="0">
                <a:solidFill>
                  <a:srgbClr val="FF0000"/>
                </a:solidFill>
              </a:rPr>
              <a:t>* 1024/256 = 4</a:t>
            </a:r>
          </a:p>
        </p:txBody>
      </p:sp>
    </p:spTree>
    <p:extLst>
      <p:ext uri="{BB962C8B-B14F-4D97-AF65-F5344CB8AC3E}">
        <p14:creationId xmlns:p14="http://schemas.microsoft.com/office/powerpoint/2010/main" val="220668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500" fill="hold"/>
                                        <p:tgtEl>
                                          <p:spTgt spid="3">
                                            <p:txEl>
                                              <p:pRg st="11" end="11"/>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 calcmode="lin" valueType="num">
                                      <p:cBhvr additive="base">
                                        <p:cTn id="67" dur="500" fill="hold"/>
                                        <p:tgtEl>
                                          <p:spTgt spid="3">
                                            <p:txEl>
                                              <p:pRg st="12" end="12"/>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3">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1+#ppt_w/2"/>
                                          </p:val>
                                        </p:tav>
                                        <p:tav tm="100000">
                                          <p:val>
                                            <p:strVal val="#ppt_x"/>
                                          </p:val>
                                        </p:tav>
                                      </p:tavLst>
                                    </p:anim>
                                    <p:anim calcmode="lin" valueType="num">
                                      <p:cBhvr additive="base">
                                        <p:cTn id="74"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CF86A-9771-D61C-4E0F-3FDFA4268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4547F-2BB7-BE78-CBCD-CD208D41D22D}"/>
              </a:ext>
            </a:extLst>
          </p:cNvPr>
          <p:cNvSpPr>
            <a:spLocks noGrp="1"/>
          </p:cNvSpPr>
          <p:nvPr>
            <p:ph type="title"/>
          </p:nvPr>
        </p:nvSpPr>
        <p:spPr>
          <a:xfrm>
            <a:off x="1737361" y="418013"/>
            <a:ext cx="7538719" cy="1065929"/>
          </a:xfrm>
        </p:spPr>
        <p:txBody>
          <a:bodyPr>
            <a:normAutofit/>
          </a:bodyPr>
          <a:lstStyle/>
          <a:p>
            <a:r>
              <a:rPr lang="en-US" b="1" u="sng" dirty="0">
                <a:solidFill>
                  <a:schemeClr val="bg1"/>
                </a:solidFill>
              </a:rPr>
              <a:t>PWM</a:t>
            </a:r>
          </a:p>
        </p:txBody>
      </p:sp>
      <p:sp>
        <p:nvSpPr>
          <p:cNvPr id="3" name="Content Placeholder 2">
            <a:extLst>
              <a:ext uri="{FF2B5EF4-FFF2-40B4-BE49-F238E27FC236}">
                <a16:creationId xmlns:a16="http://schemas.microsoft.com/office/drawing/2014/main" id="{907590A0-9DDE-062D-57D6-8B33566A298B}"/>
              </a:ext>
            </a:extLst>
          </p:cNvPr>
          <p:cNvSpPr>
            <a:spLocks noGrp="1"/>
          </p:cNvSpPr>
          <p:nvPr>
            <p:ph idx="1"/>
          </p:nvPr>
        </p:nvSpPr>
        <p:spPr>
          <a:xfrm>
            <a:off x="304800" y="893970"/>
            <a:ext cx="15925800" cy="7025664"/>
          </a:xfrm>
        </p:spPr>
        <p:txBody>
          <a:bodyPr>
            <a:noAutofit/>
          </a:bodyPr>
          <a:lstStyle/>
          <a:p>
            <a:pPr marL="0" indent="0">
              <a:spcBef>
                <a:spcPts val="600"/>
              </a:spcBef>
              <a:buNone/>
            </a:pPr>
            <a:r>
              <a:rPr lang="en-US" sz="2400" dirty="0"/>
              <a:t>// Constants</a:t>
            </a:r>
          </a:p>
          <a:p>
            <a:pPr marL="0" indent="0">
              <a:spcBef>
                <a:spcPts val="600"/>
              </a:spcBef>
              <a:buNone/>
            </a:pPr>
            <a:r>
              <a:rPr lang="en-US" sz="2400" dirty="0"/>
              <a:t>const float V_REF = 5.0;     // Analog reference voltage (e.g., 5V or 3.3V)</a:t>
            </a:r>
          </a:p>
          <a:p>
            <a:pPr marL="0" indent="0">
              <a:spcBef>
                <a:spcPts val="600"/>
              </a:spcBef>
              <a:buNone/>
            </a:pPr>
            <a:r>
              <a:rPr lang="en-US" sz="2400" dirty="0"/>
              <a:t>const float R_BITS = 10.0;   // ADC resolution (bits)</a:t>
            </a:r>
          </a:p>
          <a:p>
            <a:pPr marL="0" indent="0">
              <a:spcBef>
                <a:spcPts val="600"/>
              </a:spcBef>
              <a:buNone/>
            </a:pPr>
            <a:r>
              <a:rPr lang="en-US" sz="2400" dirty="0"/>
              <a:t>const float ADC_STEPS = (1 &lt;&lt; int(R_BITS)) - 1; // Number of steps (2^R_BITS - 1)</a:t>
            </a:r>
          </a:p>
          <a:p>
            <a:pPr marL="0" indent="0">
              <a:spcBef>
                <a:spcPts val="600"/>
              </a:spcBef>
              <a:buNone/>
            </a:pPr>
            <a:r>
              <a:rPr lang="en-US" sz="2400" dirty="0"/>
              <a:t>const int </a:t>
            </a:r>
            <a:r>
              <a:rPr lang="en-US" sz="2400" dirty="0" err="1"/>
              <a:t>potentiometerPin</a:t>
            </a:r>
            <a:r>
              <a:rPr lang="en-US" sz="2400" dirty="0"/>
              <a:t> = A3; // Potentiometer wiper connected to analog pin A3</a:t>
            </a:r>
          </a:p>
          <a:p>
            <a:pPr marL="0" indent="0">
              <a:spcBef>
                <a:spcPts val="600"/>
              </a:spcBef>
              <a:buNone/>
            </a:pPr>
            <a:endParaRPr lang="en-US" sz="1000" dirty="0"/>
          </a:p>
          <a:p>
            <a:pPr marL="0" indent="0">
              <a:spcBef>
                <a:spcPts val="600"/>
              </a:spcBef>
              <a:buNone/>
            </a:pPr>
            <a:r>
              <a:rPr lang="en-US" sz="2400" dirty="0"/>
              <a:t>void setup() {</a:t>
            </a:r>
          </a:p>
          <a:p>
            <a:pPr marL="0" indent="0">
              <a:spcBef>
                <a:spcPts val="600"/>
              </a:spcBef>
              <a:buNone/>
            </a:pPr>
            <a:r>
              <a:rPr lang="en-US" sz="2400" dirty="0"/>
              <a:t>  </a:t>
            </a:r>
            <a:r>
              <a:rPr lang="en-US" sz="2400" dirty="0" err="1"/>
              <a:t>Serial.begin</a:t>
            </a:r>
            <a:r>
              <a:rPr lang="en-US" sz="2400" dirty="0"/>
              <a:t>(9600); // Initialize serial communication</a:t>
            </a:r>
          </a:p>
          <a:p>
            <a:pPr marL="0" indent="0">
              <a:spcBef>
                <a:spcPts val="600"/>
              </a:spcBef>
              <a:buNone/>
            </a:pPr>
            <a:r>
              <a:rPr lang="en-US" sz="2400" dirty="0"/>
              <a:t>  </a:t>
            </a:r>
            <a:r>
              <a:rPr lang="en-US" sz="2400" dirty="0" err="1"/>
              <a:t>Serial.println</a:t>
            </a:r>
            <a:r>
              <a:rPr lang="en-US" sz="2400" dirty="0"/>
              <a:t>(ADC_STEPS); }</a:t>
            </a:r>
          </a:p>
          <a:p>
            <a:pPr marL="0" indent="0">
              <a:spcBef>
                <a:spcPts val="600"/>
              </a:spcBef>
              <a:buNone/>
            </a:pPr>
            <a:endParaRPr lang="en-US" sz="1000" dirty="0"/>
          </a:p>
          <a:p>
            <a:pPr marL="0" indent="0">
              <a:spcBef>
                <a:spcPts val="600"/>
              </a:spcBef>
              <a:buNone/>
            </a:pPr>
            <a:r>
              <a:rPr lang="en-US" sz="2400" dirty="0"/>
              <a:t>void loop() {</a:t>
            </a:r>
          </a:p>
          <a:p>
            <a:pPr marL="0" indent="0">
              <a:spcBef>
                <a:spcPts val="600"/>
              </a:spcBef>
              <a:buNone/>
            </a:pPr>
            <a:r>
              <a:rPr lang="en-US" sz="2400" dirty="0"/>
              <a:t>  int </a:t>
            </a:r>
            <a:r>
              <a:rPr lang="en-US" sz="2400" dirty="0" err="1"/>
              <a:t>rawValue</a:t>
            </a:r>
            <a:r>
              <a:rPr lang="en-US" sz="2400" dirty="0"/>
              <a:t> = </a:t>
            </a:r>
            <a:r>
              <a:rPr lang="en-US" sz="2400" dirty="0" err="1"/>
              <a:t>analogRead</a:t>
            </a:r>
            <a:r>
              <a:rPr lang="en-US" sz="2400" dirty="0"/>
              <a:t>(</a:t>
            </a:r>
            <a:r>
              <a:rPr lang="en-US" sz="2400" dirty="0" err="1"/>
              <a:t>potentiometerPin</a:t>
            </a:r>
            <a:r>
              <a:rPr lang="en-US" sz="2400" dirty="0"/>
              <a:t>); // Read the analog input</a:t>
            </a:r>
          </a:p>
          <a:p>
            <a:pPr marL="0" indent="0">
              <a:spcBef>
                <a:spcPts val="600"/>
              </a:spcBef>
              <a:buNone/>
            </a:pPr>
            <a:r>
              <a:rPr lang="en-US" sz="2400" dirty="0"/>
              <a:t>  float voltage = (</a:t>
            </a:r>
            <a:r>
              <a:rPr lang="en-US" sz="2400" dirty="0" err="1"/>
              <a:t>rawValue</a:t>
            </a:r>
            <a:r>
              <a:rPr lang="en-US" sz="2400" dirty="0"/>
              <a:t> / ADC_STEPS) * V_REF; // Convert to voltage</a:t>
            </a:r>
          </a:p>
          <a:p>
            <a:pPr marL="0" indent="0">
              <a:spcBef>
                <a:spcPts val="600"/>
              </a:spcBef>
              <a:buNone/>
            </a:pPr>
            <a:endParaRPr lang="en-US" sz="1000" dirty="0"/>
          </a:p>
          <a:p>
            <a:pPr marL="0" indent="0">
              <a:spcBef>
                <a:spcPts val="600"/>
              </a:spcBef>
              <a:buNone/>
            </a:pPr>
            <a:r>
              <a:rPr lang="en-US" sz="2400" dirty="0"/>
              <a:t>  </a:t>
            </a:r>
            <a:r>
              <a:rPr lang="en-US" sz="2400" dirty="0" err="1"/>
              <a:t>Serial.print</a:t>
            </a:r>
            <a:r>
              <a:rPr lang="en-US" sz="2400" dirty="0"/>
              <a:t>("Voltage: ");</a:t>
            </a:r>
          </a:p>
          <a:p>
            <a:pPr marL="0" indent="0">
              <a:spcBef>
                <a:spcPts val="600"/>
              </a:spcBef>
              <a:buNone/>
            </a:pPr>
            <a:r>
              <a:rPr lang="en-US" sz="2400" dirty="0"/>
              <a:t>  </a:t>
            </a:r>
            <a:r>
              <a:rPr lang="en-US" sz="2400" dirty="0" err="1"/>
              <a:t>Serial.print</a:t>
            </a:r>
            <a:r>
              <a:rPr lang="en-US" sz="2400" dirty="0"/>
              <a:t>(voltage, 3); // Print voltage with 3 decimal places</a:t>
            </a:r>
          </a:p>
          <a:p>
            <a:pPr marL="0" indent="0">
              <a:spcBef>
                <a:spcPts val="600"/>
              </a:spcBef>
              <a:buNone/>
            </a:pPr>
            <a:r>
              <a:rPr lang="en-US" sz="2400" dirty="0"/>
              <a:t>  </a:t>
            </a:r>
            <a:r>
              <a:rPr lang="en-US" sz="2400" dirty="0" err="1"/>
              <a:t>Serial.println</a:t>
            </a:r>
            <a:r>
              <a:rPr lang="en-US" sz="2400" dirty="0"/>
              <a:t>(" V");  </a:t>
            </a:r>
          </a:p>
          <a:p>
            <a:pPr marL="0" indent="0">
              <a:spcBef>
                <a:spcPts val="600"/>
              </a:spcBef>
              <a:buNone/>
            </a:pPr>
            <a:r>
              <a:rPr lang="en-US" sz="2400" dirty="0"/>
              <a:t>  delay(200); // Small delay to avoid flooding the serial monitor</a:t>
            </a:r>
          </a:p>
          <a:p>
            <a:pPr marL="0" indent="0">
              <a:spcBef>
                <a:spcPts val="600"/>
              </a:spcBef>
              <a:buNone/>
            </a:pPr>
            <a:r>
              <a:rPr lang="en-US" sz="2400" dirty="0"/>
              <a:t>}</a:t>
            </a:r>
            <a:endParaRPr lang="en-CA" sz="2400" dirty="0"/>
          </a:p>
        </p:txBody>
      </p:sp>
      <p:sp>
        <p:nvSpPr>
          <p:cNvPr id="5" name="Date Placeholder 4">
            <a:extLst>
              <a:ext uri="{FF2B5EF4-FFF2-40B4-BE49-F238E27FC236}">
                <a16:creationId xmlns:a16="http://schemas.microsoft.com/office/drawing/2014/main" id="{7D128A23-80C0-A78D-D527-095EAD0A59C1}"/>
              </a:ext>
            </a:extLst>
          </p:cNvPr>
          <p:cNvSpPr>
            <a:spLocks noGrp="1"/>
          </p:cNvSpPr>
          <p:nvPr>
            <p:ph type="dt" sz="half" idx="10"/>
          </p:nvPr>
        </p:nvSpPr>
        <p:spPr/>
        <p:txBody>
          <a:bodyPr/>
          <a:lstStyle/>
          <a:p>
            <a:fld id="{2E8C2DAC-8D2E-4895-91CC-772841FF2F53}" type="datetime3">
              <a:rPr lang="en-US" smtClean="0"/>
              <a:t>17 December 2025</a:t>
            </a:fld>
            <a:endParaRPr lang="en-US"/>
          </a:p>
        </p:txBody>
      </p:sp>
      <p:sp>
        <p:nvSpPr>
          <p:cNvPr id="7" name="Slide Number Placeholder 6">
            <a:extLst>
              <a:ext uri="{FF2B5EF4-FFF2-40B4-BE49-F238E27FC236}">
                <a16:creationId xmlns:a16="http://schemas.microsoft.com/office/drawing/2014/main" id="{1C6A4B70-D6CE-A939-1DC5-7736F41D23B1}"/>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8" name="Title 1">
            <a:extLst>
              <a:ext uri="{FF2B5EF4-FFF2-40B4-BE49-F238E27FC236}">
                <a16:creationId xmlns:a16="http://schemas.microsoft.com/office/drawing/2014/main" id="{CE686233-3D4C-E659-00BE-DD18664124B5}"/>
              </a:ext>
            </a:extLst>
          </p:cNvPr>
          <p:cNvSpPr txBox="1">
            <a:spLocks/>
          </p:cNvSpPr>
          <p:nvPr/>
        </p:nvSpPr>
        <p:spPr>
          <a:xfrm>
            <a:off x="1870365" y="135381"/>
            <a:ext cx="7538719" cy="912024"/>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5400" b="1" dirty="0">
                <a:solidFill>
                  <a:srgbClr val="0070C0"/>
                </a:solidFill>
              </a:rPr>
              <a:t>PWM: Example # 2</a:t>
            </a:r>
          </a:p>
        </p:txBody>
      </p:sp>
      <p:sp>
        <p:nvSpPr>
          <p:cNvPr id="11" name="TextBox 10">
            <a:extLst>
              <a:ext uri="{FF2B5EF4-FFF2-40B4-BE49-F238E27FC236}">
                <a16:creationId xmlns:a16="http://schemas.microsoft.com/office/drawing/2014/main" id="{C1E98751-A286-E3E8-9E5F-B048F2F801CC}"/>
              </a:ext>
            </a:extLst>
          </p:cNvPr>
          <p:cNvSpPr txBox="1"/>
          <p:nvPr/>
        </p:nvSpPr>
        <p:spPr>
          <a:xfrm>
            <a:off x="11010900" y="597005"/>
            <a:ext cx="5321300" cy="7100405"/>
          </a:xfrm>
          <a:prstGeom prst="rect">
            <a:avLst/>
          </a:prstGeom>
          <a:noFill/>
          <a:ln>
            <a:solidFill>
              <a:srgbClr val="00B0F0"/>
            </a:solidFill>
          </a:ln>
        </p:spPr>
        <p:txBody>
          <a:bodyPr wrap="square">
            <a:spAutoFit/>
          </a:bodyPr>
          <a:lstStyle/>
          <a:p>
            <a:pPr>
              <a:lnSpc>
                <a:spcPct val="90000"/>
              </a:lnSpc>
            </a:pPr>
            <a:r>
              <a:rPr lang="en-US" sz="2000" b="1" dirty="0">
                <a:solidFill>
                  <a:srgbClr val="FF0000"/>
                </a:solidFill>
              </a:rPr>
              <a:t>Notes on map():</a:t>
            </a:r>
          </a:p>
          <a:p>
            <a:pPr>
              <a:lnSpc>
                <a:spcPct val="90000"/>
              </a:lnSpc>
            </a:pPr>
            <a:r>
              <a:rPr lang="en-US" dirty="0"/>
              <a:t>Re-maps a number from one range to another. That is, a value of </a:t>
            </a:r>
            <a:r>
              <a:rPr lang="en-US" dirty="0" err="1"/>
              <a:t>fromLow</a:t>
            </a:r>
            <a:r>
              <a:rPr lang="en-US" dirty="0"/>
              <a:t> would get mapped to </a:t>
            </a:r>
            <a:r>
              <a:rPr lang="en-US" dirty="0" err="1"/>
              <a:t>toLow</a:t>
            </a:r>
            <a:r>
              <a:rPr lang="en-US" dirty="0"/>
              <a:t>, a value of </a:t>
            </a:r>
            <a:r>
              <a:rPr lang="en-US" dirty="0" err="1"/>
              <a:t>fromHigh</a:t>
            </a:r>
            <a:r>
              <a:rPr lang="en-US" dirty="0"/>
              <a:t> to </a:t>
            </a:r>
            <a:r>
              <a:rPr lang="en-US" dirty="0" err="1"/>
              <a:t>toHigh</a:t>
            </a:r>
            <a:r>
              <a:rPr lang="en-US" dirty="0"/>
              <a:t>, values in-between to values in-between, etc.</a:t>
            </a:r>
          </a:p>
          <a:p>
            <a:pPr>
              <a:lnSpc>
                <a:spcPct val="90000"/>
              </a:lnSpc>
            </a:pPr>
            <a:endParaRPr lang="en-US" dirty="0"/>
          </a:p>
          <a:p>
            <a:pPr>
              <a:lnSpc>
                <a:spcPct val="90000"/>
              </a:lnSpc>
            </a:pPr>
            <a:r>
              <a:rPr lang="en-US" dirty="0"/>
              <a:t>Does not constrain values to within the range, because out-of-range values are sometimes intended and useful. The constrain() function may be used either before or after this function, if limits to the ranges are desired.</a:t>
            </a:r>
          </a:p>
          <a:p>
            <a:pPr>
              <a:lnSpc>
                <a:spcPct val="90000"/>
              </a:lnSpc>
            </a:pPr>
            <a:endParaRPr lang="en-US" dirty="0"/>
          </a:p>
          <a:p>
            <a:pPr>
              <a:lnSpc>
                <a:spcPct val="90000"/>
              </a:lnSpc>
            </a:pPr>
            <a:r>
              <a:rPr lang="en-US" dirty="0"/>
              <a:t>Note that the "lower bounds" of either range may be larger or smaller than the "upper bounds", so the map() function may be used to reverse a range of numbers, for example</a:t>
            </a:r>
          </a:p>
          <a:p>
            <a:pPr>
              <a:lnSpc>
                <a:spcPct val="90000"/>
              </a:lnSpc>
            </a:pPr>
            <a:endParaRPr lang="en-US" dirty="0"/>
          </a:p>
          <a:p>
            <a:pPr>
              <a:lnSpc>
                <a:spcPct val="90000"/>
              </a:lnSpc>
            </a:pPr>
            <a:r>
              <a:rPr lang="en-US" dirty="0"/>
              <a:t>y = map(x, 1, 50, 50, 1);</a:t>
            </a:r>
          </a:p>
          <a:p>
            <a:pPr>
              <a:lnSpc>
                <a:spcPct val="90000"/>
              </a:lnSpc>
            </a:pPr>
            <a:endParaRPr lang="en-US" dirty="0"/>
          </a:p>
          <a:p>
            <a:pPr>
              <a:lnSpc>
                <a:spcPct val="90000"/>
              </a:lnSpc>
            </a:pPr>
            <a:r>
              <a:rPr lang="en-US" dirty="0"/>
              <a:t>The function also handles negative numbers well, so that the following example is also valid and works well.</a:t>
            </a:r>
          </a:p>
          <a:p>
            <a:pPr>
              <a:lnSpc>
                <a:spcPct val="90000"/>
              </a:lnSpc>
            </a:pPr>
            <a:endParaRPr lang="en-US" dirty="0"/>
          </a:p>
          <a:p>
            <a:pPr>
              <a:lnSpc>
                <a:spcPct val="90000"/>
              </a:lnSpc>
            </a:pPr>
            <a:r>
              <a:rPr lang="en-US" dirty="0"/>
              <a:t>y = map(x, 1, 50, 50, -100);</a:t>
            </a:r>
          </a:p>
          <a:p>
            <a:pPr>
              <a:lnSpc>
                <a:spcPct val="90000"/>
              </a:lnSpc>
            </a:pPr>
            <a:endParaRPr lang="en-US" dirty="0"/>
          </a:p>
          <a:p>
            <a:pPr>
              <a:lnSpc>
                <a:spcPct val="90000"/>
              </a:lnSpc>
            </a:pPr>
            <a:r>
              <a:rPr lang="en-US" dirty="0"/>
              <a:t>The map() function uses integer math so will not generate fractions, when the math might indicate that it should do so. Fractional remainders are truncated and are not rounded or averaged.</a:t>
            </a:r>
            <a:endParaRPr lang="en-US" b="1" dirty="0">
              <a:solidFill>
                <a:srgbClr val="FF0000"/>
              </a:solidFill>
            </a:endParaRPr>
          </a:p>
        </p:txBody>
      </p:sp>
    </p:spTree>
    <p:extLst>
      <p:ext uri="{BB962C8B-B14F-4D97-AF65-F5344CB8AC3E}">
        <p14:creationId xmlns:p14="http://schemas.microsoft.com/office/powerpoint/2010/main" val="94149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500" fill="hold"/>
                                        <p:tgtEl>
                                          <p:spTgt spid="3">
                                            <p:txEl>
                                              <p:pRg st="11" end="11"/>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 calcmode="lin" valueType="num">
                                      <p:cBhvr additive="base">
                                        <p:cTn id="67" dur="500" fill="hold"/>
                                        <p:tgtEl>
                                          <p:spTgt spid="3">
                                            <p:txEl>
                                              <p:pRg st="12" end="12"/>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3">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3">
                                            <p:txEl>
                                              <p:pRg st="14" end="14"/>
                                            </p:txEl>
                                          </p:spTgt>
                                        </p:tgtEl>
                                        <p:attrNameLst>
                                          <p:attrName>style.visibility</p:attrName>
                                        </p:attrNameLst>
                                      </p:cBhvr>
                                      <p:to>
                                        <p:strVal val="visible"/>
                                      </p:to>
                                    </p:set>
                                    <p:anim calcmode="lin" valueType="num">
                                      <p:cBhvr additive="base">
                                        <p:cTn id="73" dur="500" fill="hold"/>
                                        <p:tgtEl>
                                          <p:spTgt spid="3">
                                            <p:txEl>
                                              <p:pRg st="14" end="14"/>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3">
                                            <p:txEl>
                                              <p:pRg st="14" end="14"/>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3">
                                            <p:txEl>
                                              <p:pRg st="15" end="15"/>
                                            </p:txEl>
                                          </p:spTgt>
                                        </p:tgtEl>
                                        <p:attrNameLst>
                                          <p:attrName>style.visibility</p:attrName>
                                        </p:attrNameLst>
                                      </p:cBhvr>
                                      <p:to>
                                        <p:strVal val="visible"/>
                                      </p:to>
                                    </p:set>
                                    <p:anim calcmode="lin" valueType="num">
                                      <p:cBhvr additive="base">
                                        <p:cTn id="79" dur="500" fill="hold"/>
                                        <p:tgtEl>
                                          <p:spTgt spid="3">
                                            <p:txEl>
                                              <p:pRg st="15" end="15"/>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3">
                                            <p:txEl>
                                              <p:pRg st="15" end="15"/>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3">
                                            <p:txEl>
                                              <p:pRg st="16" end="16"/>
                                            </p:txEl>
                                          </p:spTgt>
                                        </p:tgtEl>
                                        <p:attrNameLst>
                                          <p:attrName>style.visibility</p:attrName>
                                        </p:attrNameLst>
                                      </p:cBhvr>
                                      <p:to>
                                        <p:strVal val="visible"/>
                                      </p:to>
                                    </p:set>
                                    <p:anim calcmode="lin" valueType="num">
                                      <p:cBhvr additive="base">
                                        <p:cTn id="85" dur="500" fill="hold"/>
                                        <p:tgtEl>
                                          <p:spTgt spid="3">
                                            <p:txEl>
                                              <p:pRg st="16" end="16"/>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3">
                                            <p:txEl>
                                              <p:pRg st="16" end="16"/>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3">
                                            <p:txEl>
                                              <p:pRg st="17" end="17"/>
                                            </p:txEl>
                                          </p:spTgt>
                                        </p:tgtEl>
                                        <p:attrNameLst>
                                          <p:attrName>style.visibility</p:attrName>
                                        </p:attrNameLst>
                                      </p:cBhvr>
                                      <p:to>
                                        <p:strVal val="visible"/>
                                      </p:to>
                                    </p:set>
                                    <p:anim calcmode="lin" valueType="num">
                                      <p:cBhvr additive="base">
                                        <p:cTn id="91" dur="500" fill="hold"/>
                                        <p:tgtEl>
                                          <p:spTgt spid="3">
                                            <p:txEl>
                                              <p:pRg st="17" end="17"/>
                                            </p:txEl>
                                          </p:spTgt>
                                        </p:tgtEl>
                                        <p:attrNameLst>
                                          <p:attrName>ppt_x</p:attrName>
                                        </p:attrNameLst>
                                      </p:cBhvr>
                                      <p:tavLst>
                                        <p:tav tm="0">
                                          <p:val>
                                            <p:strVal val="0-#ppt_w/2"/>
                                          </p:val>
                                        </p:tav>
                                        <p:tav tm="100000">
                                          <p:val>
                                            <p:strVal val="#ppt_x"/>
                                          </p:val>
                                        </p:tav>
                                      </p:tavLst>
                                    </p:anim>
                                    <p:anim calcmode="lin" valueType="num">
                                      <p:cBhvr additive="base">
                                        <p:cTn id="92" dur="500" fill="hold"/>
                                        <p:tgtEl>
                                          <p:spTgt spid="3">
                                            <p:txEl>
                                              <p:pRg st="17" end="17"/>
                                            </p:tx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 calcmode="lin" valueType="num">
                                      <p:cBhvr additive="base">
                                        <p:cTn id="97" dur="500" fill="hold"/>
                                        <p:tgtEl>
                                          <p:spTgt spid="3">
                                            <p:txEl>
                                              <p:pRg st="18" end="18"/>
                                            </p:txEl>
                                          </p:spTgt>
                                        </p:tgtEl>
                                        <p:attrNameLst>
                                          <p:attrName>ppt_x</p:attrName>
                                        </p:attrNameLst>
                                      </p:cBhvr>
                                      <p:tavLst>
                                        <p:tav tm="0">
                                          <p:val>
                                            <p:strVal val="0-#ppt_w/2"/>
                                          </p:val>
                                        </p:tav>
                                        <p:tav tm="100000">
                                          <p:val>
                                            <p:strVal val="#ppt_x"/>
                                          </p:val>
                                        </p:tav>
                                      </p:tavLst>
                                    </p:anim>
                                    <p:anim calcmode="lin" valueType="num">
                                      <p:cBhvr additive="base">
                                        <p:cTn id="98" dur="500" fill="hold"/>
                                        <p:tgtEl>
                                          <p:spTgt spid="3">
                                            <p:txEl>
                                              <p:pRg st="18" end="18"/>
                                            </p:txEl>
                                          </p:spTgt>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11"/>
                                        </p:tgtEl>
                                        <p:attrNameLst>
                                          <p:attrName>style.visibility</p:attrName>
                                        </p:attrNameLst>
                                      </p:cBhvr>
                                      <p:to>
                                        <p:strVal val="visible"/>
                                      </p:to>
                                    </p:set>
                                    <p:anim calcmode="lin" valueType="num">
                                      <p:cBhvr additive="base">
                                        <p:cTn id="103" dur="500" fill="hold"/>
                                        <p:tgtEl>
                                          <p:spTgt spid="11"/>
                                        </p:tgtEl>
                                        <p:attrNameLst>
                                          <p:attrName>ppt_x</p:attrName>
                                        </p:attrNameLst>
                                      </p:cBhvr>
                                      <p:tavLst>
                                        <p:tav tm="0">
                                          <p:val>
                                            <p:strVal val="1+#ppt_w/2"/>
                                          </p:val>
                                        </p:tav>
                                        <p:tav tm="100000">
                                          <p:val>
                                            <p:strVal val="#ppt_x"/>
                                          </p:val>
                                        </p:tav>
                                      </p:tavLst>
                                    </p:anim>
                                    <p:anim calcmode="lin" valueType="num">
                                      <p:cBhvr additive="base">
                                        <p:cTn id="104"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241CC-7605-2D6A-BD96-32AF01479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F49BD-DA67-28E1-3848-8C65333476EF}"/>
              </a:ext>
            </a:extLst>
          </p:cNvPr>
          <p:cNvSpPr>
            <a:spLocks noGrp="1"/>
          </p:cNvSpPr>
          <p:nvPr>
            <p:ph type="title"/>
          </p:nvPr>
        </p:nvSpPr>
        <p:spPr>
          <a:xfrm>
            <a:off x="1737361" y="418013"/>
            <a:ext cx="7538719" cy="1065929"/>
          </a:xfrm>
        </p:spPr>
        <p:txBody>
          <a:bodyPr>
            <a:normAutofit/>
          </a:bodyPr>
          <a:lstStyle/>
          <a:p>
            <a:r>
              <a:rPr lang="en-US" b="1" u="sng" dirty="0">
                <a:solidFill>
                  <a:schemeClr val="bg1"/>
                </a:solidFill>
              </a:rPr>
              <a:t>PWM</a:t>
            </a:r>
          </a:p>
        </p:txBody>
      </p:sp>
      <p:sp>
        <p:nvSpPr>
          <p:cNvPr id="5" name="Date Placeholder 4">
            <a:extLst>
              <a:ext uri="{FF2B5EF4-FFF2-40B4-BE49-F238E27FC236}">
                <a16:creationId xmlns:a16="http://schemas.microsoft.com/office/drawing/2014/main" id="{053122AD-8B24-C78F-E173-747909E833BF}"/>
              </a:ext>
            </a:extLst>
          </p:cNvPr>
          <p:cNvSpPr>
            <a:spLocks noGrp="1"/>
          </p:cNvSpPr>
          <p:nvPr>
            <p:ph type="dt" sz="half" idx="10"/>
          </p:nvPr>
        </p:nvSpPr>
        <p:spPr/>
        <p:txBody>
          <a:bodyPr/>
          <a:lstStyle/>
          <a:p>
            <a:fld id="{2E8C2DAC-8D2E-4895-91CC-772841FF2F53}" type="datetime3">
              <a:rPr lang="en-US" smtClean="0"/>
              <a:t>17 December 2025</a:t>
            </a:fld>
            <a:endParaRPr lang="en-US"/>
          </a:p>
        </p:txBody>
      </p:sp>
      <p:sp>
        <p:nvSpPr>
          <p:cNvPr id="7" name="Slide Number Placeholder 6">
            <a:extLst>
              <a:ext uri="{FF2B5EF4-FFF2-40B4-BE49-F238E27FC236}">
                <a16:creationId xmlns:a16="http://schemas.microsoft.com/office/drawing/2014/main" id="{968BFAF3-EF6B-1BAA-CE9F-8370C914C27E}"/>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8" name="Title 1">
            <a:extLst>
              <a:ext uri="{FF2B5EF4-FFF2-40B4-BE49-F238E27FC236}">
                <a16:creationId xmlns:a16="http://schemas.microsoft.com/office/drawing/2014/main" id="{97368BDD-8D98-D2A7-7C39-24F9D59B1102}"/>
              </a:ext>
            </a:extLst>
          </p:cNvPr>
          <p:cNvSpPr txBox="1">
            <a:spLocks/>
          </p:cNvSpPr>
          <p:nvPr/>
        </p:nvSpPr>
        <p:spPr>
          <a:xfrm>
            <a:off x="1870365" y="135381"/>
            <a:ext cx="7538719" cy="912024"/>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5400" b="1" dirty="0">
                <a:solidFill>
                  <a:srgbClr val="0070C0"/>
                </a:solidFill>
              </a:rPr>
              <a:t>PWM: Example # 3</a:t>
            </a:r>
          </a:p>
        </p:txBody>
      </p:sp>
      <p:sp>
        <p:nvSpPr>
          <p:cNvPr id="4" name="Content Placeholder 2">
            <a:extLst>
              <a:ext uri="{FF2B5EF4-FFF2-40B4-BE49-F238E27FC236}">
                <a16:creationId xmlns:a16="http://schemas.microsoft.com/office/drawing/2014/main" id="{4FF4253D-1F4C-63DF-A971-408B2DBFA350}"/>
              </a:ext>
            </a:extLst>
          </p:cNvPr>
          <p:cNvSpPr txBox="1">
            <a:spLocks/>
          </p:cNvSpPr>
          <p:nvPr/>
        </p:nvSpPr>
        <p:spPr>
          <a:xfrm>
            <a:off x="8712199" y="698500"/>
            <a:ext cx="7538719" cy="7221133"/>
          </a:xfrm>
          <a:prstGeom prst="rect">
            <a:avLst/>
          </a:prstGeom>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buNone/>
            </a:pPr>
            <a:r>
              <a:rPr lang="en-US" sz="2400" dirty="0"/>
              <a:t>  </a:t>
            </a:r>
            <a:r>
              <a:rPr lang="en-US" sz="2400" dirty="0" err="1"/>
              <a:t>Serial.print</a:t>
            </a:r>
            <a:r>
              <a:rPr lang="en-US" sz="2400" dirty="0"/>
              <a:t>(" , 8-bit PWM value : ");</a:t>
            </a:r>
          </a:p>
          <a:p>
            <a:pPr marL="0" indent="0">
              <a:buNone/>
            </a:pPr>
            <a:r>
              <a:rPr lang="en-US" sz="2400" dirty="0"/>
              <a:t>  </a:t>
            </a:r>
            <a:r>
              <a:rPr lang="en-US" sz="2400" dirty="0" err="1"/>
              <a:t>Serial.print</a:t>
            </a:r>
            <a:r>
              <a:rPr lang="en-US" sz="2400" dirty="0"/>
              <a:t>(map(</a:t>
            </a:r>
            <a:r>
              <a:rPr lang="en-US" sz="2400" dirty="0" err="1"/>
              <a:t>sensorVal</a:t>
            </a:r>
            <a:r>
              <a:rPr lang="en-US" sz="2400" dirty="0"/>
              <a:t>, 0, 1023, 0, 255));</a:t>
            </a:r>
          </a:p>
          <a:p>
            <a:pPr marL="0" indent="0">
              <a:buNone/>
            </a:pPr>
            <a:r>
              <a:rPr lang="en-US" sz="2400" dirty="0"/>
              <a:t>  // change the PWM resolution to 12 bits</a:t>
            </a:r>
          </a:p>
          <a:p>
            <a:pPr marL="0" indent="0">
              <a:buNone/>
            </a:pPr>
            <a:r>
              <a:rPr lang="en-US" sz="2400" dirty="0"/>
              <a:t>  </a:t>
            </a:r>
            <a:r>
              <a:rPr lang="en-US" sz="2400" dirty="0" err="1"/>
              <a:t>analogWriteResolution</a:t>
            </a:r>
            <a:r>
              <a:rPr lang="en-US" sz="2400" dirty="0"/>
              <a:t>(12);</a:t>
            </a:r>
          </a:p>
          <a:p>
            <a:pPr marL="0" indent="0">
              <a:buNone/>
            </a:pPr>
            <a:r>
              <a:rPr lang="en-US" sz="2400" dirty="0"/>
              <a:t>  </a:t>
            </a:r>
            <a:r>
              <a:rPr lang="en-US" sz="2400" dirty="0" err="1"/>
              <a:t>analogWrite</a:t>
            </a:r>
            <a:r>
              <a:rPr lang="en-US" sz="2400" dirty="0"/>
              <a:t>(12, map(</a:t>
            </a:r>
            <a:r>
              <a:rPr lang="en-US" sz="2400" dirty="0" err="1"/>
              <a:t>sensorVal</a:t>
            </a:r>
            <a:r>
              <a:rPr lang="en-US" sz="2400" dirty="0"/>
              <a:t>, 0, 1023, 0, 4095));</a:t>
            </a:r>
          </a:p>
          <a:p>
            <a:pPr marL="0" indent="0">
              <a:buNone/>
            </a:pPr>
            <a:r>
              <a:rPr lang="en-US" sz="2400" dirty="0"/>
              <a:t>  </a:t>
            </a:r>
            <a:r>
              <a:rPr lang="en-US" sz="2400" dirty="0" err="1"/>
              <a:t>Serial.print</a:t>
            </a:r>
            <a:r>
              <a:rPr lang="en-US" sz="2400" dirty="0"/>
              <a:t>(" , 12-bit PWM value : ");</a:t>
            </a:r>
          </a:p>
          <a:p>
            <a:pPr marL="0" indent="0">
              <a:buNone/>
            </a:pPr>
            <a:r>
              <a:rPr lang="en-US" sz="2400" dirty="0"/>
              <a:t>  </a:t>
            </a:r>
            <a:r>
              <a:rPr lang="en-US" sz="2400" dirty="0" err="1"/>
              <a:t>Serial.print</a:t>
            </a:r>
            <a:r>
              <a:rPr lang="en-US" sz="2400" dirty="0"/>
              <a:t>(map(</a:t>
            </a:r>
            <a:r>
              <a:rPr lang="en-US" sz="2400" dirty="0" err="1"/>
              <a:t>sensorVal</a:t>
            </a:r>
            <a:r>
              <a:rPr lang="en-US" sz="2400" dirty="0"/>
              <a:t>, 0, 1023, 0, 4095));</a:t>
            </a:r>
          </a:p>
          <a:p>
            <a:pPr marL="0" indent="0">
              <a:buNone/>
            </a:pPr>
            <a:endParaRPr lang="en-US" sz="2400" dirty="0"/>
          </a:p>
          <a:p>
            <a:pPr marL="0" indent="0">
              <a:buNone/>
            </a:pPr>
            <a:r>
              <a:rPr lang="en-US" sz="2400" dirty="0"/>
              <a:t>  // change the PWM resolution to 4 bits</a:t>
            </a:r>
          </a:p>
          <a:p>
            <a:pPr marL="0" indent="0">
              <a:buNone/>
            </a:pPr>
            <a:r>
              <a:rPr lang="en-US" sz="2400" dirty="0"/>
              <a:t>  </a:t>
            </a:r>
            <a:r>
              <a:rPr lang="en-US" sz="2400" dirty="0" err="1"/>
              <a:t>analogWriteResolution</a:t>
            </a:r>
            <a:r>
              <a:rPr lang="en-US" sz="2400" dirty="0"/>
              <a:t>(4);</a:t>
            </a:r>
          </a:p>
          <a:p>
            <a:pPr marL="0" indent="0">
              <a:buNone/>
            </a:pPr>
            <a:r>
              <a:rPr lang="en-US" sz="2400" dirty="0"/>
              <a:t>  </a:t>
            </a:r>
            <a:r>
              <a:rPr lang="en-US" sz="2400" dirty="0" err="1"/>
              <a:t>analogWrite</a:t>
            </a:r>
            <a:r>
              <a:rPr lang="en-US" sz="2400" dirty="0"/>
              <a:t>(13, map(</a:t>
            </a:r>
            <a:r>
              <a:rPr lang="en-US" sz="2400" dirty="0" err="1"/>
              <a:t>sensorVal</a:t>
            </a:r>
            <a:r>
              <a:rPr lang="en-US" sz="2400" dirty="0"/>
              <a:t>, 0, 1023, 0, 15));</a:t>
            </a:r>
          </a:p>
          <a:p>
            <a:pPr marL="0" indent="0">
              <a:buNone/>
            </a:pPr>
            <a:r>
              <a:rPr lang="en-US" sz="2400" dirty="0"/>
              <a:t>  </a:t>
            </a:r>
            <a:r>
              <a:rPr lang="en-US" sz="2400" dirty="0" err="1"/>
              <a:t>Serial.print</a:t>
            </a:r>
            <a:r>
              <a:rPr lang="en-US" sz="2400" dirty="0"/>
              <a:t>(", 4-bit PWM value : ");</a:t>
            </a:r>
          </a:p>
          <a:p>
            <a:pPr marL="0" indent="0">
              <a:buNone/>
            </a:pPr>
            <a:r>
              <a:rPr lang="en-US" sz="2400" dirty="0"/>
              <a:t>  </a:t>
            </a:r>
            <a:r>
              <a:rPr lang="en-US" sz="2400" dirty="0" err="1"/>
              <a:t>Serial.println</a:t>
            </a:r>
            <a:r>
              <a:rPr lang="en-US" sz="2400" dirty="0"/>
              <a:t>(map(</a:t>
            </a:r>
            <a:r>
              <a:rPr lang="en-US" sz="2400" dirty="0" err="1"/>
              <a:t>sensorVal</a:t>
            </a:r>
            <a:r>
              <a:rPr lang="en-US" sz="2400" dirty="0"/>
              <a:t>, 0, 1023, 0, 15));</a:t>
            </a:r>
          </a:p>
          <a:p>
            <a:pPr marL="0" indent="0">
              <a:buNone/>
            </a:pPr>
            <a:r>
              <a:rPr lang="en-US" sz="2400" dirty="0"/>
              <a:t>  delay(5); </a:t>
            </a:r>
          </a:p>
          <a:p>
            <a:pPr marL="0" indent="0">
              <a:buNone/>
            </a:pPr>
            <a:r>
              <a:rPr lang="en-US" sz="2400" dirty="0"/>
              <a:t>}</a:t>
            </a:r>
          </a:p>
        </p:txBody>
      </p:sp>
      <p:sp>
        <p:nvSpPr>
          <p:cNvPr id="10" name="Content Placeholder 9">
            <a:extLst>
              <a:ext uri="{FF2B5EF4-FFF2-40B4-BE49-F238E27FC236}">
                <a16:creationId xmlns:a16="http://schemas.microsoft.com/office/drawing/2014/main" id="{7A421532-65C1-B75E-874C-18AE046C57B1}"/>
              </a:ext>
            </a:extLst>
          </p:cNvPr>
          <p:cNvSpPr>
            <a:spLocks noGrp="1"/>
          </p:cNvSpPr>
          <p:nvPr>
            <p:ph idx="1"/>
          </p:nvPr>
        </p:nvSpPr>
        <p:spPr>
          <a:xfrm>
            <a:off x="355600" y="950976"/>
            <a:ext cx="8356599" cy="6968657"/>
          </a:xfrm>
        </p:spPr>
        <p:txBody>
          <a:bodyPr>
            <a:noAutofit/>
          </a:bodyPr>
          <a:lstStyle/>
          <a:p>
            <a:pPr marL="0" indent="0">
              <a:spcBef>
                <a:spcPts val="600"/>
              </a:spcBef>
              <a:buNone/>
            </a:pPr>
            <a:r>
              <a:rPr lang="en-US" sz="2400" dirty="0"/>
              <a:t>void setup() {  </a:t>
            </a:r>
          </a:p>
          <a:p>
            <a:pPr marL="0" indent="0">
              <a:spcBef>
                <a:spcPts val="600"/>
              </a:spcBef>
              <a:buNone/>
            </a:pPr>
            <a:r>
              <a:rPr lang="en-US" sz="2400" dirty="0"/>
              <a:t>  </a:t>
            </a:r>
            <a:r>
              <a:rPr lang="en-US" sz="2400" dirty="0" err="1"/>
              <a:t>Serial.begin</a:t>
            </a:r>
            <a:r>
              <a:rPr lang="en-US" sz="2400" dirty="0"/>
              <a:t>(9600); // open a serial connection</a:t>
            </a:r>
          </a:p>
          <a:p>
            <a:pPr marL="0" indent="0">
              <a:spcBef>
                <a:spcPts val="600"/>
              </a:spcBef>
              <a:buNone/>
            </a:pPr>
            <a:r>
              <a:rPr lang="en-US" sz="2400" dirty="0"/>
              <a:t>  </a:t>
            </a:r>
            <a:r>
              <a:rPr lang="en-US" sz="2400" dirty="0" err="1"/>
              <a:t>pinMode</a:t>
            </a:r>
            <a:r>
              <a:rPr lang="en-US" sz="2400" dirty="0"/>
              <a:t>(11, OUTPUT); // make 3 digital pins as output pins</a:t>
            </a:r>
          </a:p>
          <a:p>
            <a:pPr marL="0" indent="0">
              <a:spcBef>
                <a:spcPts val="600"/>
              </a:spcBef>
              <a:buNone/>
            </a:pPr>
            <a:r>
              <a:rPr lang="en-US" sz="2400" dirty="0"/>
              <a:t>  </a:t>
            </a:r>
            <a:r>
              <a:rPr lang="en-US" sz="2400" dirty="0" err="1"/>
              <a:t>pinMode</a:t>
            </a:r>
            <a:r>
              <a:rPr lang="en-US" sz="2400" dirty="0"/>
              <a:t>(12, OUTPUT);</a:t>
            </a:r>
          </a:p>
          <a:p>
            <a:pPr marL="0" indent="0">
              <a:spcBef>
                <a:spcPts val="600"/>
              </a:spcBef>
              <a:buNone/>
            </a:pPr>
            <a:r>
              <a:rPr lang="en-US" sz="2400" dirty="0"/>
              <a:t>  </a:t>
            </a:r>
            <a:r>
              <a:rPr lang="en-US" sz="2400" dirty="0" err="1"/>
              <a:t>pinMode</a:t>
            </a:r>
            <a:r>
              <a:rPr lang="en-US" sz="2400" dirty="0"/>
              <a:t>(13, OUTPUT); </a:t>
            </a:r>
          </a:p>
          <a:p>
            <a:pPr marL="0" indent="0">
              <a:spcBef>
                <a:spcPts val="600"/>
              </a:spcBef>
              <a:buNone/>
            </a:pPr>
            <a:r>
              <a:rPr lang="en-US" sz="2400" dirty="0"/>
              <a:t>}</a:t>
            </a:r>
          </a:p>
          <a:p>
            <a:pPr marL="0" indent="0">
              <a:spcBef>
                <a:spcPts val="600"/>
              </a:spcBef>
              <a:buNone/>
            </a:pPr>
            <a:endParaRPr lang="en-US" sz="1600" dirty="0"/>
          </a:p>
          <a:p>
            <a:pPr marL="0" indent="0">
              <a:spcBef>
                <a:spcPts val="600"/>
              </a:spcBef>
              <a:buNone/>
            </a:pPr>
            <a:r>
              <a:rPr lang="en-US" sz="2400" dirty="0"/>
              <a:t>void loop() {  </a:t>
            </a:r>
          </a:p>
          <a:p>
            <a:pPr marL="0" indent="0">
              <a:spcBef>
                <a:spcPts val="600"/>
              </a:spcBef>
              <a:buNone/>
            </a:pPr>
            <a:r>
              <a:rPr lang="en-US" sz="2400" dirty="0"/>
              <a:t>  int </a:t>
            </a:r>
            <a:r>
              <a:rPr lang="en-US" sz="2400" dirty="0" err="1"/>
              <a:t>sensorVal</a:t>
            </a:r>
            <a:r>
              <a:rPr lang="en-US" sz="2400" dirty="0"/>
              <a:t> = </a:t>
            </a:r>
            <a:r>
              <a:rPr lang="en-US" sz="2400" dirty="0" err="1"/>
              <a:t>analogRead</a:t>
            </a:r>
            <a:r>
              <a:rPr lang="en-US" sz="2400" dirty="0"/>
              <a:t>(A0); // read the analog data</a:t>
            </a:r>
          </a:p>
          <a:p>
            <a:pPr marL="0" indent="0">
              <a:spcBef>
                <a:spcPts val="600"/>
              </a:spcBef>
              <a:buNone/>
            </a:pPr>
            <a:r>
              <a:rPr lang="en-US" sz="2400" dirty="0"/>
              <a:t>  </a:t>
            </a:r>
            <a:r>
              <a:rPr lang="en-US" sz="2400" dirty="0" err="1"/>
              <a:t>Serial.print</a:t>
            </a:r>
            <a:r>
              <a:rPr lang="en-US" sz="2400" dirty="0"/>
              <a:t>("Analog Read : "); </a:t>
            </a:r>
          </a:p>
          <a:p>
            <a:pPr marL="0" indent="0">
              <a:spcBef>
                <a:spcPts val="600"/>
              </a:spcBef>
              <a:buNone/>
            </a:pPr>
            <a:r>
              <a:rPr lang="en-US" sz="2400" dirty="0"/>
              <a:t>  </a:t>
            </a:r>
            <a:r>
              <a:rPr lang="en-US" sz="2400" dirty="0" err="1"/>
              <a:t>Serial.print</a:t>
            </a:r>
            <a:r>
              <a:rPr lang="en-US" sz="2400" dirty="0"/>
              <a:t>(</a:t>
            </a:r>
            <a:r>
              <a:rPr lang="en-US" sz="2400" dirty="0" err="1"/>
              <a:t>sensorVal</a:t>
            </a:r>
            <a:r>
              <a:rPr lang="en-US" sz="2400" dirty="0"/>
              <a:t>);  </a:t>
            </a:r>
          </a:p>
          <a:p>
            <a:pPr marL="0" indent="0">
              <a:spcBef>
                <a:spcPts val="600"/>
              </a:spcBef>
              <a:buNone/>
            </a:pPr>
            <a:endParaRPr lang="en-US" sz="2400" dirty="0"/>
          </a:p>
          <a:p>
            <a:pPr marL="0" indent="0">
              <a:spcBef>
                <a:spcPts val="600"/>
              </a:spcBef>
              <a:buNone/>
            </a:pPr>
            <a:r>
              <a:rPr lang="en-US" sz="2400" dirty="0"/>
              <a:t>  </a:t>
            </a:r>
            <a:r>
              <a:rPr lang="en-US" sz="2400" dirty="0" err="1"/>
              <a:t>analogWriteResolution</a:t>
            </a:r>
            <a:r>
              <a:rPr lang="en-US" sz="2400" dirty="0"/>
              <a:t>(8);  // the default PWM resolution</a:t>
            </a:r>
          </a:p>
          <a:p>
            <a:pPr marL="0" indent="0">
              <a:spcBef>
                <a:spcPts val="600"/>
              </a:spcBef>
              <a:buNone/>
            </a:pPr>
            <a:endParaRPr lang="en-US" sz="2400" dirty="0"/>
          </a:p>
          <a:p>
            <a:pPr marL="0" indent="0">
              <a:spcBef>
                <a:spcPts val="600"/>
              </a:spcBef>
              <a:buNone/>
            </a:pPr>
            <a:r>
              <a:rPr lang="en-US" sz="2400" dirty="0"/>
              <a:t>// read the input on A0  pin and map it to a PWM pin</a:t>
            </a:r>
          </a:p>
          <a:p>
            <a:pPr marL="0" indent="0">
              <a:spcBef>
                <a:spcPts val="600"/>
              </a:spcBef>
              <a:buNone/>
            </a:pPr>
            <a:r>
              <a:rPr lang="en-US" sz="2400" dirty="0"/>
              <a:t>  </a:t>
            </a:r>
            <a:r>
              <a:rPr lang="en-US" sz="2400" dirty="0" err="1"/>
              <a:t>analogWrite</a:t>
            </a:r>
            <a:r>
              <a:rPr lang="en-US" sz="2400" dirty="0"/>
              <a:t>(11, map(</a:t>
            </a:r>
            <a:r>
              <a:rPr lang="en-US" sz="2400" dirty="0" err="1"/>
              <a:t>sensorVal</a:t>
            </a:r>
            <a:r>
              <a:rPr lang="en-US" sz="2400" dirty="0"/>
              <a:t>, 0, 1023, 0, 255));</a:t>
            </a:r>
          </a:p>
          <a:p>
            <a:pPr marL="0" indent="0">
              <a:spcBef>
                <a:spcPts val="600"/>
              </a:spcBef>
              <a:buNone/>
            </a:pPr>
            <a:r>
              <a:rPr lang="en-US" sz="2400" dirty="0"/>
              <a:t> </a:t>
            </a:r>
            <a:endParaRPr lang="en-US" sz="2000" dirty="0"/>
          </a:p>
        </p:txBody>
      </p:sp>
    </p:spTree>
    <p:extLst>
      <p:ext uri="{BB962C8B-B14F-4D97-AF65-F5344CB8AC3E}">
        <p14:creationId xmlns:p14="http://schemas.microsoft.com/office/powerpoint/2010/main" val="208022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 calcmode="lin" valueType="num">
                                      <p:cBhvr additive="base">
                                        <p:cTn id="31" dur="500" fill="hold"/>
                                        <p:tgtEl>
                                          <p:spTgt spid="1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anim calcmode="lin" valueType="num">
                                      <p:cBhvr additive="base">
                                        <p:cTn id="37" dur="500" fill="hold"/>
                                        <p:tgtEl>
                                          <p:spTgt spid="1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
                                            <p:txEl>
                                              <p:pRg st="7" end="7"/>
                                            </p:txEl>
                                          </p:spTgt>
                                        </p:tgtEl>
                                        <p:attrNameLst>
                                          <p:attrName>style.visibility</p:attrName>
                                        </p:attrNameLst>
                                      </p:cBhvr>
                                      <p:to>
                                        <p:strVal val="visible"/>
                                      </p:to>
                                    </p:set>
                                    <p:anim calcmode="lin" valueType="num">
                                      <p:cBhvr additive="base">
                                        <p:cTn id="43" dur="500" fill="hold"/>
                                        <p:tgtEl>
                                          <p:spTgt spid="10">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
                                            <p:txEl>
                                              <p:pRg st="8" end="8"/>
                                            </p:txEl>
                                          </p:spTgt>
                                        </p:tgtEl>
                                        <p:attrNameLst>
                                          <p:attrName>style.visibility</p:attrName>
                                        </p:attrNameLst>
                                      </p:cBhvr>
                                      <p:to>
                                        <p:strVal val="visible"/>
                                      </p:to>
                                    </p:set>
                                    <p:anim calcmode="lin" valueType="num">
                                      <p:cBhvr additive="base">
                                        <p:cTn id="49" dur="500" fill="hold"/>
                                        <p:tgtEl>
                                          <p:spTgt spid="10">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
                                            <p:txEl>
                                              <p:pRg st="9" end="9"/>
                                            </p:txEl>
                                          </p:spTgt>
                                        </p:tgtEl>
                                        <p:attrNameLst>
                                          <p:attrName>style.visibility</p:attrName>
                                        </p:attrNameLst>
                                      </p:cBhvr>
                                      <p:to>
                                        <p:strVal val="visible"/>
                                      </p:to>
                                    </p:set>
                                    <p:anim calcmode="lin" valueType="num">
                                      <p:cBhvr additive="base">
                                        <p:cTn id="55" dur="500" fill="hold"/>
                                        <p:tgtEl>
                                          <p:spTgt spid="10">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
                                            <p:txEl>
                                              <p:pRg st="10" end="10"/>
                                            </p:txEl>
                                          </p:spTgt>
                                        </p:tgtEl>
                                        <p:attrNameLst>
                                          <p:attrName>style.visibility</p:attrName>
                                        </p:attrNameLst>
                                      </p:cBhvr>
                                      <p:to>
                                        <p:strVal val="visible"/>
                                      </p:to>
                                    </p:set>
                                    <p:anim calcmode="lin" valueType="num">
                                      <p:cBhvr additive="base">
                                        <p:cTn id="61" dur="500" fill="hold"/>
                                        <p:tgtEl>
                                          <p:spTgt spid="10">
                                            <p:txEl>
                                              <p:pRg st="10" end="1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0">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0">
                                            <p:txEl>
                                              <p:pRg st="12" end="12"/>
                                            </p:txEl>
                                          </p:spTgt>
                                        </p:tgtEl>
                                        <p:attrNameLst>
                                          <p:attrName>style.visibility</p:attrName>
                                        </p:attrNameLst>
                                      </p:cBhvr>
                                      <p:to>
                                        <p:strVal val="visible"/>
                                      </p:to>
                                    </p:set>
                                    <p:anim calcmode="lin" valueType="num">
                                      <p:cBhvr additive="base">
                                        <p:cTn id="67" dur="500" fill="hold"/>
                                        <p:tgtEl>
                                          <p:spTgt spid="10">
                                            <p:txEl>
                                              <p:pRg st="12" end="12"/>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0">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0">
                                            <p:txEl>
                                              <p:pRg st="14" end="14"/>
                                            </p:txEl>
                                          </p:spTgt>
                                        </p:tgtEl>
                                        <p:attrNameLst>
                                          <p:attrName>style.visibility</p:attrName>
                                        </p:attrNameLst>
                                      </p:cBhvr>
                                      <p:to>
                                        <p:strVal val="visible"/>
                                      </p:to>
                                    </p:set>
                                    <p:anim calcmode="lin" valueType="num">
                                      <p:cBhvr additive="base">
                                        <p:cTn id="73" dur="500" fill="hold"/>
                                        <p:tgtEl>
                                          <p:spTgt spid="10">
                                            <p:txEl>
                                              <p:pRg st="14" end="14"/>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10">
                                            <p:txEl>
                                              <p:pRg st="14" end="14"/>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0">
                                            <p:txEl>
                                              <p:pRg st="15" end="15"/>
                                            </p:txEl>
                                          </p:spTgt>
                                        </p:tgtEl>
                                        <p:attrNameLst>
                                          <p:attrName>style.visibility</p:attrName>
                                        </p:attrNameLst>
                                      </p:cBhvr>
                                      <p:to>
                                        <p:strVal val="visible"/>
                                      </p:to>
                                    </p:set>
                                    <p:anim calcmode="lin" valueType="num">
                                      <p:cBhvr additive="base">
                                        <p:cTn id="79" dur="500" fill="hold"/>
                                        <p:tgtEl>
                                          <p:spTgt spid="10">
                                            <p:txEl>
                                              <p:pRg st="15" end="15"/>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10">
                                            <p:txEl>
                                              <p:pRg st="15" end="15"/>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0">
                                            <p:txEl>
                                              <p:pRg st="16" end="16"/>
                                            </p:txEl>
                                          </p:spTgt>
                                        </p:tgtEl>
                                        <p:attrNameLst>
                                          <p:attrName>style.visibility</p:attrName>
                                        </p:attrNameLst>
                                      </p:cBhvr>
                                      <p:to>
                                        <p:strVal val="visible"/>
                                      </p:to>
                                    </p:set>
                                    <p:anim calcmode="lin" valueType="num">
                                      <p:cBhvr additive="base">
                                        <p:cTn id="85" dur="500" fill="hold"/>
                                        <p:tgtEl>
                                          <p:spTgt spid="10">
                                            <p:txEl>
                                              <p:pRg st="16" end="16"/>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10">
                                            <p:txEl>
                                              <p:pRg st="16" end="16"/>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4">
                                            <p:txEl>
                                              <p:pRg st="0" end="0"/>
                                            </p:txEl>
                                          </p:spTgt>
                                        </p:tgtEl>
                                        <p:attrNameLst>
                                          <p:attrName>style.visibility</p:attrName>
                                        </p:attrNameLst>
                                      </p:cBhvr>
                                      <p:to>
                                        <p:strVal val="visible"/>
                                      </p:to>
                                    </p:set>
                                    <p:anim calcmode="lin" valueType="num">
                                      <p:cBhvr additive="base">
                                        <p:cTn id="91"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92"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4">
                                            <p:txEl>
                                              <p:pRg st="1" end="1"/>
                                            </p:txEl>
                                          </p:spTgt>
                                        </p:tgtEl>
                                        <p:attrNameLst>
                                          <p:attrName>style.visibility</p:attrName>
                                        </p:attrNameLst>
                                      </p:cBhvr>
                                      <p:to>
                                        <p:strVal val="visible"/>
                                      </p:to>
                                    </p:set>
                                    <p:anim calcmode="lin" valueType="num">
                                      <p:cBhvr additive="base">
                                        <p:cTn id="97"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98"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4">
                                            <p:txEl>
                                              <p:pRg st="2" end="2"/>
                                            </p:txEl>
                                          </p:spTgt>
                                        </p:tgtEl>
                                        <p:attrNameLst>
                                          <p:attrName>style.visibility</p:attrName>
                                        </p:attrNameLst>
                                      </p:cBhvr>
                                      <p:to>
                                        <p:strVal val="visible"/>
                                      </p:to>
                                    </p:set>
                                    <p:anim calcmode="lin" valueType="num">
                                      <p:cBhvr additive="base">
                                        <p:cTn id="103"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04"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4">
                                            <p:txEl>
                                              <p:pRg st="3" end="3"/>
                                            </p:txEl>
                                          </p:spTgt>
                                        </p:tgtEl>
                                        <p:attrNameLst>
                                          <p:attrName>style.visibility</p:attrName>
                                        </p:attrNameLst>
                                      </p:cBhvr>
                                      <p:to>
                                        <p:strVal val="visible"/>
                                      </p:to>
                                    </p:set>
                                    <p:anim calcmode="lin" valueType="num">
                                      <p:cBhvr additive="base">
                                        <p:cTn id="109"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110"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4">
                                            <p:txEl>
                                              <p:pRg st="4" end="4"/>
                                            </p:txEl>
                                          </p:spTgt>
                                        </p:tgtEl>
                                        <p:attrNameLst>
                                          <p:attrName>style.visibility</p:attrName>
                                        </p:attrNameLst>
                                      </p:cBhvr>
                                      <p:to>
                                        <p:strVal val="visible"/>
                                      </p:to>
                                    </p:set>
                                    <p:anim calcmode="lin" valueType="num">
                                      <p:cBhvr additive="base">
                                        <p:cTn id="115"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116"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4">
                                            <p:txEl>
                                              <p:pRg st="5" end="5"/>
                                            </p:txEl>
                                          </p:spTgt>
                                        </p:tgtEl>
                                        <p:attrNameLst>
                                          <p:attrName>style.visibility</p:attrName>
                                        </p:attrNameLst>
                                      </p:cBhvr>
                                      <p:to>
                                        <p:strVal val="visible"/>
                                      </p:to>
                                    </p:set>
                                    <p:anim calcmode="lin" valueType="num">
                                      <p:cBhvr additive="base">
                                        <p:cTn id="121"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122"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4">
                                            <p:txEl>
                                              <p:pRg st="6" end="6"/>
                                            </p:txEl>
                                          </p:spTgt>
                                        </p:tgtEl>
                                        <p:attrNameLst>
                                          <p:attrName>style.visibility</p:attrName>
                                        </p:attrNameLst>
                                      </p:cBhvr>
                                      <p:to>
                                        <p:strVal val="visible"/>
                                      </p:to>
                                    </p:set>
                                    <p:anim calcmode="lin" valueType="num">
                                      <p:cBhvr additive="base">
                                        <p:cTn id="127" dur="500" fill="hold"/>
                                        <p:tgtEl>
                                          <p:spTgt spid="4">
                                            <p:txEl>
                                              <p:pRg st="6" end="6"/>
                                            </p:txEl>
                                          </p:spTgt>
                                        </p:tgtEl>
                                        <p:attrNameLst>
                                          <p:attrName>ppt_x</p:attrName>
                                        </p:attrNameLst>
                                      </p:cBhvr>
                                      <p:tavLst>
                                        <p:tav tm="0">
                                          <p:val>
                                            <p:strVal val="0-#ppt_w/2"/>
                                          </p:val>
                                        </p:tav>
                                        <p:tav tm="100000">
                                          <p:val>
                                            <p:strVal val="#ppt_x"/>
                                          </p:val>
                                        </p:tav>
                                      </p:tavLst>
                                    </p:anim>
                                    <p:anim calcmode="lin" valueType="num">
                                      <p:cBhvr additive="base">
                                        <p:cTn id="128"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4">
                                            <p:txEl>
                                              <p:pRg st="8" end="8"/>
                                            </p:txEl>
                                          </p:spTgt>
                                        </p:tgtEl>
                                        <p:attrNameLst>
                                          <p:attrName>style.visibility</p:attrName>
                                        </p:attrNameLst>
                                      </p:cBhvr>
                                      <p:to>
                                        <p:strVal val="visible"/>
                                      </p:to>
                                    </p:set>
                                    <p:anim calcmode="lin" valueType="num">
                                      <p:cBhvr additive="base">
                                        <p:cTn id="133" dur="500" fill="hold"/>
                                        <p:tgtEl>
                                          <p:spTgt spid="4">
                                            <p:txEl>
                                              <p:pRg st="8" end="8"/>
                                            </p:txEl>
                                          </p:spTgt>
                                        </p:tgtEl>
                                        <p:attrNameLst>
                                          <p:attrName>ppt_x</p:attrName>
                                        </p:attrNameLst>
                                      </p:cBhvr>
                                      <p:tavLst>
                                        <p:tav tm="0">
                                          <p:val>
                                            <p:strVal val="0-#ppt_w/2"/>
                                          </p:val>
                                        </p:tav>
                                        <p:tav tm="100000">
                                          <p:val>
                                            <p:strVal val="#ppt_x"/>
                                          </p:val>
                                        </p:tav>
                                      </p:tavLst>
                                    </p:anim>
                                    <p:anim calcmode="lin" valueType="num">
                                      <p:cBhvr additive="base">
                                        <p:cTn id="134" dur="500" fill="hold"/>
                                        <p:tgtEl>
                                          <p:spTgt spid="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4">
                                            <p:txEl>
                                              <p:pRg st="9" end="9"/>
                                            </p:txEl>
                                          </p:spTgt>
                                        </p:tgtEl>
                                        <p:attrNameLst>
                                          <p:attrName>style.visibility</p:attrName>
                                        </p:attrNameLst>
                                      </p:cBhvr>
                                      <p:to>
                                        <p:strVal val="visible"/>
                                      </p:to>
                                    </p:set>
                                    <p:anim calcmode="lin" valueType="num">
                                      <p:cBhvr additive="base">
                                        <p:cTn id="139" dur="500" fill="hold"/>
                                        <p:tgtEl>
                                          <p:spTgt spid="4">
                                            <p:txEl>
                                              <p:pRg st="9" end="9"/>
                                            </p:txEl>
                                          </p:spTgt>
                                        </p:tgtEl>
                                        <p:attrNameLst>
                                          <p:attrName>ppt_x</p:attrName>
                                        </p:attrNameLst>
                                      </p:cBhvr>
                                      <p:tavLst>
                                        <p:tav tm="0">
                                          <p:val>
                                            <p:strVal val="0-#ppt_w/2"/>
                                          </p:val>
                                        </p:tav>
                                        <p:tav tm="100000">
                                          <p:val>
                                            <p:strVal val="#ppt_x"/>
                                          </p:val>
                                        </p:tav>
                                      </p:tavLst>
                                    </p:anim>
                                    <p:anim calcmode="lin" valueType="num">
                                      <p:cBhvr additive="base">
                                        <p:cTn id="140" dur="500" fill="hold"/>
                                        <p:tgtEl>
                                          <p:spTgt spid="4">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grpId="0" nodeType="clickEffect">
                                  <p:stCondLst>
                                    <p:cond delay="0"/>
                                  </p:stCondLst>
                                  <p:childTnLst>
                                    <p:set>
                                      <p:cBhvr>
                                        <p:cTn id="144" dur="1" fill="hold">
                                          <p:stCondLst>
                                            <p:cond delay="0"/>
                                          </p:stCondLst>
                                        </p:cTn>
                                        <p:tgtEl>
                                          <p:spTgt spid="4">
                                            <p:txEl>
                                              <p:pRg st="10" end="10"/>
                                            </p:txEl>
                                          </p:spTgt>
                                        </p:tgtEl>
                                        <p:attrNameLst>
                                          <p:attrName>style.visibility</p:attrName>
                                        </p:attrNameLst>
                                      </p:cBhvr>
                                      <p:to>
                                        <p:strVal val="visible"/>
                                      </p:to>
                                    </p:set>
                                    <p:anim calcmode="lin" valueType="num">
                                      <p:cBhvr additive="base">
                                        <p:cTn id="145" dur="500" fill="hold"/>
                                        <p:tgtEl>
                                          <p:spTgt spid="4">
                                            <p:txEl>
                                              <p:pRg st="10" end="10"/>
                                            </p:txEl>
                                          </p:spTgt>
                                        </p:tgtEl>
                                        <p:attrNameLst>
                                          <p:attrName>ppt_x</p:attrName>
                                        </p:attrNameLst>
                                      </p:cBhvr>
                                      <p:tavLst>
                                        <p:tav tm="0">
                                          <p:val>
                                            <p:strVal val="0-#ppt_w/2"/>
                                          </p:val>
                                        </p:tav>
                                        <p:tav tm="100000">
                                          <p:val>
                                            <p:strVal val="#ppt_x"/>
                                          </p:val>
                                        </p:tav>
                                      </p:tavLst>
                                    </p:anim>
                                    <p:anim calcmode="lin" valueType="num">
                                      <p:cBhvr additive="base">
                                        <p:cTn id="146" dur="500" fill="hold"/>
                                        <p:tgtEl>
                                          <p:spTgt spid="4">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8" fill="hold" grpId="0" nodeType="clickEffect">
                                  <p:stCondLst>
                                    <p:cond delay="0"/>
                                  </p:stCondLst>
                                  <p:childTnLst>
                                    <p:set>
                                      <p:cBhvr>
                                        <p:cTn id="150" dur="1" fill="hold">
                                          <p:stCondLst>
                                            <p:cond delay="0"/>
                                          </p:stCondLst>
                                        </p:cTn>
                                        <p:tgtEl>
                                          <p:spTgt spid="4">
                                            <p:txEl>
                                              <p:pRg st="11" end="11"/>
                                            </p:txEl>
                                          </p:spTgt>
                                        </p:tgtEl>
                                        <p:attrNameLst>
                                          <p:attrName>style.visibility</p:attrName>
                                        </p:attrNameLst>
                                      </p:cBhvr>
                                      <p:to>
                                        <p:strVal val="visible"/>
                                      </p:to>
                                    </p:set>
                                    <p:anim calcmode="lin" valueType="num">
                                      <p:cBhvr additive="base">
                                        <p:cTn id="151" dur="500" fill="hold"/>
                                        <p:tgtEl>
                                          <p:spTgt spid="4">
                                            <p:txEl>
                                              <p:pRg st="11" end="11"/>
                                            </p:txEl>
                                          </p:spTgt>
                                        </p:tgtEl>
                                        <p:attrNameLst>
                                          <p:attrName>ppt_x</p:attrName>
                                        </p:attrNameLst>
                                      </p:cBhvr>
                                      <p:tavLst>
                                        <p:tav tm="0">
                                          <p:val>
                                            <p:strVal val="0-#ppt_w/2"/>
                                          </p:val>
                                        </p:tav>
                                        <p:tav tm="100000">
                                          <p:val>
                                            <p:strVal val="#ppt_x"/>
                                          </p:val>
                                        </p:tav>
                                      </p:tavLst>
                                    </p:anim>
                                    <p:anim calcmode="lin" valueType="num">
                                      <p:cBhvr additive="base">
                                        <p:cTn id="152" dur="500" fill="hold"/>
                                        <p:tgtEl>
                                          <p:spTgt spid="4">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4">
                                            <p:txEl>
                                              <p:pRg st="12" end="12"/>
                                            </p:txEl>
                                          </p:spTgt>
                                        </p:tgtEl>
                                        <p:attrNameLst>
                                          <p:attrName>style.visibility</p:attrName>
                                        </p:attrNameLst>
                                      </p:cBhvr>
                                      <p:to>
                                        <p:strVal val="visible"/>
                                      </p:to>
                                    </p:set>
                                    <p:anim calcmode="lin" valueType="num">
                                      <p:cBhvr additive="base">
                                        <p:cTn id="157" dur="500" fill="hold"/>
                                        <p:tgtEl>
                                          <p:spTgt spid="4">
                                            <p:txEl>
                                              <p:pRg st="12" end="12"/>
                                            </p:txEl>
                                          </p:spTgt>
                                        </p:tgtEl>
                                        <p:attrNameLst>
                                          <p:attrName>ppt_x</p:attrName>
                                        </p:attrNameLst>
                                      </p:cBhvr>
                                      <p:tavLst>
                                        <p:tav tm="0">
                                          <p:val>
                                            <p:strVal val="0-#ppt_w/2"/>
                                          </p:val>
                                        </p:tav>
                                        <p:tav tm="100000">
                                          <p:val>
                                            <p:strVal val="#ppt_x"/>
                                          </p:val>
                                        </p:tav>
                                      </p:tavLst>
                                    </p:anim>
                                    <p:anim calcmode="lin" valueType="num">
                                      <p:cBhvr additive="base">
                                        <p:cTn id="158" dur="500" fill="hold"/>
                                        <p:tgtEl>
                                          <p:spTgt spid="4">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4">
                                            <p:txEl>
                                              <p:pRg st="13" end="13"/>
                                            </p:txEl>
                                          </p:spTgt>
                                        </p:tgtEl>
                                        <p:attrNameLst>
                                          <p:attrName>style.visibility</p:attrName>
                                        </p:attrNameLst>
                                      </p:cBhvr>
                                      <p:to>
                                        <p:strVal val="visible"/>
                                      </p:to>
                                    </p:set>
                                    <p:anim calcmode="lin" valueType="num">
                                      <p:cBhvr additive="base">
                                        <p:cTn id="163" dur="500" fill="hold"/>
                                        <p:tgtEl>
                                          <p:spTgt spid="4">
                                            <p:txEl>
                                              <p:pRg st="13" end="13"/>
                                            </p:txEl>
                                          </p:spTgt>
                                        </p:tgtEl>
                                        <p:attrNameLst>
                                          <p:attrName>ppt_x</p:attrName>
                                        </p:attrNameLst>
                                      </p:cBhvr>
                                      <p:tavLst>
                                        <p:tav tm="0">
                                          <p:val>
                                            <p:strVal val="0-#ppt_w/2"/>
                                          </p:val>
                                        </p:tav>
                                        <p:tav tm="100000">
                                          <p:val>
                                            <p:strVal val="#ppt_x"/>
                                          </p:val>
                                        </p:tav>
                                      </p:tavLst>
                                    </p:anim>
                                    <p:anim calcmode="lin" valueType="num">
                                      <p:cBhvr additive="base">
                                        <p:cTn id="164" dur="500" fill="hold"/>
                                        <p:tgtEl>
                                          <p:spTgt spid="4">
                                            <p:txEl>
                                              <p:pRg st="13" end="13"/>
                                            </p:txEl>
                                          </p:spTgt>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4">
                                            <p:txEl>
                                              <p:pRg st="14" end="14"/>
                                            </p:txEl>
                                          </p:spTgt>
                                        </p:tgtEl>
                                        <p:attrNameLst>
                                          <p:attrName>style.visibility</p:attrName>
                                        </p:attrNameLst>
                                      </p:cBhvr>
                                      <p:to>
                                        <p:strVal val="visible"/>
                                      </p:to>
                                    </p:set>
                                    <p:anim calcmode="lin" valueType="num">
                                      <p:cBhvr additive="base">
                                        <p:cTn id="169" dur="500" fill="hold"/>
                                        <p:tgtEl>
                                          <p:spTgt spid="4">
                                            <p:txEl>
                                              <p:pRg st="14" end="14"/>
                                            </p:txEl>
                                          </p:spTgt>
                                        </p:tgtEl>
                                        <p:attrNameLst>
                                          <p:attrName>ppt_x</p:attrName>
                                        </p:attrNameLst>
                                      </p:cBhvr>
                                      <p:tavLst>
                                        <p:tav tm="0">
                                          <p:val>
                                            <p:strVal val="0-#ppt_w/2"/>
                                          </p:val>
                                        </p:tav>
                                        <p:tav tm="100000">
                                          <p:val>
                                            <p:strVal val="#ppt_x"/>
                                          </p:val>
                                        </p:tav>
                                      </p:tavLst>
                                    </p:anim>
                                    <p:anim calcmode="lin" valueType="num">
                                      <p:cBhvr additive="base">
                                        <p:cTn id="170" dur="500" fill="hold"/>
                                        <p:tgtEl>
                                          <p:spTgt spid="4">
                                            <p:txEl>
                                              <p:pRg st="14" end="1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37361" y="418013"/>
            <a:ext cx="7538719" cy="1065929"/>
          </a:xfrm>
        </p:spPr>
        <p:txBody>
          <a:bodyPr>
            <a:normAutofit/>
          </a:bodyPr>
          <a:lstStyle/>
          <a:p>
            <a:r>
              <a:rPr lang="en-US" b="1" u="sng" dirty="0">
                <a:solidFill>
                  <a:schemeClr val="bg1"/>
                </a:solidFill>
              </a:rPr>
              <a:t>PWM</a:t>
            </a: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32755" y="794221"/>
            <a:ext cx="16010313" cy="3438144"/>
          </a:xfrm>
        </p:spPr>
        <p:txBody>
          <a:bodyPr>
            <a:noAutofit/>
          </a:bodyPr>
          <a:lstStyle/>
          <a:p>
            <a:pPr marL="0" indent="0">
              <a:buNone/>
            </a:pPr>
            <a:r>
              <a:rPr lang="en-CA" sz="3600" dirty="0"/>
              <a:t>The </a:t>
            </a:r>
            <a:r>
              <a:rPr lang="en-CA" sz="3600" b="1" dirty="0">
                <a:solidFill>
                  <a:srgbClr val="FF0000"/>
                </a:solidFill>
              </a:rPr>
              <a:t>main PWM modes </a:t>
            </a:r>
            <a:r>
              <a:rPr lang="en-CA" sz="3600" dirty="0"/>
              <a:t>are "Fast PWM" and "Phase-correct PWM“.</a:t>
            </a:r>
          </a:p>
          <a:p>
            <a:pPr marL="0" indent="0">
              <a:buNone/>
            </a:pPr>
            <a:r>
              <a:rPr lang="en-US" sz="3600" dirty="0"/>
              <a:t>There are </a:t>
            </a:r>
            <a:r>
              <a:rPr lang="en-US" sz="3600" b="1" dirty="0">
                <a:solidFill>
                  <a:srgbClr val="FF0000"/>
                </a:solidFill>
              </a:rPr>
              <a:t>two Fast PWM modes </a:t>
            </a:r>
            <a:r>
              <a:rPr lang="en-US" sz="3600" dirty="0"/>
              <a:t>for Timer/Counter 0 unit. These are </a:t>
            </a:r>
            <a:r>
              <a:rPr lang="en-US" sz="3600" b="1" dirty="0">
                <a:solidFill>
                  <a:srgbClr val="00B050"/>
                </a:solidFill>
              </a:rPr>
              <a:t>modes 3 and 7</a:t>
            </a:r>
            <a:r>
              <a:rPr lang="en-US" sz="3600" dirty="0"/>
              <a:t>, which are selected using the waveform generation mode bits (WGM02, WGM01, and WGM00).  The WGM01 and WGM00 bits are located in the TCCR0A register. The WGM02 bit is located in the TCCR0B register.</a:t>
            </a:r>
          </a:p>
          <a:p>
            <a:pPr marL="0" indent="0">
              <a:buNone/>
            </a:pPr>
            <a:r>
              <a:rPr lang="en-US" sz="3600" dirty="0"/>
              <a:t>There are </a:t>
            </a:r>
            <a:r>
              <a:rPr lang="en-US" sz="3600" b="1" dirty="0">
                <a:solidFill>
                  <a:srgbClr val="FF0000"/>
                </a:solidFill>
              </a:rPr>
              <a:t>2 types </a:t>
            </a:r>
            <a:r>
              <a:rPr lang="en-US" sz="3600" dirty="0"/>
              <a:t>of Fast PWM modes: (a) Non-inverting and (b) Inverting Fast PWM</a:t>
            </a:r>
          </a:p>
          <a:p>
            <a:pPr marL="0" indent="0">
              <a:buNone/>
            </a:pPr>
            <a:endParaRPr lang="en-US" sz="3600" dirty="0"/>
          </a:p>
        </p:txBody>
      </p:sp>
      <p:sp>
        <p:nvSpPr>
          <p:cNvPr id="5" name="Date Placeholder 4"/>
          <p:cNvSpPr>
            <a:spLocks noGrp="1"/>
          </p:cNvSpPr>
          <p:nvPr>
            <p:ph type="dt" sz="half" idx="10"/>
          </p:nvPr>
        </p:nvSpPr>
        <p:spPr/>
        <p:txBody>
          <a:bodyPr/>
          <a:lstStyle/>
          <a:p>
            <a:fld id="{2E8C2DAC-8D2E-4895-91CC-772841FF2F53}"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8</a:t>
            </a:fld>
            <a:endParaRPr lang="en-US" dirty="0"/>
          </a:p>
        </p:txBody>
      </p:sp>
      <p:sp>
        <p:nvSpPr>
          <p:cNvPr id="8" name="Title 1">
            <a:extLst>
              <a:ext uri="{FF2B5EF4-FFF2-40B4-BE49-F238E27FC236}">
                <a16:creationId xmlns:a16="http://schemas.microsoft.com/office/drawing/2014/main" id="{0659A64C-EA0D-4DC2-A8C5-C88EFBF64979}"/>
              </a:ext>
            </a:extLst>
          </p:cNvPr>
          <p:cNvSpPr txBox="1">
            <a:spLocks/>
          </p:cNvSpPr>
          <p:nvPr/>
        </p:nvSpPr>
        <p:spPr>
          <a:xfrm>
            <a:off x="1870365" y="135381"/>
            <a:ext cx="7538719" cy="912024"/>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5400" b="1">
                <a:solidFill>
                  <a:srgbClr val="0070C0"/>
                </a:solidFill>
              </a:rPr>
              <a:t>PWM</a:t>
            </a:r>
            <a:endParaRPr lang="en-US" sz="5400" b="1" dirty="0">
              <a:solidFill>
                <a:srgbClr val="0070C0"/>
              </a:solidFill>
            </a:endParaRPr>
          </a:p>
        </p:txBody>
      </p:sp>
      <p:pic>
        <p:nvPicPr>
          <p:cNvPr id="9" name="Picture 8">
            <a:extLst>
              <a:ext uri="{FF2B5EF4-FFF2-40B4-BE49-F238E27FC236}">
                <a16:creationId xmlns:a16="http://schemas.microsoft.com/office/drawing/2014/main" id="{2E0E42CB-49ED-4442-89CB-F030F9856445}"/>
              </a:ext>
            </a:extLst>
          </p:cNvPr>
          <p:cNvPicPr>
            <a:picLocks noChangeAspect="1"/>
          </p:cNvPicPr>
          <p:nvPr/>
        </p:nvPicPr>
        <p:blipFill rotWithShape="1">
          <a:blip r:embed="rId2"/>
          <a:srcRect t="8673" b="4720"/>
          <a:stretch/>
        </p:blipFill>
        <p:spPr>
          <a:xfrm>
            <a:off x="389143" y="5481639"/>
            <a:ext cx="8886937" cy="1188720"/>
          </a:xfrm>
          <a:prstGeom prst="rect">
            <a:avLst/>
          </a:prstGeom>
        </p:spPr>
      </p:pic>
      <p:pic>
        <p:nvPicPr>
          <p:cNvPr id="10" name="Picture 9">
            <a:extLst>
              <a:ext uri="{FF2B5EF4-FFF2-40B4-BE49-F238E27FC236}">
                <a16:creationId xmlns:a16="http://schemas.microsoft.com/office/drawing/2014/main" id="{1E8DFCF5-ECBB-4512-A3FC-67B8FB967CF5}"/>
              </a:ext>
            </a:extLst>
          </p:cNvPr>
          <p:cNvPicPr>
            <a:picLocks noChangeAspect="1"/>
          </p:cNvPicPr>
          <p:nvPr/>
        </p:nvPicPr>
        <p:blipFill rotWithShape="1">
          <a:blip r:embed="rId3"/>
          <a:srcRect t="2016" b="11707"/>
          <a:stretch/>
        </p:blipFill>
        <p:spPr>
          <a:xfrm>
            <a:off x="375451" y="5463156"/>
            <a:ext cx="8900629" cy="1201783"/>
          </a:xfrm>
          <a:prstGeom prst="rect">
            <a:avLst/>
          </a:prstGeom>
        </p:spPr>
      </p:pic>
      <p:pic>
        <p:nvPicPr>
          <p:cNvPr id="11" name="Picture 10">
            <a:extLst>
              <a:ext uri="{FF2B5EF4-FFF2-40B4-BE49-F238E27FC236}">
                <a16:creationId xmlns:a16="http://schemas.microsoft.com/office/drawing/2014/main" id="{98C93BA3-2DEF-47DC-9D6A-26CB3E39311E}"/>
              </a:ext>
            </a:extLst>
          </p:cNvPr>
          <p:cNvPicPr>
            <a:picLocks noChangeAspect="1"/>
          </p:cNvPicPr>
          <p:nvPr/>
        </p:nvPicPr>
        <p:blipFill rotWithShape="1">
          <a:blip r:embed="rId4"/>
          <a:srcRect t="5714" b="6554"/>
          <a:stretch/>
        </p:blipFill>
        <p:spPr>
          <a:xfrm>
            <a:off x="389143" y="4114188"/>
            <a:ext cx="8886938" cy="1240971"/>
          </a:xfrm>
          <a:prstGeom prst="rect">
            <a:avLst/>
          </a:prstGeom>
        </p:spPr>
      </p:pic>
      <p:pic>
        <p:nvPicPr>
          <p:cNvPr id="12" name="Picture 11">
            <a:extLst>
              <a:ext uri="{FF2B5EF4-FFF2-40B4-BE49-F238E27FC236}">
                <a16:creationId xmlns:a16="http://schemas.microsoft.com/office/drawing/2014/main" id="{EA47A922-FE95-43B1-B54F-C731DC1014D3}"/>
              </a:ext>
            </a:extLst>
          </p:cNvPr>
          <p:cNvPicPr>
            <a:picLocks noChangeAspect="1"/>
          </p:cNvPicPr>
          <p:nvPr/>
        </p:nvPicPr>
        <p:blipFill rotWithShape="1">
          <a:blip r:embed="rId5"/>
          <a:srcRect t="9868" b="8472"/>
          <a:stretch/>
        </p:blipFill>
        <p:spPr>
          <a:xfrm>
            <a:off x="389143" y="4165864"/>
            <a:ext cx="9033633" cy="1204007"/>
          </a:xfrm>
          <a:prstGeom prst="rect">
            <a:avLst/>
          </a:prstGeom>
        </p:spPr>
      </p:pic>
      <p:pic>
        <p:nvPicPr>
          <p:cNvPr id="13" name="Picture 12">
            <a:extLst>
              <a:ext uri="{FF2B5EF4-FFF2-40B4-BE49-F238E27FC236}">
                <a16:creationId xmlns:a16="http://schemas.microsoft.com/office/drawing/2014/main" id="{EF19CC15-DE0C-4EF5-A354-B04F06B37833}"/>
              </a:ext>
            </a:extLst>
          </p:cNvPr>
          <p:cNvPicPr>
            <a:picLocks noChangeAspect="1"/>
          </p:cNvPicPr>
          <p:nvPr/>
        </p:nvPicPr>
        <p:blipFill rotWithShape="1">
          <a:blip r:embed="rId6"/>
          <a:srcRect l="1295" r="1001"/>
          <a:stretch/>
        </p:blipFill>
        <p:spPr>
          <a:xfrm>
            <a:off x="9812739" y="4232365"/>
            <a:ext cx="6413705" cy="3481846"/>
          </a:xfrm>
          <a:prstGeom prst="rect">
            <a:avLst/>
          </a:prstGeom>
        </p:spPr>
      </p:pic>
      <p:pic>
        <p:nvPicPr>
          <p:cNvPr id="14" name="Picture 13">
            <a:extLst>
              <a:ext uri="{FF2B5EF4-FFF2-40B4-BE49-F238E27FC236}">
                <a16:creationId xmlns:a16="http://schemas.microsoft.com/office/drawing/2014/main" id="{A7143E31-B34F-4420-A5E5-CFBAB466A022}"/>
              </a:ext>
            </a:extLst>
          </p:cNvPr>
          <p:cNvPicPr>
            <a:picLocks noChangeAspect="1"/>
          </p:cNvPicPr>
          <p:nvPr/>
        </p:nvPicPr>
        <p:blipFill>
          <a:blip r:embed="rId7"/>
          <a:stretch>
            <a:fillRect/>
          </a:stretch>
        </p:blipFill>
        <p:spPr>
          <a:xfrm>
            <a:off x="542467" y="6772936"/>
            <a:ext cx="8866617" cy="1128215"/>
          </a:xfrm>
          <a:prstGeom prst="rect">
            <a:avLst/>
          </a:prstGeom>
        </p:spPr>
      </p:pic>
      <p:pic>
        <p:nvPicPr>
          <p:cNvPr id="4" name="Picture 3">
            <a:extLst>
              <a:ext uri="{FF2B5EF4-FFF2-40B4-BE49-F238E27FC236}">
                <a16:creationId xmlns:a16="http://schemas.microsoft.com/office/drawing/2014/main" id="{BB7E9C40-101E-DF92-BE38-5F48C30FF379}"/>
              </a:ext>
            </a:extLst>
          </p:cNvPr>
          <p:cNvPicPr>
            <a:picLocks noChangeAspect="1"/>
          </p:cNvPicPr>
          <p:nvPr/>
        </p:nvPicPr>
        <p:blipFill>
          <a:blip r:embed="rId8"/>
          <a:stretch>
            <a:fillRect/>
          </a:stretch>
        </p:blipFill>
        <p:spPr>
          <a:xfrm>
            <a:off x="522148" y="6766934"/>
            <a:ext cx="8886936" cy="1133954"/>
          </a:xfrm>
          <a:prstGeom prst="rect">
            <a:avLst/>
          </a:prstGeom>
        </p:spPr>
      </p:pic>
    </p:spTree>
    <p:extLst>
      <p:ext uri="{BB962C8B-B14F-4D97-AF65-F5344CB8AC3E}">
        <p14:creationId xmlns:p14="http://schemas.microsoft.com/office/powerpoint/2010/main" val="2581025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down)">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45818" y="781158"/>
            <a:ext cx="16108879" cy="2744845"/>
          </a:xfrm>
        </p:spPr>
        <p:txBody>
          <a:bodyPr>
            <a:noAutofit/>
          </a:bodyPr>
          <a:lstStyle/>
          <a:p>
            <a:pPr marL="0" indent="0">
              <a:spcBef>
                <a:spcPts val="600"/>
              </a:spcBef>
              <a:buNone/>
            </a:pPr>
            <a:r>
              <a:rPr lang="en-US" sz="3600" dirty="0"/>
              <a:t>The difference between the mode 3 and mode 7 Fast PWMs is their TOP values.</a:t>
            </a:r>
          </a:p>
          <a:p>
            <a:pPr marL="0" indent="0">
              <a:spcBef>
                <a:spcPts val="600"/>
              </a:spcBef>
              <a:buNone/>
            </a:pPr>
            <a:r>
              <a:rPr lang="en-US" sz="3600" dirty="0"/>
              <a:t>For mode 3, the TOP value is fixed (0xFF), whereas that for mode 7 is </a:t>
            </a:r>
            <a:r>
              <a:rPr lang="en-US" sz="3600" dirty="0" err="1"/>
              <a:t>OCRnA</a:t>
            </a:r>
            <a:r>
              <a:rPr lang="en-US" sz="3600" dirty="0"/>
              <a:t> value.</a:t>
            </a:r>
          </a:p>
          <a:p>
            <a:pPr marL="0" indent="0">
              <a:spcBef>
                <a:spcPts val="600"/>
              </a:spcBef>
              <a:buNone/>
            </a:pPr>
            <a:r>
              <a:rPr lang="en-US" sz="3600" dirty="0"/>
              <a:t>So, if mode 7 is used then we must </a:t>
            </a:r>
            <a:r>
              <a:rPr lang="en-US" sz="3600" b="1" dirty="0">
                <a:solidFill>
                  <a:srgbClr val="00B050"/>
                </a:solidFill>
              </a:rPr>
              <a:t>load a count value </a:t>
            </a:r>
            <a:r>
              <a:rPr lang="en-US" sz="3600" dirty="0"/>
              <a:t>into the </a:t>
            </a:r>
            <a:r>
              <a:rPr lang="en-US" sz="3600" b="1" dirty="0" err="1">
                <a:solidFill>
                  <a:srgbClr val="FF0000"/>
                </a:solidFill>
              </a:rPr>
              <a:t>OCRnA</a:t>
            </a:r>
            <a:r>
              <a:rPr lang="en-US" sz="3600" b="1" dirty="0">
                <a:solidFill>
                  <a:srgbClr val="FF0000"/>
                </a:solidFill>
              </a:rPr>
              <a:t> register</a:t>
            </a:r>
            <a:r>
              <a:rPr lang="en-US" sz="3600" dirty="0"/>
              <a:t>.</a:t>
            </a:r>
          </a:p>
          <a:p>
            <a:pPr marL="0" indent="0">
              <a:spcBef>
                <a:spcPts val="600"/>
              </a:spcBef>
              <a:buNone/>
            </a:pPr>
            <a:r>
              <a:rPr lang="en-US" sz="3600" dirty="0"/>
              <a:t>Once a mode is selected, the timer/counter starts counting from BOTTOM to TOP value and when the TOP value is reached the counting is repeated from BOTTOM. </a:t>
            </a:r>
          </a:p>
        </p:txBody>
      </p:sp>
      <p:sp>
        <p:nvSpPr>
          <p:cNvPr id="5" name="Date Placeholder 4"/>
          <p:cNvSpPr>
            <a:spLocks noGrp="1"/>
          </p:cNvSpPr>
          <p:nvPr>
            <p:ph type="dt" sz="half" idx="10"/>
          </p:nvPr>
        </p:nvSpPr>
        <p:spPr/>
        <p:txBody>
          <a:bodyPr/>
          <a:lstStyle/>
          <a:p>
            <a:fld id="{2E8C2DAC-8D2E-4895-91CC-772841FF2F53}"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9</a:t>
            </a:fld>
            <a:endParaRPr lang="en-US" dirty="0"/>
          </a:p>
        </p:txBody>
      </p:sp>
      <p:sp>
        <p:nvSpPr>
          <p:cNvPr id="8" name="Title 1">
            <a:extLst>
              <a:ext uri="{FF2B5EF4-FFF2-40B4-BE49-F238E27FC236}">
                <a16:creationId xmlns:a16="http://schemas.microsoft.com/office/drawing/2014/main" id="{0659A64C-EA0D-4DC2-A8C5-C88EFBF64979}"/>
              </a:ext>
            </a:extLst>
          </p:cNvPr>
          <p:cNvSpPr txBox="1">
            <a:spLocks/>
          </p:cNvSpPr>
          <p:nvPr/>
        </p:nvSpPr>
        <p:spPr>
          <a:xfrm>
            <a:off x="1870365" y="135381"/>
            <a:ext cx="7538719" cy="800723"/>
          </a:xfrm>
          <a:prstGeom prst="rect">
            <a:avLst/>
          </a:prstGeom>
        </p:spPr>
        <p:txBody>
          <a:bodyPr vert="horz" lIns="91440" tIns="45720" rIns="91440" bIns="45720" rtlCol="0" anchor="ctr">
            <a:normAutofit lnSpcReduction="10000"/>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5400" b="1">
                <a:solidFill>
                  <a:srgbClr val="0070C0"/>
                </a:solidFill>
              </a:rPr>
              <a:t>PWM</a:t>
            </a:r>
            <a:endParaRPr lang="en-US" sz="5400" b="1" dirty="0">
              <a:solidFill>
                <a:srgbClr val="0070C0"/>
              </a:solidFill>
            </a:endParaRPr>
          </a:p>
        </p:txBody>
      </p:sp>
      <p:pic>
        <p:nvPicPr>
          <p:cNvPr id="4" name="Picture 3"/>
          <p:cNvPicPr>
            <a:picLocks noChangeAspect="1"/>
          </p:cNvPicPr>
          <p:nvPr/>
        </p:nvPicPr>
        <p:blipFill>
          <a:blip r:embed="rId2"/>
          <a:stretch>
            <a:fillRect/>
          </a:stretch>
        </p:blipFill>
        <p:spPr>
          <a:xfrm>
            <a:off x="405602" y="3539066"/>
            <a:ext cx="9534264" cy="4414434"/>
          </a:xfrm>
          <a:prstGeom prst="rect">
            <a:avLst/>
          </a:prstGeom>
        </p:spPr>
      </p:pic>
      <p:sp>
        <p:nvSpPr>
          <p:cNvPr id="15" name="Rectangle 14"/>
          <p:cNvSpPr/>
          <p:nvPr/>
        </p:nvSpPr>
        <p:spPr>
          <a:xfrm>
            <a:off x="10044981" y="3795829"/>
            <a:ext cx="6051172" cy="830997"/>
          </a:xfrm>
          <a:prstGeom prst="rect">
            <a:avLst/>
          </a:prstGeom>
        </p:spPr>
        <p:txBody>
          <a:bodyPr wrap="square">
            <a:spAutoFit/>
          </a:bodyPr>
          <a:lstStyle/>
          <a:p>
            <a:r>
              <a:rPr lang="en-US" sz="2400" dirty="0"/>
              <a:t>The table in the right shows the </a:t>
            </a:r>
            <a:r>
              <a:rPr lang="en-US" sz="2400" b="1" dirty="0">
                <a:solidFill>
                  <a:srgbClr val="00B050"/>
                </a:solidFill>
              </a:rPr>
              <a:t>WGM bits combination </a:t>
            </a:r>
            <a:r>
              <a:rPr lang="en-US" sz="2400" dirty="0"/>
              <a:t>for mode 3 and mode 7.</a:t>
            </a:r>
          </a:p>
        </p:txBody>
      </p:sp>
      <p:sp>
        <p:nvSpPr>
          <p:cNvPr id="17" name="TextBox 16"/>
          <p:cNvSpPr txBox="1"/>
          <p:nvPr/>
        </p:nvSpPr>
        <p:spPr>
          <a:xfrm>
            <a:off x="405602" y="5822665"/>
            <a:ext cx="9415731" cy="358004"/>
          </a:xfrm>
          <a:prstGeom prst="rect">
            <a:avLst/>
          </a:prstGeom>
          <a:noFill/>
          <a:ln w="57150">
            <a:solidFill>
              <a:srgbClr val="FF0000"/>
            </a:solidFill>
            <a:prstDash val="sysDash"/>
          </a:ln>
        </p:spPr>
        <p:txBody>
          <a:bodyPr wrap="square" rtlCol="0">
            <a:spAutoFit/>
          </a:bodyPr>
          <a:lstStyle/>
          <a:p>
            <a:endParaRPr lang="en-US" sz="2000" dirty="0"/>
          </a:p>
        </p:txBody>
      </p:sp>
      <p:sp>
        <p:nvSpPr>
          <p:cNvPr id="20" name="TextBox 19"/>
          <p:cNvSpPr txBox="1"/>
          <p:nvPr/>
        </p:nvSpPr>
        <p:spPr>
          <a:xfrm>
            <a:off x="431002" y="7517748"/>
            <a:ext cx="9415731" cy="358004"/>
          </a:xfrm>
          <a:prstGeom prst="rect">
            <a:avLst/>
          </a:prstGeom>
          <a:noFill/>
          <a:ln w="57150">
            <a:solidFill>
              <a:srgbClr val="FF0000"/>
            </a:solidFill>
            <a:prstDash val="sysDash"/>
          </a:ln>
        </p:spPr>
        <p:txBody>
          <a:bodyPr wrap="square" rtlCol="0">
            <a:spAutoFit/>
          </a:bodyPr>
          <a:lstStyle/>
          <a:p>
            <a:endParaRPr lang="en-US" sz="2000" dirty="0"/>
          </a:p>
        </p:txBody>
      </p:sp>
      <p:sp>
        <p:nvSpPr>
          <p:cNvPr id="22" name="Right Brace 21"/>
          <p:cNvSpPr/>
          <p:nvPr/>
        </p:nvSpPr>
        <p:spPr>
          <a:xfrm rot="16200000" flipV="1">
            <a:off x="2664374" y="2495038"/>
            <a:ext cx="501586" cy="3008869"/>
          </a:xfrm>
          <a:prstGeom prst="rightBrace">
            <a:avLst>
              <a:gd name="adj1" fmla="val 63094"/>
              <a:gd name="adj2" fmla="val 49436"/>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r"/>
            <a:endParaRPr lang="en-US" dirty="0"/>
          </a:p>
        </p:txBody>
      </p:sp>
      <p:pic>
        <p:nvPicPr>
          <p:cNvPr id="2" name="Picture 1">
            <a:extLst>
              <a:ext uri="{FF2B5EF4-FFF2-40B4-BE49-F238E27FC236}">
                <a16:creationId xmlns:a16="http://schemas.microsoft.com/office/drawing/2014/main" id="{AF874BDF-F07F-022D-B4F1-B3074A6A95DF}"/>
              </a:ext>
            </a:extLst>
          </p:cNvPr>
          <p:cNvPicPr>
            <a:picLocks noChangeAspect="1"/>
          </p:cNvPicPr>
          <p:nvPr/>
        </p:nvPicPr>
        <p:blipFill rotWithShape="1">
          <a:blip r:embed="rId3">
            <a:duotone>
              <a:schemeClr val="accent5">
                <a:shade val="45000"/>
                <a:satMod val="135000"/>
              </a:schemeClr>
              <a:prstClr val="white"/>
            </a:duotone>
          </a:blip>
          <a:srcRect l="1229" t="8730" r="1053" b="6084"/>
          <a:stretch/>
        </p:blipFill>
        <p:spPr>
          <a:xfrm>
            <a:off x="9990388" y="4896652"/>
            <a:ext cx="6351823" cy="830996"/>
          </a:xfrm>
          <a:prstGeom prst="rect">
            <a:avLst/>
          </a:prstGeom>
        </p:spPr>
      </p:pic>
      <p:pic>
        <p:nvPicPr>
          <p:cNvPr id="9" name="Picture 8">
            <a:extLst>
              <a:ext uri="{FF2B5EF4-FFF2-40B4-BE49-F238E27FC236}">
                <a16:creationId xmlns:a16="http://schemas.microsoft.com/office/drawing/2014/main" id="{9FD0A208-B35D-00A8-B32C-9CB39CD453E0}"/>
              </a:ext>
            </a:extLst>
          </p:cNvPr>
          <p:cNvPicPr>
            <a:picLocks noChangeAspect="1"/>
          </p:cNvPicPr>
          <p:nvPr/>
        </p:nvPicPr>
        <p:blipFill rotWithShape="1">
          <a:blip r:embed="rId4">
            <a:duotone>
              <a:schemeClr val="accent6">
                <a:shade val="45000"/>
                <a:satMod val="135000"/>
              </a:schemeClr>
              <a:prstClr val="white"/>
            </a:duotone>
          </a:blip>
          <a:srcRect l="1133" t="9685" r="1249" b="6629"/>
          <a:stretch/>
        </p:blipFill>
        <p:spPr>
          <a:xfrm>
            <a:off x="10044981" y="6192495"/>
            <a:ext cx="6309716" cy="772560"/>
          </a:xfrm>
          <a:prstGeom prst="rect">
            <a:avLst/>
          </a:prstGeom>
        </p:spPr>
      </p:pic>
      <p:cxnSp>
        <p:nvCxnSpPr>
          <p:cNvPr id="10" name="Straight Connector 9">
            <a:extLst>
              <a:ext uri="{FF2B5EF4-FFF2-40B4-BE49-F238E27FC236}">
                <a16:creationId xmlns:a16="http://schemas.microsoft.com/office/drawing/2014/main" id="{43261F20-F94A-9F24-06DE-ACABD895B189}"/>
              </a:ext>
            </a:extLst>
          </p:cNvPr>
          <p:cNvCxnSpPr>
            <a:cxnSpLocks/>
          </p:cNvCxnSpPr>
          <p:nvPr/>
        </p:nvCxnSpPr>
        <p:spPr>
          <a:xfrm>
            <a:off x="3425588" y="4406732"/>
            <a:ext cx="11204812" cy="798113"/>
          </a:xfrm>
          <a:prstGeom prst="line">
            <a:avLst/>
          </a:prstGeom>
          <a:ln w="5715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CA066FD-DD3E-3FAA-E693-AB8D15246ADD}"/>
              </a:ext>
            </a:extLst>
          </p:cNvPr>
          <p:cNvCxnSpPr>
            <a:cxnSpLocks/>
          </p:cNvCxnSpPr>
          <p:nvPr/>
        </p:nvCxnSpPr>
        <p:spPr>
          <a:xfrm>
            <a:off x="1828800" y="4419847"/>
            <a:ext cx="11627893" cy="2004737"/>
          </a:xfrm>
          <a:prstGeom prst="line">
            <a:avLst/>
          </a:prstGeom>
          <a:ln w="571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79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down)">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1000"/>
                                        <p:tgtEl>
                                          <p:spTgt spid="2"/>
                                        </p:tgtEl>
                                      </p:cBhvr>
                                    </p:animEffect>
                                    <p:anim calcmode="lin" valueType="num">
                                      <p:cBhvr>
                                        <p:cTn id="41" dur="1000" fill="hold"/>
                                        <p:tgtEl>
                                          <p:spTgt spid="2"/>
                                        </p:tgtEl>
                                        <p:attrNameLst>
                                          <p:attrName>ppt_x</p:attrName>
                                        </p:attrNameLst>
                                      </p:cBhvr>
                                      <p:tavLst>
                                        <p:tav tm="0">
                                          <p:val>
                                            <p:strVal val="#ppt_x"/>
                                          </p:val>
                                        </p:tav>
                                        <p:tav tm="100000">
                                          <p:val>
                                            <p:strVal val="#ppt_x"/>
                                          </p:val>
                                        </p:tav>
                                      </p:tavLst>
                                    </p:anim>
                                    <p:anim calcmode="lin" valueType="num">
                                      <p:cBhvr>
                                        <p:cTn id="4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up)">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up)">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1" presetClass="entr" presetSubtype="1"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wheel(1)">
                                      <p:cBhvr>
                                        <p:cTn id="61" dur="2000"/>
                                        <p:tgtEl>
                                          <p:spTgt spid="17"/>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wheel(1)">
                                      <p:cBhvr>
                                        <p:cTn id="66"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7" grpId="0" animBg="1"/>
      <p:bldP spid="20"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68878"/>
            <a:ext cx="9442450" cy="735852"/>
          </a:xfrm>
        </p:spPr>
        <p:txBody>
          <a:bodyPr>
            <a:noAutofit/>
          </a:bodyPr>
          <a:lstStyle/>
          <a:p>
            <a:r>
              <a:rPr lang="en-CA" sz="5400" b="1" dirty="0">
                <a:solidFill>
                  <a:srgbClr val="0070C0"/>
                </a:solidFill>
              </a:rPr>
              <a:t>Fast PWM Mode: </a:t>
            </a:r>
            <a:r>
              <a:rPr lang="en-CA" sz="5400" b="1" dirty="0">
                <a:solidFill>
                  <a:srgbClr val="FF0000"/>
                </a:solidFill>
              </a:rPr>
              <a:t>Setting Modes</a:t>
            </a:r>
            <a:r>
              <a:rPr lang="en-CA" sz="5400" dirty="0">
                <a:solidFill>
                  <a:srgbClr val="FF0000"/>
                </a:solidFill>
              </a:rPr>
              <a:t> </a:t>
            </a:r>
            <a:endParaRPr lang="en-US" sz="5400" b="1" dirty="0">
              <a:solidFill>
                <a:srgbClr val="FF000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20881" y="799675"/>
            <a:ext cx="16072064" cy="2553125"/>
          </a:xfrm>
        </p:spPr>
        <p:txBody>
          <a:bodyPr>
            <a:noAutofit/>
          </a:bodyPr>
          <a:lstStyle/>
          <a:p>
            <a:pPr marL="0" indent="0" algn="just">
              <a:buNone/>
            </a:pPr>
            <a:r>
              <a:rPr lang="en-CA" sz="3600" dirty="0">
                <a:solidFill>
                  <a:srgbClr val="000000"/>
                </a:solidFill>
              </a:rPr>
              <a:t>In the fast PWM mode, </a:t>
            </a:r>
            <a:r>
              <a:rPr lang="en-US" sz="3600" dirty="0">
                <a:solidFill>
                  <a:srgbClr val="000000"/>
                </a:solidFill>
              </a:rPr>
              <a:t>the Compare Output Mode </a:t>
            </a:r>
            <a:r>
              <a:rPr lang="en-US" sz="3600" dirty="0">
                <a:solidFill>
                  <a:srgbClr val="FF0000"/>
                </a:solidFill>
              </a:rPr>
              <a:t>bits COM0A1, COM0A0 (in the TCCR0A register)</a:t>
            </a:r>
            <a:r>
              <a:rPr lang="en-US" sz="3600" dirty="0">
                <a:solidFill>
                  <a:srgbClr val="000000"/>
                </a:solidFill>
              </a:rPr>
              <a:t> for the output at OC0A and </a:t>
            </a:r>
            <a:r>
              <a:rPr lang="en-US" sz="3600" dirty="0">
                <a:solidFill>
                  <a:srgbClr val="FF0000"/>
                </a:solidFill>
              </a:rPr>
              <a:t>bits COM0B1, COM0B0 (in the TCCR0A register)</a:t>
            </a:r>
            <a:r>
              <a:rPr lang="en-US" sz="3600" dirty="0">
                <a:solidFill>
                  <a:srgbClr val="000000"/>
                </a:solidFill>
              </a:rPr>
              <a:t> for the output at OC0B, are used to configure the output as either non-inverting or inverting mode of operation. </a:t>
            </a:r>
            <a:r>
              <a:rPr lang="en-US" sz="3600" dirty="0">
                <a:solidFill>
                  <a:srgbClr val="00B0F0"/>
                </a:solidFill>
              </a:rPr>
              <a:t>Table 12-3 </a:t>
            </a:r>
            <a:r>
              <a:rPr lang="en-US" sz="3600" dirty="0">
                <a:solidFill>
                  <a:srgbClr val="000000"/>
                </a:solidFill>
              </a:rPr>
              <a:t>shows how to select COM0A1, COM0A0 bits to generate non-inverting and inverting mode’s fast PWM waveform.</a:t>
            </a:r>
            <a:endParaRPr lang="en-US" sz="3600" dirty="0"/>
          </a:p>
        </p:txBody>
      </p:sp>
      <p:sp>
        <p:nvSpPr>
          <p:cNvPr id="4" name="Date Placeholder 3"/>
          <p:cNvSpPr>
            <a:spLocks noGrp="1"/>
          </p:cNvSpPr>
          <p:nvPr>
            <p:ph type="dt" sz="half" idx="10"/>
          </p:nvPr>
        </p:nvSpPr>
        <p:spPr/>
        <p:txBody>
          <a:bodyPr/>
          <a:lstStyle/>
          <a:p>
            <a:fld id="{DBDFD691-3ECA-4899-B4BD-A666ECAE95E6}" type="datetime3">
              <a:rPr lang="en-US" smtClean="0"/>
              <a:t>17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pPr/>
              <a:t>10</a:t>
            </a:fld>
            <a:endParaRPr lang="en-US" dirty="0"/>
          </a:p>
        </p:txBody>
      </p:sp>
      <p:pic>
        <p:nvPicPr>
          <p:cNvPr id="6" name="Picture 5"/>
          <p:cNvPicPr>
            <a:picLocks noChangeAspect="1"/>
          </p:cNvPicPr>
          <p:nvPr/>
        </p:nvPicPr>
        <p:blipFill>
          <a:blip r:embed="rId2"/>
          <a:stretch>
            <a:fillRect/>
          </a:stretch>
        </p:blipFill>
        <p:spPr>
          <a:xfrm>
            <a:off x="327024" y="3352800"/>
            <a:ext cx="14282547" cy="4566833"/>
          </a:xfrm>
          <a:prstGeom prst="rect">
            <a:avLst/>
          </a:prstGeom>
        </p:spPr>
      </p:pic>
      <p:sp>
        <p:nvSpPr>
          <p:cNvPr id="10" name="TextBox 9"/>
          <p:cNvSpPr txBox="1"/>
          <p:nvPr/>
        </p:nvSpPr>
        <p:spPr>
          <a:xfrm>
            <a:off x="777861" y="6056856"/>
            <a:ext cx="3557073" cy="769441"/>
          </a:xfrm>
          <a:prstGeom prst="rect">
            <a:avLst/>
          </a:prstGeom>
          <a:noFill/>
          <a:ln w="57150">
            <a:solidFill>
              <a:srgbClr val="FF0000"/>
            </a:solidFill>
            <a:prstDash val="sysDash"/>
          </a:ln>
        </p:spPr>
        <p:txBody>
          <a:bodyPr wrap="square" rtlCol="0">
            <a:spAutoFit/>
          </a:bodyPr>
          <a:lstStyle/>
          <a:p>
            <a:endParaRPr lang="en-US" sz="4400" dirty="0"/>
          </a:p>
        </p:txBody>
      </p:sp>
      <p:cxnSp>
        <p:nvCxnSpPr>
          <p:cNvPr id="11" name="Straight Connector 10"/>
          <p:cNvCxnSpPr>
            <a:cxnSpLocks/>
          </p:cNvCxnSpPr>
          <p:nvPr/>
        </p:nvCxnSpPr>
        <p:spPr>
          <a:xfrm>
            <a:off x="4775200" y="6841067"/>
            <a:ext cx="291253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77861" y="6988244"/>
            <a:ext cx="3557073" cy="769441"/>
          </a:xfrm>
          <a:prstGeom prst="rect">
            <a:avLst/>
          </a:prstGeom>
          <a:noFill/>
          <a:ln w="57150">
            <a:solidFill>
              <a:srgbClr val="00B050"/>
            </a:solidFill>
            <a:prstDash val="sysDash"/>
          </a:ln>
        </p:spPr>
        <p:txBody>
          <a:bodyPr wrap="square" rtlCol="0">
            <a:spAutoFit/>
          </a:bodyPr>
          <a:lstStyle/>
          <a:p>
            <a:endParaRPr lang="en-US" sz="4400" dirty="0"/>
          </a:p>
        </p:txBody>
      </p:sp>
      <p:cxnSp>
        <p:nvCxnSpPr>
          <p:cNvPr id="13" name="Straight Connector 12"/>
          <p:cNvCxnSpPr>
            <a:cxnSpLocks/>
          </p:cNvCxnSpPr>
          <p:nvPr/>
        </p:nvCxnSpPr>
        <p:spPr>
          <a:xfrm>
            <a:off x="4775200" y="7772455"/>
            <a:ext cx="233528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18DBB35B-6EE3-2C0E-7BE9-8129BB7F6E0B}"/>
              </a:ext>
            </a:extLst>
          </p:cNvPr>
          <p:cNvPicPr>
            <a:picLocks noChangeAspect="1"/>
          </p:cNvPicPr>
          <p:nvPr/>
        </p:nvPicPr>
        <p:blipFill rotWithShape="1">
          <a:blip r:embed="rId3">
            <a:duotone>
              <a:schemeClr val="accent2">
                <a:shade val="45000"/>
                <a:satMod val="135000"/>
              </a:schemeClr>
              <a:prstClr val="white"/>
            </a:duotone>
          </a:blip>
          <a:srcRect l="1229" t="8730" r="1053" b="6084"/>
          <a:stretch/>
        </p:blipFill>
        <p:spPr>
          <a:xfrm>
            <a:off x="9080500" y="3352799"/>
            <a:ext cx="7212445" cy="1104901"/>
          </a:xfrm>
          <a:prstGeom prst="rect">
            <a:avLst/>
          </a:prstGeom>
        </p:spPr>
      </p:pic>
      <p:sp>
        <p:nvSpPr>
          <p:cNvPr id="7" name="TextBox 6">
            <a:extLst>
              <a:ext uri="{FF2B5EF4-FFF2-40B4-BE49-F238E27FC236}">
                <a16:creationId xmlns:a16="http://schemas.microsoft.com/office/drawing/2014/main" id="{C428CB4F-1546-F8FB-F24D-84F4151C2EED}"/>
              </a:ext>
            </a:extLst>
          </p:cNvPr>
          <p:cNvSpPr txBox="1"/>
          <p:nvPr/>
        </p:nvSpPr>
        <p:spPr>
          <a:xfrm>
            <a:off x="10058400" y="3340098"/>
            <a:ext cx="1447800" cy="830997"/>
          </a:xfrm>
          <a:prstGeom prst="rect">
            <a:avLst/>
          </a:prstGeom>
          <a:noFill/>
          <a:ln w="57150">
            <a:solidFill>
              <a:schemeClr val="accent2"/>
            </a:solidFill>
            <a:prstDash val="sysDash"/>
          </a:ln>
        </p:spPr>
        <p:txBody>
          <a:bodyPr wrap="square" rtlCol="0">
            <a:spAutoFit/>
          </a:bodyPr>
          <a:lstStyle/>
          <a:p>
            <a:endParaRPr lang="en-US" sz="4800" dirty="0"/>
          </a:p>
        </p:txBody>
      </p:sp>
    </p:spTree>
    <p:extLst>
      <p:ext uri="{BB962C8B-B14F-4D97-AF65-F5344CB8AC3E}">
        <p14:creationId xmlns:p14="http://schemas.microsoft.com/office/powerpoint/2010/main" val="195549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heel(1)">
                                      <p:cBhvr>
                                        <p:cTn id="19" dur="20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circle(in)">
                                      <p:cBhvr>
                                        <p:cTn id="24" dur="2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heel(1)">
                                      <p:cBhvr>
                                        <p:cTn id="29" dur="20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circle(in)">
                                      <p:cBhvr>
                                        <p:cTn id="34" dur="20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1000"/>
                                        <p:tgtEl>
                                          <p:spTgt spid="5"/>
                                        </p:tgtEl>
                                      </p:cBhvr>
                                    </p:animEffect>
                                    <p:anim calcmode="lin" valueType="num">
                                      <p:cBhvr>
                                        <p:cTn id="40" dur="1000" fill="hold"/>
                                        <p:tgtEl>
                                          <p:spTgt spid="5"/>
                                        </p:tgtEl>
                                        <p:attrNameLst>
                                          <p:attrName>ppt_x</p:attrName>
                                        </p:attrNameLst>
                                      </p:cBhvr>
                                      <p:tavLst>
                                        <p:tav tm="0">
                                          <p:val>
                                            <p:strVal val="#ppt_x"/>
                                          </p:val>
                                        </p:tav>
                                        <p:tav tm="100000">
                                          <p:val>
                                            <p:strVal val="#ppt_x"/>
                                          </p:val>
                                        </p:tav>
                                      </p:tavLst>
                                    </p:anim>
                                    <p:anim calcmode="lin" valueType="num">
                                      <p:cBhvr>
                                        <p:cTn id="4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heel(1)">
                                      <p:cBhvr>
                                        <p:cTn id="4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P spid="12"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68878"/>
            <a:ext cx="9442450" cy="735852"/>
          </a:xfrm>
        </p:spPr>
        <p:txBody>
          <a:bodyPr>
            <a:noAutofit/>
          </a:bodyPr>
          <a:lstStyle/>
          <a:p>
            <a:r>
              <a:rPr lang="en-CA" sz="5400" b="1" dirty="0">
                <a:solidFill>
                  <a:srgbClr val="0070C0"/>
                </a:solidFill>
              </a:rPr>
              <a:t>Fast PWM Mode: </a:t>
            </a:r>
            <a:r>
              <a:rPr lang="en-CA" sz="5400" b="1" dirty="0">
                <a:solidFill>
                  <a:srgbClr val="FF0000"/>
                </a:solidFill>
              </a:rPr>
              <a:t>Setting Modes</a:t>
            </a:r>
            <a:r>
              <a:rPr lang="en-CA" sz="5400" dirty="0">
                <a:solidFill>
                  <a:srgbClr val="FF0000"/>
                </a:solidFill>
              </a:rPr>
              <a:t> </a:t>
            </a:r>
            <a:endParaRPr lang="en-US" sz="5400" b="1" dirty="0">
              <a:solidFill>
                <a:srgbClr val="FF000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20881" y="799675"/>
            <a:ext cx="16072064" cy="1627641"/>
          </a:xfrm>
        </p:spPr>
        <p:txBody>
          <a:bodyPr>
            <a:noAutofit/>
          </a:bodyPr>
          <a:lstStyle/>
          <a:p>
            <a:pPr marL="0" indent="0" algn="just">
              <a:buNone/>
            </a:pPr>
            <a:r>
              <a:rPr lang="en-CA" sz="3600" dirty="0">
                <a:solidFill>
                  <a:srgbClr val="000000"/>
                </a:solidFill>
              </a:rPr>
              <a:t>In the fast PWM mode, the compare unit allows the generation of PWM waveforms on the OC0x pins. </a:t>
            </a:r>
            <a:r>
              <a:rPr lang="en-US" sz="3600" dirty="0">
                <a:solidFill>
                  <a:srgbClr val="00B0F0"/>
                </a:solidFill>
              </a:rPr>
              <a:t>Table 12.6 </a:t>
            </a:r>
            <a:r>
              <a:rPr lang="en-US" sz="3600" dirty="0"/>
              <a:t>shows the COM0B1:0 bits’ functionality when the WGM02:0 bits are set to the fast PWM mode.</a:t>
            </a:r>
          </a:p>
        </p:txBody>
      </p:sp>
      <p:pic>
        <p:nvPicPr>
          <p:cNvPr id="5" name="Picture 4"/>
          <p:cNvPicPr>
            <a:picLocks noChangeAspect="1"/>
          </p:cNvPicPr>
          <p:nvPr/>
        </p:nvPicPr>
        <p:blipFill rotWithShape="1">
          <a:blip r:embed="rId2"/>
          <a:srcRect l="983" t="19537" r="2256" b="1758"/>
          <a:stretch/>
        </p:blipFill>
        <p:spPr>
          <a:xfrm>
            <a:off x="220882" y="2427316"/>
            <a:ext cx="13029606" cy="5537137"/>
          </a:xfrm>
          <a:prstGeom prst="rect">
            <a:avLst/>
          </a:prstGeom>
        </p:spPr>
      </p:pic>
      <p:sp>
        <p:nvSpPr>
          <p:cNvPr id="4" name="Date Placeholder 3"/>
          <p:cNvSpPr>
            <a:spLocks noGrp="1"/>
          </p:cNvSpPr>
          <p:nvPr>
            <p:ph type="dt" sz="half" idx="10"/>
          </p:nvPr>
        </p:nvSpPr>
        <p:spPr/>
        <p:txBody>
          <a:bodyPr/>
          <a:lstStyle/>
          <a:p>
            <a:fld id="{DBDFD691-3ECA-4899-B4BD-A666ECAE95E6}" type="datetime3">
              <a:rPr lang="en-US" smtClean="0"/>
              <a:t>17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pPr/>
              <a:t>11</a:t>
            </a:fld>
            <a:endParaRPr lang="en-US" dirty="0"/>
          </a:p>
        </p:txBody>
      </p:sp>
      <p:sp>
        <p:nvSpPr>
          <p:cNvPr id="10" name="TextBox 9"/>
          <p:cNvSpPr txBox="1"/>
          <p:nvPr/>
        </p:nvSpPr>
        <p:spPr>
          <a:xfrm>
            <a:off x="422261" y="4786856"/>
            <a:ext cx="3557073" cy="769441"/>
          </a:xfrm>
          <a:prstGeom prst="rect">
            <a:avLst/>
          </a:prstGeom>
          <a:noFill/>
          <a:ln w="57150">
            <a:solidFill>
              <a:srgbClr val="FF0000"/>
            </a:solidFill>
            <a:prstDash val="sysDash"/>
          </a:ln>
        </p:spPr>
        <p:txBody>
          <a:bodyPr wrap="square" rtlCol="0">
            <a:spAutoFit/>
          </a:bodyPr>
          <a:lstStyle/>
          <a:p>
            <a:endParaRPr lang="en-US" sz="4400" dirty="0"/>
          </a:p>
        </p:txBody>
      </p:sp>
      <p:cxnSp>
        <p:nvCxnSpPr>
          <p:cNvPr id="11" name="Straight Connector 10"/>
          <p:cNvCxnSpPr>
            <a:cxnSpLocks/>
          </p:cNvCxnSpPr>
          <p:nvPr/>
        </p:nvCxnSpPr>
        <p:spPr>
          <a:xfrm>
            <a:off x="4216404" y="5588000"/>
            <a:ext cx="264842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22261" y="5745540"/>
            <a:ext cx="3557073" cy="769441"/>
          </a:xfrm>
          <a:prstGeom prst="rect">
            <a:avLst/>
          </a:prstGeom>
          <a:noFill/>
          <a:ln w="57150">
            <a:solidFill>
              <a:srgbClr val="00B050"/>
            </a:solidFill>
            <a:prstDash val="sysDash"/>
          </a:ln>
        </p:spPr>
        <p:txBody>
          <a:bodyPr wrap="square" rtlCol="0">
            <a:spAutoFit/>
          </a:bodyPr>
          <a:lstStyle/>
          <a:p>
            <a:endParaRPr lang="en-US" sz="4400" dirty="0"/>
          </a:p>
        </p:txBody>
      </p:sp>
      <p:cxnSp>
        <p:nvCxnSpPr>
          <p:cNvPr id="13" name="Straight Connector 12"/>
          <p:cNvCxnSpPr>
            <a:cxnSpLocks/>
          </p:cNvCxnSpPr>
          <p:nvPr/>
        </p:nvCxnSpPr>
        <p:spPr>
          <a:xfrm>
            <a:off x="4216399" y="6536321"/>
            <a:ext cx="2184401"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591F159-AB00-95AF-4B7F-4B16EC9B31A5}"/>
              </a:ext>
            </a:extLst>
          </p:cNvPr>
          <p:cNvPicPr>
            <a:picLocks noChangeAspect="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rcRect l="1229" t="8730" r="1053" b="6084"/>
          <a:stretch/>
        </p:blipFill>
        <p:spPr>
          <a:xfrm>
            <a:off x="9025873" y="2053212"/>
            <a:ext cx="7212445" cy="1104901"/>
          </a:xfrm>
          <a:prstGeom prst="rect">
            <a:avLst/>
          </a:prstGeom>
        </p:spPr>
      </p:pic>
      <p:sp>
        <p:nvSpPr>
          <p:cNvPr id="7" name="TextBox 6">
            <a:extLst>
              <a:ext uri="{FF2B5EF4-FFF2-40B4-BE49-F238E27FC236}">
                <a16:creationId xmlns:a16="http://schemas.microsoft.com/office/drawing/2014/main" id="{0574F9E7-FF80-237B-CF59-1942275CC1F8}"/>
              </a:ext>
            </a:extLst>
          </p:cNvPr>
          <p:cNvSpPr txBox="1"/>
          <p:nvPr/>
        </p:nvSpPr>
        <p:spPr>
          <a:xfrm>
            <a:off x="11426173" y="2040511"/>
            <a:ext cx="1447800" cy="830997"/>
          </a:xfrm>
          <a:prstGeom prst="rect">
            <a:avLst/>
          </a:prstGeom>
          <a:noFill/>
          <a:ln w="57150">
            <a:solidFill>
              <a:srgbClr val="00B0F0"/>
            </a:solidFill>
            <a:prstDash val="sysDash"/>
          </a:ln>
        </p:spPr>
        <p:txBody>
          <a:bodyPr wrap="square" rtlCol="0">
            <a:spAutoFit/>
          </a:bodyPr>
          <a:lstStyle/>
          <a:p>
            <a:endParaRPr lang="en-US" sz="4800" dirty="0"/>
          </a:p>
        </p:txBody>
      </p:sp>
    </p:spTree>
    <p:extLst>
      <p:ext uri="{BB962C8B-B14F-4D97-AF65-F5344CB8AC3E}">
        <p14:creationId xmlns:p14="http://schemas.microsoft.com/office/powerpoint/2010/main" val="3615387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1)">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circle(in)">
                                      <p:cBhvr>
                                        <p:cTn id="22" dur="2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heel(1)">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circle(in)">
                                      <p:cBhvr>
                                        <p:cTn id="32" dur="2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heel(1)">
                                      <p:cBhvr>
                                        <p:cTn id="4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68878"/>
            <a:ext cx="9256183" cy="735852"/>
          </a:xfrm>
        </p:spPr>
        <p:txBody>
          <a:bodyPr>
            <a:noAutofit/>
          </a:bodyPr>
          <a:lstStyle/>
          <a:p>
            <a:r>
              <a:rPr lang="en-CA" sz="5400" b="1" dirty="0">
                <a:solidFill>
                  <a:srgbClr val="0070C0"/>
                </a:solidFill>
              </a:rPr>
              <a:t>Fast PWM Mode: </a:t>
            </a:r>
            <a:r>
              <a:rPr lang="en-CA" sz="5400" b="1" dirty="0">
                <a:solidFill>
                  <a:srgbClr val="FF0000"/>
                </a:solidFill>
              </a:rPr>
              <a:t>Setting Modes</a:t>
            </a:r>
            <a:r>
              <a:rPr lang="en-CA" sz="5400" dirty="0">
                <a:solidFill>
                  <a:srgbClr val="0070C0"/>
                </a:solidFill>
              </a:rPr>
              <a:t> </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168629" y="799676"/>
            <a:ext cx="16150442" cy="2276034"/>
          </a:xfrm>
        </p:spPr>
        <p:txBody>
          <a:bodyPr>
            <a:noAutofit/>
          </a:bodyPr>
          <a:lstStyle/>
          <a:p>
            <a:pPr marL="0" indent="0">
              <a:buNone/>
            </a:pPr>
            <a:r>
              <a:rPr lang="en-CA" sz="3600" dirty="0">
                <a:solidFill>
                  <a:srgbClr val="000000"/>
                </a:solidFill>
              </a:rPr>
              <a:t>Setting the </a:t>
            </a:r>
            <a:r>
              <a:rPr lang="en-CA" sz="3600" dirty="0">
                <a:solidFill>
                  <a:srgbClr val="FF0000"/>
                </a:solidFill>
              </a:rPr>
              <a:t>COM0x1:0 bits to</a:t>
            </a:r>
            <a:r>
              <a:rPr lang="en-CA" sz="3600" b="1" dirty="0">
                <a:solidFill>
                  <a:srgbClr val="FF0000"/>
                </a:solidFill>
              </a:rPr>
              <a:t> 10 </a:t>
            </a:r>
            <a:r>
              <a:rPr lang="en-CA" sz="3600" dirty="0">
                <a:solidFill>
                  <a:srgbClr val="000000"/>
                </a:solidFill>
              </a:rPr>
              <a:t>will produce a </a:t>
            </a:r>
            <a:r>
              <a:rPr lang="en-CA" sz="3600" b="1" dirty="0">
                <a:solidFill>
                  <a:srgbClr val="FF0000"/>
                </a:solidFill>
              </a:rPr>
              <a:t>non-inverted </a:t>
            </a:r>
            <a:r>
              <a:rPr lang="en-CA" sz="3600" dirty="0">
                <a:solidFill>
                  <a:srgbClr val="FF0000"/>
                </a:solidFill>
              </a:rPr>
              <a:t>PWM </a:t>
            </a:r>
            <a:r>
              <a:rPr lang="en-CA" sz="3600" dirty="0">
                <a:solidFill>
                  <a:srgbClr val="000000"/>
                </a:solidFill>
              </a:rPr>
              <a:t>and an </a:t>
            </a:r>
            <a:r>
              <a:rPr lang="en-CA" sz="3600" b="1" dirty="0">
                <a:solidFill>
                  <a:srgbClr val="00B050"/>
                </a:solidFill>
              </a:rPr>
              <a:t>inverted</a:t>
            </a:r>
            <a:r>
              <a:rPr lang="en-CA" sz="3600" dirty="0">
                <a:solidFill>
                  <a:srgbClr val="000000"/>
                </a:solidFill>
              </a:rPr>
              <a:t> </a:t>
            </a:r>
            <a:r>
              <a:rPr lang="en-CA" sz="3600" dirty="0">
                <a:solidFill>
                  <a:srgbClr val="00B050"/>
                </a:solidFill>
              </a:rPr>
              <a:t>PWM </a:t>
            </a:r>
            <a:r>
              <a:rPr lang="en-CA" sz="3600" dirty="0">
                <a:solidFill>
                  <a:srgbClr val="000000"/>
                </a:solidFill>
              </a:rPr>
              <a:t>output can be generated by setting the </a:t>
            </a:r>
            <a:r>
              <a:rPr lang="en-CA" sz="3600" dirty="0">
                <a:solidFill>
                  <a:srgbClr val="00B050"/>
                </a:solidFill>
              </a:rPr>
              <a:t>COM0x1:0 to </a:t>
            </a:r>
            <a:r>
              <a:rPr lang="en-CA" sz="3600" b="1" dirty="0">
                <a:solidFill>
                  <a:srgbClr val="00B050"/>
                </a:solidFill>
              </a:rPr>
              <a:t>11</a:t>
            </a:r>
            <a:r>
              <a:rPr lang="en-CA" sz="3600" dirty="0">
                <a:solidFill>
                  <a:srgbClr val="000000"/>
                </a:solidFill>
              </a:rPr>
              <a:t>.</a:t>
            </a:r>
          </a:p>
          <a:p>
            <a:pPr marL="0" indent="0">
              <a:buNone/>
            </a:pPr>
            <a:r>
              <a:rPr lang="en-CA" sz="3600" dirty="0">
                <a:solidFill>
                  <a:srgbClr val="000000"/>
                </a:solidFill>
              </a:rPr>
              <a:t>Setting the COM0A1:0 bits to </a:t>
            </a:r>
            <a:r>
              <a:rPr lang="en-CA" sz="3600" b="1" dirty="0">
                <a:solidFill>
                  <a:srgbClr val="00B050"/>
                </a:solidFill>
              </a:rPr>
              <a:t>01</a:t>
            </a:r>
            <a:r>
              <a:rPr lang="en-CA" sz="3600" dirty="0">
                <a:solidFill>
                  <a:srgbClr val="000000"/>
                </a:solidFill>
              </a:rPr>
              <a:t> allows the OC0A pin to </a:t>
            </a:r>
            <a:r>
              <a:rPr lang="en-CA" sz="3600" b="1" dirty="0">
                <a:solidFill>
                  <a:srgbClr val="00B050"/>
                </a:solidFill>
              </a:rPr>
              <a:t>toggle</a:t>
            </a:r>
            <a:r>
              <a:rPr lang="en-CA" sz="3600" dirty="0">
                <a:solidFill>
                  <a:srgbClr val="000000"/>
                </a:solidFill>
              </a:rPr>
              <a:t> on Compare Matches if the </a:t>
            </a:r>
            <a:r>
              <a:rPr lang="en-CA" sz="3600" b="1" dirty="0">
                <a:solidFill>
                  <a:srgbClr val="00B050"/>
                </a:solidFill>
              </a:rPr>
              <a:t>WGM02 bit is set</a:t>
            </a:r>
            <a:r>
              <a:rPr lang="en-CA" sz="3600" dirty="0">
                <a:solidFill>
                  <a:srgbClr val="000000"/>
                </a:solidFill>
              </a:rPr>
              <a:t>. This option is not available for the OC0B pin (see </a:t>
            </a:r>
            <a:r>
              <a:rPr lang="en-CA" sz="3600" dirty="0">
                <a:solidFill>
                  <a:srgbClr val="0000FF"/>
                </a:solidFill>
              </a:rPr>
              <a:t>Table 12-6 </a:t>
            </a:r>
            <a:r>
              <a:rPr lang="en-CA" sz="3600" dirty="0">
                <a:solidFill>
                  <a:srgbClr val="000000"/>
                </a:solidFill>
              </a:rPr>
              <a:t>).</a:t>
            </a:r>
            <a:endParaRPr lang="en-US" sz="3600" dirty="0">
              <a:solidFill>
                <a:schemeClr val="bg1"/>
              </a:solidFill>
            </a:endParaRPr>
          </a:p>
        </p:txBody>
      </p:sp>
      <p:sp>
        <p:nvSpPr>
          <p:cNvPr id="4" name="Date Placeholder 3"/>
          <p:cNvSpPr>
            <a:spLocks noGrp="1"/>
          </p:cNvSpPr>
          <p:nvPr>
            <p:ph type="dt" sz="half" idx="10"/>
          </p:nvPr>
        </p:nvSpPr>
        <p:spPr/>
        <p:txBody>
          <a:bodyPr/>
          <a:lstStyle/>
          <a:p>
            <a:fld id="{DBDFD691-3ECA-4899-B4BD-A666ECAE95E6}" type="datetime3">
              <a:rPr lang="en-US" smtClean="0"/>
              <a:t>17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pPr/>
              <a:t>12</a:t>
            </a:fld>
            <a:endParaRPr lang="en-US" dirty="0"/>
          </a:p>
        </p:txBody>
      </p:sp>
      <p:pic>
        <p:nvPicPr>
          <p:cNvPr id="10" name="Picture 9">
            <a:extLst>
              <a:ext uri="{FF2B5EF4-FFF2-40B4-BE49-F238E27FC236}">
                <a16:creationId xmlns:a16="http://schemas.microsoft.com/office/drawing/2014/main" id="{98C93BA3-2DEF-47DC-9D6A-26CB3E39311E}"/>
              </a:ext>
            </a:extLst>
          </p:cNvPr>
          <p:cNvPicPr>
            <a:picLocks noChangeAspect="1"/>
          </p:cNvPicPr>
          <p:nvPr/>
        </p:nvPicPr>
        <p:blipFill rotWithShape="1">
          <a:blip r:embed="rId2">
            <a:duotone>
              <a:schemeClr val="accent5">
                <a:shade val="45000"/>
                <a:satMod val="135000"/>
              </a:schemeClr>
              <a:prstClr val="white"/>
            </a:duotone>
          </a:blip>
          <a:srcRect l="1229" t="8730" r="1053" b="6084"/>
          <a:stretch/>
        </p:blipFill>
        <p:spPr>
          <a:xfrm>
            <a:off x="220881" y="3412000"/>
            <a:ext cx="15855934" cy="2074400"/>
          </a:xfrm>
          <a:prstGeom prst="rect">
            <a:avLst/>
          </a:prstGeom>
        </p:spPr>
      </p:pic>
      <p:pic>
        <p:nvPicPr>
          <p:cNvPr id="11" name="Picture 10">
            <a:extLst>
              <a:ext uri="{FF2B5EF4-FFF2-40B4-BE49-F238E27FC236}">
                <a16:creationId xmlns:a16="http://schemas.microsoft.com/office/drawing/2014/main" id="{EA47A922-FE95-43B1-B54F-C731DC1014D3}"/>
              </a:ext>
            </a:extLst>
          </p:cNvPr>
          <p:cNvPicPr>
            <a:picLocks noChangeAspect="1"/>
          </p:cNvPicPr>
          <p:nvPr/>
        </p:nvPicPr>
        <p:blipFill rotWithShape="1">
          <a:blip r:embed="rId3">
            <a:duotone>
              <a:schemeClr val="accent6">
                <a:shade val="45000"/>
                <a:satMod val="135000"/>
              </a:schemeClr>
              <a:prstClr val="white"/>
            </a:duotone>
          </a:blip>
          <a:srcRect l="1133" t="9685" r="1249" b="6629"/>
          <a:stretch/>
        </p:blipFill>
        <p:spPr>
          <a:xfrm>
            <a:off x="220881" y="5822689"/>
            <a:ext cx="15855934" cy="1941397"/>
          </a:xfrm>
          <a:prstGeom prst="rect">
            <a:avLst/>
          </a:prstGeom>
        </p:spPr>
      </p:pic>
      <p:sp>
        <p:nvSpPr>
          <p:cNvPr id="12" name="TextBox 11"/>
          <p:cNvSpPr txBox="1"/>
          <p:nvPr/>
        </p:nvSpPr>
        <p:spPr>
          <a:xfrm>
            <a:off x="2269068" y="3779908"/>
            <a:ext cx="3302000" cy="769441"/>
          </a:xfrm>
          <a:prstGeom prst="rect">
            <a:avLst/>
          </a:prstGeom>
          <a:noFill/>
          <a:ln w="57150">
            <a:solidFill>
              <a:srgbClr val="FF0000"/>
            </a:solidFill>
            <a:prstDash val="sysDash"/>
          </a:ln>
        </p:spPr>
        <p:txBody>
          <a:bodyPr wrap="square" rtlCol="0">
            <a:spAutoFit/>
          </a:bodyPr>
          <a:lstStyle/>
          <a:p>
            <a:endParaRPr lang="en-US" sz="4400" dirty="0"/>
          </a:p>
        </p:txBody>
      </p:sp>
      <p:sp>
        <p:nvSpPr>
          <p:cNvPr id="14" name="TextBox 13"/>
          <p:cNvSpPr txBox="1"/>
          <p:nvPr/>
        </p:nvSpPr>
        <p:spPr>
          <a:xfrm>
            <a:off x="5571068" y="3771539"/>
            <a:ext cx="3132665" cy="769441"/>
          </a:xfrm>
          <a:prstGeom prst="rect">
            <a:avLst/>
          </a:prstGeom>
          <a:noFill/>
          <a:ln w="57150">
            <a:solidFill>
              <a:srgbClr val="FF0000"/>
            </a:solidFill>
            <a:prstDash val="sysDash"/>
          </a:ln>
        </p:spPr>
        <p:txBody>
          <a:bodyPr wrap="square" rtlCol="0">
            <a:spAutoFit/>
          </a:bodyPr>
          <a:lstStyle/>
          <a:p>
            <a:endParaRPr lang="en-US" sz="4400" dirty="0"/>
          </a:p>
        </p:txBody>
      </p:sp>
    </p:spTree>
    <p:extLst>
      <p:ext uri="{BB962C8B-B14F-4D97-AF65-F5344CB8AC3E}">
        <p14:creationId xmlns:p14="http://schemas.microsoft.com/office/powerpoint/2010/main" val="271657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heel(1)">
                                      <p:cBhvr>
                                        <p:cTn id="26" dur="20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heel(1)">
                                      <p:cBhvr>
                                        <p:cTn id="31"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114953"/>
            <a:ext cx="7538719" cy="865950"/>
          </a:xfrm>
        </p:spPr>
        <p:txBody>
          <a:bodyPr>
            <a:normAutofit/>
          </a:bodyPr>
          <a:lstStyle/>
          <a:p>
            <a:r>
              <a:rPr lang="en-CA" sz="5400" b="1" dirty="0">
                <a:solidFill>
                  <a:srgbClr val="0070C0"/>
                </a:solidFill>
              </a:rPr>
              <a:t>Fast PWM Mode</a:t>
            </a:r>
            <a:r>
              <a:rPr lang="en-CA" sz="5400" dirty="0">
                <a:solidFill>
                  <a:srgbClr val="0070C0"/>
                </a:solidFill>
              </a:rPr>
              <a:t> </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03700" y="814648"/>
            <a:ext cx="7510511" cy="7104986"/>
          </a:xfrm>
        </p:spPr>
        <p:txBody>
          <a:bodyPr>
            <a:noAutofit/>
          </a:bodyPr>
          <a:lstStyle/>
          <a:p>
            <a:pPr>
              <a:buClrTx/>
            </a:pPr>
            <a:r>
              <a:rPr lang="en-CA" sz="3200" dirty="0"/>
              <a:t>The </a:t>
            </a:r>
            <a:r>
              <a:rPr lang="en-CA" sz="3200" b="1" dirty="0">
                <a:solidFill>
                  <a:srgbClr val="00B050"/>
                </a:solidFill>
              </a:rPr>
              <a:t>Fast Pulse Width Modulation </a:t>
            </a:r>
            <a:r>
              <a:rPr lang="en-CA" sz="3200" dirty="0"/>
              <a:t>or </a:t>
            </a:r>
            <a:r>
              <a:rPr lang="en-CA" sz="3200" b="1" dirty="0">
                <a:solidFill>
                  <a:srgbClr val="00B050"/>
                </a:solidFill>
              </a:rPr>
              <a:t>Fast PWM Mode</a:t>
            </a:r>
            <a:r>
              <a:rPr lang="en-CA" sz="3200" dirty="0">
                <a:solidFill>
                  <a:srgbClr val="00B050"/>
                </a:solidFill>
              </a:rPr>
              <a:t> </a:t>
            </a:r>
            <a:r>
              <a:rPr lang="en-CA" sz="3200" b="1" dirty="0">
                <a:solidFill>
                  <a:srgbClr val="FF0000"/>
                </a:solidFill>
              </a:rPr>
              <a:t>(WGM02:0 = 3 or 7) </a:t>
            </a:r>
            <a:r>
              <a:rPr lang="en-CA" sz="3200" dirty="0"/>
              <a:t>provides a high-frequency PWM waveform generation option. The </a:t>
            </a:r>
            <a:r>
              <a:rPr lang="en-CA" sz="3200" dirty="0">
                <a:solidFill>
                  <a:srgbClr val="00B050"/>
                </a:solidFill>
              </a:rPr>
              <a:t>Fast PWM </a:t>
            </a:r>
            <a:r>
              <a:rPr lang="en-CA" sz="3200" dirty="0"/>
              <a:t>differs from the other PWM option in its </a:t>
            </a:r>
            <a:r>
              <a:rPr lang="en-CA" sz="3200" dirty="0">
                <a:solidFill>
                  <a:srgbClr val="FF0000"/>
                </a:solidFill>
              </a:rPr>
              <a:t>single-slope operation</a:t>
            </a:r>
            <a:r>
              <a:rPr lang="en-CA" sz="3200" dirty="0"/>
              <a:t>. </a:t>
            </a:r>
          </a:p>
          <a:p>
            <a:pPr>
              <a:buClrTx/>
            </a:pPr>
            <a:r>
              <a:rPr lang="en-CA" sz="3200" dirty="0"/>
              <a:t>The counter starts counting from </a:t>
            </a:r>
            <a:r>
              <a:rPr lang="en-CA" sz="3200" dirty="0">
                <a:solidFill>
                  <a:srgbClr val="00B050"/>
                </a:solidFill>
              </a:rPr>
              <a:t>BOTTOM to TOP </a:t>
            </a:r>
            <a:r>
              <a:rPr lang="en-CA" sz="3200" dirty="0"/>
              <a:t>and then restarts from </a:t>
            </a:r>
            <a:r>
              <a:rPr lang="en-CA" sz="3200" dirty="0">
                <a:solidFill>
                  <a:srgbClr val="00B050"/>
                </a:solidFill>
              </a:rPr>
              <a:t>BOTTOM</a:t>
            </a:r>
            <a:r>
              <a:rPr lang="en-CA" sz="3200" dirty="0"/>
              <a:t>. </a:t>
            </a:r>
          </a:p>
          <a:p>
            <a:pPr>
              <a:buClrTx/>
            </a:pPr>
            <a:r>
              <a:rPr lang="en-CA" sz="3200" dirty="0"/>
              <a:t>In </a:t>
            </a:r>
            <a:r>
              <a:rPr lang="en-CA" sz="3200" b="1" dirty="0">
                <a:solidFill>
                  <a:srgbClr val="FF0000"/>
                </a:solidFill>
              </a:rPr>
              <a:t>Non-inverting Compare Output Mode</a:t>
            </a:r>
            <a:r>
              <a:rPr lang="en-CA" sz="3200" dirty="0"/>
              <a:t>, the Output Compare (OC0x) is </a:t>
            </a:r>
            <a:r>
              <a:rPr lang="en-CA" sz="3200" b="1" dirty="0">
                <a:solidFill>
                  <a:srgbClr val="FF0000"/>
                </a:solidFill>
              </a:rPr>
              <a:t>cleared</a:t>
            </a:r>
            <a:r>
              <a:rPr lang="en-CA" sz="3200" dirty="0"/>
              <a:t> on the </a:t>
            </a:r>
            <a:r>
              <a:rPr lang="en-CA" sz="3200" dirty="0">
                <a:solidFill>
                  <a:srgbClr val="FF0000"/>
                </a:solidFill>
              </a:rPr>
              <a:t>compare match </a:t>
            </a:r>
            <a:r>
              <a:rPr lang="en-CA" sz="3200" dirty="0"/>
              <a:t>between </a:t>
            </a:r>
            <a:r>
              <a:rPr lang="en-CA" sz="3200" dirty="0">
                <a:solidFill>
                  <a:srgbClr val="FF0000"/>
                </a:solidFill>
              </a:rPr>
              <a:t>TCNT0 and OCR0x and </a:t>
            </a:r>
            <a:r>
              <a:rPr lang="en-CA" sz="3200" b="1" dirty="0">
                <a:solidFill>
                  <a:srgbClr val="FF0000"/>
                </a:solidFill>
              </a:rPr>
              <a:t>set</a:t>
            </a:r>
            <a:r>
              <a:rPr lang="en-CA" sz="3200" dirty="0">
                <a:solidFill>
                  <a:srgbClr val="FF0000"/>
                </a:solidFill>
              </a:rPr>
              <a:t> at BOTTOM</a:t>
            </a:r>
            <a:r>
              <a:rPr lang="en-CA" sz="3200" dirty="0"/>
              <a:t>. </a:t>
            </a:r>
          </a:p>
          <a:p>
            <a:pPr>
              <a:buClrTx/>
            </a:pPr>
            <a:r>
              <a:rPr lang="en-CA" sz="3200" dirty="0"/>
              <a:t>In </a:t>
            </a:r>
            <a:r>
              <a:rPr lang="en-CA" sz="3200" b="1" dirty="0">
                <a:solidFill>
                  <a:srgbClr val="00B050"/>
                </a:solidFill>
              </a:rPr>
              <a:t>Inverting Compare Output Mode</a:t>
            </a:r>
            <a:r>
              <a:rPr lang="en-CA" sz="3200" dirty="0"/>
              <a:t>, the output is </a:t>
            </a:r>
            <a:r>
              <a:rPr lang="en-CA" sz="3200" b="1" dirty="0">
                <a:solidFill>
                  <a:srgbClr val="00B050"/>
                </a:solidFill>
              </a:rPr>
              <a:t>set</a:t>
            </a:r>
            <a:r>
              <a:rPr lang="en-CA" sz="3200" dirty="0"/>
              <a:t> on compare match and </a:t>
            </a:r>
            <a:r>
              <a:rPr lang="en-CA" sz="3200" b="1" dirty="0">
                <a:solidFill>
                  <a:srgbClr val="00B050"/>
                </a:solidFill>
              </a:rPr>
              <a:t>cleared</a:t>
            </a:r>
            <a:r>
              <a:rPr lang="en-CA" sz="3200" dirty="0">
                <a:solidFill>
                  <a:srgbClr val="00B050"/>
                </a:solidFill>
              </a:rPr>
              <a:t> at BOTTOM</a:t>
            </a:r>
            <a:r>
              <a:rPr lang="en-CA" sz="3200" dirty="0"/>
              <a:t>.</a:t>
            </a:r>
            <a:endParaRPr lang="en-US" sz="3200" dirty="0"/>
          </a:p>
        </p:txBody>
      </p:sp>
      <p:pic>
        <p:nvPicPr>
          <p:cNvPr id="4" name="Picture 3"/>
          <p:cNvPicPr>
            <a:picLocks noChangeAspect="1"/>
          </p:cNvPicPr>
          <p:nvPr/>
        </p:nvPicPr>
        <p:blipFill rotWithShape="1">
          <a:blip r:embed="rId2"/>
          <a:srcRect l="1012" t="746" r="1301"/>
          <a:stretch/>
        </p:blipFill>
        <p:spPr>
          <a:xfrm>
            <a:off x="7531331" y="515390"/>
            <a:ext cx="8711738" cy="7404244"/>
          </a:xfrm>
          <a:prstGeom prst="rect">
            <a:avLst/>
          </a:prstGeom>
        </p:spPr>
      </p:pic>
      <p:sp>
        <p:nvSpPr>
          <p:cNvPr id="5" name="Date Placeholder 4"/>
          <p:cNvSpPr>
            <a:spLocks noGrp="1"/>
          </p:cNvSpPr>
          <p:nvPr>
            <p:ph type="dt" sz="half" idx="10"/>
          </p:nvPr>
        </p:nvSpPr>
        <p:spPr/>
        <p:txBody>
          <a:bodyPr/>
          <a:lstStyle/>
          <a:p>
            <a:fld id="{8C86633E-5FC0-414C-B90C-244B94D770C9}"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13</a:t>
            </a:fld>
            <a:endParaRPr lang="en-US" dirty="0"/>
          </a:p>
        </p:txBody>
      </p:sp>
      <p:sp>
        <p:nvSpPr>
          <p:cNvPr id="8" name="TextBox 7"/>
          <p:cNvSpPr txBox="1"/>
          <p:nvPr/>
        </p:nvSpPr>
        <p:spPr>
          <a:xfrm>
            <a:off x="13405450" y="3502325"/>
            <a:ext cx="1362972" cy="724619"/>
          </a:xfrm>
          <a:prstGeom prst="rect">
            <a:avLst/>
          </a:prstGeom>
          <a:noFill/>
          <a:ln w="28575">
            <a:solidFill>
              <a:srgbClr val="FF0000"/>
            </a:solidFill>
            <a:prstDash val="dash"/>
          </a:ln>
        </p:spPr>
        <p:txBody>
          <a:bodyPr wrap="square" rtlCol="0">
            <a:spAutoFit/>
          </a:bodyPr>
          <a:lstStyle/>
          <a:p>
            <a:endParaRPr lang="en-US" dirty="0"/>
          </a:p>
        </p:txBody>
      </p:sp>
      <p:sp>
        <p:nvSpPr>
          <p:cNvPr id="9" name="TextBox 8"/>
          <p:cNvSpPr txBox="1"/>
          <p:nvPr/>
        </p:nvSpPr>
        <p:spPr>
          <a:xfrm>
            <a:off x="13405450" y="5107131"/>
            <a:ext cx="1362972" cy="724619"/>
          </a:xfrm>
          <a:prstGeom prst="rect">
            <a:avLst/>
          </a:prstGeom>
          <a:noFill/>
          <a:ln w="28575">
            <a:solidFill>
              <a:srgbClr val="00B0F0"/>
            </a:solidFill>
            <a:prstDash val="dash"/>
          </a:ln>
        </p:spPr>
        <p:txBody>
          <a:bodyPr wrap="square" rtlCol="0">
            <a:spAutoFit/>
          </a:bodyPr>
          <a:lstStyle/>
          <a:p>
            <a:endParaRPr lang="en-US" dirty="0"/>
          </a:p>
        </p:txBody>
      </p:sp>
      <p:cxnSp>
        <p:nvCxnSpPr>
          <p:cNvPr id="11" name="Straight Arrow Connector 10"/>
          <p:cNvCxnSpPr/>
          <p:nvPr/>
        </p:nvCxnSpPr>
        <p:spPr>
          <a:xfrm flipH="1">
            <a:off x="14086936" y="2829464"/>
            <a:ext cx="474453" cy="396815"/>
          </a:xfrm>
          <a:prstGeom prst="straightConnector1">
            <a:avLst/>
          </a:prstGeom>
          <a:ln w="3810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14086936" y="4384852"/>
            <a:ext cx="474453" cy="396815"/>
          </a:xfrm>
          <a:prstGeom prst="straightConnector1">
            <a:avLst/>
          </a:prstGeom>
          <a:ln w="38100">
            <a:solidFill>
              <a:srgbClr val="00B0F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275144" y="2449901"/>
            <a:ext cx="2249081" cy="724619"/>
          </a:xfrm>
          <a:prstGeom prst="rect">
            <a:avLst/>
          </a:prstGeom>
          <a:noFill/>
          <a:ln w="28575">
            <a:solidFill>
              <a:srgbClr val="FF0000"/>
            </a:solidFill>
            <a:prstDash val="dash"/>
          </a:ln>
        </p:spPr>
        <p:txBody>
          <a:bodyPr wrap="square" rtlCol="0">
            <a:spAutoFit/>
          </a:bodyPr>
          <a:lstStyle/>
          <a:p>
            <a:endParaRPr lang="en-US" dirty="0"/>
          </a:p>
        </p:txBody>
      </p:sp>
      <p:sp>
        <p:nvSpPr>
          <p:cNvPr id="14" name="TextBox 13"/>
          <p:cNvSpPr txBox="1"/>
          <p:nvPr/>
        </p:nvSpPr>
        <p:spPr>
          <a:xfrm>
            <a:off x="8275143" y="4174224"/>
            <a:ext cx="2249081" cy="724619"/>
          </a:xfrm>
          <a:prstGeom prst="rect">
            <a:avLst/>
          </a:prstGeom>
          <a:noFill/>
          <a:ln w="28575">
            <a:solidFill>
              <a:srgbClr val="FF0000"/>
            </a:solidFill>
            <a:prstDash val="dash"/>
          </a:ln>
        </p:spPr>
        <p:txBody>
          <a:bodyPr wrap="square" rtlCol="0">
            <a:spAutoFit/>
          </a:bodyPr>
          <a:lstStyle/>
          <a:p>
            <a:endParaRPr lang="en-US" dirty="0"/>
          </a:p>
        </p:txBody>
      </p:sp>
      <p:sp>
        <p:nvSpPr>
          <p:cNvPr id="16" name="TextBox 15"/>
          <p:cNvSpPr txBox="1"/>
          <p:nvPr/>
        </p:nvSpPr>
        <p:spPr>
          <a:xfrm>
            <a:off x="8278689" y="5726017"/>
            <a:ext cx="2249081" cy="724619"/>
          </a:xfrm>
          <a:prstGeom prst="rect">
            <a:avLst/>
          </a:prstGeom>
          <a:noFill/>
          <a:ln w="28575">
            <a:solidFill>
              <a:srgbClr val="00B0F0"/>
            </a:solidFill>
            <a:prstDash val="dash"/>
          </a:ln>
        </p:spPr>
        <p:txBody>
          <a:bodyPr wrap="square" rtlCol="0">
            <a:spAutoFit/>
          </a:bodyPr>
          <a:lstStyle/>
          <a:p>
            <a:endParaRPr lang="en-US" dirty="0"/>
          </a:p>
        </p:txBody>
      </p:sp>
      <p:sp>
        <p:nvSpPr>
          <p:cNvPr id="17" name="TextBox 16"/>
          <p:cNvSpPr txBox="1"/>
          <p:nvPr/>
        </p:nvSpPr>
        <p:spPr>
          <a:xfrm>
            <a:off x="15441282" y="3502325"/>
            <a:ext cx="858093" cy="724619"/>
          </a:xfrm>
          <a:prstGeom prst="rect">
            <a:avLst/>
          </a:prstGeom>
          <a:noFill/>
          <a:ln w="28575">
            <a:solidFill>
              <a:srgbClr val="FF0000"/>
            </a:solidFill>
            <a:prstDash val="dash"/>
          </a:ln>
        </p:spPr>
        <p:txBody>
          <a:bodyPr wrap="square" rtlCol="0">
            <a:spAutoFit/>
          </a:bodyPr>
          <a:lstStyle/>
          <a:p>
            <a:endParaRPr lang="en-US" dirty="0"/>
          </a:p>
        </p:txBody>
      </p:sp>
      <p:sp>
        <p:nvSpPr>
          <p:cNvPr id="18" name="TextBox 17"/>
          <p:cNvSpPr txBox="1"/>
          <p:nvPr/>
        </p:nvSpPr>
        <p:spPr>
          <a:xfrm>
            <a:off x="15458535" y="5053157"/>
            <a:ext cx="858094" cy="724619"/>
          </a:xfrm>
          <a:prstGeom prst="rect">
            <a:avLst/>
          </a:prstGeom>
          <a:noFill/>
          <a:ln w="28575">
            <a:solidFill>
              <a:srgbClr val="00B0F0"/>
            </a:solidFill>
            <a:prstDash val="dash"/>
          </a:ln>
        </p:spPr>
        <p:txBody>
          <a:bodyPr wrap="square" rtlCol="0">
            <a:spAutoFit/>
          </a:bodyPr>
          <a:lstStyle/>
          <a:p>
            <a:endParaRPr lang="en-US" dirty="0"/>
          </a:p>
        </p:txBody>
      </p:sp>
    </p:spTree>
    <p:extLst>
      <p:ext uri="{BB962C8B-B14F-4D97-AF65-F5344CB8AC3E}">
        <p14:creationId xmlns:p14="http://schemas.microsoft.com/office/powerpoint/2010/main" val="326236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heel(1)">
                                      <p:cBhvr>
                                        <p:cTn id="27" dur="2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heel(1)">
                                      <p:cBhvr>
                                        <p:cTn id="37" dur="20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heel(1)">
                                      <p:cBhvr>
                                        <p:cTn id="42" dur="20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heel(1)">
                                      <p:cBhvr>
                                        <p:cTn id="52" dur="20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heel(1)">
                                      <p:cBhvr>
                                        <p:cTn id="57" dur="20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1"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heel(1)">
                                      <p:cBhvr>
                                        <p:cTn id="62" dur="20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down)">
                                      <p:cBhvr>
                                        <p:cTn id="6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P spid="16"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820488" y="128516"/>
            <a:ext cx="7538719" cy="862147"/>
          </a:xfrm>
        </p:spPr>
        <p:txBody>
          <a:bodyPr>
            <a:normAutofit/>
          </a:bodyPr>
          <a:lstStyle/>
          <a:p>
            <a:r>
              <a:rPr lang="en-CA" sz="5400" b="1" dirty="0">
                <a:solidFill>
                  <a:srgbClr val="0070C0"/>
                </a:solidFill>
              </a:rPr>
              <a:t>Fast PWM Mode</a:t>
            </a:r>
            <a:r>
              <a:rPr lang="en-CA" sz="5400" dirty="0">
                <a:solidFill>
                  <a:srgbClr val="0070C0"/>
                </a:solidFill>
              </a:rPr>
              <a:t> </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133004" y="801351"/>
            <a:ext cx="16209818" cy="7278619"/>
          </a:xfrm>
        </p:spPr>
        <p:txBody>
          <a:bodyPr>
            <a:noAutofit/>
          </a:bodyPr>
          <a:lstStyle/>
          <a:p>
            <a:pPr algn="just">
              <a:spcBef>
                <a:spcPts val="600"/>
              </a:spcBef>
              <a:buClrTx/>
            </a:pPr>
            <a:r>
              <a:rPr lang="en-CA" sz="3600" dirty="0"/>
              <a:t>Due to the single-slope operation, the operating frequency of the </a:t>
            </a:r>
            <a:r>
              <a:rPr lang="en-CA" sz="3600" dirty="0">
                <a:solidFill>
                  <a:srgbClr val="00B050"/>
                </a:solidFill>
              </a:rPr>
              <a:t>Fast PWM mode </a:t>
            </a:r>
            <a:r>
              <a:rPr lang="en-CA" sz="3600" dirty="0"/>
              <a:t>can be </a:t>
            </a:r>
            <a:r>
              <a:rPr lang="en-CA" sz="3600" b="1" dirty="0">
                <a:solidFill>
                  <a:srgbClr val="00B050"/>
                </a:solidFill>
              </a:rPr>
              <a:t>twice as high as</a:t>
            </a:r>
            <a:r>
              <a:rPr lang="en-CA" sz="3600" b="1" dirty="0"/>
              <a:t> </a:t>
            </a:r>
            <a:r>
              <a:rPr lang="en-CA" sz="3600" dirty="0"/>
              <a:t>the phase correct PWM mode that uses dual-slope operation. </a:t>
            </a:r>
          </a:p>
          <a:p>
            <a:pPr algn="just">
              <a:spcBef>
                <a:spcPts val="600"/>
              </a:spcBef>
              <a:buClrTx/>
            </a:pPr>
            <a:r>
              <a:rPr lang="en-CA" sz="3600" dirty="0"/>
              <a:t>This high frequency makes the fast PWM mode well suited for </a:t>
            </a:r>
            <a:r>
              <a:rPr lang="en-CA" sz="3600" b="1" dirty="0">
                <a:solidFill>
                  <a:srgbClr val="00B050"/>
                </a:solidFill>
              </a:rPr>
              <a:t>power regulation, rectification, and DAC </a:t>
            </a:r>
            <a:r>
              <a:rPr lang="en-CA" sz="3600" b="1" dirty="0">
                <a:solidFill>
                  <a:srgbClr val="FF0000"/>
                </a:solidFill>
              </a:rPr>
              <a:t>applications</a:t>
            </a:r>
            <a:r>
              <a:rPr lang="en-CA" sz="3600" dirty="0"/>
              <a:t>.</a:t>
            </a:r>
          </a:p>
          <a:p>
            <a:pPr algn="just">
              <a:spcBef>
                <a:spcPts val="600"/>
              </a:spcBef>
              <a:buClrTx/>
            </a:pPr>
            <a:r>
              <a:rPr lang="en-CA" sz="3600" dirty="0"/>
              <a:t>High frequency allows physically small-sized external components (coils, capacitors) and therefore </a:t>
            </a:r>
            <a:r>
              <a:rPr lang="en-CA" sz="3600" b="1" dirty="0">
                <a:solidFill>
                  <a:srgbClr val="00B050"/>
                </a:solidFill>
              </a:rPr>
              <a:t>reduces</a:t>
            </a:r>
            <a:r>
              <a:rPr lang="en-CA" sz="3600" dirty="0"/>
              <a:t> the total system cost.</a:t>
            </a:r>
          </a:p>
          <a:p>
            <a:pPr algn="just">
              <a:spcBef>
                <a:spcPts val="600"/>
              </a:spcBef>
            </a:pPr>
            <a:r>
              <a:rPr lang="en-CA" sz="3600" dirty="0">
                <a:solidFill>
                  <a:prstClr val="black"/>
                </a:solidFill>
              </a:rPr>
              <a:t>In fast PWM mode, the counter is incremented until the counter value </a:t>
            </a:r>
            <a:r>
              <a:rPr lang="en-CA" sz="3600" b="1" dirty="0">
                <a:solidFill>
                  <a:srgbClr val="0070C0"/>
                </a:solidFill>
              </a:rPr>
              <a:t>matches the TOP</a:t>
            </a:r>
            <a:r>
              <a:rPr lang="en-CA" sz="3600" dirty="0">
                <a:solidFill>
                  <a:prstClr val="black"/>
                </a:solidFill>
              </a:rPr>
              <a:t> value, </a:t>
            </a:r>
            <a:r>
              <a:rPr lang="en-US" sz="3600" dirty="0">
                <a:solidFill>
                  <a:prstClr val="black"/>
                </a:solidFill>
              </a:rPr>
              <a:t>the register </a:t>
            </a:r>
            <a:r>
              <a:rPr lang="en-US" sz="3600" dirty="0" err="1">
                <a:solidFill>
                  <a:prstClr val="black"/>
                </a:solidFill>
              </a:rPr>
              <a:t>TCNTn</a:t>
            </a:r>
            <a:r>
              <a:rPr lang="en-US" sz="3600" dirty="0">
                <a:solidFill>
                  <a:prstClr val="black"/>
                </a:solidFill>
              </a:rPr>
              <a:t> counts from bottom value to maximum value stored in the register </a:t>
            </a:r>
            <a:r>
              <a:rPr lang="en-US" sz="3600" dirty="0" err="1">
                <a:solidFill>
                  <a:prstClr val="black"/>
                </a:solidFill>
              </a:rPr>
              <a:t>OCRn</a:t>
            </a:r>
            <a:r>
              <a:rPr lang="en-US" sz="3600" dirty="0">
                <a:solidFill>
                  <a:prstClr val="black"/>
                </a:solidFill>
              </a:rPr>
              <a:t>. </a:t>
            </a:r>
            <a:r>
              <a:rPr lang="en-CA" sz="3600" dirty="0">
                <a:solidFill>
                  <a:prstClr val="black"/>
                </a:solidFill>
              </a:rPr>
              <a:t>The counter is then cleared/reset to zero at the following timer clock cycle. </a:t>
            </a:r>
            <a:r>
              <a:rPr lang="en-US" sz="3600" dirty="0">
                <a:solidFill>
                  <a:prstClr val="black"/>
                </a:solidFill>
              </a:rPr>
              <a:t>If the timer is configured in non-inverting mode, </a:t>
            </a:r>
            <a:r>
              <a:rPr lang="en-US" sz="3600" b="1" dirty="0">
                <a:solidFill>
                  <a:srgbClr val="FF0000"/>
                </a:solidFill>
              </a:rPr>
              <a:t>PWM output pin (</a:t>
            </a:r>
            <a:r>
              <a:rPr lang="en-US" sz="3600" b="1" dirty="0" err="1">
                <a:solidFill>
                  <a:srgbClr val="FF0000"/>
                </a:solidFill>
              </a:rPr>
              <a:t>OCn</a:t>
            </a:r>
            <a:r>
              <a:rPr lang="en-US" sz="3600" b="1" dirty="0">
                <a:solidFill>
                  <a:srgbClr val="FF0000"/>
                </a:solidFill>
              </a:rPr>
              <a:t>)</a:t>
            </a:r>
            <a:r>
              <a:rPr lang="en-US" sz="3600" dirty="0">
                <a:solidFill>
                  <a:srgbClr val="FF0000"/>
                </a:solidFill>
              </a:rPr>
              <a:t> </a:t>
            </a:r>
            <a:r>
              <a:rPr lang="en-US" sz="3600" dirty="0">
                <a:solidFill>
                  <a:prstClr val="black"/>
                </a:solidFill>
              </a:rPr>
              <a:t>goes low when the value of the above two registers matches. The </a:t>
            </a:r>
            <a:r>
              <a:rPr lang="en-US" sz="3600" b="1" dirty="0" err="1">
                <a:solidFill>
                  <a:srgbClr val="FF0000"/>
                </a:solidFill>
              </a:rPr>
              <a:t>OCn</a:t>
            </a:r>
            <a:r>
              <a:rPr lang="en-US" sz="3600" b="1" dirty="0">
                <a:solidFill>
                  <a:srgbClr val="FF0000"/>
                </a:solidFill>
              </a:rPr>
              <a:t> pin </a:t>
            </a:r>
            <a:r>
              <a:rPr lang="en-US" sz="3600" dirty="0">
                <a:solidFill>
                  <a:srgbClr val="FF0000"/>
                </a:solidFill>
              </a:rPr>
              <a:t>becomes HIGH</a:t>
            </a:r>
            <a:r>
              <a:rPr lang="en-US" sz="3600" dirty="0">
                <a:solidFill>
                  <a:prstClr val="black"/>
                </a:solidFill>
              </a:rPr>
              <a:t> when the </a:t>
            </a:r>
            <a:r>
              <a:rPr lang="en-US" sz="3600" dirty="0" err="1">
                <a:solidFill>
                  <a:srgbClr val="FF0000"/>
                </a:solidFill>
              </a:rPr>
              <a:t>TCNTn</a:t>
            </a:r>
            <a:r>
              <a:rPr lang="en-US" sz="3600" dirty="0">
                <a:solidFill>
                  <a:srgbClr val="FF0000"/>
                </a:solidFill>
              </a:rPr>
              <a:t> register reaches at bottom value</a:t>
            </a:r>
            <a:r>
              <a:rPr lang="en-US" sz="3600" dirty="0">
                <a:solidFill>
                  <a:prstClr val="black"/>
                </a:solidFill>
              </a:rPr>
              <a:t>. In inverting mode, </a:t>
            </a:r>
            <a:r>
              <a:rPr lang="en-US" sz="3600" b="1" dirty="0" err="1">
                <a:solidFill>
                  <a:srgbClr val="FF0000"/>
                </a:solidFill>
              </a:rPr>
              <a:t>OCn</a:t>
            </a:r>
            <a:r>
              <a:rPr lang="en-US" sz="3600" b="1" dirty="0">
                <a:solidFill>
                  <a:srgbClr val="FF0000"/>
                </a:solidFill>
              </a:rPr>
              <a:t> pin </a:t>
            </a:r>
            <a:r>
              <a:rPr lang="en-US" sz="3600" dirty="0">
                <a:solidFill>
                  <a:srgbClr val="FF0000"/>
                </a:solidFill>
              </a:rPr>
              <a:t>behaves opposite to non-inverting mode</a:t>
            </a:r>
            <a:r>
              <a:rPr lang="en-US" sz="3600" dirty="0">
                <a:solidFill>
                  <a:prstClr val="black"/>
                </a:solidFill>
              </a:rPr>
              <a:t>. </a:t>
            </a:r>
            <a:endParaRPr lang="en-CA" sz="3600" dirty="0">
              <a:solidFill>
                <a:prstClr val="black"/>
              </a:solidFill>
            </a:endParaRPr>
          </a:p>
        </p:txBody>
      </p:sp>
      <p:sp>
        <p:nvSpPr>
          <p:cNvPr id="4" name="Date Placeholder 3"/>
          <p:cNvSpPr>
            <a:spLocks noGrp="1"/>
          </p:cNvSpPr>
          <p:nvPr>
            <p:ph type="dt" sz="half" idx="10"/>
          </p:nvPr>
        </p:nvSpPr>
        <p:spPr/>
        <p:txBody>
          <a:bodyPr/>
          <a:lstStyle/>
          <a:p>
            <a:fld id="{F223F9C2-1C0C-4D85-AB48-0CD5058EF3D5}"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1951838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142066"/>
            <a:ext cx="7538719" cy="808912"/>
          </a:xfrm>
        </p:spPr>
        <p:txBody>
          <a:bodyPr>
            <a:noAutofit/>
          </a:bodyPr>
          <a:lstStyle/>
          <a:p>
            <a:r>
              <a:rPr lang="en-CA" sz="5400" b="1" dirty="0">
                <a:solidFill>
                  <a:srgbClr val="0070C0"/>
                </a:solidFill>
              </a:rPr>
              <a:t>Fast PWM Mode</a:t>
            </a:r>
            <a:r>
              <a:rPr lang="en-CA" sz="5400" dirty="0">
                <a:solidFill>
                  <a:srgbClr val="0070C0"/>
                </a:solidFill>
              </a:rPr>
              <a:t> </a:t>
            </a:r>
            <a:endParaRPr lang="en-US" sz="5400" b="1" dirty="0">
              <a:solidFill>
                <a:srgbClr val="0070C0"/>
              </a:solidFill>
            </a:endParaRPr>
          </a:p>
        </p:txBody>
      </p:sp>
      <p:pic>
        <p:nvPicPr>
          <p:cNvPr id="4" name="Content Placeholder 3"/>
          <p:cNvPicPr>
            <a:picLocks noGrp="1" noChangeAspect="1"/>
          </p:cNvPicPr>
          <p:nvPr>
            <p:ph idx="1"/>
          </p:nvPr>
        </p:nvPicPr>
        <p:blipFill rotWithShape="1">
          <a:blip r:embed="rId3">
            <a:duotone>
              <a:schemeClr val="accent5">
                <a:shade val="45000"/>
                <a:satMod val="135000"/>
              </a:schemeClr>
              <a:prstClr val="white"/>
            </a:duotone>
          </a:blip>
          <a:srcRect l="8731" t="10217" r="4060" b="3103"/>
          <a:stretch/>
        </p:blipFill>
        <p:spPr>
          <a:xfrm>
            <a:off x="5619404" y="1968020"/>
            <a:ext cx="10725391" cy="5662925"/>
          </a:xfrm>
          <a:prstGeom prst="rect">
            <a:avLst/>
          </a:prstGeom>
        </p:spPr>
      </p:pic>
      <p:sp>
        <p:nvSpPr>
          <p:cNvPr id="3" name="Rectangle 2"/>
          <p:cNvSpPr/>
          <p:nvPr/>
        </p:nvSpPr>
        <p:spPr>
          <a:xfrm>
            <a:off x="214707" y="834602"/>
            <a:ext cx="16080212" cy="1646605"/>
          </a:xfrm>
          <a:prstGeom prst="rect">
            <a:avLst/>
          </a:prstGeom>
        </p:spPr>
        <p:txBody>
          <a:bodyPr wrap="square">
            <a:spAutoFit/>
          </a:bodyPr>
          <a:lstStyle/>
          <a:p>
            <a:pPr marL="411480" indent="-411480">
              <a:spcAft>
                <a:spcPts val="600"/>
              </a:spcAft>
              <a:buSzPct val="100000"/>
              <a:buFont typeface="Arial" panose="020B0604020202020204" pitchFamily="34" charset="0"/>
              <a:buChar char="•"/>
            </a:pPr>
            <a:r>
              <a:rPr lang="en-CA" sz="3200" dirty="0">
                <a:solidFill>
                  <a:prstClr val="black"/>
                </a:solidFill>
              </a:rPr>
              <a:t>The timing diagram for the </a:t>
            </a:r>
            <a:r>
              <a:rPr lang="en-CA" sz="3200" dirty="0">
                <a:solidFill>
                  <a:srgbClr val="00B050"/>
                </a:solidFill>
              </a:rPr>
              <a:t>Fast PWM Mode </a:t>
            </a:r>
            <a:r>
              <a:rPr lang="en-CA" sz="3200" dirty="0">
                <a:solidFill>
                  <a:prstClr val="black"/>
                </a:solidFill>
              </a:rPr>
              <a:t>is shown in Figure 12.6. </a:t>
            </a:r>
          </a:p>
          <a:p>
            <a:pPr marL="411480" indent="-411480">
              <a:spcAft>
                <a:spcPts val="600"/>
              </a:spcAft>
              <a:buSzPct val="100000"/>
              <a:buFont typeface="Arial" panose="020B0604020202020204" pitchFamily="34" charset="0"/>
              <a:buChar char="•"/>
            </a:pPr>
            <a:r>
              <a:rPr lang="en-CA" sz="3200" dirty="0">
                <a:solidFill>
                  <a:prstClr val="black"/>
                </a:solidFill>
              </a:rPr>
              <a:t>The TCNT0 value is in the timing diagram shown as a histogram for illustrating the </a:t>
            </a:r>
            <a:r>
              <a:rPr lang="en-CA" sz="3200" dirty="0">
                <a:solidFill>
                  <a:srgbClr val="00B050"/>
                </a:solidFill>
              </a:rPr>
              <a:t>single-slope operation</a:t>
            </a:r>
            <a:r>
              <a:rPr lang="en-CA" sz="3200" dirty="0">
                <a:solidFill>
                  <a:prstClr val="black"/>
                </a:solidFill>
              </a:rPr>
              <a:t>. </a:t>
            </a:r>
          </a:p>
        </p:txBody>
      </p:sp>
      <p:sp>
        <p:nvSpPr>
          <p:cNvPr id="5" name="Date Placeholder 4"/>
          <p:cNvSpPr>
            <a:spLocks noGrp="1"/>
          </p:cNvSpPr>
          <p:nvPr>
            <p:ph type="dt" sz="half" idx="10"/>
          </p:nvPr>
        </p:nvSpPr>
        <p:spPr/>
        <p:txBody>
          <a:bodyPr/>
          <a:lstStyle/>
          <a:p>
            <a:fld id="{2D91BE3E-F856-4F5B-9F72-71A485A70F96}"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15</a:t>
            </a:fld>
            <a:endParaRPr lang="en-US" dirty="0"/>
          </a:p>
        </p:txBody>
      </p:sp>
      <p:sp>
        <p:nvSpPr>
          <p:cNvPr id="8" name="TextBox 7"/>
          <p:cNvSpPr txBox="1"/>
          <p:nvPr/>
        </p:nvSpPr>
        <p:spPr>
          <a:xfrm>
            <a:off x="9470852" y="7433189"/>
            <a:ext cx="6824068" cy="523220"/>
          </a:xfrm>
          <a:prstGeom prst="rect">
            <a:avLst/>
          </a:prstGeom>
          <a:noFill/>
        </p:spPr>
        <p:txBody>
          <a:bodyPr wrap="square" rtlCol="0">
            <a:spAutoFit/>
          </a:bodyPr>
          <a:lstStyle/>
          <a:p>
            <a:r>
              <a:rPr lang="en-US" sz="2800" dirty="0"/>
              <a:t>Fig. 12.6 Timing Diagram of Fast PWM Mode</a:t>
            </a:r>
          </a:p>
        </p:txBody>
      </p:sp>
      <p:sp>
        <p:nvSpPr>
          <p:cNvPr id="9" name="Rectangle 8"/>
          <p:cNvSpPr/>
          <p:nvPr/>
        </p:nvSpPr>
        <p:spPr>
          <a:xfrm>
            <a:off x="234912" y="2481207"/>
            <a:ext cx="7325948" cy="1077218"/>
          </a:xfrm>
          <a:prstGeom prst="rect">
            <a:avLst/>
          </a:prstGeom>
        </p:spPr>
        <p:txBody>
          <a:bodyPr wrap="square">
            <a:spAutoFit/>
          </a:bodyPr>
          <a:lstStyle/>
          <a:p>
            <a:pPr marL="411480" indent="-411480">
              <a:spcAft>
                <a:spcPts val="1200"/>
              </a:spcAft>
              <a:buSzPct val="100000"/>
              <a:buFont typeface="Arial" panose="020B0604020202020204" pitchFamily="34" charset="0"/>
              <a:buChar char="•"/>
            </a:pPr>
            <a:r>
              <a:rPr lang="en-CA" sz="3200" dirty="0">
                <a:solidFill>
                  <a:prstClr val="black"/>
                </a:solidFill>
              </a:rPr>
              <a:t>The diagram includes both </a:t>
            </a:r>
            <a:r>
              <a:rPr lang="en-CA" sz="3200" b="1" dirty="0">
                <a:solidFill>
                  <a:srgbClr val="FF0000"/>
                </a:solidFill>
              </a:rPr>
              <a:t>non-inverted and inverted PWM outputs</a:t>
            </a:r>
            <a:r>
              <a:rPr lang="en-CA" sz="3200" dirty="0">
                <a:solidFill>
                  <a:prstClr val="black"/>
                </a:solidFill>
              </a:rPr>
              <a:t>.</a:t>
            </a:r>
          </a:p>
        </p:txBody>
      </p:sp>
      <p:sp>
        <p:nvSpPr>
          <p:cNvPr id="10" name="Rectangle 9"/>
          <p:cNvSpPr/>
          <p:nvPr/>
        </p:nvSpPr>
        <p:spPr>
          <a:xfrm>
            <a:off x="390698" y="3557374"/>
            <a:ext cx="4846320" cy="206210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r">
              <a:spcAft>
                <a:spcPts val="1200"/>
              </a:spcAft>
              <a:buSzPct val="100000"/>
            </a:pPr>
            <a:r>
              <a:rPr lang="en-CA" sz="3200" dirty="0">
                <a:solidFill>
                  <a:prstClr val="black"/>
                </a:solidFill>
              </a:rPr>
              <a:t>The </a:t>
            </a:r>
            <a:r>
              <a:rPr lang="en-CA" sz="3200" b="1" dirty="0">
                <a:solidFill>
                  <a:prstClr val="black"/>
                </a:solidFill>
              </a:rPr>
              <a:t>small horizontal line marks </a:t>
            </a:r>
            <a:r>
              <a:rPr lang="en-CA" sz="3200" dirty="0">
                <a:solidFill>
                  <a:prstClr val="black"/>
                </a:solidFill>
              </a:rPr>
              <a:t>on the TCNT0 slopes represent </a:t>
            </a:r>
            <a:r>
              <a:rPr lang="en-CA" sz="3200" dirty="0">
                <a:solidFill>
                  <a:srgbClr val="0070C0"/>
                </a:solidFill>
              </a:rPr>
              <a:t>compare matches </a:t>
            </a:r>
            <a:r>
              <a:rPr lang="en-CA" sz="3200" dirty="0">
                <a:solidFill>
                  <a:prstClr val="black"/>
                </a:solidFill>
              </a:rPr>
              <a:t>between OCR0x and TCNT0. </a:t>
            </a:r>
            <a:endParaRPr lang="en-US" sz="3200" dirty="0">
              <a:solidFill>
                <a:prstClr val="black"/>
              </a:solidFill>
            </a:endParaRPr>
          </a:p>
        </p:txBody>
      </p:sp>
      <p:cxnSp>
        <p:nvCxnSpPr>
          <p:cNvPr id="12" name="Straight Arrow Connector 11"/>
          <p:cNvCxnSpPr>
            <a:cxnSpLocks/>
          </p:cNvCxnSpPr>
          <p:nvPr/>
        </p:nvCxnSpPr>
        <p:spPr>
          <a:xfrm>
            <a:off x="5237018" y="3865539"/>
            <a:ext cx="4846320" cy="76905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D9ED728-F5FC-5FC8-5206-21F98B0ED473}"/>
              </a:ext>
            </a:extLst>
          </p:cNvPr>
          <p:cNvSpPr txBox="1"/>
          <p:nvPr/>
        </p:nvSpPr>
        <p:spPr>
          <a:xfrm>
            <a:off x="114404" y="5695627"/>
            <a:ext cx="5337706" cy="1384995"/>
          </a:xfrm>
          <a:prstGeom prst="rect">
            <a:avLst/>
          </a:prstGeom>
          <a:noFill/>
        </p:spPr>
        <p:txBody>
          <a:bodyPr wrap="square">
            <a:spAutoFit/>
          </a:bodyPr>
          <a:lstStyle/>
          <a:p>
            <a:pPr marL="285750" indent="-285750">
              <a:buFont typeface="Arial" panose="020B0604020202020204" pitchFamily="34" charset="0"/>
              <a:buChar char="•"/>
            </a:pPr>
            <a:r>
              <a:rPr lang="en-CA" sz="2800" dirty="0"/>
              <a:t>The </a:t>
            </a:r>
            <a:r>
              <a:rPr lang="en-CA" sz="2800" dirty="0">
                <a:solidFill>
                  <a:srgbClr val="7030A0"/>
                </a:solidFill>
              </a:rPr>
              <a:t>Timer/Counter Overflow Flag (TOV0) is set </a:t>
            </a:r>
            <a:r>
              <a:rPr lang="en-CA" sz="2800" dirty="0"/>
              <a:t>each time the counter reaches </a:t>
            </a:r>
            <a:r>
              <a:rPr lang="en-CA" sz="2800" dirty="0">
                <a:solidFill>
                  <a:srgbClr val="0070C0"/>
                </a:solidFill>
              </a:rPr>
              <a:t>BOTTOM</a:t>
            </a:r>
            <a:r>
              <a:rPr lang="en-CA" sz="2800" dirty="0"/>
              <a:t>. </a:t>
            </a:r>
          </a:p>
        </p:txBody>
      </p:sp>
      <p:pic>
        <p:nvPicPr>
          <p:cNvPr id="18" name="Picture 17">
            <a:extLst>
              <a:ext uri="{FF2B5EF4-FFF2-40B4-BE49-F238E27FC236}">
                <a16:creationId xmlns:a16="http://schemas.microsoft.com/office/drawing/2014/main" id="{22C7C046-8079-A928-4526-2474F7A26756}"/>
              </a:ext>
            </a:extLst>
          </p:cNvPr>
          <p:cNvPicPr>
            <a:picLocks noChangeAspect="1"/>
          </p:cNvPicPr>
          <p:nvPr/>
        </p:nvPicPr>
        <p:blipFill>
          <a:blip r:embed="rId4"/>
          <a:stretch>
            <a:fillRect/>
          </a:stretch>
        </p:blipFill>
        <p:spPr>
          <a:xfrm>
            <a:off x="114405" y="7060431"/>
            <a:ext cx="5505000" cy="895978"/>
          </a:xfrm>
          <a:prstGeom prst="rect">
            <a:avLst/>
          </a:prstGeom>
        </p:spPr>
      </p:pic>
      <p:sp>
        <p:nvSpPr>
          <p:cNvPr id="19" name="Rectangle 18">
            <a:extLst>
              <a:ext uri="{FF2B5EF4-FFF2-40B4-BE49-F238E27FC236}">
                <a16:creationId xmlns:a16="http://schemas.microsoft.com/office/drawing/2014/main" id="{E1AC59BB-8177-DC5D-5131-94760A7F6ADD}"/>
              </a:ext>
            </a:extLst>
          </p:cNvPr>
          <p:cNvSpPr/>
          <p:nvPr/>
        </p:nvSpPr>
        <p:spPr>
          <a:xfrm>
            <a:off x="4593165" y="7035844"/>
            <a:ext cx="572630" cy="919901"/>
          </a:xfrm>
          <a:prstGeom prst="rect">
            <a:avLst/>
          </a:prstGeom>
          <a:noFill/>
          <a:ln w="57150" cap="flat" cmpd="sng" algn="ctr">
            <a:solidFill>
              <a:srgbClr val="A04DA3"/>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cxnSp>
        <p:nvCxnSpPr>
          <p:cNvPr id="20" name="Straight Arrow Connector 19">
            <a:extLst>
              <a:ext uri="{FF2B5EF4-FFF2-40B4-BE49-F238E27FC236}">
                <a16:creationId xmlns:a16="http://schemas.microsoft.com/office/drawing/2014/main" id="{86F14793-4093-0B84-1A1B-2B57BBAED255}"/>
              </a:ext>
            </a:extLst>
          </p:cNvPr>
          <p:cNvCxnSpPr>
            <a:cxnSpLocks/>
            <a:endCxn id="19" idx="1"/>
          </p:cNvCxnSpPr>
          <p:nvPr/>
        </p:nvCxnSpPr>
        <p:spPr>
          <a:xfrm>
            <a:off x="1511300" y="6553200"/>
            <a:ext cx="3081865" cy="942595"/>
          </a:xfrm>
          <a:prstGeom prst="straightConnector1">
            <a:avLst/>
          </a:prstGeom>
          <a:ln w="28575">
            <a:solidFill>
              <a:srgbClr val="7030A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583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anim calcmode="lin" valueType="num">
                                      <p:cBhvr additive="base">
                                        <p:cTn id="43"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down)">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heel(1)">
                                      <p:cBhvr>
                                        <p:cTn id="54" dur="20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6" presetClass="entr" presetSubtype="32" fill="hold"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circle(out)">
                                      <p:cBhvr>
                                        <p:cTn id="59"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3" grpId="0" build="p"/>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08667" y="199398"/>
            <a:ext cx="10075333" cy="881257"/>
          </a:xfrm>
        </p:spPr>
        <p:txBody>
          <a:bodyPr>
            <a:normAutofit/>
          </a:bodyPr>
          <a:lstStyle/>
          <a:p>
            <a:r>
              <a:rPr lang="en-CA" sz="5400" b="1" dirty="0">
                <a:solidFill>
                  <a:srgbClr val="0070C0"/>
                </a:solidFill>
              </a:rPr>
              <a:t>Fast PWM Mode: Output Frequency</a:t>
            </a:r>
            <a:r>
              <a:rPr lang="en-CA" sz="5400" dirty="0">
                <a:solidFill>
                  <a:srgbClr val="0070C0"/>
                </a:solidFill>
              </a:rPr>
              <a:t> </a:t>
            </a:r>
            <a:endParaRPr lang="en-US" sz="5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84531" y="1080654"/>
                <a:ext cx="15975163" cy="6765849"/>
              </a:xfrm>
            </p:spPr>
            <p:txBody>
              <a:bodyPr>
                <a:noAutofit/>
              </a:bodyPr>
              <a:lstStyle/>
              <a:p>
                <a:pPr>
                  <a:buClrTx/>
                </a:pPr>
                <a:r>
                  <a:rPr lang="en-CA" sz="3600" dirty="0">
                    <a:solidFill>
                      <a:srgbClr val="000000"/>
                    </a:solidFill>
                  </a:rPr>
                  <a:t>The actual </a:t>
                </a:r>
                <a:r>
                  <a:rPr lang="en-CA" sz="3600" dirty="0">
                    <a:solidFill>
                      <a:srgbClr val="C00000"/>
                    </a:solidFill>
                  </a:rPr>
                  <a:t>OCR0x value will only be visible on the </a:t>
                </a:r>
                <a:r>
                  <a:rPr lang="en-CA" sz="3600" b="1" dirty="0">
                    <a:solidFill>
                      <a:srgbClr val="C00000"/>
                    </a:solidFill>
                  </a:rPr>
                  <a:t>port pin </a:t>
                </a:r>
                <a:r>
                  <a:rPr lang="en-CA" sz="3600" dirty="0">
                    <a:solidFill>
                      <a:srgbClr val="C00000"/>
                    </a:solidFill>
                  </a:rPr>
                  <a:t>if the data direction for the port pin is </a:t>
                </a:r>
                <a:r>
                  <a:rPr lang="en-CA" sz="3600" b="1" dirty="0">
                    <a:solidFill>
                      <a:srgbClr val="C00000"/>
                    </a:solidFill>
                  </a:rPr>
                  <a:t>set</a:t>
                </a:r>
                <a:r>
                  <a:rPr lang="en-CA" sz="3600" dirty="0">
                    <a:solidFill>
                      <a:srgbClr val="C00000"/>
                    </a:solidFill>
                  </a:rPr>
                  <a:t> as the </a:t>
                </a:r>
                <a:r>
                  <a:rPr lang="en-CA" sz="3600" b="1" dirty="0">
                    <a:solidFill>
                      <a:srgbClr val="C00000"/>
                    </a:solidFill>
                  </a:rPr>
                  <a:t>OUTPUT</a:t>
                </a:r>
                <a:r>
                  <a:rPr lang="en-CA" sz="3600" dirty="0">
                    <a:solidFill>
                      <a:srgbClr val="000000"/>
                    </a:solidFill>
                  </a:rPr>
                  <a:t>. </a:t>
                </a:r>
              </a:p>
              <a:p>
                <a:pPr>
                  <a:buClrTx/>
                </a:pPr>
                <a:r>
                  <a:rPr lang="en-CA" sz="3600" dirty="0">
                    <a:solidFill>
                      <a:srgbClr val="000000"/>
                    </a:solidFill>
                  </a:rPr>
                  <a:t>The PWM waveform is generated by </a:t>
                </a:r>
                <a:r>
                  <a:rPr lang="en-CA" sz="3600" b="1" dirty="0">
                    <a:solidFill>
                      <a:srgbClr val="00B0F0"/>
                    </a:solidFill>
                  </a:rPr>
                  <a:t>setting (or clearing) the OCR0x Register </a:t>
                </a:r>
                <a:r>
                  <a:rPr lang="en-CA" sz="3600" dirty="0">
                    <a:solidFill>
                      <a:srgbClr val="000000"/>
                    </a:solidFill>
                  </a:rPr>
                  <a:t>at the </a:t>
                </a:r>
                <a:r>
                  <a:rPr lang="en-CA" sz="3600" b="1" dirty="0">
                    <a:solidFill>
                      <a:srgbClr val="00B050"/>
                    </a:solidFill>
                  </a:rPr>
                  <a:t>compare match between OCR0x and TCNT0 and</a:t>
                </a:r>
                <a:r>
                  <a:rPr lang="en-CA" sz="3600" dirty="0">
                    <a:solidFill>
                      <a:srgbClr val="000000"/>
                    </a:solidFill>
                  </a:rPr>
                  <a:t> clearing (or setting) the OC0x pin. Register at the timer clock cycle the counter is cleared (i.e., from TOP to BOTTOM). </a:t>
                </a:r>
              </a:p>
              <a:p>
                <a:pPr>
                  <a:buClrTx/>
                </a:pPr>
                <a:r>
                  <a:rPr lang="en-CA" sz="3600" dirty="0">
                    <a:solidFill>
                      <a:srgbClr val="000000"/>
                    </a:solidFill>
                  </a:rPr>
                  <a:t>The PWM frequency for the output can be calculated by the following equation:</a:t>
                </a:r>
              </a:p>
              <a:p>
                <a:pPr marL="0" indent="0" algn="ctr">
                  <a:buClrTx/>
                  <a:buNone/>
                </a:pPr>
                <a14:m>
                  <m:oMathPara xmlns:m="http://schemas.openxmlformats.org/officeDocument/2006/math">
                    <m:oMathParaPr>
                      <m:jc m:val="centerGroup"/>
                    </m:oMathParaPr>
                    <m:oMath xmlns:m="http://schemas.openxmlformats.org/officeDocument/2006/math">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𝒇</m:t>
                          </m:r>
                        </m:e>
                        <m:sub>
                          <m:r>
                            <a:rPr lang="en-US" sz="3600" b="1" i="1" smtClean="0">
                              <a:latin typeface="Cambria Math" panose="02040503050406030204" pitchFamily="18" charset="0"/>
                            </a:rPr>
                            <m:t>𝑶𝑪𝒏𝒙𝑭𝑷𝑾𝑴</m:t>
                          </m:r>
                          <m:r>
                            <a:rPr lang="en-US" sz="3600" b="1" i="1" smtClean="0">
                              <a:latin typeface="Cambria Math" panose="02040503050406030204" pitchFamily="18" charset="0"/>
                            </a:rPr>
                            <m:t>𝟑</m:t>
                          </m:r>
                        </m:sub>
                      </m:sSub>
                      <m:r>
                        <a:rPr lang="en-US" sz="3600" b="1" i="1">
                          <a:latin typeface="Cambria Math" panose="02040503050406030204" pitchFamily="18" charset="0"/>
                        </a:rPr>
                        <m:t>=</m:t>
                      </m:r>
                      <m:f>
                        <m:fPr>
                          <m:ctrlPr>
                            <a:rPr lang="en-US" sz="3600" b="1" i="1">
                              <a:latin typeface="Cambria Math" panose="02040503050406030204" pitchFamily="18" charset="0"/>
                            </a:rPr>
                          </m:ctrlPr>
                        </m:fPr>
                        <m:num>
                          <m:sSub>
                            <m:sSubPr>
                              <m:ctrlPr>
                                <a:rPr lang="en-US" sz="3600" b="1" i="1">
                                  <a:latin typeface="Cambria Math" panose="02040503050406030204" pitchFamily="18" charset="0"/>
                                </a:rPr>
                              </m:ctrlPr>
                            </m:sSubPr>
                            <m:e>
                              <m:r>
                                <a:rPr lang="en-US" sz="3600" b="1" i="1">
                                  <a:latin typeface="Cambria Math" panose="02040503050406030204" pitchFamily="18" charset="0"/>
                                </a:rPr>
                                <m:t>𝒇</m:t>
                              </m:r>
                            </m:e>
                            <m:sub>
                              <m:r>
                                <a:rPr lang="en-US" sz="3600" b="1" i="1">
                                  <a:latin typeface="Cambria Math" panose="02040503050406030204" pitchFamily="18" charset="0"/>
                                </a:rPr>
                                <m:t>𝒄</m:t>
                              </m:r>
                              <m:r>
                                <a:rPr lang="en-US" sz="3600" b="1" i="1" smtClean="0">
                                  <a:latin typeface="Cambria Math" panose="02040503050406030204" pitchFamily="18" charset="0"/>
                                </a:rPr>
                                <m:t>𝒍𝒌</m:t>
                              </m:r>
                              <m:r>
                                <a:rPr lang="en-US" sz="3600" b="1" i="1" smtClean="0">
                                  <a:latin typeface="Cambria Math" panose="02040503050406030204" pitchFamily="18" charset="0"/>
                                </a:rPr>
                                <m:t>_</m:t>
                              </m:r>
                              <m:r>
                                <a:rPr lang="en-US" sz="3600" b="1" i="1" smtClean="0">
                                  <a:latin typeface="Cambria Math" panose="02040503050406030204" pitchFamily="18" charset="0"/>
                                </a:rPr>
                                <m:t>𝑰𝑶</m:t>
                              </m:r>
                            </m:sub>
                          </m:sSub>
                        </m:num>
                        <m:den>
                          <m:r>
                            <a:rPr lang="en-US" sz="3600" b="1" i="1" smtClean="0">
                              <a:latin typeface="Cambria Math" panose="02040503050406030204" pitchFamily="18" charset="0"/>
                            </a:rPr>
                            <m:t>𝑵</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𝟐𝟓𝟔</m:t>
                          </m:r>
                        </m:den>
                      </m:f>
                      <m:r>
                        <a:rPr lang="en-US" sz="3600" b="1" i="1" smtClean="0">
                          <a:latin typeface="Cambria Math" panose="02040503050406030204" pitchFamily="18" charset="0"/>
                          <a:ea typeface="Cambria Math" panose="02040503050406030204" pitchFamily="18" charset="0"/>
                        </a:rPr>
                        <m:t>;</m:t>
                      </m:r>
                      <m:r>
                        <m:rPr>
                          <m:nor/>
                        </m:rPr>
                        <a:rPr lang="en-US" sz="3600" dirty="0">
                          <a:solidFill>
                            <a:srgbClr val="000000"/>
                          </a:solidFill>
                        </a:rPr>
                        <m:t>if</m:t>
                      </m:r>
                      <m:r>
                        <m:rPr>
                          <m:nor/>
                        </m:rPr>
                        <a:rPr lang="en-US" sz="3600" b="0" i="0" dirty="0" smtClean="0">
                          <a:solidFill>
                            <a:srgbClr val="000000"/>
                          </a:solidFill>
                        </a:rPr>
                        <m:t> </m:t>
                      </m:r>
                      <m:r>
                        <m:rPr>
                          <m:nor/>
                        </m:rPr>
                        <a:rPr lang="en-US" sz="3600" b="1" dirty="0">
                          <a:solidFill>
                            <a:srgbClr val="FF0000"/>
                          </a:solidFill>
                        </a:rPr>
                        <m:t>TOP</m:t>
                      </m:r>
                      <m:r>
                        <m:rPr>
                          <m:nor/>
                        </m:rPr>
                        <a:rPr lang="en-US" sz="3600" b="1" dirty="0">
                          <a:solidFill>
                            <a:srgbClr val="FF0000"/>
                          </a:solidFill>
                        </a:rPr>
                        <m:t> = 0</m:t>
                      </m:r>
                      <m:r>
                        <m:rPr>
                          <m:nor/>
                        </m:rPr>
                        <a:rPr lang="en-US" sz="3600" b="1" dirty="0">
                          <a:solidFill>
                            <a:srgbClr val="FF0000"/>
                          </a:solidFill>
                        </a:rPr>
                        <m:t>xFF</m:t>
                      </m:r>
                      <m:r>
                        <m:rPr>
                          <m:nor/>
                        </m:rPr>
                        <a:rPr lang="en-US" sz="3600" b="1" dirty="0">
                          <a:solidFill>
                            <a:srgbClr val="FF0000"/>
                          </a:solidFill>
                        </a:rPr>
                        <m:t> (</m:t>
                      </m:r>
                      <m:r>
                        <m:rPr>
                          <m:nor/>
                        </m:rPr>
                        <a:rPr lang="en-US" sz="3600" b="1" dirty="0">
                          <a:solidFill>
                            <a:srgbClr val="FF0000"/>
                          </a:solidFill>
                        </a:rPr>
                        <m:t>Fast</m:t>
                      </m:r>
                      <m:r>
                        <m:rPr>
                          <m:nor/>
                        </m:rPr>
                        <a:rPr lang="en-US" sz="3600" b="1" dirty="0">
                          <a:solidFill>
                            <a:srgbClr val="FF0000"/>
                          </a:solidFill>
                        </a:rPr>
                        <m:t> </m:t>
                      </m:r>
                      <m:r>
                        <m:rPr>
                          <m:nor/>
                        </m:rPr>
                        <a:rPr lang="en-US" sz="3600" b="1" dirty="0">
                          <a:solidFill>
                            <a:srgbClr val="FF0000"/>
                          </a:solidFill>
                        </a:rPr>
                        <m:t>PWM</m:t>
                      </m:r>
                      <m:r>
                        <m:rPr>
                          <m:nor/>
                        </m:rPr>
                        <a:rPr lang="en-US" sz="3600" b="1" dirty="0">
                          <a:solidFill>
                            <a:srgbClr val="FF0000"/>
                          </a:solidFill>
                        </a:rPr>
                        <m:t> </m:t>
                      </m:r>
                      <m:r>
                        <m:rPr>
                          <m:nor/>
                        </m:rPr>
                        <a:rPr lang="en-US" sz="3600" b="1" dirty="0">
                          <a:solidFill>
                            <a:srgbClr val="FF0000"/>
                          </a:solidFill>
                        </a:rPr>
                        <m:t>mode</m:t>
                      </m:r>
                      <m:r>
                        <m:rPr>
                          <m:nor/>
                        </m:rPr>
                        <a:rPr lang="en-US" sz="3600" b="1" dirty="0">
                          <a:solidFill>
                            <a:srgbClr val="FF0000"/>
                          </a:solidFill>
                        </a:rPr>
                        <m:t> 3)</m:t>
                      </m:r>
                    </m:oMath>
                  </m:oMathPara>
                </a14:m>
                <a:endParaRPr lang="en-CA" sz="3600" dirty="0">
                  <a:solidFill>
                    <a:srgbClr val="000000"/>
                  </a:solidFill>
                </a:endParaRPr>
              </a:p>
              <a:p>
                <a:pPr>
                  <a:buClrTx/>
                </a:pPr>
                <a:r>
                  <a:rPr lang="en-CA" sz="3600" dirty="0">
                    <a:solidFill>
                      <a:srgbClr val="000000"/>
                    </a:solidFill>
                  </a:rPr>
                  <a:t>The </a:t>
                </a:r>
                <a:r>
                  <a:rPr lang="en-CA" sz="3600" i="1" dirty="0">
                    <a:solidFill>
                      <a:srgbClr val="000000"/>
                    </a:solidFill>
                  </a:rPr>
                  <a:t>N </a:t>
                </a:r>
                <a:r>
                  <a:rPr lang="en-CA" sz="3600" dirty="0">
                    <a:solidFill>
                      <a:srgbClr val="000000"/>
                    </a:solidFill>
                  </a:rPr>
                  <a:t>variable represents the pre-scale factor (1, 8, 64, 256, or 1024). </a:t>
                </a:r>
              </a:p>
              <a:p>
                <a:pPr>
                  <a:buClrTx/>
                </a:pPr>
                <a:r>
                  <a:rPr lang="en-CA" sz="3600" dirty="0">
                    <a:solidFill>
                      <a:srgbClr val="000000"/>
                    </a:solidFill>
                  </a:rPr>
                  <a:t>The waveform generated will have a maximum frequency of </a:t>
                </a:r>
                <a14:m>
                  <m:oMath xmlns:m="http://schemas.openxmlformats.org/officeDocument/2006/math">
                    <m:sSub>
                      <m:sSubPr>
                        <m:ctrlPr>
                          <a:rPr lang="en-US" sz="3600" b="1" i="1">
                            <a:latin typeface="Cambria Math" panose="02040503050406030204" pitchFamily="18" charset="0"/>
                          </a:rPr>
                        </m:ctrlPr>
                      </m:sSubPr>
                      <m:e>
                        <m:r>
                          <a:rPr lang="en-US" sz="3600" b="1" i="1">
                            <a:latin typeface="Cambria Math" panose="02040503050406030204" pitchFamily="18" charset="0"/>
                          </a:rPr>
                          <m:t>𝒇</m:t>
                        </m:r>
                      </m:e>
                      <m:sub>
                        <m:r>
                          <a:rPr lang="en-US" sz="3600" b="1" i="1">
                            <a:latin typeface="Cambria Math" panose="02040503050406030204" pitchFamily="18" charset="0"/>
                          </a:rPr>
                          <m:t>𝑶𝑪</m:t>
                        </m:r>
                        <m:r>
                          <a:rPr lang="en-US" sz="3600" b="1" i="1" smtClean="0">
                            <a:latin typeface="Cambria Math" panose="02040503050406030204" pitchFamily="18" charset="0"/>
                          </a:rPr>
                          <m:t>𝟎</m:t>
                        </m:r>
                      </m:sub>
                    </m:sSub>
                    <m:r>
                      <a:rPr lang="en-US" sz="3600" b="1" i="1">
                        <a:latin typeface="Cambria Math" panose="02040503050406030204" pitchFamily="18" charset="0"/>
                      </a:rPr>
                      <m:t>=</m:t>
                    </m:r>
                    <m:sSub>
                      <m:sSubPr>
                        <m:ctrlPr>
                          <a:rPr lang="en-US" sz="3600" b="1" i="1">
                            <a:latin typeface="Cambria Math" panose="02040503050406030204" pitchFamily="18" charset="0"/>
                          </a:rPr>
                        </m:ctrlPr>
                      </m:sSubPr>
                      <m:e>
                        <m:r>
                          <a:rPr lang="en-US" sz="3600" b="1" i="1">
                            <a:latin typeface="Cambria Math" panose="02040503050406030204" pitchFamily="18" charset="0"/>
                          </a:rPr>
                          <m:t>𝒇</m:t>
                        </m:r>
                      </m:e>
                      <m:sub>
                        <m:r>
                          <a:rPr lang="en-US" sz="3600" b="1" i="1">
                            <a:latin typeface="Cambria Math" panose="02040503050406030204" pitchFamily="18" charset="0"/>
                          </a:rPr>
                          <m:t>𝒄𝒍𝒌</m:t>
                        </m:r>
                        <m:r>
                          <a:rPr lang="en-US" sz="3600" b="1" i="1">
                            <a:latin typeface="Cambria Math" panose="02040503050406030204" pitchFamily="18" charset="0"/>
                          </a:rPr>
                          <m:t>_</m:t>
                        </m:r>
                        <m:r>
                          <a:rPr lang="en-US" sz="3600" b="1" i="1">
                            <a:latin typeface="Cambria Math" panose="02040503050406030204" pitchFamily="18" charset="0"/>
                          </a:rPr>
                          <m:t>𝑰𝑶</m:t>
                        </m:r>
                      </m:sub>
                    </m:sSub>
                  </m:oMath>
                </a14:m>
                <a:r>
                  <a:rPr lang="en-CA" sz="3600" dirty="0">
                    <a:solidFill>
                      <a:srgbClr val="000000"/>
                    </a:solidFill>
                  </a:rPr>
                  <a:t> when OCR0A is </a:t>
                </a:r>
                <a:r>
                  <a:rPr lang="en-CA" sz="3600" b="1" dirty="0">
                    <a:solidFill>
                      <a:schemeClr val="accent2">
                        <a:lumMod val="75000"/>
                      </a:schemeClr>
                    </a:solidFill>
                  </a:rPr>
                  <a:t>zero</a:t>
                </a:r>
                <a:r>
                  <a:rPr lang="en-CA" sz="3600" dirty="0">
                    <a:solidFill>
                      <a:srgbClr val="000000"/>
                    </a:solidFill>
                  </a:rPr>
                  <a:t>, otherwise the formula would be, </a:t>
                </a:r>
                <a14:m>
                  <m:oMath xmlns:m="http://schemas.openxmlformats.org/officeDocument/2006/math">
                    <m:sSub>
                      <m:sSubPr>
                        <m:ctrlPr>
                          <a:rPr lang="en-US" sz="3600" b="1" i="1">
                            <a:latin typeface="Cambria Math" panose="02040503050406030204" pitchFamily="18" charset="0"/>
                          </a:rPr>
                        </m:ctrlPr>
                      </m:sSubPr>
                      <m:e>
                        <m:r>
                          <a:rPr lang="en-US" sz="3600" b="1" i="1">
                            <a:latin typeface="Cambria Math" panose="02040503050406030204" pitchFamily="18" charset="0"/>
                          </a:rPr>
                          <m:t>𝒇</m:t>
                        </m:r>
                      </m:e>
                      <m:sub>
                        <m:r>
                          <a:rPr lang="en-US" sz="3600" b="1" i="1">
                            <a:latin typeface="Cambria Math" panose="02040503050406030204" pitchFamily="18" charset="0"/>
                          </a:rPr>
                          <m:t>𝑶𝑪</m:t>
                        </m:r>
                        <m:r>
                          <a:rPr lang="en-US" sz="3600" b="1" i="1">
                            <a:latin typeface="Cambria Math" panose="02040503050406030204" pitchFamily="18" charset="0"/>
                          </a:rPr>
                          <m:t>𝟎</m:t>
                        </m:r>
                        <m:r>
                          <a:rPr lang="en-US" sz="3600" b="1" i="1" smtClean="0">
                            <a:latin typeface="Cambria Math" panose="02040503050406030204" pitchFamily="18" charset="0"/>
                          </a:rPr>
                          <m:t>𝑨𝑭𝑷𝑾𝑴</m:t>
                        </m:r>
                        <m:r>
                          <a:rPr lang="en-US" sz="3600" b="1" i="1" smtClean="0">
                            <a:latin typeface="Cambria Math" panose="02040503050406030204" pitchFamily="18" charset="0"/>
                          </a:rPr>
                          <m:t>𝟕</m:t>
                        </m:r>
                      </m:sub>
                    </m:sSub>
                    <m:r>
                      <a:rPr lang="en-US" sz="3600" b="1" i="1">
                        <a:latin typeface="Cambria Math" panose="02040503050406030204" pitchFamily="18" charset="0"/>
                      </a:rPr>
                      <m:t>=</m:t>
                    </m:r>
                    <m:f>
                      <m:fPr>
                        <m:ctrlPr>
                          <a:rPr lang="en-US" sz="3600" b="1" i="1">
                            <a:latin typeface="Cambria Math" panose="02040503050406030204" pitchFamily="18" charset="0"/>
                          </a:rPr>
                        </m:ctrlPr>
                      </m:fPr>
                      <m:num>
                        <m:sSub>
                          <m:sSubPr>
                            <m:ctrlPr>
                              <a:rPr lang="en-US" sz="3600" b="1" i="1">
                                <a:latin typeface="Cambria Math" panose="02040503050406030204" pitchFamily="18" charset="0"/>
                              </a:rPr>
                            </m:ctrlPr>
                          </m:sSubPr>
                          <m:e>
                            <m:r>
                              <a:rPr lang="en-US" sz="3600" b="1" i="1">
                                <a:latin typeface="Cambria Math" panose="02040503050406030204" pitchFamily="18" charset="0"/>
                              </a:rPr>
                              <m:t>𝒇</m:t>
                            </m:r>
                          </m:e>
                          <m:sub>
                            <m:r>
                              <a:rPr lang="en-US" sz="3600" b="1" i="1">
                                <a:latin typeface="Cambria Math" panose="02040503050406030204" pitchFamily="18" charset="0"/>
                              </a:rPr>
                              <m:t>𝒄𝒍𝒌</m:t>
                            </m:r>
                            <m:r>
                              <a:rPr lang="en-US" sz="3600" b="1" i="1">
                                <a:latin typeface="Cambria Math" panose="02040503050406030204" pitchFamily="18" charset="0"/>
                              </a:rPr>
                              <m:t>_</m:t>
                            </m:r>
                            <m:r>
                              <a:rPr lang="en-US" sz="3600" b="1" i="1">
                                <a:latin typeface="Cambria Math" panose="02040503050406030204" pitchFamily="18" charset="0"/>
                              </a:rPr>
                              <m:t>𝑰𝑶</m:t>
                            </m:r>
                          </m:sub>
                        </m:sSub>
                      </m:num>
                      <m:den>
                        <m:r>
                          <a:rPr lang="en-US" sz="3600" b="1" i="1" smtClean="0">
                            <a:latin typeface="Cambria Math" panose="02040503050406030204" pitchFamily="18" charset="0"/>
                            <a:ea typeface="Cambria Math" panose="02040503050406030204" pitchFamily="18" charset="0"/>
                          </a:rPr>
                          <m:t>𝑵</m:t>
                        </m:r>
                        <m:r>
                          <a:rPr lang="en-US" sz="3600" b="1" i="1">
                            <a:latin typeface="Cambria Math" panose="02040503050406030204" pitchFamily="18" charset="0"/>
                            <a:ea typeface="Cambria Math" panose="02040503050406030204" pitchFamily="18" charset="0"/>
                          </a:rPr>
                          <m:t>×</m:t>
                        </m:r>
                        <m:d>
                          <m:dPr>
                            <m:ctrlPr>
                              <a:rPr lang="en-US" sz="3600" b="1" i="1" smtClean="0">
                                <a:latin typeface="Cambria Math" panose="02040503050406030204" pitchFamily="18" charset="0"/>
                                <a:ea typeface="Cambria Math" panose="02040503050406030204" pitchFamily="18" charset="0"/>
                              </a:rPr>
                            </m:ctrlPr>
                          </m:dPr>
                          <m:e>
                            <m:r>
                              <a:rPr lang="en-US" sz="3600" b="1" i="1" smtClean="0">
                                <a:latin typeface="Cambria Math" panose="02040503050406030204" pitchFamily="18" charset="0"/>
                                <a:ea typeface="Cambria Math" panose="02040503050406030204" pitchFamily="18" charset="0"/>
                              </a:rPr>
                              <m:t>𝟏</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𝑶𝑪𝑹𝒏𝒙</m:t>
                            </m:r>
                          </m:e>
                        </m:d>
                      </m:den>
                    </m:f>
                    <m:r>
                      <a:rPr lang="en-US" sz="3600" b="1" i="1" smtClean="0">
                        <a:latin typeface="Cambria Math" panose="02040503050406030204" pitchFamily="18" charset="0"/>
                        <a:ea typeface="Cambria Math" panose="02040503050406030204" pitchFamily="18" charset="0"/>
                      </a:rPr>
                      <m:t>;</m:t>
                    </m:r>
                    <m:r>
                      <m:rPr>
                        <m:nor/>
                      </m:rPr>
                      <a:rPr lang="en-US" sz="3600" dirty="0">
                        <a:solidFill>
                          <a:srgbClr val="000000"/>
                        </a:solidFill>
                      </a:rPr>
                      <m:t>if</m:t>
                    </m:r>
                    <m:r>
                      <m:rPr>
                        <m:nor/>
                      </m:rPr>
                      <a:rPr lang="en-US" sz="3600" dirty="0">
                        <a:solidFill>
                          <a:srgbClr val="000000"/>
                        </a:solidFill>
                      </a:rPr>
                      <m:t> </m:t>
                    </m:r>
                    <m:r>
                      <m:rPr>
                        <m:nor/>
                      </m:rPr>
                      <a:rPr lang="en-US" sz="3600" b="1" dirty="0">
                        <a:solidFill>
                          <a:srgbClr val="FF0000"/>
                        </a:solidFill>
                      </a:rPr>
                      <m:t>TOP</m:t>
                    </m:r>
                    <m:r>
                      <m:rPr>
                        <m:nor/>
                      </m:rPr>
                      <a:rPr lang="en-US" sz="3600" b="1" dirty="0">
                        <a:solidFill>
                          <a:srgbClr val="FF0000"/>
                        </a:solidFill>
                      </a:rPr>
                      <m:t> = </m:t>
                    </m:r>
                    <m:r>
                      <a:rPr lang="en-US" sz="3600" b="1" i="1">
                        <a:solidFill>
                          <a:srgbClr val="FF0000"/>
                        </a:solidFill>
                        <a:latin typeface="Cambria Math" panose="02040503050406030204" pitchFamily="18" charset="0"/>
                      </a:rPr>
                      <m:t>𝑶𝑪𝑹</m:t>
                    </m:r>
                    <m:r>
                      <a:rPr lang="en-US" sz="3600" b="1" i="1">
                        <a:solidFill>
                          <a:srgbClr val="FF0000"/>
                        </a:solidFill>
                        <a:latin typeface="Cambria Math" panose="02040503050406030204" pitchFamily="18" charset="0"/>
                      </a:rPr>
                      <m:t>𝟎</m:t>
                    </m:r>
                    <m:r>
                      <a:rPr lang="en-US" sz="3600" b="1" i="1">
                        <a:solidFill>
                          <a:srgbClr val="FF0000"/>
                        </a:solidFill>
                        <a:latin typeface="Cambria Math" panose="02040503050406030204" pitchFamily="18" charset="0"/>
                      </a:rPr>
                      <m:t>𝑨</m:t>
                    </m:r>
                    <m:r>
                      <m:rPr>
                        <m:nor/>
                      </m:rPr>
                      <a:rPr lang="en-US" sz="3600" dirty="0">
                        <a:solidFill>
                          <a:srgbClr val="000000"/>
                        </a:solidFill>
                      </a:rPr>
                      <m:t> </m:t>
                    </m:r>
                    <m:r>
                      <m:rPr>
                        <m:nor/>
                      </m:rPr>
                      <a:rPr lang="en-US" sz="3600" b="1" dirty="0">
                        <a:solidFill>
                          <a:srgbClr val="FF0000"/>
                        </a:solidFill>
                      </a:rPr>
                      <m:t>(</m:t>
                    </m:r>
                    <m:r>
                      <m:rPr>
                        <m:nor/>
                      </m:rPr>
                      <a:rPr lang="en-US" sz="3600" b="1" dirty="0">
                        <a:solidFill>
                          <a:srgbClr val="FF0000"/>
                        </a:solidFill>
                      </a:rPr>
                      <m:t>Fast</m:t>
                    </m:r>
                    <m:r>
                      <m:rPr>
                        <m:nor/>
                      </m:rPr>
                      <a:rPr lang="en-US" sz="3600" b="1" dirty="0">
                        <a:solidFill>
                          <a:srgbClr val="FF0000"/>
                        </a:solidFill>
                      </a:rPr>
                      <m:t> </m:t>
                    </m:r>
                    <m:r>
                      <m:rPr>
                        <m:nor/>
                      </m:rPr>
                      <a:rPr lang="en-US" sz="3600" b="1" dirty="0">
                        <a:solidFill>
                          <a:srgbClr val="FF0000"/>
                        </a:solidFill>
                      </a:rPr>
                      <m:t>PWM</m:t>
                    </m:r>
                    <m:r>
                      <m:rPr>
                        <m:nor/>
                      </m:rPr>
                      <a:rPr lang="en-US" sz="3600" b="1" dirty="0">
                        <a:solidFill>
                          <a:srgbClr val="FF0000"/>
                        </a:solidFill>
                      </a:rPr>
                      <m:t> </m:t>
                    </m:r>
                    <m:r>
                      <m:rPr>
                        <m:nor/>
                      </m:rPr>
                      <a:rPr lang="en-US" sz="3600" b="1" dirty="0">
                        <a:solidFill>
                          <a:srgbClr val="FF0000"/>
                        </a:solidFill>
                      </a:rPr>
                      <m:t>mode</m:t>
                    </m:r>
                    <m:r>
                      <m:rPr>
                        <m:nor/>
                      </m:rPr>
                      <a:rPr lang="en-US" sz="3600" b="1" dirty="0">
                        <a:solidFill>
                          <a:srgbClr val="FF0000"/>
                        </a:solidFill>
                      </a:rPr>
                      <m:t> 7)</m:t>
                    </m:r>
                  </m:oMath>
                </a14:m>
                <a:endParaRPr lang="en-US" sz="3600" dirty="0">
                  <a:solidFill>
                    <a:schemeClr val="bg1"/>
                  </a:solidFill>
                </a:endParaRP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284531" y="1080654"/>
                <a:ext cx="15975163" cy="6765849"/>
              </a:xfrm>
              <a:blipFill>
                <a:blip r:embed="rId2"/>
                <a:stretch>
                  <a:fillRect l="-1069" t="-2162" r="-1221" b="-450"/>
                </a:stretch>
              </a:blipFill>
            </p:spPr>
            <p:txBody>
              <a:bodyPr/>
              <a:lstStyle/>
              <a:p>
                <a:r>
                  <a:rPr lang="en-US">
                    <a:noFill/>
                  </a:rPr>
                  <a:t> </a:t>
                </a:r>
              </a:p>
            </p:txBody>
          </p:sp>
        </mc:Fallback>
      </mc:AlternateContent>
      <p:sp>
        <p:nvSpPr>
          <p:cNvPr id="5" name="Date Placeholder 4"/>
          <p:cNvSpPr>
            <a:spLocks noGrp="1"/>
          </p:cNvSpPr>
          <p:nvPr>
            <p:ph type="dt" sz="half" idx="10"/>
          </p:nvPr>
        </p:nvSpPr>
        <p:spPr/>
        <p:txBody>
          <a:bodyPr/>
          <a:lstStyle/>
          <a:p>
            <a:fld id="{8EAA96D6-6382-41C4-B522-3052A1871C66}"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319746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08667" y="131158"/>
            <a:ext cx="10075333" cy="881257"/>
          </a:xfrm>
        </p:spPr>
        <p:txBody>
          <a:bodyPr>
            <a:normAutofit/>
          </a:bodyPr>
          <a:lstStyle/>
          <a:p>
            <a:r>
              <a:rPr lang="en-CA" sz="5400" b="1" dirty="0">
                <a:solidFill>
                  <a:srgbClr val="0070C0"/>
                </a:solidFill>
              </a:rPr>
              <a:t>Fast PWM Mode: Output Frequency</a:t>
            </a:r>
            <a:r>
              <a:rPr lang="en-CA" sz="5400" dirty="0">
                <a:solidFill>
                  <a:srgbClr val="0070C0"/>
                </a:solidFill>
              </a:rPr>
              <a:t> </a:t>
            </a:r>
            <a:endParaRPr lang="en-US" sz="5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32013" y="914400"/>
                <a:ext cx="16049767" cy="7184042"/>
              </a:xfrm>
            </p:spPr>
            <p:txBody>
              <a:bodyPr>
                <a:noAutofit/>
              </a:bodyPr>
              <a:lstStyle/>
              <a:p>
                <a:pPr>
                  <a:spcBef>
                    <a:spcPts val="600"/>
                  </a:spcBef>
                  <a:buClrTx/>
                </a:pPr>
                <a:r>
                  <a:rPr lang="en-US" sz="3600" b="1" dirty="0">
                    <a:solidFill>
                      <a:srgbClr val="FF0000"/>
                    </a:solidFill>
                  </a:rPr>
                  <a:t>Non-Inverting Fast PWM Duty Cycle</a:t>
                </a:r>
              </a:p>
              <a:p>
                <a:pPr>
                  <a:spcBef>
                    <a:spcPts val="600"/>
                  </a:spcBef>
                  <a:buClrTx/>
                </a:pPr>
                <a:r>
                  <a:rPr lang="en-US" sz="3600" dirty="0">
                    <a:solidFill>
                      <a:srgbClr val="000000"/>
                    </a:solidFill>
                  </a:rPr>
                  <a:t>The duty cycle of the </a:t>
                </a:r>
                <a:r>
                  <a:rPr lang="en-US" sz="3600" b="1" dirty="0">
                    <a:solidFill>
                      <a:srgbClr val="FF0000"/>
                    </a:solidFill>
                  </a:rPr>
                  <a:t>Non-Inverting mode </a:t>
                </a:r>
                <a:r>
                  <a:rPr lang="en-US" sz="3600" dirty="0">
                    <a:solidFill>
                      <a:srgbClr val="000000"/>
                    </a:solidFill>
                  </a:rPr>
                  <a:t>Fast PWM signal is calculated using the following formula.</a:t>
                </a:r>
              </a:p>
              <a:p>
                <a:pPr marL="0" indent="0" algn="ctr">
                  <a:spcBef>
                    <a:spcPts val="600"/>
                  </a:spcBef>
                  <a:buClrTx/>
                  <a:buNone/>
                </a:pPr>
                <a14:m>
                  <m:oMath xmlns:m="http://schemas.openxmlformats.org/officeDocument/2006/math">
                    <m:r>
                      <a:rPr lang="en-US" sz="3600" b="1" i="1" smtClean="0">
                        <a:latin typeface="Cambria Math" panose="02040503050406030204" pitchFamily="18" charset="0"/>
                      </a:rPr>
                      <m:t>𝑶𝑪𝑹</m:t>
                    </m:r>
                    <m:r>
                      <a:rPr lang="en-US" sz="3600" b="1" i="1" smtClean="0">
                        <a:latin typeface="Cambria Math" panose="02040503050406030204" pitchFamily="18" charset="0"/>
                      </a:rPr>
                      <m:t>𝟎</m:t>
                    </m:r>
                    <m:r>
                      <a:rPr lang="en-US" sz="3600" b="1" i="1" smtClean="0">
                        <a:latin typeface="Cambria Math" panose="02040503050406030204" pitchFamily="18" charset="0"/>
                      </a:rPr>
                      <m:t>𝒙</m:t>
                    </m:r>
                    <m:r>
                      <a:rPr lang="en-US" sz="3600" b="1" i="1">
                        <a:latin typeface="Cambria Math" panose="02040503050406030204" pitchFamily="18" charset="0"/>
                      </a:rPr>
                      <m:t>=</m:t>
                    </m:r>
                    <m:f>
                      <m:fPr>
                        <m:ctrlPr>
                          <a:rPr lang="en-US" sz="3600" b="1" i="1">
                            <a:latin typeface="Cambria Math" panose="02040503050406030204" pitchFamily="18" charset="0"/>
                          </a:rPr>
                        </m:ctrlPr>
                      </m:fPr>
                      <m:num>
                        <m:r>
                          <a:rPr lang="en-US" sz="3600" b="1" i="1" smtClean="0">
                            <a:latin typeface="Cambria Math" panose="02040503050406030204" pitchFamily="18" charset="0"/>
                          </a:rPr>
                          <m:t>𝟐𝟓𝟔</m:t>
                        </m:r>
                        <m:r>
                          <a:rPr lang="en-US" sz="3600" b="1" i="1" smtClean="0">
                            <a:latin typeface="Cambria Math" panose="02040503050406030204" pitchFamily="18" charset="0"/>
                          </a:rPr>
                          <m:t>𝑫</m:t>
                        </m:r>
                      </m:num>
                      <m:den>
                        <m:r>
                          <a:rPr lang="en-US" sz="3600" b="1" i="1" smtClean="0">
                            <a:latin typeface="Cambria Math" panose="02040503050406030204" pitchFamily="18" charset="0"/>
                          </a:rPr>
                          <m:t>𝟏𝟎𝟎</m:t>
                        </m:r>
                      </m:den>
                    </m:f>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𝒙</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𝑨</m:t>
                    </m:r>
                    <m:r>
                      <a:rPr lang="en-US" sz="3600" b="1" i="1" smtClean="0">
                        <a:latin typeface="Cambria Math" panose="02040503050406030204" pitchFamily="18" charset="0"/>
                        <a:ea typeface="Cambria Math" panose="02040503050406030204" pitchFamily="18" charset="0"/>
                      </a:rPr>
                      <m:t> </m:t>
                    </m:r>
                    <m:r>
                      <a:rPr lang="en-US" sz="3600" b="1" i="1" smtClean="0">
                        <a:latin typeface="Cambria Math" panose="02040503050406030204" pitchFamily="18" charset="0"/>
                        <a:ea typeface="Cambria Math" panose="02040503050406030204" pitchFamily="18" charset="0"/>
                      </a:rPr>
                      <m:t>𝒐𝒓</m:t>
                    </m:r>
                    <m:r>
                      <a:rPr lang="en-US" sz="3600" b="1" i="1" smtClean="0">
                        <a:latin typeface="Cambria Math" panose="02040503050406030204" pitchFamily="18" charset="0"/>
                        <a:ea typeface="Cambria Math" panose="02040503050406030204" pitchFamily="18" charset="0"/>
                      </a:rPr>
                      <m:t> </m:t>
                    </m:r>
                    <m:r>
                      <a:rPr lang="en-US" sz="3600" b="1" i="1" smtClean="0">
                        <a:latin typeface="Cambria Math" panose="02040503050406030204" pitchFamily="18" charset="0"/>
                        <a:ea typeface="Cambria Math" panose="02040503050406030204" pitchFamily="18" charset="0"/>
                      </a:rPr>
                      <m:t>𝑩</m:t>
                    </m:r>
                  </m:oMath>
                </a14:m>
                <a:r>
                  <a:rPr lang="en-US" sz="3600" dirty="0">
                    <a:solidFill>
                      <a:srgbClr val="000000"/>
                    </a:solidFill>
                  </a:rPr>
                  <a:t> , if </a:t>
                </a:r>
                <a:r>
                  <a:rPr lang="en-US" sz="3600" b="1" dirty="0">
                    <a:solidFill>
                      <a:srgbClr val="FF0000"/>
                    </a:solidFill>
                  </a:rPr>
                  <a:t>TOP = 0xFF (Fast PWM mode 3)</a:t>
                </a:r>
              </a:p>
              <a:p>
                <a:pPr marL="0" indent="0" algn="ctr">
                  <a:spcBef>
                    <a:spcPts val="600"/>
                  </a:spcBef>
                  <a:buNone/>
                </a:pPr>
                <a14:m>
                  <m:oMath xmlns:m="http://schemas.openxmlformats.org/officeDocument/2006/math">
                    <m:r>
                      <a:rPr lang="en-US" sz="3600" b="1" i="1">
                        <a:latin typeface="Cambria Math" panose="02040503050406030204" pitchFamily="18" charset="0"/>
                      </a:rPr>
                      <m:t>𝑶𝑪𝑹</m:t>
                    </m:r>
                    <m:r>
                      <a:rPr lang="en-US" sz="3600" b="1" i="1">
                        <a:latin typeface="Cambria Math" panose="02040503050406030204" pitchFamily="18" charset="0"/>
                      </a:rPr>
                      <m:t>𝟎</m:t>
                    </m:r>
                    <m:r>
                      <a:rPr lang="en-US" sz="3600" b="1" i="1" smtClean="0">
                        <a:latin typeface="Cambria Math" panose="02040503050406030204" pitchFamily="18" charset="0"/>
                      </a:rPr>
                      <m:t>𝑩</m:t>
                    </m:r>
                    <m:r>
                      <a:rPr lang="en-US" sz="3600" b="1" i="1">
                        <a:latin typeface="Cambria Math" panose="02040503050406030204" pitchFamily="18" charset="0"/>
                      </a:rPr>
                      <m:t>=</m:t>
                    </m:r>
                    <m:f>
                      <m:fPr>
                        <m:ctrlPr>
                          <a:rPr lang="en-US" sz="3600" b="1" i="1">
                            <a:latin typeface="Cambria Math" panose="02040503050406030204" pitchFamily="18" charset="0"/>
                          </a:rPr>
                        </m:ctrlPr>
                      </m:fPr>
                      <m:num>
                        <m:d>
                          <m:dPr>
                            <m:ctrlPr>
                              <a:rPr lang="en-US" sz="3600" b="1" i="1" smtClean="0">
                                <a:latin typeface="Cambria Math" panose="02040503050406030204" pitchFamily="18" charset="0"/>
                              </a:rPr>
                            </m:ctrlPr>
                          </m:dPr>
                          <m:e>
                            <m:r>
                              <a:rPr lang="en-US" sz="3600" b="1" i="1" smtClean="0">
                                <a:latin typeface="Cambria Math" panose="02040503050406030204" pitchFamily="18" charset="0"/>
                              </a:rPr>
                              <m:t>𝟏</m:t>
                            </m:r>
                            <m:r>
                              <a:rPr lang="en-US" sz="3600" b="1" i="1" smtClean="0">
                                <a:latin typeface="Cambria Math" panose="02040503050406030204" pitchFamily="18" charset="0"/>
                              </a:rPr>
                              <m:t>+</m:t>
                            </m:r>
                            <m:r>
                              <a:rPr lang="en-US" sz="3600" b="1" i="1">
                                <a:latin typeface="Cambria Math" panose="02040503050406030204" pitchFamily="18" charset="0"/>
                              </a:rPr>
                              <m:t>𝑶𝑪𝑹</m:t>
                            </m:r>
                            <m:r>
                              <a:rPr lang="en-US" sz="3600" b="1" i="1">
                                <a:latin typeface="Cambria Math" panose="02040503050406030204" pitchFamily="18" charset="0"/>
                              </a:rPr>
                              <m:t>𝟎</m:t>
                            </m:r>
                            <m:r>
                              <a:rPr lang="en-US" sz="3600" b="1" i="1" smtClean="0">
                                <a:latin typeface="Cambria Math" panose="02040503050406030204" pitchFamily="18" charset="0"/>
                              </a:rPr>
                              <m:t>𝑨</m:t>
                            </m:r>
                          </m:e>
                        </m:d>
                        <m:r>
                          <a:rPr lang="en-US" sz="3600" b="1" i="1">
                            <a:latin typeface="Cambria Math" panose="02040503050406030204" pitchFamily="18" charset="0"/>
                          </a:rPr>
                          <m:t>𝑫</m:t>
                        </m:r>
                      </m:num>
                      <m:den>
                        <m:r>
                          <a:rPr lang="en-US" sz="3600" b="1" i="1">
                            <a:latin typeface="Cambria Math" panose="02040503050406030204" pitchFamily="18" charset="0"/>
                          </a:rPr>
                          <m:t>𝟏𝟎𝟎</m:t>
                        </m:r>
                      </m:den>
                    </m:f>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𝟏</m:t>
                    </m:r>
                  </m:oMath>
                </a14:m>
                <a:r>
                  <a:rPr lang="en-US" sz="3600" dirty="0">
                    <a:solidFill>
                      <a:srgbClr val="000000"/>
                    </a:solidFill>
                  </a:rPr>
                  <a:t> , if </a:t>
                </a:r>
                <a:r>
                  <a:rPr lang="en-US" sz="3600" b="1" dirty="0">
                    <a:solidFill>
                      <a:srgbClr val="FF0000"/>
                    </a:solidFill>
                  </a:rPr>
                  <a:t>TOP = </a:t>
                </a:r>
                <a14:m>
                  <m:oMath xmlns:m="http://schemas.openxmlformats.org/officeDocument/2006/math">
                    <m:r>
                      <a:rPr lang="en-US" sz="3600" b="1" i="1" smtClean="0">
                        <a:solidFill>
                          <a:srgbClr val="FF0000"/>
                        </a:solidFill>
                        <a:latin typeface="Cambria Math" panose="02040503050406030204" pitchFamily="18" charset="0"/>
                      </a:rPr>
                      <m:t>𝑶𝑪𝑹</m:t>
                    </m:r>
                    <m:r>
                      <a:rPr lang="en-US" sz="3600" b="1" i="1" smtClean="0">
                        <a:solidFill>
                          <a:srgbClr val="FF0000"/>
                        </a:solidFill>
                        <a:latin typeface="Cambria Math" panose="02040503050406030204" pitchFamily="18" charset="0"/>
                      </a:rPr>
                      <m:t>𝟎</m:t>
                    </m:r>
                    <m:r>
                      <a:rPr lang="en-US" sz="3600" b="1" i="1" smtClean="0">
                        <a:solidFill>
                          <a:srgbClr val="FF0000"/>
                        </a:solidFill>
                        <a:latin typeface="Cambria Math" panose="02040503050406030204" pitchFamily="18" charset="0"/>
                      </a:rPr>
                      <m:t>𝑨</m:t>
                    </m:r>
                  </m:oMath>
                </a14:m>
                <a:r>
                  <a:rPr lang="en-US" sz="3600" dirty="0">
                    <a:solidFill>
                      <a:srgbClr val="000000"/>
                    </a:solidFill>
                  </a:rPr>
                  <a:t> </a:t>
                </a:r>
                <a:r>
                  <a:rPr lang="en-US" sz="3600" b="1" dirty="0">
                    <a:solidFill>
                      <a:srgbClr val="FF0000"/>
                    </a:solidFill>
                  </a:rPr>
                  <a:t>(Fast PWM mode 7)</a:t>
                </a:r>
                <a:endParaRPr lang="en-US" sz="3600" dirty="0">
                  <a:solidFill>
                    <a:srgbClr val="000000"/>
                  </a:solidFill>
                </a:endParaRPr>
              </a:p>
              <a:p>
                <a:pPr marL="0" indent="0">
                  <a:spcBef>
                    <a:spcPts val="600"/>
                  </a:spcBef>
                  <a:buClrTx/>
                  <a:buNone/>
                </a:pPr>
                <a:r>
                  <a:rPr lang="en-US" sz="3600" dirty="0">
                    <a:solidFill>
                      <a:srgbClr val="000000"/>
                    </a:solidFill>
                  </a:rPr>
                  <a:t>where, D is the Duty cycle that range from 0% to 100%. This duty cycle value is the count value that must be loaded into the OCR0A (or OCR0B) register.</a:t>
                </a:r>
              </a:p>
              <a:p>
                <a:pPr>
                  <a:spcBef>
                    <a:spcPts val="600"/>
                  </a:spcBef>
                  <a:buClrTx/>
                </a:pPr>
                <a:r>
                  <a:rPr lang="en-US" sz="3600" b="1" dirty="0">
                    <a:solidFill>
                      <a:srgbClr val="FF0000"/>
                    </a:solidFill>
                  </a:rPr>
                  <a:t>Example: </a:t>
                </a:r>
                <a:r>
                  <a:rPr lang="en-US" sz="3600" dirty="0"/>
                  <a:t>1) A PWM signal is to have 75% duty cycle. Compute the value for OCR0A.</a:t>
                </a:r>
                <a:endParaRPr lang="en-CA" sz="3600" dirty="0"/>
              </a:p>
              <a:p>
                <a:pPr marL="0" indent="0" algn="ctr">
                  <a:spcBef>
                    <a:spcPts val="600"/>
                  </a:spcBef>
                  <a:buClrTx/>
                  <a:buNone/>
                </a:pPr>
                <a14:m>
                  <m:oMath xmlns:m="http://schemas.openxmlformats.org/officeDocument/2006/math">
                    <m:r>
                      <a:rPr lang="en-US" sz="3600" b="1" i="1" smtClean="0">
                        <a:latin typeface="Cambria Math" panose="02040503050406030204" pitchFamily="18" charset="0"/>
                      </a:rPr>
                      <m:t>𝑶𝑪𝑹</m:t>
                    </m:r>
                    <m:r>
                      <a:rPr lang="en-US" sz="3600" b="1" i="1" smtClean="0">
                        <a:latin typeface="Cambria Math" panose="02040503050406030204" pitchFamily="18" charset="0"/>
                      </a:rPr>
                      <m:t>𝟎</m:t>
                    </m:r>
                    <m:r>
                      <a:rPr lang="en-US" sz="3600" b="1" i="1" smtClean="0">
                        <a:latin typeface="Cambria Math" panose="02040503050406030204" pitchFamily="18" charset="0"/>
                      </a:rPr>
                      <m:t>𝑨</m:t>
                    </m:r>
                    <m:r>
                      <a:rPr lang="en-US" sz="3600" b="1" i="1">
                        <a:latin typeface="Cambria Math" panose="02040503050406030204" pitchFamily="18" charset="0"/>
                      </a:rPr>
                      <m:t>=</m:t>
                    </m:r>
                    <m:f>
                      <m:fPr>
                        <m:ctrlPr>
                          <a:rPr lang="en-US" sz="3600" b="1" i="1">
                            <a:latin typeface="Cambria Math" panose="02040503050406030204" pitchFamily="18" charset="0"/>
                          </a:rPr>
                        </m:ctrlPr>
                      </m:fPr>
                      <m:num>
                        <m:r>
                          <a:rPr lang="en-US" sz="3600" b="1" i="1" smtClean="0">
                            <a:latin typeface="Cambria Math" panose="02040503050406030204" pitchFamily="18" charset="0"/>
                          </a:rPr>
                          <m:t>𝟐𝟓𝟔</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𝟕𝟓</m:t>
                        </m:r>
                      </m:num>
                      <m:den>
                        <m:r>
                          <a:rPr lang="en-US" sz="3600" b="1" i="1" smtClean="0">
                            <a:latin typeface="Cambria Math" panose="02040503050406030204" pitchFamily="18" charset="0"/>
                          </a:rPr>
                          <m:t>𝟏𝟎𝟎</m:t>
                        </m:r>
                      </m:den>
                    </m:f>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𝟏𝟗𝟐</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𝟏𝟗𝟏</m:t>
                    </m:r>
                  </m:oMath>
                </a14:m>
                <a:r>
                  <a:rPr lang="en-US" sz="3600" dirty="0">
                    <a:solidFill>
                      <a:srgbClr val="000000"/>
                    </a:solidFill>
                  </a:rPr>
                  <a:t> , if </a:t>
                </a:r>
                <a:r>
                  <a:rPr lang="en-US" sz="3600" b="1" dirty="0">
                    <a:solidFill>
                      <a:srgbClr val="FF0000"/>
                    </a:solidFill>
                  </a:rPr>
                  <a:t>TOP = 0xFF</a:t>
                </a:r>
              </a:p>
              <a:p>
                <a:pPr marL="0" indent="0">
                  <a:spcBef>
                    <a:spcPts val="600"/>
                  </a:spcBef>
                  <a:buClrTx/>
                  <a:buNone/>
                </a:pPr>
                <a:r>
                  <a:rPr lang="en-US" sz="3400" dirty="0"/>
                  <a:t>2) A PWM signal is to have 75% duty cycle. Compute the value for OCR0B if OCR0A = 200.</a:t>
                </a:r>
                <a:endParaRPr lang="en-CA" sz="3400" dirty="0"/>
              </a:p>
              <a:p>
                <a:pPr marL="0" indent="0" algn="ctr">
                  <a:spcBef>
                    <a:spcPts val="600"/>
                  </a:spcBef>
                  <a:buClrTx/>
                  <a:buNone/>
                </a:pPr>
                <a14:m>
                  <m:oMath xmlns:m="http://schemas.openxmlformats.org/officeDocument/2006/math">
                    <m:r>
                      <a:rPr lang="en-US" sz="3600" b="1" i="1">
                        <a:latin typeface="Cambria Math" panose="02040503050406030204" pitchFamily="18" charset="0"/>
                      </a:rPr>
                      <m:t>𝑶𝑪𝑹</m:t>
                    </m:r>
                    <m:r>
                      <a:rPr lang="en-US" sz="3600" b="1" i="1">
                        <a:latin typeface="Cambria Math" panose="02040503050406030204" pitchFamily="18" charset="0"/>
                      </a:rPr>
                      <m:t>𝟎</m:t>
                    </m:r>
                    <m:r>
                      <a:rPr lang="en-US" sz="3600" b="1" i="1" smtClean="0">
                        <a:latin typeface="Cambria Math" panose="02040503050406030204" pitchFamily="18" charset="0"/>
                      </a:rPr>
                      <m:t>𝑩</m:t>
                    </m:r>
                    <m:r>
                      <a:rPr lang="en-US" sz="3600" b="1" i="1">
                        <a:latin typeface="Cambria Math" panose="02040503050406030204" pitchFamily="18" charset="0"/>
                      </a:rPr>
                      <m:t>=</m:t>
                    </m:r>
                    <m:f>
                      <m:fPr>
                        <m:ctrlPr>
                          <a:rPr lang="en-US" sz="3600" b="1" i="1">
                            <a:latin typeface="Cambria Math" panose="02040503050406030204" pitchFamily="18" charset="0"/>
                          </a:rPr>
                        </m:ctrlPr>
                      </m:fPr>
                      <m:num>
                        <m:d>
                          <m:dPr>
                            <m:ctrlPr>
                              <a:rPr lang="en-US" sz="3600" b="1" i="1">
                                <a:latin typeface="Cambria Math" panose="02040503050406030204" pitchFamily="18" charset="0"/>
                              </a:rPr>
                            </m:ctrlPr>
                          </m:dPr>
                          <m:e>
                            <m:r>
                              <a:rPr lang="en-US" sz="3600" b="1" i="1">
                                <a:latin typeface="Cambria Math" panose="02040503050406030204" pitchFamily="18" charset="0"/>
                              </a:rPr>
                              <m:t>𝟏</m:t>
                            </m:r>
                            <m:r>
                              <a:rPr lang="en-US" sz="3600" b="1" i="1">
                                <a:latin typeface="Cambria Math" panose="02040503050406030204" pitchFamily="18" charset="0"/>
                              </a:rPr>
                              <m:t>+</m:t>
                            </m:r>
                            <m:r>
                              <a:rPr lang="en-US" sz="3600" b="1" i="1" smtClean="0">
                                <a:latin typeface="Cambria Math" panose="02040503050406030204" pitchFamily="18" charset="0"/>
                              </a:rPr>
                              <m:t>𝟐𝟎𝟎</m:t>
                            </m:r>
                          </m:e>
                        </m:d>
                        <m:r>
                          <a:rPr lang="en-US" sz="3600" b="1" i="1" smtClean="0">
                            <a:latin typeface="Cambria Math" panose="02040503050406030204" pitchFamily="18" charset="0"/>
                          </a:rPr>
                          <m:t>𝟕𝟓</m:t>
                        </m:r>
                      </m:num>
                      <m:den>
                        <m:r>
                          <a:rPr lang="en-US" sz="3600" b="1" i="1">
                            <a:latin typeface="Cambria Math" panose="02040503050406030204" pitchFamily="18" charset="0"/>
                          </a:rPr>
                          <m:t>𝟏𝟎𝟎</m:t>
                        </m:r>
                      </m:den>
                    </m:f>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𝟏</m:t>
                    </m:r>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𝟏𝟓𝟏</m:t>
                    </m:r>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𝟏</m:t>
                    </m:r>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𝟏𝟓𝟎</m:t>
                    </m:r>
                  </m:oMath>
                </a14:m>
                <a:r>
                  <a:rPr lang="en-US" sz="3600" dirty="0">
                    <a:solidFill>
                      <a:srgbClr val="000000"/>
                    </a:solidFill>
                  </a:rPr>
                  <a:t> , if </a:t>
                </a:r>
                <a:r>
                  <a:rPr lang="en-US" sz="3600" b="1" dirty="0">
                    <a:solidFill>
                      <a:srgbClr val="FF0000"/>
                    </a:solidFill>
                  </a:rPr>
                  <a:t>TOP = </a:t>
                </a:r>
                <a14:m>
                  <m:oMath xmlns:m="http://schemas.openxmlformats.org/officeDocument/2006/math">
                    <m:r>
                      <a:rPr lang="en-US" sz="3600" b="1" i="1">
                        <a:solidFill>
                          <a:srgbClr val="FF0000"/>
                        </a:solidFill>
                        <a:latin typeface="Cambria Math" panose="02040503050406030204" pitchFamily="18" charset="0"/>
                      </a:rPr>
                      <m:t>𝑶𝑪𝑹</m:t>
                    </m:r>
                    <m:r>
                      <a:rPr lang="en-US" sz="3600" b="1" i="1">
                        <a:solidFill>
                          <a:srgbClr val="FF0000"/>
                        </a:solidFill>
                        <a:latin typeface="Cambria Math" panose="02040503050406030204" pitchFamily="18" charset="0"/>
                      </a:rPr>
                      <m:t>𝟎</m:t>
                    </m:r>
                    <m:r>
                      <a:rPr lang="en-US" sz="3600" b="1" i="1">
                        <a:solidFill>
                          <a:srgbClr val="FF0000"/>
                        </a:solidFill>
                        <a:latin typeface="Cambria Math" panose="02040503050406030204" pitchFamily="18" charset="0"/>
                      </a:rPr>
                      <m:t>𝑨</m:t>
                    </m:r>
                    <m:r>
                      <a:rPr lang="en-US" sz="3600" b="1" i="1">
                        <a:solidFill>
                          <a:srgbClr val="FF0000"/>
                        </a:solidFill>
                        <a:latin typeface="Cambria Math" panose="02040503050406030204" pitchFamily="18" charset="0"/>
                      </a:rPr>
                      <m:t> </m:t>
                    </m:r>
                  </m:oMath>
                </a14:m>
                <a:r>
                  <a:rPr lang="en-US" sz="3600" b="1" dirty="0">
                    <a:solidFill>
                      <a:srgbClr val="FF0000"/>
                    </a:solidFill>
                  </a:rPr>
                  <a:t>= 200</a:t>
                </a:r>
                <a:endParaRPr lang="en-CA" sz="3600" dirty="0">
                  <a:solidFill>
                    <a:srgbClr val="000000"/>
                  </a:solidFill>
                </a:endParaRPr>
              </a:p>
              <a:p>
                <a:pPr marL="0" indent="0" algn="ctr">
                  <a:spcBef>
                    <a:spcPts val="600"/>
                  </a:spcBef>
                  <a:buClrTx/>
                  <a:buNone/>
                </a:pPr>
                <a:endParaRPr lang="en-CA" sz="3600" dirty="0">
                  <a:solidFill>
                    <a:srgbClr val="000000"/>
                  </a:solidFill>
                </a:endParaRP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232013" y="914400"/>
                <a:ext cx="16049767" cy="7184042"/>
              </a:xfrm>
              <a:blipFill>
                <a:blip r:embed="rId2"/>
                <a:stretch>
                  <a:fillRect l="-1139" t="-2037" r="-494"/>
                </a:stretch>
              </a:blipFill>
            </p:spPr>
            <p:txBody>
              <a:bodyPr/>
              <a:lstStyle/>
              <a:p>
                <a:r>
                  <a:rPr lang="en-US">
                    <a:noFill/>
                  </a:rPr>
                  <a:t> </a:t>
                </a:r>
              </a:p>
            </p:txBody>
          </p:sp>
        </mc:Fallback>
      </mc:AlternateContent>
      <p:sp>
        <p:nvSpPr>
          <p:cNvPr id="5" name="Date Placeholder 4"/>
          <p:cNvSpPr>
            <a:spLocks noGrp="1"/>
          </p:cNvSpPr>
          <p:nvPr>
            <p:ph type="dt" sz="half" idx="10"/>
          </p:nvPr>
        </p:nvSpPr>
        <p:spPr/>
        <p:txBody>
          <a:bodyPr/>
          <a:lstStyle/>
          <a:p>
            <a:fld id="{8EAA96D6-6382-41C4-B522-3052A1871C66}"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144854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08667" y="144806"/>
            <a:ext cx="10075333" cy="701355"/>
          </a:xfrm>
        </p:spPr>
        <p:txBody>
          <a:bodyPr>
            <a:noAutofit/>
          </a:bodyPr>
          <a:lstStyle/>
          <a:p>
            <a:r>
              <a:rPr lang="en-CA" sz="4800" b="1" dirty="0">
                <a:solidFill>
                  <a:srgbClr val="0070C0"/>
                </a:solidFill>
              </a:rPr>
              <a:t>Fast PWM Mode: Output Frequency </a:t>
            </a:r>
            <a:endParaRPr lang="en-US" sz="48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84531" y="846162"/>
                <a:ext cx="15975163" cy="7238632"/>
              </a:xfrm>
            </p:spPr>
            <p:txBody>
              <a:bodyPr>
                <a:noAutofit/>
              </a:bodyPr>
              <a:lstStyle/>
              <a:p>
                <a:pPr>
                  <a:spcBef>
                    <a:spcPts val="600"/>
                  </a:spcBef>
                  <a:buClrTx/>
                </a:pPr>
                <a:r>
                  <a:rPr lang="en-US" sz="3600" b="1" dirty="0">
                    <a:solidFill>
                      <a:srgbClr val="FF0000"/>
                    </a:solidFill>
                  </a:rPr>
                  <a:t>Inverting Fast PWM Duty Cycle</a:t>
                </a:r>
              </a:p>
              <a:p>
                <a:pPr>
                  <a:spcBef>
                    <a:spcPts val="600"/>
                  </a:spcBef>
                  <a:buClrTx/>
                </a:pPr>
                <a:r>
                  <a:rPr lang="en-US" sz="3400" dirty="0">
                    <a:solidFill>
                      <a:srgbClr val="000000"/>
                    </a:solidFill>
                  </a:rPr>
                  <a:t>The </a:t>
                </a:r>
                <a:r>
                  <a:rPr lang="en-US" sz="3400" b="1" dirty="0">
                    <a:solidFill>
                      <a:srgbClr val="FF0000"/>
                    </a:solidFill>
                  </a:rPr>
                  <a:t>formula for frequency</a:t>
                </a:r>
                <a:r>
                  <a:rPr lang="en-US" sz="3400" dirty="0">
                    <a:solidFill>
                      <a:srgbClr val="000000"/>
                    </a:solidFill>
                  </a:rPr>
                  <a:t> computation is the </a:t>
                </a:r>
                <a:r>
                  <a:rPr lang="en-US" sz="3400" b="1" dirty="0">
                    <a:solidFill>
                      <a:srgbClr val="FF0000"/>
                    </a:solidFill>
                  </a:rPr>
                  <a:t>same</a:t>
                </a:r>
                <a:r>
                  <a:rPr lang="en-US" sz="3400" dirty="0">
                    <a:solidFill>
                      <a:srgbClr val="000000"/>
                    </a:solidFill>
                  </a:rPr>
                  <a:t> as for </a:t>
                </a:r>
                <a:r>
                  <a:rPr lang="en-US" sz="3400" b="1" dirty="0">
                    <a:solidFill>
                      <a:srgbClr val="FF0000"/>
                    </a:solidFill>
                  </a:rPr>
                  <a:t>non-inverting</a:t>
                </a:r>
                <a:r>
                  <a:rPr lang="en-US" sz="3400" dirty="0">
                    <a:solidFill>
                      <a:srgbClr val="000000"/>
                    </a:solidFill>
                  </a:rPr>
                  <a:t> fast PWM. However, the duty cycle of the </a:t>
                </a:r>
                <a:r>
                  <a:rPr lang="en-US" sz="3400" b="1" dirty="0">
                    <a:solidFill>
                      <a:srgbClr val="FF0000"/>
                    </a:solidFill>
                  </a:rPr>
                  <a:t>Inverting mode </a:t>
                </a:r>
                <a:r>
                  <a:rPr lang="en-US" sz="3400" dirty="0">
                    <a:solidFill>
                      <a:srgbClr val="000000"/>
                    </a:solidFill>
                  </a:rPr>
                  <a:t>Fast PWM signal is calculated as follows</a:t>
                </a:r>
              </a:p>
              <a:p>
                <a:pPr marL="0" indent="0" algn="ctr">
                  <a:spcBef>
                    <a:spcPts val="600"/>
                  </a:spcBef>
                  <a:buClrTx/>
                  <a:buNone/>
                </a:pPr>
                <a14:m>
                  <m:oMath xmlns:m="http://schemas.openxmlformats.org/officeDocument/2006/math">
                    <m:r>
                      <a:rPr lang="en-US" sz="3400" b="1" i="1" smtClean="0">
                        <a:latin typeface="Cambria Math" panose="02040503050406030204" pitchFamily="18" charset="0"/>
                      </a:rPr>
                      <m:t>𝑶𝑪𝑹</m:t>
                    </m:r>
                    <m:r>
                      <a:rPr lang="en-US" sz="3400" b="1" i="1" smtClean="0">
                        <a:latin typeface="Cambria Math" panose="02040503050406030204" pitchFamily="18" charset="0"/>
                      </a:rPr>
                      <m:t>𝟎</m:t>
                    </m:r>
                    <m:r>
                      <a:rPr lang="en-US" sz="3400" b="1" i="1" smtClean="0">
                        <a:latin typeface="Cambria Math" panose="02040503050406030204" pitchFamily="18" charset="0"/>
                      </a:rPr>
                      <m:t>𝒙</m:t>
                    </m:r>
                    <m:r>
                      <a:rPr lang="en-US" sz="3400" b="1" i="1">
                        <a:latin typeface="Cambria Math" panose="02040503050406030204" pitchFamily="18" charset="0"/>
                      </a:rPr>
                      <m:t>=</m:t>
                    </m:r>
                    <m:r>
                      <a:rPr lang="en-US" sz="3400" b="1" i="1" smtClean="0">
                        <a:latin typeface="Cambria Math" panose="02040503050406030204" pitchFamily="18" charset="0"/>
                      </a:rPr>
                      <m:t>𝟐𝟓𝟓</m:t>
                    </m:r>
                    <m:r>
                      <a:rPr lang="en-US" sz="3400" b="1" i="1" smtClean="0">
                        <a:latin typeface="Cambria Math" panose="02040503050406030204" pitchFamily="18" charset="0"/>
                      </a:rPr>
                      <m:t>−</m:t>
                    </m:r>
                    <m:f>
                      <m:fPr>
                        <m:ctrlPr>
                          <a:rPr lang="en-US" sz="3400" b="1" i="1">
                            <a:latin typeface="Cambria Math" panose="02040503050406030204" pitchFamily="18" charset="0"/>
                          </a:rPr>
                        </m:ctrlPr>
                      </m:fPr>
                      <m:num>
                        <m:r>
                          <a:rPr lang="en-US" sz="3400" b="1" i="1" smtClean="0">
                            <a:latin typeface="Cambria Math" panose="02040503050406030204" pitchFamily="18" charset="0"/>
                          </a:rPr>
                          <m:t>𝟐𝟓𝟔</m:t>
                        </m:r>
                        <m:r>
                          <a:rPr lang="en-US" sz="3400" b="1" i="1" smtClean="0">
                            <a:latin typeface="Cambria Math" panose="02040503050406030204" pitchFamily="18" charset="0"/>
                          </a:rPr>
                          <m:t>𝑫</m:t>
                        </m:r>
                      </m:num>
                      <m:den>
                        <m:r>
                          <a:rPr lang="en-US" sz="3400" b="1" i="1" smtClean="0">
                            <a:latin typeface="Cambria Math" panose="02040503050406030204" pitchFamily="18" charset="0"/>
                          </a:rPr>
                          <m:t>𝟏𝟎𝟎</m:t>
                        </m:r>
                      </m:den>
                    </m:f>
                    <m:r>
                      <a:rPr lang="en-US" sz="3400" b="1" i="1" smtClean="0">
                        <a:latin typeface="Cambria Math" panose="02040503050406030204" pitchFamily="18" charset="0"/>
                        <a:ea typeface="Cambria Math" panose="02040503050406030204" pitchFamily="18" charset="0"/>
                      </a:rPr>
                      <m:t>;   </m:t>
                    </m:r>
                    <m:r>
                      <a:rPr lang="en-US" sz="3400" b="1" i="1" smtClean="0">
                        <a:latin typeface="Cambria Math" panose="02040503050406030204" pitchFamily="18" charset="0"/>
                        <a:ea typeface="Cambria Math" panose="02040503050406030204" pitchFamily="18" charset="0"/>
                      </a:rPr>
                      <m:t>𝒙</m:t>
                    </m:r>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𝑨</m:t>
                    </m:r>
                    <m:r>
                      <a:rPr lang="en-US" sz="3400" b="1" i="1" smtClean="0">
                        <a:latin typeface="Cambria Math" panose="02040503050406030204" pitchFamily="18" charset="0"/>
                        <a:ea typeface="Cambria Math" panose="02040503050406030204" pitchFamily="18" charset="0"/>
                      </a:rPr>
                      <m:t> </m:t>
                    </m:r>
                    <m:r>
                      <a:rPr lang="en-US" sz="3400" b="1" i="1" smtClean="0">
                        <a:latin typeface="Cambria Math" panose="02040503050406030204" pitchFamily="18" charset="0"/>
                        <a:ea typeface="Cambria Math" panose="02040503050406030204" pitchFamily="18" charset="0"/>
                      </a:rPr>
                      <m:t>𝒐𝒓</m:t>
                    </m:r>
                    <m:r>
                      <a:rPr lang="en-US" sz="3400" b="1" i="1" smtClean="0">
                        <a:latin typeface="Cambria Math" panose="02040503050406030204" pitchFamily="18" charset="0"/>
                        <a:ea typeface="Cambria Math" panose="02040503050406030204" pitchFamily="18" charset="0"/>
                      </a:rPr>
                      <m:t> </m:t>
                    </m:r>
                    <m:r>
                      <a:rPr lang="en-US" sz="3400" b="1" i="1" smtClean="0">
                        <a:latin typeface="Cambria Math" panose="02040503050406030204" pitchFamily="18" charset="0"/>
                        <a:ea typeface="Cambria Math" panose="02040503050406030204" pitchFamily="18" charset="0"/>
                      </a:rPr>
                      <m:t>𝑩</m:t>
                    </m:r>
                  </m:oMath>
                </a14:m>
                <a:r>
                  <a:rPr lang="en-US" sz="3400" dirty="0">
                    <a:solidFill>
                      <a:srgbClr val="000000"/>
                    </a:solidFill>
                  </a:rPr>
                  <a:t>, if </a:t>
                </a:r>
                <a:r>
                  <a:rPr lang="en-US" sz="3400" b="1" dirty="0">
                    <a:solidFill>
                      <a:srgbClr val="FF0000"/>
                    </a:solidFill>
                  </a:rPr>
                  <a:t>TOP = 0xFF </a:t>
                </a:r>
                <a:r>
                  <a:rPr lang="en-US" sz="3200" b="1" dirty="0">
                    <a:solidFill>
                      <a:srgbClr val="FF0000"/>
                    </a:solidFill>
                  </a:rPr>
                  <a:t>(Fast PWM mode 3)</a:t>
                </a:r>
                <a:endParaRPr lang="en-US" sz="3400" b="1" dirty="0">
                  <a:solidFill>
                    <a:srgbClr val="FF0000"/>
                  </a:solidFill>
                </a:endParaRPr>
              </a:p>
              <a:p>
                <a:pPr marL="0" indent="0" algn="ctr">
                  <a:spcBef>
                    <a:spcPts val="600"/>
                  </a:spcBef>
                  <a:buNone/>
                </a:pPr>
                <a14:m>
                  <m:oMath xmlns:m="http://schemas.openxmlformats.org/officeDocument/2006/math">
                    <m:r>
                      <a:rPr lang="en-US" sz="3400" b="1" i="1">
                        <a:latin typeface="Cambria Math" panose="02040503050406030204" pitchFamily="18" charset="0"/>
                      </a:rPr>
                      <m:t>𝑶𝑪𝑹</m:t>
                    </m:r>
                    <m:r>
                      <a:rPr lang="en-US" sz="3400" b="1" i="1">
                        <a:latin typeface="Cambria Math" panose="02040503050406030204" pitchFamily="18" charset="0"/>
                      </a:rPr>
                      <m:t>𝟎</m:t>
                    </m:r>
                    <m:r>
                      <a:rPr lang="en-US" sz="3400" b="1" i="1" smtClean="0">
                        <a:latin typeface="Cambria Math" panose="02040503050406030204" pitchFamily="18" charset="0"/>
                      </a:rPr>
                      <m:t>𝑩</m:t>
                    </m:r>
                    <m:r>
                      <a:rPr lang="en-US" sz="3400" b="1" i="1">
                        <a:latin typeface="Cambria Math" panose="02040503050406030204" pitchFamily="18" charset="0"/>
                      </a:rPr>
                      <m:t>=</m:t>
                    </m:r>
                    <m:r>
                      <a:rPr lang="en-US" sz="3400" b="1" i="1">
                        <a:latin typeface="Cambria Math" panose="02040503050406030204" pitchFamily="18" charset="0"/>
                      </a:rPr>
                      <m:t>𝑶𝑪𝑹</m:t>
                    </m:r>
                    <m:r>
                      <a:rPr lang="en-US" sz="3400" b="1" i="1">
                        <a:latin typeface="Cambria Math" panose="02040503050406030204" pitchFamily="18" charset="0"/>
                      </a:rPr>
                      <m:t>𝟎</m:t>
                    </m:r>
                    <m:r>
                      <a:rPr lang="en-US" sz="3400" b="1" i="1" smtClean="0">
                        <a:latin typeface="Cambria Math" panose="02040503050406030204" pitchFamily="18" charset="0"/>
                      </a:rPr>
                      <m:t>𝑨</m:t>
                    </m:r>
                    <m:r>
                      <a:rPr lang="en-US" sz="3400" b="1" i="1">
                        <a:latin typeface="Cambria Math" panose="02040503050406030204" pitchFamily="18" charset="0"/>
                      </a:rPr>
                      <m:t>−</m:t>
                    </m:r>
                    <m:f>
                      <m:fPr>
                        <m:ctrlPr>
                          <a:rPr lang="en-US" sz="3400" b="1" i="1">
                            <a:latin typeface="Cambria Math" panose="02040503050406030204" pitchFamily="18" charset="0"/>
                          </a:rPr>
                        </m:ctrlPr>
                      </m:fPr>
                      <m:num>
                        <m:d>
                          <m:dPr>
                            <m:ctrlPr>
                              <a:rPr lang="en-US" sz="3400" b="1" i="1" smtClean="0">
                                <a:latin typeface="Cambria Math" panose="02040503050406030204" pitchFamily="18" charset="0"/>
                              </a:rPr>
                            </m:ctrlPr>
                          </m:dPr>
                          <m:e>
                            <m:r>
                              <a:rPr lang="en-US" sz="3400" b="1" i="1" smtClean="0">
                                <a:latin typeface="Cambria Math" panose="02040503050406030204" pitchFamily="18" charset="0"/>
                              </a:rPr>
                              <m:t>𝟏</m:t>
                            </m:r>
                            <m:r>
                              <a:rPr lang="en-US" sz="3400" b="1" i="1" smtClean="0">
                                <a:latin typeface="Cambria Math" panose="02040503050406030204" pitchFamily="18" charset="0"/>
                              </a:rPr>
                              <m:t>+</m:t>
                            </m:r>
                            <m:r>
                              <a:rPr lang="en-US" sz="3400" b="1" i="1">
                                <a:latin typeface="Cambria Math" panose="02040503050406030204" pitchFamily="18" charset="0"/>
                              </a:rPr>
                              <m:t>𝑶𝑪𝑹</m:t>
                            </m:r>
                            <m:r>
                              <a:rPr lang="en-US" sz="3400" b="1" i="1">
                                <a:latin typeface="Cambria Math" panose="02040503050406030204" pitchFamily="18" charset="0"/>
                              </a:rPr>
                              <m:t>𝟎</m:t>
                            </m:r>
                            <m:r>
                              <a:rPr lang="en-US" sz="3400" b="1" i="1" smtClean="0">
                                <a:latin typeface="Cambria Math" panose="02040503050406030204" pitchFamily="18" charset="0"/>
                              </a:rPr>
                              <m:t>𝑨</m:t>
                            </m:r>
                          </m:e>
                        </m:d>
                        <m:r>
                          <a:rPr lang="en-US" sz="3400" b="1" i="1">
                            <a:latin typeface="Cambria Math" panose="02040503050406030204" pitchFamily="18" charset="0"/>
                          </a:rPr>
                          <m:t>𝑫</m:t>
                        </m:r>
                      </m:num>
                      <m:den>
                        <m:r>
                          <a:rPr lang="en-US" sz="3400" b="1" i="1">
                            <a:latin typeface="Cambria Math" panose="02040503050406030204" pitchFamily="18" charset="0"/>
                          </a:rPr>
                          <m:t>𝟏𝟎𝟎</m:t>
                        </m:r>
                      </m:den>
                    </m:f>
                    <m:r>
                      <a:rPr lang="en-US" sz="3400" b="1" i="1">
                        <a:latin typeface="Cambria Math" panose="02040503050406030204" pitchFamily="18" charset="0"/>
                        <a:ea typeface="Cambria Math" panose="02040503050406030204" pitchFamily="18" charset="0"/>
                      </a:rPr>
                      <m:t>;   </m:t>
                    </m:r>
                    <m:r>
                      <a:rPr lang="en-US" sz="3400" b="1" i="1">
                        <a:latin typeface="Cambria Math" panose="02040503050406030204" pitchFamily="18" charset="0"/>
                        <a:ea typeface="Cambria Math" panose="02040503050406030204" pitchFamily="18" charset="0"/>
                      </a:rPr>
                      <m:t>𝒙</m:t>
                    </m:r>
                    <m:r>
                      <a:rPr lang="en-US" sz="3400" b="1" i="1">
                        <a:latin typeface="Cambria Math" panose="02040503050406030204" pitchFamily="18" charset="0"/>
                        <a:ea typeface="Cambria Math" panose="02040503050406030204" pitchFamily="18" charset="0"/>
                      </a:rPr>
                      <m:t>=</m:t>
                    </m:r>
                    <m:r>
                      <a:rPr lang="en-US" sz="3400" b="1" i="1">
                        <a:latin typeface="Cambria Math" panose="02040503050406030204" pitchFamily="18" charset="0"/>
                        <a:ea typeface="Cambria Math" panose="02040503050406030204" pitchFamily="18" charset="0"/>
                      </a:rPr>
                      <m:t>𝑨</m:t>
                    </m:r>
                    <m:r>
                      <a:rPr lang="en-US" sz="3400" b="1" i="1">
                        <a:latin typeface="Cambria Math" panose="02040503050406030204" pitchFamily="18" charset="0"/>
                        <a:ea typeface="Cambria Math" panose="02040503050406030204" pitchFamily="18" charset="0"/>
                      </a:rPr>
                      <m:t> </m:t>
                    </m:r>
                    <m:r>
                      <a:rPr lang="en-US" sz="3400" b="1" i="1">
                        <a:latin typeface="Cambria Math" panose="02040503050406030204" pitchFamily="18" charset="0"/>
                        <a:ea typeface="Cambria Math" panose="02040503050406030204" pitchFamily="18" charset="0"/>
                      </a:rPr>
                      <m:t>𝒐𝒓</m:t>
                    </m:r>
                    <m:r>
                      <a:rPr lang="en-US" sz="3400" b="1" i="1">
                        <a:latin typeface="Cambria Math" panose="02040503050406030204" pitchFamily="18" charset="0"/>
                        <a:ea typeface="Cambria Math" panose="02040503050406030204" pitchFamily="18" charset="0"/>
                      </a:rPr>
                      <m:t> </m:t>
                    </m:r>
                    <m:r>
                      <a:rPr lang="en-US" sz="3400" b="1" i="1">
                        <a:latin typeface="Cambria Math" panose="02040503050406030204" pitchFamily="18" charset="0"/>
                        <a:ea typeface="Cambria Math" panose="02040503050406030204" pitchFamily="18" charset="0"/>
                      </a:rPr>
                      <m:t>𝑩</m:t>
                    </m:r>
                  </m:oMath>
                </a14:m>
                <a:r>
                  <a:rPr lang="en-US" sz="3400" dirty="0">
                    <a:solidFill>
                      <a:srgbClr val="000000"/>
                    </a:solidFill>
                  </a:rPr>
                  <a:t>, if </a:t>
                </a:r>
                <a:r>
                  <a:rPr lang="en-US" sz="3400" b="1" dirty="0">
                    <a:solidFill>
                      <a:srgbClr val="FF0000"/>
                    </a:solidFill>
                  </a:rPr>
                  <a:t>TOP = </a:t>
                </a:r>
                <a14:m>
                  <m:oMath xmlns:m="http://schemas.openxmlformats.org/officeDocument/2006/math">
                    <m:r>
                      <a:rPr lang="en-US" sz="3400" b="1" i="1" smtClean="0">
                        <a:solidFill>
                          <a:srgbClr val="FF0000"/>
                        </a:solidFill>
                        <a:latin typeface="Cambria Math" panose="02040503050406030204" pitchFamily="18" charset="0"/>
                      </a:rPr>
                      <m:t>𝑶𝑪𝑹</m:t>
                    </m:r>
                    <m:r>
                      <a:rPr lang="en-US" sz="3400" b="1" i="1" smtClean="0">
                        <a:solidFill>
                          <a:srgbClr val="FF0000"/>
                        </a:solidFill>
                        <a:latin typeface="Cambria Math" panose="02040503050406030204" pitchFamily="18" charset="0"/>
                      </a:rPr>
                      <m:t>𝟎</m:t>
                    </m:r>
                    <m:r>
                      <a:rPr lang="en-US" sz="3400" b="1" i="1" smtClean="0">
                        <a:solidFill>
                          <a:srgbClr val="FF0000"/>
                        </a:solidFill>
                        <a:latin typeface="Cambria Math" panose="02040503050406030204" pitchFamily="18" charset="0"/>
                      </a:rPr>
                      <m:t>𝑨</m:t>
                    </m:r>
                  </m:oMath>
                </a14:m>
                <a:r>
                  <a:rPr lang="en-US" sz="3400" b="1" dirty="0">
                    <a:solidFill>
                      <a:srgbClr val="FF0000"/>
                    </a:solidFill>
                  </a:rPr>
                  <a:t> </a:t>
                </a:r>
                <a:r>
                  <a:rPr lang="en-US" sz="3200" b="1" dirty="0">
                    <a:solidFill>
                      <a:srgbClr val="FF0000"/>
                    </a:solidFill>
                  </a:rPr>
                  <a:t>(Fast PWM mode 7)</a:t>
                </a:r>
                <a:endParaRPr lang="en-US" sz="3400" b="1" dirty="0">
                  <a:solidFill>
                    <a:srgbClr val="FF0000"/>
                  </a:solidFill>
                </a:endParaRPr>
              </a:p>
              <a:p>
                <a:pPr marL="0" indent="0">
                  <a:spcBef>
                    <a:spcPts val="600"/>
                  </a:spcBef>
                  <a:buClrTx/>
                  <a:buNone/>
                </a:pPr>
                <a:r>
                  <a:rPr lang="en-US" sz="3400" dirty="0">
                    <a:solidFill>
                      <a:srgbClr val="000000"/>
                    </a:solidFill>
                  </a:rPr>
                  <a:t>,where D is the Duty cycle that ranges from 0% to 100%. This duty cycle value is the count value that must be loaded into the OCR0A (or OCR0B) register.</a:t>
                </a:r>
              </a:p>
              <a:p>
                <a:pPr marL="0" indent="0">
                  <a:spcBef>
                    <a:spcPts val="600"/>
                  </a:spcBef>
                  <a:buClrTx/>
                  <a:buNone/>
                </a:pPr>
                <a:endParaRPr lang="en-US" sz="2000" dirty="0">
                  <a:solidFill>
                    <a:srgbClr val="000000"/>
                  </a:solidFill>
                </a:endParaRPr>
              </a:p>
              <a:p>
                <a:pPr>
                  <a:spcBef>
                    <a:spcPts val="600"/>
                  </a:spcBef>
                  <a:buClrTx/>
                </a:pPr>
                <a:r>
                  <a:rPr lang="en-US" sz="3600" b="1" dirty="0">
                    <a:solidFill>
                      <a:srgbClr val="FF0000"/>
                    </a:solidFill>
                  </a:rPr>
                  <a:t>Example: </a:t>
                </a:r>
                <a:r>
                  <a:rPr lang="en-US" sz="3600" dirty="0"/>
                  <a:t>1) PWM signal is to have 75% duty cycle. Compute the value for OCR0A.</a:t>
                </a:r>
                <a:endParaRPr lang="en-CA" sz="3600" dirty="0"/>
              </a:p>
              <a:p>
                <a:pPr marL="0" indent="0" algn="ctr">
                  <a:spcBef>
                    <a:spcPts val="600"/>
                  </a:spcBef>
                  <a:buClrTx/>
                  <a:buNone/>
                </a:pPr>
                <a14:m>
                  <m:oMath xmlns:m="http://schemas.openxmlformats.org/officeDocument/2006/math">
                    <m:r>
                      <a:rPr lang="en-US" sz="3400" b="1" i="1" smtClean="0">
                        <a:latin typeface="Cambria Math" panose="02040503050406030204" pitchFamily="18" charset="0"/>
                      </a:rPr>
                      <m:t>𝑶𝑪𝑹</m:t>
                    </m:r>
                    <m:r>
                      <a:rPr lang="en-US" sz="3400" b="1" i="1" smtClean="0">
                        <a:latin typeface="Cambria Math" panose="02040503050406030204" pitchFamily="18" charset="0"/>
                      </a:rPr>
                      <m:t>𝟎</m:t>
                    </m:r>
                    <m:r>
                      <a:rPr lang="en-US" sz="3400" b="1" i="1" smtClean="0">
                        <a:latin typeface="Cambria Math" panose="02040503050406030204" pitchFamily="18" charset="0"/>
                      </a:rPr>
                      <m:t>𝑨</m:t>
                    </m:r>
                    <m:r>
                      <a:rPr lang="en-US" sz="3400" b="1" i="1">
                        <a:latin typeface="Cambria Math" panose="02040503050406030204" pitchFamily="18" charset="0"/>
                      </a:rPr>
                      <m:t>=</m:t>
                    </m:r>
                    <m:r>
                      <a:rPr lang="en-US" sz="3400" b="1" i="1" smtClean="0">
                        <a:latin typeface="Cambria Math" panose="02040503050406030204" pitchFamily="18" charset="0"/>
                      </a:rPr>
                      <m:t>𝟐𝟓𝟓</m:t>
                    </m:r>
                    <m:r>
                      <a:rPr lang="en-US" sz="3400" b="1" i="1" smtClean="0">
                        <a:latin typeface="Cambria Math" panose="02040503050406030204" pitchFamily="18" charset="0"/>
                      </a:rPr>
                      <m:t>−</m:t>
                    </m:r>
                    <m:f>
                      <m:fPr>
                        <m:ctrlPr>
                          <a:rPr lang="en-US" sz="3400" b="1" i="1">
                            <a:latin typeface="Cambria Math" panose="02040503050406030204" pitchFamily="18" charset="0"/>
                          </a:rPr>
                        </m:ctrlPr>
                      </m:fPr>
                      <m:num>
                        <m:r>
                          <a:rPr lang="en-US" sz="3400" b="1" i="1" smtClean="0">
                            <a:latin typeface="Cambria Math" panose="02040503050406030204" pitchFamily="18" charset="0"/>
                          </a:rPr>
                          <m:t>𝟐𝟓𝟔</m:t>
                        </m:r>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𝟕𝟓</m:t>
                        </m:r>
                      </m:num>
                      <m:den>
                        <m:r>
                          <a:rPr lang="en-US" sz="3400" b="1" i="1" smtClean="0">
                            <a:latin typeface="Cambria Math" panose="02040503050406030204" pitchFamily="18" charset="0"/>
                          </a:rPr>
                          <m:t>𝟏𝟎𝟎</m:t>
                        </m:r>
                      </m:den>
                    </m:f>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𝟐𝟓𝟓</m:t>
                    </m:r>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𝟏𝟗𝟐</m:t>
                    </m:r>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𝟔𝟑</m:t>
                    </m:r>
                  </m:oMath>
                </a14:m>
                <a:r>
                  <a:rPr lang="en-US" sz="3400" dirty="0">
                    <a:solidFill>
                      <a:srgbClr val="000000"/>
                    </a:solidFill>
                  </a:rPr>
                  <a:t> , if </a:t>
                </a:r>
                <a:r>
                  <a:rPr lang="en-US" sz="3400" b="1" dirty="0">
                    <a:solidFill>
                      <a:srgbClr val="FF0000"/>
                    </a:solidFill>
                  </a:rPr>
                  <a:t>TOP = 0xFF</a:t>
                </a:r>
              </a:p>
              <a:p>
                <a:pPr marL="0" indent="0">
                  <a:spcBef>
                    <a:spcPts val="600"/>
                  </a:spcBef>
                  <a:buClrTx/>
                  <a:buNone/>
                </a:pPr>
                <a:r>
                  <a:rPr lang="en-US" sz="3400" dirty="0"/>
                  <a:t>2) PWM signal is to have 75% duty cycle. Compute the value for OCR0B if OCR0A = 200.</a:t>
                </a:r>
                <a:endParaRPr lang="en-CA" sz="3400" dirty="0"/>
              </a:p>
              <a:p>
                <a:pPr marL="0" indent="0" algn="ctr">
                  <a:spcBef>
                    <a:spcPts val="600"/>
                  </a:spcBef>
                  <a:buClrTx/>
                  <a:buNone/>
                </a:pPr>
                <a14:m>
                  <m:oMath xmlns:m="http://schemas.openxmlformats.org/officeDocument/2006/math">
                    <m:r>
                      <a:rPr lang="en-US" sz="3000" b="1" i="1">
                        <a:latin typeface="Cambria Math" panose="02040503050406030204" pitchFamily="18" charset="0"/>
                      </a:rPr>
                      <m:t>𝑶𝑪𝑹</m:t>
                    </m:r>
                    <m:r>
                      <a:rPr lang="en-US" sz="3000" b="1" i="1">
                        <a:latin typeface="Cambria Math" panose="02040503050406030204" pitchFamily="18" charset="0"/>
                      </a:rPr>
                      <m:t>𝟎</m:t>
                    </m:r>
                    <m:r>
                      <a:rPr lang="en-US" sz="3000" b="1" i="1" smtClean="0">
                        <a:latin typeface="Cambria Math" panose="02040503050406030204" pitchFamily="18" charset="0"/>
                      </a:rPr>
                      <m:t>𝑩</m:t>
                    </m:r>
                    <m:r>
                      <a:rPr lang="en-US" sz="3000" b="1" i="1">
                        <a:latin typeface="Cambria Math" panose="02040503050406030204" pitchFamily="18" charset="0"/>
                      </a:rPr>
                      <m:t>=</m:t>
                    </m:r>
                    <m:r>
                      <a:rPr lang="en-US" sz="3000" b="1" i="1">
                        <a:latin typeface="Cambria Math" panose="02040503050406030204" pitchFamily="18" charset="0"/>
                      </a:rPr>
                      <m:t>𝑶𝑪𝑹</m:t>
                    </m:r>
                    <m:r>
                      <a:rPr lang="en-US" sz="3000" b="1" i="1">
                        <a:latin typeface="Cambria Math" panose="02040503050406030204" pitchFamily="18" charset="0"/>
                      </a:rPr>
                      <m:t>𝟎</m:t>
                    </m:r>
                    <m:r>
                      <a:rPr lang="en-US" sz="3000" b="1" i="1">
                        <a:latin typeface="Cambria Math" panose="02040503050406030204" pitchFamily="18" charset="0"/>
                      </a:rPr>
                      <m:t>𝑨</m:t>
                    </m:r>
                    <m:r>
                      <a:rPr lang="en-US" sz="3000" b="1" i="1">
                        <a:latin typeface="Cambria Math" panose="02040503050406030204" pitchFamily="18" charset="0"/>
                      </a:rPr>
                      <m:t>−</m:t>
                    </m:r>
                    <m:f>
                      <m:fPr>
                        <m:ctrlPr>
                          <a:rPr lang="en-US" sz="3000" b="1" i="1">
                            <a:latin typeface="Cambria Math" panose="02040503050406030204" pitchFamily="18" charset="0"/>
                          </a:rPr>
                        </m:ctrlPr>
                      </m:fPr>
                      <m:num>
                        <m:d>
                          <m:dPr>
                            <m:ctrlPr>
                              <a:rPr lang="en-US" sz="3000" b="1" i="1">
                                <a:latin typeface="Cambria Math" panose="02040503050406030204" pitchFamily="18" charset="0"/>
                              </a:rPr>
                            </m:ctrlPr>
                          </m:dPr>
                          <m:e>
                            <m:r>
                              <a:rPr lang="en-US" sz="3000" b="1" i="1">
                                <a:latin typeface="Cambria Math" panose="02040503050406030204" pitchFamily="18" charset="0"/>
                              </a:rPr>
                              <m:t>𝟏</m:t>
                            </m:r>
                            <m:r>
                              <a:rPr lang="en-US" sz="3000" b="1" i="1">
                                <a:latin typeface="Cambria Math" panose="02040503050406030204" pitchFamily="18" charset="0"/>
                              </a:rPr>
                              <m:t>+</m:t>
                            </m:r>
                            <m:r>
                              <a:rPr lang="en-US" sz="3000" b="1" i="1">
                                <a:latin typeface="Cambria Math" panose="02040503050406030204" pitchFamily="18" charset="0"/>
                              </a:rPr>
                              <m:t>𝑶𝑪𝑹</m:t>
                            </m:r>
                            <m:r>
                              <a:rPr lang="en-US" sz="3000" b="1" i="1">
                                <a:latin typeface="Cambria Math" panose="02040503050406030204" pitchFamily="18" charset="0"/>
                              </a:rPr>
                              <m:t>𝟎</m:t>
                            </m:r>
                            <m:r>
                              <a:rPr lang="en-US" sz="3000" b="1" i="1">
                                <a:latin typeface="Cambria Math" panose="02040503050406030204" pitchFamily="18" charset="0"/>
                              </a:rPr>
                              <m:t>𝑨</m:t>
                            </m:r>
                          </m:e>
                        </m:d>
                        <m:r>
                          <a:rPr lang="en-US" sz="3000" b="1" i="1" smtClean="0">
                            <a:latin typeface="Cambria Math" panose="02040503050406030204" pitchFamily="18" charset="0"/>
                          </a:rPr>
                          <m:t>𝑫</m:t>
                        </m:r>
                      </m:num>
                      <m:den>
                        <m:r>
                          <a:rPr lang="en-US" sz="3000" b="1" i="1">
                            <a:latin typeface="Cambria Math" panose="02040503050406030204" pitchFamily="18" charset="0"/>
                          </a:rPr>
                          <m:t>𝟏𝟎𝟎</m:t>
                        </m:r>
                      </m:den>
                    </m:f>
                    <m:r>
                      <a:rPr lang="en-US" sz="3000" b="1" i="1">
                        <a:latin typeface="Cambria Math" panose="02040503050406030204" pitchFamily="18" charset="0"/>
                      </a:rPr>
                      <m:t>=</m:t>
                    </m:r>
                    <m:r>
                      <a:rPr lang="en-US" sz="3000" b="1" i="1" smtClean="0">
                        <a:latin typeface="Cambria Math" panose="02040503050406030204" pitchFamily="18" charset="0"/>
                      </a:rPr>
                      <m:t>𝟐𝟎𝟎</m:t>
                    </m:r>
                    <m:r>
                      <a:rPr lang="en-US" sz="3000" b="1" i="1">
                        <a:latin typeface="Cambria Math" panose="02040503050406030204" pitchFamily="18" charset="0"/>
                      </a:rPr>
                      <m:t>−</m:t>
                    </m:r>
                    <m:f>
                      <m:fPr>
                        <m:ctrlPr>
                          <a:rPr lang="en-US" sz="3000" b="1" i="1">
                            <a:latin typeface="Cambria Math" panose="02040503050406030204" pitchFamily="18" charset="0"/>
                          </a:rPr>
                        </m:ctrlPr>
                      </m:fPr>
                      <m:num>
                        <m:d>
                          <m:dPr>
                            <m:ctrlPr>
                              <a:rPr lang="en-US" sz="3000" b="1" i="1">
                                <a:latin typeface="Cambria Math" panose="02040503050406030204" pitchFamily="18" charset="0"/>
                              </a:rPr>
                            </m:ctrlPr>
                          </m:dPr>
                          <m:e>
                            <m:r>
                              <a:rPr lang="en-US" sz="3000" b="1" i="1">
                                <a:latin typeface="Cambria Math" panose="02040503050406030204" pitchFamily="18" charset="0"/>
                              </a:rPr>
                              <m:t>𝟏</m:t>
                            </m:r>
                            <m:r>
                              <a:rPr lang="en-US" sz="3000" b="1" i="1">
                                <a:latin typeface="Cambria Math" panose="02040503050406030204" pitchFamily="18" charset="0"/>
                              </a:rPr>
                              <m:t>+</m:t>
                            </m:r>
                            <m:r>
                              <a:rPr lang="en-US" sz="3000" b="1" i="1" smtClean="0">
                                <a:latin typeface="Cambria Math" panose="02040503050406030204" pitchFamily="18" charset="0"/>
                              </a:rPr>
                              <m:t>𝟐𝟎𝟎</m:t>
                            </m:r>
                          </m:e>
                        </m:d>
                        <m:r>
                          <a:rPr lang="en-US" sz="3000" b="1" i="1" smtClean="0">
                            <a:latin typeface="Cambria Math" panose="02040503050406030204" pitchFamily="18" charset="0"/>
                          </a:rPr>
                          <m:t>𝟕𝟓</m:t>
                        </m:r>
                      </m:num>
                      <m:den>
                        <m:r>
                          <a:rPr lang="en-US" sz="3000" b="1" i="1">
                            <a:latin typeface="Cambria Math" panose="02040503050406030204" pitchFamily="18" charset="0"/>
                          </a:rPr>
                          <m:t>𝟏𝟎𝟎</m:t>
                        </m:r>
                      </m:den>
                    </m:f>
                    <m:r>
                      <a:rPr lang="en-US" sz="3000" b="1" i="1">
                        <a:latin typeface="Cambria Math" panose="02040503050406030204" pitchFamily="18" charset="0"/>
                        <a:ea typeface="Cambria Math" panose="02040503050406030204" pitchFamily="18" charset="0"/>
                      </a:rPr>
                      <m:t>=</m:t>
                    </m:r>
                    <m:r>
                      <a:rPr lang="en-US" sz="3000" b="1" i="1" smtClean="0">
                        <a:latin typeface="Cambria Math" panose="02040503050406030204" pitchFamily="18" charset="0"/>
                        <a:ea typeface="Cambria Math" panose="02040503050406030204" pitchFamily="18" charset="0"/>
                      </a:rPr>
                      <m:t>𝟐𝟎𝟎</m:t>
                    </m:r>
                    <m:r>
                      <a:rPr lang="en-US" sz="3000" b="1" i="1">
                        <a:latin typeface="Cambria Math" panose="02040503050406030204" pitchFamily="18" charset="0"/>
                        <a:ea typeface="Cambria Math" panose="02040503050406030204" pitchFamily="18" charset="0"/>
                      </a:rPr>
                      <m:t>−</m:t>
                    </m:r>
                    <m:r>
                      <a:rPr lang="en-US" sz="3000" b="1" i="1">
                        <a:latin typeface="Cambria Math" panose="02040503050406030204" pitchFamily="18" charset="0"/>
                        <a:ea typeface="Cambria Math" panose="02040503050406030204" pitchFamily="18" charset="0"/>
                      </a:rPr>
                      <m:t>𝟏𝟓𝟏</m:t>
                    </m:r>
                    <m:r>
                      <a:rPr lang="en-US" sz="3000" b="1" i="1">
                        <a:latin typeface="Cambria Math" panose="02040503050406030204" pitchFamily="18" charset="0"/>
                        <a:ea typeface="Cambria Math" panose="02040503050406030204" pitchFamily="18" charset="0"/>
                      </a:rPr>
                      <m:t>=</m:t>
                    </m:r>
                    <m:r>
                      <a:rPr lang="en-US" sz="3000" b="1" i="1" smtClean="0">
                        <a:latin typeface="Cambria Math" panose="02040503050406030204" pitchFamily="18" charset="0"/>
                        <a:ea typeface="Cambria Math" panose="02040503050406030204" pitchFamily="18" charset="0"/>
                      </a:rPr>
                      <m:t>𝟒𝟗</m:t>
                    </m:r>
                  </m:oMath>
                </a14:m>
                <a:r>
                  <a:rPr lang="en-US" sz="3000" dirty="0">
                    <a:solidFill>
                      <a:srgbClr val="000000"/>
                    </a:solidFill>
                  </a:rPr>
                  <a:t> , if </a:t>
                </a:r>
                <a:r>
                  <a:rPr lang="en-US" sz="3000" b="1" dirty="0">
                    <a:solidFill>
                      <a:srgbClr val="FF0000"/>
                    </a:solidFill>
                  </a:rPr>
                  <a:t>TOP = </a:t>
                </a:r>
                <a14:m>
                  <m:oMath xmlns:m="http://schemas.openxmlformats.org/officeDocument/2006/math">
                    <m:r>
                      <a:rPr lang="en-US" sz="3000" b="1" i="1">
                        <a:solidFill>
                          <a:srgbClr val="FF0000"/>
                        </a:solidFill>
                        <a:latin typeface="Cambria Math" panose="02040503050406030204" pitchFamily="18" charset="0"/>
                      </a:rPr>
                      <m:t>𝑶𝑪𝑹</m:t>
                    </m:r>
                    <m:r>
                      <a:rPr lang="en-US" sz="3000" b="1" i="1">
                        <a:solidFill>
                          <a:srgbClr val="FF0000"/>
                        </a:solidFill>
                        <a:latin typeface="Cambria Math" panose="02040503050406030204" pitchFamily="18" charset="0"/>
                      </a:rPr>
                      <m:t>𝟎</m:t>
                    </m:r>
                    <m:r>
                      <a:rPr lang="en-US" sz="3000" b="1" i="1">
                        <a:solidFill>
                          <a:srgbClr val="FF0000"/>
                        </a:solidFill>
                        <a:latin typeface="Cambria Math" panose="02040503050406030204" pitchFamily="18" charset="0"/>
                      </a:rPr>
                      <m:t>𝑨</m:t>
                    </m:r>
                    <m:r>
                      <a:rPr lang="en-US" sz="3000" b="1" i="1">
                        <a:solidFill>
                          <a:srgbClr val="FF0000"/>
                        </a:solidFill>
                        <a:latin typeface="Cambria Math" panose="02040503050406030204" pitchFamily="18" charset="0"/>
                      </a:rPr>
                      <m:t> </m:t>
                    </m:r>
                  </m:oMath>
                </a14:m>
                <a:r>
                  <a:rPr lang="en-US" sz="3000" b="1" dirty="0">
                    <a:solidFill>
                      <a:srgbClr val="FF0000"/>
                    </a:solidFill>
                  </a:rPr>
                  <a:t>= 200</a:t>
                </a:r>
                <a:endParaRPr lang="en-CA" sz="3000" dirty="0">
                  <a:solidFill>
                    <a:srgbClr val="000000"/>
                  </a:solidFill>
                </a:endParaRPr>
              </a:p>
              <a:p>
                <a:pPr marL="0" indent="0" algn="ctr">
                  <a:spcBef>
                    <a:spcPts val="600"/>
                  </a:spcBef>
                  <a:buClrTx/>
                  <a:buNone/>
                </a:pPr>
                <a:endParaRPr lang="en-CA" sz="3600" dirty="0">
                  <a:solidFill>
                    <a:srgbClr val="000000"/>
                  </a:solidFill>
                </a:endParaRP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284531" y="846162"/>
                <a:ext cx="15975163" cy="7238632"/>
              </a:xfrm>
              <a:blipFill>
                <a:blip r:embed="rId2"/>
                <a:stretch>
                  <a:fillRect l="-1069" t="-2106" r="-649"/>
                </a:stretch>
              </a:blipFill>
            </p:spPr>
            <p:txBody>
              <a:bodyPr/>
              <a:lstStyle/>
              <a:p>
                <a:r>
                  <a:rPr lang="en-US">
                    <a:noFill/>
                  </a:rPr>
                  <a:t> </a:t>
                </a:r>
              </a:p>
            </p:txBody>
          </p:sp>
        </mc:Fallback>
      </mc:AlternateContent>
      <p:sp>
        <p:nvSpPr>
          <p:cNvPr id="5" name="Date Placeholder 4"/>
          <p:cNvSpPr>
            <a:spLocks noGrp="1"/>
          </p:cNvSpPr>
          <p:nvPr>
            <p:ph type="dt" sz="half" idx="10"/>
          </p:nvPr>
        </p:nvSpPr>
        <p:spPr/>
        <p:txBody>
          <a:bodyPr/>
          <a:lstStyle/>
          <a:p>
            <a:fld id="{8EAA96D6-6382-41C4-B522-3052A1871C66}"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3637227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99128" y="192163"/>
            <a:ext cx="7538719" cy="821990"/>
          </a:xfrm>
        </p:spPr>
        <p:txBody>
          <a:bodyPr>
            <a:noAutofit/>
          </a:bodyPr>
          <a:lstStyle/>
          <a:p>
            <a:r>
              <a:rPr lang="en-CA" sz="5400" b="1" dirty="0">
                <a:solidFill>
                  <a:srgbClr val="0070C0"/>
                </a:solidFill>
              </a:rPr>
              <a:t>Phase-Correct PWM Mode</a:t>
            </a:r>
            <a:r>
              <a:rPr lang="en-CA" sz="5400" dirty="0">
                <a:solidFill>
                  <a:srgbClr val="0070C0"/>
                </a:solidFill>
              </a:rPr>
              <a:t> </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21831" y="1014152"/>
            <a:ext cx="16071114" cy="6905481"/>
          </a:xfrm>
        </p:spPr>
        <p:txBody>
          <a:bodyPr>
            <a:noAutofit/>
          </a:bodyPr>
          <a:lstStyle/>
          <a:p>
            <a:pPr>
              <a:buClrTx/>
            </a:pPr>
            <a:r>
              <a:rPr lang="en-CA" sz="3600" dirty="0"/>
              <a:t>The </a:t>
            </a:r>
            <a:r>
              <a:rPr lang="en-CA" sz="3600" dirty="0">
                <a:solidFill>
                  <a:srgbClr val="00B050"/>
                </a:solidFill>
              </a:rPr>
              <a:t>phase-correct PWM mode </a:t>
            </a:r>
            <a:r>
              <a:rPr lang="en-CA" sz="3600" dirty="0"/>
              <a:t>(</a:t>
            </a:r>
            <a:r>
              <a:rPr lang="en-CA" sz="3600" b="1" dirty="0">
                <a:solidFill>
                  <a:srgbClr val="00B050"/>
                </a:solidFill>
              </a:rPr>
              <a:t>WGM02:0 = 1 or 5</a:t>
            </a:r>
            <a:r>
              <a:rPr lang="en-CA" sz="3600" dirty="0"/>
              <a:t>) provides a </a:t>
            </a:r>
            <a:r>
              <a:rPr lang="en-CA" sz="3600" dirty="0">
                <a:solidFill>
                  <a:srgbClr val="00B050"/>
                </a:solidFill>
              </a:rPr>
              <a:t>high-resolution phase correct PWM waveform generation option</a:t>
            </a:r>
            <a:r>
              <a:rPr lang="en-CA" sz="3600" dirty="0"/>
              <a:t>. The phase correct PWM mode is based on a </a:t>
            </a:r>
            <a:r>
              <a:rPr lang="en-CA" sz="3600" b="1" dirty="0">
                <a:solidFill>
                  <a:srgbClr val="C00000"/>
                </a:solidFill>
              </a:rPr>
              <a:t>dual-slope operation</a:t>
            </a:r>
            <a:r>
              <a:rPr lang="en-CA" sz="3600" dirty="0"/>
              <a:t>. The counter counts repeatedly from BOTTOM to TOP and then from TOP to BOTTOM.</a:t>
            </a:r>
          </a:p>
          <a:p>
            <a:pPr>
              <a:buClrTx/>
            </a:pPr>
            <a:r>
              <a:rPr lang="en-CA" sz="3600" dirty="0"/>
              <a:t>In non-inverting Compare Output mode, the </a:t>
            </a:r>
            <a:r>
              <a:rPr lang="en-CA" sz="3600" dirty="0">
                <a:solidFill>
                  <a:srgbClr val="FF0000"/>
                </a:solidFill>
              </a:rPr>
              <a:t>Output Compare (OC0x) is cleared </a:t>
            </a:r>
            <a:r>
              <a:rPr lang="en-CA" sz="3600" dirty="0"/>
              <a:t>on the </a:t>
            </a:r>
            <a:r>
              <a:rPr lang="en-CA" sz="3600" dirty="0">
                <a:solidFill>
                  <a:srgbClr val="FF0000"/>
                </a:solidFill>
              </a:rPr>
              <a:t>compare match between TCNT0 and OCR0x </a:t>
            </a:r>
            <a:r>
              <a:rPr lang="en-CA" sz="3600" dirty="0"/>
              <a:t>while </a:t>
            </a:r>
            <a:r>
              <a:rPr lang="en-CA" sz="3600" dirty="0">
                <a:solidFill>
                  <a:srgbClr val="FF0000"/>
                </a:solidFill>
              </a:rPr>
              <a:t>up counting and</a:t>
            </a:r>
            <a:r>
              <a:rPr lang="en-CA" sz="3600" dirty="0"/>
              <a:t> </a:t>
            </a:r>
            <a:r>
              <a:rPr lang="en-CA" sz="3600" dirty="0">
                <a:solidFill>
                  <a:srgbClr val="00B050"/>
                </a:solidFill>
              </a:rPr>
              <a:t>set on the compare match while down counting</a:t>
            </a:r>
            <a:r>
              <a:rPr lang="en-CA" sz="3600" dirty="0"/>
              <a:t>. </a:t>
            </a:r>
          </a:p>
          <a:p>
            <a:pPr>
              <a:buClrTx/>
            </a:pPr>
            <a:r>
              <a:rPr lang="en-CA" sz="3600" dirty="0"/>
              <a:t>In inverting Output Compare mode, the operation is inverted. </a:t>
            </a:r>
          </a:p>
          <a:p>
            <a:pPr>
              <a:buClrTx/>
            </a:pPr>
            <a:r>
              <a:rPr lang="en-CA" sz="3600" dirty="0"/>
              <a:t>The dual-slope operation has a lower maximum operation frequency than the single-slope operation.</a:t>
            </a:r>
          </a:p>
          <a:p>
            <a:pPr>
              <a:buClrTx/>
            </a:pPr>
            <a:r>
              <a:rPr lang="en-CA" sz="3600" dirty="0"/>
              <a:t>However, due to the </a:t>
            </a:r>
            <a:r>
              <a:rPr lang="en-CA" sz="3600" dirty="0">
                <a:solidFill>
                  <a:srgbClr val="00B0F0"/>
                </a:solidFill>
              </a:rPr>
              <a:t>symmetric feature of the dual-slope PWM modes</a:t>
            </a:r>
            <a:r>
              <a:rPr lang="en-CA" sz="3600" dirty="0"/>
              <a:t>, these modes are </a:t>
            </a:r>
            <a:r>
              <a:rPr lang="en-CA" sz="3600" dirty="0">
                <a:solidFill>
                  <a:srgbClr val="00B0F0"/>
                </a:solidFill>
              </a:rPr>
              <a:t>preferred for motor control applications</a:t>
            </a:r>
            <a:r>
              <a:rPr lang="en-CA" sz="3600" dirty="0"/>
              <a:t>. </a:t>
            </a:r>
          </a:p>
        </p:txBody>
      </p:sp>
      <p:sp>
        <p:nvSpPr>
          <p:cNvPr id="4" name="Date Placeholder 3"/>
          <p:cNvSpPr>
            <a:spLocks noGrp="1"/>
          </p:cNvSpPr>
          <p:nvPr>
            <p:ph type="dt" sz="half" idx="10"/>
          </p:nvPr>
        </p:nvSpPr>
        <p:spPr/>
        <p:txBody>
          <a:bodyPr/>
          <a:lstStyle/>
          <a:p>
            <a:fld id="{43D525AB-E0FA-4F8C-8124-2872D9A270CC}"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29448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76298"/>
            <a:ext cx="7538719" cy="1001364"/>
          </a:xfrm>
        </p:spPr>
        <p:txBody>
          <a:bodyPr>
            <a:normAutofit/>
          </a:bodyPr>
          <a:lstStyle/>
          <a:p>
            <a:r>
              <a:rPr lang="en-CA" sz="5400" b="1" dirty="0">
                <a:solidFill>
                  <a:srgbClr val="0070C0"/>
                </a:solidFill>
              </a:rPr>
              <a:t>Phase-Correct PWM Mode </a:t>
            </a:r>
            <a:endParaRPr lang="en-US" sz="5400" b="1" dirty="0">
              <a:solidFill>
                <a:srgbClr val="0070C0"/>
              </a:solidFill>
            </a:endParaRPr>
          </a:p>
        </p:txBody>
      </p:sp>
      <p:sp>
        <p:nvSpPr>
          <p:cNvPr id="5" name="Rectangle 4"/>
          <p:cNvSpPr/>
          <p:nvPr/>
        </p:nvSpPr>
        <p:spPr>
          <a:xfrm>
            <a:off x="200456" y="1077661"/>
            <a:ext cx="16059240" cy="5386090"/>
          </a:xfrm>
          <a:prstGeom prst="rect">
            <a:avLst/>
          </a:prstGeom>
        </p:spPr>
        <p:txBody>
          <a:bodyPr wrap="square">
            <a:spAutoFit/>
          </a:bodyPr>
          <a:lstStyle/>
          <a:p>
            <a:pPr marL="342900" indent="-342900">
              <a:spcAft>
                <a:spcPts val="600"/>
              </a:spcAft>
              <a:buSzPct val="100000"/>
              <a:buFont typeface="Arial" panose="020B0604020202020204" pitchFamily="34" charset="0"/>
              <a:buChar char="•"/>
            </a:pPr>
            <a:r>
              <a:rPr lang="en-CA" sz="3600" dirty="0">
                <a:solidFill>
                  <a:prstClr val="black"/>
                </a:solidFill>
              </a:rPr>
              <a:t>In phase-correct PWM mode, the counter is incremented until the counter value matches TOP. </a:t>
            </a:r>
            <a:r>
              <a:rPr lang="en-CA" sz="3600" dirty="0">
                <a:solidFill>
                  <a:srgbClr val="0070C0"/>
                </a:solidFill>
              </a:rPr>
              <a:t>When the counter reaches TOP, it changes the count direction</a:t>
            </a:r>
            <a:r>
              <a:rPr lang="en-CA" sz="3600" dirty="0">
                <a:solidFill>
                  <a:prstClr val="black"/>
                </a:solidFill>
              </a:rPr>
              <a:t>. </a:t>
            </a:r>
          </a:p>
          <a:p>
            <a:pPr marL="342900" indent="-342900">
              <a:spcAft>
                <a:spcPts val="600"/>
              </a:spcAft>
              <a:buSzPct val="100000"/>
              <a:buFont typeface="Arial" panose="020B0604020202020204" pitchFamily="34" charset="0"/>
              <a:buChar char="•"/>
            </a:pPr>
            <a:r>
              <a:rPr lang="en-CA" sz="3600" dirty="0">
                <a:solidFill>
                  <a:prstClr val="black"/>
                </a:solidFill>
              </a:rPr>
              <a:t>The TCNT0 value will be equal to TOP for one timer clock cycle. The timing diagram for the phase correct PWM mode is shown on </a:t>
            </a:r>
            <a:r>
              <a:rPr lang="en-CA" sz="3600" b="1" dirty="0">
                <a:solidFill>
                  <a:srgbClr val="0070C0"/>
                </a:solidFill>
              </a:rPr>
              <a:t>Figure 12.7</a:t>
            </a:r>
            <a:r>
              <a:rPr lang="en-CA" sz="3600" dirty="0">
                <a:solidFill>
                  <a:prstClr val="black"/>
                </a:solidFill>
              </a:rPr>
              <a:t>. </a:t>
            </a:r>
          </a:p>
          <a:p>
            <a:pPr marL="342900" indent="-342900">
              <a:spcAft>
                <a:spcPts val="600"/>
              </a:spcAft>
              <a:buSzPct val="100000"/>
              <a:buFont typeface="Arial" panose="020B0604020202020204" pitchFamily="34" charset="0"/>
              <a:buChar char="•"/>
            </a:pPr>
            <a:r>
              <a:rPr lang="en-CA" sz="3600" dirty="0">
                <a:solidFill>
                  <a:prstClr val="black"/>
                </a:solidFill>
              </a:rPr>
              <a:t>The TCNT0 value is in the timing diagram shown as a histogram for illustrating the </a:t>
            </a:r>
            <a:r>
              <a:rPr lang="en-CA" sz="3600" b="1" dirty="0">
                <a:solidFill>
                  <a:srgbClr val="0070C0"/>
                </a:solidFill>
              </a:rPr>
              <a:t>dual-slope operation</a:t>
            </a:r>
            <a:r>
              <a:rPr lang="en-CA" sz="3600" dirty="0">
                <a:solidFill>
                  <a:prstClr val="black"/>
                </a:solidFill>
              </a:rPr>
              <a:t>. </a:t>
            </a:r>
          </a:p>
          <a:p>
            <a:pPr marL="342900" indent="-342900">
              <a:spcAft>
                <a:spcPts val="600"/>
              </a:spcAft>
              <a:buSzPct val="100000"/>
              <a:buFont typeface="Arial" panose="020B0604020202020204" pitchFamily="34" charset="0"/>
              <a:buChar char="•"/>
            </a:pPr>
            <a:r>
              <a:rPr lang="en-CA" sz="3600" dirty="0">
                <a:solidFill>
                  <a:prstClr val="black"/>
                </a:solidFill>
              </a:rPr>
              <a:t>The diagram includes non-inverted and inverted PWM outputs.</a:t>
            </a:r>
          </a:p>
          <a:p>
            <a:pPr marL="342900" indent="-342900">
              <a:spcAft>
                <a:spcPts val="600"/>
              </a:spcAft>
              <a:buSzPct val="100000"/>
              <a:buFont typeface="Arial" panose="020B0604020202020204" pitchFamily="34" charset="0"/>
              <a:buChar char="•"/>
            </a:pPr>
            <a:r>
              <a:rPr lang="en-CA" sz="3600" dirty="0">
                <a:solidFill>
                  <a:prstClr val="black"/>
                </a:solidFill>
              </a:rPr>
              <a:t>The small horizontal line marks on the TCNT0 slopes represent compare matches between OCR0x and TCNT0. </a:t>
            </a:r>
            <a:endParaRPr lang="en-US" sz="3600" dirty="0">
              <a:solidFill>
                <a:prstClr val="black"/>
              </a:solidFill>
            </a:endParaRPr>
          </a:p>
        </p:txBody>
      </p:sp>
      <p:sp>
        <p:nvSpPr>
          <p:cNvPr id="3" name="Date Placeholder 2"/>
          <p:cNvSpPr>
            <a:spLocks noGrp="1"/>
          </p:cNvSpPr>
          <p:nvPr>
            <p:ph type="dt" sz="half" idx="10"/>
          </p:nvPr>
        </p:nvSpPr>
        <p:spPr/>
        <p:txBody>
          <a:bodyPr/>
          <a:lstStyle/>
          <a:p>
            <a:fld id="{6298C0A6-4699-4A93-B811-45825AC83248}"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404645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555844" y="76298"/>
            <a:ext cx="7624681" cy="858866"/>
          </a:xfrm>
        </p:spPr>
        <p:txBody>
          <a:bodyPr>
            <a:normAutofit/>
          </a:bodyPr>
          <a:lstStyle/>
          <a:p>
            <a:r>
              <a:rPr lang="en-CA" sz="4800" b="1" dirty="0">
                <a:solidFill>
                  <a:srgbClr val="0070C0"/>
                </a:solidFill>
              </a:rPr>
              <a:t>Phase-Correct PWM Mode </a:t>
            </a:r>
            <a:endParaRPr lang="en-US" sz="4800" b="1" dirty="0">
              <a:solidFill>
                <a:srgbClr val="0070C0"/>
              </a:solidFill>
            </a:endParaRPr>
          </a:p>
        </p:txBody>
      </p:sp>
      <p:pic>
        <p:nvPicPr>
          <p:cNvPr id="4" name="Picture 3"/>
          <p:cNvPicPr>
            <a:picLocks noChangeAspect="1"/>
          </p:cNvPicPr>
          <p:nvPr/>
        </p:nvPicPr>
        <p:blipFill rotWithShape="1">
          <a:blip r:embed="rId2">
            <a:duotone>
              <a:schemeClr val="accent5">
                <a:shade val="45000"/>
                <a:satMod val="135000"/>
              </a:schemeClr>
              <a:prstClr val="white"/>
            </a:duotone>
          </a:blip>
          <a:srcRect l="9215" t="9884" r="3479" b="3208"/>
          <a:stretch/>
        </p:blipFill>
        <p:spPr>
          <a:xfrm>
            <a:off x="6646228" y="864524"/>
            <a:ext cx="9679968" cy="6531890"/>
          </a:xfrm>
          <a:prstGeom prst="rect">
            <a:avLst/>
          </a:prstGeom>
        </p:spPr>
      </p:pic>
      <p:sp>
        <p:nvSpPr>
          <p:cNvPr id="5" name="Rectangle 4"/>
          <p:cNvSpPr/>
          <p:nvPr/>
        </p:nvSpPr>
        <p:spPr>
          <a:xfrm>
            <a:off x="150581" y="1077661"/>
            <a:ext cx="7480504" cy="2939266"/>
          </a:xfrm>
          <a:prstGeom prst="rect">
            <a:avLst/>
          </a:prstGeom>
        </p:spPr>
        <p:txBody>
          <a:bodyPr wrap="square">
            <a:spAutoFit/>
          </a:bodyPr>
          <a:lstStyle/>
          <a:p>
            <a:pPr marL="342900" indent="-342900">
              <a:spcAft>
                <a:spcPts val="600"/>
              </a:spcAft>
              <a:buSzPct val="100000"/>
              <a:buFont typeface="Arial" panose="020B0604020202020204" pitchFamily="34" charset="0"/>
              <a:buChar char="•"/>
            </a:pPr>
            <a:r>
              <a:rPr lang="en-CA" sz="3600" dirty="0">
                <a:solidFill>
                  <a:prstClr val="black"/>
                </a:solidFill>
              </a:rPr>
              <a:t>The diagram includes non-inverted and inverted PWM outputs.</a:t>
            </a:r>
          </a:p>
          <a:p>
            <a:pPr marL="342900" indent="-342900">
              <a:spcAft>
                <a:spcPts val="600"/>
              </a:spcAft>
              <a:buSzPct val="100000"/>
              <a:buFont typeface="Arial" panose="020B0604020202020204" pitchFamily="34" charset="0"/>
              <a:buChar char="•"/>
            </a:pPr>
            <a:r>
              <a:rPr lang="en-CA" sz="3600" dirty="0">
                <a:solidFill>
                  <a:prstClr val="black"/>
                </a:solidFill>
              </a:rPr>
              <a:t>The </a:t>
            </a:r>
            <a:r>
              <a:rPr lang="en-CA" sz="3600" dirty="0">
                <a:solidFill>
                  <a:srgbClr val="0070C0"/>
                </a:solidFill>
              </a:rPr>
              <a:t>small horizontal line marks </a:t>
            </a:r>
            <a:r>
              <a:rPr lang="en-CA" sz="3600" dirty="0">
                <a:solidFill>
                  <a:prstClr val="black"/>
                </a:solidFill>
              </a:rPr>
              <a:t>on the TCNT0 slopes represent </a:t>
            </a:r>
            <a:r>
              <a:rPr lang="en-CA" sz="3600" dirty="0">
                <a:solidFill>
                  <a:srgbClr val="00B050"/>
                </a:solidFill>
              </a:rPr>
              <a:t>compare matches between OCR0x and TCNT0</a:t>
            </a:r>
            <a:r>
              <a:rPr lang="en-CA" sz="3600" dirty="0">
                <a:solidFill>
                  <a:prstClr val="black"/>
                </a:solidFill>
              </a:rPr>
              <a:t>. </a:t>
            </a:r>
            <a:endParaRPr lang="en-US" sz="3600" dirty="0">
              <a:solidFill>
                <a:prstClr val="black"/>
              </a:solidFill>
            </a:endParaRPr>
          </a:p>
        </p:txBody>
      </p:sp>
      <p:sp>
        <p:nvSpPr>
          <p:cNvPr id="3" name="Date Placeholder 2"/>
          <p:cNvSpPr>
            <a:spLocks noGrp="1"/>
          </p:cNvSpPr>
          <p:nvPr>
            <p:ph type="dt" sz="half" idx="10"/>
          </p:nvPr>
        </p:nvSpPr>
        <p:spPr/>
        <p:txBody>
          <a:bodyPr/>
          <a:lstStyle/>
          <a:p>
            <a:fld id="{6298C0A6-4699-4A93-B811-45825AC83248}"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21</a:t>
            </a:fld>
            <a:endParaRPr lang="en-US" dirty="0"/>
          </a:p>
        </p:txBody>
      </p:sp>
      <p:sp>
        <p:nvSpPr>
          <p:cNvPr id="8" name="TextBox 7"/>
          <p:cNvSpPr txBox="1"/>
          <p:nvPr/>
        </p:nvSpPr>
        <p:spPr>
          <a:xfrm>
            <a:off x="6710346" y="7396414"/>
            <a:ext cx="9559636" cy="523220"/>
          </a:xfrm>
          <a:prstGeom prst="rect">
            <a:avLst/>
          </a:prstGeom>
          <a:noFill/>
        </p:spPr>
        <p:txBody>
          <a:bodyPr wrap="square" rtlCol="0">
            <a:spAutoFit/>
          </a:bodyPr>
          <a:lstStyle/>
          <a:p>
            <a:pPr algn="r"/>
            <a:r>
              <a:rPr lang="en-US" sz="2800" dirty="0"/>
              <a:t>Figure 12.7 Timing Diagram of the Phase Correct PWM Mode</a:t>
            </a:r>
          </a:p>
        </p:txBody>
      </p:sp>
      <p:cxnSp>
        <p:nvCxnSpPr>
          <p:cNvPr id="9" name="Straight Arrow Connector 8"/>
          <p:cNvCxnSpPr/>
          <p:nvPr/>
        </p:nvCxnSpPr>
        <p:spPr>
          <a:xfrm>
            <a:off x="7498080" y="3192087"/>
            <a:ext cx="3142211" cy="1348060"/>
          </a:xfrm>
          <a:prstGeom prst="straightConnector1">
            <a:avLst/>
          </a:prstGeom>
          <a:ln w="28575">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83816" y="4007572"/>
            <a:ext cx="6117232" cy="3970318"/>
          </a:xfrm>
          <a:prstGeom prst="rect">
            <a:avLst/>
          </a:prstGeom>
        </p:spPr>
        <p:txBody>
          <a:bodyPr wrap="square">
            <a:spAutoFit/>
          </a:bodyPr>
          <a:lstStyle/>
          <a:p>
            <a:pPr marL="285750" indent="-285750">
              <a:buFont typeface="Arial" panose="020B0604020202020204" pitchFamily="34" charset="0"/>
              <a:buChar char="•"/>
            </a:pPr>
            <a:r>
              <a:rPr lang="en-CA" sz="3600" dirty="0"/>
              <a:t>The </a:t>
            </a:r>
            <a:r>
              <a:rPr lang="en-CA" sz="3600" dirty="0">
                <a:solidFill>
                  <a:srgbClr val="7030A0"/>
                </a:solidFill>
              </a:rPr>
              <a:t>Timer/Counter Overflow Flag (TOV0) is set </a:t>
            </a:r>
            <a:r>
              <a:rPr lang="en-CA" sz="3600" dirty="0"/>
              <a:t>each time the counter reaches </a:t>
            </a:r>
            <a:r>
              <a:rPr lang="en-CA" sz="3600" dirty="0">
                <a:solidFill>
                  <a:srgbClr val="0070C0"/>
                </a:solidFill>
              </a:rPr>
              <a:t>BOTTOM</a:t>
            </a:r>
            <a:r>
              <a:rPr lang="en-CA" sz="3600" dirty="0"/>
              <a:t>. </a:t>
            </a:r>
          </a:p>
          <a:p>
            <a:pPr marL="285750" indent="-285750">
              <a:buFont typeface="Arial" panose="020B0604020202020204" pitchFamily="34" charset="0"/>
              <a:buChar char="•"/>
            </a:pPr>
            <a:r>
              <a:rPr lang="en-CA" sz="3600" dirty="0"/>
              <a:t>The </a:t>
            </a:r>
            <a:r>
              <a:rPr lang="en-CA" sz="3600" dirty="0">
                <a:solidFill>
                  <a:srgbClr val="FF0000"/>
                </a:solidFill>
              </a:rPr>
              <a:t>Interrupt Flag </a:t>
            </a:r>
            <a:r>
              <a:rPr lang="en-CA" sz="3600" dirty="0"/>
              <a:t>can be used to </a:t>
            </a:r>
            <a:r>
              <a:rPr lang="en-CA" sz="3600" dirty="0">
                <a:solidFill>
                  <a:srgbClr val="FF0000"/>
                </a:solidFill>
              </a:rPr>
              <a:t>generate an interrupt </a:t>
            </a:r>
            <a:r>
              <a:rPr lang="en-CA" sz="3600" dirty="0"/>
              <a:t>each time the </a:t>
            </a:r>
            <a:r>
              <a:rPr lang="en-CA" sz="3600" dirty="0">
                <a:solidFill>
                  <a:srgbClr val="FF0000"/>
                </a:solidFill>
              </a:rPr>
              <a:t>counter reaches the BOTTOM </a:t>
            </a:r>
            <a:r>
              <a:rPr lang="en-CA" sz="3600" dirty="0"/>
              <a:t>value. </a:t>
            </a:r>
          </a:p>
        </p:txBody>
      </p:sp>
      <p:pic>
        <p:nvPicPr>
          <p:cNvPr id="11" name="Picture 10">
            <a:extLst>
              <a:ext uri="{FF2B5EF4-FFF2-40B4-BE49-F238E27FC236}">
                <a16:creationId xmlns:a16="http://schemas.microsoft.com/office/drawing/2014/main" id="{A31C5495-8F92-4809-A116-1C1658F4D68D}"/>
              </a:ext>
            </a:extLst>
          </p:cNvPr>
          <p:cNvPicPr>
            <a:picLocks noChangeAspect="1"/>
          </p:cNvPicPr>
          <p:nvPr/>
        </p:nvPicPr>
        <p:blipFill>
          <a:blip r:embed="rId3"/>
          <a:stretch>
            <a:fillRect/>
          </a:stretch>
        </p:blipFill>
        <p:spPr>
          <a:xfrm>
            <a:off x="7137778" y="574254"/>
            <a:ext cx="7047169" cy="895978"/>
          </a:xfrm>
          <a:prstGeom prst="rect">
            <a:avLst/>
          </a:prstGeom>
        </p:spPr>
      </p:pic>
      <p:sp>
        <p:nvSpPr>
          <p:cNvPr id="13" name="Rectangle 12">
            <a:extLst>
              <a:ext uri="{FF2B5EF4-FFF2-40B4-BE49-F238E27FC236}">
                <a16:creationId xmlns:a16="http://schemas.microsoft.com/office/drawing/2014/main" id="{569403F5-2091-46F9-8584-17CF75922322}"/>
              </a:ext>
            </a:extLst>
          </p:cNvPr>
          <p:cNvSpPr/>
          <p:nvPr/>
        </p:nvSpPr>
        <p:spPr>
          <a:xfrm>
            <a:off x="12899094" y="539059"/>
            <a:ext cx="640209" cy="919901"/>
          </a:xfrm>
          <a:prstGeom prst="rect">
            <a:avLst/>
          </a:prstGeom>
          <a:noFill/>
          <a:ln w="57150" cap="flat" cmpd="sng" algn="ctr">
            <a:solidFill>
              <a:srgbClr val="A04DA3"/>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cxnSp>
        <p:nvCxnSpPr>
          <p:cNvPr id="14" name="Straight Arrow Connector 13"/>
          <p:cNvCxnSpPr>
            <a:cxnSpLocks/>
          </p:cNvCxnSpPr>
          <p:nvPr/>
        </p:nvCxnSpPr>
        <p:spPr>
          <a:xfrm flipV="1">
            <a:off x="5759837" y="999009"/>
            <a:ext cx="7139257" cy="3850710"/>
          </a:xfrm>
          <a:prstGeom prst="straightConnector1">
            <a:avLst/>
          </a:prstGeom>
          <a:ln w="28575">
            <a:solidFill>
              <a:srgbClr val="7030A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75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32"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circle(out)">
                                      <p:cBhvr>
                                        <p:cTn id="25" dur="20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heel(1)">
                                      <p:cBhvr>
                                        <p:cTn id="40" dur="20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32"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circle(out)">
                                      <p:cBhvr>
                                        <p:cTn id="45"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87237" y="170019"/>
            <a:ext cx="7538719" cy="966177"/>
          </a:xfrm>
        </p:spPr>
        <p:txBody>
          <a:bodyPr>
            <a:normAutofit/>
          </a:bodyPr>
          <a:lstStyle/>
          <a:p>
            <a:r>
              <a:rPr lang="en-CA" sz="5400" b="1" dirty="0">
                <a:solidFill>
                  <a:srgbClr val="0070C0"/>
                </a:solidFill>
              </a:rPr>
              <a:t>Phase-Correct PWM Mode </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28382" y="954489"/>
            <a:ext cx="16047938" cy="1655708"/>
          </a:xfrm>
        </p:spPr>
        <p:txBody>
          <a:bodyPr>
            <a:noAutofit/>
          </a:bodyPr>
          <a:lstStyle/>
          <a:p>
            <a:pPr marL="0" indent="0">
              <a:buNone/>
            </a:pPr>
            <a:r>
              <a:rPr lang="en-CA" sz="3600" dirty="0">
                <a:solidFill>
                  <a:srgbClr val="000000"/>
                </a:solidFill>
              </a:rPr>
              <a:t>In Phase Correct PWM mode, the compare unit allows the generation of PWM waveforms on the OC0x pins. </a:t>
            </a:r>
            <a:r>
              <a:rPr lang="en-US" sz="3600" dirty="0">
                <a:solidFill>
                  <a:srgbClr val="00B0F0"/>
                </a:solidFill>
              </a:rPr>
              <a:t>Table 12.7 </a:t>
            </a:r>
            <a:r>
              <a:rPr lang="en-US" sz="3600" dirty="0"/>
              <a:t>shows the COM0B1:0 bit functionality when the WGM02:0 bits are set to Phase Correct PWM mode.</a:t>
            </a:r>
            <a:br>
              <a:rPr lang="en-CA" sz="3600" dirty="0"/>
            </a:br>
            <a:br>
              <a:rPr lang="en-CA" sz="3600" dirty="0"/>
            </a:br>
            <a:endParaRPr lang="en-US" sz="3600" dirty="0"/>
          </a:p>
        </p:txBody>
      </p:sp>
      <p:pic>
        <p:nvPicPr>
          <p:cNvPr id="5" name="Picture 4"/>
          <p:cNvPicPr>
            <a:picLocks noChangeAspect="1"/>
          </p:cNvPicPr>
          <p:nvPr/>
        </p:nvPicPr>
        <p:blipFill rotWithShape="1">
          <a:blip r:embed="rId2"/>
          <a:srcRect l="1084" t="22405" r="1545" b="2498"/>
          <a:stretch/>
        </p:blipFill>
        <p:spPr>
          <a:xfrm>
            <a:off x="282633" y="2610197"/>
            <a:ext cx="15993687" cy="5220394"/>
          </a:xfrm>
          <a:prstGeom prst="rect">
            <a:avLst/>
          </a:prstGeom>
        </p:spPr>
      </p:pic>
      <p:sp>
        <p:nvSpPr>
          <p:cNvPr id="4" name="Date Placeholder 3"/>
          <p:cNvSpPr>
            <a:spLocks noGrp="1"/>
          </p:cNvSpPr>
          <p:nvPr>
            <p:ph type="dt" sz="half" idx="10"/>
          </p:nvPr>
        </p:nvSpPr>
        <p:spPr/>
        <p:txBody>
          <a:bodyPr/>
          <a:lstStyle/>
          <a:p>
            <a:fld id="{44DFD210-9651-4D12-BB20-7580E4A768FD}"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22</a:t>
            </a:fld>
            <a:endParaRPr lang="en-US" dirty="0"/>
          </a:p>
        </p:txBody>
      </p:sp>
      <p:sp>
        <p:nvSpPr>
          <p:cNvPr id="8" name="TextBox 7">
            <a:extLst>
              <a:ext uri="{FF2B5EF4-FFF2-40B4-BE49-F238E27FC236}">
                <a16:creationId xmlns:a16="http://schemas.microsoft.com/office/drawing/2014/main" id="{4B10C64A-BC51-738E-60C1-BFAA0ED40D6B}"/>
              </a:ext>
            </a:extLst>
          </p:cNvPr>
          <p:cNvSpPr txBox="1"/>
          <p:nvPr/>
        </p:nvSpPr>
        <p:spPr>
          <a:xfrm>
            <a:off x="934705" y="5643274"/>
            <a:ext cx="3557073" cy="769441"/>
          </a:xfrm>
          <a:prstGeom prst="rect">
            <a:avLst/>
          </a:prstGeom>
          <a:noFill/>
          <a:ln w="57150">
            <a:solidFill>
              <a:srgbClr val="00B0F0"/>
            </a:solidFill>
            <a:prstDash val="sysDash"/>
          </a:ln>
        </p:spPr>
        <p:txBody>
          <a:bodyPr wrap="square" rtlCol="0">
            <a:spAutoFit/>
          </a:bodyPr>
          <a:lstStyle/>
          <a:p>
            <a:endParaRPr lang="en-US" sz="4400" dirty="0"/>
          </a:p>
        </p:txBody>
      </p:sp>
      <p:cxnSp>
        <p:nvCxnSpPr>
          <p:cNvPr id="9" name="Straight Connector 8">
            <a:extLst>
              <a:ext uri="{FF2B5EF4-FFF2-40B4-BE49-F238E27FC236}">
                <a16:creationId xmlns:a16="http://schemas.microsoft.com/office/drawing/2014/main" id="{ABE80D55-6BDB-C6CE-0F9B-F483259EFB4F}"/>
              </a:ext>
            </a:extLst>
          </p:cNvPr>
          <p:cNvCxnSpPr>
            <a:cxnSpLocks/>
          </p:cNvCxnSpPr>
          <p:nvPr/>
        </p:nvCxnSpPr>
        <p:spPr>
          <a:xfrm>
            <a:off x="5299458" y="6060872"/>
            <a:ext cx="4731646"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638D83B-CA78-2382-B6CF-61414C850B11}"/>
              </a:ext>
            </a:extLst>
          </p:cNvPr>
          <p:cNvSpPr txBox="1"/>
          <p:nvPr/>
        </p:nvSpPr>
        <p:spPr>
          <a:xfrm>
            <a:off x="934705" y="6770607"/>
            <a:ext cx="3557073" cy="769441"/>
          </a:xfrm>
          <a:prstGeom prst="rect">
            <a:avLst/>
          </a:prstGeom>
          <a:noFill/>
          <a:ln w="57150">
            <a:solidFill>
              <a:srgbClr val="00B050"/>
            </a:solidFill>
            <a:prstDash val="sysDash"/>
          </a:ln>
        </p:spPr>
        <p:txBody>
          <a:bodyPr wrap="square" rtlCol="0">
            <a:spAutoFit/>
          </a:bodyPr>
          <a:lstStyle/>
          <a:p>
            <a:endParaRPr lang="en-US" sz="4400" dirty="0"/>
          </a:p>
        </p:txBody>
      </p:sp>
      <p:cxnSp>
        <p:nvCxnSpPr>
          <p:cNvPr id="11" name="Straight Connector 10">
            <a:extLst>
              <a:ext uri="{FF2B5EF4-FFF2-40B4-BE49-F238E27FC236}">
                <a16:creationId xmlns:a16="http://schemas.microsoft.com/office/drawing/2014/main" id="{43CD97F0-0B31-D0EF-CD49-A3B11F28A1F3}"/>
              </a:ext>
            </a:extLst>
          </p:cNvPr>
          <p:cNvCxnSpPr>
            <a:cxnSpLocks/>
          </p:cNvCxnSpPr>
          <p:nvPr/>
        </p:nvCxnSpPr>
        <p:spPr>
          <a:xfrm>
            <a:off x="5250120" y="7257388"/>
            <a:ext cx="448346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C4C6E06-0321-B4BF-8A07-FCD1DFFEA5E2}"/>
              </a:ext>
            </a:extLst>
          </p:cNvPr>
          <p:cNvSpPr txBox="1"/>
          <p:nvPr/>
        </p:nvSpPr>
        <p:spPr>
          <a:xfrm>
            <a:off x="11003162" y="6019927"/>
            <a:ext cx="4521333" cy="523220"/>
          </a:xfrm>
          <a:prstGeom prst="rect">
            <a:avLst/>
          </a:prstGeom>
          <a:noFill/>
        </p:spPr>
        <p:txBody>
          <a:bodyPr wrap="square">
            <a:spAutoFit/>
          </a:bodyPr>
          <a:lstStyle/>
          <a:p>
            <a:r>
              <a:rPr lang="en-CA" sz="2800" b="1" dirty="0">
                <a:solidFill>
                  <a:srgbClr val="00B0F0"/>
                </a:solidFill>
              </a:rPr>
              <a:t>Non-inverted PWM Output</a:t>
            </a:r>
            <a:endParaRPr lang="en-US" sz="2800" b="1" dirty="0"/>
          </a:p>
        </p:txBody>
      </p:sp>
      <p:sp>
        <p:nvSpPr>
          <p:cNvPr id="14" name="TextBox 13">
            <a:extLst>
              <a:ext uri="{FF2B5EF4-FFF2-40B4-BE49-F238E27FC236}">
                <a16:creationId xmlns:a16="http://schemas.microsoft.com/office/drawing/2014/main" id="{AC05B87A-6AD0-1D50-6629-E46FDA53C805}"/>
              </a:ext>
            </a:extLst>
          </p:cNvPr>
          <p:cNvSpPr txBox="1"/>
          <p:nvPr/>
        </p:nvSpPr>
        <p:spPr>
          <a:xfrm>
            <a:off x="11003162" y="7242312"/>
            <a:ext cx="3900193" cy="523220"/>
          </a:xfrm>
          <a:prstGeom prst="rect">
            <a:avLst/>
          </a:prstGeom>
          <a:noFill/>
        </p:spPr>
        <p:txBody>
          <a:bodyPr wrap="square">
            <a:spAutoFit/>
          </a:bodyPr>
          <a:lstStyle/>
          <a:p>
            <a:r>
              <a:rPr lang="en-CA" sz="2800" b="1" dirty="0">
                <a:solidFill>
                  <a:srgbClr val="00B050"/>
                </a:solidFill>
              </a:rPr>
              <a:t>Inverted PWM Output</a:t>
            </a:r>
            <a:endParaRPr lang="en-US" sz="2800" b="1" dirty="0">
              <a:solidFill>
                <a:srgbClr val="00B050"/>
              </a:solidFill>
            </a:endParaRPr>
          </a:p>
        </p:txBody>
      </p:sp>
    </p:spTree>
    <p:extLst>
      <p:ext uri="{BB962C8B-B14F-4D97-AF65-F5344CB8AC3E}">
        <p14:creationId xmlns:p14="http://schemas.microsoft.com/office/powerpoint/2010/main" val="958274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heel(1)">
                                      <p:cBhvr>
                                        <p:cTn id="16" dur="2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circle(in)">
                                      <p:cBhvr>
                                        <p:cTn id="21" dur="20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heel(1)">
                                      <p:cBhvr>
                                        <p:cTn id="32" dur="20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circle(in)">
                                      <p:cBhvr>
                                        <p:cTn id="37" dur="20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1+#ppt_w/2"/>
                                          </p:val>
                                        </p:tav>
                                        <p:tav tm="100000">
                                          <p:val>
                                            <p:strVal val="#ppt_x"/>
                                          </p:val>
                                        </p:tav>
                                      </p:tavLst>
                                    </p:anim>
                                    <p:anim calcmode="lin" valueType="num">
                                      <p:cBhvr additive="base">
                                        <p:cTn id="43"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87237" y="170019"/>
            <a:ext cx="7538719" cy="966177"/>
          </a:xfrm>
        </p:spPr>
        <p:txBody>
          <a:bodyPr>
            <a:normAutofit/>
          </a:bodyPr>
          <a:lstStyle/>
          <a:p>
            <a:r>
              <a:rPr lang="en-CA" sz="5400" b="1" dirty="0">
                <a:solidFill>
                  <a:srgbClr val="0070C0"/>
                </a:solidFill>
              </a:rPr>
              <a:t>Phase-Correct PWM Mode </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28382" y="954488"/>
            <a:ext cx="16047938" cy="3784939"/>
          </a:xfrm>
        </p:spPr>
        <p:txBody>
          <a:bodyPr>
            <a:noAutofit/>
          </a:bodyPr>
          <a:lstStyle/>
          <a:p>
            <a:r>
              <a:rPr lang="en-CA" sz="3600" dirty="0"/>
              <a:t>In phase-correct PWM mode, the compare unit allows the generation of PWM waveforms on the OC0x pins. Setting the COM0x1:0 bits to </a:t>
            </a:r>
            <a:r>
              <a:rPr lang="en-CA" sz="3600" b="1" dirty="0">
                <a:solidFill>
                  <a:srgbClr val="00B0F0"/>
                </a:solidFill>
              </a:rPr>
              <a:t>10</a:t>
            </a:r>
            <a:r>
              <a:rPr lang="en-CA" sz="3600" dirty="0"/>
              <a:t> will produce a </a:t>
            </a:r>
            <a:r>
              <a:rPr lang="en-CA" sz="3600" dirty="0">
                <a:solidFill>
                  <a:srgbClr val="00B0F0"/>
                </a:solidFill>
              </a:rPr>
              <a:t>non-inverted PWM output signal</a:t>
            </a:r>
            <a:r>
              <a:rPr lang="en-CA" sz="3600" dirty="0"/>
              <a:t>. </a:t>
            </a:r>
          </a:p>
          <a:p>
            <a:r>
              <a:rPr lang="en-CA" sz="3600" dirty="0"/>
              <a:t>An </a:t>
            </a:r>
            <a:r>
              <a:rPr lang="en-CA" sz="3600" dirty="0">
                <a:solidFill>
                  <a:srgbClr val="00B050"/>
                </a:solidFill>
              </a:rPr>
              <a:t>inverted PWM output signal</a:t>
            </a:r>
            <a:r>
              <a:rPr lang="en-CA" sz="3600" dirty="0"/>
              <a:t> can be generated by setting the COM0x1:0 to </a:t>
            </a:r>
            <a:r>
              <a:rPr lang="en-CA" sz="3600" b="1" dirty="0">
                <a:solidFill>
                  <a:srgbClr val="00B050"/>
                </a:solidFill>
              </a:rPr>
              <a:t>11</a:t>
            </a:r>
            <a:r>
              <a:rPr lang="en-CA" sz="3600" dirty="0"/>
              <a:t>.</a:t>
            </a:r>
          </a:p>
          <a:p>
            <a:r>
              <a:rPr lang="en-CA" sz="3600" dirty="0"/>
              <a:t>Setting the COM0A0 bits to </a:t>
            </a:r>
            <a:r>
              <a:rPr lang="en-CA" sz="3600" b="1" dirty="0">
                <a:solidFill>
                  <a:srgbClr val="00B050"/>
                </a:solidFill>
              </a:rPr>
              <a:t>01</a:t>
            </a:r>
            <a:r>
              <a:rPr lang="en-CA" sz="3600" dirty="0"/>
              <a:t> allows the </a:t>
            </a:r>
            <a:r>
              <a:rPr lang="en-CA" sz="3600" dirty="0">
                <a:solidFill>
                  <a:srgbClr val="00B050"/>
                </a:solidFill>
              </a:rPr>
              <a:t>OC0A pin </a:t>
            </a:r>
            <a:r>
              <a:rPr lang="en-CA" sz="3600" dirty="0"/>
              <a:t>to toggle on Compare Matches if the WGM02 bit is set. This option is not available for the OC0B pin (</a:t>
            </a:r>
            <a:r>
              <a:rPr lang="en-CA" sz="3600" dirty="0">
                <a:solidFill>
                  <a:srgbClr val="00B0F0"/>
                </a:solidFill>
              </a:rPr>
              <a:t>Table 12-7</a:t>
            </a:r>
            <a:r>
              <a:rPr lang="en-CA" sz="3600" dirty="0"/>
              <a:t>). </a:t>
            </a:r>
            <a:br>
              <a:rPr lang="en-CA" sz="3600" dirty="0"/>
            </a:br>
            <a:br>
              <a:rPr lang="en-CA" sz="3600" dirty="0"/>
            </a:br>
            <a:endParaRPr lang="en-US" sz="3600" dirty="0"/>
          </a:p>
        </p:txBody>
      </p:sp>
      <p:sp>
        <p:nvSpPr>
          <p:cNvPr id="4" name="Date Placeholder 3"/>
          <p:cNvSpPr>
            <a:spLocks noGrp="1"/>
          </p:cNvSpPr>
          <p:nvPr>
            <p:ph type="dt" sz="half" idx="10"/>
          </p:nvPr>
        </p:nvSpPr>
        <p:spPr/>
        <p:txBody>
          <a:bodyPr/>
          <a:lstStyle/>
          <a:p>
            <a:fld id="{44DFD210-9651-4D12-BB20-7580E4A768FD}"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23</a:t>
            </a:fld>
            <a:endParaRPr lang="en-US" dirty="0"/>
          </a:p>
        </p:txBody>
      </p:sp>
      <p:pic>
        <p:nvPicPr>
          <p:cNvPr id="8" name="Picture 7">
            <a:extLst>
              <a:ext uri="{FF2B5EF4-FFF2-40B4-BE49-F238E27FC236}">
                <a16:creationId xmlns:a16="http://schemas.microsoft.com/office/drawing/2014/main" id="{98C93BA3-2DEF-47DC-9D6A-26CB3E39311E}"/>
              </a:ext>
            </a:extLst>
          </p:cNvPr>
          <p:cNvPicPr>
            <a:picLocks noChangeAspect="1"/>
          </p:cNvPicPr>
          <p:nvPr/>
        </p:nvPicPr>
        <p:blipFill rotWithShape="1">
          <a:blip r:embed="rId2">
            <a:duotone>
              <a:schemeClr val="accent5">
                <a:shade val="45000"/>
                <a:satMod val="135000"/>
              </a:schemeClr>
              <a:prstClr val="white"/>
            </a:duotone>
          </a:blip>
          <a:srcRect l="1229" t="8730" r="1053" b="6084"/>
          <a:stretch/>
        </p:blipFill>
        <p:spPr>
          <a:xfrm>
            <a:off x="503511" y="4316403"/>
            <a:ext cx="13772008" cy="1801764"/>
          </a:xfrm>
          <a:prstGeom prst="rect">
            <a:avLst/>
          </a:prstGeom>
        </p:spPr>
      </p:pic>
      <p:pic>
        <p:nvPicPr>
          <p:cNvPr id="9" name="Picture 8">
            <a:extLst>
              <a:ext uri="{FF2B5EF4-FFF2-40B4-BE49-F238E27FC236}">
                <a16:creationId xmlns:a16="http://schemas.microsoft.com/office/drawing/2014/main" id="{EA47A922-FE95-43B1-B54F-C731DC1014D3}"/>
              </a:ext>
            </a:extLst>
          </p:cNvPr>
          <p:cNvPicPr>
            <a:picLocks noChangeAspect="1"/>
          </p:cNvPicPr>
          <p:nvPr/>
        </p:nvPicPr>
        <p:blipFill rotWithShape="1">
          <a:blip r:embed="rId3">
            <a:duotone>
              <a:schemeClr val="accent6">
                <a:shade val="45000"/>
                <a:satMod val="135000"/>
              </a:schemeClr>
              <a:prstClr val="white"/>
            </a:duotone>
          </a:blip>
          <a:srcRect l="1133" t="9685" r="1249" b="6629"/>
          <a:stretch/>
        </p:blipFill>
        <p:spPr>
          <a:xfrm>
            <a:off x="536762" y="6251170"/>
            <a:ext cx="13762600" cy="1685089"/>
          </a:xfrm>
          <a:prstGeom prst="rect">
            <a:avLst/>
          </a:prstGeom>
        </p:spPr>
      </p:pic>
    </p:spTree>
    <p:extLst>
      <p:ext uri="{BB962C8B-B14F-4D97-AF65-F5344CB8AC3E}">
        <p14:creationId xmlns:p14="http://schemas.microsoft.com/office/powerpoint/2010/main" val="253588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224680"/>
            <a:ext cx="7538719" cy="905851"/>
          </a:xfrm>
        </p:spPr>
        <p:txBody>
          <a:bodyPr>
            <a:normAutofit/>
          </a:bodyPr>
          <a:lstStyle/>
          <a:p>
            <a:r>
              <a:rPr lang="en-CA" sz="5400" b="1" dirty="0">
                <a:solidFill>
                  <a:srgbClr val="0070C0"/>
                </a:solidFill>
              </a:rPr>
              <a:t>Phase-Correct PWM Mode </a:t>
            </a:r>
            <a:endParaRPr lang="en-US" sz="5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50806" y="966754"/>
                <a:ext cx="15992263" cy="7038166"/>
              </a:xfrm>
            </p:spPr>
            <p:txBody>
              <a:bodyPr>
                <a:noAutofit/>
              </a:bodyPr>
              <a:lstStyle/>
              <a:p>
                <a:pPr>
                  <a:lnSpc>
                    <a:spcPct val="100000"/>
                  </a:lnSpc>
                  <a:spcBef>
                    <a:spcPts val="0"/>
                  </a:spcBef>
                  <a:spcAft>
                    <a:spcPts val="600"/>
                  </a:spcAft>
                  <a:buClrTx/>
                </a:pPr>
                <a:r>
                  <a:rPr lang="en-CA" sz="3600" dirty="0"/>
                  <a:t>The PWM waveform is generated by clearing (or setting) the OC0x Register at the compare match between OCR0x and TCNT0 when the counter increments, and setting (or clearing) the OC0x Register at compare match between OCR0x and TCNT0 when the counter decrements. </a:t>
                </a:r>
              </a:p>
              <a:p>
                <a:pPr>
                  <a:lnSpc>
                    <a:spcPct val="100000"/>
                  </a:lnSpc>
                  <a:spcBef>
                    <a:spcPts val="0"/>
                  </a:spcBef>
                  <a:spcAft>
                    <a:spcPts val="600"/>
                  </a:spcAft>
                  <a:buClrTx/>
                </a:pPr>
                <a:r>
                  <a:rPr lang="en-CA" sz="3600" dirty="0"/>
                  <a:t>The PWM frequency for the output when using phase correct PWM can be calculated by the following equation:</a:t>
                </a:r>
              </a:p>
              <a:p>
                <a:pPr marL="0" indent="0">
                  <a:lnSpc>
                    <a:spcPct val="100000"/>
                  </a:lnSpc>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3200" b="1" i="1">
                              <a:latin typeface="Cambria Math" panose="02040503050406030204" pitchFamily="18" charset="0"/>
                            </a:rPr>
                          </m:ctrlPr>
                        </m:sSubPr>
                        <m:e>
                          <m:r>
                            <a:rPr lang="en-US" sz="3200" b="1" i="1">
                              <a:latin typeface="Cambria Math" panose="02040503050406030204" pitchFamily="18" charset="0"/>
                            </a:rPr>
                            <m:t>𝒇</m:t>
                          </m:r>
                        </m:e>
                        <m:sub>
                          <m:r>
                            <a:rPr lang="en-US" sz="3200" b="1" i="1">
                              <a:latin typeface="Cambria Math" panose="02040503050406030204" pitchFamily="18" charset="0"/>
                            </a:rPr>
                            <m:t>𝑶𝑪𝒏𝒙</m:t>
                          </m:r>
                          <m:r>
                            <a:rPr lang="en-US" sz="3200" b="1" i="1" smtClean="0">
                              <a:latin typeface="Cambria Math" panose="02040503050406030204" pitchFamily="18" charset="0"/>
                            </a:rPr>
                            <m:t>𝑷𝑪</m:t>
                          </m:r>
                          <m:r>
                            <a:rPr lang="en-US" sz="3200" b="1" i="1">
                              <a:latin typeface="Cambria Math" panose="02040503050406030204" pitchFamily="18" charset="0"/>
                            </a:rPr>
                            <m:t>𝑷𝑾𝑴</m:t>
                          </m:r>
                          <m:r>
                            <a:rPr lang="en-US" sz="3200" b="1" i="1" smtClean="0">
                              <a:latin typeface="Cambria Math" panose="02040503050406030204" pitchFamily="18" charset="0"/>
                            </a:rPr>
                            <m:t>𝟏</m:t>
                          </m:r>
                        </m:sub>
                      </m:sSub>
                      <m:r>
                        <a:rPr lang="en-US" sz="3200" b="1" i="1">
                          <a:latin typeface="Cambria Math" panose="02040503050406030204" pitchFamily="18" charset="0"/>
                        </a:rPr>
                        <m:t>=</m:t>
                      </m:r>
                      <m:f>
                        <m:fPr>
                          <m:ctrlPr>
                            <a:rPr lang="en-US" sz="3200" b="1" i="1">
                              <a:latin typeface="Cambria Math" panose="02040503050406030204" pitchFamily="18" charset="0"/>
                            </a:rPr>
                          </m:ctrlPr>
                        </m:fPr>
                        <m:num>
                          <m:sSub>
                            <m:sSubPr>
                              <m:ctrlPr>
                                <a:rPr lang="en-US" sz="3200" b="1" i="1">
                                  <a:latin typeface="Cambria Math" panose="02040503050406030204" pitchFamily="18" charset="0"/>
                                </a:rPr>
                              </m:ctrlPr>
                            </m:sSubPr>
                            <m:e>
                              <m:r>
                                <a:rPr lang="en-US" sz="3200" b="1" i="1">
                                  <a:latin typeface="Cambria Math" panose="02040503050406030204" pitchFamily="18" charset="0"/>
                                </a:rPr>
                                <m:t>𝒇</m:t>
                              </m:r>
                            </m:e>
                            <m:sub>
                              <m:r>
                                <a:rPr lang="en-US" sz="3200" b="1" i="1">
                                  <a:latin typeface="Cambria Math" panose="02040503050406030204" pitchFamily="18" charset="0"/>
                                </a:rPr>
                                <m:t>𝒄𝒍𝒌</m:t>
                              </m:r>
                              <m:r>
                                <a:rPr lang="en-US" sz="3200" b="1" i="1">
                                  <a:latin typeface="Cambria Math" panose="02040503050406030204" pitchFamily="18" charset="0"/>
                                </a:rPr>
                                <m:t>_</m:t>
                              </m:r>
                              <m:r>
                                <a:rPr lang="en-US" sz="3200" b="1" i="1">
                                  <a:latin typeface="Cambria Math" panose="02040503050406030204" pitchFamily="18" charset="0"/>
                                </a:rPr>
                                <m:t>𝑰𝑶</m:t>
                              </m:r>
                            </m:sub>
                          </m:sSub>
                        </m:num>
                        <m:den>
                          <m:r>
                            <a:rPr lang="en-US" sz="3200" b="1" i="1">
                              <a:latin typeface="Cambria Math" panose="02040503050406030204" pitchFamily="18" charset="0"/>
                            </a:rPr>
                            <m:t>𝑵</m:t>
                          </m:r>
                          <m:r>
                            <a:rPr lang="en-US" sz="3200" b="1" i="1">
                              <a:latin typeface="Cambria Math" panose="02040503050406030204" pitchFamily="18" charset="0"/>
                              <a:ea typeface="Cambria Math" panose="02040503050406030204" pitchFamily="18" charset="0"/>
                            </a:rPr>
                            <m:t>×</m:t>
                          </m:r>
                          <m:r>
                            <a:rPr lang="en-US" sz="3200" b="1" i="1">
                              <a:latin typeface="Cambria Math" panose="02040503050406030204" pitchFamily="18" charset="0"/>
                              <a:ea typeface="Cambria Math" panose="02040503050406030204" pitchFamily="18" charset="0"/>
                            </a:rPr>
                            <m:t>𝟓𝟏𝟎</m:t>
                          </m:r>
                        </m:den>
                      </m:f>
                      <m:r>
                        <a:rPr lang="en-US" sz="3200" b="1" i="1" smtClean="0">
                          <a:latin typeface="Cambria Math" panose="02040503050406030204" pitchFamily="18" charset="0"/>
                          <a:ea typeface="Cambria Math" panose="02040503050406030204" pitchFamily="18" charset="0"/>
                        </a:rPr>
                        <m:t>;</m:t>
                      </m:r>
                      <m:r>
                        <m:rPr>
                          <m:nor/>
                        </m:rPr>
                        <a:rPr lang="en-US" sz="3200" dirty="0">
                          <a:solidFill>
                            <a:srgbClr val="000000"/>
                          </a:solidFill>
                        </a:rPr>
                        <m:t>if</m:t>
                      </m:r>
                      <m:r>
                        <m:rPr>
                          <m:nor/>
                        </m:rPr>
                        <a:rPr lang="en-US" sz="3200" dirty="0">
                          <a:solidFill>
                            <a:srgbClr val="000000"/>
                          </a:solidFill>
                        </a:rPr>
                        <m:t> </m:t>
                      </m:r>
                      <m:r>
                        <m:rPr>
                          <m:nor/>
                        </m:rPr>
                        <a:rPr lang="en-US" sz="3200" b="1" dirty="0">
                          <a:solidFill>
                            <a:srgbClr val="FF0000"/>
                          </a:solidFill>
                        </a:rPr>
                        <m:t>TOP</m:t>
                      </m:r>
                      <m:r>
                        <m:rPr>
                          <m:nor/>
                        </m:rPr>
                        <a:rPr lang="en-US" sz="3200" b="1" dirty="0">
                          <a:solidFill>
                            <a:srgbClr val="FF0000"/>
                          </a:solidFill>
                        </a:rPr>
                        <m:t> = 0</m:t>
                      </m:r>
                      <m:r>
                        <m:rPr>
                          <m:nor/>
                        </m:rPr>
                        <a:rPr lang="en-US" sz="3200" b="1" dirty="0">
                          <a:solidFill>
                            <a:srgbClr val="FF0000"/>
                          </a:solidFill>
                        </a:rPr>
                        <m:t>xFF</m:t>
                      </m:r>
                      <m:r>
                        <m:rPr>
                          <m:nor/>
                        </m:rPr>
                        <a:rPr lang="en-US" sz="3200" b="1" dirty="0">
                          <a:solidFill>
                            <a:srgbClr val="FF0000"/>
                          </a:solidFill>
                        </a:rPr>
                        <m:t> (</m:t>
                      </m:r>
                      <m:r>
                        <m:rPr>
                          <m:nor/>
                        </m:rPr>
                        <a:rPr lang="en-US" sz="3200" b="1" dirty="0">
                          <a:solidFill>
                            <a:srgbClr val="FF0000"/>
                          </a:solidFill>
                        </a:rPr>
                        <m:t>Phase</m:t>
                      </m:r>
                      <m:r>
                        <m:rPr>
                          <m:nor/>
                        </m:rPr>
                        <a:rPr lang="en-US" sz="3200" b="1" dirty="0">
                          <a:solidFill>
                            <a:srgbClr val="FF0000"/>
                          </a:solidFill>
                        </a:rPr>
                        <m:t>−</m:t>
                      </m:r>
                      <m:r>
                        <m:rPr>
                          <m:nor/>
                        </m:rPr>
                        <a:rPr lang="en-US" sz="3200" b="1" dirty="0">
                          <a:solidFill>
                            <a:srgbClr val="FF0000"/>
                          </a:solidFill>
                        </a:rPr>
                        <m:t>Correct</m:t>
                      </m:r>
                      <m:r>
                        <m:rPr>
                          <m:nor/>
                        </m:rPr>
                        <a:rPr lang="en-US" sz="3200" b="1" dirty="0">
                          <a:solidFill>
                            <a:srgbClr val="FF0000"/>
                          </a:solidFill>
                        </a:rPr>
                        <m:t> </m:t>
                      </m:r>
                      <m:r>
                        <m:rPr>
                          <m:nor/>
                        </m:rPr>
                        <a:rPr lang="en-US" sz="3200" b="1" dirty="0">
                          <a:solidFill>
                            <a:srgbClr val="FF0000"/>
                          </a:solidFill>
                        </a:rPr>
                        <m:t>mode</m:t>
                      </m:r>
                      <m:r>
                        <m:rPr>
                          <m:nor/>
                        </m:rPr>
                        <a:rPr lang="en-US" sz="3200" b="1" dirty="0">
                          <a:solidFill>
                            <a:srgbClr val="FF0000"/>
                          </a:solidFill>
                        </a:rPr>
                        <m:t> 1)</m:t>
                      </m:r>
                    </m:oMath>
                  </m:oMathPara>
                </a14:m>
                <a:endParaRPr lang="en-CA" sz="3600" dirty="0"/>
              </a:p>
              <a:p>
                <a:pPr>
                  <a:lnSpc>
                    <a:spcPct val="100000"/>
                  </a:lnSpc>
                  <a:spcBef>
                    <a:spcPts val="0"/>
                  </a:spcBef>
                  <a:spcAft>
                    <a:spcPts val="600"/>
                  </a:spcAft>
                  <a:buClrTx/>
                </a:pPr>
                <a:r>
                  <a:rPr lang="en-CA" sz="3600" dirty="0"/>
                  <a:t>The </a:t>
                </a:r>
                <a:r>
                  <a:rPr lang="en-CA" sz="3600" i="1" dirty="0"/>
                  <a:t>N</a:t>
                </a:r>
                <a:r>
                  <a:rPr lang="en-CA" sz="3600" dirty="0"/>
                  <a:t> variable represents the pre-scale factor (1, 8, 64, 256, or 1024).</a:t>
                </a:r>
              </a:p>
              <a:p>
                <a:pPr>
                  <a:lnSpc>
                    <a:spcPct val="100000"/>
                  </a:lnSpc>
                  <a:spcBef>
                    <a:spcPts val="0"/>
                  </a:spcBef>
                  <a:spcAft>
                    <a:spcPts val="600"/>
                  </a:spcAft>
                  <a:buClrTx/>
                </a:pPr>
                <a:r>
                  <a:rPr lang="en-CA" sz="3600" dirty="0"/>
                  <a:t>The waveform generated will have a maximum frequency of </a:t>
                </a:r>
                <a14:m>
                  <m:oMath xmlns:m="http://schemas.openxmlformats.org/officeDocument/2006/math">
                    <m:sSub>
                      <m:sSubPr>
                        <m:ctrlPr>
                          <a:rPr lang="en-US" sz="3200" b="1" i="1">
                            <a:latin typeface="Cambria Math" panose="02040503050406030204" pitchFamily="18" charset="0"/>
                          </a:rPr>
                        </m:ctrlPr>
                      </m:sSubPr>
                      <m:e>
                        <m:r>
                          <a:rPr lang="en-US" sz="3200" b="1" i="1">
                            <a:latin typeface="Cambria Math" panose="02040503050406030204" pitchFamily="18" charset="0"/>
                          </a:rPr>
                          <m:t>𝒇</m:t>
                        </m:r>
                      </m:e>
                      <m:sub>
                        <m:r>
                          <a:rPr lang="en-US" sz="3200" b="1" i="1">
                            <a:latin typeface="Cambria Math" panose="02040503050406030204" pitchFamily="18" charset="0"/>
                          </a:rPr>
                          <m:t>𝑶𝑪</m:t>
                        </m:r>
                        <m:r>
                          <a:rPr lang="en-US" sz="3200" b="1" i="1" smtClean="0">
                            <a:latin typeface="Cambria Math" panose="02040503050406030204" pitchFamily="18" charset="0"/>
                          </a:rPr>
                          <m:t>𝟎</m:t>
                        </m:r>
                        <m:r>
                          <a:rPr lang="en-US" sz="3200" b="1" i="1" smtClean="0">
                            <a:latin typeface="Cambria Math" panose="02040503050406030204" pitchFamily="18" charset="0"/>
                          </a:rPr>
                          <m:t>,</m:t>
                        </m:r>
                        <m:r>
                          <a:rPr lang="en-US" sz="3200" b="1" i="1" smtClean="0">
                            <a:latin typeface="Cambria Math" panose="02040503050406030204" pitchFamily="18" charset="0"/>
                          </a:rPr>
                          <m:t>𝒎𝒂𝒙</m:t>
                        </m:r>
                      </m:sub>
                    </m:sSub>
                    <m:r>
                      <a:rPr lang="en-US" sz="3200" b="1" i="1">
                        <a:latin typeface="Cambria Math" panose="02040503050406030204" pitchFamily="18" charset="0"/>
                      </a:rPr>
                      <m:t>=</m:t>
                    </m:r>
                    <m:sSub>
                      <m:sSubPr>
                        <m:ctrlPr>
                          <a:rPr lang="en-US" sz="3200" b="1" i="1">
                            <a:latin typeface="Cambria Math" panose="02040503050406030204" pitchFamily="18" charset="0"/>
                          </a:rPr>
                        </m:ctrlPr>
                      </m:sSubPr>
                      <m:e>
                        <m:r>
                          <a:rPr lang="en-US" sz="3200" b="1" i="1">
                            <a:latin typeface="Cambria Math" panose="02040503050406030204" pitchFamily="18" charset="0"/>
                          </a:rPr>
                          <m:t>𝒇</m:t>
                        </m:r>
                      </m:e>
                      <m:sub>
                        <m:r>
                          <a:rPr lang="en-US" sz="3200" b="1" i="1">
                            <a:latin typeface="Cambria Math" panose="02040503050406030204" pitchFamily="18" charset="0"/>
                          </a:rPr>
                          <m:t>𝒄𝒍𝒌</m:t>
                        </m:r>
                        <m:r>
                          <a:rPr lang="en-US" sz="3200" b="1" i="1">
                            <a:latin typeface="Cambria Math" panose="02040503050406030204" pitchFamily="18" charset="0"/>
                          </a:rPr>
                          <m:t>_</m:t>
                        </m:r>
                        <m:r>
                          <a:rPr lang="en-US" sz="3200" b="1" i="1">
                            <a:latin typeface="Cambria Math" panose="02040503050406030204" pitchFamily="18" charset="0"/>
                          </a:rPr>
                          <m:t>𝑰𝑶</m:t>
                        </m:r>
                      </m:sub>
                    </m:sSub>
                  </m:oMath>
                </a14:m>
                <a:r>
                  <a:rPr lang="en-CA" sz="3600" dirty="0">
                    <a:solidFill>
                      <a:srgbClr val="000000"/>
                    </a:solidFill>
                  </a:rPr>
                  <a:t> when OCR0A is </a:t>
                </a:r>
                <a:r>
                  <a:rPr lang="en-CA" sz="3600" b="1" dirty="0">
                    <a:solidFill>
                      <a:schemeClr val="accent2">
                        <a:lumMod val="75000"/>
                      </a:schemeClr>
                    </a:solidFill>
                  </a:rPr>
                  <a:t>set to zero</a:t>
                </a:r>
                <a:r>
                  <a:rPr lang="en-CA" sz="3600" dirty="0">
                    <a:solidFill>
                      <a:srgbClr val="000000"/>
                    </a:solidFill>
                  </a:rPr>
                  <a:t>, otherwise the formula would be, </a:t>
                </a:r>
                <a14:m>
                  <m:oMath xmlns:m="http://schemas.openxmlformats.org/officeDocument/2006/math">
                    <m:sSub>
                      <m:sSubPr>
                        <m:ctrlPr>
                          <a:rPr lang="en-US" sz="3200" b="1" i="1">
                            <a:latin typeface="Cambria Math" panose="02040503050406030204" pitchFamily="18" charset="0"/>
                          </a:rPr>
                        </m:ctrlPr>
                      </m:sSubPr>
                      <m:e>
                        <m:r>
                          <a:rPr lang="en-US" sz="3200" b="1" i="1">
                            <a:latin typeface="Cambria Math" panose="02040503050406030204" pitchFamily="18" charset="0"/>
                          </a:rPr>
                          <m:t>𝒇</m:t>
                        </m:r>
                      </m:e>
                      <m:sub>
                        <m:r>
                          <a:rPr lang="en-US" sz="3200" b="1" i="1">
                            <a:latin typeface="Cambria Math" panose="02040503050406030204" pitchFamily="18" charset="0"/>
                          </a:rPr>
                          <m:t>𝑶𝑪</m:t>
                        </m:r>
                        <m:r>
                          <a:rPr lang="en-US" sz="3200" b="1" i="1">
                            <a:latin typeface="Cambria Math" panose="02040503050406030204" pitchFamily="18" charset="0"/>
                          </a:rPr>
                          <m:t>𝟎</m:t>
                        </m:r>
                        <m:r>
                          <a:rPr lang="en-US" sz="3200" b="1" i="1" smtClean="0">
                            <a:latin typeface="Cambria Math" panose="02040503050406030204" pitchFamily="18" charset="0"/>
                          </a:rPr>
                          <m:t>𝑨𝑷𝑪𝑷𝑾𝑴</m:t>
                        </m:r>
                        <m:r>
                          <a:rPr lang="en-US" sz="3200" b="1" i="1" smtClean="0">
                            <a:latin typeface="Cambria Math" panose="02040503050406030204" pitchFamily="18" charset="0"/>
                          </a:rPr>
                          <m:t>𝟓</m:t>
                        </m:r>
                      </m:sub>
                    </m:sSub>
                    <m:r>
                      <a:rPr lang="en-US" sz="3200" b="1" i="1">
                        <a:latin typeface="Cambria Math" panose="02040503050406030204" pitchFamily="18" charset="0"/>
                      </a:rPr>
                      <m:t>=</m:t>
                    </m:r>
                    <m:f>
                      <m:fPr>
                        <m:ctrlPr>
                          <a:rPr lang="en-US" sz="3200" b="1" i="1">
                            <a:latin typeface="Cambria Math" panose="02040503050406030204" pitchFamily="18" charset="0"/>
                          </a:rPr>
                        </m:ctrlPr>
                      </m:fPr>
                      <m:num>
                        <m:sSub>
                          <m:sSubPr>
                            <m:ctrlPr>
                              <a:rPr lang="en-US" sz="3200" b="1" i="1">
                                <a:latin typeface="Cambria Math" panose="02040503050406030204" pitchFamily="18" charset="0"/>
                              </a:rPr>
                            </m:ctrlPr>
                          </m:sSubPr>
                          <m:e>
                            <m:r>
                              <a:rPr lang="en-US" sz="3200" b="1" i="1">
                                <a:latin typeface="Cambria Math" panose="02040503050406030204" pitchFamily="18" charset="0"/>
                              </a:rPr>
                              <m:t>𝒇</m:t>
                            </m:r>
                          </m:e>
                          <m:sub>
                            <m:r>
                              <a:rPr lang="en-US" sz="3200" b="1" i="1">
                                <a:latin typeface="Cambria Math" panose="02040503050406030204" pitchFamily="18" charset="0"/>
                              </a:rPr>
                              <m:t>𝒄𝒍𝒌</m:t>
                            </m:r>
                            <m:r>
                              <a:rPr lang="en-US" sz="3200" b="1" i="1">
                                <a:latin typeface="Cambria Math" panose="02040503050406030204" pitchFamily="18" charset="0"/>
                              </a:rPr>
                              <m:t>_</m:t>
                            </m:r>
                            <m:r>
                              <a:rPr lang="en-US" sz="3200" b="1" i="1">
                                <a:latin typeface="Cambria Math" panose="02040503050406030204" pitchFamily="18" charset="0"/>
                              </a:rPr>
                              <m:t>𝑰𝑶</m:t>
                            </m:r>
                          </m:sub>
                        </m:sSub>
                      </m:num>
                      <m:den>
                        <m:r>
                          <a:rPr lang="en-US" sz="3200" b="1" i="1" smtClean="0">
                            <a:latin typeface="Cambria Math" panose="02040503050406030204" pitchFamily="18" charset="0"/>
                          </a:rPr>
                          <m:t>𝟐</m:t>
                        </m:r>
                        <m:r>
                          <a:rPr lang="en-US" sz="3200" b="1" i="1">
                            <a:latin typeface="Cambria Math" panose="02040503050406030204" pitchFamily="18" charset="0"/>
                            <a:ea typeface="Cambria Math" panose="02040503050406030204" pitchFamily="18" charset="0"/>
                          </a:rPr>
                          <m:t>𝑵</m:t>
                        </m:r>
                        <m:r>
                          <a:rPr lang="en-US" sz="3200" b="1" i="1" smtClean="0">
                            <a:latin typeface="Cambria Math" panose="02040503050406030204" pitchFamily="18" charset="0"/>
                            <a:ea typeface="Cambria Math" panose="02040503050406030204" pitchFamily="18" charset="0"/>
                          </a:rPr>
                          <m:t>×</m:t>
                        </m:r>
                        <m:r>
                          <a:rPr lang="en-US" sz="3200" b="1" i="1">
                            <a:latin typeface="Cambria Math" panose="02040503050406030204" pitchFamily="18" charset="0"/>
                            <a:ea typeface="Cambria Math" panose="02040503050406030204" pitchFamily="18" charset="0"/>
                          </a:rPr>
                          <m:t>𝑶𝑪𝑹𝒏</m:t>
                        </m:r>
                        <m:r>
                          <a:rPr lang="en-US" sz="3200" b="1" i="1" smtClean="0">
                            <a:latin typeface="Cambria Math" panose="02040503050406030204" pitchFamily="18" charset="0"/>
                            <a:ea typeface="Cambria Math" panose="02040503050406030204" pitchFamily="18" charset="0"/>
                          </a:rPr>
                          <m:t>𝑨</m:t>
                        </m:r>
                      </m:den>
                    </m:f>
                    <m:r>
                      <a:rPr lang="en-US" sz="3200" b="1" i="1" smtClean="0">
                        <a:latin typeface="Cambria Math" panose="02040503050406030204" pitchFamily="18" charset="0"/>
                        <a:ea typeface="Cambria Math" panose="02040503050406030204" pitchFamily="18" charset="0"/>
                      </a:rPr>
                      <m:t>;</m:t>
                    </m:r>
                    <m:r>
                      <m:rPr>
                        <m:nor/>
                      </m:rPr>
                      <a:rPr lang="en-US" sz="3200" dirty="0">
                        <a:solidFill>
                          <a:srgbClr val="000000"/>
                        </a:solidFill>
                      </a:rPr>
                      <m:t>if</m:t>
                    </m:r>
                    <m:r>
                      <m:rPr>
                        <m:nor/>
                      </m:rPr>
                      <a:rPr lang="en-US" sz="3200" dirty="0">
                        <a:solidFill>
                          <a:srgbClr val="000000"/>
                        </a:solidFill>
                      </a:rPr>
                      <m:t> </m:t>
                    </m:r>
                    <m:r>
                      <m:rPr>
                        <m:nor/>
                      </m:rPr>
                      <a:rPr lang="en-US" sz="3200" b="1" dirty="0">
                        <a:solidFill>
                          <a:srgbClr val="FF0000"/>
                        </a:solidFill>
                      </a:rPr>
                      <m:t>TOP</m:t>
                    </m:r>
                    <m:r>
                      <m:rPr>
                        <m:nor/>
                      </m:rPr>
                      <a:rPr lang="en-US" sz="3200" b="1" dirty="0">
                        <a:solidFill>
                          <a:srgbClr val="FF0000"/>
                        </a:solidFill>
                      </a:rPr>
                      <m:t> = </m:t>
                    </m:r>
                    <m:r>
                      <a:rPr lang="en-US" sz="3200" b="1" i="1">
                        <a:solidFill>
                          <a:srgbClr val="FF0000"/>
                        </a:solidFill>
                        <a:latin typeface="Cambria Math" panose="02040503050406030204" pitchFamily="18" charset="0"/>
                      </a:rPr>
                      <m:t>𝑶𝑪𝑹</m:t>
                    </m:r>
                    <m:r>
                      <a:rPr lang="en-US" sz="3200" b="1" i="1">
                        <a:solidFill>
                          <a:srgbClr val="FF0000"/>
                        </a:solidFill>
                        <a:latin typeface="Cambria Math" panose="02040503050406030204" pitchFamily="18" charset="0"/>
                      </a:rPr>
                      <m:t>𝟎</m:t>
                    </m:r>
                    <m:r>
                      <a:rPr lang="en-US" sz="3200" b="1" i="1">
                        <a:solidFill>
                          <a:srgbClr val="FF0000"/>
                        </a:solidFill>
                        <a:latin typeface="Cambria Math" panose="02040503050406030204" pitchFamily="18" charset="0"/>
                      </a:rPr>
                      <m:t>𝑨</m:t>
                    </m:r>
                    <m:r>
                      <m:rPr>
                        <m:nor/>
                      </m:rPr>
                      <a:rPr lang="en-US" sz="3200" dirty="0">
                        <a:solidFill>
                          <a:srgbClr val="000000"/>
                        </a:solidFill>
                      </a:rPr>
                      <m:t> </m:t>
                    </m:r>
                    <m:r>
                      <m:rPr>
                        <m:nor/>
                      </m:rPr>
                      <a:rPr lang="en-US" sz="3200" b="1" dirty="0">
                        <a:solidFill>
                          <a:srgbClr val="FF0000"/>
                        </a:solidFill>
                      </a:rPr>
                      <m:t>(</m:t>
                    </m:r>
                    <m:r>
                      <m:rPr>
                        <m:nor/>
                      </m:rPr>
                      <a:rPr lang="en-US" sz="3200" b="1" dirty="0">
                        <a:solidFill>
                          <a:srgbClr val="FF0000"/>
                        </a:solidFill>
                      </a:rPr>
                      <m:t>Phase</m:t>
                    </m:r>
                    <m:r>
                      <m:rPr>
                        <m:nor/>
                      </m:rPr>
                      <a:rPr lang="en-US" sz="3200" b="1" dirty="0">
                        <a:solidFill>
                          <a:srgbClr val="FF0000"/>
                        </a:solidFill>
                      </a:rPr>
                      <m:t>−</m:t>
                    </m:r>
                    <m:r>
                      <m:rPr>
                        <m:nor/>
                      </m:rPr>
                      <a:rPr lang="en-US" sz="3200" b="1" dirty="0">
                        <a:solidFill>
                          <a:srgbClr val="FF0000"/>
                        </a:solidFill>
                      </a:rPr>
                      <m:t>Correct</m:t>
                    </m:r>
                    <m:r>
                      <m:rPr>
                        <m:nor/>
                      </m:rPr>
                      <a:rPr lang="en-US" sz="3200" b="1" dirty="0">
                        <a:solidFill>
                          <a:srgbClr val="FF0000"/>
                        </a:solidFill>
                      </a:rPr>
                      <m:t> </m:t>
                    </m:r>
                    <m:r>
                      <m:rPr>
                        <m:nor/>
                      </m:rPr>
                      <a:rPr lang="en-US" sz="3200" b="1" dirty="0">
                        <a:solidFill>
                          <a:srgbClr val="FF0000"/>
                        </a:solidFill>
                      </a:rPr>
                      <m:t>mode</m:t>
                    </m:r>
                    <m:r>
                      <m:rPr>
                        <m:nor/>
                      </m:rPr>
                      <a:rPr lang="en-US" sz="3200" b="1" dirty="0">
                        <a:solidFill>
                          <a:srgbClr val="FF0000"/>
                        </a:solidFill>
                      </a:rPr>
                      <m:t> 5)</m:t>
                    </m:r>
                  </m:oMath>
                </a14:m>
                <a:r>
                  <a:rPr lang="en-CA" sz="3600" dirty="0"/>
                  <a:t>.</a:t>
                </a: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250806" y="966754"/>
                <a:ext cx="15992263" cy="7038166"/>
              </a:xfrm>
              <a:blipFill>
                <a:blip r:embed="rId2"/>
                <a:stretch>
                  <a:fillRect l="-1029" t="-1386" r="-1715" b="-2513"/>
                </a:stretch>
              </a:blipFill>
            </p:spPr>
            <p:txBody>
              <a:bodyPr/>
              <a:lstStyle/>
              <a:p>
                <a:r>
                  <a:rPr lang="en-US">
                    <a:noFill/>
                  </a:rPr>
                  <a:t> </a:t>
                </a:r>
              </a:p>
            </p:txBody>
          </p:sp>
        </mc:Fallback>
      </mc:AlternateContent>
      <p:sp>
        <p:nvSpPr>
          <p:cNvPr id="5" name="Date Placeholder 4"/>
          <p:cNvSpPr>
            <a:spLocks noGrp="1"/>
          </p:cNvSpPr>
          <p:nvPr>
            <p:ph type="dt" sz="half" idx="10"/>
          </p:nvPr>
        </p:nvSpPr>
        <p:spPr/>
        <p:txBody>
          <a:bodyPr/>
          <a:lstStyle/>
          <a:p>
            <a:fld id="{027A2AEE-C844-4D2A-99B9-892BE56CA302}"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24</a:t>
            </a:fld>
            <a:endParaRPr lang="en-US" dirty="0"/>
          </a:p>
        </p:txBody>
      </p:sp>
    </p:spTree>
    <p:extLst>
      <p:ext uri="{BB962C8B-B14F-4D97-AF65-F5344CB8AC3E}">
        <p14:creationId xmlns:p14="http://schemas.microsoft.com/office/powerpoint/2010/main" val="238979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224680"/>
            <a:ext cx="7538719" cy="905851"/>
          </a:xfrm>
        </p:spPr>
        <p:txBody>
          <a:bodyPr>
            <a:normAutofit/>
          </a:bodyPr>
          <a:lstStyle/>
          <a:p>
            <a:r>
              <a:rPr lang="en-CA" sz="5400" b="1" dirty="0">
                <a:solidFill>
                  <a:srgbClr val="0070C0"/>
                </a:solidFill>
              </a:rPr>
              <a:t>Phase-Correct PWM Mode </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50806" y="1130531"/>
            <a:ext cx="15992263" cy="6483928"/>
          </a:xfrm>
        </p:spPr>
        <p:txBody>
          <a:bodyPr>
            <a:noAutofit/>
          </a:bodyPr>
          <a:lstStyle/>
          <a:p>
            <a:pPr>
              <a:lnSpc>
                <a:spcPct val="100000"/>
              </a:lnSpc>
              <a:spcBef>
                <a:spcPts val="0"/>
              </a:spcBef>
              <a:spcAft>
                <a:spcPts val="1200"/>
              </a:spcAft>
              <a:buClrTx/>
            </a:pPr>
            <a:r>
              <a:rPr lang="en-CA" sz="4000" dirty="0"/>
              <a:t>The </a:t>
            </a:r>
            <a:r>
              <a:rPr lang="en-CA" sz="4000" b="1" dirty="0">
                <a:solidFill>
                  <a:srgbClr val="0070C0"/>
                </a:solidFill>
              </a:rPr>
              <a:t>extreme values for the OCR0A Register represent special cases </a:t>
            </a:r>
            <a:r>
              <a:rPr lang="en-CA" sz="4000" dirty="0"/>
              <a:t>when generating a PWM waveform output in the phase correct PWM mode. </a:t>
            </a:r>
          </a:p>
          <a:p>
            <a:pPr>
              <a:lnSpc>
                <a:spcPct val="100000"/>
              </a:lnSpc>
              <a:spcBef>
                <a:spcPts val="0"/>
              </a:spcBef>
              <a:spcAft>
                <a:spcPts val="1200"/>
              </a:spcAft>
              <a:buClrTx/>
            </a:pPr>
            <a:r>
              <a:rPr lang="en-CA" sz="4000" dirty="0"/>
              <a:t>If the </a:t>
            </a:r>
            <a:r>
              <a:rPr lang="en-CA" sz="4000" b="1" dirty="0">
                <a:solidFill>
                  <a:srgbClr val="0070C0"/>
                </a:solidFill>
              </a:rPr>
              <a:t>OCR0A is set equal to BOTTOM</a:t>
            </a:r>
            <a:r>
              <a:rPr lang="en-CA" sz="4000" dirty="0"/>
              <a:t>, the output will be continuously low and if set equal to MAX the output will be continuously high for non-inverted PWM mode.</a:t>
            </a:r>
          </a:p>
          <a:p>
            <a:pPr>
              <a:lnSpc>
                <a:spcPct val="100000"/>
              </a:lnSpc>
              <a:spcBef>
                <a:spcPts val="0"/>
              </a:spcBef>
              <a:spcAft>
                <a:spcPts val="1200"/>
              </a:spcAft>
              <a:buClrTx/>
            </a:pPr>
            <a:r>
              <a:rPr lang="en-CA" sz="4000" dirty="0"/>
              <a:t> For inverted PWM, the output will have the opposite logic values.</a:t>
            </a:r>
          </a:p>
        </p:txBody>
      </p:sp>
      <p:sp>
        <p:nvSpPr>
          <p:cNvPr id="5" name="Date Placeholder 4"/>
          <p:cNvSpPr>
            <a:spLocks noGrp="1"/>
          </p:cNvSpPr>
          <p:nvPr>
            <p:ph type="dt" sz="half" idx="10"/>
          </p:nvPr>
        </p:nvSpPr>
        <p:spPr/>
        <p:txBody>
          <a:bodyPr/>
          <a:lstStyle/>
          <a:p>
            <a:fld id="{027A2AEE-C844-4D2A-99B9-892BE56CA302}"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25</a:t>
            </a:fld>
            <a:endParaRPr lang="en-US" dirty="0"/>
          </a:p>
        </p:txBody>
      </p:sp>
    </p:spTree>
    <p:extLst>
      <p:ext uri="{BB962C8B-B14F-4D97-AF65-F5344CB8AC3E}">
        <p14:creationId xmlns:p14="http://schemas.microsoft.com/office/powerpoint/2010/main" val="53038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837114" y="168631"/>
            <a:ext cx="7538719" cy="950973"/>
          </a:xfrm>
        </p:spPr>
        <p:txBody>
          <a:bodyPr>
            <a:normAutofit/>
          </a:bodyPr>
          <a:lstStyle/>
          <a:p>
            <a:r>
              <a:rPr lang="en-CA" sz="5400" b="1" dirty="0">
                <a:solidFill>
                  <a:srgbClr val="0070C0"/>
                </a:solidFill>
              </a:rPr>
              <a:t>Example to Self-Practice:</a:t>
            </a:r>
            <a:endParaRPr lang="en-US" sz="5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66700" y="969975"/>
                <a:ext cx="15951200" cy="6949659"/>
              </a:xfrm>
            </p:spPr>
            <p:txBody>
              <a:bodyPr>
                <a:noAutofit/>
              </a:bodyPr>
              <a:lstStyle/>
              <a:p>
                <a:pPr marL="0" indent="0" algn="just">
                  <a:buNone/>
                </a:pPr>
                <a:r>
                  <a:rPr lang="en-CA" sz="3600" b="1" dirty="0">
                    <a:solidFill>
                      <a:srgbClr val="FF0000"/>
                    </a:solidFill>
                  </a:rPr>
                  <a:t>Calculate</a:t>
                </a:r>
                <a:r>
                  <a:rPr lang="en-CA" sz="3600" dirty="0"/>
                  <a:t> the PWM frequency for the output when using Fast PWM Mode and Phase-Correct PWM Mode when </a:t>
                </a:r>
                <a:r>
                  <a:rPr lang="en-CA" sz="3600" b="1" i="1" dirty="0" err="1"/>
                  <a:t>f</a:t>
                </a:r>
                <a:r>
                  <a:rPr lang="en-CA" sz="3600" b="1" i="1" baseline="-25000" dirty="0" err="1"/>
                  <a:t>clk_IO</a:t>
                </a:r>
                <a:r>
                  <a:rPr lang="en-CA" sz="3600" b="1" dirty="0"/>
                  <a:t> </a:t>
                </a:r>
                <a:r>
                  <a:rPr lang="en-CA" sz="3600" dirty="0"/>
                  <a:t>is</a:t>
                </a:r>
                <a:r>
                  <a:rPr lang="en-CA" sz="3600" b="1" dirty="0"/>
                  <a:t> 10 MHz </a:t>
                </a:r>
                <a:r>
                  <a:rPr lang="en-CA" sz="3600" dirty="0"/>
                  <a:t>and the pre-scale factors are </a:t>
                </a:r>
                <a:r>
                  <a:rPr lang="en-CA" sz="3600" b="1" dirty="0"/>
                  <a:t>1, 8, 64, 256, </a:t>
                </a:r>
                <a:r>
                  <a:rPr lang="en-CA" sz="3600" dirty="0"/>
                  <a:t>or</a:t>
                </a:r>
                <a:r>
                  <a:rPr lang="en-CA" sz="3600" b="1" dirty="0"/>
                  <a:t> 1024.</a:t>
                </a:r>
                <a:r>
                  <a:rPr lang="en-CA" sz="3600" dirty="0"/>
                  <a:t> </a:t>
                </a:r>
                <a:r>
                  <a:rPr lang="en-CA" sz="3600" b="1" dirty="0">
                    <a:solidFill>
                      <a:srgbClr val="FF0000"/>
                    </a:solidFill>
                  </a:rPr>
                  <a:t>Comment</a:t>
                </a:r>
                <a:r>
                  <a:rPr lang="en-CA" sz="3600" dirty="0"/>
                  <a:t> on the results afterward.</a:t>
                </a:r>
              </a:p>
              <a:p>
                <a:pPr marL="0" indent="0" algn="just">
                  <a:buNone/>
                </a:pPr>
                <a:r>
                  <a:rPr lang="en-CA" sz="3600" b="1" dirty="0">
                    <a:solidFill>
                      <a:srgbClr val="00B050"/>
                    </a:solidFill>
                  </a:rPr>
                  <a:t>Solution:</a:t>
                </a:r>
              </a:p>
              <a:p>
                <a:pPr marL="0" indent="0" algn="just">
                  <a:buNone/>
                </a:pPr>
                <a:r>
                  <a:rPr lang="en-CA" sz="3600" dirty="0"/>
                  <a:t>The PWM frequency for the </a:t>
                </a:r>
                <a:r>
                  <a:rPr lang="en-CA" sz="3600" dirty="0">
                    <a:solidFill>
                      <a:srgbClr val="00B050"/>
                    </a:solidFill>
                  </a:rPr>
                  <a:t>Fast PWM Mode</a:t>
                </a:r>
                <a:r>
                  <a:rPr lang="en-CA" sz="3600" dirty="0"/>
                  <a:t>:</a:t>
                </a:r>
              </a:p>
              <a:p>
                <a:pPr marL="0" indent="0" algn="just">
                  <a:buNone/>
                </a:pPr>
                <a14:m>
                  <m:oMath xmlns:m="http://schemas.openxmlformats.org/officeDocument/2006/math">
                    <m:sSub>
                      <m:sSubPr>
                        <m:ctrlPr>
                          <a:rPr lang="en-US" sz="3600" b="1" i="1" smtClean="0">
                            <a:solidFill>
                              <a:srgbClr val="00B050"/>
                            </a:solidFill>
                            <a:latin typeface="Cambria Math" panose="02040503050406030204" pitchFamily="18" charset="0"/>
                          </a:rPr>
                        </m:ctrlPr>
                      </m:sSubPr>
                      <m:e>
                        <m:r>
                          <a:rPr lang="en-US" sz="3600" b="1" i="1">
                            <a:solidFill>
                              <a:srgbClr val="00B050"/>
                            </a:solidFill>
                            <a:latin typeface="Cambria Math" panose="02040503050406030204" pitchFamily="18" charset="0"/>
                          </a:rPr>
                          <m:t>𝒇</m:t>
                        </m:r>
                      </m:e>
                      <m:sub>
                        <m:r>
                          <a:rPr lang="en-US" sz="3600" b="1" i="1">
                            <a:solidFill>
                              <a:srgbClr val="00B050"/>
                            </a:solidFill>
                            <a:latin typeface="Cambria Math" panose="02040503050406030204" pitchFamily="18" charset="0"/>
                          </a:rPr>
                          <m:t>𝑶𝑪𝒏𝒙</m:t>
                        </m:r>
                        <m:r>
                          <a:rPr lang="en-US" sz="3600" b="1" i="1" smtClean="0">
                            <a:solidFill>
                              <a:srgbClr val="00B050"/>
                            </a:solidFill>
                            <a:latin typeface="Cambria Math" panose="02040503050406030204" pitchFamily="18" charset="0"/>
                          </a:rPr>
                          <m:t>𝑭</m:t>
                        </m:r>
                        <m:r>
                          <a:rPr lang="en-US" sz="3600" b="1" i="1">
                            <a:solidFill>
                              <a:srgbClr val="00B050"/>
                            </a:solidFill>
                            <a:latin typeface="Cambria Math" panose="02040503050406030204" pitchFamily="18" charset="0"/>
                          </a:rPr>
                          <m:t>𝑷𝑾𝑴</m:t>
                        </m:r>
                        <m:r>
                          <a:rPr lang="en-US" sz="3600" b="1" i="1" smtClean="0">
                            <a:solidFill>
                              <a:srgbClr val="00B050"/>
                            </a:solidFill>
                            <a:latin typeface="Cambria Math" panose="02040503050406030204" pitchFamily="18" charset="0"/>
                          </a:rPr>
                          <m:t>𝟑</m:t>
                        </m:r>
                      </m:sub>
                    </m:sSub>
                    <m:r>
                      <a:rPr lang="en-US" sz="3600" b="1" i="1">
                        <a:solidFill>
                          <a:srgbClr val="00B050"/>
                        </a:solidFill>
                        <a:latin typeface="Cambria Math" panose="02040503050406030204" pitchFamily="18" charset="0"/>
                      </a:rPr>
                      <m:t>=</m:t>
                    </m:r>
                    <m:f>
                      <m:fPr>
                        <m:ctrlPr>
                          <a:rPr lang="en-US" sz="3600" b="1" i="1">
                            <a:solidFill>
                              <a:srgbClr val="00B050"/>
                            </a:solidFill>
                            <a:latin typeface="Cambria Math" panose="02040503050406030204" pitchFamily="18" charset="0"/>
                          </a:rPr>
                        </m:ctrlPr>
                      </m:fPr>
                      <m:num>
                        <m:sSub>
                          <m:sSubPr>
                            <m:ctrlPr>
                              <a:rPr lang="en-US" sz="3600" b="1" i="1">
                                <a:solidFill>
                                  <a:srgbClr val="00B050"/>
                                </a:solidFill>
                                <a:latin typeface="Cambria Math" panose="02040503050406030204" pitchFamily="18" charset="0"/>
                              </a:rPr>
                            </m:ctrlPr>
                          </m:sSubPr>
                          <m:e>
                            <m:r>
                              <a:rPr lang="en-US" sz="3600" b="1" i="1">
                                <a:solidFill>
                                  <a:srgbClr val="00B050"/>
                                </a:solidFill>
                                <a:latin typeface="Cambria Math" panose="02040503050406030204" pitchFamily="18" charset="0"/>
                              </a:rPr>
                              <m:t>𝒇</m:t>
                            </m:r>
                          </m:e>
                          <m:sub>
                            <m:r>
                              <a:rPr lang="en-US" sz="3600" b="1" i="1">
                                <a:solidFill>
                                  <a:srgbClr val="00B050"/>
                                </a:solidFill>
                                <a:latin typeface="Cambria Math" panose="02040503050406030204" pitchFamily="18" charset="0"/>
                              </a:rPr>
                              <m:t>𝒄𝒍𝒌</m:t>
                            </m:r>
                            <m:r>
                              <a:rPr lang="en-US" sz="3600" b="1" i="1">
                                <a:solidFill>
                                  <a:srgbClr val="00B050"/>
                                </a:solidFill>
                                <a:latin typeface="Cambria Math" panose="02040503050406030204" pitchFamily="18" charset="0"/>
                              </a:rPr>
                              <m:t>_</m:t>
                            </m:r>
                            <m:r>
                              <a:rPr lang="en-US" sz="3600" b="1" i="1">
                                <a:solidFill>
                                  <a:srgbClr val="00B050"/>
                                </a:solidFill>
                                <a:latin typeface="Cambria Math" panose="02040503050406030204" pitchFamily="18" charset="0"/>
                              </a:rPr>
                              <m:t>𝑰𝑶</m:t>
                            </m:r>
                          </m:sub>
                        </m:sSub>
                      </m:num>
                      <m:den>
                        <m:r>
                          <a:rPr lang="en-US" sz="3600" b="1" i="1">
                            <a:solidFill>
                              <a:srgbClr val="00B050"/>
                            </a:solidFill>
                            <a:latin typeface="Cambria Math" panose="02040503050406030204" pitchFamily="18" charset="0"/>
                          </a:rPr>
                          <m:t>𝑵</m:t>
                        </m:r>
                        <m:r>
                          <a:rPr lang="en-US" sz="3600" b="1" i="1">
                            <a:solidFill>
                              <a:srgbClr val="00B050"/>
                            </a:solidFill>
                            <a:latin typeface="Cambria Math" panose="02040503050406030204" pitchFamily="18" charset="0"/>
                            <a:ea typeface="Cambria Math" panose="02040503050406030204" pitchFamily="18" charset="0"/>
                          </a:rPr>
                          <m:t>×</m:t>
                        </m:r>
                        <m:r>
                          <a:rPr lang="en-US" sz="3600" b="1" i="1">
                            <a:solidFill>
                              <a:srgbClr val="00B050"/>
                            </a:solidFill>
                            <a:latin typeface="Cambria Math" panose="02040503050406030204" pitchFamily="18" charset="0"/>
                            <a:ea typeface="Cambria Math" panose="02040503050406030204" pitchFamily="18" charset="0"/>
                          </a:rPr>
                          <m:t>𝟐𝟓𝟔</m:t>
                        </m:r>
                      </m:den>
                    </m:f>
                    <m:r>
                      <a:rPr lang="en-US" sz="3600" b="1" i="1" smtClean="0">
                        <a:latin typeface="Cambria Math" panose="02040503050406030204" pitchFamily="18" charset="0"/>
                        <a:ea typeface="Cambria Math" panose="02040503050406030204" pitchFamily="18" charset="0"/>
                      </a:rPr>
                      <m:t>=</m:t>
                    </m:r>
                    <m:f>
                      <m:fPr>
                        <m:ctrlPr>
                          <a:rPr lang="en-US" sz="3600" b="1" i="1" smtClean="0">
                            <a:latin typeface="Cambria Math" panose="02040503050406030204" pitchFamily="18" charset="0"/>
                            <a:ea typeface="Cambria Math" panose="02040503050406030204" pitchFamily="18" charset="0"/>
                          </a:rPr>
                        </m:ctrlPr>
                      </m:fPr>
                      <m:num>
                        <m:r>
                          <a:rPr lang="en-US" sz="3600" b="1" i="1" smtClean="0">
                            <a:latin typeface="Cambria Math" panose="02040503050406030204" pitchFamily="18" charset="0"/>
                            <a:ea typeface="Cambria Math" panose="02040503050406030204" pitchFamily="18" charset="0"/>
                          </a:rPr>
                          <m:t>𝟏𝟎</m:t>
                        </m:r>
                        <m:r>
                          <a:rPr lang="en-US" sz="3600" b="1" i="1" smtClean="0">
                            <a:latin typeface="Cambria Math" panose="02040503050406030204" pitchFamily="18" charset="0"/>
                            <a:ea typeface="Cambria Math" panose="02040503050406030204" pitchFamily="18" charset="0"/>
                          </a:rPr>
                          <m:t>×</m:t>
                        </m:r>
                        <m:sSup>
                          <m:sSupPr>
                            <m:ctrlPr>
                              <a:rPr lang="en-US" sz="3600" b="1" i="1" smtClean="0">
                                <a:latin typeface="Cambria Math" panose="02040503050406030204" pitchFamily="18" charset="0"/>
                                <a:ea typeface="Cambria Math" panose="02040503050406030204" pitchFamily="18" charset="0"/>
                              </a:rPr>
                            </m:ctrlPr>
                          </m:sSupPr>
                          <m:e>
                            <m:r>
                              <a:rPr lang="en-US" sz="3600" b="1" i="1" smtClean="0">
                                <a:latin typeface="Cambria Math" panose="02040503050406030204" pitchFamily="18" charset="0"/>
                                <a:ea typeface="Cambria Math" panose="02040503050406030204" pitchFamily="18" charset="0"/>
                              </a:rPr>
                              <m:t>𝟏𝟎</m:t>
                            </m:r>
                          </m:e>
                          <m:sup>
                            <m:r>
                              <a:rPr lang="en-US" sz="3600" b="1" i="1" smtClean="0">
                                <a:latin typeface="Cambria Math" panose="02040503050406030204" pitchFamily="18" charset="0"/>
                                <a:ea typeface="Cambria Math" panose="02040503050406030204" pitchFamily="18" charset="0"/>
                              </a:rPr>
                              <m:t>𝟔</m:t>
                            </m:r>
                          </m:sup>
                        </m:sSup>
                      </m:num>
                      <m:den>
                        <m:r>
                          <a:rPr lang="en-US" sz="3600" b="1" i="1" smtClean="0">
                            <a:latin typeface="Cambria Math" panose="02040503050406030204" pitchFamily="18" charset="0"/>
                            <a:ea typeface="Cambria Math" panose="02040503050406030204" pitchFamily="18" charset="0"/>
                          </a:rPr>
                          <m:t>𝟏𝟎𝟐𝟒</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𝟐𝟓𝟔</m:t>
                        </m:r>
                      </m:den>
                    </m:f>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𝟑𝟖</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𝟏𝟓</m:t>
                    </m:r>
                  </m:oMath>
                </a14:m>
                <a:r>
                  <a:rPr lang="en-CA" sz="3600" dirty="0"/>
                  <a:t> Hz</a:t>
                </a:r>
              </a:p>
              <a:p>
                <a:pPr marL="0" indent="0" algn="just">
                  <a:buNone/>
                </a:pPr>
                <a:endParaRPr lang="en-CA" sz="1800" dirty="0"/>
              </a:p>
              <a:p>
                <a:pPr marL="0" indent="0" algn="just">
                  <a:buNone/>
                </a:pPr>
                <a:r>
                  <a:rPr lang="en-CA" sz="3600" dirty="0"/>
                  <a:t>The PWM frequency for the </a:t>
                </a:r>
                <a:r>
                  <a:rPr lang="en-CA" sz="3600" dirty="0">
                    <a:solidFill>
                      <a:srgbClr val="0070C0"/>
                    </a:solidFill>
                  </a:rPr>
                  <a:t>Phase-Correct PWM Mode</a:t>
                </a:r>
                <a:r>
                  <a:rPr lang="en-CA" sz="3600" dirty="0"/>
                  <a:t>:</a:t>
                </a:r>
              </a:p>
              <a:p>
                <a:pPr marL="0" indent="0" algn="just">
                  <a:buNone/>
                </a:pPr>
                <a14:m>
                  <m:oMath xmlns:m="http://schemas.openxmlformats.org/officeDocument/2006/math">
                    <m:sSub>
                      <m:sSubPr>
                        <m:ctrlPr>
                          <a:rPr lang="en-US" sz="3600" b="1" i="1" smtClean="0">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𝑶𝑪𝒏𝒙𝑷𝑪𝑷𝑾𝑴</m:t>
                        </m:r>
                        <m:r>
                          <a:rPr lang="en-US" sz="3600" b="1" i="1" smtClean="0">
                            <a:solidFill>
                              <a:srgbClr val="0070C0"/>
                            </a:solidFill>
                            <a:latin typeface="Cambria Math" panose="02040503050406030204" pitchFamily="18" charset="0"/>
                          </a:rPr>
                          <m:t>𝟏</m:t>
                        </m:r>
                      </m:sub>
                    </m:sSub>
                    <m:r>
                      <a:rPr lang="en-US" sz="3600" b="1" i="1">
                        <a:solidFill>
                          <a:srgbClr val="0070C0"/>
                        </a:solidFill>
                        <a:latin typeface="Cambria Math" panose="02040503050406030204" pitchFamily="18" charset="0"/>
                      </a:rPr>
                      <m:t>=</m:t>
                    </m:r>
                    <m:f>
                      <m:fPr>
                        <m:ctrlPr>
                          <a:rPr lang="en-US" sz="3600" b="1" i="1">
                            <a:solidFill>
                              <a:srgbClr val="0070C0"/>
                            </a:solidFill>
                            <a:latin typeface="Cambria Math" panose="02040503050406030204" pitchFamily="18" charset="0"/>
                          </a:rPr>
                        </m:ctrlPr>
                      </m:fPr>
                      <m:num>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𝒄𝒍𝒌</m:t>
                            </m:r>
                            <m:r>
                              <a:rPr lang="en-US" sz="3600" b="1" i="1">
                                <a:solidFill>
                                  <a:srgbClr val="0070C0"/>
                                </a:solidFill>
                                <a:latin typeface="Cambria Math" panose="02040503050406030204" pitchFamily="18" charset="0"/>
                              </a:rPr>
                              <m:t>_</m:t>
                            </m:r>
                            <m:r>
                              <a:rPr lang="en-US" sz="3600" b="1" i="1">
                                <a:solidFill>
                                  <a:srgbClr val="0070C0"/>
                                </a:solidFill>
                                <a:latin typeface="Cambria Math" panose="02040503050406030204" pitchFamily="18" charset="0"/>
                              </a:rPr>
                              <m:t>𝑰𝑶</m:t>
                            </m:r>
                          </m:sub>
                        </m:sSub>
                      </m:num>
                      <m:den>
                        <m:r>
                          <a:rPr lang="en-US" sz="3600" b="1" i="1">
                            <a:solidFill>
                              <a:srgbClr val="0070C0"/>
                            </a:solidFill>
                            <a:latin typeface="Cambria Math" panose="02040503050406030204" pitchFamily="18" charset="0"/>
                          </a:rPr>
                          <m:t>𝑵</m:t>
                        </m:r>
                        <m:r>
                          <a:rPr lang="en-US" sz="3600" b="1" i="1">
                            <a:solidFill>
                              <a:srgbClr val="0070C0"/>
                            </a:solidFill>
                            <a:latin typeface="Cambria Math" panose="02040503050406030204" pitchFamily="18" charset="0"/>
                            <a:ea typeface="Cambria Math" panose="02040503050406030204" pitchFamily="18" charset="0"/>
                          </a:rPr>
                          <m:t>×</m:t>
                        </m:r>
                        <m:r>
                          <a:rPr lang="en-US" sz="3600" b="1" i="1">
                            <a:solidFill>
                              <a:srgbClr val="0070C0"/>
                            </a:solidFill>
                            <a:latin typeface="Cambria Math" panose="02040503050406030204" pitchFamily="18" charset="0"/>
                            <a:ea typeface="Cambria Math" panose="02040503050406030204" pitchFamily="18" charset="0"/>
                          </a:rPr>
                          <m:t>𝟓𝟏𝟎</m:t>
                        </m:r>
                      </m:den>
                    </m:f>
                    <m:r>
                      <a:rPr lang="en-US" sz="3600" b="1" i="1">
                        <a:latin typeface="Cambria Math" panose="02040503050406030204" pitchFamily="18" charset="0"/>
                        <a:ea typeface="Cambria Math" panose="02040503050406030204" pitchFamily="18" charset="0"/>
                      </a:rPr>
                      <m:t>=</m:t>
                    </m:r>
                    <m:f>
                      <m:fPr>
                        <m:ctrlPr>
                          <a:rPr lang="en-US" sz="3600" b="1" i="1">
                            <a:latin typeface="Cambria Math" panose="02040503050406030204" pitchFamily="18" charset="0"/>
                            <a:ea typeface="Cambria Math" panose="02040503050406030204" pitchFamily="18" charset="0"/>
                          </a:rPr>
                        </m:ctrlPr>
                      </m:fPr>
                      <m:num>
                        <m:r>
                          <a:rPr lang="en-US" sz="3600" b="1" i="1">
                            <a:latin typeface="Cambria Math" panose="02040503050406030204" pitchFamily="18" charset="0"/>
                            <a:ea typeface="Cambria Math" panose="02040503050406030204" pitchFamily="18" charset="0"/>
                          </a:rPr>
                          <m:t>𝟏𝟎</m:t>
                        </m:r>
                        <m:r>
                          <a:rPr lang="en-US" sz="3600" b="1" i="1">
                            <a:latin typeface="Cambria Math" panose="02040503050406030204" pitchFamily="18" charset="0"/>
                            <a:ea typeface="Cambria Math" panose="02040503050406030204" pitchFamily="18" charset="0"/>
                          </a:rPr>
                          <m:t>×</m:t>
                        </m:r>
                        <m:sSup>
                          <m:sSupPr>
                            <m:ctrlPr>
                              <a:rPr lang="en-US" sz="3600" b="1" i="1">
                                <a:latin typeface="Cambria Math" panose="02040503050406030204" pitchFamily="18" charset="0"/>
                                <a:ea typeface="Cambria Math" panose="02040503050406030204" pitchFamily="18" charset="0"/>
                              </a:rPr>
                            </m:ctrlPr>
                          </m:sSupPr>
                          <m:e>
                            <m:r>
                              <a:rPr lang="en-US" sz="3600" b="1" i="1">
                                <a:latin typeface="Cambria Math" panose="02040503050406030204" pitchFamily="18" charset="0"/>
                                <a:ea typeface="Cambria Math" panose="02040503050406030204" pitchFamily="18" charset="0"/>
                              </a:rPr>
                              <m:t>𝟏𝟎</m:t>
                            </m:r>
                          </m:e>
                          <m:sup>
                            <m:r>
                              <a:rPr lang="en-US" sz="3600" b="1" i="1">
                                <a:latin typeface="Cambria Math" panose="02040503050406030204" pitchFamily="18" charset="0"/>
                                <a:ea typeface="Cambria Math" panose="02040503050406030204" pitchFamily="18" charset="0"/>
                              </a:rPr>
                              <m:t>𝟔</m:t>
                            </m:r>
                          </m:sup>
                        </m:sSup>
                      </m:num>
                      <m:den>
                        <m:r>
                          <a:rPr lang="en-US" sz="3600" b="1" i="1">
                            <a:latin typeface="Cambria Math" panose="02040503050406030204" pitchFamily="18" charset="0"/>
                            <a:ea typeface="Cambria Math" panose="02040503050406030204" pitchFamily="18" charset="0"/>
                          </a:rPr>
                          <m:t>𝟏𝟎𝟐𝟒</m:t>
                        </m:r>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𝟓𝟏𝟎</m:t>
                        </m:r>
                      </m:den>
                    </m:f>
                    <m:r>
                      <a:rPr lang="en-US" sz="3600" b="1" i="1">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𝟏𝟗</m:t>
                    </m:r>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𝟏𝟓</m:t>
                    </m:r>
                  </m:oMath>
                </a14:m>
                <a:r>
                  <a:rPr lang="en-CA" sz="3600" dirty="0"/>
                  <a:t> Hz</a:t>
                </a:r>
              </a:p>
              <a:p>
                <a:pPr marL="0" indent="0" algn="just">
                  <a:buNone/>
                </a:pPr>
                <a:r>
                  <a:rPr lang="en-CA" sz="3600" dirty="0"/>
                  <a:t>Higher frequency means lower time period, which indicates that the Fast PWM mode is faster than Phase-Correct PWM mode.</a:t>
                </a: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266700" y="969975"/>
                <a:ext cx="15951200" cy="6949659"/>
              </a:xfrm>
              <a:blipFill>
                <a:blip r:embed="rId2"/>
                <a:stretch>
                  <a:fillRect l="-1185" t="-2105" r="-1147" b="-307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26</a:t>
            </a:fld>
            <a:endParaRPr lang="en-US" dirty="0"/>
          </a:p>
        </p:txBody>
      </p:sp>
    </p:spTree>
    <p:extLst>
      <p:ext uri="{BB962C8B-B14F-4D97-AF65-F5344CB8AC3E}">
        <p14:creationId xmlns:p14="http://schemas.microsoft.com/office/powerpoint/2010/main" val="181645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671FB-06C1-40FF-051E-9C66472C1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31881-6CA0-97A3-8B0B-70DD31148EE6}"/>
              </a:ext>
            </a:extLst>
          </p:cNvPr>
          <p:cNvSpPr>
            <a:spLocks noGrp="1"/>
          </p:cNvSpPr>
          <p:nvPr>
            <p:ph type="title"/>
          </p:nvPr>
        </p:nvSpPr>
        <p:spPr>
          <a:xfrm>
            <a:off x="1499482" y="90214"/>
            <a:ext cx="12243811" cy="881257"/>
          </a:xfrm>
        </p:spPr>
        <p:txBody>
          <a:bodyPr>
            <a:noAutofit/>
          </a:bodyPr>
          <a:lstStyle/>
          <a:p>
            <a:r>
              <a:rPr lang="en-CA" sz="4400" b="1" dirty="0">
                <a:solidFill>
                  <a:srgbClr val="0070C0"/>
                </a:solidFill>
              </a:rPr>
              <a:t>Phase-Correct PWM Mode: Output Frequency</a:t>
            </a:r>
            <a:r>
              <a:rPr lang="en-CA" sz="4400" dirty="0">
                <a:solidFill>
                  <a:srgbClr val="0070C0"/>
                </a:solidFill>
              </a:rPr>
              <a:t> </a:t>
            </a:r>
            <a:endParaRPr lang="en-US" sz="4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23CCFE-BC5E-EF01-6B6D-5F644745AF0F}"/>
                  </a:ext>
                </a:extLst>
              </p:cNvPr>
              <p:cNvSpPr>
                <a:spLocks noGrp="1"/>
              </p:cNvSpPr>
              <p:nvPr>
                <p:ph idx="1"/>
              </p:nvPr>
            </p:nvSpPr>
            <p:spPr>
              <a:xfrm>
                <a:off x="232013" y="914400"/>
                <a:ext cx="16049767" cy="7184042"/>
              </a:xfrm>
            </p:spPr>
            <p:txBody>
              <a:bodyPr>
                <a:noAutofit/>
              </a:bodyPr>
              <a:lstStyle/>
              <a:p>
                <a:pPr>
                  <a:spcBef>
                    <a:spcPts val="600"/>
                  </a:spcBef>
                  <a:buClrTx/>
                </a:pPr>
                <a:r>
                  <a:rPr lang="en-US" sz="3600" b="1" dirty="0">
                    <a:solidFill>
                      <a:srgbClr val="FF0000"/>
                    </a:solidFill>
                  </a:rPr>
                  <a:t>Non-Inverting Phase-Correct PWM Duty Cycle</a:t>
                </a:r>
              </a:p>
              <a:p>
                <a:pPr>
                  <a:spcBef>
                    <a:spcPts val="600"/>
                  </a:spcBef>
                  <a:buClrTx/>
                </a:pPr>
                <a:r>
                  <a:rPr lang="en-US" sz="3600" dirty="0">
                    <a:solidFill>
                      <a:srgbClr val="000000"/>
                    </a:solidFill>
                  </a:rPr>
                  <a:t>The duty cycle of the </a:t>
                </a:r>
                <a:r>
                  <a:rPr lang="en-US" sz="3600" b="1" dirty="0">
                    <a:solidFill>
                      <a:srgbClr val="FF0000"/>
                    </a:solidFill>
                  </a:rPr>
                  <a:t>Non-Inverting mode </a:t>
                </a:r>
                <a:r>
                  <a:rPr lang="en-US" sz="3600" dirty="0">
                    <a:solidFill>
                      <a:srgbClr val="000000"/>
                    </a:solidFill>
                  </a:rPr>
                  <a:t>Phase-Correct PWM signal is calculated using the following formula.</a:t>
                </a:r>
              </a:p>
              <a:p>
                <a:pPr marL="0" indent="0" algn="ctr">
                  <a:spcBef>
                    <a:spcPts val="600"/>
                  </a:spcBef>
                  <a:buClrTx/>
                  <a:buNone/>
                </a:pPr>
                <a14:m>
                  <m:oMath xmlns:m="http://schemas.openxmlformats.org/officeDocument/2006/math">
                    <m:r>
                      <a:rPr lang="en-US" sz="3600" b="1" i="1" smtClean="0">
                        <a:latin typeface="Cambria Math" panose="02040503050406030204" pitchFamily="18" charset="0"/>
                      </a:rPr>
                      <m:t>𝑶𝑪𝑹</m:t>
                    </m:r>
                    <m:r>
                      <a:rPr lang="en-US" sz="3600" b="1" i="1" smtClean="0">
                        <a:latin typeface="Cambria Math" panose="02040503050406030204" pitchFamily="18" charset="0"/>
                      </a:rPr>
                      <m:t>𝟎</m:t>
                    </m:r>
                    <m:r>
                      <a:rPr lang="en-US" sz="3600" b="1" i="1" smtClean="0">
                        <a:latin typeface="Cambria Math" panose="02040503050406030204" pitchFamily="18" charset="0"/>
                      </a:rPr>
                      <m:t>𝒙</m:t>
                    </m:r>
                    <m:r>
                      <a:rPr lang="en-US" sz="3600" b="1" i="1">
                        <a:latin typeface="Cambria Math" panose="02040503050406030204" pitchFamily="18" charset="0"/>
                      </a:rPr>
                      <m:t>=</m:t>
                    </m:r>
                    <m:f>
                      <m:fPr>
                        <m:ctrlPr>
                          <a:rPr lang="en-US" sz="3600" b="1" i="1">
                            <a:latin typeface="Cambria Math" panose="02040503050406030204" pitchFamily="18" charset="0"/>
                          </a:rPr>
                        </m:ctrlPr>
                      </m:fPr>
                      <m:num>
                        <m:r>
                          <a:rPr lang="en-US" sz="3600" b="1" i="1" smtClean="0">
                            <a:latin typeface="Cambria Math" panose="02040503050406030204" pitchFamily="18" charset="0"/>
                          </a:rPr>
                          <m:t>𝟐𝟓𝟓</m:t>
                        </m:r>
                        <m:r>
                          <a:rPr lang="en-US" sz="3600" b="1" i="1" smtClean="0">
                            <a:latin typeface="Cambria Math" panose="02040503050406030204" pitchFamily="18" charset="0"/>
                          </a:rPr>
                          <m:t>𝑫</m:t>
                        </m:r>
                      </m:num>
                      <m:den>
                        <m:r>
                          <a:rPr lang="en-US" sz="3600" b="1" i="1" smtClean="0">
                            <a:latin typeface="Cambria Math" panose="02040503050406030204" pitchFamily="18" charset="0"/>
                          </a:rPr>
                          <m:t>𝟏𝟎𝟎</m:t>
                        </m:r>
                      </m:den>
                    </m:f>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𝒙</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𝑨</m:t>
                    </m:r>
                    <m:r>
                      <a:rPr lang="en-US" sz="3600" b="1" i="1" smtClean="0">
                        <a:latin typeface="Cambria Math" panose="02040503050406030204" pitchFamily="18" charset="0"/>
                        <a:ea typeface="Cambria Math" panose="02040503050406030204" pitchFamily="18" charset="0"/>
                      </a:rPr>
                      <m:t> </m:t>
                    </m:r>
                    <m:r>
                      <a:rPr lang="en-US" sz="3600" b="1" i="1" smtClean="0">
                        <a:latin typeface="Cambria Math" panose="02040503050406030204" pitchFamily="18" charset="0"/>
                        <a:ea typeface="Cambria Math" panose="02040503050406030204" pitchFamily="18" charset="0"/>
                      </a:rPr>
                      <m:t>𝒐𝒓</m:t>
                    </m:r>
                    <m:r>
                      <a:rPr lang="en-US" sz="3600" b="1" i="1" smtClean="0">
                        <a:latin typeface="Cambria Math" panose="02040503050406030204" pitchFamily="18" charset="0"/>
                        <a:ea typeface="Cambria Math" panose="02040503050406030204" pitchFamily="18" charset="0"/>
                      </a:rPr>
                      <m:t> </m:t>
                    </m:r>
                    <m:r>
                      <a:rPr lang="en-US" sz="3600" b="1" i="1" smtClean="0">
                        <a:latin typeface="Cambria Math" panose="02040503050406030204" pitchFamily="18" charset="0"/>
                        <a:ea typeface="Cambria Math" panose="02040503050406030204" pitchFamily="18" charset="0"/>
                      </a:rPr>
                      <m:t>𝑩</m:t>
                    </m:r>
                  </m:oMath>
                </a14:m>
                <a:r>
                  <a:rPr lang="en-US" sz="3600" dirty="0">
                    <a:solidFill>
                      <a:srgbClr val="000000"/>
                    </a:solidFill>
                  </a:rPr>
                  <a:t> , if </a:t>
                </a:r>
                <a:r>
                  <a:rPr lang="en-US" sz="3600" b="1" dirty="0">
                    <a:solidFill>
                      <a:srgbClr val="FF0000"/>
                    </a:solidFill>
                  </a:rPr>
                  <a:t>TOP = 0xFF (Phase-Correct mode 1)</a:t>
                </a:r>
              </a:p>
              <a:p>
                <a:pPr marL="0" indent="0" algn="ctr">
                  <a:spcBef>
                    <a:spcPts val="600"/>
                  </a:spcBef>
                  <a:buNone/>
                </a:pPr>
                <a14:m>
                  <m:oMath xmlns:m="http://schemas.openxmlformats.org/officeDocument/2006/math">
                    <m:r>
                      <a:rPr lang="en-US" sz="3600" b="1" i="1">
                        <a:latin typeface="Cambria Math" panose="02040503050406030204" pitchFamily="18" charset="0"/>
                      </a:rPr>
                      <m:t>𝑶𝑪𝑹</m:t>
                    </m:r>
                    <m:r>
                      <a:rPr lang="en-US" sz="3600" b="1" i="1">
                        <a:latin typeface="Cambria Math" panose="02040503050406030204" pitchFamily="18" charset="0"/>
                      </a:rPr>
                      <m:t>𝟎</m:t>
                    </m:r>
                    <m:r>
                      <a:rPr lang="en-US" sz="3600" b="1" i="1" smtClean="0">
                        <a:latin typeface="Cambria Math" panose="02040503050406030204" pitchFamily="18" charset="0"/>
                      </a:rPr>
                      <m:t>𝑩</m:t>
                    </m:r>
                    <m:r>
                      <a:rPr lang="en-US" sz="3600" b="1" i="1">
                        <a:latin typeface="Cambria Math" panose="02040503050406030204" pitchFamily="18" charset="0"/>
                      </a:rPr>
                      <m:t>=</m:t>
                    </m:r>
                    <m:f>
                      <m:fPr>
                        <m:ctrlPr>
                          <a:rPr lang="en-US" sz="3600" b="1" i="1">
                            <a:latin typeface="Cambria Math" panose="02040503050406030204" pitchFamily="18" charset="0"/>
                          </a:rPr>
                        </m:ctrlPr>
                      </m:fPr>
                      <m:num>
                        <m:r>
                          <a:rPr lang="en-US" sz="3600" b="1" i="1" smtClean="0">
                            <a:latin typeface="Cambria Math" panose="02040503050406030204" pitchFamily="18" charset="0"/>
                          </a:rPr>
                          <m:t>𝑶𝑪𝑹</m:t>
                        </m:r>
                        <m:r>
                          <a:rPr lang="en-US" sz="3600" b="1" i="1" smtClean="0">
                            <a:latin typeface="Cambria Math" panose="02040503050406030204" pitchFamily="18" charset="0"/>
                          </a:rPr>
                          <m:t>𝟎</m:t>
                        </m:r>
                        <m:r>
                          <a:rPr lang="en-US" sz="3600" b="1" i="1" smtClean="0">
                            <a:latin typeface="Cambria Math" panose="02040503050406030204" pitchFamily="18" charset="0"/>
                          </a:rPr>
                          <m:t>𝑨</m:t>
                        </m:r>
                        <m:r>
                          <a:rPr lang="en-US" sz="3600" b="1" i="1" smtClean="0">
                            <a:latin typeface="Cambria Math" panose="02040503050406030204" pitchFamily="18" charset="0"/>
                            <a:ea typeface="Cambria Math" panose="02040503050406030204" pitchFamily="18" charset="0"/>
                          </a:rPr>
                          <m:t>×</m:t>
                        </m:r>
                        <m:r>
                          <a:rPr lang="en-US" sz="3600" b="1" i="1">
                            <a:latin typeface="Cambria Math" panose="02040503050406030204" pitchFamily="18" charset="0"/>
                          </a:rPr>
                          <m:t>𝑫</m:t>
                        </m:r>
                      </m:num>
                      <m:den>
                        <m:r>
                          <a:rPr lang="en-US" sz="3600" b="1" i="1">
                            <a:latin typeface="Cambria Math" panose="02040503050406030204" pitchFamily="18" charset="0"/>
                          </a:rPr>
                          <m:t>𝟏𝟎𝟎</m:t>
                        </m:r>
                      </m:den>
                    </m:f>
                  </m:oMath>
                </a14:m>
                <a:r>
                  <a:rPr lang="en-US" sz="3600" dirty="0">
                    <a:solidFill>
                      <a:srgbClr val="000000"/>
                    </a:solidFill>
                  </a:rPr>
                  <a:t> , if </a:t>
                </a:r>
                <a:r>
                  <a:rPr lang="en-US" sz="3600" b="1" dirty="0">
                    <a:solidFill>
                      <a:srgbClr val="FF0000"/>
                    </a:solidFill>
                  </a:rPr>
                  <a:t>TOP = </a:t>
                </a:r>
                <a14:m>
                  <m:oMath xmlns:m="http://schemas.openxmlformats.org/officeDocument/2006/math">
                    <m:r>
                      <a:rPr lang="en-US" sz="3600" b="1" i="1" smtClean="0">
                        <a:solidFill>
                          <a:srgbClr val="FF0000"/>
                        </a:solidFill>
                        <a:latin typeface="Cambria Math" panose="02040503050406030204" pitchFamily="18" charset="0"/>
                      </a:rPr>
                      <m:t>𝑶𝑪𝑹</m:t>
                    </m:r>
                    <m:r>
                      <a:rPr lang="en-US" sz="3600" b="1" i="1" smtClean="0">
                        <a:solidFill>
                          <a:srgbClr val="FF0000"/>
                        </a:solidFill>
                        <a:latin typeface="Cambria Math" panose="02040503050406030204" pitchFamily="18" charset="0"/>
                      </a:rPr>
                      <m:t>𝟎</m:t>
                    </m:r>
                    <m:r>
                      <a:rPr lang="en-US" sz="3600" b="1" i="1" smtClean="0">
                        <a:solidFill>
                          <a:srgbClr val="FF0000"/>
                        </a:solidFill>
                        <a:latin typeface="Cambria Math" panose="02040503050406030204" pitchFamily="18" charset="0"/>
                      </a:rPr>
                      <m:t>𝑨</m:t>
                    </m:r>
                  </m:oMath>
                </a14:m>
                <a:r>
                  <a:rPr lang="en-US" sz="3600" dirty="0">
                    <a:solidFill>
                      <a:srgbClr val="000000"/>
                    </a:solidFill>
                  </a:rPr>
                  <a:t> </a:t>
                </a:r>
                <a:r>
                  <a:rPr lang="en-US" sz="3600" b="1" dirty="0">
                    <a:solidFill>
                      <a:srgbClr val="FF0000"/>
                    </a:solidFill>
                  </a:rPr>
                  <a:t>(Phase-Correct mode 5)</a:t>
                </a:r>
                <a:endParaRPr lang="en-US" sz="3600" dirty="0">
                  <a:solidFill>
                    <a:srgbClr val="000000"/>
                  </a:solidFill>
                </a:endParaRPr>
              </a:p>
              <a:p>
                <a:pPr marL="0" indent="0">
                  <a:spcBef>
                    <a:spcPts val="600"/>
                  </a:spcBef>
                  <a:buClrTx/>
                  <a:buNone/>
                </a:pPr>
                <a:r>
                  <a:rPr lang="en-US" sz="3600" dirty="0">
                    <a:solidFill>
                      <a:srgbClr val="000000"/>
                    </a:solidFill>
                  </a:rPr>
                  <a:t>where, D is the Duty cycle that range from 0% to 100%. This duty cycle value is the count value that must be loaded into the OCR0A (or OCR0B) register.</a:t>
                </a:r>
              </a:p>
              <a:p>
                <a:pPr>
                  <a:spcBef>
                    <a:spcPts val="600"/>
                  </a:spcBef>
                  <a:buClrTx/>
                </a:pPr>
                <a:r>
                  <a:rPr lang="en-US" sz="3600" b="1" dirty="0">
                    <a:solidFill>
                      <a:srgbClr val="FF0000"/>
                    </a:solidFill>
                  </a:rPr>
                  <a:t>Example: </a:t>
                </a:r>
                <a:r>
                  <a:rPr lang="en-US" sz="3600" dirty="0"/>
                  <a:t>1) A PWM signal is to have 75% duty cycle. Compute the value for OCR0A.</a:t>
                </a:r>
                <a:endParaRPr lang="en-CA" sz="3600" dirty="0"/>
              </a:p>
              <a:p>
                <a:pPr marL="0" indent="0" algn="ctr">
                  <a:spcBef>
                    <a:spcPts val="600"/>
                  </a:spcBef>
                  <a:buClrTx/>
                  <a:buNone/>
                </a:pPr>
                <a14:m>
                  <m:oMath xmlns:m="http://schemas.openxmlformats.org/officeDocument/2006/math">
                    <m:r>
                      <a:rPr lang="en-US" sz="3600" b="1" i="1" smtClean="0">
                        <a:latin typeface="Cambria Math" panose="02040503050406030204" pitchFamily="18" charset="0"/>
                      </a:rPr>
                      <m:t>𝑶𝑪𝑹</m:t>
                    </m:r>
                    <m:r>
                      <a:rPr lang="en-US" sz="3600" b="1" i="1" smtClean="0">
                        <a:latin typeface="Cambria Math" panose="02040503050406030204" pitchFamily="18" charset="0"/>
                      </a:rPr>
                      <m:t>𝟎</m:t>
                    </m:r>
                    <m:r>
                      <a:rPr lang="en-US" sz="3600" b="1" i="1" smtClean="0">
                        <a:latin typeface="Cambria Math" panose="02040503050406030204" pitchFamily="18" charset="0"/>
                      </a:rPr>
                      <m:t>𝑨</m:t>
                    </m:r>
                    <m:r>
                      <a:rPr lang="en-US" sz="3600" b="1" i="1">
                        <a:latin typeface="Cambria Math" panose="02040503050406030204" pitchFamily="18" charset="0"/>
                      </a:rPr>
                      <m:t>=</m:t>
                    </m:r>
                    <m:f>
                      <m:fPr>
                        <m:ctrlPr>
                          <a:rPr lang="en-US" sz="3600" b="1" i="1">
                            <a:latin typeface="Cambria Math" panose="02040503050406030204" pitchFamily="18" charset="0"/>
                          </a:rPr>
                        </m:ctrlPr>
                      </m:fPr>
                      <m:num>
                        <m:r>
                          <a:rPr lang="en-US" sz="3600" b="1" i="1" smtClean="0">
                            <a:latin typeface="Cambria Math" panose="02040503050406030204" pitchFamily="18" charset="0"/>
                          </a:rPr>
                          <m:t>𝟐𝟓𝟓</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𝟕𝟓</m:t>
                        </m:r>
                      </m:num>
                      <m:den>
                        <m:r>
                          <a:rPr lang="en-US" sz="3600" b="1" i="1" smtClean="0">
                            <a:latin typeface="Cambria Math" panose="02040503050406030204" pitchFamily="18" charset="0"/>
                          </a:rPr>
                          <m:t>𝟏𝟎𝟎</m:t>
                        </m:r>
                      </m:den>
                    </m:f>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𝟏𝟗𝟐</m:t>
                    </m:r>
                  </m:oMath>
                </a14:m>
                <a:r>
                  <a:rPr lang="en-US" sz="3600" dirty="0">
                    <a:solidFill>
                      <a:srgbClr val="000000"/>
                    </a:solidFill>
                  </a:rPr>
                  <a:t> , if </a:t>
                </a:r>
                <a:r>
                  <a:rPr lang="en-US" sz="3600" b="1" dirty="0">
                    <a:solidFill>
                      <a:srgbClr val="FF0000"/>
                    </a:solidFill>
                  </a:rPr>
                  <a:t>TOP = 0xFF</a:t>
                </a:r>
              </a:p>
              <a:p>
                <a:pPr marL="0" indent="0">
                  <a:spcBef>
                    <a:spcPts val="600"/>
                  </a:spcBef>
                  <a:buClrTx/>
                  <a:buNone/>
                </a:pPr>
                <a:r>
                  <a:rPr lang="en-US" sz="3400" dirty="0"/>
                  <a:t>2) A PWM signal is to have 75% duty cycle. Compute the value for OCR0B if OCR0A = 200.</a:t>
                </a:r>
                <a:endParaRPr lang="en-CA" sz="3400" dirty="0"/>
              </a:p>
              <a:p>
                <a:pPr marL="0" indent="0" algn="ctr">
                  <a:spcBef>
                    <a:spcPts val="600"/>
                  </a:spcBef>
                  <a:buClrTx/>
                  <a:buNone/>
                </a:pPr>
                <a14:m>
                  <m:oMath xmlns:m="http://schemas.openxmlformats.org/officeDocument/2006/math">
                    <m:r>
                      <a:rPr lang="en-US" sz="3600" b="1" i="1">
                        <a:latin typeface="Cambria Math" panose="02040503050406030204" pitchFamily="18" charset="0"/>
                      </a:rPr>
                      <m:t>𝑶𝑪𝑹</m:t>
                    </m:r>
                    <m:r>
                      <a:rPr lang="en-US" sz="3600" b="1" i="1">
                        <a:latin typeface="Cambria Math" panose="02040503050406030204" pitchFamily="18" charset="0"/>
                      </a:rPr>
                      <m:t>𝟎</m:t>
                    </m:r>
                    <m:r>
                      <a:rPr lang="en-US" sz="3600" b="1" i="1" smtClean="0">
                        <a:latin typeface="Cambria Math" panose="02040503050406030204" pitchFamily="18" charset="0"/>
                      </a:rPr>
                      <m:t>𝑩</m:t>
                    </m:r>
                    <m:r>
                      <a:rPr lang="en-US" sz="3600" b="1" i="1">
                        <a:latin typeface="Cambria Math" panose="02040503050406030204" pitchFamily="18" charset="0"/>
                      </a:rPr>
                      <m:t>=</m:t>
                    </m:r>
                    <m:f>
                      <m:fPr>
                        <m:ctrlPr>
                          <a:rPr lang="en-US" sz="3600" b="1" i="1">
                            <a:latin typeface="Cambria Math" panose="02040503050406030204" pitchFamily="18" charset="0"/>
                          </a:rPr>
                        </m:ctrlPr>
                      </m:fPr>
                      <m:num>
                        <m:r>
                          <a:rPr lang="en-US" sz="3600" b="1" i="1" smtClean="0">
                            <a:latin typeface="Cambria Math" panose="02040503050406030204" pitchFamily="18" charset="0"/>
                            <a:ea typeface="Cambria Math" panose="02040503050406030204" pitchFamily="18" charset="0"/>
                          </a:rPr>
                          <m:t>𝟐𝟎𝟎</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rPr>
                          <m:t>𝟕𝟓</m:t>
                        </m:r>
                      </m:num>
                      <m:den>
                        <m:r>
                          <a:rPr lang="en-US" sz="3600" b="1" i="1">
                            <a:latin typeface="Cambria Math" panose="02040503050406030204" pitchFamily="18" charset="0"/>
                          </a:rPr>
                          <m:t>𝟏𝟎𝟎</m:t>
                        </m:r>
                      </m:den>
                    </m:f>
                    <m:r>
                      <a:rPr lang="en-US" sz="3600" b="1" i="1">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𝟏𝟓𝟎</m:t>
                    </m:r>
                  </m:oMath>
                </a14:m>
                <a:r>
                  <a:rPr lang="en-US" sz="3600" dirty="0">
                    <a:solidFill>
                      <a:srgbClr val="000000"/>
                    </a:solidFill>
                  </a:rPr>
                  <a:t> , if </a:t>
                </a:r>
                <a:r>
                  <a:rPr lang="en-US" sz="3600" b="1" dirty="0">
                    <a:solidFill>
                      <a:srgbClr val="FF0000"/>
                    </a:solidFill>
                  </a:rPr>
                  <a:t>TOP = </a:t>
                </a:r>
                <a14:m>
                  <m:oMath xmlns:m="http://schemas.openxmlformats.org/officeDocument/2006/math">
                    <m:r>
                      <a:rPr lang="en-US" sz="3600" b="1" i="1">
                        <a:solidFill>
                          <a:srgbClr val="FF0000"/>
                        </a:solidFill>
                        <a:latin typeface="Cambria Math" panose="02040503050406030204" pitchFamily="18" charset="0"/>
                      </a:rPr>
                      <m:t>𝑶𝑪𝑹</m:t>
                    </m:r>
                    <m:r>
                      <a:rPr lang="en-US" sz="3600" b="1" i="1">
                        <a:solidFill>
                          <a:srgbClr val="FF0000"/>
                        </a:solidFill>
                        <a:latin typeface="Cambria Math" panose="02040503050406030204" pitchFamily="18" charset="0"/>
                      </a:rPr>
                      <m:t>𝟎</m:t>
                    </m:r>
                    <m:r>
                      <a:rPr lang="en-US" sz="3600" b="1" i="1">
                        <a:solidFill>
                          <a:srgbClr val="FF0000"/>
                        </a:solidFill>
                        <a:latin typeface="Cambria Math" panose="02040503050406030204" pitchFamily="18" charset="0"/>
                      </a:rPr>
                      <m:t>𝑨</m:t>
                    </m:r>
                    <m:r>
                      <a:rPr lang="en-US" sz="3600" b="1" i="1">
                        <a:solidFill>
                          <a:srgbClr val="FF0000"/>
                        </a:solidFill>
                        <a:latin typeface="Cambria Math" panose="02040503050406030204" pitchFamily="18" charset="0"/>
                      </a:rPr>
                      <m:t> </m:t>
                    </m:r>
                  </m:oMath>
                </a14:m>
                <a:r>
                  <a:rPr lang="en-US" sz="3600" b="1" dirty="0">
                    <a:solidFill>
                      <a:srgbClr val="FF0000"/>
                    </a:solidFill>
                  </a:rPr>
                  <a:t>= 200</a:t>
                </a:r>
                <a:endParaRPr lang="en-CA" sz="3600" dirty="0">
                  <a:solidFill>
                    <a:srgbClr val="000000"/>
                  </a:solidFill>
                </a:endParaRPr>
              </a:p>
              <a:p>
                <a:pPr marL="0" indent="0" algn="ctr">
                  <a:spcBef>
                    <a:spcPts val="600"/>
                  </a:spcBef>
                  <a:buClrTx/>
                  <a:buNone/>
                </a:pPr>
                <a:endParaRPr lang="en-CA" sz="3600" dirty="0">
                  <a:solidFill>
                    <a:srgbClr val="000000"/>
                  </a:solidFill>
                </a:endParaRPr>
              </a:p>
            </p:txBody>
          </p:sp>
        </mc:Choice>
        <mc:Fallback xmlns="">
          <p:sp>
            <p:nvSpPr>
              <p:cNvPr id="3" name="Content Placeholder 2">
                <a:extLst>
                  <a:ext uri="{FF2B5EF4-FFF2-40B4-BE49-F238E27FC236}">
                    <a16:creationId xmlns:a16="http://schemas.microsoft.com/office/drawing/2014/main" id="{A023CCFE-BC5E-EF01-6B6D-5F644745AF0F}"/>
                  </a:ext>
                </a:extLst>
              </p:cNvPr>
              <p:cNvSpPr>
                <a:spLocks noGrp="1" noRot="1" noChangeAspect="1" noMove="1" noResize="1" noEditPoints="1" noAdjustHandles="1" noChangeArrowheads="1" noChangeShapeType="1" noTextEdit="1"/>
              </p:cNvSpPr>
              <p:nvPr>
                <p:ph idx="1"/>
              </p:nvPr>
            </p:nvSpPr>
            <p:spPr>
              <a:xfrm>
                <a:off x="232013" y="914400"/>
                <a:ext cx="16049767" cy="7184042"/>
              </a:xfrm>
              <a:blipFill>
                <a:blip r:embed="rId3"/>
                <a:stretch>
                  <a:fillRect l="-1139" t="-2037" r="-49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5E868037-B774-3A3D-9B69-97C57BE25446}"/>
              </a:ext>
            </a:extLst>
          </p:cNvPr>
          <p:cNvSpPr>
            <a:spLocks noGrp="1"/>
          </p:cNvSpPr>
          <p:nvPr>
            <p:ph type="dt" sz="half" idx="10"/>
          </p:nvPr>
        </p:nvSpPr>
        <p:spPr/>
        <p:txBody>
          <a:bodyPr/>
          <a:lstStyle/>
          <a:p>
            <a:fld id="{8EAA96D6-6382-41C4-B522-3052A1871C66}" type="datetime3">
              <a:rPr lang="en-US" smtClean="0"/>
              <a:t>17 December 2025</a:t>
            </a:fld>
            <a:endParaRPr lang="en-US"/>
          </a:p>
        </p:txBody>
      </p:sp>
      <p:sp>
        <p:nvSpPr>
          <p:cNvPr id="7" name="Slide Number Placeholder 6">
            <a:extLst>
              <a:ext uri="{FF2B5EF4-FFF2-40B4-BE49-F238E27FC236}">
                <a16:creationId xmlns:a16="http://schemas.microsoft.com/office/drawing/2014/main" id="{975025E8-6D53-84D8-1A20-326C4BC09C4D}"/>
              </a:ext>
            </a:extLst>
          </p:cNvPr>
          <p:cNvSpPr>
            <a:spLocks noGrp="1"/>
          </p:cNvSpPr>
          <p:nvPr>
            <p:ph type="sldNum" sz="quarter" idx="12"/>
          </p:nvPr>
        </p:nvSpPr>
        <p:spPr/>
        <p:txBody>
          <a:bodyPr/>
          <a:lstStyle/>
          <a:p>
            <a:fld id="{48F63A3B-78C7-47BE-AE5E-E10140E04643}" type="slidenum">
              <a:rPr lang="en-US" smtClean="0"/>
              <a:pPr/>
              <a:t>27</a:t>
            </a:fld>
            <a:endParaRPr lang="en-US" dirty="0"/>
          </a:p>
        </p:txBody>
      </p:sp>
    </p:spTree>
    <p:extLst>
      <p:ext uri="{BB962C8B-B14F-4D97-AF65-F5344CB8AC3E}">
        <p14:creationId xmlns:p14="http://schemas.microsoft.com/office/powerpoint/2010/main" val="347059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D3A8B-C92C-B55A-779F-82250A2D1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95B9A-B4B6-64CF-9670-046902E496B4}"/>
              </a:ext>
            </a:extLst>
          </p:cNvPr>
          <p:cNvSpPr>
            <a:spLocks noGrp="1"/>
          </p:cNvSpPr>
          <p:nvPr>
            <p:ph type="title"/>
          </p:nvPr>
        </p:nvSpPr>
        <p:spPr>
          <a:xfrm>
            <a:off x="1514901" y="144806"/>
            <a:ext cx="10795380" cy="701355"/>
          </a:xfrm>
        </p:spPr>
        <p:txBody>
          <a:bodyPr>
            <a:noAutofit/>
          </a:bodyPr>
          <a:lstStyle/>
          <a:p>
            <a:r>
              <a:rPr lang="en-CA" sz="4400" b="1" dirty="0">
                <a:solidFill>
                  <a:srgbClr val="0070C0"/>
                </a:solidFill>
              </a:rPr>
              <a:t>Phase-Correct PWM Mode: Output Frequency</a:t>
            </a:r>
            <a:r>
              <a:rPr lang="en-CA" sz="4400" dirty="0">
                <a:solidFill>
                  <a:srgbClr val="0070C0"/>
                </a:solidFill>
              </a:rPr>
              <a:t> </a:t>
            </a:r>
            <a:endParaRPr lang="en-US" sz="4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B383A0-ACAC-FF30-05A8-F151C3EC72A4}"/>
                  </a:ext>
                </a:extLst>
              </p:cNvPr>
              <p:cNvSpPr>
                <a:spLocks noGrp="1"/>
              </p:cNvSpPr>
              <p:nvPr>
                <p:ph idx="1"/>
              </p:nvPr>
            </p:nvSpPr>
            <p:spPr>
              <a:xfrm>
                <a:off x="150125" y="846162"/>
                <a:ext cx="16090711" cy="7238632"/>
              </a:xfrm>
            </p:spPr>
            <p:txBody>
              <a:bodyPr>
                <a:noAutofit/>
              </a:bodyPr>
              <a:lstStyle/>
              <a:p>
                <a:pPr>
                  <a:spcBef>
                    <a:spcPts val="600"/>
                  </a:spcBef>
                  <a:buClrTx/>
                </a:pPr>
                <a:r>
                  <a:rPr lang="en-US" sz="3600" b="1" dirty="0">
                    <a:solidFill>
                      <a:srgbClr val="FF0000"/>
                    </a:solidFill>
                  </a:rPr>
                  <a:t>Inverting Phase-Correct PWM Duty Cycle</a:t>
                </a:r>
              </a:p>
              <a:p>
                <a:pPr>
                  <a:spcBef>
                    <a:spcPts val="600"/>
                  </a:spcBef>
                  <a:buClrTx/>
                </a:pPr>
                <a:r>
                  <a:rPr lang="en-US" sz="3400" dirty="0">
                    <a:solidFill>
                      <a:srgbClr val="000000"/>
                    </a:solidFill>
                  </a:rPr>
                  <a:t>The </a:t>
                </a:r>
                <a:r>
                  <a:rPr lang="en-US" sz="3400" dirty="0">
                    <a:solidFill>
                      <a:srgbClr val="FF0000"/>
                    </a:solidFill>
                  </a:rPr>
                  <a:t>formula for frequency</a:t>
                </a:r>
                <a:r>
                  <a:rPr lang="en-US" sz="3400" dirty="0">
                    <a:solidFill>
                      <a:srgbClr val="000000"/>
                    </a:solidFill>
                  </a:rPr>
                  <a:t> computation is the </a:t>
                </a:r>
                <a:r>
                  <a:rPr lang="en-US" sz="3400" b="1" dirty="0">
                    <a:solidFill>
                      <a:srgbClr val="FF0000"/>
                    </a:solidFill>
                  </a:rPr>
                  <a:t>same</a:t>
                </a:r>
                <a:r>
                  <a:rPr lang="en-US" sz="3400" dirty="0">
                    <a:solidFill>
                      <a:srgbClr val="000000"/>
                    </a:solidFill>
                  </a:rPr>
                  <a:t> as for </a:t>
                </a:r>
                <a:r>
                  <a:rPr lang="en-US" sz="3400" b="1" dirty="0">
                    <a:solidFill>
                      <a:srgbClr val="FF0000"/>
                    </a:solidFill>
                  </a:rPr>
                  <a:t>non-inverting</a:t>
                </a:r>
                <a:r>
                  <a:rPr lang="en-US" sz="3400" dirty="0">
                    <a:solidFill>
                      <a:srgbClr val="000000"/>
                    </a:solidFill>
                  </a:rPr>
                  <a:t> PC PWM. But the duty cycle of the </a:t>
                </a:r>
                <a:r>
                  <a:rPr lang="en-US" sz="3400" b="1" dirty="0">
                    <a:solidFill>
                      <a:srgbClr val="FF0000"/>
                    </a:solidFill>
                  </a:rPr>
                  <a:t>Inverting mode </a:t>
                </a:r>
                <a:r>
                  <a:rPr lang="en-US" sz="3400" dirty="0">
                    <a:solidFill>
                      <a:srgbClr val="000000"/>
                    </a:solidFill>
                  </a:rPr>
                  <a:t>Phase-Correct PWM signal is calculated as follows</a:t>
                </a:r>
              </a:p>
              <a:p>
                <a:pPr marL="0" indent="0" algn="ctr">
                  <a:spcBef>
                    <a:spcPts val="600"/>
                  </a:spcBef>
                  <a:buClrTx/>
                  <a:buNone/>
                </a:pPr>
                <a14:m>
                  <m:oMath xmlns:m="http://schemas.openxmlformats.org/officeDocument/2006/math">
                    <m:r>
                      <a:rPr lang="en-US" sz="3400" b="1" i="1" smtClean="0">
                        <a:latin typeface="Cambria Math" panose="02040503050406030204" pitchFamily="18" charset="0"/>
                      </a:rPr>
                      <m:t>𝑶𝑪𝑹</m:t>
                    </m:r>
                    <m:r>
                      <a:rPr lang="en-US" sz="3400" b="1" i="1" smtClean="0">
                        <a:latin typeface="Cambria Math" panose="02040503050406030204" pitchFamily="18" charset="0"/>
                      </a:rPr>
                      <m:t>𝟎</m:t>
                    </m:r>
                    <m:r>
                      <a:rPr lang="en-US" sz="3400" b="1" i="1" smtClean="0">
                        <a:latin typeface="Cambria Math" panose="02040503050406030204" pitchFamily="18" charset="0"/>
                      </a:rPr>
                      <m:t>𝒙</m:t>
                    </m:r>
                    <m:r>
                      <a:rPr lang="en-US" sz="3400" b="1" i="1">
                        <a:latin typeface="Cambria Math" panose="02040503050406030204" pitchFamily="18" charset="0"/>
                      </a:rPr>
                      <m:t>=</m:t>
                    </m:r>
                    <m:r>
                      <a:rPr lang="en-US" sz="3400" b="1" i="1" smtClean="0">
                        <a:latin typeface="Cambria Math" panose="02040503050406030204" pitchFamily="18" charset="0"/>
                      </a:rPr>
                      <m:t>𝟐𝟓𝟓</m:t>
                    </m:r>
                    <m:r>
                      <a:rPr lang="en-US" sz="3400" b="1" i="1" smtClean="0">
                        <a:latin typeface="Cambria Math" panose="02040503050406030204" pitchFamily="18" charset="0"/>
                      </a:rPr>
                      <m:t>−</m:t>
                    </m:r>
                    <m:f>
                      <m:fPr>
                        <m:ctrlPr>
                          <a:rPr lang="en-US" sz="3400" b="1" i="1">
                            <a:latin typeface="Cambria Math" panose="02040503050406030204" pitchFamily="18" charset="0"/>
                          </a:rPr>
                        </m:ctrlPr>
                      </m:fPr>
                      <m:num>
                        <m:r>
                          <a:rPr lang="en-US" sz="3400" b="1" i="1" smtClean="0">
                            <a:latin typeface="Cambria Math" panose="02040503050406030204" pitchFamily="18" charset="0"/>
                          </a:rPr>
                          <m:t>𝟐𝟓𝟓</m:t>
                        </m:r>
                        <m:r>
                          <a:rPr lang="en-US" sz="3400" b="1" i="1" smtClean="0">
                            <a:latin typeface="Cambria Math" panose="02040503050406030204" pitchFamily="18" charset="0"/>
                          </a:rPr>
                          <m:t>𝑫</m:t>
                        </m:r>
                      </m:num>
                      <m:den>
                        <m:r>
                          <a:rPr lang="en-US" sz="3400" b="1" i="1" smtClean="0">
                            <a:latin typeface="Cambria Math" panose="02040503050406030204" pitchFamily="18" charset="0"/>
                          </a:rPr>
                          <m:t>𝟏𝟎𝟎</m:t>
                        </m:r>
                      </m:den>
                    </m:f>
                    <m:r>
                      <a:rPr lang="en-US" sz="3400" b="1" i="1" smtClean="0">
                        <a:latin typeface="Cambria Math" panose="02040503050406030204" pitchFamily="18" charset="0"/>
                        <a:ea typeface="Cambria Math" panose="02040503050406030204" pitchFamily="18" charset="0"/>
                      </a:rPr>
                      <m:t>;   </m:t>
                    </m:r>
                    <m:r>
                      <a:rPr lang="en-US" sz="3400" b="1" i="1" smtClean="0">
                        <a:latin typeface="Cambria Math" panose="02040503050406030204" pitchFamily="18" charset="0"/>
                        <a:ea typeface="Cambria Math" panose="02040503050406030204" pitchFamily="18" charset="0"/>
                      </a:rPr>
                      <m:t>𝒙</m:t>
                    </m:r>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𝑨</m:t>
                    </m:r>
                    <m:r>
                      <a:rPr lang="en-US" sz="3400" b="1" i="1" smtClean="0">
                        <a:latin typeface="Cambria Math" panose="02040503050406030204" pitchFamily="18" charset="0"/>
                        <a:ea typeface="Cambria Math" panose="02040503050406030204" pitchFamily="18" charset="0"/>
                      </a:rPr>
                      <m:t> </m:t>
                    </m:r>
                    <m:r>
                      <a:rPr lang="en-US" sz="3400" b="1" i="1" smtClean="0">
                        <a:latin typeface="Cambria Math" panose="02040503050406030204" pitchFamily="18" charset="0"/>
                        <a:ea typeface="Cambria Math" panose="02040503050406030204" pitchFamily="18" charset="0"/>
                      </a:rPr>
                      <m:t>𝒐𝒓</m:t>
                    </m:r>
                    <m:r>
                      <a:rPr lang="en-US" sz="3400" b="1" i="1" smtClean="0">
                        <a:latin typeface="Cambria Math" panose="02040503050406030204" pitchFamily="18" charset="0"/>
                        <a:ea typeface="Cambria Math" panose="02040503050406030204" pitchFamily="18" charset="0"/>
                      </a:rPr>
                      <m:t> </m:t>
                    </m:r>
                    <m:r>
                      <a:rPr lang="en-US" sz="3400" b="1" i="1" smtClean="0">
                        <a:latin typeface="Cambria Math" panose="02040503050406030204" pitchFamily="18" charset="0"/>
                        <a:ea typeface="Cambria Math" panose="02040503050406030204" pitchFamily="18" charset="0"/>
                      </a:rPr>
                      <m:t>𝑩</m:t>
                    </m:r>
                  </m:oMath>
                </a14:m>
                <a:r>
                  <a:rPr lang="en-US" sz="3400" dirty="0">
                    <a:solidFill>
                      <a:srgbClr val="000000"/>
                    </a:solidFill>
                  </a:rPr>
                  <a:t>, if </a:t>
                </a:r>
                <a:r>
                  <a:rPr lang="en-US" sz="3400" b="1" dirty="0">
                    <a:solidFill>
                      <a:srgbClr val="FF0000"/>
                    </a:solidFill>
                  </a:rPr>
                  <a:t>TOP = 0xFF </a:t>
                </a:r>
                <a:r>
                  <a:rPr lang="en-US" sz="3200" b="1" dirty="0">
                    <a:solidFill>
                      <a:srgbClr val="FF0000"/>
                    </a:solidFill>
                  </a:rPr>
                  <a:t>(Phase-Correct mode 1)</a:t>
                </a:r>
                <a:endParaRPr lang="en-US" sz="3400" b="1" dirty="0">
                  <a:solidFill>
                    <a:srgbClr val="FF0000"/>
                  </a:solidFill>
                </a:endParaRPr>
              </a:p>
              <a:p>
                <a:pPr marL="0" indent="0" algn="ctr">
                  <a:spcBef>
                    <a:spcPts val="600"/>
                  </a:spcBef>
                  <a:buNone/>
                </a:pPr>
                <a14:m>
                  <m:oMath xmlns:m="http://schemas.openxmlformats.org/officeDocument/2006/math">
                    <m:r>
                      <a:rPr lang="en-US" sz="3400" b="1" i="1">
                        <a:latin typeface="Cambria Math" panose="02040503050406030204" pitchFamily="18" charset="0"/>
                      </a:rPr>
                      <m:t>𝑶𝑪𝑹</m:t>
                    </m:r>
                    <m:r>
                      <a:rPr lang="en-US" sz="3400" b="1" i="1">
                        <a:latin typeface="Cambria Math" panose="02040503050406030204" pitchFamily="18" charset="0"/>
                      </a:rPr>
                      <m:t>𝟎</m:t>
                    </m:r>
                    <m:r>
                      <a:rPr lang="en-US" sz="3400" b="1" i="1" smtClean="0">
                        <a:latin typeface="Cambria Math" panose="02040503050406030204" pitchFamily="18" charset="0"/>
                      </a:rPr>
                      <m:t>𝑩</m:t>
                    </m:r>
                    <m:r>
                      <a:rPr lang="en-US" sz="3400" b="1" i="1">
                        <a:latin typeface="Cambria Math" panose="02040503050406030204" pitchFamily="18" charset="0"/>
                      </a:rPr>
                      <m:t>=</m:t>
                    </m:r>
                    <m:r>
                      <a:rPr lang="en-US" sz="3400" b="1" i="1" smtClean="0">
                        <a:latin typeface="Cambria Math" panose="02040503050406030204" pitchFamily="18" charset="0"/>
                      </a:rPr>
                      <m:t>𝑶</m:t>
                    </m:r>
                    <m:r>
                      <a:rPr lang="en-US" sz="3400" b="1" i="1">
                        <a:latin typeface="Cambria Math" panose="02040503050406030204" pitchFamily="18" charset="0"/>
                      </a:rPr>
                      <m:t>𝑪𝑹</m:t>
                    </m:r>
                    <m:r>
                      <a:rPr lang="en-US" sz="3400" b="1" i="1">
                        <a:latin typeface="Cambria Math" panose="02040503050406030204" pitchFamily="18" charset="0"/>
                      </a:rPr>
                      <m:t>𝟎</m:t>
                    </m:r>
                    <m:r>
                      <a:rPr lang="en-US" sz="3400" b="1" i="1" smtClean="0">
                        <a:latin typeface="Cambria Math" panose="02040503050406030204" pitchFamily="18" charset="0"/>
                      </a:rPr>
                      <m:t>𝑨</m:t>
                    </m:r>
                    <m:r>
                      <a:rPr lang="en-US" sz="3400" b="1" i="1">
                        <a:latin typeface="Cambria Math" panose="02040503050406030204" pitchFamily="18" charset="0"/>
                      </a:rPr>
                      <m:t>−</m:t>
                    </m:r>
                    <m:f>
                      <m:fPr>
                        <m:ctrlPr>
                          <a:rPr lang="en-US" sz="3400" b="1" i="1">
                            <a:latin typeface="Cambria Math" panose="02040503050406030204" pitchFamily="18" charset="0"/>
                          </a:rPr>
                        </m:ctrlPr>
                      </m:fPr>
                      <m:num>
                        <m:r>
                          <a:rPr lang="en-US" sz="3400" b="1" i="1">
                            <a:latin typeface="Cambria Math" panose="02040503050406030204" pitchFamily="18" charset="0"/>
                          </a:rPr>
                          <m:t>𝑶𝑪𝑹</m:t>
                        </m:r>
                        <m:r>
                          <a:rPr lang="en-US" sz="3400" b="1" i="1">
                            <a:latin typeface="Cambria Math" panose="02040503050406030204" pitchFamily="18" charset="0"/>
                          </a:rPr>
                          <m:t>𝟎</m:t>
                        </m:r>
                        <m:r>
                          <a:rPr lang="en-US" sz="3400" b="1" i="1">
                            <a:latin typeface="Cambria Math" panose="02040503050406030204" pitchFamily="18" charset="0"/>
                          </a:rPr>
                          <m:t>𝑨</m:t>
                        </m:r>
                        <m:r>
                          <a:rPr lang="en-US" sz="3400" b="1" i="1" smtClean="0">
                            <a:latin typeface="Cambria Math" panose="02040503050406030204" pitchFamily="18" charset="0"/>
                            <a:ea typeface="Cambria Math" panose="02040503050406030204" pitchFamily="18" charset="0"/>
                          </a:rPr>
                          <m:t>×</m:t>
                        </m:r>
                        <m:r>
                          <a:rPr lang="en-US" sz="3400" b="1" i="1">
                            <a:latin typeface="Cambria Math" panose="02040503050406030204" pitchFamily="18" charset="0"/>
                          </a:rPr>
                          <m:t>𝑫</m:t>
                        </m:r>
                      </m:num>
                      <m:den>
                        <m:r>
                          <a:rPr lang="en-US" sz="3400" b="1" i="1">
                            <a:latin typeface="Cambria Math" panose="02040503050406030204" pitchFamily="18" charset="0"/>
                          </a:rPr>
                          <m:t>𝟏𝟎𝟎</m:t>
                        </m:r>
                      </m:den>
                    </m:f>
                    <m:r>
                      <a:rPr lang="en-US" sz="3400" b="1" i="1">
                        <a:latin typeface="Cambria Math" panose="02040503050406030204" pitchFamily="18" charset="0"/>
                        <a:ea typeface="Cambria Math" panose="02040503050406030204" pitchFamily="18" charset="0"/>
                      </a:rPr>
                      <m:t>;   </m:t>
                    </m:r>
                    <m:r>
                      <a:rPr lang="en-US" sz="3400" b="1" i="1">
                        <a:latin typeface="Cambria Math" panose="02040503050406030204" pitchFamily="18" charset="0"/>
                        <a:ea typeface="Cambria Math" panose="02040503050406030204" pitchFamily="18" charset="0"/>
                      </a:rPr>
                      <m:t>𝒙</m:t>
                    </m:r>
                    <m:r>
                      <a:rPr lang="en-US" sz="3400" b="1" i="1">
                        <a:latin typeface="Cambria Math" panose="02040503050406030204" pitchFamily="18" charset="0"/>
                        <a:ea typeface="Cambria Math" panose="02040503050406030204" pitchFamily="18" charset="0"/>
                      </a:rPr>
                      <m:t>=</m:t>
                    </m:r>
                    <m:r>
                      <a:rPr lang="en-US" sz="3400" b="1" i="1">
                        <a:latin typeface="Cambria Math" panose="02040503050406030204" pitchFamily="18" charset="0"/>
                        <a:ea typeface="Cambria Math" panose="02040503050406030204" pitchFamily="18" charset="0"/>
                      </a:rPr>
                      <m:t>𝑨</m:t>
                    </m:r>
                    <m:r>
                      <a:rPr lang="en-US" sz="3400" b="1" i="1">
                        <a:latin typeface="Cambria Math" panose="02040503050406030204" pitchFamily="18" charset="0"/>
                        <a:ea typeface="Cambria Math" panose="02040503050406030204" pitchFamily="18" charset="0"/>
                      </a:rPr>
                      <m:t> </m:t>
                    </m:r>
                    <m:r>
                      <a:rPr lang="en-US" sz="3400" b="1" i="1">
                        <a:latin typeface="Cambria Math" panose="02040503050406030204" pitchFamily="18" charset="0"/>
                        <a:ea typeface="Cambria Math" panose="02040503050406030204" pitchFamily="18" charset="0"/>
                      </a:rPr>
                      <m:t>𝒐𝒓</m:t>
                    </m:r>
                    <m:r>
                      <a:rPr lang="en-US" sz="3400" b="1" i="1">
                        <a:latin typeface="Cambria Math" panose="02040503050406030204" pitchFamily="18" charset="0"/>
                        <a:ea typeface="Cambria Math" panose="02040503050406030204" pitchFamily="18" charset="0"/>
                      </a:rPr>
                      <m:t> </m:t>
                    </m:r>
                    <m:r>
                      <a:rPr lang="en-US" sz="3400" b="1" i="1">
                        <a:latin typeface="Cambria Math" panose="02040503050406030204" pitchFamily="18" charset="0"/>
                        <a:ea typeface="Cambria Math" panose="02040503050406030204" pitchFamily="18" charset="0"/>
                      </a:rPr>
                      <m:t>𝑩</m:t>
                    </m:r>
                  </m:oMath>
                </a14:m>
                <a:r>
                  <a:rPr lang="en-US" sz="3400" dirty="0">
                    <a:solidFill>
                      <a:srgbClr val="000000"/>
                    </a:solidFill>
                  </a:rPr>
                  <a:t>, if </a:t>
                </a:r>
                <a:r>
                  <a:rPr lang="en-US" sz="3400" b="1" dirty="0">
                    <a:solidFill>
                      <a:srgbClr val="FF0000"/>
                    </a:solidFill>
                  </a:rPr>
                  <a:t>TOP = </a:t>
                </a:r>
                <a14:m>
                  <m:oMath xmlns:m="http://schemas.openxmlformats.org/officeDocument/2006/math">
                    <m:r>
                      <a:rPr lang="en-US" sz="3400" b="1" i="1" smtClean="0">
                        <a:solidFill>
                          <a:srgbClr val="FF0000"/>
                        </a:solidFill>
                        <a:latin typeface="Cambria Math" panose="02040503050406030204" pitchFamily="18" charset="0"/>
                      </a:rPr>
                      <m:t>𝑶𝑪𝑹</m:t>
                    </m:r>
                    <m:r>
                      <a:rPr lang="en-US" sz="3400" b="1" i="1" smtClean="0">
                        <a:solidFill>
                          <a:srgbClr val="FF0000"/>
                        </a:solidFill>
                        <a:latin typeface="Cambria Math" panose="02040503050406030204" pitchFamily="18" charset="0"/>
                      </a:rPr>
                      <m:t>𝟎</m:t>
                    </m:r>
                    <m:r>
                      <a:rPr lang="en-US" sz="3400" b="1" i="1" smtClean="0">
                        <a:solidFill>
                          <a:srgbClr val="FF0000"/>
                        </a:solidFill>
                        <a:latin typeface="Cambria Math" panose="02040503050406030204" pitchFamily="18" charset="0"/>
                      </a:rPr>
                      <m:t>𝑨</m:t>
                    </m:r>
                  </m:oMath>
                </a14:m>
                <a:r>
                  <a:rPr lang="en-US" sz="3400" b="1" dirty="0">
                    <a:solidFill>
                      <a:srgbClr val="FF0000"/>
                    </a:solidFill>
                  </a:rPr>
                  <a:t> </a:t>
                </a:r>
                <a:r>
                  <a:rPr lang="en-US" sz="3200" b="1" dirty="0">
                    <a:solidFill>
                      <a:srgbClr val="FF0000"/>
                    </a:solidFill>
                  </a:rPr>
                  <a:t>(Phase-Correct mode 5)</a:t>
                </a:r>
                <a:endParaRPr lang="en-US" sz="3400" b="1" dirty="0">
                  <a:solidFill>
                    <a:srgbClr val="FF0000"/>
                  </a:solidFill>
                </a:endParaRPr>
              </a:p>
              <a:p>
                <a:pPr marL="0" indent="0">
                  <a:spcBef>
                    <a:spcPts val="600"/>
                  </a:spcBef>
                  <a:buClrTx/>
                  <a:buNone/>
                </a:pPr>
                <a:r>
                  <a:rPr lang="en-US" sz="3400" dirty="0">
                    <a:solidFill>
                      <a:srgbClr val="000000"/>
                    </a:solidFill>
                  </a:rPr>
                  <a:t>,where D is the Duty cycle that ranges from 0% to 100%. This duty cycle value is the count value that must be loaded into the OCR0A (or OCR0B) register.</a:t>
                </a:r>
              </a:p>
              <a:p>
                <a:pPr marL="0" indent="0">
                  <a:spcBef>
                    <a:spcPts val="600"/>
                  </a:spcBef>
                  <a:buClrTx/>
                  <a:buNone/>
                </a:pPr>
                <a:endParaRPr lang="en-US" sz="2000" dirty="0">
                  <a:solidFill>
                    <a:srgbClr val="000000"/>
                  </a:solidFill>
                </a:endParaRPr>
              </a:p>
              <a:p>
                <a:pPr>
                  <a:spcBef>
                    <a:spcPts val="600"/>
                  </a:spcBef>
                  <a:buClrTx/>
                </a:pPr>
                <a:r>
                  <a:rPr lang="en-US" sz="3600" b="1" dirty="0">
                    <a:solidFill>
                      <a:srgbClr val="FF0000"/>
                    </a:solidFill>
                  </a:rPr>
                  <a:t>Example: </a:t>
                </a:r>
                <a:r>
                  <a:rPr lang="en-US" sz="3600" dirty="0"/>
                  <a:t>1) PWM signal is to have 75% duty cycle. Compute the value for OCR0A.</a:t>
                </a:r>
                <a:endParaRPr lang="en-CA" sz="3600" dirty="0"/>
              </a:p>
              <a:p>
                <a:pPr marL="0" indent="0" algn="ctr">
                  <a:spcBef>
                    <a:spcPts val="600"/>
                  </a:spcBef>
                  <a:buClrTx/>
                  <a:buNone/>
                </a:pPr>
                <a14:m>
                  <m:oMath xmlns:m="http://schemas.openxmlformats.org/officeDocument/2006/math">
                    <m:r>
                      <a:rPr lang="en-US" sz="3400" b="1" i="1" smtClean="0">
                        <a:latin typeface="Cambria Math" panose="02040503050406030204" pitchFamily="18" charset="0"/>
                      </a:rPr>
                      <m:t>𝑶𝑪𝑹</m:t>
                    </m:r>
                    <m:r>
                      <a:rPr lang="en-US" sz="3400" b="1" i="1" smtClean="0">
                        <a:latin typeface="Cambria Math" panose="02040503050406030204" pitchFamily="18" charset="0"/>
                      </a:rPr>
                      <m:t>𝟎</m:t>
                    </m:r>
                    <m:r>
                      <a:rPr lang="en-US" sz="3400" b="1" i="1" smtClean="0">
                        <a:latin typeface="Cambria Math" panose="02040503050406030204" pitchFamily="18" charset="0"/>
                      </a:rPr>
                      <m:t>𝑨</m:t>
                    </m:r>
                    <m:r>
                      <a:rPr lang="en-US" sz="3400" b="1" i="1">
                        <a:latin typeface="Cambria Math" panose="02040503050406030204" pitchFamily="18" charset="0"/>
                      </a:rPr>
                      <m:t>=</m:t>
                    </m:r>
                    <m:r>
                      <a:rPr lang="en-US" sz="3400" b="1" i="1" smtClean="0">
                        <a:latin typeface="Cambria Math" panose="02040503050406030204" pitchFamily="18" charset="0"/>
                      </a:rPr>
                      <m:t>𝟐𝟓𝟓</m:t>
                    </m:r>
                    <m:r>
                      <a:rPr lang="en-US" sz="3400" b="1" i="1" smtClean="0">
                        <a:latin typeface="Cambria Math" panose="02040503050406030204" pitchFamily="18" charset="0"/>
                      </a:rPr>
                      <m:t>−</m:t>
                    </m:r>
                    <m:f>
                      <m:fPr>
                        <m:ctrlPr>
                          <a:rPr lang="en-US" sz="3400" b="1" i="1">
                            <a:latin typeface="Cambria Math" panose="02040503050406030204" pitchFamily="18" charset="0"/>
                          </a:rPr>
                        </m:ctrlPr>
                      </m:fPr>
                      <m:num>
                        <m:r>
                          <a:rPr lang="en-US" sz="3400" b="1" i="1" smtClean="0">
                            <a:latin typeface="Cambria Math" panose="02040503050406030204" pitchFamily="18" charset="0"/>
                          </a:rPr>
                          <m:t>𝟐𝟓𝟓</m:t>
                        </m:r>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𝟕𝟓</m:t>
                        </m:r>
                      </m:num>
                      <m:den>
                        <m:r>
                          <a:rPr lang="en-US" sz="3400" b="1" i="1" smtClean="0">
                            <a:latin typeface="Cambria Math" panose="02040503050406030204" pitchFamily="18" charset="0"/>
                          </a:rPr>
                          <m:t>𝟏𝟎𝟎</m:t>
                        </m:r>
                      </m:den>
                    </m:f>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𝟐𝟓𝟓</m:t>
                    </m:r>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𝟏𝟗𝟐</m:t>
                    </m:r>
                    <m:r>
                      <a:rPr lang="en-US" sz="3400" b="1" i="1" smtClean="0">
                        <a:latin typeface="Cambria Math" panose="02040503050406030204" pitchFamily="18" charset="0"/>
                        <a:ea typeface="Cambria Math" panose="02040503050406030204" pitchFamily="18" charset="0"/>
                      </a:rPr>
                      <m:t>=</m:t>
                    </m:r>
                    <m:r>
                      <a:rPr lang="en-US" sz="3400" b="1" i="1" smtClean="0">
                        <a:latin typeface="Cambria Math" panose="02040503050406030204" pitchFamily="18" charset="0"/>
                        <a:ea typeface="Cambria Math" panose="02040503050406030204" pitchFamily="18" charset="0"/>
                      </a:rPr>
                      <m:t>𝟔𝟑</m:t>
                    </m:r>
                  </m:oMath>
                </a14:m>
                <a:r>
                  <a:rPr lang="en-US" sz="3400" dirty="0">
                    <a:solidFill>
                      <a:srgbClr val="000000"/>
                    </a:solidFill>
                  </a:rPr>
                  <a:t> , if </a:t>
                </a:r>
                <a:r>
                  <a:rPr lang="en-US" sz="3400" b="1" dirty="0">
                    <a:solidFill>
                      <a:srgbClr val="FF0000"/>
                    </a:solidFill>
                  </a:rPr>
                  <a:t>TOP = 0xFF</a:t>
                </a:r>
              </a:p>
              <a:p>
                <a:pPr marL="0" indent="0">
                  <a:spcBef>
                    <a:spcPts val="600"/>
                  </a:spcBef>
                  <a:buClrTx/>
                  <a:buNone/>
                </a:pPr>
                <a:r>
                  <a:rPr lang="en-US" sz="3400" dirty="0"/>
                  <a:t>2) PWM signal is to have 75% duty cycle. Compute the value for OCR0B if OCR0A = 200.</a:t>
                </a:r>
                <a:endParaRPr lang="en-CA" sz="3400" dirty="0"/>
              </a:p>
              <a:p>
                <a:pPr marL="0" indent="0" algn="ctr">
                  <a:spcBef>
                    <a:spcPts val="600"/>
                  </a:spcBef>
                  <a:buClrTx/>
                  <a:buNone/>
                </a:pPr>
                <a14:m>
                  <m:oMath xmlns:m="http://schemas.openxmlformats.org/officeDocument/2006/math">
                    <m:r>
                      <a:rPr lang="en-US" sz="3200" b="1" i="1">
                        <a:latin typeface="Cambria Math" panose="02040503050406030204" pitchFamily="18" charset="0"/>
                      </a:rPr>
                      <m:t>𝑶𝑪𝑹</m:t>
                    </m:r>
                    <m:r>
                      <a:rPr lang="en-US" sz="3200" b="1" i="1">
                        <a:latin typeface="Cambria Math" panose="02040503050406030204" pitchFamily="18" charset="0"/>
                      </a:rPr>
                      <m:t>𝟎</m:t>
                    </m:r>
                    <m:r>
                      <a:rPr lang="en-US" sz="3200" b="1" i="1" smtClean="0">
                        <a:latin typeface="Cambria Math" panose="02040503050406030204" pitchFamily="18" charset="0"/>
                      </a:rPr>
                      <m:t>𝑩</m:t>
                    </m:r>
                    <m:r>
                      <a:rPr lang="en-US" sz="3200" b="1" i="1">
                        <a:latin typeface="Cambria Math" panose="02040503050406030204" pitchFamily="18" charset="0"/>
                      </a:rPr>
                      <m:t>=</m:t>
                    </m:r>
                    <m:r>
                      <a:rPr lang="en-US" sz="3200" b="1" i="1">
                        <a:latin typeface="Cambria Math" panose="02040503050406030204" pitchFamily="18" charset="0"/>
                      </a:rPr>
                      <m:t>𝑶𝑪𝑹</m:t>
                    </m:r>
                    <m:r>
                      <a:rPr lang="en-US" sz="3200" b="1" i="1">
                        <a:latin typeface="Cambria Math" panose="02040503050406030204" pitchFamily="18" charset="0"/>
                      </a:rPr>
                      <m:t>𝟎</m:t>
                    </m:r>
                    <m:r>
                      <a:rPr lang="en-US" sz="3200" b="1" i="1">
                        <a:latin typeface="Cambria Math" panose="02040503050406030204" pitchFamily="18" charset="0"/>
                      </a:rPr>
                      <m:t>𝑨</m:t>
                    </m:r>
                    <m:r>
                      <a:rPr lang="en-US" sz="3200" b="1" i="1">
                        <a:latin typeface="Cambria Math" panose="02040503050406030204" pitchFamily="18" charset="0"/>
                      </a:rPr>
                      <m:t>−</m:t>
                    </m:r>
                    <m:f>
                      <m:fPr>
                        <m:ctrlPr>
                          <a:rPr lang="en-US" sz="3200" b="1" i="1">
                            <a:latin typeface="Cambria Math" panose="02040503050406030204" pitchFamily="18" charset="0"/>
                          </a:rPr>
                        </m:ctrlPr>
                      </m:fPr>
                      <m:num>
                        <m:r>
                          <a:rPr lang="en-US" sz="3200" b="1" i="1">
                            <a:latin typeface="Cambria Math" panose="02040503050406030204" pitchFamily="18" charset="0"/>
                          </a:rPr>
                          <m:t>𝑶𝑪𝑹</m:t>
                        </m:r>
                        <m:r>
                          <a:rPr lang="en-US" sz="3200" b="1" i="1">
                            <a:latin typeface="Cambria Math" panose="02040503050406030204" pitchFamily="18" charset="0"/>
                          </a:rPr>
                          <m:t>𝟎</m:t>
                        </m:r>
                        <m:r>
                          <a:rPr lang="en-US" sz="3200" b="1" i="1">
                            <a:latin typeface="Cambria Math" panose="02040503050406030204" pitchFamily="18" charset="0"/>
                          </a:rPr>
                          <m:t>𝑨</m:t>
                        </m:r>
                        <m:r>
                          <a:rPr lang="en-US" sz="3200" b="1" i="1" smtClean="0">
                            <a:latin typeface="Cambria Math" panose="02040503050406030204" pitchFamily="18" charset="0"/>
                            <a:ea typeface="Cambria Math" panose="02040503050406030204" pitchFamily="18" charset="0"/>
                          </a:rPr>
                          <m:t>×</m:t>
                        </m:r>
                        <m:r>
                          <a:rPr lang="en-US" sz="3200" b="1" i="1">
                            <a:latin typeface="Cambria Math" panose="02040503050406030204" pitchFamily="18" charset="0"/>
                          </a:rPr>
                          <m:t>𝑫</m:t>
                        </m:r>
                      </m:num>
                      <m:den>
                        <m:r>
                          <a:rPr lang="en-US" sz="3200" b="1" i="1">
                            <a:latin typeface="Cambria Math" panose="02040503050406030204" pitchFamily="18" charset="0"/>
                          </a:rPr>
                          <m:t>𝟏𝟎𝟎</m:t>
                        </m:r>
                      </m:den>
                    </m:f>
                    <m:r>
                      <a:rPr lang="en-US" sz="3200" b="1" i="1">
                        <a:latin typeface="Cambria Math" panose="02040503050406030204" pitchFamily="18" charset="0"/>
                      </a:rPr>
                      <m:t>=</m:t>
                    </m:r>
                    <m:r>
                      <a:rPr lang="en-US" sz="3200" b="1" i="1" smtClean="0">
                        <a:latin typeface="Cambria Math" panose="02040503050406030204" pitchFamily="18" charset="0"/>
                        <a:ea typeface="Cambria Math" panose="02040503050406030204" pitchFamily="18" charset="0"/>
                      </a:rPr>
                      <m:t>𝟐𝟎</m:t>
                    </m:r>
                    <m:r>
                      <a:rPr lang="en-US" sz="3200" b="1" i="1" smtClean="0">
                        <a:latin typeface="Cambria Math" panose="02040503050406030204" pitchFamily="18" charset="0"/>
                      </a:rPr>
                      <m:t>𝟎</m:t>
                    </m:r>
                    <m:r>
                      <a:rPr lang="en-US" sz="3200" b="1" i="1">
                        <a:latin typeface="Cambria Math" panose="02040503050406030204" pitchFamily="18" charset="0"/>
                      </a:rPr>
                      <m:t>−</m:t>
                    </m:r>
                    <m:f>
                      <m:fPr>
                        <m:ctrlPr>
                          <a:rPr lang="en-US" sz="3200" b="1" i="1">
                            <a:latin typeface="Cambria Math" panose="02040503050406030204" pitchFamily="18" charset="0"/>
                          </a:rPr>
                        </m:ctrlPr>
                      </m:fPr>
                      <m:num>
                        <m:r>
                          <a:rPr lang="en-US" sz="3200" b="1" i="1" smtClean="0">
                            <a:latin typeface="Cambria Math" panose="02040503050406030204" pitchFamily="18" charset="0"/>
                          </a:rPr>
                          <m:t>𝟐𝟎𝟎</m:t>
                        </m:r>
                        <m:r>
                          <a:rPr lang="en-US" sz="3200" b="1" i="1" smtClean="0">
                            <a:latin typeface="Cambria Math" panose="02040503050406030204" pitchFamily="18" charset="0"/>
                            <a:ea typeface="Cambria Math" panose="02040503050406030204" pitchFamily="18" charset="0"/>
                          </a:rPr>
                          <m:t>×</m:t>
                        </m:r>
                        <m:r>
                          <a:rPr lang="en-US" sz="3200" b="1" i="1" smtClean="0">
                            <a:latin typeface="Cambria Math" panose="02040503050406030204" pitchFamily="18" charset="0"/>
                          </a:rPr>
                          <m:t>𝟕𝟓</m:t>
                        </m:r>
                      </m:num>
                      <m:den>
                        <m:r>
                          <a:rPr lang="en-US" sz="3200" b="1" i="1">
                            <a:latin typeface="Cambria Math" panose="02040503050406030204" pitchFamily="18" charset="0"/>
                          </a:rPr>
                          <m:t>𝟏𝟎𝟎</m:t>
                        </m:r>
                      </m:den>
                    </m:f>
                    <m:r>
                      <a:rPr lang="en-US" sz="3200" b="1" i="1">
                        <a:latin typeface="Cambria Math" panose="02040503050406030204" pitchFamily="18" charset="0"/>
                        <a:ea typeface="Cambria Math" panose="02040503050406030204" pitchFamily="18" charset="0"/>
                      </a:rPr>
                      <m:t>=</m:t>
                    </m:r>
                    <m:r>
                      <a:rPr lang="en-US" sz="3200" b="1" i="1" smtClean="0">
                        <a:latin typeface="Cambria Math" panose="02040503050406030204" pitchFamily="18" charset="0"/>
                        <a:ea typeface="Cambria Math" panose="02040503050406030204" pitchFamily="18" charset="0"/>
                      </a:rPr>
                      <m:t>𝟐𝟎𝟎</m:t>
                    </m:r>
                    <m:r>
                      <a:rPr lang="en-US" sz="3200" b="1" i="1">
                        <a:latin typeface="Cambria Math" panose="02040503050406030204" pitchFamily="18" charset="0"/>
                        <a:ea typeface="Cambria Math" panose="02040503050406030204" pitchFamily="18" charset="0"/>
                      </a:rPr>
                      <m:t>−</m:t>
                    </m:r>
                    <m:r>
                      <a:rPr lang="en-US" sz="3200" b="1" i="1" smtClean="0">
                        <a:latin typeface="Cambria Math" panose="02040503050406030204" pitchFamily="18" charset="0"/>
                        <a:ea typeface="Cambria Math" panose="02040503050406030204" pitchFamily="18" charset="0"/>
                      </a:rPr>
                      <m:t>𝟏𝟓𝟎</m:t>
                    </m:r>
                    <m:r>
                      <a:rPr lang="en-US" sz="3200" b="1" i="1">
                        <a:latin typeface="Cambria Math" panose="02040503050406030204" pitchFamily="18" charset="0"/>
                        <a:ea typeface="Cambria Math" panose="02040503050406030204" pitchFamily="18" charset="0"/>
                      </a:rPr>
                      <m:t>=</m:t>
                    </m:r>
                    <m:r>
                      <a:rPr lang="en-US" sz="3200" b="1" i="1" smtClean="0">
                        <a:latin typeface="Cambria Math" panose="02040503050406030204" pitchFamily="18" charset="0"/>
                        <a:ea typeface="Cambria Math" panose="02040503050406030204" pitchFamily="18" charset="0"/>
                      </a:rPr>
                      <m:t>𝟓𝟎</m:t>
                    </m:r>
                  </m:oMath>
                </a14:m>
                <a:r>
                  <a:rPr lang="en-US" sz="3200" dirty="0">
                    <a:solidFill>
                      <a:srgbClr val="000000"/>
                    </a:solidFill>
                  </a:rPr>
                  <a:t> , if </a:t>
                </a:r>
                <a:r>
                  <a:rPr lang="en-US" sz="3200" b="1" dirty="0">
                    <a:solidFill>
                      <a:srgbClr val="FF0000"/>
                    </a:solidFill>
                  </a:rPr>
                  <a:t>TOP = </a:t>
                </a:r>
                <a14:m>
                  <m:oMath xmlns:m="http://schemas.openxmlformats.org/officeDocument/2006/math">
                    <m:r>
                      <a:rPr lang="en-US" sz="3200" b="1" i="1">
                        <a:solidFill>
                          <a:srgbClr val="FF0000"/>
                        </a:solidFill>
                        <a:latin typeface="Cambria Math" panose="02040503050406030204" pitchFamily="18" charset="0"/>
                      </a:rPr>
                      <m:t>𝑶𝑪𝑹</m:t>
                    </m:r>
                    <m:r>
                      <a:rPr lang="en-US" sz="3200" b="1" i="1">
                        <a:solidFill>
                          <a:srgbClr val="FF0000"/>
                        </a:solidFill>
                        <a:latin typeface="Cambria Math" panose="02040503050406030204" pitchFamily="18" charset="0"/>
                      </a:rPr>
                      <m:t>𝟎</m:t>
                    </m:r>
                    <m:r>
                      <a:rPr lang="en-US" sz="3200" b="1" i="1">
                        <a:solidFill>
                          <a:srgbClr val="FF0000"/>
                        </a:solidFill>
                        <a:latin typeface="Cambria Math" panose="02040503050406030204" pitchFamily="18" charset="0"/>
                      </a:rPr>
                      <m:t>𝑨</m:t>
                    </m:r>
                    <m:r>
                      <a:rPr lang="en-US" sz="3200" b="1" i="1">
                        <a:solidFill>
                          <a:srgbClr val="FF0000"/>
                        </a:solidFill>
                        <a:latin typeface="Cambria Math" panose="02040503050406030204" pitchFamily="18" charset="0"/>
                      </a:rPr>
                      <m:t> </m:t>
                    </m:r>
                  </m:oMath>
                </a14:m>
                <a:r>
                  <a:rPr lang="en-US" sz="3200" b="1" dirty="0">
                    <a:solidFill>
                      <a:srgbClr val="FF0000"/>
                    </a:solidFill>
                  </a:rPr>
                  <a:t>= 200</a:t>
                </a:r>
                <a:endParaRPr lang="en-CA" sz="3200" dirty="0">
                  <a:solidFill>
                    <a:srgbClr val="000000"/>
                  </a:solidFill>
                </a:endParaRPr>
              </a:p>
              <a:p>
                <a:pPr marL="0" indent="0" algn="ctr">
                  <a:spcBef>
                    <a:spcPts val="600"/>
                  </a:spcBef>
                  <a:buClrTx/>
                  <a:buNone/>
                </a:pPr>
                <a:endParaRPr lang="en-CA" sz="3600" dirty="0">
                  <a:solidFill>
                    <a:srgbClr val="000000"/>
                  </a:solidFill>
                </a:endParaRPr>
              </a:p>
            </p:txBody>
          </p:sp>
        </mc:Choice>
        <mc:Fallback xmlns="">
          <p:sp>
            <p:nvSpPr>
              <p:cNvPr id="3" name="Content Placeholder 2">
                <a:extLst>
                  <a:ext uri="{FF2B5EF4-FFF2-40B4-BE49-F238E27FC236}">
                    <a16:creationId xmlns:a16="http://schemas.microsoft.com/office/drawing/2014/main" id="{59B383A0-ACAC-FF30-05A8-F151C3EC72A4}"/>
                  </a:ext>
                </a:extLst>
              </p:cNvPr>
              <p:cNvSpPr>
                <a:spLocks noGrp="1" noRot="1" noChangeAspect="1" noMove="1" noResize="1" noEditPoints="1" noAdjustHandles="1" noChangeArrowheads="1" noChangeShapeType="1" noTextEdit="1"/>
              </p:cNvSpPr>
              <p:nvPr>
                <p:ph idx="1"/>
              </p:nvPr>
            </p:nvSpPr>
            <p:spPr>
              <a:xfrm>
                <a:off x="150125" y="846162"/>
                <a:ext cx="16090711" cy="7238632"/>
              </a:xfrm>
              <a:blipFill>
                <a:blip r:embed="rId2"/>
                <a:stretch>
                  <a:fillRect l="-1061" t="-2106"/>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016D0308-3329-F04C-EBF1-02B22A996EEF}"/>
              </a:ext>
            </a:extLst>
          </p:cNvPr>
          <p:cNvSpPr>
            <a:spLocks noGrp="1"/>
          </p:cNvSpPr>
          <p:nvPr>
            <p:ph type="dt" sz="half" idx="10"/>
          </p:nvPr>
        </p:nvSpPr>
        <p:spPr/>
        <p:txBody>
          <a:bodyPr/>
          <a:lstStyle/>
          <a:p>
            <a:fld id="{8EAA96D6-6382-41C4-B522-3052A1871C66}" type="datetime3">
              <a:rPr lang="en-US" smtClean="0"/>
              <a:t>17 December 2025</a:t>
            </a:fld>
            <a:endParaRPr lang="en-US"/>
          </a:p>
        </p:txBody>
      </p:sp>
      <p:sp>
        <p:nvSpPr>
          <p:cNvPr id="7" name="Slide Number Placeholder 6">
            <a:extLst>
              <a:ext uri="{FF2B5EF4-FFF2-40B4-BE49-F238E27FC236}">
                <a16:creationId xmlns:a16="http://schemas.microsoft.com/office/drawing/2014/main" id="{255368A0-99F1-62E8-5983-7B193CBC6084}"/>
              </a:ext>
            </a:extLst>
          </p:cNvPr>
          <p:cNvSpPr>
            <a:spLocks noGrp="1"/>
          </p:cNvSpPr>
          <p:nvPr>
            <p:ph type="sldNum" sz="quarter" idx="12"/>
          </p:nvPr>
        </p:nvSpPr>
        <p:spPr/>
        <p:txBody>
          <a:bodyPr/>
          <a:lstStyle/>
          <a:p>
            <a:fld id="{48F63A3B-78C7-47BE-AE5E-E10140E04643}" type="slidenum">
              <a:rPr lang="en-US" smtClean="0"/>
              <a:pPr/>
              <a:t>28</a:t>
            </a:fld>
            <a:endParaRPr lang="en-US" dirty="0"/>
          </a:p>
        </p:txBody>
      </p:sp>
    </p:spTree>
    <p:extLst>
      <p:ext uri="{BB962C8B-B14F-4D97-AF65-F5344CB8AC3E}">
        <p14:creationId xmlns:p14="http://schemas.microsoft.com/office/powerpoint/2010/main" val="381806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95796" y="168631"/>
            <a:ext cx="7680037" cy="950973"/>
          </a:xfrm>
        </p:spPr>
        <p:txBody>
          <a:bodyPr>
            <a:normAutofit/>
          </a:bodyPr>
          <a:lstStyle/>
          <a:p>
            <a:r>
              <a:rPr lang="en-CA" sz="5400" b="1" dirty="0">
                <a:solidFill>
                  <a:srgbClr val="0070C0"/>
                </a:solidFill>
              </a:rPr>
              <a:t>Important!</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199506" y="1018006"/>
            <a:ext cx="16043564" cy="3221862"/>
          </a:xfrm>
        </p:spPr>
        <p:txBody>
          <a:bodyPr>
            <a:noAutofit/>
          </a:bodyPr>
          <a:lstStyle/>
          <a:p>
            <a:pPr marL="0" indent="0" algn="just">
              <a:buNone/>
            </a:pPr>
            <a:r>
              <a:rPr lang="en-US" sz="3600" dirty="0"/>
              <a:t>Note that in those WGM modes where OCR0A sets the frequency (modes 2, 5, and 7) then you can't do PWM on channel A (</a:t>
            </a:r>
            <a:r>
              <a:rPr lang="en-US" sz="3600" b="1" dirty="0">
                <a:solidFill>
                  <a:srgbClr val="FF0000"/>
                </a:solidFill>
              </a:rPr>
              <a:t>because OCR0A couldn't be used for two things at once, i.e., setting both PWM frequency and duty cycle!</a:t>
            </a:r>
            <a:r>
              <a:rPr lang="en-US" sz="3600" dirty="0"/>
              <a:t>).</a:t>
            </a:r>
          </a:p>
          <a:p>
            <a:pPr marL="0" indent="0" algn="just">
              <a:buNone/>
            </a:pPr>
            <a:r>
              <a:rPr lang="en-US" sz="3600" dirty="0"/>
              <a:t>So, the </a:t>
            </a:r>
            <a:r>
              <a:rPr lang="en-US" sz="3600" b="1" dirty="0">
                <a:solidFill>
                  <a:srgbClr val="FF0000"/>
                </a:solidFill>
              </a:rPr>
              <a:t>only active PWM channel </a:t>
            </a:r>
            <a:r>
              <a:rPr lang="en-US" sz="3600" dirty="0"/>
              <a:t>in those modes is </a:t>
            </a:r>
            <a:r>
              <a:rPr lang="en-US" sz="3600" b="1" dirty="0">
                <a:solidFill>
                  <a:srgbClr val="0070C0"/>
                </a:solidFill>
              </a:rPr>
              <a:t>channel B</a:t>
            </a:r>
            <a:r>
              <a:rPr lang="en-US" sz="3600" dirty="0"/>
              <a:t> and you set the duty cycle of that (as always) </a:t>
            </a:r>
            <a:r>
              <a:rPr lang="en-US" sz="3600" dirty="0">
                <a:solidFill>
                  <a:srgbClr val="0070C0"/>
                </a:solidFill>
              </a:rPr>
              <a:t>with OCR0B </a:t>
            </a:r>
            <a:r>
              <a:rPr lang="en-US" sz="3600" dirty="0"/>
              <a:t>(set to some value between 0 and the OCR0A upper limit). As such, the PWM output will be on </a:t>
            </a:r>
            <a:r>
              <a:rPr lang="en-US" sz="3600" dirty="0">
                <a:solidFill>
                  <a:srgbClr val="0070C0"/>
                </a:solidFill>
              </a:rPr>
              <a:t>digital pin 05 (PD5)</a:t>
            </a:r>
            <a:r>
              <a:rPr lang="en-US" sz="3600" dirty="0"/>
              <a:t>.</a:t>
            </a:r>
            <a:endParaRPr lang="en-CA" sz="3600" dirty="0"/>
          </a:p>
        </p:txBody>
      </p:sp>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29</a:t>
            </a:fld>
            <a:endParaRPr lang="en-US" dirty="0"/>
          </a:p>
        </p:txBody>
      </p:sp>
      <p:pic>
        <p:nvPicPr>
          <p:cNvPr id="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9590" t="20882" r="6652" b="18737"/>
          <a:stretch/>
        </p:blipFill>
        <p:spPr bwMode="auto">
          <a:xfrm>
            <a:off x="977123" y="4256801"/>
            <a:ext cx="5422683" cy="3842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Arrow Connector 7"/>
          <p:cNvCxnSpPr>
            <a:cxnSpLocks/>
          </p:cNvCxnSpPr>
          <p:nvPr/>
        </p:nvCxnSpPr>
        <p:spPr>
          <a:xfrm flipH="1">
            <a:off x="2341352" y="4111335"/>
            <a:ext cx="7920249" cy="328266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102322" y="7393998"/>
            <a:ext cx="239030" cy="646331"/>
          </a:xfrm>
          <a:prstGeom prst="rect">
            <a:avLst/>
          </a:prstGeom>
          <a:noFill/>
          <a:ln w="57150">
            <a:solidFill>
              <a:srgbClr val="FF0000"/>
            </a:solidFill>
            <a:prstDash val="sysDash"/>
          </a:ln>
        </p:spPr>
        <p:txBody>
          <a:bodyPr wrap="square" rtlCol="0">
            <a:spAutoFit/>
          </a:bodyPr>
          <a:lstStyle/>
          <a:p>
            <a:endParaRPr lang="en-US" sz="3600" dirty="0"/>
          </a:p>
        </p:txBody>
      </p:sp>
      <p:sp>
        <p:nvSpPr>
          <p:cNvPr id="13" name="Rectangle 12"/>
          <p:cNvSpPr/>
          <p:nvPr/>
        </p:nvSpPr>
        <p:spPr>
          <a:xfrm>
            <a:off x="8584442" y="4907942"/>
            <a:ext cx="7658627" cy="1200329"/>
          </a:xfrm>
          <a:prstGeom prst="rect">
            <a:avLst/>
          </a:prstGeom>
        </p:spPr>
        <p:txBody>
          <a:bodyPr wrap="square">
            <a:spAutoFit/>
          </a:bodyPr>
          <a:lstStyle/>
          <a:p>
            <a:pPr algn="just"/>
            <a:r>
              <a:rPr lang="en-US" sz="3600" dirty="0"/>
              <a:t>The PWM output for </a:t>
            </a:r>
            <a:r>
              <a:rPr lang="en-US" sz="3600" b="1" dirty="0">
                <a:solidFill>
                  <a:srgbClr val="FF0000"/>
                </a:solidFill>
              </a:rPr>
              <a:t>channel A</a:t>
            </a:r>
            <a:r>
              <a:rPr lang="en-US" sz="3600" dirty="0"/>
              <a:t> </a:t>
            </a:r>
            <a:r>
              <a:rPr lang="en-US" sz="3600" dirty="0">
                <a:solidFill>
                  <a:srgbClr val="FF0000"/>
                </a:solidFill>
              </a:rPr>
              <a:t>with OCR0A </a:t>
            </a:r>
            <a:r>
              <a:rPr lang="en-US" sz="3600" dirty="0"/>
              <a:t>will be on </a:t>
            </a:r>
            <a:r>
              <a:rPr lang="en-US" sz="3600" dirty="0">
                <a:solidFill>
                  <a:srgbClr val="FF0000"/>
                </a:solidFill>
              </a:rPr>
              <a:t>digital pin 06 (PD6)</a:t>
            </a:r>
            <a:r>
              <a:rPr lang="en-US" sz="3600" dirty="0"/>
              <a:t>.</a:t>
            </a:r>
            <a:endParaRPr lang="en-CA" sz="3600" dirty="0"/>
          </a:p>
        </p:txBody>
      </p:sp>
    </p:spTree>
    <p:extLst>
      <p:ext uri="{BB962C8B-B14F-4D97-AF65-F5344CB8AC3E}">
        <p14:creationId xmlns:p14="http://schemas.microsoft.com/office/powerpoint/2010/main" val="253419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anim calcmode="lin" valueType="num">
                                      <p:cBhvr>
                                        <p:cTn id="16" dur="1000" fill="hold"/>
                                        <p:tgtEl>
                                          <p:spTgt spid="7"/>
                                        </p:tgtEl>
                                        <p:attrNameLst>
                                          <p:attrName>ppt_x</p:attrName>
                                        </p:attrNameLst>
                                      </p:cBhvr>
                                      <p:tavLst>
                                        <p:tav tm="0">
                                          <p:val>
                                            <p:strVal val="#ppt_x"/>
                                          </p:val>
                                        </p:tav>
                                        <p:tav tm="100000">
                                          <p:val>
                                            <p:strVal val="#ppt_x"/>
                                          </p:val>
                                        </p:tav>
                                      </p:tavLst>
                                    </p:anim>
                                    <p:anim calcmode="lin" valueType="num">
                                      <p:cBhvr>
                                        <p:cTn id="1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1)">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circle(in)">
                                      <p:cBhvr>
                                        <p:cTn id="27" dur="2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arn(inVertical)">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12422" y="127687"/>
            <a:ext cx="7922897" cy="718473"/>
          </a:xfrm>
        </p:spPr>
        <p:txBody>
          <a:bodyPr>
            <a:noAutofit/>
          </a:bodyPr>
          <a:lstStyle/>
          <a:p>
            <a:r>
              <a:rPr lang="en-CA" sz="5400" b="1" dirty="0">
                <a:solidFill>
                  <a:srgbClr val="FF0000"/>
                </a:solidFill>
                <a:latin typeface="+mn-lt"/>
              </a:rPr>
              <a:t>Example for Practice</a:t>
            </a:r>
            <a:endParaRPr lang="en-US" sz="5400" b="1" dirty="0">
              <a:solidFill>
                <a:srgbClr val="FF0000"/>
              </a:solidFill>
              <a:latin typeface="+mn-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42918" y="846160"/>
                <a:ext cx="15979934" cy="6906052"/>
              </a:xfrm>
            </p:spPr>
            <p:txBody>
              <a:bodyPr>
                <a:noAutofit/>
              </a:bodyPr>
              <a:lstStyle/>
              <a:p>
                <a:pPr marL="0" indent="0" algn="just">
                  <a:buNone/>
                </a:pPr>
                <a:r>
                  <a:rPr lang="en-US" sz="3600" dirty="0"/>
                  <a:t>Use ATmega328p </a:t>
                </a:r>
                <a:r>
                  <a:rPr lang="en-US" sz="3600" b="1" dirty="0">
                    <a:solidFill>
                      <a:srgbClr val="FF0000"/>
                    </a:solidFill>
                  </a:rPr>
                  <a:t>Timer 0 Fast PWM mode 7</a:t>
                </a:r>
                <a:r>
                  <a:rPr lang="en-US" sz="3600" dirty="0">
                    <a:solidFill>
                      <a:srgbClr val="FF0000"/>
                    </a:solidFill>
                  </a:rPr>
                  <a:t> with TOP</a:t>
                </a:r>
                <a:r>
                  <a:rPr lang="en-US" sz="3600" dirty="0"/>
                  <a:t> at OCR0A and toggle on </a:t>
                </a:r>
                <a:r>
                  <a:rPr lang="en-US" sz="3600" b="1" dirty="0">
                    <a:solidFill>
                      <a:srgbClr val="FF0000"/>
                    </a:solidFill>
                  </a:rPr>
                  <a:t>OC0A pin (PD06)</a:t>
                </a:r>
                <a:r>
                  <a:rPr lang="en-US" sz="3600" dirty="0"/>
                  <a:t>. </a:t>
                </a:r>
                <a:r>
                  <a:rPr lang="en-US" sz="3600" b="1" dirty="0">
                    <a:solidFill>
                      <a:srgbClr val="FF0000"/>
                    </a:solidFill>
                  </a:rPr>
                  <a:t>Calculate</a:t>
                </a:r>
                <a:r>
                  <a:rPr lang="en-US" sz="3600" dirty="0"/>
                  <a:t> the </a:t>
                </a:r>
                <a:r>
                  <a:rPr lang="en-US" sz="3600" dirty="0">
                    <a:solidFill>
                      <a:srgbClr val="FF0000"/>
                    </a:solidFill>
                  </a:rPr>
                  <a:t>PWM frequency</a:t>
                </a:r>
                <a:r>
                  <a:rPr lang="en-US" sz="3600" dirty="0"/>
                  <a:t>. The frequency changes with OCR0A values (100 and 200) loaded. </a:t>
                </a:r>
                <a:r>
                  <a:rPr lang="en-US" sz="3600" b="1" dirty="0">
                    <a:solidFill>
                      <a:srgbClr val="FF0000"/>
                    </a:solidFill>
                  </a:rPr>
                  <a:t>Calculate</a:t>
                </a:r>
                <a:r>
                  <a:rPr lang="en-US" sz="3600" dirty="0"/>
                  <a:t> the fast PWM frequency and duty cycle in this mode. The Pre-scaler value, </a:t>
                </a:r>
                <a:r>
                  <a:rPr lang="en-US" sz="3600" i="1" dirty="0"/>
                  <a:t>N</a:t>
                </a:r>
                <a:r>
                  <a:rPr lang="en-US" sz="3600" dirty="0"/>
                  <a:t> = 1, and the system clock frequency, </a:t>
                </a:r>
                <a:r>
                  <a:rPr lang="en-CA" sz="3600" b="1" i="1" dirty="0" err="1"/>
                  <a:t>f</a:t>
                </a:r>
                <a:r>
                  <a:rPr lang="en-CA" sz="3600" b="1" i="1" baseline="-25000" dirty="0" err="1"/>
                  <a:t>clk_IO</a:t>
                </a:r>
                <a:r>
                  <a:rPr lang="en-US" sz="3600" dirty="0"/>
                  <a:t> = 16 </a:t>
                </a:r>
                <a:r>
                  <a:rPr lang="en-US" sz="3600" dirty="0" err="1"/>
                  <a:t>MHz.</a:t>
                </a:r>
                <a:endParaRPr lang="en-US" sz="3600" dirty="0"/>
              </a:p>
              <a:p>
                <a:pPr marL="0" indent="0" algn="just">
                  <a:buNone/>
                </a:pPr>
                <a:endParaRPr lang="en-US" sz="3600" dirty="0"/>
              </a:p>
              <a:p>
                <a:pPr marL="0" indent="0" algn="just">
                  <a:buNone/>
                </a:pPr>
                <a:r>
                  <a:rPr lang="en-CA" sz="3600" dirty="0"/>
                  <a:t>The PWM frequency for the </a:t>
                </a:r>
                <a:r>
                  <a:rPr lang="en-CA" sz="3600" dirty="0">
                    <a:solidFill>
                      <a:srgbClr val="0070C0"/>
                    </a:solidFill>
                  </a:rPr>
                  <a:t>Fast PWM Mode</a:t>
                </a:r>
                <a:r>
                  <a:rPr lang="en-CA" sz="3600" dirty="0"/>
                  <a:t>:</a:t>
                </a:r>
              </a:p>
              <a:p>
                <a:pPr marL="0" indent="0" algn="just">
                  <a:buNone/>
                </a:pPr>
                <a14:m>
                  <m:oMath xmlns:m="http://schemas.openxmlformats.org/officeDocument/2006/math">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𝑶𝑪</m:t>
                        </m:r>
                        <m:r>
                          <a:rPr lang="en-US" sz="3600" b="1" i="1" smtClean="0">
                            <a:solidFill>
                              <a:srgbClr val="0070C0"/>
                            </a:solidFill>
                            <a:latin typeface="Cambria Math" panose="02040503050406030204" pitchFamily="18" charset="0"/>
                          </a:rPr>
                          <m:t>𝟎</m:t>
                        </m:r>
                        <m:r>
                          <a:rPr lang="en-US" sz="3600" b="1" i="1" smtClean="0">
                            <a:solidFill>
                              <a:srgbClr val="0070C0"/>
                            </a:solidFill>
                            <a:latin typeface="Cambria Math" panose="02040503050406030204" pitchFamily="18" charset="0"/>
                          </a:rPr>
                          <m:t>𝑨𝑭𝑷𝑾𝑴</m:t>
                        </m:r>
                        <m:r>
                          <a:rPr lang="en-US" sz="3600" b="1" i="1" smtClean="0">
                            <a:solidFill>
                              <a:srgbClr val="0070C0"/>
                            </a:solidFill>
                            <a:latin typeface="Cambria Math" panose="02040503050406030204" pitchFamily="18" charset="0"/>
                          </a:rPr>
                          <m:t>𝟕</m:t>
                        </m:r>
                      </m:sub>
                    </m:sSub>
                    <m:r>
                      <a:rPr lang="en-US" sz="3600" b="1" i="1">
                        <a:solidFill>
                          <a:srgbClr val="0070C0"/>
                        </a:solidFill>
                        <a:latin typeface="Cambria Math" panose="02040503050406030204" pitchFamily="18" charset="0"/>
                      </a:rPr>
                      <m:t>=</m:t>
                    </m:r>
                    <m:f>
                      <m:fPr>
                        <m:ctrlPr>
                          <a:rPr lang="en-US" sz="3600" b="1" i="1">
                            <a:solidFill>
                              <a:srgbClr val="0070C0"/>
                            </a:solidFill>
                            <a:latin typeface="Cambria Math" panose="02040503050406030204" pitchFamily="18" charset="0"/>
                          </a:rPr>
                        </m:ctrlPr>
                      </m:fPr>
                      <m:num>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𝒄𝒍𝒌</m:t>
                            </m:r>
                            <m:r>
                              <a:rPr lang="en-US" sz="3600" b="1" i="1">
                                <a:solidFill>
                                  <a:srgbClr val="0070C0"/>
                                </a:solidFill>
                                <a:latin typeface="Cambria Math" panose="02040503050406030204" pitchFamily="18" charset="0"/>
                              </a:rPr>
                              <m:t>_</m:t>
                            </m:r>
                            <m:r>
                              <a:rPr lang="en-US" sz="3600" b="1" i="1">
                                <a:solidFill>
                                  <a:srgbClr val="0070C0"/>
                                </a:solidFill>
                                <a:latin typeface="Cambria Math" panose="02040503050406030204" pitchFamily="18" charset="0"/>
                              </a:rPr>
                              <m:t>𝑰𝑶</m:t>
                            </m:r>
                          </m:sub>
                        </m:sSub>
                      </m:num>
                      <m:den>
                        <m:r>
                          <a:rPr lang="en-US" sz="3600" b="1" i="1">
                            <a:solidFill>
                              <a:srgbClr val="0070C0"/>
                            </a:solidFill>
                            <a:latin typeface="Cambria Math" panose="02040503050406030204" pitchFamily="18" charset="0"/>
                          </a:rPr>
                          <m:t>𝑵</m:t>
                        </m:r>
                        <m:r>
                          <a:rPr lang="en-US" sz="3600" b="1" i="1">
                            <a:solidFill>
                              <a:srgbClr val="0070C0"/>
                            </a:solidFill>
                            <a:latin typeface="Cambria Math" panose="02040503050406030204" pitchFamily="18" charset="0"/>
                            <a:ea typeface="Cambria Math" panose="02040503050406030204" pitchFamily="18" charset="0"/>
                          </a:rPr>
                          <m:t>×</m:t>
                        </m:r>
                        <m:d>
                          <m:dPr>
                            <m:ctrlPr>
                              <a:rPr lang="en-US" sz="3600" b="1" i="1" smtClean="0">
                                <a:solidFill>
                                  <a:srgbClr val="0070C0"/>
                                </a:solidFill>
                                <a:latin typeface="Cambria Math" panose="02040503050406030204" pitchFamily="18" charset="0"/>
                                <a:ea typeface="Cambria Math" panose="02040503050406030204" pitchFamily="18" charset="0"/>
                              </a:rPr>
                            </m:ctrlPr>
                          </m:dPr>
                          <m:e>
                            <m:r>
                              <a:rPr lang="en-US" sz="3600" b="1" i="1" smtClean="0">
                                <a:solidFill>
                                  <a:srgbClr val="0070C0"/>
                                </a:solidFill>
                                <a:latin typeface="Cambria Math" panose="02040503050406030204" pitchFamily="18" charset="0"/>
                                <a:ea typeface="Cambria Math" panose="02040503050406030204" pitchFamily="18" charset="0"/>
                              </a:rPr>
                              <m:t>𝟏</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𝑶𝑪𝑹</m:t>
                            </m:r>
                            <m:r>
                              <a:rPr lang="en-US" sz="3600" b="1" i="1" smtClean="0">
                                <a:solidFill>
                                  <a:srgbClr val="0070C0"/>
                                </a:solidFill>
                                <a:latin typeface="Cambria Math" panose="02040503050406030204" pitchFamily="18" charset="0"/>
                                <a:ea typeface="Cambria Math" panose="02040503050406030204" pitchFamily="18" charset="0"/>
                              </a:rPr>
                              <m:t>𝟎</m:t>
                            </m:r>
                            <m:r>
                              <a:rPr lang="en-US" sz="3600" b="1" i="1" smtClean="0">
                                <a:solidFill>
                                  <a:srgbClr val="0070C0"/>
                                </a:solidFill>
                                <a:latin typeface="Cambria Math" panose="02040503050406030204" pitchFamily="18" charset="0"/>
                                <a:ea typeface="Cambria Math" panose="02040503050406030204" pitchFamily="18" charset="0"/>
                              </a:rPr>
                              <m:t>𝑨</m:t>
                            </m:r>
                          </m:e>
                        </m:d>
                      </m:den>
                    </m:f>
                    <m:r>
                      <a:rPr lang="en-US" sz="3600" b="1" i="1">
                        <a:latin typeface="Cambria Math" panose="02040503050406030204" pitchFamily="18" charset="0"/>
                        <a:ea typeface="Cambria Math" panose="02040503050406030204" pitchFamily="18" charset="0"/>
                      </a:rPr>
                      <m:t>=</m:t>
                    </m:r>
                    <m:f>
                      <m:fPr>
                        <m:ctrlPr>
                          <a:rPr lang="en-US" sz="3600" b="1" i="1">
                            <a:latin typeface="Cambria Math" panose="02040503050406030204" pitchFamily="18" charset="0"/>
                            <a:ea typeface="Cambria Math" panose="02040503050406030204" pitchFamily="18" charset="0"/>
                          </a:rPr>
                        </m:ctrlPr>
                      </m:fPr>
                      <m:num>
                        <m:r>
                          <a:rPr lang="en-US" sz="3600" b="1" i="1" smtClean="0">
                            <a:latin typeface="Cambria Math" panose="02040503050406030204" pitchFamily="18" charset="0"/>
                            <a:ea typeface="Cambria Math" panose="02040503050406030204" pitchFamily="18" charset="0"/>
                          </a:rPr>
                          <m:t>𝟏𝟔</m:t>
                        </m:r>
                        <m:r>
                          <a:rPr lang="en-US" sz="3600" b="1" i="1">
                            <a:latin typeface="Cambria Math" panose="02040503050406030204" pitchFamily="18" charset="0"/>
                            <a:ea typeface="Cambria Math" panose="02040503050406030204" pitchFamily="18" charset="0"/>
                          </a:rPr>
                          <m:t>×</m:t>
                        </m:r>
                        <m:sSup>
                          <m:sSupPr>
                            <m:ctrlPr>
                              <a:rPr lang="en-US" sz="3600" b="1" i="1">
                                <a:latin typeface="Cambria Math" panose="02040503050406030204" pitchFamily="18" charset="0"/>
                                <a:ea typeface="Cambria Math" panose="02040503050406030204" pitchFamily="18" charset="0"/>
                              </a:rPr>
                            </m:ctrlPr>
                          </m:sSupPr>
                          <m:e>
                            <m:r>
                              <a:rPr lang="en-US" sz="3600" b="1" i="1">
                                <a:latin typeface="Cambria Math" panose="02040503050406030204" pitchFamily="18" charset="0"/>
                                <a:ea typeface="Cambria Math" panose="02040503050406030204" pitchFamily="18" charset="0"/>
                              </a:rPr>
                              <m:t>𝟏𝟎</m:t>
                            </m:r>
                          </m:e>
                          <m:sup>
                            <m:r>
                              <a:rPr lang="en-US" sz="3600" b="1" i="1" smtClean="0">
                                <a:latin typeface="Cambria Math" panose="02040503050406030204" pitchFamily="18" charset="0"/>
                                <a:ea typeface="Cambria Math" panose="02040503050406030204" pitchFamily="18" charset="0"/>
                              </a:rPr>
                              <m:t>𝟑</m:t>
                            </m:r>
                          </m:sup>
                        </m:sSup>
                      </m:num>
                      <m:den>
                        <m:r>
                          <a:rPr lang="en-US" sz="3600" b="1" i="1" smtClean="0">
                            <a:latin typeface="Cambria Math" panose="02040503050406030204" pitchFamily="18" charset="0"/>
                            <a:ea typeface="Cambria Math" panose="02040503050406030204" pitchFamily="18" charset="0"/>
                          </a:rPr>
                          <m:t>𝟏</m:t>
                        </m:r>
                        <m:r>
                          <a:rPr lang="en-US" sz="3600" b="1" i="1" smtClean="0">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𝟏𝟎</m:t>
                        </m:r>
                        <m:r>
                          <a:rPr lang="en-US" sz="3600" b="1" i="1" smtClean="0">
                            <a:latin typeface="Cambria Math" panose="02040503050406030204" pitchFamily="18" charset="0"/>
                            <a:ea typeface="Cambria Math" panose="02040503050406030204" pitchFamily="18" charset="0"/>
                          </a:rPr>
                          <m:t>𝟏</m:t>
                        </m:r>
                      </m:den>
                    </m:f>
                    <m:r>
                      <a:rPr lang="en-US" sz="3600" b="1" i="1">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𝟏𝟓𝟖</m:t>
                    </m:r>
                    <m:r>
                      <a:rPr lang="en-US" sz="3600" b="1" i="1" smtClean="0">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𝟒</m:t>
                    </m:r>
                  </m:oMath>
                </a14:m>
                <a:r>
                  <a:rPr lang="en-CA" sz="3600" dirty="0"/>
                  <a:t> kHz</a:t>
                </a:r>
              </a:p>
              <a:p>
                <a:pPr marL="0" indent="0" algn="just">
                  <a:buNone/>
                </a:pPr>
                <a14:m>
                  <m:oMath xmlns:m="http://schemas.openxmlformats.org/officeDocument/2006/math">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𝑶𝑪</m:t>
                        </m:r>
                        <m:r>
                          <a:rPr lang="en-US" sz="3600" b="1" i="1">
                            <a:solidFill>
                              <a:srgbClr val="0070C0"/>
                            </a:solidFill>
                            <a:latin typeface="Cambria Math" panose="02040503050406030204" pitchFamily="18" charset="0"/>
                          </a:rPr>
                          <m:t>𝟎</m:t>
                        </m:r>
                        <m:r>
                          <a:rPr lang="en-US" sz="3600" b="1" i="1">
                            <a:solidFill>
                              <a:srgbClr val="0070C0"/>
                            </a:solidFill>
                            <a:latin typeface="Cambria Math" panose="02040503050406030204" pitchFamily="18" charset="0"/>
                          </a:rPr>
                          <m:t>𝑨𝑭𝑷𝑾𝑴</m:t>
                        </m:r>
                        <m:r>
                          <a:rPr lang="en-US" sz="3600" b="1" i="1" smtClean="0">
                            <a:solidFill>
                              <a:srgbClr val="0070C0"/>
                            </a:solidFill>
                            <a:latin typeface="Cambria Math" panose="02040503050406030204" pitchFamily="18" charset="0"/>
                          </a:rPr>
                          <m:t>𝟕</m:t>
                        </m:r>
                      </m:sub>
                    </m:sSub>
                    <m:r>
                      <a:rPr lang="en-US" sz="3600" b="1" i="1">
                        <a:solidFill>
                          <a:srgbClr val="0070C0"/>
                        </a:solidFill>
                        <a:latin typeface="Cambria Math" panose="02040503050406030204" pitchFamily="18" charset="0"/>
                      </a:rPr>
                      <m:t>=</m:t>
                    </m:r>
                    <m:f>
                      <m:fPr>
                        <m:ctrlPr>
                          <a:rPr lang="en-US" sz="3600" b="1" i="1">
                            <a:solidFill>
                              <a:srgbClr val="0070C0"/>
                            </a:solidFill>
                            <a:latin typeface="Cambria Math" panose="02040503050406030204" pitchFamily="18" charset="0"/>
                          </a:rPr>
                        </m:ctrlPr>
                      </m:fPr>
                      <m:num>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𝒄𝒍𝒌</m:t>
                            </m:r>
                            <m:r>
                              <a:rPr lang="en-US" sz="3600" b="1" i="1">
                                <a:solidFill>
                                  <a:srgbClr val="0070C0"/>
                                </a:solidFill>
                                <a:latin typeface="Cambria Math" panose="02040503050406030204" pitchFamily="18" charset="0"/>
                              </a:rPr>
                              <m:t>_</m:t>
                            </m:r>
                            <m:r>
                              <a:rPr lang="en-US" sz="3600" b="1" i="1">
                                <a:solidFill>
                                  <a:srgbClr val="0070C0"/>
                                </a:solidFill>
                                <a:latin typeface="Cambria Math" panose="02040503050406030204" pitchFamily="18" charset="0"/>
                              </a:rPr>
                              <m:t>𝑰𝑶</m:t>
                            </m:r>
                          </m:sub>
                        </m:sSub>
                      </m:num>
                      <m:den>
                        <m:r>
                          <a:rPr lang="en-US" sz="3600" b="1" i="1">
                            <a:solidFill>
                              <a:srgbClr val="0070C0"/>
                            </a:solidFill>
                            <a:latin typeface="Cambria Math" panose="02040503050406030204" pitchFamily="18" charset="0"/>
                          </a:rPr>
                          <m:t>𝑵</m:t>
                        </m:r>
                        <m:r>
                          <a:rPr lang="en-US" sz="3600" b="1" i="1">
                            <a:solidFill>
                              <a:srgbClr val="0070C0"/>
                            </a:solidFill>
                            <a:latin typeface="Cambria Math" panose="02040503050406030204" pitchFamily="18" charset="0"/>
                            <a:ea typeface="Cambria Math" panose="02040503050406030204" pitchFamily="18" charset="0"/>
                          </a:rPr>
                          <m:t>×</m:t>
                        </m:r>
                        <m:d>
                          <m:dPr>
                            <m:ctrlPr>
                              <a:rPr lang="en-US" sz="3600" b="1" i="1">
                                <a:solidFill>
                                  <a:srgbClr val="0070C0"/>
                                </a:solidFill>
                                <a:latin typeface="Cambria Math" panose="02040503050406030204" pitchFamily="18" charset="0"/>
                                <a:ea typeface="Cambria Math" panose="02040503050406030204" pitchFamily="18" charset="0"/>
                              </a:rPr>
                            </m:ctrlPr>
                          </m:dPr>
                          <m:e>
                            <m:r>
                              <a:rPr lang="en-US" sz="3600" b="1" i="1">
                                <a:solidFill>
                                  <a:srgbClr val="0070C0"/>
                                </a:solidFill>
                                <a:latin typeface="Cambria Math" panose="02040503050406030204" pitchFamily="18" charset="0"/>
                                <a:ea typeface="Cambria Math" panose="02040503050406030204" pitchFamily="18" charset="0"/>
                              </a:rPr>
                              <m:t>𝟏</m:t>
                            </m:r>
                            <m:r>
                              <a:rPr lang="en-US" sz="3600" b="1" i="1">
                                <a:solidFill>
                                  <a:srgbClr val="0070C0"/>
                                </a:solidFill>
                                <a:latin typeface="Cambria Math" panose="02040503050406030204" pitchFamily="18" charset="0"/>
                                <a:ea typeface="Cambria Math" panose="02040503050406030204" pitchFamily="18" charset="0"/>
                              </a:rPr>
                              <m:t>+</m:t>
                            </m:r>
                            <m:r>
                              <a:rPr lang="en-US" sz="3600" b="1" i="1">
                                <a:solidFill>
                                  <a:srgbClr val="0070C0"/>
                                </a:solidFill>
                                <a:latin typeface="Cambria Math" panose="02040503050406030204" pitchFamily="18" charset="0"/>
                                <a:ea typeface="Cambria Math" panose="02040503050406030204" pitchFamily="18" charset="0"/>
                              </a:rPr>
                              <m:t>𝑶𝑪𝑹</m:t>
                            </m:r>
                            <m:r>
                              <a:rPr lang="en-US" sz="3600" b="1" i="1">
                                <a:solidFill>
                                  <a:srgbClr val="0070C0"/>
                                </a:solidFill>
                                <a:latin typeface="Cambria Math" panose="02040503050406030204" pitchFamily="18" charset="0"/>
                                <a:ea typeface="Cambria Math" panose="02040503050406030204" pitchFamily="18" charset="0"/>
                              </a:rPr>
                              <m:t>𝟎</m:t>
                            </m:r>
                            <m:r>
                              <a:rPr lang="en-US" sz="3600" b="1" i="1">
                                <a:solidFill>
                                  <a:srgbClr val="0070C0"/>
                                </a:solidFill>
                                <a:latin typeface="Cambria Math" panose="02040503050406030204" pitchFamily="18" charset="0"/>
                                <a:ea typeface="Cambria Math" panose="02040503050406030204" pitchFamily="18" charset="0"/>
                              </a:rPr>
                              <m:t>𝑨</m:t>
                            </m:r>
                          </m:e>
                        </m:d>
                      </m:den>
                    </m:f>
                    <m:r>
                      <a:rPr lang="en-US" sz="3600" b="1" i="1">
                        <a:latin typeface="Cambria Math" panose="02040503050406030204" pitchFamily="18" charset="0"/>
                        <a:ea typeface="Cambria Math" panose="02040503050406030204" pitchFamily="18" charset="0"/>
                      </a:rPr>
                      <m:t>=</m:t>
                    </m:r>
                    <m:f>
                      <m:fPr>
                        <m:ctrlPr>
                          <a:rPr lang="en-US" sz="3600" b="1" i="1">
                            <a:latin typeface="Cambria Math" panose="02040503050406030204" pitchFamily="18" charset="0"/>
                            <a:ea typeface="Cambria Math" panose="02040503050406030204" pitchFamily="18" charset="0"/>
                          </a:rPr>
                        </m:ctrlPr>
                      </m:fPr>
                      <m:num>
                        <m:r>
                          <a:rPr lang="en-US" sz="3600" b="1" i="1">
                            <a:latin typeface="Cambria Math" panose="02040503050406030204" pitchFamily="18" charset="0"/>
                            <a:ea typeface="Cambria Math" panose="02040503050406030204" pitchFamily="18" charset="0"/>
                          </a:rPr>
                          <m:t>𝟏𝟔</m:t>
                        </m:r>
                        <m:r>
                          <a:rPr lang="en-US" sz="3600" b="1" i="1">
                            <a:latin typeface="Cambria Math" panose="02040503050406030204" pitchFamily="18" charset="0"/>
                            <a:ea typeface="Cambria Math" panose="02040503050406030204" pitchFamily="18" charset="0"/>
                          </a:rPr>
                          <m:t>×</m:t>
                        </m:r>
                        <m:sSup>
                          <m:sSupPr>
                            <m:ctrlPr>
                              <a:rPr lang="en-US" sz="3600" b="1" i="1">
                                <a:latin typeface="Cambria Math" panose="02040503050406030204" pitchFamily="18" charset="0"/>
                                <a:ea typeface="Cambria Math" panose="02040503050406030204" pitchFamily="18" charset="0"/>
                              </a:rPr>
                            </m:ctrlPr>
                          </m:sSupPr>
                          <m:e>
                            <m:r>
                              <a:rPr lang="en-US" sz="3600" b="1" i="1">
                                <a:latin typeface="Cambria Math" panose="02040503050406030204" pitchFamily="18" charset="0"/>
                                <a:ea typeface="Cambria Math" panose="02040503050406030204" pitchFamily="18" charset="0"/>
                              </a:rPr>
                              <m:t>𝟏𝟎</m:t>
                            </m:r>
                          </m:e>
                          <m:sup>
                            <m:r>
                              <a:rPr lang="en-US" sz="3600" b="1" i="1">
                                <a:latin typeface="Cambria Math" panose="02040503050406030204" pitchFamily="18" charset="0"/>
                                <a:ea typeface="Cambria Math" panose="02040503050406030204" pitchFamily="18" charset="0"/>
                              </a:rPr>
                              <m:t>𝟑</m:t>
                            </m:r>
                          </m:sup>
                        </m:sSup>
                      </m:num>
                      <m:den>
                        <m:r>
                          <a:rPr lang="en-US" sz="3600" b="1" i="1">
                            <a:latin typeface="Cambria Math" panose="02040503050406030204" pitchFamily="18" charset="0"/>
                            <a:ea typeface="Cambria Math" panose="02040503050406030204" pitchFamily="18" charset="0"/>
                          </a:rPr>
                          <m:t>𝟏</m:t>
                        </m:r>
                        <m:r>
                          <a:rPr lang="en-US" sz="3600" b="1" i="1">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𝟐</m:t>
                        </m:r>
                        <m:r>
                          <a:rPr lang="en-US" sz="3600" b="1" i="1">
                            <a:latin typeface="Cambria Math" panose="02040503050406030204" pitchFamily="18" charset="0"/>
                            <a:ea typeface="Cambria Math" panose="02040503050406030204" pitchFamily="18" charset="0"/>
                          </a:rPr>
                          <m:t>𝟎𝟏</m:t>
                        </m:r>
                      </m:den>
                    </m:f>
                    <m:r>
                      <a:rPr lang="en-US" sz="3600" b="1" i="1">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𝟕</m:t>
                    </m:r>
                    <m:r>
                      <a:rPr lang="en-US" sz="3600" b="1" i="1">
                        <a:latin typeface="Cambria Math" panose="02040503050406030204" pitchFamily="18" charset="0"/>
                        <a:ea typeface="Cambria Math" panose="02040503050406030204" pitchFamily="18" charset="0"/>
                      </a:rPr>
                      <m:t>𝟗</m:t>
                    </m:r>
                    <m:r>
                      <a:rPr lang="en-US" sz="3600" b="1" i="1">
                        <a:latin typeface="Cambria Math" panose="02040503050406030204" pitchFamily="18" charset="0"/>
                        <a:ea typeface="Cambria Math" panose="02040503050406030204" pitchFamily="18" charset="0"/>
                      </a:rPr>
                      <m:t>.</m:t>
                    </m:r>
                    <m:r>
                      <a:rPr lang="en-US" sz="3600" b="1" i="1" smtClean="0">
                        <a:latin typeface="Cambria Math" panose="02040503050406030204" pitchFamily="18" charset="0"/>
                        <a:ea typeface="Cambria Math" panose="02040503050406030204" pitchFamily="18" charset="0"/>
                      </a:rPr>
                      <m:t>𝟐</m:t>
                    </m:r>
                  </m:oMath>
                </a14:m>
                <a:r>
                  <a:rPr lang="en-CA" sz="3600" dirty="0"/>
                  <a:t> kHz</a:t>
                </a: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242918" y="846160"/>
                <a:ext cx="15979934" cy="6906052"/>
              </a:xfrm>
              <a:blipFill>
                <a:blip r:embed="rId2"/>
                <a:stretch>
                  <a:fillRect l="-1183" t="-2207" r="-114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30</a:t>
            </a:fld>
            <a:endParaRPr lang="en-US" dirty="0"/>
          </a:p>
        </p:txBody>
      </p:sp>
      <p:pic>
        <p:nvPicPr>
          <p:cNvPr id="9" name="Picture 4" descr="Arduino et Timer [Wiki]">
            <a:extLst>
              <a:ext uri="{FF2B5EF4-FFF2-40B4-BE49-F238E27FC236}">
                <a16:creationId xmlns:a16="http://schemas.microsoft.com/office/drawing/2014/main" id="{036BA81F-B402-1351-BFE2-9DF7737441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2" t="2864" b="2508"/>
          <a:stretch/>
        </p:blipFill>
        <p:spPr bwMode="auto">
          <a:xfrm>
            <a:off x="10222175" y="2932142"/>
            <a:ext cx="6007755" cy="502843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B25A936-2701-9A83-8BDB-70DCE236B199}"/>
              </a:ext>
            </a:extLst>
          </p:cNvPr>
          <p:cNvSpPr txBox="1"/>
          <p:nvPr/>
        </p:nvSpPr>
        <p:spPr>
          <a:xfrm rot="5400000">
            <a:off x="13016689" y="6302177"/>
            <a:ext cx="239030" cy="646331"/>
          </a:xfrm>
          <a:prstGeom prst="rect">
            <a:avLst/>
          </a:prstGeom>
          <a:noFill/>
          <a:ln w="57150">
            <a:solidFill>
              <a:srgbClr val="FF0000"/>
            </a:solidFill>
            <a:prstDash val="sysDash"/>
          </a:ln>
        </p:spPr>
        <p:txBody>
          <a:bodyPr wrap="square" rtlCol="0">
            <a:spAutoFit/>
          </a:bodyPr>
          <a:lstStyle/>
          <a:p>
            <a:pPr algn="r"/>
            <a:endParaRPr lang="en-US" sz="3600" dirty="0"/>
          </a:p>
        </p:txBody>
      </p:sp>
      <p:pic>
        <p:nvPicPr>
          <p:cNvPr id="7" name="Picture 6">
            <a:extLst>
              <a:ext uri="{FF2B5EF4-FFF2-40B4-BE49-F238E27FC236}">
                <a16:creationId xmlns:a16="http://schemas.microsoft.com/office/drawing/2014/main" id="{404D3C55-806E-FD60-175C-060235EC1FD9}"/>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42918" y="6214111"/>
            <a:ext cx="9624982" cy="1705523"/>
          </a:xfrm>
          <a:prstGeom prst="rect">
            <a:avLst/>
          </a:prstGeom>
          <a:ln>
            <a:solidFill>
              <a:srgbClr val="00B0F0"/>
            </a:solidFill>
          </a:ln>
        </p:spPr>
      </p:pic>
      <p:sp>
        <p:nvSpPr>
          <p:cNvPr id="8" name="TextBox 7">
            <a:extLst>
              <a:ext uri="{FF2B5EF4-FFF2-40B4-BE49-F238E27FC236}">
                <a16:creationId xmlns:a16="http://schemas.microsoft.com/office/drawing/2014/main" id="{AC337C1D-2AAA-7799-89D9-8776CAC7B76D}"/>
              </a:ext>
            </a:extLst>
          </p:cNvPr>
          <p:cNvSpPr txBox="1"/>
          <p:nvPr/>
        </p:nvSpPr>
        <p:spPr>
          <a:xfrm>
            <a:off x="317500" y="7192295"/>
            <a:ext cx="2933701" cy="646331"/>
          </a:xfrm>
          <a:prstGeom prst="rect">
            <a:avLst/>
          </a:prstGeom>
          <a:noFill/>
          <a:ln w="57150">
            <a:solidFill>
              <a:srgbClr val="FF0000"/>
            </a:solidFill>
            <a:prstDash val="sysDash"/>
          </a:ln>
        </p:spPr>
        <p:txBody>
          <a:bodyPr wrap="square" rtlCol="0">
            <a:spAutoFit/>
          </a:bodyPr>
          <a:lstStyle/>
          <a:p>
            <a:endParaRPr lang="en-US" sz="3600" dirty="0"/>
          </a:p>
        </p:txBody>
      </p:sp>
      <p:cxnSp>
        <p:nvCxnSpPr>
          <p:cNvPr id="11" name="Straight Connector 10">
            <a:extLst>
              <a:ext uri="{FF2B5EF4-FFF2-40B4-BE49-F238E27FC236}">
                <a16:creationId xmlns:a16="http://schemas.microsoft.com/office/drawing/2014/main" id="{4E32C831-769F-A819-FE25-478D904D494E}"/>
              </a:ext>
            </a:extLst>
          </p:cNvPr>
          <p:cNvCxnSpPr>
            <a:cxnSpLocks/>
          </p:cNvCxnSpPr>
          <p:nvPr/>
        </p:nvCxnSpPr>
        <p:spPr>
          <a:xfrm>
            <a:off x="3454400" y="7890001"/>
            <a:ext cx="51689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1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1+#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heel(1)">
                                      <p:cBhvr>
                                        <p:cTn id="29" dur="20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ppt_x"/>
                                          </p:val>
                                        </p:tav>
                                        <p:tav tm="100000">
                                          <p:val>
                                            <p:strVal val="#ppt_x"/>
                                          </p:val>
                                        </p:tav>
                                      </p:tavLst>
                                    </p:anim>
                                    <p:anim calcmode="lin" valueType="num">
                                      <p:cBhvr additive="base">
                                        <p:cTn id="3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heel(1)">
                                      <p:cBhvr>
                                        <p:cTn id="40" dur="2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circle(in)">
                                      <p:cBhvr>
                                        <p:cTn id="4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59467" y="168631"/>
            <a:ext cx="10429211" cy="950973"/>
          </a:xfrm>
        </p:spPr>
        <p:txBody>
          <a:bodyPr>
            <a:normAutofit/>
          </a:bodyPr>
          <a:lstStyle/>
          <a:p>
            <a:r>
              <a:rPr lang="nn-NO" sz="5400" b="1" dirty="0">
                <a:solidFill>
                  <a:srgbClr val="0070C0"/>
                </a:solidFill>
              </a:rPr>
              <a:t>Programming Arduino for Fast PWM</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457201" y="1053104"/>
            <a:ext cx="15697198" cy="6866530"/>
          </a:xfrm>
        </p:spPr>
        <p:txBody>
          <a:bodyPr>
            <a:noAutofit/>
          </a:bodyPr>
          <a:lstStyle/>
          <a:p>
            <a:pPr marL="0" indent="0" algn="just">
              <a:spcBef>
                <a:spcPts val="0"/>
              </a:spcBef>
              <a:buNone/>
            </a:pPr>
            <a:r>
              <a:rPr lang="en-CA" sz="2800" dirty="0"/>
              <a:t>#</a:t>
            </a:r>
            <a:r>
              <a:rPr lang="en-CA" sz="2800" dirty="0" err="1"/>
              <a:t>ifndef</a:t>
            </a:r>
            <a:r>
              <a:rPr lang="en-CA" sz="2800" dirty="0"/>
              <a:t> F_CPU</a:t>
            </a:r>
          </a:p>
          <a:p>
            <a:pPr marL="0" indent="0" algn="just">
              <a:spcBef>
                <a:spcPts val="0"/>
              </a:spcBef>
              <a:buNone/>
            </a:pPr>
            <a:r>
              <a:rPr lang="en-CA" sz="2800" dirty="0"/>
              <a:t>#define F_CPU 16000000UL      // Clock frequency is 16 MHz</a:t>
            </a:r>
          </a:p>
          <a:p>
            <a:pPr marL="0" indent="0" algn="just">
              <a:spcBef>
                <a:spcPts val="0"/>
              </a:spcBef>
              <a:buNone/>
            </a:pPr>
            <a:r>
              <a:rPr lang="en-CA" sz="2800" dirty="0"/>
              <a:t>#</a:t>
            </a:r>
            <a:r>
              <a:rPr lang="en-CA" sz="2800" dirty="0" err="1"/>
              <a:t>endif</a:t>
            </a:r>
            <a:endParaRPr lang="en-CA" sz="2800" dirty="0"/>
          </a:p>
          <a:p>
            <a:pPr marL="0" indent="0" algn="just">
              <a:spcBef>
                <a:spcPts val="0"/>
              </a:spcBef>
              <a:buNone/>
            </a:pPr>
            <a:r>
              <a:rPr lang="en-CA" sz="2800" dirty="0"/>
              <a:t>#include &lt;</a:t>
            </a:r>
            <a:r>
              <a:rPr lang="en-CA" sz="2800" dirty="0" err="1"/>
              <a:t>avr</a:t>
            </a:r>
            <a:r>
              <a:rPr lang="en-CA" sz="2800" dirty="0"/>
              <a:t>/</a:t>
            </a:r>
            <a:r>
              <a:rPr lang="en-CA" sz="2800" dirty="0" err="1"/>
              <a:t>io.h</a:t>
            </a:r>
            <a:r>
              <a:rPr lang="en-CA" sz="2800" dirty="0"/>
              <a:t>&gt;</a:t>
            </a:r>
          </a:p>
          <a:p>
            <a:pPr marL="0" indent="0" algn="just">
              <a:spcBef>
                <a:spcPts val="0"/>
              </a:spcBef>
              <a:buNone/>
            </a:pPr>
            <a:endParaRPr lang="en-CA" sz="2800" dirty="0"/>
          </a:p>
          <a:p>
            <a:pPr marL="0" indent="0" algn="just">
              <a:spcBef>
                <a:spcPts val="0"/>
              </a:spcBef>
              <a:buNone/>
            </a:pPr>
            <a:r>
              <a:rPr lang="en-CA" sz="2800" dirty="0" err="1"/>
              <a:t>int</a:t>
            </a:r>
            <a:r>
              <a:rPr lang="en-CA" sz="2800" dirty="0"/>
              <a:t> main() {</a:t>
            </a:r>
          </a:p>
          <a:p>
            <a:pPr marL="0" indent="0" algn="just">
              <a:spcBef>
                <a:spcPts val="0"/>
              </a:spcBef>
              <a:buNone/>
            </a:pPr>
            <a:r>
              <a:rPr lang="en-CA" sz="2800" dirty="0"/>
              <a:t>  // </a:t>
            </a:r>
            <a:r>
              <a:rPr lang="en-CA" sz="2800" b="1" dirty="0">
                <a:solidFill>
                  <a:srgbClr val="0070C0"/>
                </a:solidFill>
              </a:rPr>
              <a:t>OC0B pin </a:t>
            </a:r>
            <a:r>
              <a:rPr lang="en-CA" sz="2800" dirty="0"/>
              <a:t>is set as PWM output pin by sending a HIGH to Port D’s Data Direction Register, DDRD</a:t>
            </a:r>
          </a:p>
          <a:p>
            <a:pPr marL="0" indent="0" algn="just">
              <a:spcBef>
                <a:spcPts val="0"/>
              </a:spcBef>
              <a:buNone/>
            </a:pPr>
            <a:r>
              <a:rPr lang="en-CA" sz="2800" dirty="0"/>
              <a:t>  DDRD |= (1&lt;&lt;PD5);  </a:t>
            </a:r>
          </a:p>
          <a:p>
            <a:pPr marL="0" indent="0" algn="just">
              <a:spcBef>
                <a:spcPts val="0"/>
              </a:spcBef>
              <a:buNone/>
            </a:pPr>
            <a:r>
              <a:rPr lang="en-CA" sz="2800" dirty="0"/>
              <a:t>  OCR0B = 191; // Load 191 into OCR0B for setting its duty cycle to 75% </a:t>
            </a:r>
            <a:r>
              <a:rPr lang="en-CA" sz="2800" dirty="0">
                <a:solidFill>
                  <a:srgbClr val="FF0000"/>
                </a:solidFill>
              </a:rPr>
              <a:t>(See previous example, slide # 13</a:t>
            </a:r>
            <a:r>
              <a:rPr lang="en-CA" sz="2800" baseline="30000" dirty="0">
                <a:solidFill>
                  <a:srgbClr val="FF0000"/>
                </a:solidFill>
              </a:rPr>
              <a:t>*</a:t>
            </a:r>
            <a:r>
              <a:rPr lang="en-CA" sz="2800" dirty="0">
                <a:solidFill>
                  <a:srgbClr val="FF0000"/>
                </a:solidFill>
              </a:rPr>
              <a:t>)</a:t>
            </a:r>
            <a:endParaRPr lang="en-CA" sz="2800" dirty="0"/>
          </a:p>
          <a:p>
            <a:pPr marL="0" indent="0" algn="just">
              <a:spcBef>
                <a:spcPts val="0"/>
              </a:spcBef>
              <a:buNone/>
            </a:pPr>
            <a:r>
              <a:rPr lang="en-CA" sz="2800" dirty="0"/>
              <a:t>   // Configure TCCR0A and TCCR0B register for (</a:t>
            </a:r>
            <a:r>
              <a:rPr lang="en-CA" sz="2800" dirty="0" err="1"/>
              <a:t>i</a:t>
            </a:r>
            <a:r>
              <a:rPr lang="en-CA" sz="2800" dirty="0"/>
              <a:t>) </a:t>
            </a:r>
            <a:r>
              <a:rPr lang="en-CA" sz="2800" b="1" dirty="0">
                <a:solidFill>
                  <a:srgbClr val="FF0000"/>
                </a:solidFill>
              </a:rPr>
              <a:t>non-inverting</a:t>
            </a:r>
            <a:r>
              <a:rPr lang="en-CA" sz="2800" dirty="0"/>
              <a:t> </a:t>
            </a:r>
            <a:r>
              <a:rPr lang="en-CA" sz="2800" b="1" dirty="0">
                <a:solidFill>
                  <a:srgbClr val="FF0000"/>
                </a:solidFill>
              </a:rPr>
              <a:t>(10)</a:t>
            </a:r>
            <a:r>
              <a:rPr lang="en-CA" sz="2800" dirty="0"/>
              <a:t>, (ii) Fast PWM </a:t>
            </a:r>
            <a:r>
              <a:rPr lang="en-CA" sz="2800" b="1" dirty="0">
                <a:solidFill>
                  <a:srgbClr val="00B0F0"/>
                </a:solidFill>
              </a:rPr>
              <a:t>mode 3 (011)</a:t>
            </a:r>
            <a:r>
              <a:rPr lang="en-CA" sz="2800" dirty="0"/>
              <a:t>, </a:t>
            </a:r>
          </a:p>
          <a:p>
            <a:pPr marL="0" indent="0" algn="just">
              <a:spcBef>
                <a:spcPts val="0"/>
              </a:spcBef>
              <a:buNone/>
            </a:pPr>
            <a:r>
              <a:rPr lang="en-CA" sz="2800" dirty="0"/>
              <a:t>  // (iii) Pre-scalar (101) for frequency control. </a:t>
            </a:r>
            <a:r>
              <a:rPr lang="en-CA" sz="2800" b="1" dirty="0">
                <a:solidFill>
                  <a:srgbClr val="0070C0"/>
                </a:solidFill>
              </a:rPr>
              <a:t>By default, 0s are there, but you may set them explicitly.</a:t>
            </a:r>
          </a:p>
          <a:p>
            <a:pPr marL="0" indent="0" algn="just">
              <a:spcBef>
                <a:spcPts val="0"/>
              </a:spcBef>
              <a:buNone/>
            </a:pPr>
            <a:r>
              <a:rPr lang="en-CA" sz="2800" dirty="0"/>
              <a:t>  TCCR0A |= (1 &lt;&lt; COM0B1) | (1&lt;&lt;WGM01) | (1&lt;&lt;WGM00); </a:t>
            </a:r>
          </a:p>
          <a:p>
            <a:pPr marL="0" indent="0" algn="just">
              <a:spcBef>
                <a:spcPts val="0"/>
              </a:spcBef>
              <a:buNone/>
            </a:pPr>
            <a:r>
              <a:rPr lang="en-CA" sz="2800" dirty="0"/>
              <a:t>  TCCR0B |= (1&lt;&lt;CS02) | (1&lt;&lt;CS00);  // CS02:00 = 101, N = 1024</a:t>
            </a:r>
          </a:p>
          <a:p>
            <a:pPr marL="0" indent="0" algn="just">
              <a:spcBef>
                <a:spcPts val="0"/>
              </a:spcBef>
              <a:buNone/>
            </a:pPr>
            <a:r>
              <a:rPr lang="en-CA" sz="2800" b="1" dirty="0">
                <a:solidFill>
                  <a:srgbClr val="0070C0"/>
                </a:solidFill>
              </a:rPr>
              <a:t> // TCCR0A=0b00100011; TCCR0B=0b00000101</a:t>
            </a:r>
          </a:p>
          <a:p>
            <a:pPr marL="0" indent="0" algn="just">
              <a:spcBef>
                <a:spcPts val="0"/>
              </a:spcBef>
              <a:buNone/>
            </a:pPr>
            <a:r>
              <a:rPr lang="en-CA" sz="2800" dirty="0"/>
              <a:t>  while(1);</a:t>
            </a:r>
          </a:p>
          <a:p>
            <a:pPr marL="0" indent="0" algn="just">
              <a:spcBef>
                <a:spcPts val="0"/>
              </a:spcBef>
              <a:buNone/>
            </a:pPr>
            <a:r>
              <a:rPr lang="en-CA" sz="2800" dirty="0"/>
              <a:t>return 0;</a:t>
            </a:r>
          </a:p>
          <a:p>
            <a:pPr marL="0" indent="0" algn="just">
              <a:spcBef>
                <a:spcPts val="0"/>
              </a:spcBef>
              <a:buNone/>
            </a:pPr>
            <a:r>
              <a:rPr lang="en-CA" sz="2800" dirty="0"/>
              <a:t>}</a:t>
            </a:r>
          </a:p>
        </p:txBody>
      </p:sp>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31</a:t>
            </a:fld>
            <a:endParaRPr lang="en-US" dirty="0"/>
          </a:p>
        </p:txBody>
      </p:sp>
      <p:pic>
        <p:nvPicPr>
          <p:cNvPr id="7" name="Picture 6">
            <a:extLst>
              <a:ext uri="{FF2B5EF4-FFF2-40B4-BE49-F238E27FC236}">
                <a16:creationId xmlns:a16="http://schemas.microsoft.com/office/drawing/2014/main" id="{931E02D3-F3EA-CD85-938D-193D1901592F}"/>
              </a:ext>
            </a:extLst>
          </p:cNvPr>
          <p:cNvPicPr>
            <a:picLocks noChangeAspect="1"/>
          </p:cNvPicPr>
          <p:nvPr/>
        </p:nvPicPr>
        <p:blipFill rotWithShape="1">
          <a:blip r:embed="rId3">
            <a:duotone>
              <a:schemeClr val="accent5">
                <a:shade val="45000"/>
                <a:satMod val="135000"/>
              </a:schemeClr>
              <a:prstClr val="white"/>
            </a:duotone>
          </a:blip>
          <a:srcRect l="1229" t="8730" r="1053" b="6084"/>
          <a:stretch/>
        </p:blipFill>
        <p:spPr>
          <a:xfrm>
            <a:off x="9328905" y="1191001"/>
            <a:ext cx="6945086" cy="908612"/>
          </a:xfrm>
          <a:prstGeom prst="rect">
            <a:avLst/>
          </a:prstGeom>
        </p:spPr>
      </p:pic>
      <p:pic>
        <p:nvPicPr>
          <p:cNvPr id="8" name="Picture 7">
            <a:extLst>
              <a:ext uri="{FF2B5EF4-FFF2-40B4-BE49-F238E27FC236}">
                <a16:creationId xmlns:a16="http://schemas.microsoft.com/office/drawing/2014/main" id="{5F4A497F-A426-2DC4-3F43-B18BEE6ECBFF}"/>
              </a:ext>
            </a:extLst>
          </p:cNvPr>
          <p:cNvPicPr>
            <a:picLocks noChangeAspect="1"/>
          </p:cNvPicPr>
          <p:nvPr/>
        </p:nvPicPr>
        <p:blipFill rotWithShape="1">
          <a:blip r:embed="rId4">
            <a:duotone>
              <a:schemeClr val="accent6">
                <a:shade val="45000"/>
                <a:satMod val="135000"/>
              </a:schemeClr>
              <a:prstClr val="white"/>
            </a:duotone>
          </a:blip>
          <a:srcRect l="1133" t="9685" r="1249" b="6629"/>
          <a:stretch/>
        </p:blipFill>
        <p:spPr>
          <a:xfrm>
            <a:off x="9328905" y="2235885"/>
            <a:ext cx="6945085" cy="850354"/>
          </a:xfrm>
          <a:prstGeom prst="rect">
            <a:avLst/>
          </a:prstGeom>
        </p:spPr>
      </p:pic>
      <p:pic>
        <p:nvPicPr>
          <p:cNvPr id="11" name="Picture 10">
            <a:extLst>
              <a:ext uri="{FF2B5EF4-FFF2-40B4-BE49-F238E27FC236}">
                <a16:creationId xmlns:a16="http://schemas.microsoft.com/office/drawing/2014/main" id="{FD5DCB6E-2B09-F98F-F565-E2310BAB83E0}"/>
              </a:ext>
            </a:extLst>
          </p:cNvPr>
          <p:cNvPicPr>
            <a:picLocks noChangeAspect="1"/>
          </p:cNvPicPr>
          <p:nvPr/>
        </p:nvPicPr>
        <p:blipFill rotWithShape="1">
          <a:blip r:embed="rId5"/>
          <a:srcRect l="1295" r="1001"/>
          <a:stretch/>
        </p:blipFill>
        <p:spPr>
          <a:xfrm>
            <a:off x="11464119" y="5386319"/>
            <a:ext cx="4615673" cy="2635794"/>
          </a:xfrm>
          <a:prstGeom prst="rect">
            <a:avLst/>
          </a:prstGeom>
        </p:spPr>
      </p:pic>
      <p:sp>
        <p:nvSpPr>
          <p:cNvPr id="12" name="TextBox 11">
            <a:extLst>
              <a:ext uri="{FF2B5EF4-FFF2-40B4-BE49-F238E27FC236}">
                <a16:creationId xmlns:a16="http://schemas.microsoft.com/office/drawing/2014/main" id="{8278467B-510D-7395-56E0-24B5074CD931}"/>
              </a:ext>
            </a:extLst>
          </p:cNvPr>
          <p:cNvSpPr txBox="1"/>
          <p:nvPr/>
        </p:nvSpPr>
        <p:spPr>
          <a:xfrm>
            <a:off x="11371823" y="7121904"/>
            <a:ext cx="1677665" cy="338554"/>
          </a:xfrm>
          <a:prstGeom prst="rect">
            <a:avLst/>
          </a:prstGeom>
          <a:noFill/>
          <a:ln w="57150">
            <a:solidFill>
              <a:srgbClr val="FF0000"/>
            </a:solidFill>
            <a:prstDash val="sysDash"/>
          </a:ln>
        </p:spPr>
        <p:txBody>
          <a:bodyPr wrap="square" rtlCol="0">
            <a:spAutoFit/>
          </a:bodyPr>
          <a:lstStyle/>
          <a:p>
            <a:endParaRPr lang="en-US" sz="16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55A8DB3-C3E7-2964-76E9-5E6E89CB8ED7}"/>
                  </a:ext>
                </a:extLst>
              </p:cNvPr>
              <p:cNvSpPr txBox="1"/>
              <p:nvPr/>
            </p:nvSpPr>
            <p:spPr>
              <a:xfrm>
                <a:off x="2805194" y="7014949"/>
                <a:ext cx="8277366" cy="858761"/>
              </a:xfrm>
              <a:prstGeom prst="rect">
                <a:avLst/>
              </a:prstGeom>
              <a:solidFill>
                <a:schemeClr val="accent1">
                  <a:lumMod val="20000"/>
                  <a:lumOff val="80000"/>
                </a:schemeClr>
              </a:solidFill>
              <a:ln>
                <a:solidFill>
                  <a:schemeClr val="accent1"/>
                </a:solidFill>
              </a:ln>
            </p:spPr>
            <p:txBody>
              <a:bodyPr wrap="square">
                <a:spAutoFit/>
              </a:bodyPr>
              <a:lstStyle/>
              <a:p>
                <a:pPr>
                  <a:spcBef>
                    <a:spcPts val="600"/>
                  </a:spcBef>
                </a:pPr>
                <a:r>
                  <a:rPr lang="en-CA" baseline="30000" dirty="0">
                    <a:solidFill>
                      <a:srgbClr val="FF0000"/>
                    </a:solidFill>
                  </a:rPr>
                  <a:t>*</a:t>
                </a:r>
                <a:r>
                  <a:rPr lang="en-US" sz="1800" dirty="0"/>
                  <a:t>A PWM signal is to have 75% duty cycle. Compute the value for OCR0B if TOP = 0xFF.</a:t>
                </a:r>
                <a:endParaRPr lang="en-CA" sz="1800" dirty="0"/>
              </a:p>
              <a:p>
                <a:pPr marL="0" indent="0" algn="ctr">
                  <a:spcBef>
                    <a:spcPts val="600"/>
                  </a:spcBef>
                  <a:buClrTx/>
                  <a:buNone/>
                </a:pPr>
                <a14:m>
                  <m:oMath xmlns:m="http://schemas.openxmlformats.org/officeDocument/2006/math">
                    <m:r>
                      <a:rPr lang="en-US" sz="1800" b="1" i="1">
                        <a:latin typeface="Cambria Math" panose="02040503050406030204" pitchFamily="18" charset="0"/>
                      </a:rPr>
                      <m:t>𝑶𝑪𝑹</m:t>
                    </m:r>
                    <m:r>
                      <a:rPr lang="en-US" sz="1800" b="1" i="1">
                        <a:latin typeface="Cambria Math" panose="02040503050406030204" pitchFamily="18" charset="0"/>
                      </a:rPr>
                      <m:t>𝟎</m:t>
                    </m:r>
                    <m:r>
                      <a:rPr lang="en-US" sz="1800" b="1" i="1" smtClean="0">
                        <a:latin typeface="Cambria Math" panose="02040503050406030204" pitchFamily="18" charset="0"/>
                      </a:rPr>
                      <m:t>𝑩</m:t>
                    </m:r>
                    <m:r>
                      <a:rPr lang="en-US" sz="1800" b="1" i="1">
                        <a:latin typeface="Cambria Math" panose="02040503050406030204" pitchFamily="18" charset="0"/>
                      </a:rPr>
                      <m:t>=</m:t>
                    </m:r>
                    <m:f>
                      <m:fPr>
                        <m:ctrlPr>
                          <a:rPr lang="en-US" sz="1800" b="1" i="1">
                            <a:latin typeface="Cambria Math" panose="02040503050406030204" pitchFamily="18" charset="0"/>
                          </a:rPr>
                        </m:ctrlPr>
                      </m:fPr>
                      <m:num>
                        <m:r>
                          <a:rPr lang="en-US" sz="1800" b="1" i="1" smtClean="0">
                            <a:latin typeface="Cambria Math" panose="02040503050406030204" pitchFamily="18" charset="0"/>
                          </a:rPr>
                          <m:t>𝟐𝟓𝟔</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rPr>
                          <m:t>𝟕𝟓</m:t>
                        </m:r>
                      </m:num>
                      <m:den>
                        <m:r>
                          <a:rPr lang="en-US" sz="1800" b="1" i="1">
                            <a:latin typeface="Cambria Math" panose="02040503050406030204" pitchFamily="18" charset="0"/>
                          </a:rPr>
                          <m:t>𝟏𝟎𝟎</m:t>
                        </m:r>
                      </m:den>
                    </m:f>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𝟏</m:t>
                    </m:r>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𝟏𝟗𝟐</m:t>
                    </m:r>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𝟏</m:t>
                    </m:r>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𝟏𝟗𝟏</m:t>
                    </m:r>
                  </m:oMath>
                </a14:m>
                <a:r>
                  <a:rPr lang="en-US" sz="1800" dirty="0">
                    <a:solidFill>
                      <a:srgbClr val="000000"/>
                    </a:solidFill>
                  </a:rPr>
                  <a:t> , if </a:t>
                </a:r>
                <a:r>
                  <a:rPr lang="en-US" sz="1800" b="1" dirty="0">
                    <a:solidFill>
                      <a:srgbClr val="FF0000"/>
                    </a:solidFill>
                  </a:rPr>
                  <a:t>TOP = 0xFF</a:t>
                </a:r>
                <a:endParaRPr lang="en-CA" sz="1800" dirty="0">
                  <a:solidFill>
                    <a:srgbClr val="000000"/>
                  </a:solidFill>
                </a:endParaRPr>
              </a:p>
            </p:txBody>
          </p:sp>
        </mc:Choice>
        <mc:Fallback xmlns="">
          <p:sp>
            <p:nvSpPr>
              <p:cNvPr id="9" name="TextBox 8">
                <a:extLst>
                  <a:ext uri="{FF2B5EF4-FFF2-40B4-BE49-F238E27FC236}">
                    <a16:creationId xmlns:a16="http://schemas.microsoft.com/office/drawing/2014/main" id="{355A8DB3-C3E7-2964-76E9-5E6E89CB8ED7}"/>
                  </a:ext>
                </a:extLst>
              </p:cNvPr>
              <p:cNvSpPr txBox="1">
                <a:spLocks noRot="1" noChangeAspect="1" noMove="1" noResize="1" noEditPoints="1" noAdjustHandles="1" noChangeArrowheads="1" noChangeShapeType="1" noTextEdit="1"/>
              </p:cNvSpPr>
              <p:nvPr/>
            </p:nvSpPr>
            <p:spPr>
              <a:xfrm>
                <a:off x="2805194" y="7014949"/>
                <a:ext cx="8277366" cy="858761"/>
              </a:xfrm>
              <a:prstGeom prst="rect">
                <a:avLst/>
              </a:prstGeom>
              <a:blipFill>
                <a:blip r:embed="rId6"/>
                <a:stretch>
                  <a:fillRect t="-3497" b="-2098"/>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291473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heel(1)">
                                      <p:cBhvr>
                                        <p:cTn id="21" dur="20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45818" y="781158"/>
            <a:ext cx="16108879" cy="2744845"/>
          </a:xfrm>
        </p:spPr>
        <p:txBody>
          <a:bodyPr>
            <a:noAutofit/>
          </a:bodyPr>
          <a:lstStyle/>
          <a:p>
            <a:pPr>
              <a:spcBef>
                <a:spcPts val="600"/>
              </a:spcBef>
            </a:pPr>
            <a:r>
              <a:rPr lang="en-US" sz="3400" dirty="0"/>
              <a:t>The difference between the mode </a:t>
            </a:r>
            <a:r>
              <a:rPr lang="en-US" sz="3400" dirty="0">
                <a:solidFill>
                  <a:srgbClr val="FF0000"/>
                </a:solidFill>
              </a:rPr>
              <a:t>3</a:t>
            </a:r>
            <a:r>
              <a:rPr lang="en-US" sz="3400" dirty="0"/>
              <a:t>(</a:t>
            </a:r>
            <a:r>
              <a:rPr lang="en-US" sz="3400" dirty="0">
                <a:solidFill>
                  <a:srgbClr val="0070C0"/>
                </a:solidFill>
              </a:rPr>
              <a:t>1</a:t>
            </a:r>
            <a:r>
              <a:rPr lang="en-US" sz="3400" dirty="0"/>
              <a:t>) and mode </a:t>
            </a:r>
            <a:r>
              <a:rPr lang="en-US" sz="3400" dirty="0">
                <a:solidFill>
                  <a:srgbClr val="FF0000"/>
                </a:solidFill>
              </a:rPr>
              <a:t>7</a:t>
            </a:r>
            <a:r>
              <a:rPr lang="en-US" sz="3400" dirty="0"/>
              <a:t>(</a:t>
            </a:r>
            <a:r>
              <a:rPr lang="en-US" sz="3400" dirty="0">
                <a:solidFill>
                  <a:srgbClr val="0070C0"/>
                </a:solidFill>
              </a:rPr>
              <a:t>5</a:t>
            </a:r>
            <a:r>
              <a:rPr lang="en-US" sz="3400" dirty="0"/>
              <a:t>) Fast PWMs is their TOP values.</a:t>
            </a:r>
          </a:p>
          <a:p>
            <a:pPr>
              <a:spcBef>
                <a:spcPts val="600"/>
              </a:spcBef>
            </a:pPr>
            <a:r>
              <a:rPr lang="en-US" sz="3400" dirty="0"/>
              <a:t>For mode </a:t>
            </a:r>
            <a:r>
              <a:rPr lang="en-US" sz="3400" dirty="0">
                <a:solidFill>
                  <a:srgbClr val="FF0000"/>
                </a:solidFill>
              </a:rPr>
              <a:t>3</a:t>
            </a:r>
            <a:r>
              <a:rPr lang="en-US" sz="3400" dirty="0"/>
              <a:t>(</a:t>
            </a:r>
            <a:r>
              <a:rPr lang="en-US" sz="3400" dirty="0">
                <a:solidFill>
                  <a:srgbClr val="0070C0"/>
                </a:solidFill>
              </a:rPr>
              <a:t>1</a:t>
            </a:r>
            <a:r>
              <a:rPr lang="en-US" sz="3400" dirty="0"/>
              <a:t>), the TOP value is fixed (0xFF), whereas that for mode </a:t>
            </a:r>
            <a:r>
              <a:rPr lang="en-US" sz="3400" dirty="0">
                <a:solidFill>
                  <a:srgbClr val="FF0000"/>
                </a:solidFill>
              </a:rPr>
              <a:t>7</a:t>
            </a:r>
            <a:r>
              <a:rPr lang="en-US" sz="3400" dirty="0"/>
              <a:t>(</a:t>
            </a:r>
            <a:r>
              <a:rPr lang="en-US" sz="3400" dirty="0">
                <a:solidFill>
                  <a:srgbClr val="0070C0"/>
                </a:solidFill>
              </a:rPr>
              <a:t>5</a:t>
            </a:r>
            <a:r>
              <a:rPr lang="en-US" sz="3400" dirty="0"/>
              <a:t>) is </a:t>
            </a:r>
            <a:r>
              <a:rPr lang="en-US" sz="3400" dirty="0" err="1"/>
              <a:t>OCRnA</a:t>
            </a:r>
            <a:r>
              <a:rPr lang="en-US" sz="3400" dirty="0"/>
              <a:t> value. </a:t>
            </a:r>
          </a:p>
          <a:p>
            <a:pPr>
              <a:spcBef>
                <a:spcPts val="600"/>
              </a:spcBef>
            </a:pPr>
            <a:r>
              <a:rPr lang="en-US" sz="3400" dirty="0"/>
              <a:t>If mode </a:t>
            </a:r>
            <a:r>
              <a:rPr lang="en-US" sz="3400" dirty="0">
                <a:solidFill>
                  <a:srgbClr val="FF0000"/>
                </a:solidFill>
              </a:rPr>
              <a:t>7</a:t>
            </a:r>
            <a:r>
              <a:rPr lang="en-US" sz="3400" dirty="0"/>
              <a:t>(</a:t>
            </a:r>
            <a:r>
              <a:rPr lang="en-US" sz="3400" dirty="0">
                <a:solidFill>
                  <a:srgbClr val="0070C0"/>
                </a:solidFill>
              </a:rPr>
              <a:t>5</a:t>
            </a:r>
            <a:r>
              <a:rPr lang="en-US" sz="3400" dirty="0"/>
              <a:t>) is used, then we must </a:t>
            </a:r>
            <a:r>
              <a:rPr lang="en-US" sz="3400" b="1" dirty="0">
                <a:solidFill>
                  <a:srgbClr val="00B050"/>
                </a:solidFill>
              </a:rPr>
              <a:t>load a count value </a:t>
            </a:r>
            <a:r>
              <a:rPr lang="en-US" sz="3400" dirty="0"/>
              <a:t>into the </a:t>
            </a:r>
            <a:r>
              <a:rPr lang="en-US" sz="3400" b="1" dirty="0" err="1">
                <a:solidFill>
                  <a:srgbClr val="FF0000"/>
                </a:solidFill>
              </a:rPr>
              <a:t>OCRnA</a:t>
            </a:r>
            <a:r>
              <a:rPr lang="en-US" sz="3400" b="1" dirty="0">
                <a:solidFill>
                  <a:srgbClr val="FF0000"/>
                </a:solidFill>
              </a:rPr>
              <a:t> register</a:t>
            </a:r>
            <a:r>
              <a:rPr lang="en-US" sz="3400" dirty="0"/>
              <a:t>. </a:t>
            </a:r>
          </a:p>
          <a:p>
            <a:pPr>
              <a:spcBef>
                <a:spcPts val="600"/>
              </a:spcBef>
            </a:pPr>
            <a:r>
              <a:rPr lang="en-US" sz="3400" dirty="0"/>
              <a:t>Once a mode is selected, the timer/counter starts counting from BOTTOM to TOP value and when the TOP value is reached the counting is repeated from BOTTOM. </a:t>
            </a:r>
          </a:p>
        </p:txBody>
      </p:sp>
      <p:sp>
        <p:nvSpPr>
          <p:cNvPr id="5" name="Date Placeholder 4"/>
          <p:cNvSpPr>
            <a:spLocks noGrp="1"/>
          </p:cNvSpPr>
          <p:nvPr>
            <p:ph type="dt" sz="half" idx="10"/>
          </p:nvPr>
        </p:nvSpPr>
        <p:spPr/>
        <p:txBody>
          <a:bodyPr/>
          <a:lstStyle/>
          <a:p>
            <a:fld id="{2E8C2DAC-8D2E-4895-91CC-772841FF2F53}" type="datetime3">
              <a:rPr lang="en-US" smtClean="0"/>
              <a:t>17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32</a:t>
            </a:fld>
            <a:endParaRPr lang="en-US" dirty="0"/>
          </a:p>
        </p:txBody>
      </p:sp>
      <p:sp>
        <p:nvSpPr>
          <p:cNvPr id="8" name="Title 1">
            <a:extLst>
              <a:ext uri="{FF2B5EF4-FFF2-40B4-BE49-F238E27FC236}">
                <a16:creationId xmlns:a16="http://schemas.microsoft.com/office/drawing/2014/main" id="{0659A64C-EA0D-4DC2-A8C5-C88EFBF64979}"/>
              </a:ext>
            </a:extLst>
          </p:cNvPr>
          <p:cNvSpPr txBox="1">
            <a:spLocks/>
          </p:cNvSpPr>
          <p:nvPr/>
        </p:nvSpPr>
        <p:spPr>
          <a:xfrm>
            <a:off x="1870365" y="135381"/>
            <a:ext cx="7538719" cy="800723"/>
          </a:xfrm>
          <a:prstGeom prst="rect">
            <a:avLst/>
          </a:prstGeom>
        </p:spPr>
        <p:txBody>
          <a:bodyPr vert="horz" lIns="91440" tIns="45720" rIns="91440" bIns="45720" rtlCol="0" anchor="ctr">
            <a:normAutofit lnSpcReduction="10000"/>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5400" b="1">
                <a:solidFill>
                  <a:srgbClr val="0070C0"/>
                </a:solidFill>
              </a:rPr>
              <a:t>PWM</a:t>
            </a:r>
            <a:endParaRPr lang="en-US" sz="5400" b="1" dirty="0">
              <a:solidFill>
                <a:srgbClr val="0070C0"/>
              </a:solidFill>
            </a:endParaRPr>
          </a:p>
        </p:txBody>
      </p:sp>
      <p:pic>
        <p:nvPicPr>
          <p:cNvPr id="4" name="Picture 3"/>
          <p:cNvPicPr>
            <a:picLocks noChangeAspect="1"/>
          </p:cNvPicPr>
          <p:nvPr/>
        </p:nvPicPr>
        <p:blipFill>
          <a:blip r:embed="rId2"/>
          <a:stretch>
            <a:fillRect/>
          </a:stretch>
        </p:blipFill>
        <p:spPr>
          <a:xfrm>
            <a:off x="405602" y="3539066"/>
            <a:ext cx="9534264" cy="4414434"/>
          </a:xfrm>
          <a:prstGeom prst="rect">
            <a:avLst/>
          </a:prstGeom>
        </p:spPr>
      </p:pic>
      <p:sp>
        <p:nvSpPr>
          <p:cNvPr id="15" name="Rectangle 14"/>
          <p:cNvSpPr/>
          <p:nvPr/>
        </p:nvSpPr>
        <p:spPr>
          <a:xfrm>
            <a:off x="10044981" y="3795829"/>
            <a:ext cx="6051172" cy="830997"/>
          </a:xfrm>
          <a:prstGeom prst="rect">
            <a:avLst/>
          </a:prstGeom>
        </p:spPr>
        <p:txBody>
          <a:bodyPr wrap="square">
            <a:spAutoFit/>
          </a:bodyPr>
          <a:lstStyle/>
          <a:p>
            <a:r>
              <a:rPr lang="en-US" sz="2400" dirty="0"/>
              <a:t>The table in the right shows the </a:t>
            </a:r>
            <a:r>
              <a:rPr lang="en-US" sz="2400" b="1" dirty="0">
                <a:solidFill>
                  <a:srgbClr val="00B050"/>
                </a:solidFill>
              </a:rPr>
              <a:t>WGM bits combination </a:t>
            </a:r>
            <a:r>
              <a:rPr lang="en-US" sz="2400" dirty="0"/>
              <a:t>for mode 3 and mode 7.</a:t>
            </a:r>
          </a:p>
        </p:txBody>
      </p:sp>
      <p:sp>
        <p:nvSpPr>
          <p:cNvPr id="17" name="TextBox 16"/>
          <p:cNvSpPr txBox="1"/>
          <p:nvPr/>
        </p:nvSpPr>
        <p:spPr>
          <a:xfrm>
            <a:off x="446546" y="5822665"/>
            <a:ext cx="9415731" cy="358004"/>
          </a:xfrm>
          <a:prstGeom prst="rect">
            <a:avLst/>
          </a:prstGeom>
          <a:noFill/>
          <a:ln w="57150">
            <a:solidFill>
              <a:srgbClr val="FF0000"/>
            </a:solidFill>
            <a:prstDash val="sysDash"/>
          </a:ln>
        </p:spPr>
        <p:txBody>
          <a:bodyPr wrap="square" rtlCol="0">
            <a:spAutoFit/>
          </a:bodyPr>
          <a:lstStyle/>
          <a:p>
            <a:endParaRPr lang="en-US" sz="2000" dirty="0"/>
          </a:p>
        </p:txBody>
      </p:sp>
      <p:sp>
        <p:nvSpPr>
          <p:cNvPr id="20" name="TextBox 19"/>
          <p:cNvSpPr txBox="1"/>
          <p:nvPr/>
        </p:nvSpPr>
        <p:spPr>
          <a:xfrm>
            <a:off x="444650" y="7517748"/>
            <a:ext cx="9415731" cy="358004"/>
          </a:xfrm>
          <a:prstGeom prst="rect">
            <a:avLst/>
          </a:prstGeom>
          <a:noFill/>
          <a:ln w="57150">
            <a:solidFill>
              <a:srgbClr val="FF0000"/>
            </a:solidFill>
            <a:prstDash val="sysDash"/>
          </a:ln>
        </p:spPr>
        <p:txBody>
          <a:bodyPr wrap="square" rtlCol="0">
            <a:spAutoFit/>
          </a:bodyPr>
          <a:lstStyle/>
          <a:p>
            <a:endParaRPr lang="en-US" sz="2000" dirty="0"/>
          </a:p>
        </p:txBody>
      </p:sp>
      <p:sp>
        <p:nvSpPr>
          <p:cNvPr id="22" name="Right Brace 21"/>
          <p:cNvSpPr/>
          <p:nvPr/>
        </p:nvSpPr>
        <p:spPr>
          <a:xfrm rot="16200000" flipV="1">
            <a:off x="2664374" y="2495038"/>
            <a:ext cx="501586" cy="3008869"/>
          </a:xfrm>
          <a:prstGeom prst="rightBrace">
            <a:avLst>
              <a:gd name="adj1" fmla="val 63094"/>
              <a:gd name="adj2" fmla="val 49436"/>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r"/>
            <a:endParaRPr lang="en-US" dirty="0"/>
          </a:p>
        </p:txBody>
      </p:sp>
      <p:sp>
        <p:nvSpPr>
          <p:cNvPr id="11" name="TextBox 10">
            <a:extLst>
              <a:ext uri="{FF2B5EF4-FFF2-40B4-BE49-F238E27FC236}">
                <a16:creationId xmlns:a16="http://schemas.microsoft.com/office/drawing/2014/main" id="{72D8FBF2-0F8E-369C-BAFE-CAB73128FB86}"/>
              </a:ext>
            </a:extLst>
          </p:cNvPr>
          <p:cNvSpPr txBox="1"/>
          <p:nvPr/>
        </p:nvSpPr>
        <p:spPr>
          <a:xfrm>
            <a:off x="464868" y="4847219"/>
            <a:ext cx="9415731" cy="523220"/>
          </a:xfrm>
          <a:prstGeom prst="rect">
            <a:avLst/>
          </a:prstGeom>
          <a:noFill/>
          <a:ln w="57150">
            <a:solidFill>
              <a:srgbClr val="0070C0"/>
            </a:solidFill>
            <a:prstDash val="sysDash"/>
          </a:ln>
        </p:spPr>
        <p:txBody>
          <a:bodyPr wrap="square" rtlCol="0">
            <a:spAutoFit/>
          </a:bodyPr>
          <a:lstStyle/>
          <a:p>
            <a:endParaRPr lang="en-US" sz="2800" dirty="0"/>
          </a:p>
        </p:txBody>
      </p:sp>
      <p:sp>
        <p:nvSpPr>
          <p:cNvPr id="12" name="TextBox 11">
            <a:extLst>
              <a:ext uri="{FF2B5EF4-FFF2-40B4-BE49-F238E27FC236}">
                <a16:creationId xmlns:a16="http://schemas.microsoft.com/office/drawing/2014/main" id="{2A8FEE12-F3AE-E2A9-8028-B6F2A8341607}"/>
              </a:ext>
            </a:extLst>
          </p:cNvPr>
          <p:cNvSpPr txBox="1"/>
          <p:nvPr/>
        </p:nvSpPr>
        <p:spPr>
          <a:xfrm>
            <a:off x="446546" y="6566986"/>
            <a:ext cx="9415731" cy="523220"/>
          </a:xfrm>
          <a:prstGeom prst="rect">
            <a:avLst/>
          </a:prstGeom>
          <a:noFill/>
          <a:ln w="57150">
            <a:solidFill>
              <a:srgbClr val="0070C0"/>
            </a:solidFill>
            <a:prstDash val="sysDash"/>
          </a:ln>
        </p:spPr>
        <p:txBody>
          <a:bodyPr wrap="square" rtlCol="0">
            <a:spAutoFit/>
          </a:bodyPr>
          <a:lstStyle/>
          <a:p>
            <a:endParaRPr lang="en-US" sz="2800" dirty="0"/>
          </a:p>
        </p:txBody>
      </p:sp>
    </p:spTree>
    <p:extLst>
      <p:ext uri="{BB962C8B-B14F-4D97-AF65-F5344CB8AC3E}">
        <p14:creationId xmlns:p14="http://schemas.microsoft.com/office/powerpoint/2010/main" val="159501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down)">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heel(1)">
                                      <p:cBhvr>
                                        <p:cTn id="40" dur="20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heel(1)">
                                      <p:cBhvr>
                                        <p:cTn id="45" dur="20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1"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heel(1)">
                                      <p:cBhvr>
                                        <p:cTn id="50" dur="20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heel(1)">
                                      <p:cBhvr>
                                        <p:cTn id="55"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7" grpId="0" animBg="1"/>
      <p:bldP spid="20" grpId="0" animBg="1"/>
      <p:bldP spid="22" grpId="0" animBg="1"/>
      <p:bldP spid="11" grpId="0" animBg="1"/>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68878"/>
            <a:ext cx="9442450" cy="735852"/>
          </a:xfrm>
        </p:spPr>
        <p:txBody>
          <a:bodyPr>
            <a:noAutofit/>
          </a:bodyPr>
          <a:lstStyle/>
          <a:p>
            <a:r>
              <a:rPr lang="en-CA" sz="5400" b="1" dirty="0">
                <a:solidFill>
                  <a:srgbClr val="0070C0"/>
                </a:solidFill>
              </a:rPr>
              <a:t>Fast PWM Mode: </a:t>
            </a:r>
            <a:r>
              <a:rPr lang="en-CA" sz="5400" b="1" dirty="0">
                <a:solidFill>
                  <a:srgbClr val="FF0000"/>
                </a:solidFill>
              </a:rPr>
              <a:t>Setting Modes</a:t>
            </a:r>
            <a:r>
              <a:rPr lang="en-CA" sz="5400" dirty="0">
                <a:solidFill>
                  <a:srgbClr val="FF0000"/>
                </a:solidFill>
              </a:rPr>
              <a:t> </a:t>
            </a:r>
            <a:endParaRPr lang="en-US" sz="5400" b="1" dirty="0">
              <a:solidFill>
                <a:srgbClr val="FF000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20881" y="799675"/>
            <a:ext cx="16072064" cy="2553125"/>
          </a:xfrm>
        </p:spPr>
        <p:txBody>
          <a:bodyPr>
            <a:noAutofit/>
          </a:bodyPr>
          <a:lstStyle/>
          <a:p>
            <a:pPr marL="0" indent="0" algn="just">
              <a:buNone/>
            </a:pPr>
            <a:r>
              <a:rPr lang="en-CA" sz="3600" dirty="0">
                <a:solidFill>
                  <a:srgbClr val="000000"/>
                </a:solidFill>
              </a:rPr>
              <a:t>In the fast PWM mode, </a:t>
            </a:r>
            <a:r>
              <a:rPr lang="en-US" sz="3600" dirty="0">
                <a:solidFill>
                  <a:srgbClr val="000000"/>
                </a:solidFill>
              </a:rPr>
              <a:t>the Compare Output Mode </a:t>
            </a:r>
            <a:r>
              <a:rPr lang="en-US" sz="3600" dirty="0">
                <a:solidFill>
                  <a:srgbClr val="FF0000"/>
                </a:solidFill>
              </a:rPr>
              <a:t>bits COM0A1, COM0A0 (in the TCCR0A register)</a:t>
            </a:r>
            <a:r>
              <a:rPr lang="en-US" sz="3600" dirty="0">
                <a:solidFill>
                  <a:srgbClr val="000000"/>
                </a:solidFill>
              </a:rPr>
              <a:t> for the output at OC0A and </a:t>
            </a:r>
            <a:r>
              <a:rPr lang="en-US" sz="3600" dirty="0">
                <a:solidFill>
                  <a:srgbClr val="FF0000"/>
                </a:solidFill>
              </a:rPr>
              <a:t>bits COM0B1, COM0B0 (in the TCCR0A register)</a:t>
            </a:r>
            <a:r>
              <a:rPr lang="en-US" sz="3600" dirty="0">
                <a:solidFill>
                  <a:srgbClr val="000000"/>
                </a:solidFill>
              </a:rPr>
              <a:t> for the output at OC0B, are used to configure the output as either non-inverting or inverting mode of operation. </a:t>
            </a:r>
            <a:r>
              <a:rPr lang="en-US" sz="3600" dirty="0">
                <a:solidFill>
                  <a:srgbClr val="0070C0"/>
                </a:solidFill>
              </a:rPr>
              <a:t>Table 12-3 </a:t>
            </a:r>
            <a:r>
              <a:rPr lang="en-US" sz="3600" dirty="0">
                <a:solidFill>
                  <a:srgbClr val="000000"/>
                </a:solidFill>
              </a:rPr>
              <a:t>shows how to select COM0A1, COM0A0 bits to generate non-inverting and inverting mode’s fast PWM waveform.</a:t>
            </a:r>
            <a:endParaRPr lang="en-US" sz="3600" dirty="0"/>
          </a:p>
        </p:txBody>
      </p:sp>
      <p:sp>
        <p:nvSpPr>
          <p:cNvPr id="4" name="Date Placeholder 3"/>
          <p:cNvSpPr>
            <a:spLocks noGrp="1"/>
          </p:cNvSpPr>
          <p:nvPr>
            <p:ph type="dt" sz="half" idx="10"/>
          </p:nvPr>
        </p:nvSpPr>
        <p:spPr/>
        <p:txBody>
          <a:bodyPr/>
          <a:lstStyle/>
          <a:p>
            <a:fld id="{DBDFD691-3ECA-4899-B4BD-A666ECAE95E6}" type="datetime3">
              <a:rPr lang="en-US" smtClean="0"/>
              <a:t>17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pPr/>
              <a:t>33</a:t>
            </a:fld>
            <a:endParaRPr lang="en-US" dirty="0"/>
          </a:p>
        </p:txBody>
      </p:sp>
      <p:pic>
        <p:nvPicPr>
          <p:cNvPr id="6" name="Picture 5"/>
          <p:cNvPicPr>
            <a:picLocks noChangeAspect="1"/>
          </p:cNvPicPr>
          <p:nvPr/>
        </p:nvPicPr>
        <p:blipFill>
          <a:blip r:embed="rId2"/>
          <a:stretch>
            <a:fillRect/>
          </a:stretch>
        </p:blipFill>
        <p:spPr>
          <a:xfrm>
            <a:off x="327024" y="3352800"/>
            <a:ext cx="14282547" cy="4566833"/>
          </a:xfrm>
          <a:prstGeom prst="rect">
            <a:avLst/>
          </a:prstGeom>
        </p:spPr>
      </p:pic>
      <p:sp>
        <p:nvSpPr>
          <p:cNvPr id="10" name="TextBox 9"/>
          <p:cNvSpPr txBox="1"/>
          <p:nvPr/>
        </p:nvSpPr>
        <p:spPr>
          <a:xfrm>
            <a:off x="777861" y="6056856"/>
            <a:ext cx="3557073" cy="769441"/>
          </a:xfrm>
          <a:prstGeom prst="rect">
            <a:avLst/>
          </a:prstGeom>
          <a:noFill/>
          <a:ln w="57150">
            <a:solidFill>
              <a:srgbClr val="FF0000"/>
            </a:solidFill>
            <a:prstDash val="sysDash"/>
          </a:ln>
        </p:spPr>
        <p:txBody>
          <a:bodyPr wrap="square" rtlCol="0">
            <a:spAutoFit/>
          </a:bodyPr>
          <a:lstStyle/>
          <a:p>
            <a:endParaRPr lang="en-US" sz="4400" dirty="0"/>
          </a:p>
        </p:txBody>
      </p:sp>
      <p:cxnSp>
        <p:nvCxnSpPr>
          <p:cNvPr id="11" name="Straight Connector 10"/>
          <p:cNvCxnSpPr/>
          <p:nvPr/>
        </p:nvCxnSpPr>
        <p:spPr>
          <a:xfrm>
            <a:off x="4775200" y="6841067"/>
            <a:ext cx="291253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77861" y="6988244"/>
            <a:ext cx="3557073" cy="769441"/>
          </a:xfrm>
          <a:prstGeom prst="rect">
            <a:avLst/>
          </a:prstGeom>
          <a:noFill/>
          <a:ln w="57150">
            <a:solidFill>
              <a:srgbClr val="00B050"/>
            </a:solidFill>
            <a:prstDash val="sysDash"/>
          </a:ln>
        </p:spPr>
        <p:txBody>
          <a:bodyPr wrap="square" rtlCol="0">
            <a:spAutoFit/>
          </a:bodyPr>
          <a:lstStyle/>
          <a:p>
            <a:endParaRPr lang="en-US" sz="4400" dirty="0"/>
          </a:p>
        </p:txBody>
      </p:sp>
      <p:cxnSp>
        <p:nvCxnSpPr>
          <p:cNvPr id="13" name="Straight Connector 12"/>
          <p:cNvCxnSpPr/>
          <p:nvPr/>
        </p:nvCxnSpPr>
        <p:spPr>
          <a:xfrm>
            <a:off x="4775200" y="7772455"/>
            <a:ext cx="291253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252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heel(1)">
                                      <p:cBhvr>
                                        <p:cTn id="19" dur="20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circle(in)">
                                      <p:cBhvr>
                                        <p:cTn id="24" dur="2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heel(1)">
                                      <p:cBhvr>
                                        <p:cTn id="29" dur="20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circle(in)">
                                      <p:cBhvr>
                                        <p:cTn id="34"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2750" y="68878"/>
            <a:ext cx="9442450" cy="735852"/>
          </a:xfrm>
        </p:spPr>
        <p:txBody>
          <a:bodyPr>
            <a:noAutofit/>
          </a:bodyPr>
          <a:lstStyle/>
          <a:p>
            <a:r>
              <a:rPr lang="en-CA" sz="5400" b="1" dirty="0">
                <a:solidFill>
                  <a:srgbClr val="0070C0"/>
                </a:solidFill>
              </a:rPr>
              <a:t>Fast PWM Mode: </a:t>
            </a:r>
            <a:r>
              <a:rPr lang="en-CA" sz="5400" b="1" dirty="0">
                <a:solidFill>
                  <a:srgbClr val="FF0000"/>
                </a:solidFill>
              </a:rPr>
              <a:t>Setting Modes</a:t>
            </a:r>
            <a:r>
              <a:rPr lang="en-CA" sz="5400" dirty="0">
                <a:solidFill>
                  <a:srgbClr val="FF0000"/>
                </a:solidFill>
              </a:rPr>
              <a:t> </a:t>
            </a:r>
            <a:endParaRPr lang="en-US" sz="5400" b="1" dirty="0">
              <a:solidFill>
                <a:srgbClr val="FF000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20881" y="799675"/>
            <a:ext cx="16072064" cy="1627641"/>
          </a:xfrm>
        </p:spPr>
        <p:txBody>
          <a:bodyPr>
            <a:noAutofit/>
          </a:bodyPr>
          <a:lstStyle/>
          <a:p>
            <a:pPr marL="0" indent="0" algn="just">
              <a:buNone/>
            </a:pPr>
            <a:r>
              <a:rPr lang="en-CA" sz="3600" dirty="0">
                <a:solidFill>
                  <a:srgbClr val="000000"/>
                </a:solidFill>
              </a:rPr>
              <a:t>In the fast PWM mode, the compare unit allows the generation of PWM waveforms on the OC0x pins. </a:t>
            </a:r>
            <a:r>
              <a:rPr lang="en-US" sz="3600" dirty="0">
                <a:solidFill>
                  <a:srgbClr val="00B0F0"/>
                </a:solidFill>
              </a:rPr>
              <a:t>Table 12.6 </a:t>
            </a:r>
            <a:r>
              <a:rPr lang="en-US" sz="3600" dirty="0"/>
              <a:t>shows the COM0B1:0 bits’ functionality when the WGM02:0 bits are set to the fast PWM mode.</a:t>
            </a:r>
          </a:p>
        </p:txBody>
      </p:sp>
      <p:pic>
        <p:nvPicPr>
          <p:cNvPr id="5" name="Picture 4"/>
          <p:cNvPicPr>
            <a:picLocks noChangeAspect="1"/>
          </p:cNvPicPr>
          <p:nvPr/>
        </p:nvPicPr>
        <p:blipFill rotWithShape="1">
          <a:blip r:embed="rId2"/>
          <a:srcRect l="983" t="19537" r="2256" b="1758"/>
          <a:stretch/>
        </p:blipFill>
        <p:spPr>
          <a:xfrm>
            <a:off x="220882" y="2427316"/>
            <a:ext cx="13029606" cy="5537137"/>
          </a:xfrm>
          <a:prstGeom prst="rect">
            <a:avLst/>
          </a:prstGeom>
        </p:spPr>
      </p:pic>
      <p:sp>
        <p:nvSpPr>
          <p:cNvPr id="4" name="Date Placeholder 3"/>
          <p:cNvSpPr>
            <a:spLocks noGrp="1"/>
          </p:cNvSpPr>
          <p:nvPr>
            <p:ph type="dt" sz="half" idx="10"/>
          </p:nvPr>
        </p:nvSpPr>
        <p:spPr/>
        <p:txBody>
          <a:bodyPr/>
          <a:lstStyle/>
          <a:p>
            <a:fld id="{DBDFD691-3ECA-4899-B4BD-A666ECAE95E6}" type="datetime3">
              <a:rPr lang="en-US" smtClean="0"/>
              <a:t>17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pPr/>
              <a:t>34</a:t>
            </a:fld>
            <a:endParaRPr lang="en-US" dirty="0"/>
          </a:p>
        </p:txBody>
      </p:sp>
      <p:sp>
        <p:nvSpPr>
          <p:cNvPr id="10" name="TextBox 9"/>
          <p:cNvSpPr txBox="1"/>
          <p:nvPr/>
        </p:nvSpPr>
        <p:spPr>
          <a:xfrm>
            <a:off x="422261" y="4786856"/>
            <a:ext cx="3557073" cy="769441"/>
          </a:xfrm>
          <a:prstGeom prst="rect">
            <a:avLst/>
          </a:prstGeom>
          <a:noFill/>
          <a:ln w="57150">
            <a:solidFill>
              <a:srgbClr val="FF0000"/>
            </a:solidFill>
            <a:prstDash val="sysDash"/>
          </a:ln>
        </p:spPr>
        <p:txBody>
          <a:bodyPr wrap="square" rtlCol="0">
            <a:spAutoFit/>
          </a:bodyPr>
          <a:lstStyle/>
          <a:p>
            <a:endParaRPr lang="en-US" sz="4400" dirty="0"/>
          </a:p>
        </p:txBody>
      </p:sp>
      <p:cxnSp>
        <p:nvCxnSpPr>
          <p:cNvPr id="11" name="Straight Connector 10"/>
          <p:cNvCxnSpPr>
            <a:cxnSpLocks/>
          </p:cNvCxnSpPr>
          <p:nvPr/>
        </p:nvCxnSpPr>
        <p:spPr>
          <a:xfrm>
            <a:off x="4216404" y="5588000"/>
            <a:ext cx="270301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22261" y="5756344"/>
            <a:ext cx="3557073" cy="769441"/>
          </a:xfrm>
          <a:prstGeom prst="rect">
            <a:avLst/>
          </a:prstGeom>
          <a:noFill/>
          <a:ln w="57150">
            <a:solidFill>
              <a:srgbClr val="00B050"/>
            </a:solidFill>
            <a:prstDash val="sysDash"/>
          </a:ln>
        </p:spPr>
        <p:txBody>
          <a:bodyPr wrap="square" rtlCol="0">
            <a:spAutoFit/>
          </a:bodyPr>
          <a:lstStyle/>
          <a:p>
            <a:endParaRPr lang="en-US" sz="4400" dirty="0"/>
          </a:p>
        </p:txBody>
      </p:sp>
      <p:cxnSp>
        <p:nvCxnSpPr>
          <p:cNvPr id="13" name="Straight Connector 12"/>
          <p:cNvCxnSpPr>
            <a:cxnSpLocks/>
          </p:cNvCxnSpPr>
          <p:nvPr/>
        </p:nvCxnSpPr>
        <p:spPr>
          <a:xfrm>
            <a:off x="4216399" y="6536321"/>
            <a:ext cx="2279935"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pic>
        <p:nvPicPr>
          <p:cNvPr id="6" name="Picture 4" descr="Arduino et Timer [Wiki]">
            <a:extLst>
              <a:ext uri="{FF2B5EF4-FFF2-40B4-BE49-F238E27FC236}">
                <a16:creationId xmlns:a16="http://schemas.microsoft.com/office/drawing/2014/main" id="{3A8F92DE-DE18-D5AB-2F23-E64417CA3B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2" t="2864" b="2508"/>
          <a:stretch/>
        </p:blipFill>
        <p:spPr bwMode="auto">
          <a:xfrm>
            <a:off x="11286699" y="1965282"/>
            <a:ext cx="5074451" cy="47903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5C42833-7153-4D41-9EA7-8A9CFDA79FCC}"/>
              </a:ext>
            </a:extLst>
          </p:cNvPr>
          <p:cNvSpPr txBox="1"/>
          <p:nvPr/>
        </p:nvSpPr>
        <p:spPr>
          <a:xfrm rot="5400000">
            <a:off x="13633976" y="5433601"/>
            <a:ext cx="245989" cy="436789"/>
          </a:xfrm>
          <a:prstGeom prst="rect">
            <a:avLst/>
          </a:prstGeom>
          <a:noFill/>
          <a:ln w="57150">
            <a:solidFill>
              <a:srgbClr val="FF0000"/>
            </a:solidFill>
            <a:prstDash val="sysDash"/>
          </a:ln>
        </p:spPr>
        <p:txBody>
          <a:bodyPr wrap="square" rtlCol="0">
            <a:spAutoFit/>
          </a:bodyPr>
          <a:lstStyle/>
          <a:p>
            <a:pPr algn="r"/>
            <a:endParaRPr lang="en-US" sz="3600" dirty="0"/>
          </a:p>
        </p:txBody>
      </p:sp>
    </p:spTree>
    <p:extLst>
      <p:ext uri="{BB962C8B-B14F-4D97-AF65-F5344CB8AC3E}">
        <p14:creationId xmlns:p14="http://schemas.microsoft.com/office/powerpoint/2010/main" val="3371578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1)">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circle(in)">
                                      <p:cBhvr>
                                        <p:cTn id="22" dur="2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heel(1)">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circle(in)">
                                      <p:cBhvr>
                                        <p:cTn id="32" dur="2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1+#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heel(1)">
                                      <p:cBhvr>
                                        <p:cTn id="4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59467" y="141335"/>
            <a:ext cx="10429211" cy="829881"/>
          </a:xfrm>
        </p:spPr>
        <p:txBody>
          <a:bodyPr>
            <a:normAutofit fontScale="90000"/>
          </a:bodyPr>
          <a:lstStyle/>
          <a:p>
            <a:r>
              <a:rPr lang="nn-NO" sz="5400" b="1" dirty="0">
                <a:solidFill>
                  <a:srgbClr val="0070C0"/>
                </a:solidFill>
              </a:rPr>
              <a:t>Programming Arduino for Fast PWM</a:t>
            </a:r>
            <a:endParaRPr lang="en-US" sz="5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604289" y="971216"/>
                <a:ext cx="15004011" cy="1758335"/>
              </a:xfrm>
            </p:spPr>
            <p:txBody>
              <a:bodyPr>
                <a:noAutofit/>
              </a:bodyPr>
              <a:lstStyle/>
              <a:p>
                <a:pPr marL="0" indent="0" algn="just">
                  <a:lnSpc>
                    <a:spcPct val="100000"/>
                  </a:lnSpc>
                  <a:spcBef>
                    <a:spcPts val="0"/>
                  </a:spcBef>
                  <a:buNone/>
                </a:pPr>
                <a:r>
                  <a:rPr lang="en-CA" sz="3600" dirty="0">
                    <a:solidFill>
                      <a:srgbClr val="000000"/>
                    </a:solidFill>
                  </a:rPr>
                  <a:t>The waveform generated will have a frequency of</a:t>
                </a:r>
              </a:p>
              <a:p>
                <a:pPr marL="0" indent="0" algn="just">
                  <a:lnSpc>
                    <a:spcPct val="100000"/>
                  </a:lnSpc>
                  <a:spcBef>
                    <a:spcPts val="0"/>
                  </a:spcBef>
                  <a:buNone/>
                </a:pPr>
                <a14:m>
                  <m:oMath xmlns:m="http://schemas.openxmlformats.org/officeDocument/2006/math">
                    <m:sSub>
                      <m:sSubPr>
                        <m:ctrlPr>
                          <a:rPr lang="en-US" sz="3600" b="1" i="1" smtClean="0">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𝑶𝑪</m:t>
                        </m:r>
                        <m:r>
                          <a:rPr lang="en-US" sz="3600" b="1" i="1" smtClean="0">
                            <a:solidFill>
                              <a:srgbClr val="0070C0"/>
                            </a:solidFill>
                            <a:latin typeface="Cambria Math" panose="02040503050406030204" pitchFamily="18" charset="0"/>
                          </a:rPr>
                          <m:t>𝟎</m:t>
                        </m:r>
                        <m:r>
                          <a:rPr lang="en-US" sz="3600" b="1" i="1" smtClean="0">
                            <a:solidFill>
                              <a:srgbClr val="0070C0"/>
                            </a:solidFill>
                            <a:latin typeface="Cambria Math" panose="02040503050406030204" pitchFamily="18" charset="0"/>
                          </a:rPr>
                          <m:t>𝑩𝑭𝑷𝑾𝑴</m:t>
                        </m:r>
                        <m:r>
                          <a:rPr lang="en-US" sz="3600" b="1" i="1" smtClean="0">
                            <a:solidFill>
                              <a:srgbClr val="0070C0"/>
                            </a:solidFill>
                            <a:latin typeface="Cambria Math" panose="02040503050406030204" pitchFamily="18" charset="0"/>
                          </a:rPr>
                          <m:t>𝟑</m:t>
                        </m:r>
                      </m:sub>
                    </m:sSub>
                    <m:r>
                      <a:rPr lang="en-US" sz="3600" b="1" i="1">
                        <a:solidFill>
                          <a:srgbClr val="0070C0"/>
                        </a:solidFill>
                        <a:latin typeface="Cambria Math" panose="02040503050406030204" pitchFamily="18" charset="0"/>
                      </a:rPr>
                      <m:t>=</m:t>
                    </m:r>
                    <m:f>
                      <m:fPr>
                        <m:ctrlPr>
                          <a:rPr lang="en-US" sz="3600" b="1" i="1">
                            <a:solidFill>
                              <a:srgbClr val="0070C0"/>
                            </a:solidFill>
                            <a:latin typeface="Cambria Math" panose="02040503050406030204" pitchFamily="18" charset="0"/>
                          </a:rPr>
                        </m:ctrlPr>
                      </m:fPr>
                      <m:num>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𝒄𝒍𝒌</m:t>
                            </m:r>
                            <m:r>
                              <a:rPr lang="en-US" sz="3600" b="1" i="1">
                                <a:solidFill>
                                  <a:srgbClr val="0070C0"/>
                                </a:solidFill>
                                <a:latin typeface="Cambria Math" panose="02040503050406030204" pitchFamily="18" charset="0"/>
                              </a:rPr>
                              <m:t>_</m:t>
                            </m:r>
                            <m:r>
                              <a:rPr lang="en-US" sz="3600" b="1" i="1">
                                <a:solidFill>
                                  <a:srgbClr val="0070C0"/>
                                </a:solidFill>
                                <a:latin typeface="Cambria Math" panose="02040503050406030204" pitchFamily="18" charset="0"/>
                              </a:rPr>
                              <m:t>𝑰𝑶</m:t>
                            </m:r>
                          </m:sub>
                        </m:sSub>
                      </m:num>
                      <m:den>
                        <m:r>
                          <a:rPr lang="en-US" sz="3600" b="1" i="1" smtClean="0">
                            <a:solidFill>
                              <a:srgbClr val="0070C0"/>
                            </a:solidFill>
                            <a:latin typeface="Cambria Math" panose="02040503050406030204" pitchFamily="18" charset="0"/>
                            <a:ea typeface="Cambria Math" panose="02040503050406030204" pitchFamily="18" charset="0"/>
                          </a:rPr>
                          <m:t>𝑵</m:t>
                        </m:r>
                        <m:r>
                          <a:rPr lang="en-US" sz="3600" b="1" i="1">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𝟐𝟓𝟔</m:t>
                        </m:r>
                      </m:den>
                    </m:f>
                    <m:r>
                      <a:rPr lang="en-US" sz="3600" b="1" i="1" smtClean="0">
                        <a:solidFill>
                          <a:srgbClr val="0070C0"/>
                        </a:solidFill>
                        <a:latin typeface="Cambria Math" panose="02040503050406030204" pitchFamily="18" charset="0"/>
                        <a:ea typeface="Cambria Math" panose="02040503050406030204" pitchFamily="18" charset="0"/>
                      </a:rPr>
                      <m:t>=</m:t>
                    </m:r>
                    <m:f>
                      <m:fPr>
                        <m:ctrlPr>
                          <a:rPr lang="en-US" sz="3600" b="1" i="1" smtClean="0">
                            <a:solidFill>
                              <a:srgbClr val="0070C0"/>
                            </a:solidFill>
                            <a:latin typeface="Cambria Math" panose="02040503050406030204" pitchFamily="18" charset="0"/>
                            <a:ea typeface="Cambria Math" panose="02040503050406030204" pitchFamily="18" charset="0"/>
                          </a:rPr>
                        </m:ctrlPr>
                      </m:fPr>
                      <m:num>
                        <m:r>
                          <a:rPr lang="en-US" sz="3600" b="1" i="1" smtClean="0">
                            <a:solidFill>
                              <a:srgbClr val="0070C0"/>
                            </a:solidFill>
                            <a:latin typeface="Cambria Math" panose="02040503050406030204" pitchFamily="18" charset="0"/>
                            <a:ea typeface="Cambria Math" panose="02040503050406030204" pitchFamily="18" charset="0"/>
                          </a:rPr>
                          <m:t>𝟏𝟔</m:t>
                        </m:r>
                        <m:r>
                          <a:rPr lang="en-US" sz="3600" b="1" i="1" smtClean="0">
                            <a:solidFill>
                              <a:srgbClr val="0070C0"/>
                            </a:solidFill>
                            <a:latin typeface="Cambria Math" panose="02040503050406030204" pitchFamily="18" charset="0"/>
                            <a:ea typeface="Cambria Math" panose="02040503050406030204" pitchFamily="18" charset="0"/>
                          </a:rPr>
                          <m:t>×</m:t>
                        </m:r>
                        <m:sSup>
                          <m:sSupPr>
                            <m:ctrlPr>
                              <a:rPr lang="en-US" sz="3600" b="1" i="1" smtClean="0">
                                <a:solidFill>
                                  <a:srgbClr val="0070C0"/>
                                </a:solidFill>
                                <a:latin typeface="Cambria Math" panose="02040503050406030204" pitchFamily="18" charset="0"/>
                                <a:ea typeface="Cambria Math" panose="02040503050406030204" pitchFamily="18" charset="0"/>
                              </a:rPr>
                            </m:ctrlPr>
                          </m:sSupPr>
                          <m:e>
                            <m:r>
                              <a:rPr lang="en-US" sz="3600" b="1" i="1" smtClean="0">
                                <a:solidFill>
                                  <a:srgbClr val="0070C0"/>
                                </a:solidFill>
                                <a:latin typeface="Cambria Math" panose="02040503050406030204" pitchFamily="18" charset="0"/>
                                <a:ea typeface="Cambria Math" panose="02040503050406030204" pitchFamily="18" charset="0"/>
                              </a:rPr>
                              <m:t>𝟏𝟎</m:t>
                            </m:r>
                          </m:e>
                          <m:sup>
                            <m:r>
                              <a:rPr lang="en-US" sz="3600" b="1" i="1" smtClean="0">
                                <a:solidFill>
                                  <a:srgbClr val="0070C0"/>
                                </a:solidFill>
                                <a:latin typeface="Cambria Math" panose="02040503050406030204" pitchFamily="18" charset="0"/>
                                <a:ea typeface="Cambria Math" panose="02040503050406030204" pitchFamily="18" charset="0"/>
                              </a:rPr>
                              <m:t>𝟔</m:t>
                            </m:r>
                          </m:sup>
                        </m:sSup>
                      </m:num>
                      <m:den>
                        <m:r>
                          <a:rPr lang="en-US" sz="3600" b="1" i="1" smtClean="0">
                            <a:solidFill>
                              <a:srgbClr val="0070C0"/>
                            </a:solidFill>
                            <a:latin typeface="Cambria Math" panose="02040503050406030204" pitchFamily="18" charset="0"/>
                            <a:ea typeface="Cambria Math" panose="02040503050406030204" pitchFamily="18" charset="0"/>
                          </a:rPr>
                          <m:t>𝟏𝟎𝟐𝟒</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𝟐𝟓𝟔</m:t>
                        </m:r>
                      </m:den>
                    </m:f>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𝟔𝟏</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𝟎𝟒</m:t>
                    </m:r>
                  </m:oMath>
                </a14:m>
                <a:r>
                  <a:rPr lang="en-CA" sz="3600" dirty="0"/>
                  <a:t> Hz.</a:t>
                </a: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604289" y="971216"/>
                <a:ext cx="15004011" cy="1758335"/>
              </a:xfrm>
              <a:blipFill>
                <a:blip r:embed="rId3"/>
                <a:stretch>
                  <a:fillRect l="-1219" t="-519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35</a:t>
            </a:fld>
            <a:endParaRPr lang="en-US" dirty="0"/>
          </a:p>
        </p:txBody>
      </p:sp>
      <p:pic>
        <p:nvPicPr>
          <p:cNvPr id="10" name="Picture 9">
            <a:extLst>
              <a:ext uri="{FF2B5EF4-FFF2-40B4-BE49-F238E27FC236}">
                <a16:creationId xmlns:a16="http://schemas.microsoft.com/office/drawing/2014/main" id="{84F4FE56-3E24-DB9D-FB3B-E8639D5BCD8A}"/>
              </a:ext>
            </a:extLst>
          </p:cNvPr>
          <p:cNvPicPr>
            <a:picLocks noChangeAspect="1"/>
          </p:cNvPicPr>
          <p:nvPr/>
        </p:nvPicPr>
        <p:blipFill>
          <a:blip r:embed="rId4"/>
          <a:stretch>
            <a:fillRect/>
          </a:stretch>
        </p:blipFill>
        <p:spPr>
          <a:xfrm>
            <a:off x="250209" y="2640146"/>
            <a:ext cx="11036489" cy="5279488"/>
          </a:xfrm>
          <a:prstGeom prst="rect">
            <a:avLst/>
          </a:prstGeom>
        </p:spPr>
      </p:pic>
      <p:pic>
        <p:nvPicPr>
          <p:cNvPr id="7" name="Picture 4" descr="Arduino et Timer [Wiki]">
            <a:extLst>
              <a:ext uri="{FF2B5EF4-FFF2-40B4-BE49-F238E27FC236}">
                <a16:creationId xmlns:a16="http://schemas.microsoft.com/office/drawing/2014/main" id="{EFF59EFE-D587-2296-F0A7-6A9A7CF935D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02" t="2864" b="2508"/>
          <a:stretch/>
        </p:blipFill>
        <p:spPr bwMode="auto">
          <a:xfrm>
            <a:off x="11286699" y="2361071"/>
            <a:ext cx="5074451" cy="47903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400AA6-459D-0721-E38C-BA2C46BF3BDC}"/>
              </a:ext>
            </a:extLst>
          </p:cNvPr>
          <p:cNvSpPr txBox="1"/>
          <p:nvPr/>
        </p:nvSpPr>
        <p:spPr>
          <a:xfrm rot="5400000">
            <a:off x="13633976" y="5829390"/>
            <a:ext cx="245989" cy="436789"/>
          </a:xfrm>
          <a:prstGeom prst="rect">
            <a:avLst/>
          </a:prstGeom>
          <a:noFill/>
          <a:ln w="57150">
            <a:solidFill>
              <a:srgbClr val="FF0000"/>
            </a:solidFill>
            <a:prstDash val="sysDash"/>
          </a:ln>
        </p:spPr>
        <p:txBody>
          <a:bodyPr wrap="square" rtlCol="0">
            <a:spAutoFit/>
          </a:bodyPr>
          <a:lstStyle/>
          <a:p>
            <a:pPr algn="r"/>
            <a:endParaRPr lang="en-US" sz="3600" dirty="0"/>
          </a:p>
        </p:txBody>
      </p:sp>
      <p:cxnSp>
        <p:nvCxnSpPr>
          <p:cNvPr id="11" name="Straight Arrow Connector 10">
            <a:extLst>
              <a:ext uri="{FF2B5EF4-FFF2-40B4-BE49-F238E27FC236}">
                <a16:creationId xmlns:a16="http://schemas.microsoft.com/office/drawing/2014/main" id="{F357F529-306F-C7C6-980D-2EAD00FEE0B4}"/>
              </a:ext>
            </a:extLst>
          </p:cNvPr>
          <p:cNvCxnSpPr>
            <a:cxnSpLocks/>
          </p:cNvCxnSpPr>
          <p:nvPr/>
        </p:nvCxnSpPr>
        <p:spPr>
          <a:xfrm flipV="1">
            <a:off x="641445" y="6170779"/>
            <a:ext cx="12897131" cy="284612"/>
          </a:xfrm>
          <a:prstGeom prst="straightConnector1">
            <a:avLst/>
          </a:prstGeom>
          <a:ln w="38100">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729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heel(1)">
                                      <p:cBhvr>
                                        <p:cTn id="18" dur="2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3" presetClass="entr" presetSubtype="16"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plus(in)">
                                      <p:cBhvr>
                                        <p:cTn id="23"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59467" y="129442"/>
            <a:ext cx="10429211" cy="747031"/>
          </a:xfrm>
        </p:spPr>
        <p:txBody>
          <a:bodyPr>
            <a:normAutofit fontScale="90000"/>
          </a:bodyPr>
          <a:lstStyle/>
          <a:p>
            <a:r>
              <a:rPr lang="nn-NO" sz="5400" b="1" dirty="0">
                <a:solidFill>
                  <a:srgbClr val="0070C0"/>
                </a:solidFill>
              </a:rPr>
              <a:t>Programming Arduino for Fast PWM</a:t>
            </a:r>
            <a:endParaRPr lang="en-US" sz="54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457201" y="889536"/>
            <a:ext cx="15697198" cy="7003972"/>
          </a:xfrm>
        </p:spPr>
        <p:txBody>
          <a:bodyPr>
            <a:noAutofit/>
          </a:bodyPr>
          <a:lstStyle/>
          <a:p>
            <a:pPr marL="0" indent="0" algn="just">
              <a:spcBef>
                <a:spcPts val="0"/>
              </a:spcBef>
              <a:buNone/>
            </a:pPr>
            <a:r>
              <a:rPr lang="en-CA" sz="2800" dirty="0"/>
              <a:t>#</a:t>
            </a:r>
            <a:r>
              <a:rPr lang="en-CA" sz="2800" dirty="0" err="1"/>
              <a:t>ifndef</a:t>
            </a:r>
            <a:r>
              <a:rPr lang="en-CA" sz="2800" dirty="0"/>
              <a:t> F_CPU</a:t>
            </a:r>
          </a:p>
          <a:p>
            <a:pPr marL="0" indent="0" algn="just">
              <a:spcBef>
                <a:spcPts val="0"/>
              </a:spcBef>
              <a:buNone/>
            </a:pPr>
            <a:r>
              <a:rPr lang="en-CA" sz="2800" dirty="0"/>
              <a:t>#define F_CPU 8000000UL   // Clock frequency is 8 MHz</a:t>
            </a:r>
          </a:p>
          <a:p>
            <a:pPr marL="0" indent="0" algn="just">
              <a:spcBef>
                <a:spcPts val="0"/>
              </a:spcBef>
              <a:buNone/>
            </a:pPr>
            <a:r>
              <a:rPr lang="en-CA" sz="2800" dirty="0"/>
              <a:t>#</a:t>
            </a:r>
            <a:r>
              <a:rPr lang="en-CA" sz="2800" dirty="0" err="1"/>
              <a:t>endif</a:t>
            </a:r>
            <a:endParaRPr lang="en-CA" sz="2800" dirty="0"/>
          </a:p>
          <a:p>
            <a:pPr marL="0" indent="0" algn="just">
              <a:spcBef>
                <a:spcPts val="0"/>
              </a:spcBef>
              <a:buNone/>
            </a:pPr>
            <a:r>
              <a:rPr lang="en-CA" sz="2800" dirty="0"/>
              <a:t>#include &lt;</a:t>
            </a:r>
            <a:r>
              <a:rPr lang="en-CA" sz="2800" dirty="0" err="1"/>
              <a:t>avr</a:t>
            </a:r>
            <a:r>
              <a:rPr lang="en-CA" sz="2800" dirty="0"/>
              <a:t>/</a:t>
            </a:r>
            <a:r>
              <a:rPr lang="en-CA" sz="2800" dirty="0" err="1"/>
              <a:t>io.h</a:t>
            </a:r>
            <a:r>
              <a:rPr lang="en-CA" sz="2800" dirty="0"/>
              <a:t>&gt;</a:t>
            </a:r>
          </a:p>
          <a:p>
            <a:pPr marL="0" indent="0" algn="just">
              <a:spcBef>
                <a:spcPts val="0"/>
              </a:spcBef>
              <a:buNone/>
            </a:pPr>
            <a:endParaRPr lang="en-CA" sz="2800" dirty="0"/>
          </a:p>
          <a:p>
            <a:pPr marL="0" indent="0" algn="just">
              <a:spcBef>
                <a:spcPts val="0"/>
              </a:spcBef>
              <a:buNone/>
            </a:pPr>
            <a:r>
              <a:rPr lang="en-CA" sz="2800" dirty="0" err="1"/>
              <a:t>int</a:t>
            </a:r>
            <a:r>
              <a:rPr lang="en-CA" sz="2800" dirty="0"/>
              <a:t> main() {</a:t>
            </a:r>
          </a:p>
          <a:p>
            <a:pPr marL="0" indent="0" algn="just">
              <a:spcBef>
                <a:spcPts val="0"/>
              </a:spcBef>
              <a:buNone/>
            </a:pPr>
            <a:r>
              <a:rPr lang="en-CA" sz="2800" dirty="0"/>
              <a:t>  // OC0B pin is set as PWM output pin by sending a HIGH to Port D’s Data Direction Register, DDRD</a:t>
            </a:r>
          </a:p>
          <a:p>
            <a:pPr marL="0" indent="0" algn="just">
              <a:spcBef>
                <a:spcPts val="0"/>
              </a:spcBef>
              <a:buNone/>
            </a:pPr>
            <a:r>
              <a:rPr lang="en-CA" sz="2800" dirty="0"/>
              <a:t>  DDRD |= (1&lt;&lt;PD5);  </a:t>
            </a:r>
          </a:p>
          <a:p>
            <a:pPr marL="0" indent="0" algn="just">
              <a:spcBef>
                <a:spcPts val="0"/>
              </a:spcBef>
              <a:buNone/>
            </a:pPr>
            <a:r>
              <a:rPr lang="en-CA" sz="2800" dirty="0"/>
              <a:t>  </a:t>
            </a:r>
            <a:r>
              <a:rPr lang="en-US" sz="2800" dirty="0"/>
              <a:t>OCR0A = 200;	// Top Value of 200 (must be equal or greater than the OCR0B)</a:t>
            </a:r>
            <a:endParaRPr lang="en-CA" sz="2800" dirty="0"/>
          </a:p>
          <a:p>
            <a:pPr marL="0" indent="0" algn="just">
              <a:spcBef>
                <a:spcPts val="0"/>
              </a:spcBef>
              <a:buNone/>
            </a:pPr>
            <a:r>
              <a:rPr lang="en-CA" sz="2800" dirty="0"/>
              <a:t>  OCR0B = 140; // Load 140 into OCR0B for setting its duty cycle to 70% </a:t>
            </a:r>
            <a:r>
              <a:rPr lang="en-CA" sz="2800" dirty="0">
                <a:solidFill>
                  <a:srgbClr val="FF0000"/>
                </a:solidFill>
              </a:rPr>
              <a:t>(See previous example, slide # 13</a:t>
            </a:r>
            <a:r>
              <a:rPr lang="en-CA" sz="2800" baseline="30000" dirty="0">
                <a:solidFill>
                  <a:srgbClr val="FF0000"/>
                </a:solidFill>
              </a:rPr>
              <a:t>*</a:t>
            </a:r>
            <a:r>
              <a:rPr lang="en-CA" sz="2800" dirty="0">
                <a:solidFill>
                  <a:srgbClr val="FF0000"/>
                </a:solidFill>
              </a:rPr>
              <a:t>)</a:t>
            </a:r>
            <a:endParaRPr lang="en-CA" sz="2800" dirty="0"/>
          </a:p>
          <a:p>
            <a:pPr marL="0" indent="0" algn="just">
              <a:spcBef>
                <a:spcPts val="0"/>
              </a:spcBef>
              <a:buNone/>
            </a:pPr>
            <a:r>
              <a:rPr lang="en-CA" sz="2800" dirty="0"/>
              <a:t>   // Configure TCCR0A and TCCR0B register for (</a:t>
            </a:r>
            <a:r>
              <a:rPr lang="en-CA" sz="2800" dirty="0" err="1"/>
              <a:t>i</a:t>
            </a:r>
            <a:r>
              <a:rPr lang="en-CA" sz="2800" dirty="0"/>
              <a:t>) </a:t>
            </a:r>
            <a:r>
              <a:rPr lang="en-CA" sz="2800" b="1" dirty="0">
                <a:solidFill>
                  <a:srgbClr val="FF0000"/>
                </a:solidFill>
              </a:rPr>
              <a:t>non-inverting (10)</a:t>
            </a:r>
            <a:r>
              <a:rPr lang="en-CA" sz="2800" dirty="0"/>
              <a:t>, (ii) Fast PWM </a:t>
            </a:r>
            <a:r>
              <a:rPr lang="en-CA" sz="2800" b="1" dirty="0">
                <a:solidFill>
                  <a:srgbClr val="FF0000"/>
                </a:solidFill>
              </a:rPr>
              <a:t>mode 7 (111)</a:t>
            </a:r>
            <a:r>
              <a:rPr lang="en-CA" sz="2800" dirty="0"/>
              <a:t>, </a:t>
            </a:r>
          </a:p>
          <a:p>
            <a:pPr marL="0" indent="0" algn="just">
              <a:spcBef>
                <a:spcPts val="0"/>
              </a:spcBef>
              <a:buNone/>
            </a:pPr>
            <a:r>
              <a:rPr lang="en-CA" sz="2800" dirty="0"/>
              <a:t>   // (iii) Pre-scalar (011) for frequency control. </a:t>
            </a:r>
            <a:r>
              <a:rPr lang="en-CA" sz="2800" dirty="0">
                <a:solidFill>
                  <a:srgbClr val="FF0000"/>
                </a:solidFill>
              </a:rPr>
              <a:t>By default, 0s are there, but you may set them explicitly.</a:t>
            </a:r>
          </a:p>
          <a:p>
            <a:pPr marL="0" indent="0" algn="just">
              <a:spcBef>
                <a:spcPts val="0"/>
              </a:spcBef>
              <a:buNone/>
            </a:pPr>
            <a:r>
              <a:rPr lang="en-CA" sz="2800" dirty="0"/>
              <a:t>  TCCR0A |= (1 &lt;&lt; COM0B1) | (1&lt;&lt;WGM01) | (1&lt;&lt;WGM00); </a:t>
            </a:r>
          </a:p>
          <a:p>
            <a:pPr marL="0" indent="0" algn="just">
              <a:spcBef>
                <a:spcPts val="0"/>
              </a:spcBef>
              <a:buNone/>
            </a:pPr>
            <a:r>
              <a:rPr lang="en-CA" sz="2800" dirty="0"/>
              <a:t>  TCCR0B |= (1&lt;&lt;WGM02) | (1&lt;&lt;CS01) | (1&lt;&lt;CS00);  // CS02:00 = 011, N = 64</a:t>
            </a:r>
          </a:p>
          <a:p>
            <a:pPr marL="0" indent="0" algn="just">
              <a:spcBef>
                <a:spcPts val="0"/>
              </a:spcBef>
              <a:buNone/>
            </a:pPr>
            <a:r>
              <a:rPr lang="en-CA" sz="2800" dirty="0"/>
              <a:t>  </a:t>
            </a:r>
            <a:r>
              <a:rPr lang="en-CA" sz="2800" dirty="0">
                <a:solidFill>
                  <a:srgbClr val="FF0000"/>
                </a:solidFill>
              </a:rPr>
              <a:t>// TCCR0A=0b00100011; TCCR0B=0b00001011</a:t>
            </a:r>
          </a:p>
          <a:p>
            <a:pPr marL="0" indent="0" algn="just">
              <a:spcBef>
                <a:spcPts val="0"/>
              </a:spcBef>
              <a:buNone/>
            </a:pPr>
            <a:r>
              <a:rPr lang="en-CA" sz="2800" dirty="0"/>
              <a:t>  while(1);  </a:t>
            </a:r>
          </a:p>
          <a:p>
            <a:pPr marL="0" indent="0" algn="just">
              <a:spcBef>
                <a:spcPts val="0"/>
              </a:spcBef>
              <a:buNone/>
            </a:pPr>
            <a:r>
              <a:rPr lang="en-CA" sz="2800" dirty="0"/>
              <a:t>return 0;</a:t>
            </a:r>
          </a:p>
          <a:p>
            <a:pPr marL="0" indent="0" algn="just">
              <a:spcBef>
                <a:spcPts val="0"/>
              </a:spcBef>
              <a:buNone/>
            </a:pPr>
            <a:r>
              <a:rPr lang="en-CA" sz="2800" dirty="0"/>
              <a:t>}</a:t>
            </a:r>
          </a:p>
        </p:txBody>
      </p:sp>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36</a:t>
            </a:fld>
            <a:endParaRPr lang="en-US" dirty="0"/>
          </a:p>
        </p:txBody>
      </p:sp>
      <p:pic>
        <p:nvPicPr>
          <p:cNvPr id="7" name="Picture 6">
            <a:extLst>
              <a:ext uri="{FF2B5EF4-FFF2-40B4-BE49-F238E27FC236}">
                <a16:creationId xmlns:a16="http://schemas.microsoft.com/office/drawing/2014/main" id="{94F08C22-B182-F666-6256-F8D8D069BEBD}"/>
              </a:ext>
            </a:extLst>
          </p:cNvPr>
          <p:cNvPicPr>
            <a:picLocks noChangeAspect="1"/>
          </p:cNvPicPr>
          <p:nvPr/>
        </p:nvPicPr>
        <p:blipFill rotWithShape="1">
          <a:blip r:embed="rId2">
            <a:duotone>
              <a:schemeClr val="accent5">
                <a:shade val="45000"/>
                <a:satMod val="135000"/>
              </a:schemeClr>
              <a:prstClr val="white"/>
            </a:duotone>
          </a:blip>
          <a:srcRect l="1229" t="8730" r="1053" b="6084"/>
          <a:stretch/>
        </p:blipFill>
        <p:spPr>
          <a:xfrm>
            <a:off x="9318497" y="876473"/>
            <a:ext cx="6945086" cy="908612"/>
          </a:xfrm>
          <a:prstGeom prst="rect">
            <a:avLst/>
          </a:prstGeom>
        </p:spPr>
      </p:pic>
      <p:pic>
        <p:nvPicPr>
          <p:cNvPr id="8" name="Picture 7">
            <a:extLst>
              <a:ext uri="{FF2B5EF4-FFF2-40B4-BE49-F238E27FC236}">
                <a16:creationId xmlns:a16="http://schemas.microsoft.com/office/drawing/2014/main" id="{9D67243A-3EF7-740D-4C2F-B378DFEAE203}"/>
              </a:ext>
            </a:extLst>
          </p:cNvPr>
          <p:cNvPicPr>
            <a:picLocks noChangeAspect="1"/>
          </p:cNvPicPr>
          <p:nvPr/>
        </p:nvPicPr>
        <p:blipFill rotWithShape="1">
          <a:blip r:embed="rId3">
            <a:duotone>
              <a:schemeClr val="accent6">
                <a:shade val="45000"/>
                <a:satMod val="135000"/>
              </a:schemeClr>
              <a:prstClr val="white"/>
            </a:duotone>
          </a:blip>
          <a:srcRect l="1133" t="9685" r="1249" b="6629"/>
          <a:stretch/>
        </p:blipFill>
        <p:spPr>
          <a:xfrm>
            <a:off x="9318497" y="1948653"/>
            <a:ext cx="6945085" cy="850354"/>
          </a:xfrm>
          <a:prstGeom prst="rect">
            <a:avLst/>
          </a:prstGeom>
        </p:spPr>
      </p:pic>
      <p:pic>
        <p:nvPicPr>
          <p:cNvPr id="9" name="Picture 8">
            <a:extLst>
              <a:ext uri="{FF2B5EF4-FFF2-40B4-BE49-F238E27FC236}">
                <a16:creationId xmlns:a16="http://schemas.microsoft.com/office/drawing/2014/main" id="{991077AA-FB17-67B7-ED16-65945634B2D9}"/>
              </a:ext>
            </a:extLst>
          </p:cNvPr>
          <p:cNvPicPr>
            <a:picLocks noChangeAspect="1"/>
          </p:cNvPicPr>
          <p:nvPr/>
        </p:nvPicPr>
        <p:blipFill rotWithShape="1">
          <a:blip r:embed="rId4"/>
          <a:srcRect l="1295" r="1001"/>
          <a:stretch/>
        </p:blipFill>
        <p:spPr>
          <a:xfrm>
            <a:off x="11914495" y="5643507"/>
            <a:ext cx="4165297" cy="2378605"/>
          </a:xfrm>
          <a:prstGeom prst="rect">
            <a:avLst/>
          </a:prstGeom>
        </p:spPr>
      </p:pic>
      <p:sp>
        <p:nvSpPr>
          <p:cNvPr id="10" name="TextBox 9">
            <a:extLst>
              <a:ext uri="{FF2B5EF4-FFF2-40B4-BE49-F238E27FC236}">
                <a16:creationId xmlns:a16="http://schemas.microsoft.com/office/drawing/2014/main" id="{D8B71CE9-765D-6DE8-8297-459F1F7B72E3}"/>
              </a:ext>
            </a:extLst>
          </p:cNvPr>
          <p:cNvSpPr txBox="1"/>
          <p:nvPr/>
        </p:nvSpPr>
        <p:spPr>
          <a:xfrm>
            <a:off x="11839888" y="6646460"/>
            <a:ext cx="1506608" cy="368489"/>
          </a:xfrm>
          <a:prstGeom prst="rect">
            <a:avLst/>
          </a:prstGeom>
          <a:noFill/>
          <a:ln w="57150">
            <a:solidFill>
              <a:srgbClr val="FF0000"/>
            </a:solidFill>
            <a:prstDash val="sysDash"/>
          </a:ln>
        </p:spPr>
        <p:txBody>
          <a:bodyPr wrap="square" rtlCol="0">
            <a:spAutoFit/>
          </a:bodyPr>
          <a:lstStyle/>
          <a:p>
            <a:endParaRPr lang="en-US" sz="16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62FDC5A-C196-341E-D868-A858C4CE16BE}"/>
                  </a:ext>
                </a:extLst>
              </p:cNvPr>
              <p:cNvSpPr txBox="1"/>
              <p:nvPr/>
            </p:nvSpPr>
            <p:spPr>
              <a:xfrm>
                <a:off x="2709657" y="7014949"/>
                <a:ext cx="8345027" cy="858761"/>
              </a:xfrm>
              <a:prstGeom prst="rect">
                <a:avLst/>
              </a:prstGeom>
              <a:solidFill>
                <a:schemeClr val="accent1">
                  <a:lumMod val="20000"/>
                  <a:lumOff val="80000"/>
                </a:schemeClr>
              </a:solidFill>
              <a:ln>
                <a:solidFill>
                  <a:schemeClr val="accent1"/>
                </a:solidFill>
              </a:ln>
            </p:spPr>
            <p:txBody>
              <a:bodyPr wrap="square">
                <a:spAutoFit/>
              </a:bodyPr>
              <a:lstStyle/>
              <a:p>
                <a:pPr marL="0" indent="0">
                  <a:spcBef>
                    <a:spcPts val="600"/>
                  </a:spcBef>
                  <a:buClrTx/>
                  <a:buNone/>
                </a:pPr>
                <a:r>
                  <a:rPr lang="en-CA" sz="1800" baseline="30000" dirty="0">
                    <a:solidFill>
                      <a:srgbClr val="FF0000"/>
                    </a:solidFill>
                  </a:rPr>
                  <a:t>*</a:t>
                </a:r>
                <a:r>
                  <a:rPr lang="en-US" sz="1800" dirty="0"/>
                  <a:t>A PWM signal is to have 70% duty cycle. Compute the value for OCR0B if OCR0A = 200.</a:t>
                </a:r>
                <a:endParaRPr lang="en-CA" sz="1800" dirty="0"/>
              </a:p>
              <a:p>
                <a:pPr marL="0" indent="0" algn="ctr">
                  <a:spcBef>
                    <a:spcPts val="600"/>
                  </a:spcBef>
                  <a:buClrTx/>
                  <a:buNone/>
                </a:pPr>
                <a14:m>
                  <m:oMath xmlns:m="http://schemas.openxmlformats.org/officeDocument/2006/math">
                    <m:r>
                      <a:rPr lang="en-US" sz="1800" b="1" i="1">
                        <a:latin typeface="Cambria Math" panose="02040503050406030204" pitchFamily="18" charset="0"/>
                      </a:rPr>
                      <m:t>𝑶𝑪𝑹</m:t>
                    </m:r>
                    <m:r>
                      <a:rPr lang="en-US" sz="1800" b="1" i="1">
                        <a:latin typeface="Cambria Math" panose="02040503050406030204" pitchFamily="18" charset="0"/>
                      </a:rPr>
                      <m:t>𝟎</m:t>
                    </m:r>
                    <m:r>
                      <a:rPr lang="en-US" sz="1800" b="1" i="1" smtClean="0">
                        <a:latin typeface="Cambria Math" panose="02040503050406030204" pitchFamily="18" charset="0"/>
                      </a:rPr>
                      <m:t>𝑩</m:t>
                    </m:r>
                    <m:r>
                      <a:rPr lang="en-US" sz="1800" b="1" i="1">
                        <a:latin typeface="Cambria Math" panose="02040503050406030204" pitchFamily="18" charset="0"/>
                      </a:rPr>
                      <m:t>=</m:t>
                    </m:r>
                    <m:f>
                      <m:fPr>
                        <m:ctrlPr>
                          <a:rPr lang="en-US" sz="1800" b="1" i="1">
                            <a:latin typeface="Cambria Math" panose="02040503050406030204" pitchFamily="18" charset="0"/>
                          </a:rPr>
                        </m:ctrlPr>
                      </m:fPr>
                      <m:num>
                        <m:d>
                          <m:dPr>
                            <m:ctrlPr>
                              <a:rPr lang="en-US" sz="1800" b="1" i="1">
                                <a:latin typeface="Cambria Math" panose="02040503050406030204" pitchFamily="18" charset="0"/>
                              </a:rPr>
                            </m:ctrlPr>
                          </m:dPr>
                          <m:e>
                            <m:r>
                              <a:rPr lang="en-US" sz="1800" b="1" i="1">
                                <a:latin typeface="Cambria Math" panose="02040503050406030204" pitchFamily="18" charset="0"/>
                              </a:rPr>
                              <m:t>𝟏</m:t>
                            </m:r>
                            <m:r>
                              <a:rPr lang="en-US" sz="1800" b="1" i="1">
                                <a:latin typeface="Cambria Math" panose="02040503050406030204" pitchFamily="18" charset="0"/>
                              </a:rPr>
                              <m:t>+</m:t>
                            </m:r>
                            <m:r>
                              <a:rPr lang="en-US" sz="1800" b="1" i="1" smtClean="0">
                                <a:latin typeface="Cambria Math" panose="02040503050406030204" pitchFamily="18" charset="0"/>
                              </a:rPr>
                              <m:t>𝟐𝟎𝟎</m:t>
                            </m:r>
                          </m:e>
                        </m:d>
                        <m:r>
                          <a:rPr lang="en-US" sz="1800" b="1" i="1" smtClean="0">
                            <a:latin typeface="Cambria Math" panose="02040503050406030204" pitchFamily="18" charset="0"/>
                          </a:rPr>
                          <m:t>𝟕𝟎</m:t>
                        </m:r>
                      </m:num>
                      <m:den>
                        <m:r>
                          <a:rPr lang="en-US" sz="1800" b="1" i="1">
                            <a:latin typeface="Cambria Math" panose="02040503050406030204" pitchFamily="18" charset="0"/>
                          </a:rPr>
                          <m:t>𝟏𝟎𝟎</m:t>
                        </m:r>
                      </m:den>
                    </m:f>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𝟏</m:t>
                    </m:r>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𝟏𝟒𝟏</m:t>
                    </m:r>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𝟏</m:t>
                    </m:r>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𝟏𝟒𝟎</m:t>
                    </m:r>
                  </m:oMath>
                </a14:m>
                <a:r>
                  <a:rPr lang="en-US" sz="1800" dirty="0">
                    <a:solidFill>
                      <a:srgbClr val="000000"/>
                    </a:solidFill>
                  </a:rPr>
                  <a:t> , if </a:t>
                </a:r>
                <a:r>
                  <a:rPr lang="en-US" sz="1800" b="1" dirty="0">
                    <a:solidFill>
                      <a:srgbClr val="FF0000"/>
                    </a:solidFill>
                  </a:rPr>
                  <a:t>TOP = </a:t>
                </a:r>
                <a14:m>
                  <m:oMath xmlns:m="http://schemas.openxmlformats.org/officeDocument/2006/math">
                    <m:r>
                      <a:rPr lang="en-US" sz="1800" b="1" i="1">
                        <a:solidFill>
                          <a:srgbClr val="FF0000"/>
                        </a:solidFill>
                        <a:latin typeface="Cambria Math" panose="02040503050406030204" pitchFamily="18" charset="0"/>
                      </a:rPr>
                      <m:t>𝑶𝑪𝑹</m:t>
                    </m:r>
                    <m:r>
                      <a:rPr lang="en-US" sz="1800" b="1" i="1">
                        <a:solidFill>
                          <a:srgbClr val="FF0000"/>
                        </a:solidFill>
                        <a:latin typeface="Cambria Math" panose="02040503050406030204" pitchFamily="18" charset="0"/>
                      </a:rPr>
                      <m:t>𝟎</m:t>
                    </m:r>
                    <m:r>
                      <a:rPr lang="en-US" sz="1800" b="1" i="1">
                        <a:solidFill>
                          <a:srgbClr val="FF0000"/>
                        </a:solidFill>
                        <a:latin typeface="Cambria Math" panose="02040503050406030204" pitchFamily="18" charset="0"/>
                      </a:rPr>
                      <m:t>𝑨</m:t>
                    </m:r>
                    <m:r>
                      <a:rPr lang="en-US" sz="1800" b="1" i="1">
                        <a:solidFill>
                          <a:srgbClr val="FF0000"/>
                        </a:solidFill>
                        <a:latin typeface="Cambria Math" panose="02040503050406030204" pitchFamily="18" charset="0"/>
                      </a:rPr>
                      <m:t> </m:t>
                    </m:r>
                  </m:oMath>
                </a14:m>
                <a:r>
                  <a:rPr lang="en-US" sz="1800" b="1" dirty="0">
                    <a:solidFill>
                      <a:srgbClr val="FF0000"/>
                    </a:solidFill>
                  </a:rPr>
                  <a:t>= 200</a:t>
                </a:r>
                <a:endParaRPr lang="en-CA" sz="1800" dirty="0">
                  <a:solidFill>
                    <a:srgbClr val="000000"/>
                  </a:solidFill>
                </a:endParaRPr>
              </a:p>
            </p:txBody>
          </p:sp>
        </mc:Choice>
        <mc:Fallback xmlns="">
          <p:sp>
            <p:nvSpPr>
              <p:cNvPr id="12" name="TextBox 11">
                <a:extLst>
                  <a:ext uri="{FF2B5EF4-FFF2-40B4-BE49-F238E27FC236}">
                    <a16:creationId xmlns:a16="http://schemas.microsoft.com/office/drawing/2014/main" id="{D62FDC5A-C196-341E-D868-A858C4CE16BE}"/>
                  </a:ext>
                </a:extLst>
              </p:cNvPr>
              <p:cNvSpPr txBox="1">
                <a:spLocks noRot="1" noChangeAspect="1" noMove="1" noResize="1" noEditPoints="1" noAdjustHandles="1" noChangeArrowheads="1" noChangeShapeType="1" noTextEdit="1"/>
              </p:cNvSpPr>
              <p:nvPr/>
            </p:nvSpPr>
            <p:spPr>
              <a:xfrm>
                <a:off x="2709657" y="7014949"/>
                <a:ext cx="8345027" cy="858761"/>
              </a:xfrm>
              <a:prstGeom prst="rect">
                <a:avLst/>
              </a:prstGeom>
              <a:blipFill>
                <a:blip r:embed="rId5"/>
                <a:stretch>
                  <a:fillRect t="-3497" b="-2797"/>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74515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heel(1)">
                                      <p:cBhvr>
                                        <p:cTn id="21" dur="20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59467" y="129442"/>
            <a:ext cx="10429211" cy="747031"/>
          </a:xfrm>
        </p:spPr>
        <p:txBody>
          <a:bodyPr>
            <a:normAutofit fontScale="90000"/>
          </a:bodyPr>
          <a:lstStyle/>
          <a:p>
            <a:r>
              <a:rPr lang="nn-NO" sz="5400" b="1" dirty="0">
                <a:solidFill>
                  <a:srgbClr val="0070C0"/>
                </a:solidFill>
              </a:rPr>
              <a:t>Programming Arduino for Fast PWM</a:t>
            </a:r>
            <a:endParaRPr lang="en-US" sz="5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277746" y="1016884"/>
                <a:ext cx="15876653" cy="1675302"/>
              </a:xfrm>
            </p:spPr>
            <p:txBody>
              <a:bodyPr>
                <a:noAutofit/>
              </a:bodyPr>
              <a:lstStyle/>
              <a:p>
                <a:pPr marL="0" indent="0" algn="just">
                  <a:lnSpc>
                    <a:spcPct val="100000"/>
                  </a:lnSpc>
                  <a:spcBef>
                    <a:spcPts val="0"/>
                  </a:spcBef>
                  <a:buNone/>
                </a:pPr>
                <a:r>
                  <a:rPr lang="en-CA" sz="3600" dirty="0">
                    <a:solidFill>
                      <a:srgbClr val="000000"/>
                    </a:solidFill>
                  </a:rPr>
                  <a:t>The waveform generated will have a frequency of</a:t>
                </a:r>
              </a:p>
              <a:p>
                <a:pPr marL="0" indent="0" algn="just">
                  <a:lnSpc>
                    <a:spcPct val="100000"/>
                  </a:lnSpc>
                  <a:spcBef>
                    <a:spcPts val="0"/>
                  </a:spcBef>
                  <a:buNone/>
                </a:pPr>
                <a14:m>
                  <m:oMath xmlns:m="http://schemas.openxmlformats.org/officeDocument/2006/math">
                    <m:sSub>
                      <m:sSubPr>
                        <m:ctrlPr>
                          <a:rPr lang="en-US" sz="3600" b="1" i="1" smtClean="0">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𝑶𝑪</m:t>
                        </m:r>
                        <m:r>
                          <a:rPr lang="en-US" sz="3600" b="1" i="1" smtClean="0">
                            <a:solidFill>
                              <a:srgbClr val="0070C0"/>
                            </a:solidFill>
                            <a:latin typeface="Cambria Math" panose="02040503050406030204" pitchFamily="18" charset="0"/>
                          </a:rPr>
                          <m:t>𝟎</m:t>
                        </m:r>
                        <m:r>
                          <a:rPr lang="en-US" sz="3600" b="1" i="1" smtClean="0">
                            <a:solidFill>
                              <a:srgbClr val="0070C0"/>
                            </a:solidFill>
                            <a:latin typeface="Cambria Math" panose="02040503050406030204" pitchFamily="18" charset="0"/>
                          </a:rPr>
                          <m:t>𝑩𝑭𝑷𝑾𝑴</m:t>
                        </m:r>
                        <m:r>
                          <a:rPr lang="en-US" sz="3600" b="1" i="1" smtClean="0">
                            <a:solidFill>
                              <a:srgbClr val="0070C0"/>
                            </a:solidFill>
                            <a:latin typeface="Cambria Math" panose="02040503050406030204" pitchFamily="18" charset="0"/>
                          </a:rPr>
                          <m:t>𝟕</m:t>
                        </m:r>
                      </m:sub>
                    </m:sSub>
                    <m:r>
                      <a:rPr lang="en-US" sz="3600" b="1" i="1">
                        <a:solidFill>
                          <a:srgbClr val="0070C0"/>
                        </a:solidFill>
                        <a:latin typeface="Cambria Math" panose="02040503050406030204" pitchFamily="18" charset="0"/>
                      </a:rPr>
                      <m:t>=</m:t>
                    </m:r>
                    <m:f>
                      <m:fPr>
                        <m:ctrlPr>
                          <a:rPr lang="en-US" sz="3600" b="1" i="1">
                            <a:solidFill>
                              <a:srgbClr val="0070C0"/>
                            </a:solidFill>
                            <a:latin typeface="Cambria Math" panose="02040503050406030204" pitchFamily="18" charset="0"/>
                          </a:rPr>
                        </m:ctrlPr>
                      </m:fPr>
                      <m:num>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𝒄𝒍𝒌</m:t>
                            </m:r>
                            <m:r>
                              <a:rPr lang="en-US" sz="3600" b="1" i="1">
                                <a:solidFill>
                                  <a:srgbClr val="0070C0"/>
                                </a:solidFill>
                                <a:latin typeface="Cambria Math" panose="02040503050406030204" pitchFamily="18" charset="0"/>
                              </a:rPr>
                              <m:t>_</m:t>
                            </m:r>
                            <m:r>
                              <a:rPr lang="en-US" sz="3600" b="1" i="1">
                                <a:solidFill>
                                  <a:srgbClr val="0070C0"/>
                                </a:solidFill>
                                <a:latin typeface="Cambria Math" panose="02040503050406030204" pitchFamily="18" charset="0"/>
                              </a:rPr>
                              <m:t>𝑰𝑶</m:t>
                            </m:r>
                          </m:sub>
                        </m:sSub>
                      </m:num>
                      <m:den>
                        <m:r>
                          <a:rPr lang="en-US" sz="3600" b="1" i="1" smtClean="0">
                            <a:solidFill>
                              <a:srgbClr val="0070C0"/>
                            </a:solidFill>
                            <a:latin typeface="Cambria Math" panose="02040503050406030204" pitchFamily="18" charset="0"/>
                            <a:ea typeface="Cambria Math" panose="02040503050406030204" pitchFamily="18" charset="0"/>
                          </a:rPr>
                          <m:t>𝑵</m:t>
                        </m:r>
                        <m:r>
                          <a:rPr lang="en-US" sz="3600" b="1" i="1">
                            <a:solidFill>
                              <a:srgbClr val="0070C0"/>
                            </a:solidFill>
                            <a:latin typeface="Cambria Math" panose="02040503050406030204" pitchFamily="18" charset="0"/>
                            <a:ea typeface="Cambria Math" panose="02040503050406030204" pitchFamily="18" charset="0"/>
                          </a:rPr>
                          <m:t>×</m:t>
                        </m:r>
                        <m:d>
                          <m:dPr>
                            <m:ctrlPr>
                              <a:rPr lang="en-US" sz="3600" b="1" i="1" smtClean="0">
                                <a:solidFill>
                                  <a:srgbClr val="0070C0"/>
                                </a:solidFill>
                                <a:latin typeface="Cambria Math" panose="02040503050406030204" pitchFamily="18" charset="0"/>
                                <a:ea typeface="Cambria Math" panose="02040503050406030204" pitchFamily="18" charset="0"/>
                              </a:rPr>
                            </m:ctrlPr>
                          </m:dPr>
                          <m:e>
                            <m:r>
                              <a:rPr lang="en-US" sz="3600" b="1" i="1" smtClean="0">
                                <a:solidFill>
                                  <a:srgbClr val="0070C0"/>
                                </a:solidFill>
                                <a:latin typeface="Cambria Math" panose="02040503050406030204" pitchFamily="18" charset="0"/>
                                <a:ea typeface="Cambria Math" panose="02040503050406030204" pitchFamily="18" charset="0"/>
                              </a:rPr>
                              <m:t>𝟏</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𝑶𝑪𝑹</m:t>
                            </m:r>
                            <m:r>
                              <a:rPr lang="en-US" sz="3600" b="1" i="1" smtClean="0">
                                <a:solidFill>
                                  <a:srgbClr val="0070C0"/>
                                </a:solidFill>
                                <a:latin typeface="Cambria Math" panose="02040503050406030204" pitchFamily="18" charset="0"/>
                                <a:ea typeface="Cambria Math" panose="02040503050406030204" pitchFamily="18" charset="0"/>
                              </a:rPr>
                              <m:t>𝟎</m:t>
                            </m:r>
                            <m:r>
                              <a:rPr lang="en-US" sz="3600" b="1" i="1" smtClean="0">
                                <a:solidFill>
                                  <a:srgbClr val="0070C0"/>
                                </a:solidFill>
                                <a:latin typeface="Cambria Math" panose="02040503050406030204" pitchFamily="18" charset="0"/>
                                <a:ea typeface="Cambria Math" panose="02040503050406030204" pitchFamily="18" charset="0"/>
                              </a:rPr>
                              <m:t>𝑨</m:t>
                            </m:r>
                          </m:e>
                        </m:d>
                      </m:den>
                    </m:f>
                    <m:r>
                      <a:rPr lang="en-US" sz="3600" b="1" i="1" smtClean="0">
                        <a:solidFill>
                          <a:srgbClr val="0070C0"/>
                        </a:solidFill>
                        <a:latin typeface="Cambria Math" panose="02040503050406030204" pitchFamily="18" charset="0"/>
                        <a:ea typeface="Cambria Math" panose="02040503050406030204" pitchFamily="18" charset="0"/>
                      </a:rPr>
                      <m:t>=</m:t>
                    </m:r>
                    <m:f>
                      <m:fPr>
                        <m:ctrlPr>
                          <a:rPr lang="en-US" sz="3600" b="1" i="1" smtClean="0">
                            <a:solidFill>
                              <a:srgbClr val="0070C0"/>
                            </a:solidFill>
                            <a:latin typeface="Cambria Math" panose="02040503050406030204" pitchFamily="18" charset="0"/>
                            <a:ea typeface="Cambria Math" panose="02040503050406030204" pitchFamily="18" charset="0"/>
                          </a:rPr>
                        </m:ctrlPr>
                      </m:fPr>
                      <m:num>
                        <m:r>
                          <a:rPr lang="en-US" sz="3600" b="1" i="1" smtClean="0">
                            <a:solidFill>
                              <a:srgbClr val="0070C0"/>
                            </a:solidFill>
                            <a:latin typeface="Cambria Math" panose="02040503050406030204" pitchFamily="18" charset="0"/>
                            <a:ea typeface="Cambria Math" panose="02040503050406030204" pitchFamily="18" charset="0"/>
                          </a:rPr>
                          <m:t>𝟖</m:t>
                        </m:r>
                        <m:r>
                          <a:rPr lang="en-US" sz="3600" b="1" i="1" smtClean="0">
                            <a:solidFill>
                              <a:srgbClr val="0070C0"/>
                            </a:solidFill>
                            <a:latin typeface="Cambria Math" panose="02040503050406030204" pitchFamily="18" charset="0"/>
                            <a:ea typeface="Cambria Math" panose="02040503050406030204" pitchFamily="18" charset="0"/>
                          </a:rPr>
                          <m:t>×</m:t>
                        </m:r>
                        <m:sSup>
                          <m:sSupPr>
                            <m:ctrlPr>
                              <a:rPr lang="en-US" sz="3600" b="1" i="1" smtClean="0">
                                <a:solidFill>
                                  <a:srgbClr val="0070C0"/>
                                </a:solidFill>
                                <a:latin typeface="Cambria Math" panose="02040503050406030204" pitchFamily="18" charset="0"/>
                                <a:ea typeface="Cambria Math" panose="02040503050406030204" pitchFamily="18" charset="0"/>
                              </a:rPr>
                            </m:ctrlPr>
                          </m:sSupPr>
                          <m:e>
                            <m:r>
                              <a:rPr lang="en-US" sz="3600" b="1" i="1" smtClean="0">
                                <a:solidFill>
                                  <a:srgbClr val="0070C0"/>
                                </a:solidFill>
                                <a:latin typeface="Cambria Math" panose="02040503050406030204" pitchFamily="18" charset="0"/>
                                <a:ea typeface="Cambria Math" panose="02040503050406030204" pitchFamily="18" charset="0"/>
                              </a:rPr>
                              <m:t>𝟏𝟎</m:t>
                            </m:r>
                          </m:e>
                          <m:sup>
                            <m:r>
                              <a:rPr lang="en-US" sz="3600" b="1" i="1" smtClean="0">
                                <a:solidFill>
                                  <a:srgbClr val="0070C0"/>
                                </a:solidFill>
                                <a:latin typeface="Cambria Math" panose="02040503050406030204" pitchFamily="18" charset="0"/>
                                <a:ea typeface="Cambria Math" panose="02040503050406030204" pitchFamily="18" charset="0"/>
                              </a:rPr>
                              <m:t>𝟔</m:t>
                            </m:r>
                          </m:sup>
                        </m:sSup>
                      </m:num>
                      <m:den>
                        <m:r>
                          <a:rPr lang="en-US" sz="3600" b="1" i="1" smtClean="0">
                            <a:solidFill>
                              <a:srgbClr val="0070C0"/>
                            </a:solidFill>
                            <a:latin typeface="Cambria Math" panose="02040503050406030204" pitchFamily="18" charset="0"/>
                            <a:ea typeface="Cambria Math" panose="02040503050406030204" pitchFamily="18" charset="0"/>
                          </a:rPr>
                          <m:t>𝟔𝟒</m:t>
                        </m:r>
                        <m:r>
                          <a:rPr lang="en-US" sz="3600" b="1" i="1" smtClean="0">
                            <a:solidFill>
                              <a:srgbClr val="0070C0"/>
                            </a:solidFill>
                            <a:latin typeface="Cambria Math" panose="02040503050406030204" pitchFamily="18" charset="0"/>
                            <a:ea typeface="Cambria Math" panose="02040503050406030204" pitchFamily="18" charset="0"/>
                          </a:rPr>
                          <m:t>×</m:t>
                        </m:r>
                        <m:d>
                          <m:dPr>
                            <m:ctrlPr>
                              <a:rPr lang="en-US" sz="3600" b="1" i="1" smtClean="0">
                                <a:solidFill>
                                  <a:srgbClr val="0070C0"/>
                                </a:solidFill>
                                <a:latin typeface="Cambria Math" panose="02040503050406030204" pitchFamily="18" charset="0"/>
                                <a:ea typeface="Cambria Math" panose="02040503050406030204" pitchFamily="18" charset="0"/>
                              </a:rPr>
                            </m:ctrlPr>
                          </m:dPr>
                          <m:e>
                            <m:r>
                              <a:rPr lang="en-US" sz="3600" b="1" i="1" smtClean="0">
                                <a:solidFill>
                                  <a:srgbClr val="0070C0"/>
                                </a:solidFill>
                                <a:latin typeface="Cambria Math" panose="02040503050406030204" pitchFamily="18" charset="0"/>
                                <a:ea typeface="Cambria Math" panose="02040503050406030204" pitchFamily="18" charset="0"/>
                              </a:rPr>
                              <m:t>𝟏</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𝟐𝟎𝟎</m:t>
                            </m:r>
                          </m:e>
                        </m:d>
                      </m:den>
                    </m:f>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𝟔𝟐𝟐</m:t>
                    </m:r>
                  </m:oMath>
                </a14:m>
                <a:r>
                  <a:rPr lang="en-CA" sz="3600" dirty="0"/>
                  <a:t> Hz.</a:t>
                </a: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277746" y="1016884"/>
                <a:ext cx="15876653" cy="1675302"/>
              </a:xfrm>
              <a:blipFill>
                <a:blip r:embed="rId3"/>
                <a:stretch>
                  <a:fillRect l="-1190" t="-581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37</a:t>
            </a:fld>
            <a:endParaRPr lang="en-US" dirty="0"/>
          </a:p>
        </p:txBody>
      </p:sp>
      <p:pic>
        <p:nvPicPr>
          <p:cNvPr id="11" name="Picture 10">
            <a:extLst>
              <a:ext uri="{FF2B5EF4-FFF2-40B4-BE49-F238E27FC236}">
                <a16:creationId xmlns:a16="http://schemas.microsoft.com/office/drawing/2014/main" id="{DD0F65E8-18F3-343B-3968-52A79B997BB2}"/>
              </a:ext>
            </a:extLst>
          </p:cNvPr>
          <p:cNvPicPr>
            <a:picLocks noChangeAspect="1"/>
          </p:cNvPicPr>
          <p:nvPr/>
        </p:nvPicPr>
        <p:blipFill>
          <a:blip r:embed="rId4"/>
          <a:stretch>
            <a:fillRect/>
          </a:stretch>
        </p:blipFill>
        <p:spPr>
          <a:xfrm>
            <a:off x="277746" y="2664890"/>
            <a:ext cx="11036249" cy="5288411"/>
          </a:xfrm>
          <a:prstGeom prst="rect">
            <a:avLst/>
          </a:prstGeom>
        </p:spPr>
      </p:pic>
      <p:pic>
        <p:nvPicPr>
          <p:cNvPr id="7" name="Picture 4" descr="Arduino et Timer [Wiki]">
            <a:extLst>
              <a:ext uri="{FF2B5EF4-FFF2-40B4-BE49-F238E27FC236}">
                <a16:creationId xmlns:a16="http://schemas.microsoft.com/office/drawing/2014/main" id="{C0EC828A-7275-321F-7A10-C151DF89D44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02" t="2864" b="2508"/>
          <a:stretch/>
        </p:blipFill>
        <p:spPr bwMode="auto">
          <a:xfrm>
            <a:off x="11286699" y="2361071"/>
            <a:ext cx="5074451" cy="47903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ACFC470-53A2-857F-1770-A33CE02F9208}"/>
              </a:ext>
            </a:extLst>
          </p:cNvPr>
          <p:cNvSpPr txBox="1"/>
          <p:nvPr/>
        </p:nvSpPr>
        <p:spPr>
          <a:xfrm rot="5400000">
            <a:off x="13633976" y="5829390"/>
            <a:ext cx="245989" cy="436789"/>
          </a:xfrm>
          <a:prstGeom prst="rect">
            <a:avLst/>
          </a:prstGeom>
          <a:noFill/>
          <a:ln w="57150">
            <a:solidFill>
              <a:srgbClr val="FF0000"/>
            </a:solidFill>
            <a:prstDash val="sysDash"/>
          </a:ln>
        </p:spPr>
        <p:txBody>
          <a:bodyPr wrap="square" rtlCol="0">
            <a:spAutoFit/>
          </a:bodyPr>
          <a:lstStyle/>
          <a:p>
            <a:pPr algn="r"/>
            <a:endParaRPr lang="en-US" sz="3600" dirty="0"/>
          </a:p>
        </p:txBody>
      </p:sp>
      <p:cxnSp>
        <p:nvCxnSpPr>
          <p:cNvPr id="9" name="Straight Arrow Connector 8">
            <a:extLst>
              <a:ext uri="{FF2B5EF4-FFF2-40B4-BE49-F238E27FC236}">
                <a16:creationId xmlns:a16="http://schemas.microsoft.com/office/drawing/2014/main" id="{1FFB1D93-2D69-D7C6-A0B1-6CAFB88F443E}"/>
              </a:ext>
            </a:extLst>
          </p:cNvPr>
          <p:cNvCxnSpPr>
            <a:cxnSpLocks/>
          </p:cNvCxnSpPr>
          <p:nvPr/>
        </p:nvCxnSpPr>
        <p:spPr>
          <a:xfrm flipV="1">
            <a:off x="641445" y="6170779"/>
            <a:ext cx="12897131" cy="284612"/>
          </a:xfrm>
          <a:prstGeom prst="straightConnector1">
            <a:avLst/>
          </a:prstGeom>
          <a:ln w="38100">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284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heel(1)">
                                      <p:cBhvr>
                                        <p:cTn id="18" dur="2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3" presetClass="entr" presetSubtype="16"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plus(in)">
                                      <p:cBhvr>
                                        <p:cTn id="23"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59467" y="280298"/>
            <a:ext cx="13166876" cy="950973"/>
          </a:xfrm>
        </p:spPr>
        <p:txBody>
          <a:bodyPr>
            <a:normAutofit fontScale="90000"/>
          </a:bodyPr>
          <a:lstStyle/>
          <a:p>
            <a:r>
              <a:rPr lang="nn-NO" sz="6000" b="1" dirty="0">
                <a:solidFill>
                  <a:srgbClr val="0070C0"/>
                </a:solidFill>
              </a:rPr>
              <a:t>Programming Arduino for Phase-Correct PWM</a:t>
            </a:r>
            <a:endParaRPr lang="en-US" sz="60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457201" y="1053104"/>
            <a:ext cx="15697198" cy="6866530"/>
          </a:xfrm>
        </p:spPr>
        <p:txBody>
          <a:bodyPr>
            <a:noAutofit/>
          </a:bodyPr>
          <a:lstStyle/>
          <a:p>
            <a:pPr marL="0" indent="0" algn="just">
              <a:spcBef>
                <a:spcPts val="0"/>
              </a:spcBef>
              <a:buNone/>
            </a:pPr>
            <a:r>
              <a:rPr lang="en-CA" sz="2800" dirty="0"/>
              <a:t>#</a:t>
            </a:r>
            <a:r>
              <a:rPr lang="en-CA" sz="2800" dirty="0" err="1"/>
              <a:t>ifndef</a:t>
            </a:r>
            <a:r>
              <a:rPr lang="en-CA" sz="2800" dirty="0"/>
              <a:t> F_CPU</a:t>
            </a:r>
          </a:p>
          <a:p>
            <a:pPr marL="0" indent="0" algn="just">
              <a:spcBef>
                <a:spcPts val="0"/>
              </a:spcBef>
              <a:buNone/>
            </a:pPr>
            <a:r>
              <a:rPr lang="en-CA" sz="2800" dirty="0"/>
              <a:t>#define F_CPU 8000000UL      // Clock frequency is 8 MHz</a:t>
            </a:r>
          </a:p>
          <a:p>
            <a:pPr marL="0" indent="0" algn="just">
              <a:spcBef>
                <a:spcPts val="0"/>
              </a:spcBef>
              <a:buNone/>
            </a:pPr>
            <a:r>
              <a:rPr lang="en-CA" sz="2800" dirty="0"/>
              <a:t>#</a:t>
            </a:r>
            <a:r>
              <a:rPr lang="en-CA" sz="2800" dirty="0" err="1"/>
              <a:t>endif</a:t>
            </a:r>
            <a:endParaRPr lang="en-CA" sz="2800" dirty="0"/>
          </a:p>
          <a:p>
            <a:pPr marL="0" indent="0" algn="just">
              <a:spcBef>
                <a:spcPts val="0"/>
              </a:spcBef>
              <a:buNone/>
            </a:pPr>
            <a:r>
              <a:rPr lang="en-CA" sz="2800" dirty="0"/>
              <a:t>#include &lt;</a:t>
            </a:r>
            <a:r>
              <a:rPr lang="en-CA" sz="2800" dirty="0" err="1"/>
              <a:t>avr</a:t>
            </a:r>
            <a:r>
              <a:rPr lang="en-CA" sz="2800" dirty="0"/>
              <a:t>/</a:t>
            </a:r>
            <a:r>
              <a:rPr lang="en-CA" sz="2800" dirty="0" err="1"/>
              <a:t>io.h</a:t>
            </a:r>
            <a:r>
              <a:rPr lang="en-CA" sz="2800" dirty="0"/>
              <a:t>&gt;</a:t>
            </a:r>
          </a:p>
          <a:p>
            <a:pPr marL="0" indent="0" algn="just">
              <a:spcBef>
                <a:spcPts val="0"/>
              </a:spcBef>
              <a:buNone/>
            </a:pPr>
            <a:endParaRPr lang="en-CA" sz="2800" dirty="0"/>
          </a:p>
          <a:p>
            <a:pPr marL="0" indent="0" algn="just">
              <a:spcBef>
                <a:spcPts val="0"/>
              </a:spcBef>
              <a:buNone/>
            </a:pPr>
            <a:r>
              <a:rPr lang="en-CA" sz="2800" dirty="0" err="1"/>
              <a:t>int</a:t>
            </a:r>
            <a:r>
              <a:rPr lang="en-CA" sz="2800" dirty="0"/>
              <a:t> main() {</a:t>
            </a:r>
          </a:p>
          <a:p>
            <a:pPr marL="0" indent="0" algn="just">
              <a:spcBef>
                <a:spcPts val="0"/>
              </a:spcBef>
              <a:buNone/>
            </a:pPr>
            <a:r>
              <a:rPr lang="en-CA" sz="2800" dirty="0"/>
              <a:t>  // </a:t>
            </a:r>
            <a:r>
              <a:rPr lang="en-CA" sz="2800" dirty="0">
                <a:solidFill>
                  <a:srgbClr val="0070C0"/>
                </a:solidFill>
              </a:rPr>
              <a:t>OC0A</a:t>
            </a:r>
            <a:r>
              <a:rPr lang="en-CA" sz="2800" dirty="0"/>
              <a:t> pin is set as PWM output pin by sending a HIGH to Port D’s Data Direction Register, DDRD</a:t>
            </a:r>
          </a:p>
          <a:p>
            <a:pPr marL="0" indent="0" algn="just">
              <a:spcBef>
                <a:spcPts val="0"/>
              </a:spcBef>
              <a:buNone/>
            </a:pPr>
            <a:r>
              <a:rPr lang="en-CA" sz="2800" dirty="0"/>
              <a:t>  DDRD |= (1&lt;&lt;</a:t>
            </a:r>
            <a:r>
              <a:rPr lang="en-CA" sz="2800" dirty="0">
                <a:solidFill>
                  <a:srgbClr val="0070C0"/>
                </a:solidFill>
              </a:rPr>
              <a:t>PD6</a:t>
            </a:r>
            <a:r>
              <a:rPr lang="en-CA" sz="2800" dirty="0"/>
              <a:t>);  </a:t>
            </a:r>
          </a:p>
          <a:p>
            <a:pPr marL="0" indent="0" algn="just">
              <a:spcBef>
                <a:spcPts val="0"/>
              </a:spcBef>
              <a:buNone/>
            </a:pPr>
            <a:r>
              <a:rPr lang="en-CA" sz="2800" dirty="0"/>
              <a:t>  </a:t>
            </a:r>
            <a:r>
              <a:rPr lang="en-CA" sz="2800" dirty="0">
                <a:solidFill>
                  <a:srgbClr val="0070C0"/>
                </a:solidFill>
              </a:rPr>
              <a:t>OCR0A </a:t>
            </a:r>
            <a:r>
              <a:rPr lang="en-CA" sz="2800" dirty="0"/>
              <a:t>= 63; // Load 63 into OCR0A for setting its duty cycle to 75% </a:t>
            </a:r>
            <a:r>
              <a:rPr lang="en-CA" sz="2800" dirty="0">
                <a:solidFill>
                  <a:srgbClr val="FF0000"/>
                </a:solidFill>
              </a:rPr>
              <a:t>(See previous example, slide # 24</a:t>
            </a:r>
            <a:r>
              <a:rPr lang="en-CA" sz="2800" baseline="30000" dirty="0">
                <a:solidFill>
                  <a:srgbClr val="FF0000"/>
                </a:solidFill>
              </a:rPr>
              <a:t>*</a:t>
            </a:r>
            <a:r>
              <a:rPr lang="en-CA" sz="2800" dirty="0">
                <a:solidFill>
                  <a:srgbClr val="FF0000"/>
                </a:solidFill>
              </a:rPr>
              <a:t>)</a:t>
            </a:r>
            <a:endParaRPr lang="en-CA" sz="2800" dirty="0"/>
          </a:p>
          <a:p>
            <a:pPr marL="0" indent="0" algn="just">
              <a:spcBef>
                <a:spcPts val="0"/>
              </a:spcBef>
              <a:buNone/>
            </a:pPr>
            <a:r>
              <a:rPr lang="en-CA" sz="2800" dirty="0"/>
              <a:t>   // Configure TCCR0A and TCCR0B register for (</a:t>
            </a:r>
            <a:r>
              <a:rPr lang="en-CA" sz="2800" dirty="0" err="1"/>
              <a:t>i</a:t>
            </a:r>
            <a:r>
              <a:rPr lang="en-CA" sz="2800" dirty="0"/>
              <a:t>) </a:t>
            </a:r>
            <a:r>
              <a:rPr lang="en-CA" sz="2800" b="1" dirty="0">
                <a:solidFill>
                  <a:srgbClr val="0070C0"/>
                </a:solidFill>
              </a:rPr>
              <a:t>inverting</a:t>
            </a:r>
            <a:r>
              <a:rPr lang="en-CA" sz="2800" dirty="0">
                <a:solidFill>
                  <a:srgbClr val="0070C0"/>
                </a:solidFill>
              </a:rPr>
              <a:t> (11)</a:t>
            </a:r>
            <a:r>
              <a:rPr lang="en-CA" sz="2800" dirty="0"/>
              <a:t>, (ii) </a:t>
            </a:r>
            <a:r>
              <a:rPr lang="en-CA" sz="2800" dirty="0">
                <a:solidFill>
                  <a:srgbClr val="00B050"/>
                </a:solidFill>
              </a:rPr>
              <a:t>Phase-correct PWM mode </a:t>
            </a:r>
            <a:r>
              <a:rPr lang="en-CA" sz="2800" b="1" dirty="0">
                <a:solidFill>
                  <a:srgbClr val="00B050"/>
                </a:solidFill>
              </a:rPr>
              <a:t>1 (001)</a:t>
            </a:r>
            <a:r>
              <a:rPr lang="en-CA" sz="2800" dirty="0"/>
              <a:t>,</a:t>
            </a:r>
          </a:p>
          <a:p>
            <a:pPr marL="0" indent="0" algn="just">
              <a:spcBef>
                <a:spcPts val="0"/>
              </a:spcBef>
              <a:buNone/>
            </a:pPr>
            <a:r>
              <a:rPr lang="en-CA" sz="2800" dirty="0"/>
              <a:t>   // (iii) No Pre-scalar (001) for frequency control. </a:t>
            </a:r>
            <a:r>
              <a:rPr lang="en-CA" sz="2800" dirty="0">
                <a:solidFill>
                  <a:srgbClr val="FF0000"/>
                </a:solidFill>
              </a:rPr>
              <a:t>By default, 0s are there, but you may set them explicitly.</a:t>
            </a:r>
          </a:p>
          <a:p>
            <a:pPr marL="0" indent="0" algn="just">
              <a:spcBef>
                <a:spcPts val="0"/>
              </a:spcBef>
              <a:buNone/>
            </a:pPr>
            <a:r>
              <a:rPr lang="en-CA" sz="2800" dirty="0"/>
              <a:t>  TCCR0A |= (1 &lt;&lt; </a:t>
            </a:r>
            <a:r>
              <a:rPr lang="en-CA" sz="2800" dirty="0">
                <a:solidFill>
                  <a:srgbClr val="0070C0"/>
                </a:solidFill>
              </a:rPr>
              <a:t>COM0A1</a:t>
            </a:r>
            <a:r>
              <a:rPr lang="en-CA" sz="2800" dirty="0"/>
              <a:t>) | (1 &lt;&lt; </a:t>
            </a:r>
            <a:r>
              <a:rPr lang="en-CA" sz="2800" dirty="0">
                <a:solidFill>
                  <a:srgbClr val="0070C0"/>
                </a:solidFill>
              </a:rPr>
              <a:t>COM0A0</a:t>
            </a:r>
            <a:r>
              <a:rPr lang="en-CA" sz="2800" dirty="0"/>
              <a:t>) | </a:t>
            </a:r>
            <a:r>
              <a:rPr lang="en-CA" sz="2800" dirty="0">
                <a:solidFill>
                  <a:srgbClr val="00B050"/>
                </a:solidFill>
              </a:rPr>
              <a:t>(1&lt;&lt;WGM00)</a:t>
            </a:r>
            <a:r>
              <a:rPr lang="en-CA" sz="2800" dirty="0"/>
              <a:t>; </a:t>
            </a:r>
          </a:p>
          <a:p>
            <a:pPr marL="0" indent="0" algn="just">
              <a:spcBef>
                <a:spcPts val="0"/>
              </a:spcBef>
              <a:buNone/>
            </a:pPr>
            <a:r>
              <a:rPr lang="en-CA" sz="2800" dirty="0"/>
              <a:t>  TCCR0B |= (1&lt;&lt;CS00); // CS02:00 = 001, N = 1</a:t>
            </a:r>
          </a:p>
          <a:p>
            <a:pPr marL="0" indent="0" algn="just">
              <a:spcBef>
                <a:spcPts val="0"/>
              </a:spcBef>
              <a:buNone/>
            </a:pPr>
            <a:r>
              <a:rPr lang="en-CA" sz="2800" dirty="0"/>
              <a:t>  </a:t>
            </a:r>
            <a:r>
              <a:rPr lang="en-CA" sz="2800" dirty="0">
                <a:solidFill>
                  <a:srgbClr val="FF0000"/>
                </a:solidFill>
              </a:rPr>
              <a:t>// TCCR0A=0b11000001; TCCR0B=0b00000001</a:t>
            </a:r>
            <a:r>
              <a:rPr lang="en-CA" sz="2800" dirty="0"/>
              <a:t>  </a:t>
            </a:r>
          </a:p>
          <a:p>
            <a:pPr marL="0" indent="0" algn="just">
              <a:spcBef>
                <a:spcPts val="0"/>
              </a:spcBef>
              <a:buNone/>
            </a:pPr>
            <a:r>
              <a:rPr lang="en-CA" sz="2800" dirty="0"/>
              <a:t>  while(1);  </a:t>
            </a:r>
          </a:p>
          <a:p>
            <a:pPr marL="0" indent="0" algn="just">
              <a:spcBef>
                <a:spcPts val="0"/>
              </a:spcBef>
              <a:buNone/>
            </a:pPr>
            <a:r>
              <a:rPr lang="en-CA" sz="2800" dirty="0"/>
              <a:t>return 0;</a:t>
            </a:r>
          </a:p>
          <a:p>
            <a:pPr marL="0" indent="0" algn="just">
              <a:spcBef>
                <a:spcPts val="0"/>
              </a:spcBef>
              <a:buNone/>
            </a:pPr>
            <a:r>
              <a:rPr lang="en-CA" sz="2800" dirty="0"/>
              <a:t>}</a:t>
            </a:r>
          </a:p>
        </p:txBody>
      </p:sp>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38</a:t>
            </a:fld>
            <a:endParaRPr lang="en-US" dirty="0"/>
          </a:p>
        </p:txBody>
      </p:sp>
      <p:pic>
        <p:nvPicPr>
          <p:cNvPr id="7" name="Picture 6">
            <a:extLst>
              <a:ext uri="{FF2B5EF4-FFF2-40B4-BE49-F238E27FC236}">
                <a16:creationId xmlns:a16="http://schemas.microsoft.com/office/drawing/2014/main" id="{8C7A3452-603A-B1AF-E802-FE66939F50AF}"/>
              </a:ext>
            </a:extLst>
          </p:cNvPr>
          <p:cNvPicPr>
            <a:picLocks noChangeAspect="1"/>
          </p:cNvPicPr>
          <p:nvPr/>
        </p:nvPicPr>
        <p:blipFill rotWithShape="1">
          <a:blip r:embed="rId2">
            <a:duotone>
              <a:schemeClr val="accent5">
                <a:shade val="45000"/>
                <a:satMod val="135000"/>
              </a:schemeClr>
              <a:prstClr val="white"/>
            </a:duotone>
          </a:blip>
          <a:srcRect l="1229" t="8730" r="1053" b="6084"/>
          <a:stretch/>
        </p:blipFill>
        <p:spPr>
          <a:xfrm>
            <a:off x="9209313" y="1329566"/>
            <a:ext cx="6945086" cy="908612"/>
          </a:xfrm>
          <a:prstGeom prst="rect">
            <a:avLst/>
          </a:prstGeom>
        </p:spPr>
      </p:pic>
      <p:pic>
        <p:nvPicPr>
          <p:cNvPr id="8" name="Picture 7">
            <a:extLst>
              <a:ext uri="{FF2B5EF4-FFF2-40B4-BE49-F238E27FC236}">
                <a16:creationId xmlns:a16="http://schemas.microsoft.com/office/drawing/2014/main" id="{9165F60A-50AD-CE60-DAE0-7DB79A4F3284}"/>
              </a:ext>
            </a:extLst>
          </p:cNvPr>
          <p:cNvPicPr>
            <a:picLocks noChangeAspect="1"/>
          </p:cNvPicPr>
          <p:nvPr/>
        </p:nvPicPr>
        <p:blipFill rotWithShape="1">
          <a:blip r:embed="rId3">
            <a:duotone>
              <a:schemeClr val="accent6">
                <a:shade val="45000"/>
                <a:satMod val="135000"/>
              </a:schemeClr>
              <a:prstClr val="white"/>
            </a:duotone>
          </a:blip>
          <a:srcRect l="1133" t="9685" r="1249" b="6629"/>
          <a:stretch/>
        </p:blipFill>
        <p:spPr>
          <a:xfrm>
            <a:off x="9209313" y="2401746"/>
            <a:ext cx="6945085" cy="850354"/>
          </a:xfrm>
          <a:prstGeom prst="rect">
            <a:avLst/>
          </a:prstGeom>
        </p:spPr>
      </p:pic>
      <p:pic>
        <p:nvPicPr>
          <p:cNvPr id="9" name="Picture 8">
            <a:extLst>
              <a:ext uri="{FF2B5EF4-FFF2-40B4-BE49-F238E27FC236}">
                <a16:creationId xmlns:a16="http://schemas.microsoft.com/office/drawing/2014/main" id="{4A2358AE-59C1-65E1-921D-88A7497A23A6}"/>
              </a:ext>
            </a:extLst>
          </p:cNvPr>
          <p:cNvPicPr>
            <a:picLocks noChangeAspect="1"/>
          </p:cNvPicPr>
          <p:nvPr/>
        </p:nvPicPr>
        <p:blipFill rotWithShape="1">
          <a:blip r:embed="rId4"/>
          <a:srcRect l="1295" r="1001"/>
          <a:stretch/>
        </p:blipFill>
        <p:spPr>
          <a:xfrm>
            <a:off x="11518711" y="5417493"/>
            <a:ext cx="4561082" cy="2604619"/>
          </a:xfrm>
          <a:prstGeom prst="rect">
            <a:avLst/>
          </a:prstGeom>
        </p:spPr>
      </p:pic>
      <p:sp>
        <p:nvSpPr>
          <p:cNvPr id="11" name="TextBox 10">
            <a:extLst>
              <a:ext uri="{FF2B5EF4-FFF2-40B4-BE49-F238E27FC236}">
                <a16:creationId xmlns:a16="http://schemas.microsoft.com/office/drawing/2014/main" id="{86432FD0-F0AE-9E24-A96D-FB3897303234}"/>
              </a:ext>
            </a:extLst>
          </p:cNvPr>
          <p:cNvSpPr txBox="1"/>
          <p:nvPr/>
        </p:nvSpPr>
        <p:spPr>
          <a:xfrm>
            <a:off x="11403161" y="5953397"/>
            <a:ext cx="1677665" cy="338554"/>
          </a:xfrm>
          <a:prstGeom prst="rect">
            <a:avLst/>
          </a:prstGeom>
          <a:noFill/>
          <a:ln w="57150">
            <a:solidFill>
              <a:srgbClr val="FF0000"/>
            </a:solidFill>
            <a:prstDash val="sysDash"/>
          </a:ln>
        </p:spPr>
        <p:txBody>
          <a:bodyPr wrap="square" rtlCol="0">
            <a:spAutoFit/>
          </a:bodyPr>
          <a:lstStyle/>
          <a:p>
            <a:endParaRPr lang="en-US" sz="16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81DB354-3270-C358-6839-65E1DA5D6C6E}"/>
                  </a:ext>
                </a:extLst>
              </p:cNvPr>
              <p:cNvSpPr txBox="1"/>
              <p:nvPr/>
            </p:nvSpPr>
            <p:spPr>
              <a:xfrm>
                <a:off x="2861937" y="6680548"/>
                <a:ext cx="8277366" cy="850489"/>
              </a:xfrm>
              <a:prstGeom prst="rect">
                <a:avLst/>
              </a:prstGeom>
              <a:solidFill>
                <a:schemeClr val="accent1">
                  <a:lumMod val="20000"/>
                  <a:lumOff val="80000"/>
                </a:schemeClr>
              </a:solidFill>
              <a:ln>
                <a:solidFill>
                  <a:schemeClr val="accent1"/>
                </a:solidFill>
              </a:ln>
            </p:spPr>
            <p:txBody>
              <a:bodyPr wrap="square">
                <a:spAutoFit/>
              </a:bodyPr>
              <a:lstStyle/>
              <a:p>
                <a:pPr>
                  <a:spcBef>
                    <a:spcPts val="600"/>
                  </a:spcBef>
                  <a:buClrTx/>
                </a:pPr>
                <a:r>
                  <a:rPr lang="en-US" baseline="30000" dirty="0">
                    <a:solidFill>
                      <a:srgbClr val="FF0000"/>
                    </a:solidFill>
                  </a:rPr>
                  <a:t>*</a:t>
                </a:r>
                <a:r>
                  <a:rPr lang="en-US" sz="1800" dirty="0"/>
                  <a:t>PWM signal is to have 75% duty cycle. Compute the value for OCR0A.</a:t>
                </a:r>
                <a:endParaRPr lang="en-CA" sz="1800" dirty="0"/>
              </a:p>
              <a:p>
                <a:pPr marL="0" indent="0" algn="ctr">
                  <a:spcBef>
                    <a:spcPts val="600"/>
                  </a:spcBef>
                  <a:buClrTx/>
                  <a:buNone/>
                </a:pPr>
                <a14:m>
                  <m:oMath xmlns:m="http://schemas.openxmlformats.org/officeDocument/2006/math">
                    <m:r>
                      <a:rPr lang="en-US" sz="1800" b="1" i="1" smtClean="0">
                        <a:latin typeface="Cambria Math" panose="02040503050406030204" pitchFamily="18" charset="0"/>
                      </a:rPr>
                      <m:t>𝑶𝑪𝑹</m:t>
                    </m:r>
                    <m:r>
                      <a:rPr lang="en-US" sz="1800" b="1" i="1" smtClean="0">
                        <a:latin typeface="Cambria Math" panose="02040503050406030204" pitchFamily="18" charset="0"/>
                      </a:rPr>
                      <m:t>𝟎</m:t>
                    </m:r>
                    <m:r>
                      <a:rPr lang="en-US" sz="1800" b="1" i="1" smtClean="0">
                        <a:latin typeface="Cambria Math" panose="02040503050406030204" pitchFamily="18" charset="0"/>
                      </a:rPr>
                      <m:t>𝑨</m:t>
                    </m:r>
                    <m:r>
                      <a:rPr lang="en-US" sz="1800" b="1" i="1">
                        <a:latin typeface="Cambria Math" panose="02040503050406030204" pitchFamily="18" charset="0"/>
                      </a:rPr>
                      <m:t>=</m:t>
                    </m:r>
                    <m:r>
                      <a:rPr lang="en-US" sz="1800" b="1" i="1" smtClean="0">
                        <a:latin typeface="Cambria Math" panose="02040503050406030204" pitchFamily="18" charset="0"/>
                      </a:rPr>
                      <m:t>𝟐𝟓𝟓</m:t>
                    </m:r>
                    <m:r>
                      <a:rPr lang="en-US" sz="1800" b="1" i="1" smtClean="0">
                        <a:latin typeface="Cambria Math" panose="02040503050406030204" pitchFamily="18" charset="0"/>
                      </a:rPr>
                      <m:t>−</m:t>
                    </m:r>
                    <m:f>
                      <m:fPr>
                        <m:ctrlPr>
                          <a:rPr lang="en-US" sz="1800" b="1" i="1">
                            <a:latin typeface="Cambria Math" panose="02040503050406030204" pitchFamily="18" charset="0"/>
                          </a:rPr>
                        </m:ctrlPr>
                      </m:fPr>
                      <m:num>
                        <m:r>
                          <a:rPr lang="en-US" sz="1800" b="1" i="1" smtClean="0">
                            <a:latin typeface="Cambria Math" panose="02040503050406030204" pitchFamily="18" charset="0"/>
                          </a:rPr>
                          <m:t>𝟐𝟓𝟓</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𝟕𝟓</m:t>
                        </m:r>
                      </m:num>
                      <m:den>
                        <m:r>
                          <a:rPr lang="en-US" sz="1800" b="1" i="1" smtClean="0">
                            <a:latin typeface="Cambria Math" panose="02040503050406030204" pitchFamily="18" charset="0"/>
                          </a:rPr>
                          <m:t>𝟏𝟎𝟎</m:t>
                        </m:r>
                      </m:den>
                    </m:f>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𝟐𝟓𝟓</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𝟏𝟗𝟐</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𝟔𝟑</m:t>
                    </m:r>
                  </m:oMath>
                </a14:m>
                <a:r>
                  <a:rPr lang="en-US" sz="1800" dirty="0">
                    <a:solidFill>
                      <a:srgbClr val="000000"/>
                    </a:solidFill>
                  </a:rPr>
                  <a:t> , if </a:t>
                </a:r>
                <a:r>
                  <a:rPr lang="en-US" sz="1800" b="1" dirty="0">
                    <a:solidFill>
                      <a:srgbClr val="FF0000"/>
                    </a:solidFill>
                  </a:rPr>
                  <a:t>TOP = 0xFF</a:t>
                </a:r>
              </a:p>
            </p:txBody>
          </p:sp>
        </mc:Choice>
        <mc:Fallback xmlns="">
          <p:sp>
            <p:nvSpPr>
              <p:cNvPr id="12" name="TextBox 11">
                <a:extLst>
                  <a:ext uri="{FF2B5EF4-FFF2-40B4-BE49-F238E27FC236}">
                    <a16:creationId xmlns:a16="http://schemas.microsoft.com/office/drawing/2014/main" id="{281DB354-3270-C358-6839-65E1DA5D6C6E}"/>
                  </a:ext>
                </a:extLst>
              </p:cNvPr>
              <p:cNvSpPr txBox="1">
                <a:spLocks noRot="1" noChangeAspect="1" noMove="1" noResize="1" noEditPoints="1" noAdjustHandles="1" noChangeArrowheads="1" noChangeShapeType="1" noTextEdit="1"/>
              </p:cNvSpPr>
              <p:nvPr/>
            </p:nvSpPr>
            <p:spPr>
              <a:xfrm>
                <a:off x="2861937" y="6680548"/>
                <a:ext cx="8277366" cy="850489"/>
              </a:xfrm>
              <a:prstGeom prst="rect">
                <a:avLst/>
              </a:prstGeom>
              <a:blipFill>
                <a:blip r:embed="rId5"/>
                <a:stretch>
                  <a:fillRect t="-3546" b="-3546"/>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1818298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562100" y="318398"/>
            <a:ext cx="13264243" cy="753011"/>
          </a:xfrm>
        </p:spPr>
        <p:txBody>
          <a:bodyPr>
            <a:normAutofit/>
          </a:bodyPr>
          <a:lstStyle/>
          <a:p>
            <a:r>
              <a:rPr lang="nn-NO" sz="4800" b="1" dirty="0">
                <a:solidFill>
                  <a:srgbClr val="0070C0"/>
                </a:solidFill>
              </a:rPr>
              <a:t>Programming Arduino for Phase-Correct PWM</a:t>
            </a:r>
            <a:endParaRPr lang="en-US" sz="48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495301" y="1053104"/>
                <a:ext cx="15697198" cy="1387014"/>
              </a:xfrm>
            </p:spPr>
            <p:txBody>
              <a:bodyPr>
                <a:noAutofit/>
              </a:bodyPr>
              <a:lstStyle/>
              <a:p>
                <a:pPr marL="0" indent="0" algn="just">
                  <a:spcBef>
                    <a:spcPts val="0"/>
                  </a:spcBef>
                  <a:buNone/>
                </a:pPr>
                <a:r>
                  <a:rPr lang="en-CA" sz="3600" dirty="0">
                    <a:solidFill>
                      <a:srgbClr val="000000"/>
                    </a:solidFill>
                  </a:rPr>
                  <a:t>The waveform generated will have a frequency of</a:t>
                </a:r>
              </a:p>
              <a:p>
                <a:pPr marL="0" indent="0" algn="just">
                  <a:spcBef>
                    <a:spcPts val="0"/>
                  </a:spcBef>
                  <a:buNone/>
                </a:pPr>
                <a14:m>
                  <m:oMath xmlns:m="http://schemas.openxmlformats.org/officeDocument/2006/math">
                    <m:sSub>
                      <m:sSubPr>
                        <m:ctrlPr>
                          <a:rPr lang="en-US" sz="3600" b="1" i="1" smtClean="0">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𝑶𝑪</m:t>
                        </m:r>
                        <m:r>
                          <a:rPr lang="en-US" sz="3600" b="1" i="1" smtClean="0">
                            <a:solidFill>
                              <a:srgbClr val="0070C0"/>
                            </a:solidFill>
                            <a:latin typeface="Cambria Math" panose="02040503050406030204" pitchFamily="18" charset="0"/>
                          </a:rPr>
                          <m:t>𝟎</m:t>
                        </m:r>
                        <m:r>
                          <a:rPr lang="en-US" sz="3600" b="1" i="1" smtClean="0">
                            <a:solidFill>
                              <a:srgbClr val="0070C0"/>
                            </a:solidFill>
                            <a:latin typeface="Cambria Math" panose="02040503050406030204" pitchFamily="18" charset="0"/>
                          </a:rPr>
                          <m:t>𝑨𝑷𝑪𝑷𝑾𝑴</m:t>
                        </m:r>
                        <m:r>
                          <a:rPr lang="en-US" sz="3600" b="1" i="1" smtClean="0">
                            <a:solidFill>
                              <a:srgbClr val="0070C0"/>
                            </a:solidFill>
                            <a:latin typeface="Cambria Math" panose="02040503050406030204" pitchFamily="18" charset="0"/>
                          </a:rPr>
                          <m:t>𝟏</m:t>
                        </m:r>
                      </m:sub>
                    </m:sSub>
                    <m:r>
                      <a:rPr lang="en-US" sz="3600" b="1" i="1">
                        <a:solidFill>
                          <a:srgbClr val="0070C0"/>
                        </a:solidFill>
                        <a:latin typeface="Cambria Math" panose="02040503050406030204" pitchFamily="18" charset="0"/>
                      </a:rPr>
                      <m:t>=</m:t>
                    </m:r>
                    <m:f>
                      <m:fPr>
                        <m:ctrlPr>
                          <a:rPr lang="en-US" sz="3600" b="1" i="1">
                            <a:solidFill>
                              <a:srgbClr val="0070C0"/>
                            </a:solidFill>
                            <a:latin typeface="Cambria Math" panose="02040503050406030204" pitchFamily="18" charset="0"/>
                          </a:rPr>
                        </m:ctrlPr>
                      </m:fPr>
                      <m:num>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𝒄𝒍𝒌</m:t>
                            </m:r>
                            <m:r>
                              <a:rPr lang="en-US" sz="3600" b="1" i="1">
                                <a:solidFill>
                                  <a:srgbClr val="0070C0"/>
                                </a:solidFill>
                                <a:latin typeface="Cambria Math" panose="02040503050406030204" pitchFamily="18" charset="0"/>
                              </a:rPr>
                              <m:t>_</m:t>
                            </m:r>
                            <m:r>
                              <a:rPr lang="en-US" sz="3600" b="1" i="1">
                                <a:solidFill>
                                  <a:srgbClr val="0070C0"/>
                                </a:solidFill>
                                <a:latin typeface="Cambria Math" panose="02040503050406030204" pitchFamily="18" charset="0"/>
                              </a:rPr>
                              <m:t>𝑰𝑶</m:t>
                            </m:r>
                          </m:sub>
                        </m:sSub>
                      </m:num>
                      <m:den>
                        <m:r>
                          <a:rPr lang="en-US" sz="3600" b="1" i="1" smtClean="0">
                            <a:solidFill>
                              <a:srgbClr val="0070C0"/>
                            </a:solidFill>
                            <a:latin typeface="Cambria Math" panose="02040503050406030204" pitchFamily="18" charset="0"/>
                            <a:ea typeface="Cambria Math" panose="02040503050406030204" pitchFamily="18" charset="0"/>
                          </a:rPr>
                          <m:t>𝑵</m:t>
                        </m:r>
                        <m:r>
                          <a:rPr lang="en-US" sz="3600" b="1" i="1">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𝟓𝟏𝟎</m:t>
                        </m:r>
                      </m:den>
                    </m:f>
                    <m:r>
                      <a:rPr lang="en-US" sz="3600" b="1" i="1" smtClean="0">
                        <a:solidFill>
                          <a:srgbClr val="0070C0"/>
                        </a:solidFill>
                        <a:latin typeface="Cambria Math" panose="02040503050406030204" pitchFamily="18" charset="0"/>
                        <a:ea typeface="Cambria Math" panose="02040503050406030204" pitchFamily="18" charset="0"/>
                      </a:rPr>
                      <m:t>=</m:t>
                    </m:r>
                    <m:f>
                      <m:fPr>
                        <m:ctrlPr>
                          <a:rPr lang="en-US" sz="3600" b="1" i="1" smtClean="0">
                            <a:solidFill>
                              <a:srgbClr val="0070C0"/>
                            </a:solidFill>
                            <a:latin typeface="Cambria Math" panose="02040503050406030204" pitchFamily="18" charset="0"/>
                            <a:ea typeface="Cambria Math" panose="02040503050406030204" pitchFamily="18" charset="0"/>
                          </a:rPr>
                        </m:ctrlPr>
                      </m:fPr>
                      <m:num>
                        <m:r>
                          <a:rPr lang="en-US" sz="3600" b="1" i="1" smtClean="0">
                            <a:solidFill>
                              <a:srgbClr val="0070C0"/>
                            </a:solidFill>
                            <a:latin typeface="Cambria Math" panose="02040503050406030204" pitchFamily="18" charset="0"/>
                            <a:ea typeface="Cambria Math" panose="02040503050406030204" pitchFamily="18" charset="0"/>
                          </a:rPr>
                          <m:t>𝟖</m:t>
                        </m:r>
                        <m:r>
                          <a:rPr lang="en-US" sz="3600" b="1" i="1" smtClean="0">
                            <a:solidFill>
                              <a:srgbClr val="0070C0"/>
                            </a:solidFill>
                            <a:latin typeface="Cambria Math" panose="02040503050406030204" pitchFamily="18" charset="0"/>
                            <a:ea typeface="Cambria Math" panose="02040503050406030204" pitchFamily="18" charset="0"/>
                          </a:rPr>
                          <m:t>×</m:t>
                        </m:r>
                        <m:sSup>
                          <m:sSupPr>
                            <m:ctrlPr>
                              <a:rPr lang="en-US" sz="3600" b="1" i="1" smtClean="0">
                                <a:solidFill>
                                  <a:srgbClr val="0070C0"/>
                                </a:solidFill>
                                <a:latin typeface="Cambria Math" panose="02040503050406030204" pitchFamily="18" charset="0"/>
                                <a:ea typeface="Cambria Math" panose="02040503050406030204" pitchFamily="18" charset="0"/>
                              </a:rPr>
                            </m:ctrlPr>
                          </m:sSupPr>
                          <m:e>
                            <m:r>
                              <a:rPr lang="en-US" sz="3600" b="1" i="1" smtClean="0">
                                <a:solidFill>
                                  <a:srgbClr val="0070C0"/>
                                </a:solidFill>
                                <a:latin typeface="Cambria Math" panose="02040503050406030204" pitchFamily="18" charset="0"/>
                                <a:ea typeface="Cambria Math" panose="02040503050406030204" pitchFamily="18" charset="0"/>
                              </a:rPr>
                              <m:t>𝟏𝟎</m:t>
                            </m:r>
                          </m:e>
                          <m:sup>
                            <m:r>
                              <a:rPr lang="en-US" sz="3600" b="1" i="1" smtClean="0">
                                <a:solidFill>
                                  <a:srgbClr val="0070C0"/>
                                </a:solidFill>
                                <a:latin typeface="Cambria Math" panose="02040503050406030204" pitchFamily="18" charset="0"/>
                                <a:ea typeface="Cambria Math" panose="02040503050406030204" pitchFamily="18" charset="0"/>
                              </a:rPr>
                              <m:t>𝟔</m:t>
                            </m:r>
                          </m:sup>
                        </m:sSup>
                      </m:num>
                      <m:den>
                        <m:r>
                          <a:rPr lang="en-US" sz="3600" b="1" i="1" smtClean="0">
                            <a:solidFill>
                              <a:srgbClr val="0070C0"/>
                            </a:solidFill>
                            <a:latin typeface="Cambria Math" panose="02040503050406030204" pitchFamily="18" charset="0"/>
                            <a:ea typeface="Cambria Math" panose="02040503050406030204" pitchFamily="18" charset="0"/>
                          </a:rPr>
                          <m:t>𝟏</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𝟓𝟏𝟎</m:t>
                        </m:r>
                      </m:den>
                    </m:f>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𝟏𝟓𝟔𝟖𝟔</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𝟑</m:t>
                    </m:r>
                  </m:oMath>
                </a14:m>
                <a:r>
                  <a:rPr lang="en-CA" sz="3600" dirty="0"/>
                  <a:t> Hz </a:t>
                </a:r>
                <a14:m>
                  <m:oMath xmlns:m="http://schemas.openxmlformats.org/officeDocument/2006/math">
                    <m:r>
                      <a:rPr lang="en-US" sz="3600" b="1" i="1">
                        <a:solidFill>
                          <a:srgbClr val="0070C0"/>
                        </a:solidFill>
                        <a:latin typeface="Cambria Math" panose="02040503050406030204" pitchFamily="18" charset="0"/>
                        <a:ea typeface="Cambria Math" panose="02040503050406030204" pitchFamily="18" charset="0"/>
                      </a:rPr>
                      <m:t>≅</m:t>
                    </m:r>
                    <m:r>
                      <a:rPr lang="en-US" sz="3600" b="1" i="1">
                        <a:solidFill>
                          <a:srgbClr val="0070C0"/>
                        </a:solidFill>
                        <a:latin typeface="Cambria Math" panose="02040503050406030204" pitchFamily="18" charset="0"/>
                        <a:ea typeface="Cambria Math" panose="02040503050406030204" pitchFamily="18" charset="0"/>
                      </a:rPr>
                      <m:t>𝟏𝟓</m:t>
                    </m:r>
                    <m:r>
                      <a:rPr lang="en-US" sz="3600" b="1" i="1">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𝟕</m:t>
                    </m:r>
                  </m:oMath>
                </a14:m>
                <a:r>
                  <a:rPr lang="en-CA" sz="3600" dirty="0"/>
                  <a:t> kHz.</a:t>
                </a: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495301" y="1053104"/>
                <a:ext cx="15697198" cy="1387014"/>
              </a:xfrm>
              <a:blipFill>
                <a:blip r:embed="rId2"/>
                <a:stretch>
                  <a:fillRect l="-1165" t="-11013" b="-9692"/>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39</a:t>
            </a:fld>
            <a:endParaRPr lang="en-US" dirty="0"/>
          </a:p>
        </p:txBody>
      </p:sp>
      <p:pic>
        <p:nvPicPr>
          <p:cNvPr id="7" name="Picture 4" descr="Arduino et Timer [Wiki]">
            <a:extLst>
              <a:ext uri="{FF2B5EF4-FFF2-40B4-BE49-F238E27FC236}">
                <a16:creationId xmlns:a16="http://schemas.microsoft.com/office/drawing/2014/main" id="{F99C1BF3-0FD7-4598-B40C-7F570501BA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2" t="2864" b="2508"/>
          <a:stretch/>
        </p:blipFill>
        <p:spPr bwMode="auto">
          <a:xfrm>
            <a:off x="11286699" y="2402018"/>
            <a:ext cx="5074451" cy="47903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3442680-B814-011E-F58C-43B68F1199F9}"/>
              </a:ext>
            </a:extLst>
          </p:cNvPr>
          <p:cNvSpPr txBox="1"/>
          <p:nvPr/>
        </p:nvSpPr>
        <p:spPr>
          <a:xfrm rot="5400000">
            <a:off x="13620328" y="5706561"/>
            <a:ext cx="245989" cy="436789"/>
          </a:xfrm>
          <a:prstGeom prst="rect">
            <a:avLst/>
          </a:prstGeom>
          <a:noFill/>
          <a:ln w="57150">
            <a:solidFill>
              <a:srgbClr val="FF0000"/>
            </a:solidFill>
            <a:prstDash val="sysDash"/>
          </a:ln>
        </p:spPr>
        <p:txBody>
          <a:bodyPr wrap="square" rtlCol="0">
            <a:spAutoFit/>
          </a:bodyPr>
          <a:lstStyle/>
          <a:p>
            <a:pPr algn="r"/>
            <a:endParaRPr lang="en-US" sz="3600" dirty="0"/>
          </a:p>
        </p:txBody>
      </p:sp>
      <p:cxnSp>
        <p:nvCxnSpPr>
          <p:cNvPr id="9" name="Straight Arrow Connector 8">
            <a:extLst>
              <a:ext uri="{FF2B5EF4-FFF2-40B4-BE49-F238E27FC236}">
                <a16:creationId xmlns:a16="http://schemas.microsoft.com/office/drawing/2014/main" id="{DC0DD45A-497F-C98A-E519-63B661BD729E}"/>
              </a:ext>
            </a:extLst>
          </p:cNvPr>
          <p:cNvCxnSpPr>
            <a:cxnSpLocks/>
          </p:cNvCxnSpPr>
          <p:nvPr/>
        </p:nvCxnSpPr>
        <p:spPr>
          <a:xfrm flipV="1">
            <a:off x="470849" y="5923128"/>
            <a:ext cx="12958548" cy="627797"/>
          </a:xfrm>
          <a:prstGeom prst="straightConnector1">
            <a:avLst/>
          </a:prstGeom>
          <a:ln w="38100">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329497E6-AE6E-60B5-7329-2C874F375807}"/>
              </a:ext>
            </a:extLst>
          </p:cNvPr>
          <p:cNvPicPr>
            <a:picLocks noChangeAspect="1"/>
          </p:cNvPicPr>
          <p:nvPr/>
        </p:nvPicPr>
        <p:blipFill>
          <a:blip r:embed="rId4"/>
          <a:stretch>
            <a:fillRect/>
          </a:stretch>
        </p:blipFill>
        <p:spPr>
          <a:xfrm>
            <a:off x="203201" y="2440118"/>
            <a:ext cx="11012212" cy="5479516"/>
          </a:xfrm>
          <a:prstGeom prst="rect">
            <a:avLst/>
          </a:prstGeom>
        </p:spPr>
      </p:pic>
    </p:spTree>
    <p:extLst>
      <p:ext uri="{BB962C8B-B14F-4D97-AF65-F5344CB8AC3E}">
        <p14:creationId xmlns:p14="http://schemas.microsoft.com/office/powerpoint/2010/main" val="42919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heel(1)">
                                      <p:cBhvr>
                                        <p:cTn id="13" dur="20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3" presetClass="entr" presetSubtype="32"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plus(out)">
                                      <p:cBhvr>
                                        <p:cTn id="18"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59467" y="280298"/>
            <a:ext cx="13166876" cy="950973"/>
          </a:xfrm>
        </p:spPr>
        <p:txBody>
          <a:bodyPr>
            <a:normAutofit fontScale="90000"/>
          </a:bodyPr>
          <a:lstStyle/>
          <a:p>
            <a:r>
              <a:rPr lang="nn-NO" sz="6000" b="1" dirty="0">
                <a:solidFill>
                  <a:srgbClr val="0070C0"/>
                </a:solidFill>
              </a:rPr>
              <a:t>Programming Arduino for Phase-Correct PWM</a:t>
            </a:r>
            <a:endParaRPr lang="en-US" sz="6000" b="1" dirty="0">
              <a:solidFill>
                <a:srgbClr val="0070C0"/>
              </a:solidFill>
            </a:endParaRPr>
          </a:p>
        </p:txBody>
      </p:sp>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457201" y="1053104"/>
            <a:ext cx="15697198" cy="6866530"/>
          </a:xfrm>
        </p:spPr>
        <p:txBody>
          <a:bodyPr>
            <a:noAutofit/>
          </a:bodyPr>
          <a:lstStyle/>
          <a:p>
            <a:pPr marL="0" indent="0" algn="just">
              <a:spcBef>
                <a:spcPts val="0"/>
              </a:spcBef>
              <a:buNone/>
            </a:pPr>
            <a:r>
              <a:rPr lang="en-CA" sz="2800" dirty="0"/>
              <a:t>#</a:t>
            </a:r>
            <a:r>
              <a:rPr lang="en-CA" sz="2800" dirty="0" err="1"/>
              <a:t>ifndef</a:t>
            </a:r>
            <a:r>
              <a:rPr lang="en-CA" sz="2800" dirty="0"/>
              <a:t> F_CPU</a:t>
            </a:r>
          </a:p>
          <a:p>
            <a:pPr marL="0" indent="0" algn="just">
              <a:spcBef>
                <a:spcPts val="0"/>
              </a:spcBef>
              <a:buNone/>
            </a:pPr>
            <a:r>
              <a:rPr lang="en-CA" sz="2800" dirty="0"/>
              <a:t>#define F_CPU 16000000UL   // Clock frequency is 16 MHz</a:t>
            </a:r>
          </a:p>
          <a:p>
            <a:pPr marL="0" indent="0" algn="just">
              <a:spcBef>
                <a:spcPts val="0"/>
              </a:spcBef>
              <a:buNone/>
            </a:pPr>
            <a:r>
              <a:rPr lang="en-CA" sz="2800" dirty="0"/>
              <a:t>#</a:t>
            </a:r>
            <a:r>
              <a:rPr lang="en-CA" sz="2800" dirty="0" err="1"/>
              <a:t>endif</a:t>
            </a:r>
            <a:endParaRPr lang="en-CA" sz="2800" dirty="0"/>
          </a:p>
          <a:p>
            <a:pPr marL="0" indent="0" algn="just">
              <a:spcBef>
                <a:spcPts val="0"/>
              </a:spcBef>
              <a:buNone/>
            </a:pPr>
            <a:r>
              <a:rPr lang="en-CA" sz="2800" dirty="0"/>
              <a:t>#include &lt;</a:t>
            </a:r>
            <a:r>
              <a:rPr lang="en-CA" sz="2800" dirty="0" err="1"/>
              <a:t>avr</a:t>
            </a:r>
            <a:r>
              <a:rPr lang="en-CA" sz="2800" dirty="0"/>
              <a:t>/</a:t>
            </a:r>
            <a:r>
              <a:rPr lang="en-CA" sz="2800" dirty="0" err="1"/>
              <a:t>io.h</a:t>
            </a:r>
            <a:r>
              <a:rPr lang="en-CA" sz="2800" dirty="0"/>
              <a:t>&gt;</a:t>
            </a:r>
          </a:p>
          <a:p>
            <a:pPr marL="0" indent="0" algn="just">
              <a:spcBef>
                <a:spcPts val="0"/>
              </a:spcBef>
              <a:buNone/>
            </a:pPr>
            <a:endParaRPr lang="en-CA" sz="2800" dirty="0"/>
          </a:p>
          <a:p>
            <a:pPr marL="0" indent="0" algn="just">
              <a:spcBef>
                <a:spcPts val="0"/>
              </a:spcBef>
              <a:buNone/>
            </a:pPr>
            <a:r>
              <a:rPr lang="en-CA" sz="2800" dirty="0" err="1"/>
              <a:t>int</a:t>
            </a:r>
            <a:r>
              <a:rPr lang="en-CA" sz="2800" dirty="0"/>
              <a:t> main() {</a:t>
            </a:r>
          </a:p>
          <a:p>
            <a:pPr marL="0" indent="0" algn="just">
              <a:spcBef>
                <a:spcPts val="0"/>
              </a:spcBef>
              <a:buNone/>
            </a:pPr>
            <a:r>
              <a:rPr lang="en-CA" sz="2800" dirty="0"/>
              <a:t>  // </a:t>
            </a:r>
            <a:r>
              <a:rPr lang="en-CA" sz="2800" dirty="0">
                <a:solidFill>
                  <a:srgbClr val="0070C0"/>
                </a:solidFill>
              </a:rPr>
              <a:t>OC0B</a:t>
            </a:r>
            <a:r>
              <a:rPr lang="en-CA" sz="2800" dirty="0"/>
              <a:t> pin is set as PWM output pin by sending a HIGH to Port D’s Data Direction Register, DDRD</a:t>
            </a:r>
          </a:p>
          <a:p>
            <a:pPr marL="0" indent="0" algn="just">
              <a:spcBef>
                <a:spcPts val="0"/>
              </a:spcBef>
              <a:buNone/>
            </a:pPr>
            <a:r>
              <a:rPr lang="en-CA" sz="2800" dirty="0"/>
              <a:t>  DDRD |= (1&lt;&lt;</a:t>
            </a:r>
            <a:r>
              <a:rPr lang="en-CA" sz="2800" dirty="0">
                <a:solidFill>
                  <a:srgbClr val="0070C0"/>
                </a:solidFill>
              </a:rPr>
              <a:t>PD5</a:t>
            </a:r>
            <a:r>
              <a:rPr lang="en-CA" sz="2800" dirty="0"/>
              <a:t>);  </a:t>
            </a:r>
          </a:p>
          <a:p>
            <a:pPr marL="0" indent="0" algn="just">
              <a:spcBef>
                <a:spcPts val="0"/>
              </a:spcBef>
              <a:buNone/>
            </a:pPr>
            <a:r>
              <a:rPr lang="en-CA" sz="2800" dirty="0"/>
              <a:t>  </a:t>
            </a:r>
            <a:r>
              <a:rPr lang="en-CA" sz="2800" dirty="0">
                <a:solidFill>
                  <a:srgbClr val="0070C0"/>
                </a:solidFill>
              </a:rPr>
              <a:t>OCR0A </a:t>
            </a:r>
            <a:r>
              <a:rPr lang="en-CA" sz="2800" dirty="0"/>
              <a:t>= 200; // Load 200 into OCR0A as the TOP value in </a:t>
            </a:r>
            <a:r>
              <a:rPr lang="en-CA" sz="2800" b="1" dirty="0">
                <a:solidFill>
                  <a:srgbClr val="00B050"/>
                </a:solidFill>
              </a:rPr>
              <a:t>Phase-Correct PWM mode 5</a:t>
            </a:r>
          </a:p>
          <a:p>
            <a:pPr marL="0" indent="0" algn="just">
              <a:spcBef>
                <a:spcPts val="0"/>
              </a:spcBef>
              <a:buNone/>
            </a:pPr>
            <a:r>
              <a:rPr lang="en-CA" sz="2800" dirty="0">
                <a:solidFill>
                  <a:srgbClr val="0070C0"/>
                </a:solidFill>
              </a:rPr>
              <a:t>  OCR0B </a:t>
            </a:r>
            <a:r>
              <a:rPr lang="en-CA" sz="2800" dirty="0"/>
              <a:t>= 63; // Load 63 into OCR0B for setting its duty cycle to 68.5% </a:t>
            </a:r>
            <a:r>
              <a:rPr lang="en-CA" sz="2800" dirty="0">
                <a:solidFill>
                  <a:srgbClr val="FF0000"/>
                </a:solidFill>
              </a:rPr>
              <a:t>(See previous example, slide # 24</a:t>
            </a:r>
            <a:r>
              <a:rPr lang="en-CA" sz="2800" baseline="30000" dirty="0">
                <a:solidFill>
                  <a:srgbClr val="FF0000"/>
                </a:solidFill>
              </a:rPr>
              <a:t>*</a:t>
            </a:r>
            <a:r>
              <a:rPr lang="en-CA" sz="2800" dirty="0">
                <a:solidFill>
                  <a:srgbClr val="FF0000"/>
                </a:solidFill>
              </a:rPr>
              <a:t>)</a:t>
            </a:r>
            <a:endParaRPr lang="en-CA" sz="2800" dirty="0"/>
          </a:p>
          <a:p>
            <a:pPr marL="0" indent="0" algn="just">
              <a:spcBef>
                <a:spcPts val="0"/>
              </a:spcBef>
              <a:buNone/>
            </a:pPr>
            <a:r>
              <a:rPr lang="en-CA" sz="2800" dirty="0"/>
              <a:t>  // Configure TCCR0A and TCCR0B register for (</a:t>
            </a:r>
            <a:r>
              <a:rPr lang="en-CA" sz="2800" dirty="0" err="1"/>
              <a:t>i</a:t>
            </a:r>
            <a:r>
              <a:rPr lang="en-CA" sz="2800" dirty="0"/>
              <a:t>) </a:t>
            </a:r>
            <a:r>
              <a:rPr lang="en-CA" sz="2800" b="1" dirty="0">
                <a:solidFill>
                  <a:srgbClr val="0070C0"/>
                </a:solidFill>
              </a:rPr>
              <a:t>inverting</a:t>
            </a:r>
            <a:r>
              <a:rPr lang="en-CA" sz="2800" dirty="0"/>
              <a:t> (</a:t>
            </a:r>
            <a:r>
              <a:rPr lang="en-CA" sz="2800" b="1" dirty="0">
                <a:solidFill>
                  <a:srgbClr val="0070C0"/>
                </a:solidFill>
              </a:rPr>
              <a:t>11</a:t>
            </a:r>
            <a:r>
              <a:rPr lang="en-CA" sz="2800" dirty="0"/>
              <a:t>), (ii) </a:t>
            </a:r>
            <a:r>
              <a:rPr lang="en-CA" sz="2800" dirty="0">
                <a:solidFill>
                  <a:srgbClr val="00B050"/>
                </a:solidFill>
              </a:rPr>
              <a:t>Phase correct PWM mode </a:t>
            </a:r>
            <a:r>
              <a:rPr lang="en-CA" sz="2800" b="1" dirty="0">
                <a:solidFill>
                  <a:srgbClr val="00B050"/>
                </a:solidFill>
              </a:rPr>
              <a:t>5 (101)</a:t>
            </a:r>
            <a:r>
              <a:rPr lang="en-CA" sz="2800" dirty="0"/>
              <a:t>,</a:t>
            </a:r>
          </a:p>
          <a:p>
            <a:pPr marL="0" indent="0" algn="just">
              <a:spcBef>
                <a:spcPts val="0"/>
              </a:spcBef>
              <a:buNone/>
            </a:pPr>
            <a:r>
              <a:rPr lang="en-CA" sz="2800" dirty="0"/>
              <a:t>  // (iii) Pre-scalar (100) for frequency control.</a:t>
            </a:r>
            <a:endParaRPr lang="en-CA" sz="2800" dirty="0">
              <a:solidFill>
                <a:srgbClr val="FF0000"/>
              </a:solidFill>
            </a:endParaRPr>
          </a:p>
          <a:p>
            <a:pPr marL="0" indent="0" algn="just">
              <a:spcBef>
                <a:spcPts val="0"/>
              </a:spcBef>
              <a:buNone/>
            </a:pPr>
            <a:r>
              <a:rPr lang="en-CA" sz="2800" dirty="0"/>
              <a:t>  TCCR0A |= </a:t>
            </a:r>
            <a:r>
              <a:rPr lang="en-CA" sz="2800" dirty="0">
                <a:solidFill>
                  <a:srgbClr val="0070C0"/>
                </a:solidFill>
              </a:rPr>
              <a:t>(1 &lt;&lt; COM0B1) | (1 &lt;&lt; COM0B0) </a:t>
            </a:r>
            <a:r>
              <a:rPr lang="en-CA" sz="2800" dirty="0"/>
              <a:t>| </a:t>
            </a:r>
            <a:r>
              <a:rPr lang="en-CA" sz="2800" dirty="0">
                <a:solidFill>
                  <a:srgbClr val="00B050"/>
                </a:solidFill>
              </a:rPr>
              <a:t>(1&lt;&lt;WGM00)</a:t>
            </a:r>
            <a:r>
              <a:rPr lang="en-CA" sz="2800" dirty="0"/>
              <a:t>; </a:t>
            </a:r>
          </a:p>
          <a:p>
            <a:pPr marL="0" indent="0" algn="just">
              <a:spcBef>
                <a:spcPts val="0"/>
              </a:spcBef>
              <a:buNone/>
            </a:pPr>
            <a:r>
              <a:rPr lang="en-CA" sz="2800" dirty="0"/>
              <a:t>  TCCR0B |= </a:t>
            </a:r>
            <a:r>
              <a:rPr lang="en-CA" sz="2800" dirty="0">
                <a:solidFill>
                  <a:srgbClr val="00B050"/>
                </a:solidFill>
              </a:rPr>
              <a:t>(1&lt;&lt;WGM02)</a:t>
            </a:r>
            <a:r>
              <a:rPr lang="en-CA" sz="2800" dirty="0"/>
              <a:t> | (1&lt;&lt;CS02); // CS02:00 = 100, N = 256</a:t>
            </a:r>
          </a:p>
          <a:p>
            <a:pPr marL="0" indent="0" algn="just">
              <a:spcBef>
                <a:spcPts val="0"/>
              </a:spcBef>
              <a:buNone/>
            </a:pPr>
            <a:r>
              <a:rPr lang="en-CA" sz="2800" dirty="0"/>
              <a:t>  </a:t>
            </a:r>
            <a:r>
              <a:rPr lang="en-CA" sz="2800" dirty="0">
                <a:solidFill>
                  <a:srgbClr val="FF0000"/>
                </a:solidFill>
              </a:rPr>
              <a:t>// TCCR0A=0b00110001; TCCR0B=0b00001100</a:t>
            </a:r>
            <a:r>
              <a:rPr lang="en-CA" sz="2800" dirty="0"/>
              <a:t> </a:t>
            </a:r>
          </a:p>
          <a:p>
            <a:pPr marL="0" indent="0" algn="just">
              <a:spcBef>
                <a:spcPts val="0"/>
              </a:spcBef>
              <a:buNone/>
            </a:pPr>
            <a:r>
              <a:rPr lang="en-CA" sz="2800" dirty="0"/>
              <a:t>  while(1);  </a:t>
            </a:r>
          </a:p>
          <a:p>
            <a:pPr marL="0" indent="0" algn="just">
              <a:spcBef>
                <a:spcPts val="0"/>
              </a:spcBef>
              <a:buNone/>
            </a:pPr>
            <a:r>
              <a:rPr lang="en-CA" sz="2800" dirty="0"/>
              <a:t>return 0;</a:t>
            </a:r>
          </a:p>
          <a:p>
            <a:pPr marL="0" indent="0" algn="just">
              <a:spcBef>
                <a:spcPts val="0"/>
              </a:spcBef>
              <a:buNone/>
            </a:pPr>
            <a:r>
              <a:rPr lang="en-CA" sz="2800" dirty="0"/>
              <a:t>}</a:t>
            </a:r>
          </a:p>
        </p:txBody>
      </p:sp>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40</a:t>
            </a:fld>
            <a:endParaRPr lang="en-US" dirty="0"/>
          </a:p>
        </p:txBody>
      </p:sp>
      <p:pic>
        <p:nvPicPr>
          <p:cNvPr id="7" name="Picture 6">
            <a:extLst>
              <a:ext uri="{FF2B5EF4-FFF2-40B4-BE49-F238E27FC236}">
                <a16:creationId xmlns:a16="http://schemas.microsoft.com/office/drawing/2014/main" id="{8C7A3452-603A-B1AF-E802-FE66939F50AF}"/>
              </a:ext>
            </a:extLst>
          </p:cNvPr>
          <p:cNvPicPr>
            <a:picLocks noChangeAspect="1"/>
          </p:cNvPicPr>
          <p:nvPr/>
        </p:nvPicPr>
        <p:blipFill rotWithShape="1">
          <a:blip r:embed="rId2">
            <a:duotone>
              <a:schemeClr val="accent5">
                <a:shade val="45000"/>
                <a:satMod val="135000"/>
              </a:schemeClr>
              <a:prstClr val="white"/>
            </a:duotone>
          </a:blip>
          <a:srcRect l="1229" t="8730" r="1053" b="6084"/>
          <a:stretch/>
        </p:blipFill>
        <p:spPr>
          <a:xfrm>
            <a:off x="9209313" y="1329566"/>
            <a:ext cx="6945086" cy="908612"/>
          </a:xfrm>
          <a:prstGeom prst="rect">
            <a:avLst/>
          </a:prstGeom>
        </p:spPr>
      </p:pic>
      <p:pic>
        <p:nvPicPr>
          <p:cNvPr id="8" name="Picture 7">
            <a:extLst>
              <a:ext uri="{FF2B5EF4-FFF2-40B4-BE49-F238E27FC236}">
                <a16:creationId xmlns:a16="http://schemas.microsoft.com/office/drawing/2014/main" id="{9165F60A-50AD-CE60-DAE0-7DB79A4F3284}"/>
              </a:ext>
            </a:extLst>
          </p:cNvPr>
          <p:cNvPicPr>
            <a:picLocks noChangeAspect="1"/>
          </p:cNvPicPr>
          <p:nvPr/>
        </p:nvPicPr>
        <p:blipFill rotWithShape="1">
          <a:blip r:embed="rId3">
            <a:duotone>
              <a:schemeClr val="accent6">
                <a:shade val="45000"/>
                <a:satMod val="135000"/>
              </a:schemeClr>
              <a:prstClr val="white"/>
            </a:duotone>
          </a:blip>
          <a:srcRect l="1133" t="9685" r="1249" b="6629"/>
          <a:stretch/>
        </p:blipFill>
        <p:spPr>
          <a:xfrm>
            <a:off x="9209313" y="2401746"/>
            <a:ext cx="6945085" cy="850354"/>
          </a:xfrm>
          <a:prstGeom prst="rect">
            <a:avLst/>
          </a:prstGeom>
        </p:spPr>
      </p:pic>
      <p:pic>
        <p:nvPicPr>
          <p:cNvPr id="9" name="Picture 8">
            <a:extLst>
              <a:ext uri="{FF2B5EF4-FFF2-40B4-BE49-F238E27FC236}">
                <a16:creationId xmlns:a16="http://schemas.microsoft.com/office/drawing/2014/main" id="{4A2358AE-59C1-65E1-921D-88A7497A23A6}"/>
              </a:ext>
            </a:extLst>
          </p:cNvPr>
          <p:cNvPicPr>
            <a:picLocks noChangeAspect="1"/>
          </p:cNvPicPr>
          <p:nvPr/>
        </p:nvPicPr>
        <p:blipFill rotWithShape="1">
          <a:blip r:embed="rId4"/>
          <a:srcRect l="1295" r="1001"/>
          <a:stretch/>
        </p:blipFill>
        <p:spPr>
          <a:xfrm>
            <a:off x="11518711" y="5417493"/>
            <a:ext cx="4561082" cy="2604619"/>
          </a:xfrm>
          <a:prstGeom prst="rect">
            <a:avLst/>
          </a:prstGeom>
        </p:spPr>
      </p:pic>
      <p:sp>
        <p:nvSpPr>
          <p:cNvPr id="11" name="TextBox 10">
            <a:extLst>
              <a:ext uri="{FF2B5EF4-FFF2-40B4-BE49-F238E27FC236}">
                <a16:creationId xmlns:a16="http://schemas.microsoft.com/office/drawing/2014/main" id="{86432FD0-F0AE-9E24-A96D-FB3897303234}"/>
              </a:ext>
            </a:extLst>
          </p:cNvPr>
          <p:cNvSpPr txBox="1"/>
          <p:nvPr/>
        </p:nvSpPr>
        <p:spPr>
          <a:xfrm>
            <a:off x="11403161" y="6854156"/>
            <a:ext cx="1677665" cy="338554"/>
          </a:xfrm>
          <a:prstGeom prst="rect">
            <a:avLst/>
          </a:prstGeom>
          <a:noFill/>
          <a:ln w="57150">
            <a:solidFill>
              <a:srgbClr val="FF0000"/>
            </a:solidFill>
            <a:prstDash val="sysDash"/>
          </a:ln>
        </p:spPr>
        <p:txBody>
          <a:bodyPr wrap="square" rtlCol="0">
            <a:spAutoFit/>
          </a:bodyPr>
          <a:lstStyle/>
          <a:p>
            <a:endParaRPr lang="en-US" sz="16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A3616AA-FB85-9E13-4617-4208C29CBCCF}"/>
                  </a:ext>
                </a:extLst>
              </p:cNvPr>
              <p:cNvSpPr txBox="1"/>
              <p:nvPr/>
            </p:nvSpPr>
            <p:spPr>
              <a:xfrm>
                <a:off x="2805194" y="6912727"/>
                <a:ext cx="8277366" cy="850489"/>
              </a:xfrm>
              <a:prstGeom prst="rect">
                <a:avLst/>
              </a:prstGeom>
              <a:solidFill>
                <a:schemeClr val="accent1">
                  <a:lumMod val="20000"/>
                  <a:lumOff val="80000"/>
                </a:schemeClr>
              </a:solidFill>
              <a:ln>
                <a:solidFill>
                  <a:schemeClr val="accent1"/>
                </a:solidFill>
              </a:ln>
            </p:spPr>
            <p:txBody>
              <a:bodyPr wrap="square">
                <a:spAutoFit/>
              </a:bodyPr>
              <a:lstStyle/>
              <a:p>
                <a:pPr>
                  <a:spcBef>
                    <a:spcPts val="600"/>
                  </a:spcBef>
                  <a:buClrTx/>
                </a:pPr>
                <a:r>
                  <a:rPr lang="en-CA" sz="1800" baseline="30000" dirty="0">
                    <a:solidFill>
                      <a:srgbClr val="FF0000"/>
                    </a:solidFill>
                  </a:rPr>
                  <a:t>*</a:t>
                </a:r>
                <a:r>
                  <a:rPr lang="en-US" sz="1800" dirty="0"/>
                  <a:t>PWM signal is to have 68.5% duty cycle. Compute the value for OCR0B.</a:t>
                </a:r>
                <a:endParaRPr lang="en-CA" sz="1800" dirty="0"/>
              </a:p>
              <a:p>
                <a:pPr marL="0" indent="0" algn="ctr">
                  <a:spcBef>
                    <a:spcPts val="600"/>
                  </a:spcBef>
                  <a:buClrTx/>
                  <a:buNone/>
                </a:pPr>
                <a14:m>
                  <m:oMath xmlns:m="http://schemas.openxmlformats.org/officeDocument/2006/math">
                    <m:r>
                      <a:rPr lang="en-US" sz="1800" b="1" i="1" smtClean="0">
                        <a:latin typeface="Cambria Math" panose="02040503050406030204" pitchFamily="18" charset="0"/>
                      </a:rPr>
                      <m:t>𝑶𝑪𝑹</m:t>
                    </m:r>
                    <m:r>
                      <a:rPr lang="en-US" sz="1800" b="1" i="1" smtClean="0">
                        <a:latin typeface="Cambria Math" panose="02040503050406030204" pitchFamily="18" charset="0"/>
                      </a:rPr>
                      <m:t>𝟎</m:t>
                    </m:r>
                    <m:r>
                      <a:rPr lang="en-US" sz="1800" b="1" i="1" smtClean="0">
                        <a:latin typeface="Cambria Math" panose="02040503050406030204" pitchFamily="18" charset="0"/>
                      </a:rPr>
                      <m:t>𝑩</m:t>
                    </m:r>
                    <m:r>
                      <a:rPr lang="en-US" sz="1800" b="1" i="1">
                        <a:latin typeface="Cambria Math" panose="02040503050406030204" pitchFamily="18" charset="0"/>
                      </a:rPr>
                      <m:t>=</m:t>
                    </m:r>
                    <m:r>
                      <a:rPr lang="en-US" sz="1800" b="1" i="1" smtClean="0">
                        <a:latin typeface="Cambria Math" panose="02040503050406030204" pitchFamily="18" charset="0"/>
                      </a:rPr>
                      <m:t>𝟐𝟎𝟎</m:t>
                    </m:r>
                    <m:r>
                      <a:rPr lang="en-US" sz="1800" b="1" i="1" smtClean="0">
                        <a:latin typeface="Cambria Math" panose="02040503050406030204" pitchFamily="18" charset="0"/>
                      </a:rPr>
                      <m:t>−</m:t>
                    </m:r>
                    <m:f>
                      <m:fPr>
                        <m:ctrlPr>
                          <a:rPr lang="en-US" sz="1800" b="1" i="1">
                            <a:latin typeface="Cambria Math" panose="02040503050406030204" pitchFamily="18" charset="0"/>
                          </a:rPr>
                        </m:ctrlPr>
                      </m:fPr>
                      <m:num>
                        <m:r>
                          <a:rPr lang="en-US" sz="1800" b="1" i="1" smtClean="0">
                            <a:latin typeface="Cambria Math" panose="02040503050406030204" pitchFamily="18" charset="0"/>
                          </a:rPr>
                          <m:t>𝟐𝟎𝟎</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𝟔𝟖</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𝟓</m:t>
                        </m:r>
                      </m:num>
                      <m:den>
                        <m:r>
                          <a:rPr lang="en-US" sz="1800" b="1" i="1" smtClean="0">
                            <a:latin typeface="Cambria Math" panose="02040503050406030204" pitchFamily="18" charset="0"/>
                          </a:rPr>
                          <m:t>𝟏𝟎𝟎</m:t>
                        </m:r>
                      </m:den>
                    </m:f>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𝟐𝟎𝟎</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𝟏𝟑𝟕</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𝟔𝟑</m:t>
                    </m:r>
                  </m:oMath>
                </a14:m>
                <a:r>
                  <a:rPr lang="en-US" sz="1800" dirty="0">
                    <a:solidFill>
                      <a:srgbClr val="000000"/>
                    </a:solidFill>
                  </a:rPr>
                  <a:t> , if </a:t>
                </a:r>
                <a:r>
                  <a:rPr lang="en-US" sz="1800" b="1" dirty="0">
                    <a:solidFill>
                      <a:srgbClr val="FF0000"/>
                    </a:solidFill>
                  </a:rPr>
                  <a:t>TOP = OCR0A = 200</a:t>
                </a:r>
              </a:p>
            </p:txBody>
          </p:sp>
        </mc:Choice>
        <mc:Fallback xmlns="">
          <p:sp>
            <p:nvSpPr>
              <p:cNvPr id="10" name="TextBox 9">
                <a:extLst>
                  <a:ext uri="{FF2B5EF4-FFF2-40B4-BE49-F238E27FC236}">
                    <a16:creationId xmlns:a16="http://schemas.microsoft.com/office/drawing/2014/main" id="{4A3616AA-FB85-9E13-4617-4208C29CBCCF}"/>
                  </a:ext>
                </a:extLst>
              </p:cNvPr>
              <p:cNvSpPr txBox="1">
                <a:spLocks noRot="1" noChangeAspect="1" noMove="1" noResize="1" noEditPoints="1" noAdjustHandles="1" noChangeArrowheads="1" noChangeShapeType="1" noTextEdit="1"/>
              </p:cNvSpPr>
              <p:nvPr/>
            </p:nvSpPr>
            <p:spPr>
              <a:xfrm>
                <a:off x="2805194" y="6912727"/>
                <a:ext cx="8277366" cy="850489"/>
              </a:xfrm>
              <a:prstGeom prst="rect">
                <a:avLst/>
              </a:prstGeom>
              <a:blipFill>
                <a:blip r:embed="rId5"/>
                <a:stretch>
                  <a:fillRect t="-3546" b="-3546"/>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199090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59467" y="280298"/>
            <a:ext cx="13166876" cy="950973"/>
          </a:xfrm>
        </p:spPr>
        <p:txBody>
          <a:bodyPr>
            <a:normAutofit fontScale="90000"/>
          </a:bodyPr>
          <a:lstStyle/>
          <a:p>
            <a:r>
              <a:rPr lang="nn-NO" sz="6000" b="1" dirty="0">
                <a:solidFill>
                  <a:srgbClr val="0070C0"/>
                </a:solidFill>
              </a:rPr>
              <a:t>Programming Arduino for Phase-Correct PWM</a:t>
            </a:r>
            <a:endParaRPr lang="en-US" sz="60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AADCBA-8B92-4FBD-B325-3AA53CFF953E}"/>
                  </a:ext>
                </a:extLst>
              </p:cNvPr>
              <p:cNvSpPr>
                <a:spLocks noGrp="1"/>
              </p:cNvSpPr>
              <p:nvPr>
                <p:ph idx="1"/>
              </p:nvPr>
            </p:nvSpPr>
            <p:spPr>
              <a:xfrm>
                <a:off x="546101" y="1053104"/>
                <a:ext cx="15201899" cy="1703744"/>
              </a:xfrm>
            </p:spPr>
            <p:txBody>
              <a:bodyPr>
                <a:noAutofit/>
              </a:bodyPr>
              <a:lstStyle/>
              <a:p>
                <a:pPr marL="0" indent="0" algn="just">
                  <a:lnSpc>
                    <a:spcPct val="100000"/>
                  </a:lnSpc>
                  <a:spcBef>
                    <a:spcPts val="0"/>
                  </a:spcBef>
                  <a:buNone/>
                </a:pPr>
                <a:r>
                  <a:rPr lang="en-CA" sz="3600" dirty="0">
                    <a:solidFill>
                      <a:srgbClr val="000000"/>
                    </a:solidFill>
                  </a:rPr>
                  <a:t>The waveform generated will have a frequency of</a:t>
                </a:r>
              </a:p>
              <a:p>
                <a:pPr marL="0" indent="0" algn="just">
                  <a:lnSpc>
                    <a:spcPct val="100000"/>
                  </a:lnSpc>
                  <a:spcBef>
                    <a:spcPts val="0"/>
                  </a:spcBef>
                  <a:buNone/>
                </a:pPr>
                <a14:m>
                  <m:oMath xmlns:m="http://schemas.openxmlformats.org/officeDocument/2006/math">
                    <m:sSub>
                      <m:sSubPr>
                        <m:ctrlPr>
                          <a:rPr lang="en-US" sz="3600" b="1" i="1" smtClean="0">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𝑶𝑪</m:t>
                        </m:r>
                        <m:r>
                          <a:rPr lang="en-US" sz="3600" b="1" i="1" smtClean="0">
                            <a:solidFill>
                              <a:srgbClr val="0070C0"/>
                            </a:solidFill>
                            <a:latin typeface="Cambria Math" panose="02040503050406030204" pitchFamily="18" charset="0"/>
                          </a:rPr>
                          <m:t>𝟎</m:t>
                        </m:r>
                        <m:r>
                          <a:rPr lang="en-US" sz="3600" b="1" i="1" smtClean="0">
                            <a:solidFill>
                              <a:srgbClr val="0070C0"/>
                            </a:solidFill>
                            <a:latin typeface="Cambria Math" panose="02040503050406030204" pitchFamily="18" charset="0"/>
                          </a:rPr>
                          <m:t>𝑩𝑷𝑪𝑷𝑾𝑴</m:t>
                        </m:r>
                        <m:r>
                          <a:rPr lang="en-US" sz="3600" b="1" i="1" smtClean="0">
                            <a:solidFill>
                              <a:srgbClr val="0070C0"/>
                            </a:solidFill>
                            <a:latin typeface="Cambria Math" panose="02040503050406030204" pitchFamily="18" charset="0"/>
                          </a:rPr>
                          <m:t>𝟓</m:t>
                        </m:r>
                      </m:sub>
                    </m:sSub>
                    <m:r>
                      <a:rPr lang="en-US" sz="3600" b="1" i="1">
                        <a:solidFill>
                          <a:srgbClr val="0070C0"/>
                        </a:solidFill>
                        <a:latin typeface="Cambria Math" panose="02040503050406030204" pitchFamily="18" charset="0"/>
                      </a:rPr>
                      <m:t>=</m:t>
                    </m:r>
                    <m:f>
                      <m:fPr>
                        <m:ctrlPr>
                          <a:rPr lang="en-US" sz="3600" b="1" i="1">
                            <a:solidFill>
                              <a:srgbClr val="0070C0"/>
                            </a:solidFill>
                            <a:latin typeface="Cambria Math" panose="02040503050406030204" pitchFamily="18" charset="0"/>
                          </a:rPr>
                        </m:ctrlPr>
                      </m:fPr>
                      <m:num>
                        <m:sSub>
                          <m:sSubPr>
                            <m:ctrlPr>
                              <a:rPr lang="en-US" sz="3600" b="1" i="1">
                                <a:solidFill>
                                  <a:srgbClr val="0070C0"/>
                                </a:solidFill>
                                <a:latin typeface="Cambria Math" panose="02040503050406030204" pitchFamily="18" charset="0"/>
                              </a:rPr>
                            </m:ctrlPr>
                          </m:sSubPr>
                          <m:e>
                            <m:r>
                              <a:rPr lang="en-US" sz="3600" b="1" i="1">
                                <a:solidFill>
                                  <a:srgbClr val="0070C0"/>
                                </a:solidFill>
                                <a:latin typeface="Cambria Math" panose="02040503050406030204" pitchFamily="18" charset="0"/>
                              </a:rPr>
                              <m:t>𝒇</m:t>
                            </m:r>
                          </m:e>
                          <m:sub>
                            <m:r>
                              <a:rPr lang="en-US" sz="3600" b="1" i="1">
                                <a:solidFill>
                                  <a:srgbClr val="0070C0"/>
                                </a:solidFill>
                                <a:latin typeface="Cambria Math" panose="02040503050406030204" pitchFamily="18" charset="0"/>
                              </a:rPr>
                              <m:t>𝒄𝒍𝒌</m:t>
                            </m:r>
                            <m:r>
                              <a:rPr lang="en-US" sz="3600" b="1" i="1">
                                <a:solidFill>
                                  <a:srgbClr val="0070C0"/>
                                </a:solidFill>
                                <a:latin typeface="Cambria Math" panose="02040503050406030204" pitchFamily="18" charset="0"/>
                              </a:rPr>
                              <m:t>_</m:t>
                            </m:r>
                            <m:r>
                              <a:rPr lang="en-US" sz="3600" b="1" i="1">
                                <a:solidFill>
                                  <a:srgbClr val="0070C0"/>
                                </a:solidFill>
                                <a:latin typeface="Cambria Math" panose="02040503050406030204" pitchFamily="18" charset="0"/>
                              </a:rPr>
                              <m:t>𝑰𝑶</m:t>
                            </m:r>
                          </m:sub>
                        </m:sSub>
                      </m:num>
                      <m:den>
                        <m:r>
                          <a:rPr lang="en-US" sz="3600" b="1" i="1" smtClean="0">
                            <a:solidFill>
                              <a:srgbClr val="0070C0"/>
                            </a:solidFill>
                            <a:latin typeface="Cambria Math" panose="02040503050406030204" pitchFamily="18" charset="0"/>
                          </a:rPr>
                          <m:t>𝟐</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𝑵</m:t>
                        </m:r>
                        <m:r>
                          <a:rPr lang="en-US" sz="3600" b="1" i="1">
                            <a:solidFill>
                              <a:srgbClr val="0070C0"/>
                            </a:solidFill>
                            <a:latin typeface="Cambria Math" panose="02040503050406030204" pitchFamily="18" charset="0"/>
                            <a:ea typeface="Cambria Math" panose="02040503050406030204" pitchFamily="18" charset="0"/>
                          </a:rPr>
                          <m:t>×</m:t>
                        </m:r>
                        <m:r>
                          <a:rPr lang="en-US" sz="3600" b="1" i="1">
                            <a:solidFill>
                              <a:srgbClr val="0070C0"/>
                            </a:solidFill>
                            <a:latin typeface="Cambria Math" panose="02040503050406030204" pitchFamily="18" charset="0"/>
                            <a:ea typeface="Cambria Math" panose="02040503050406030204" pitchFamily="18" charset="0"/>
                          </a:rPr>
                          <m:t>𝑶𝑪𝑹</m:t>
                        </m:r>
                        <m:r>
                          <a:rPr lang="en-US" sz="3600" b="1" i="1">
                            <a:solidFill>
                              <a:srgbClr val="0070C0"/>
                            </a:solidFill>
                            <a:latin typeface="Cambria Math" panose="02040503050406030204" pitchFamily="18" charset="0"/>
                            <a:ea typeface="Cambria Math" panose="02040503050406030204" pitchFamily="18" charset="0"/>
                          </a:rPr>
                          <m:t>𝟎</m:t>
                        </m:r>
                        <m:r>
                          <a:rPr lang="en-US" sz="3600" b="1" i="1">
                            <a:solidFill>
                              <a:srgbClr val="0070C0"/>
                            </a:solidFill>
                            <a:latin typeface="Cambria Math" panose="02040503050406030204" pitchFamily="18" charset="0"/>
                            <a:ea typeface="Cambria Math" panose="02040503050406030204" pitchFamily="18" charset="0"/>
                          </a:rPr>
                          <m:t>𝑨</m:t>
                        </m:r>
                      </m:den>
                    </m:f>
                    <m:r>
                      <a:rPr lang="en-US" sz="3600" b="1" i="1" smtClean="0">
                        <a:solidFill>
                          <a:srgbClr val="0070C0"/>
                        </a:solidFill>
                        <a:latin typeface="Cambria Math" panose="02040503050406030204" pitchFamily="18" charset="0"/>
                        <a:ea typeface="Cambria Math" panose="02040503050406030204" pitchFamily="18" charset="0"/>
                      </a:rPr>
                      <m:t>=</m:t>
                    </m:r>
                    <m:f>
                      <m:fPr>
                        <m:ctrlPr>
                          <a:rPr lang="en-US" sz="3600" b="1" i="1" smtClean="0">
                            <a:solidFill>
                              <a:srgbClr val="0070C0"/>
                            </a:solidFill>
                            <a:latin typeface="Cambria Math" panose="02040503050406030204" pitchFamily="18" charset="0"/>
                            <a:ea typeface="Cambria Math" panose="02040503050406030204" pitchFamily="18" charset="0"/>
                          </a:rPr>
                        </m:ctrlPr>
                      </m:fPr>
                      <m:num>
                        <m:r>
                          <a:rPr lang="en-US" sz="3600" b="1" i="1" smtClean="0">
                            <a:solidFill>
                              <a:srgbClr val="0070C0"/>
                            </a:solidFill>
                            <a:latin typeface="Cambria Math" panose="02040503050406030204" pitchFamily="18" charset="0"/>
                            <a:ea typeface="Cambria Math" panose="02040503050406030204" pitchFamily="18" charset="0"/>
                          </a:rPr>
                          <m:t>𝟏𝟔</m:t>
                        </m:r>
                        <m:r>
                          <a:rPr lang="en-US" sz="3600" b="1" i="1" smtClean="0">
                            <a:solidFill>
                              <a:srgbClr val="0070C0"/>
                            </a:solidFill>
                            <a:latin typeface="Cambria Math" panose="02040503050406030204" pitchFamily="18" charset="0"/>
                            <a:ea typeface="Cambria Math" panose="02040503050406030204" pitchFamily="18" charset="0"/>
                          </a:rPr>
                          <m:t>×</m:t>
                        </m:r>
                        <m:sSup>
                          <m:sSupPr>
                            <m:ctrlPr>
                              <a:rPr lang="en-US" sz="3600" b="1" i="1" smtClean="0">
                                <a:solidFill>
                                  <a:srgbClr val="0070C0"/>
                                </a:solidFill>
                                <a:latin typeface="Cambria Math" panose="02040503050406030204" pitchFamily="18" charset="0"/>
                                <a:ea typeface="Cambria Math" panose="02040503050406030204" pitchFamily="18" charset="0"/>
                              </a:rPr>
                            </m:ctrlPr>
                          </m:sSupPr>
                          <m:e>
                            <m:r>
                              <a:rPr lang="en-US" sz="3600" b="1" i="1" smtClean="0">
                                <a:solidFill>
                                  <a:srgbClr val="0070C0"/>
                                </a:solidFill>
                                <a:latin typeface="Cambria Math" panose="02040503050406030204" pitchFamily="18" charset="0"/>
                                <a:ea typeface="Cambria Math" panose="02040503050406030204" pitchFamily="18" charset="0"/>
                              </a:rPr>
                              <m:t>𝟏𝟎</m:t>
                            </m:r>
                          </m:e>
                          <m:sup>
                            <m:r>
                              <a:rPr lang="en-US" sz="3600" b="1" i="1" smtClean="0">
                                <a:solidFill>
                                  <a:srgbClr val="0070C0"/>
                                </a:solidFill>
                                <a:latin typeface="Cambria Math" panose="02040503050406030204" pitchFamily="18" charset="0"/>
                                <a:ea typeface="Cambria Math" panose="02040503050406030204" pitchFamily="18" charset="0"/>
                              </a:rPr>
                              <m:t>𝟔</m:t>
                            </m:r>
                          </m:sup>
                        </m:sSup>
                      </m:num>
                      <m:den>
                        <m:r>
                          <a:rPr lang="en-US" sz="3600" b="1" i="1" smtClean="0">
                            <a:solidFill>
                              <a:srgbClr val="0070C0"/>
                            </a:solidFill>
                            <a:latin typeface="Cambria Math" panose="02040503050406030204" pitchFamily="18" charset="0"/>
                            <a:ea typeface="Cambria Math" panose="02040503050406030204" pitchFamily="18" charset="0"/>
                          </a:rPr>
                          <m:t>𝟐</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𝟐𝟓𝟔</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𝟐𝟎𝟎</m:t>
                        </m:r>
                      </m:den>
                    </m:f>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𝟏𝟓𝟔</m:t>
                    </m:r>
                    <m:r>
                      <a:rPr lang="en-US" sz="3600" b="1" i="1" smtClean="0">
                        <a:solidFill>
                          <a:srgbClr val="0070C0"/>
                        </a:solidFill>
                        <a:latin typeface="Cambria Math" panose="02040503050406030204" pitchFamily="18" charset="0"/>
                        <a:ea typeface="Cambria Math" panose="02040503050406030204" pitchFamily="18" charset="0"/>
                      </a:rPr>
                      <m:t>.</m:t>
                    </m:r>
                    <m:r>
                      <a:rPr lang="en-US" sz="3600" b="1" i="1" smtClean="0">
                        <a:solidFill>
                          <a:srgbClr val="0070C0"/>
                        </a:solidFill>
                        <a:latin typeface="Cambria Math" panose="02040503050406030204" pitchFamily="18" charset="0"/>
                        <a:ea typeface="Cambria Math" panose="02040503050406030204" pitchFamily="18" charset="0"/>
                      </a:rPr>
                      <m:t>𝟐𝟓</m:t>
                    </m:r>
                  </m:oMath>
                </a14:m>
                <a:r>
                  <a:rPr lang="en-CA" sz="3600" dirty="0"/>
                  <a:t> Hz.</a:t>
                </a:r>
              </a:p>
            </p:txBody>
          </p:sp>
        </mc:Choice>
        <mc:Fallback xmlns="">
          <p:sp>
            <p:nvSpPr>
              <p:cNvPr id="3" name="Content Placeholder 2">
                <a:extLst>
                  <a:ext uri="{FF2B5EF4-FFF2-40B4-BE49-F238E27FC236}">
                    <a16:creationId xmlns:a16="http://schemas.microsoft.com/office/drawing/2014/main" id="{25AADCBA-8B92-4FBD-B325-3AA53CFF953E}"/>
                  </a:ext>
                </a:extLst>
              </p:cNvPr>
              <p:cNvSpPr>
                <a:spLocks noGrp="1" noRot="1" noChangeAspect="1" noMove="1" noResize="1" noEditPoints="1" noAdjustHandles="1" noChangeArrowheads="1" noChangeShapeType="1" noTextEdit="1"/>
              </p:cNvSpPr>
              <p:nvPr>
                <p:ph idx="1"/>
              </p:nvPr>
            </p:nvSpPr>
            <p:spPr>
              <a:xfrm>
                <a:off x="546101" y="1053104"/>
                <a:ext cx="15201899" cy="1703744"/>
              </a:xfrm>
              <a:blipFill>
                <a:blip r:embed="rId2"/>
                <a:stretch>
                  <a:fillRect l="-1243" t="-573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15B1C338-CA5C-4C91-BB28-41F96D54AF7A}" type="datetime3">
              <a:rPr lang="en-US" smtClean="0"/>
              <a:t>17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41</a:t>
            </a:fld>
            <a:endParaRPr lang="en-US" dirty="0"/>
          </a:p>
        </p:txBody>
      </p:sp>
      <p:pic>
        <p:nvPicPr>
          <p:cNvPr id="7" name="Picture 4" descr="Arduino et Timer [Wiki]">
            <a:extLst>
              <a:ext uri="{FF2B5EF4-FFF2-40B4-BE49-F238E27FC236}">
                <a16:creationId xmlns:a16="http://schemas.microsoft.com/office/drawing/2014/main" id="{A84D75BA-64A1-1CF6-5CC8-DAEF7D079C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2" t="2864" b="2508"/>
          <a:stretch/>
        </p:blipFill>
        <p:spPr bwMode="auto">
          <a:xfrm>
            <a:off x="11111847" y="3111698"/>
            <a:ext cx="5238171" cy="47903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BF49A8E-D615-4DC4-BBAE-8F3E9117160C}"/>
              </a:ext>
            </a:extLst>
          </p:cNvPr>
          <p:cNvSpPr txBox="1"/>
          <p:nvPr/>
        </p:nvSpPr>
        <p:spPr>
          <a:xfrm rot="5400000">
            <a:off x="13593032" y="6580017"/>
            <a:ext cx="245989" cy="436789"/>
          </a:xfrm>
          <a:prstGeom prst="rect">
            <a:avLst/>
          </a:prstGeom>
          <a:noFill/>
          <a:ln w="57150">
            <a:solidFill>
              <a:srgbClr val="FF0000"/>
            </a:solidFill>
            <a:prstDash val="sysDash"/>
          </a:ln>
        </p:spPr>
        <p:txBody>
          <a:bodyPr wrap="square" rtlCol="0">
            <a:spAutoFit/>
          </a:bodyPr>
          <a:lstStyle/>
          <a:p>
            <a:pPr algn="r"/>
            <a:endParaRPr lang="en-US" sz="3600" dirty="0"/>
          </a:p>
        </p:txBody>
      </p:sp>
      <p:cxnSp>
        <p:nvCxnSpPr>
          <p:cNvPr id="9" name="Straight Arrow Connector 8">
            <a:extLst>
              <a:ext uri="{FF2B5EF4-FFF2-40B4-BE49-F238E27FC236}">
                <a16:creationId xmlns:a16="http://schemas.microsoft.com/office/drawing/2014/main" id="{8AEC1F88-6AEF-36AF-DD25-ACCFC34B1AD3}"/>
              </a:ext>
            </a:extLst>
          </p:cNvPr>
          <p:cNvCxnSpPr>
            <a:cxnSpLocks/>
            <a:endCxn id="8" idx="2"/>
          </p:cNvCxnSpPr>
          <p:nvPr/>
        </p:nvCxnSpPr>
        <p:spPr>
          <a:xfrm flipV="1">
            <a:off x="596900" y="6798412"/>
            <a:ext cx="12900732" cy="378084"/>
          </a:xfrm>
          <a:prstGeom prst="straightConnector1">
            <a:avLst/>
          </a:prstGeom>
          <a:ln w="28575">
            <a:solidFill>
              <a:srgbClr val="FF00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C2A34F80-67F4-8DBF-02CB-E4F23A7D3D42}"/>
              </a:ext>
            </a:extLst>
          </p:cNvPr>
          <p:cNvPicPr>
            <a:picLocks noChangeAspect="1"/>
          </p:cNvPicPr>
          <p:nvPr/>
        </p:nvPicPr>
        <p:blipFill>
          <a:blip r:embed="rId4"/>
          <a:stretch>
            <a:fillRect/>
          </a:stretch>
        </p:blipFill>
        <p:spPr>
          <a:xfrm>
            <a:off x="245598" y="2613025"/>
            <a:ext cx="10676402" cy="5060950"/>
          </a:xfrm>
          <a:prstGeom prst="rect">
            <a:avLst/>
          </a:prstGeom>
        </p:spPr>
      </p:pic>
    </p:spTree>
    <p:extLst>
      <p:ext uri="{BB962C8B-B14F-4D97-AF65-F5344CB8AC3E}">
        <p14:creationId xmlns:p14="http://schemas.microsoft.com/office/powerpoint/2010/main" val="71174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heel(1)">
                                      <p:cBhvr>
                                        <p:cTn id="13" dur="20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plus(in)">
                                      <p:cBhvr>
                                        <p:cTn id="18"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1410734" y="459817"/>
            <a:ext cx="13142422" cy="1191665"/>
          </a:xfrm>
        </p:spPr>
        <p:txBody>
          <a:bodyPr>
            <a:normAutofit/>
          </a:bodyPr>
          <a:lstStyle/>
          <a:p>
            <a:r>
              <a:rPr lang="en-US" sz="7200" b="1" dirty="0">
                <a:solidFill>
                  <a:srgbClr val="0070C0"/>
                </a:solidFill>
              </a:rPr>
              <a:t>Thanks for attending….</a:t>
            </a:r>
          </a:p>
        </p:txBody>
      </p:sp>
      <p:grpSp>
        <p:nvGrpSpPr>
          <p:cNvPr id="5" name="Group 6"/>
          <p:cNvGrpSpPr>
            <a:grpSpLocks/>
          </p:cNvGrpSpPr>
          <p:nvPr/>
        </p:nvGrpSpPr>
        <p:grpSpPr bwMode="auto">
          <a:xfrm>
            <a:off x="7398324" y="1197030"/>
            <a:ext cx="7015943" cy="6350923"/>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00"/>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520"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9832C2BC-4374-46AE-9196-CCECAA280497}" type="datetime3">
              <a:rPr lang="en-US" smtClean="0"/>
              <a:t>17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42</a:t>
            </a:fld>
            <a:endParaRPr lang="en-US" dirty="0"/>
          </a:p>
        </p:txBody>
      </p:sp>
    </p:spTree>
    <p:extLst>
      <p:ext uri="{BB962C8B-B14F-4D97-AF65-F5344CB8AC3E}">
        <p14:creationId xmlns:p14="http://schemas.microsoft.com/office/powerpoint/2010/main" val="4787532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9" ma:contentTypeDescription="Create a new document." ma:contentTypeScope="" ma:versionID="20527a1f5442c6bf5a990be0ad4f6701">
  <xsd:schema xmlns:xsd="http://www.w3.org/2001/XMLSchema" xmlns:xs="http://www.w3.org/2001/XMLSchema" xmlns:p="http://schemas.microsoft.com/office/2006/metadata/properties" xmlns:ns2="f05aa4fc-6785-42fa-879e-4fefad1725f6" targetNamespace="http://schemas.microsoft.com/office/2006/metadata/properties" ma:root="true" ma:fieldsID="e3de2bbdc668caace9de9a704c17ecd5" ns2:_="">
    <xsd:import namespace="f05aa4fc-6785-42fa-879e-4fefad1725f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5aa4fc-6785-42fa-879e-4fefad1725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A4027F-3D24-4D53-BFC9-3C8233FBA003}">
  <ds:schemaRefs>
    <ds:schemaRef ds:uri="http://schemas.microsoft.com/sharepoint/v3/contenttype/forms"/>
  </ds:schemaRefs>
</ds:datastoreItem>
</file>

<file path=customXml/itemProps2.xml><?xml version="1.0" encoding="utf-8"?>
<ds:datastoreItem xmlns:ds="http://schemas.openxmlformats.org/officeDocument/2006/customXml" ds:itemID="{B5129C82-F178-4287-9D4C-6097486300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5aa4fc-6785-42fa-879e-4fefad1725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58E20A-3CCF-4936-A030-6C75490658A6}">
  <ds:schemaRefs>
    <ds:schemaRef ds:uri="http://schemas.microsoft.com/office/2006/metadata/properties"/>
    <ds:schemaRef ds:uri="http://purl.org/dc/elements/1.1/"/>
    <ds:schemaRef ds:uri="f05aa4fc-6785-42fa-879e-4fefad1725f6"/>
    <ds:schemaRef ds:uri="http://schemas.microsoft.com/office/2006/documentManagement/types"/>
    <ds:schemaRef ds:uri="http://schemas.openxmlformats.org/package/2006/metadata/core-properties"/>
    <ds:schemaRef ds:uri="http://purl.org/dc/terms/"/>
    <ds:schemaRef ds:uri="http://purl.org/dc/dcmitype/"/>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15332</TotalTime>
  <Words>5450</Words>
  <Application>Microsoft Office PowerPoint</Application>
  <PresentationFormat>Custom</PresentationFormat>
  <Paragraphs>445</Paragraphs>
  <Slides>42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Arial Black</vt:lpstr>
      <vt:lpstr>Calibri</vt:lpstr>
      <vt:lpstr>Calibri Light</vt:lpstr>
      <vt:lpstr>Cambria Math</vt:lpstr>
      <vt:lpstr>Georgia</vt:lpstr>
      <vt:lpstr>Office Theme</vt:lpstr>
      <vt:lpstr>Lecture # 2 (Final) Pulse Width Modulation (PWM)</vt:lpstr>
      <vt:lpstr>PWM</vt:lpstr>
      <vt:lpstr>PWM</vt:lpstr>
      <vt:lpstr>PWM</vt:lpstr>
      <vt:lpstr>PWM</vt:lpstr>
      <vt:lpstr>PWM</vt:lpstr>
      <vt:lpstr>PWM</vt:lpstr>
      <vt:lpstr>PWM</vt:lpstr>
      <vt:lpstr>PowerPoint Presentation</vt:lpstr>
      <vt:lpstr>Fast PWM Mode: Setting Modes </vt:lpstr>
      <vt:lpstr>Fast PWM Mode: Setting Modes </vt:lpstr>
      <vt:lpstr>Fast PWM Mode: Setting Modes </vt:lpstr>
      <vt:lpstr>Fast PWM Mode </vt:lpstr>
      <vt:lpstr>Fast PWM Mode </vt:lpstr>
      <vt:lpstr>Fast PWM Mode </vt:lpstr>
      <vt:lpstr>Fast PWM Mode: Output Frequency </vt:lpstr>
      <vt:lpstr>Fast PWM Mode: Output Frequency </vt:lpstr>
      <vt:lpstr>Fast PWM Mode: Output Frequency </vt:lpstr>
      <vt:lpstr>Phase-Correct PWM Mode </vt:lpstr>
      <vt:lpstr>Phase-Correct PWM Mode </vt:lpstr>
      <vt:lpstr>Phase-Correct PWM Mode </vt:lpstr>
      <vt:lpstr>Phase-Correct PWM Mode </vt:lpstr>
      <vt:lpstr>Phase-Correct PWM Mode </vt:lpstr>
      <vt:lpstr>Phase-Correct PWM Mode </vt:lpstr>
      <vt:lpstr>Phase-Correct PWM Mode </vt:lpstr>
      <vt:lpstr>Example to Self-Practice:</vt:lpstr>
      <vt:lpstr>Phase-Correct PWM Mode: Output Frequency </vt:lpstr>
      <vt:lpstr>Phase-Correct PWM Mode: Output Frequency </vt:lpstr>
      <vt:lpstr>Important!</vt:lpstr>
      <vt:lpstr>Example for Practice</vt:lpstr>
      <vt:lpstr>Programming Arduino for Fast PWM</vt:lpstr>
      <vt:lpstr>PowerPoint Presentation</vt:lpstr>
      <vt:lpstr>Fast PWM Mode: Setting Modes </vt:lpstr>
      <vt:lpstr>Fast PWM Mode: Setting Modes </vt:lpstr>
      <vt:lpstr>Programming Arduino for Fast PWM</vt:lpstr>
      <vt:lpstr>Programming Arduino for Fast PWM</vt:lpstr>
      <vt:lpstr>Programming Arduino for Fast PWM</vt:lpstr>
      <vt:lpstr>Programming Arduino for Phase-Correct PWM</vt:lpstr>
      <vt:lpstr>Programming Arduino for Phase-Correct PWM</vt:lpstr>
      <vt:lpstr>Programming Arduino for Phase-Correct PWM</vt:lpstr>
      <vt:lpstr>Programming Arduino for Phase-Correct PWM</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Jahid Hasan</dc:creator>
  <cp:lastModifiedBy>Debraj Das</cp:lastModifiedBy>
  <cp:revision>551</cp:revision>
  <dcterms:created xsi:type="dcterms:W3CDTF">2017-01-20T15:00:05Z</dcterms:created>
  <dcterms:modified xsi:type="dcterms:W3CDTF">2025-12-17T02:11:35Z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