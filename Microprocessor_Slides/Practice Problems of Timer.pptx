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4"/>
  </p:notesMasterIdLst>
  <p:handoutMasterIdLst>
    <p:handoutMasterId r:id="rId15"/>
  </p:handoutMasterIdLst>
  <p:sldIdLst>
    <p:sldId id="355" r:id="rId5"/>
    <p:sldId id="354" r:id="rId6"/>
    <p:sldId id="356" r:id="rId7"/>
    <p:sldId id="357" r:id="rId8"/>
    <p:sldId id="358" r:id="rId9"/>
    <p:sldId id="359" r:id="rId10"/>
    <p:sldId id="360" r:id="rId11"/>
    <p:sldId id="361" r:id="rId12"/>
    <p:sldId id="362"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3E57"/>
    <a:srgbClr val="184259"/>
    <a:srgbClr val="9C4E4E"/>
    <a:srgbClr val="700000"/>
    <a:srgbClr val="5E2001"/>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52" autoAdjust="0"/>
  </p:normalViewPr>
  <p:slideViewPr>
    <p:cSldViewPr snapToGrid="0">
      <p:cViewPr>
        <p:scale>
          <a:sx n="59" d="100"/>
          <a:sy n="59" d="100"/>
        </p:scale>
        <p:origin x="964" y="144"/>
      </p:cViewPr>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tik Parvez Sheikh" userId="980b2c0e-c4be-48b4-89f1-66949b55d700" providerId="ADAL" clId="{CCEA7CED-3E37-47E1-87C3-386EDB47166A}"/>
    <pc:docChg chg="modSld">
      <pc:chgData name="Protik Parvez Sheikh" userId="980b2c0e-c4be-48b4-89f1-66949b55d700" providerId="ADAL" clId="{CCEA7CED-3E37-47E1-87C3-386EDB47166A}" dt="2025-04-09T07:49:27.204" v="0" actId="1076"/>
      <pc:docMkLst>
        <pc:docMk/>
      </pc:docMkLst>
      <pc:sldChg chg="modSp mod">
        <pc:chgData name="Protik Parvez Sheikh" userId="980b2c0e-c4be-48b4-89f1-66949b55d700" providerId="ADAL" clId="{CCEA7CED-3E37-47E1-87C3-386EDB47166A}" dt="2025-04-09T07:49:27.204" v="0" actId="1076"/>
        <pc:sldMkLst>
          <pc:docMk/>
          <pc:sldMk cId="2944874018" sldId="362"/>
        </pc:sldMkLst>
      </pc:sldChg>
    </pc:docChg>
  </pc:docChgLst>
  <pc:docChgLst>
    <pc:chgData name="Protik Parvez Sheikh" userId="980b2c0e-c4be-48b4-89f1-66949b55d700" providerId="ADAL" clId="{E7A6213D-DD47-4BB5-A2D2-C322353A4A35}"/>
    <pc:docChg chg="modSld">
      <pc:chgData name="Protik Parvez Sheikh" userId="980b2c0e-c4be-48b4-89f1-66949b55d700" providerId="ADAL" clId="{E7A6213D-DD47-4BB5-A2D2-C322353A4A35}" dt="2025-10-23T07:43:31.558" v="1" actId="9405"/>
      <pc:docMkLst>
        <pc:docMk/>
      </pc:docMkLst>
      <pc:sldChg chg="addSp mod">
        <pc:chgData name="Protik Parvez Sheikh" userId="980b2c0e-c4be-48b4-89f1-66949b55d700" providerId="ADAL" clId="{E7A6213D-DD47-4BB5-A2D2-C322353A4A35}" dt="2025-10-23T07:43:31.558" v="1" actId="9405"/>
        <pc:sldMkLst>
          <pc:docMk/>
          <pc:sldMk cId="2944874018" sldId="362"/>
        </pc:sldMkLst>
        <pc:inkChg chg="add">
          <ac:chgData name="Protik Parvez Sheikh" userId="980b2c0e-c4be-48b4-89f1-66949b55d700" providerId="ADAL" clId="{E7A6213D-DD47-4BB5-A2D2-C322353A4A35}" dt="2025-10-23T07:43:31.140" v="0" actId="9405"/>
          <ac:inkMkLst>
            <pc:docMk/>
            <pc:sldMk cId="2944874018" sldId="362"/>
            <ac:inkMk id="6" creationId="{561C9A20-5E94-3CB7-FE35-FB6EA64BAAA3}"/>
          </ac:inkMkLst>
        </pc:inkChg>
        <pc:inkChg chg="add">
          <ac:chgData name="Protik Parvez Sheikh" userId="980b2c0e-c4be-48b4-89f1-66949b55d700" providerId="ADAL" clId="{E7A6213D-DD47-4BB5-A2D2-C322353A4A35}" dt="2025-10-23T07:43:31.558" v="1" actId="9405"/>
          <ac:inkMkLst>
            <pc:docMk/>
            <pc:sldMk cId="2944874018" sldId="362"/>
            <ac:inkMk id="7" creationId="{B549E47E-75AF-3950-7CA7-5A33F0BF15D9}"/>
          </ac:inkMkLst>
        </pc:inkChg>
      </pc:sldChg>
    </pc:docChg>
  </pc:docChgLst>
  <pc:docChgLst>
    <pc:chgData name="Protik Parvez Sheikh" userId="980b2c0e-c4be-48b4-89f1-66949b55d700" providerId="ADAL" clId="{AD978DDF-298D-49B6-9A3C-DAB487060F0C}"/>
    <pc:docChg chg="undo custSel mod addSld modSld">
      <pc:chgData name="Protik Parvez Sheikh" userId="980b2c0e-c4be-48b4-89f1-66949b55d700" providerId="ADAL" clId="{AD978DDF-298D-49B6-9A3C-DAB487060F0C}" dt="2025-03-13T09:58:53.819" v="102" actId="14100"/>
      <pc:docMkLst>
        <pc:docMk/>
      </pc:docMkLst>
      <pc:sldChg chg="addSp delSp modSp new mod">
        <pc:chgData name="Protik Parvez Sheikh" userId="980b2c0e-c4be-48b4-89f1-66949b55d700" providerId="ADAL" clId="{AD978DDF-298D-49B6-9A3C-DAB487060F0C}" dt="2025-03-13T09:57:24.061" v="95" actId="1038"/>
        <pc:sldMkLst>
          <pc:docMk/>
          <pc:sldMk cId="1055870207" sldId="361"/>
        </pc:sldMkLst>
      </pc:sldChg>
      <pc:sldChg chg="addSp delSp modSp new mod">
        <pc:chgData name="Protik Parvez Sheikh" userId="980b2c0e-c4be-48b4-89f1-66949b55d700" providerId="ADAL" clId="{AD978DDF-298D-49B6-9A3C-DAB487060F0C}" dt="2025-03-13T09:58:53.819" v="102" actId="14100"/>
        <pc:sldMkLst>
          <pc:docMk/>
          <pc:sldMk cId="2944874018" sldId="362"/>
        </pc:sldMkLst>
      </pc:sldChg>
    </pc:docChg>
  </pc:docChgLst>
  <pc:docChgLst>
    <pc:chgData name="Protik Parvez Sheikh" userId="980b2c0e-c4be-48b4-89f1-66949b55d700" providerId="ADAL" clId="{785487B3-42F6-4EAE-BF85-9BB111A80018}"/>
    <pc:docChg chg="modSld">
      <pc:chgData name="Protik Parvez Sheikh" userId="980b2c0e-c4be-48b4-89f1-66949b55d700" providerId="ADAL" clId="{785487B3-42F6-4EAE-BF85-9BB111A80018}" dt="2025-03-15T04:52:07.832" v="11" actId="20577"/>
      <pc:docMkLst>
        <pc:docMk/>
      </pc:docMkLst>
      <pc:sldChg chg="modSp">
        <pc:chgData name="Protik Parvez Sheikh" userId="980b2c0e-c4be-48b4-89f1-66949b55d700" providerId="ADAL" clId="{785487B3-42F6-4EAE-BF85-9BB111A80018}" dt="2025-03-15T04:52:07.832" v="11" actId="20577"/>
        <pc:sldMkLst>
          <pc:docMk/>
          <pc:sldMk cId="316027010" sldId="354"/>
        </pc:sldMkLst>
      </pc:sldChg>
      <pc:sldChg chg="modSp modAnim">
        <pc:chgData name="Protik Parvez Sheikh" userId="980b2c0e-c4be-48b4-89f1-66949b55d700" providerId="ADAL" clId="{785487B3-42F6-4EAE-BF85-9BB111A80018}" dt="2025-03-15T03:17:24.266" v="1" actId="20578"/>
        <pc:sldMkLst>
          <pc:docMk/>
          <pc:sldMk cId="1335799343" sldId="356"/>
        </pc:sldMkLst>
      </pc:sldChg>
      <pc:sldChg chg="modSp">
        <pc:chgData name="Protik Parvez Sheikh" userId="980b2c0e-c4be-48b4-89f1-66949b55d700" providerId="ADAL" clId="{785487B3-42F6-4EAE-BF85-9BB111A80018}" dt="2025-03-15T03:38:03.518" v="3" actId="20577"/>
        <pc:sldMkLst>
          <pc:docMk/>
          <pc:sldMk cId="1977254752" sldId="359"/>
        </pc:sldMkLst>
      </pc:sldChg>
      <pc:sldChg chg="modSp mod">
        <pc:chgData name="Protik Parvez Sheikh" userId="980b2c0e-c4be-48b4-89f1-66949b55d700" providerId="ADAL" clId="{785487B3-42F6-4EAE-BF85-9BB111A80018}" dt="2025-03-15T03:44:50.485" v="6" actId="113"/>
        <pc:sldMkLst>
          <pc:docMk/>
          <pc:sldMk cId="1055870207" sldId="361"/>
        </pc:sldMkLst>
      </pc:sldChg>
    </pc:docChg>
  </pc:docChgLst>
  <pc:docChgLst>
    <pc:chgData name="Protik Parvez Sheikh" userId="980b2c0e-c4be-48b4-89f1-66949b55d700" providerId="ADAL" clId="{4C35CE86-0B15-42A3-897A-01F2AE8A690F}"/>
    <pc:docChg chg="custSel modSld">
      <pc:chgData name="Protik Parvez Sheikh" userId="980b2c0e-c4be-48b4-89f1-66949b55d700" providerId="ADAL" clId="{4C35CE86-0B15-42A3-897A-01F2AE8A690F}" dt="2025-08-06T07:59:03.457" v="40" actId="20577"/>
      <pc:docMkLst>
        <pc:docMk/>
      </pc:docMkLst>
      <pc:sldChg chg="addSp delSp modSp mod delAnim">
        <pc:chgData name="Protik Parvez Sheikh" userId="980b2c0e-c4be-48b4-89f1-66949b55d700" providerId="ADAL" clId="{4C35CE86-0B15-42A3-897A-01F2AE8A690F}" dt="2025-07-16T04:46:53.466" v="9" actId="1076"/>
        <pc:sldMkLst>
          <pc:docMk/>
          <pc:sldMk cId="3091202435" sldId="357"/>
        </pc:sldMkLst>
      </pc:sldChg>
      <pc:sldChg chg="modSp modAnim">
        <pc:chgData name="Protik Parvez Sheikh" userId="980b2c0e-c4be-48b4-89f1-66949b55d700" providerId="ADAL" clId="{4C35CE86-0B15-42A3-897A-01F2AE8A690F}" dt="2025-08-06T07:59:03.457" v="40" actId="20577"/>
        <pc:sldMkLst>
          <pc:docMk/>
          <pc:sldMk cId="2469336978" sldId="360"/>
        </pc:sldMkLst>
      </pc:sldChg>
      <pc:sldChg chg="addSp mod">
        <pc:chgData name="Protik Parvez Sheikh" userId="980b2c0e-c4be-48b4-89f1-66949b55d700" providerId="ADAL" clId="{4C35CE86-0B15-42A3-897A-01F2AE8A690F}" dt="2025-07-27T08:40:48.133" v="11" actId="9405"/>
        <pc:sldMkLst>
          <pc:docMk/>
          <pc:sldMk cId="1055870207" sldId="361"/>
        </pc:sldMkLst>
      </pc:sldChg>
      <pc:sldChg chg="addSp modSp mod">
        <pc:chgData name="Protik Parvez Sheikh" userId="980b2c0e-c4be-48b4-89f1-66949b55d700" providerId="ADAL" clId="{4C35CE86-0B15-42A3-897A-01F2AE8A690F}" dt="2025-07-27T08:42:21.457" v="14" actId="9405"/>
        <pc:sldMkLst>
          <pc:docMk/>
          <pc:sldMk cId="2944874018" sldId="36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2BF7510-B9ED-40E0-8274-4F64AD62B8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95E24B0-B97F-4932-93CD-4307D6181DC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0AA17F-CB06-445B-ACD3-321E84E51A80}" type="datetimeFigureOut">
              <a:rPr lang="en-US" smtClean="0"/>
              <a:t>10/26/2025</a:t>
            </a:fld>
            <a:endParaRPr lang="en-US" dirty="0"/>
          </a:p>
        </p:txBody>
      </p:sp>
      <p:sp>
        <p:nvSpPr>
          <p:cNvPr id="4" name="Footer Placeholder 3">
            <a:extLst>
              <a:ext uri="{FF2B5EF4-FFF2-40B4-BE49-F238E27FC236}">
                <a16:creationId xmlns:a16="http://schemas.microsoft.com/office/drawing/2014/main" id="{7FC3A0DF-A8A7-4EF4-96E5-757FFFC2A93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2BEC987-E8F6-4FD2-BFB2-04815BD1D2F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C078EF9-7F2B-4B20-A25C-9E80C16977B9}" type="slidenum">
              <a:rPr lang="en-US" smtClean="0"/>
              <a:t>‹#›</a:t>
            </a:fld>
            <a:endParaRPr lang="en-US" dirty="0"/>
          </a:p>
        </p:txBody>
      </p:sp>
    </p:spTree>
    <p:extLst>
      <p:ext uri="{BB962C8B-B14F-4D97-AF65-F5344CB8AC3E}">
        <p14:creationId xmlns:p14="http://schemas.microsoft.com/office/powerpoint/2010/main" val="250011495"/>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7T08:40:44.179"/>
    </inkml:context>
    <inkml:brush xml:id="br0">
      <inkml:brushProperty name="width" value="0.05" units="cm"/>
      <inkml:brushProperty name="height" value="0.05" units="cm"/>
    </inkml:brush>
  </inkml:definitions>
  <inkml:trace contextRef="#ctx0" brushRef="#br0">0 0 20100,'0'0'-6593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7T08:40:48.133"/>
    </inkml:context>
    <inkml:brush xml:id="br0">
      <inkml:brushProperty name="width" value="0.05" units="cm"/>
      <inkml:brushProperty name="height" value="0.05" units="cm"/>
    </inkml:brush>
  </inkml:definitions>
  <inkml:trace contextRef="#ctx0" brushRef="#br0">1 1 384,'0'0'0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7T08:41:59.565"/>
    </inkml:context>
    <inkml:brush xml:id="br0">
      <inkml:brushProperty name="width" value="0.05" units="cm"/>
      <inkml:brushProperty name="height" value="0.05" units="cm"/>
    </inkml:brush>
  </inkml:definitions>
  <inkml:trace contextRef="#ctx0" brushRef="#br0">0 0 384,'0'0'0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7T08:42:04.098"/>
    </inkml:context>
    <inkml:brush xml:id="br0">
      <inkml:brushProperty name="width" value="0.05" units="cm"/>
      <inkml:brushProperty name="height" value="0.05" units="cm"/>
    </inkml:brush>
  </inkml:definitions>
  <inkml:trace contextRef="#ctx0" brushRef="#br0">1 0 384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7T08:42:21.457"/>
    </inkml:context>
    <inkml:brush xml:id="br0">
      <inkml:brushProperty name="width" value="0.05" units="cm"/>
      <inkml:brushProperty name="height" value="0.05" units="cm"/>
    </inkml:brush>
  </inkml:definitions>
  <inkml:trace contextRef="#ctx0" brushRef="#br0">1 0 384,'0'0'0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7:43:31.134"/>
    </inkml:context>
    <inkml:brush xml:id="br0">
      <inkml:brushProperty name="width" value="0.05" units="cm"/>
      <inkml:brushProperty name="height" value="0.05" units="cm"/>
    </inkml:brush>
  </inkml:definitions>
  <inkml:trace contextRef="#ctx0" brushRef="#br0">1 1 22021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3T07:43:31.557"/>
    </inkml:context>
    <inkml:brush xml:id="br0">
      <inkml:brushProperty name="width" value="0.05" units="cm"/>
      <inkml:brushProperty name="height" value="0.05" units="cm"/>
    </inkml:brush>
  </inkml:definitions>
  <inkml:trace contextRef="#ctx0" brushRef="#br0">0 0 21893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6141C0-BF72-4A20-AFA7-D05563D549B7}" type="datetimeFigureOut">
              <a:rPr lang="en-US" smtClean="0"/>
              <a:t>10/26/2025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AAF9CF-D1E5-49FD-94F7-B246BB67E246}" type="slidenum">
              <a:rPr lang="en-US" smtClean="0"/>
              <a:t>‹#›</a:t>
            </a:fld>
            <a:endParaRPr lang="en-US" dirty="0"/>
          </a:p>
        </p:txBody>
      </p:sp>
    </p:spTree>
    <p:extLst>
      <p:ext uri="{BB962C8B-B14F-4D97-AF65-F5344CB8AC3E}">
        <p14:creationId xmlns:p14="http://schemas.microsoft.com/office/powerpoint/2010/main" val="1629285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D4C5A-DDB1-F17F-7CFD-8A344FC513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7521E2-4C73-BEB2-6125-4A4B0067037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D9A42DC-473F-D9A4-1A6D-EA3BE096D427}"/>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4760FBE2-C5D8-5D31-4574-F63831FD1A32}"/>
              </a:ext>
            </a:extLst>
          </p:cNvPr>
          <p:cNvSpPr>
            <a:spLocks noGrp="1"/>
          </p:cNvSpPr>
          <p:nvPr>
            <p:ph type="sldNum" sz="quarter" idx="10"/>
          </p:nvPr>
        </p:nvSpPr>
        <p:spPr/>
        <p:txBody>
          <a:bodyPr/>
          <a:lstStyle/>
          <a:p>
            <a:fld id="{33F28183-2755-4A32-BE4D-8CF9D32630D9}" type="slidenum">
              <a:rPr lang="en-US" smtClean="0"/>
              <a:pPr/>
              <a:t>1</a:t>
            </a:fld>
            <a:endParaRPr lang="en-US"/>
          </a:p>
        </p:txBody>
      </p:sp>
    </p:spTree>
    <p:extLst>
      <p:ext uri="{BB962C8B-B14F-4D97-AF65-F5344CB8AC3E}">
        <p14:creationId xmlns:p14="http://schemas.microsoft.com/office/powerpoint/2010/main" val="3676066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044D7-10A5-05CA-0A96-9E871610E4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C981F1-55F1-5A7E-B9E8-AFD195B505B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69D8E2A-EA38-6BDD-20C9-4C4C4641DDCB}"/>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3C26D91A-E720-8A1E-B211-E8E4DAFD3808}"/>
              </a:ext>
            </a:extLst>
          </p:cNvPr>
          <p:cNvSpPr>
            <a:spLocks noGrp="1"/>
          </p:cNvSpPr>
          <p:nvPr>
            <p:ph type="sldNum" sz="quarter" idx="10"/>
          </p:nvPr>
        </p:nvSpPr>
        <p:spPr/>
        <p:txBody>
          <a:bodyPr/>
          <a:lstStyle/>
          <a:p>
            <a:fld id="{33F28183-2755-4A32-BE4D-8CF9D32630D9}" type="slidenum">
              <a:rPr lang="en-US" smtClean="0"/>
              <a:pPr/>
              <a:t>2</a:t>
            </a:fld>
            <a:endParaRPr lang="en-US"/>
          </a:p>
        </p:txBody>
      </p:sp>
    </p:spTree>
    <p:extLst>
      <p:ext uri="{BB962C8B-B14F-4D97-AF65-F5344CB8AC3E}">
        <p14:creationId xmlns:p14="http://schemas.microsoft.com/office/powerpoint/2010/main" val="4211783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CE192-DB9F-6D8D-20E3-133D04D840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F21659-991B-552D-5EB0-F57A3591EE3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CF5AD84-1D20-5B51-F77D-B5606CF938C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93179ADB-446B-AE53-5E4B-ABD4D5B1553A}"/>
              </a:ext>
            </a:extLst>
          </p:cNvPr>
          <p:cNvSpPr>
            <a:spLocks noGrp="1"/>
          </p:cNvSpPr>
          <p:nvPr>
            <p:ph type="sldNum" sz="quarter" idx="10"/>
          </p:nvPr>
        </p:nvSpPr>
        <p:spPr/>
        <p:txBody>
          <a:bodyPr/>
          <a:lstStyle/>
          <a:p>
            <a:fld id="{33F28183-2755-4A32-BE4D-8CF9D32630D9}" type="slidenum">
              <a:rPr lang="en-US" smtClean="0"/>
              <a:pPr/>
              <a:t>3</a:t>
            </a:fld>
            <a:endParaRPr lang="en-US"/>
          </a:p>
        </p:txBody>
      </p:sp>
    </p:spTree>
    <p:extLst>
      <p:ext uri="{BB962C8B-B14F-4D97-AF65-F5344CB8AC3E}">
        <p14:creationId xmlns:p14="http://schemas.microsoft.com/office/powerpoint/2010/main" val="23687474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E0723-6722-76BF-66EE-336FEE0947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D4215F-77EA-A7D1-0D01-F9A0A23B819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6F14D93-2D80-12A3-A63F-A80D521EB1A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41F533CF-071E-EE6B-6E0A-54388B2FE7A0}"/>
              </a:ext>
            </a:extLst>
          </p:cNvPr>
          <p:cNvSpPr>
            <a:spLocks noGrp="1"/>
          </p:cNvSpPr>
          <p:nvPr>
            <p:ph type="sldNum" sz="quarter" idx="10"/>
          </p:nvPr>
        </p:nvSpPr>
        <p:spPr/>
        <p:txBody>
          <a:bodyPr/>
          <a:lstStyle/>
          <a:p>
            <a:fld id="{33F28183-2755-4A32-BE4D-8CF9D32630D9}" type="slidenum">
              <a:rPr lang="en-US" smtClean="0"/>
              <a:pPr/>
              <a:t>4</a:t>
            </a:fld>
            <a:endParaRPr lang="en-US"/>
          </a:p>
        </p:txBody>
      </p:sp>
    </p:spTree>
    <p:extLst>
      <p:ext uri="{BB962C8B-B14F-4D97-AF65-F5344CB8AC3E}">
        <p14:creationId xmlns:p14="http://schemas.microsoft.com/office/powerpoint/2010/main" val="28536970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D5ACA-9A18-2F8C-FAE7-589468489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8C421E-0103-2469-ED4A-D8585ED3FF0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48EA514-5BDE-9928-5266-CC32F7F16158}"/>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4DB8985F-19E7-7DB8-74D2-9B63E3A56A6C}"/>
              </a:ext>
            </a:extLst>
          </p:cNvPr>
          <p:cNvSpPr>
            <a:spLocks noGrp="1"/>
          </p:cNvSpPr>
          <p:nvPr>
            <p:ph type="sldNum" sz="quarter" idx="10"/>
          </p:nvPr>
        </p:nvSpPr>
        <p:spPr/>
        <p:txBody>
          <a:bodyPr/>
          <a:lstStyle/>
          <a:p>
            <a:fld id="{33F28183-2755-4A32-BE4D-8CF9D32630D9}" type="slidenum">
              <a:rPr lang="en-US" smtClean="0"/>
              <a:pPr/>
              <a:t>5</a:t>
            </a:fld>
            <a:endParaRPr lang="en-US"/>
          </a:p>
        </p:txBody>
      </p:sp>
    </p:spTree>
    <p:extLst>
      <p:ext uri="{BB962C8B-B14F-4D97-AF65-F5344CB8AC3E}">
        <p14:creationId xmlns:p14="http://schemas.microsoft.com/office/powerpoint/2010/main" val="2748306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0DDB0-5920-C325-2192-9EE3E7647C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FA7FD2-0B2E-AA8B-4175-632CD12ADEE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71ECF7E-54E0-8D93-2D07-F945E68E35AC}"/>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C84985AA-D2D9-4970-076B-A3BCAA9E7925}"/>
              </a:ext>
            </a:extLst>
          </p:cNvPr>
          <p:cNvSpPr>
            <a:spLocks noGrp="1"/>
          </p:cNvSpPr>
          <p:nvPr>
            <p:ph type="sldNum" sz="quarter" idx="10"/>
          </p:nvPr>
        </p:nvSpPr>
        <p:spPr/>
        <p:txBody>
          <a:bodyPr/>
          <a:lstStyle/>
          <a:p>
            <a:fld id="{33F28183-2755-4A32-BE4D-8CF9D32630D9}" type="slidenum">
              <a:rPr lang="en-US" smtClean="0"/>
              <a:pPr/>
              <a:t>6</a:t>
            </a:fld>
            <a:endParaRPr lang="en-US"/>
          </a:p>
        </p:txBody>
      </p:sp>
    </p:spTree>
    <p:extLst>
      <p:ext uri="{BB962C8B-B14F-4D97-AF65-F5344CB8AC3E}">
        <p14:creationId xmlns:p14="http://schemas.microsoft.com/office/powerpoint/2010/main" val="1397196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B7BF5-9923-540A-A8A8-437EEBC3A2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6B5373-532F-BC0C-4C7D-A0E1F975805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B78C522-9BA9-ED6B-E10E-38327C7494EC}"/>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05051C06-D573-489B-5C53-7B30BED029C1}"/>
              </a:ext>
            </a:extLst>
          </p:cNvPr>
          <p:cNvSpPr>
            <a:spLocks noGrp="1"/>
          </p:cNvSpPr>
          <p:nvPr>
            <p:ph type="sldNum" sz="quarter" idx="10"/>
          </p:nvPr>
        </p:nvSpPr>
        <p:spPr/>
        <p:txBody>
          <a:bodyPr/>
          <a:lstStyle/>
          <a:p>
            <a:fld id="{33F28183-2755-4A32-BE4D-8CF9D32630D9}" type="slidenum">
              <a:rPr lang="en-US" smtClean="0"/>
              <a:pPr/>
              <a:t>7</a:t>
            </a:fld>
            <a:endParaRPr lang="en-US"/>
          </a:p>
        </p:txBody>
      </p:sp>
    </p:spTree>
    <p:extLst>
      <p:ext uri="{BB962C8B-B14F-4D97-AF65-F5344CB8AC3E}">
        <p14:creationId xmlns:p14="http://schemas.microsoft.com/office/powerpoint/2010/main" val="11894880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840914" cy="1260000"/>
          </a:xfrm>
        </p:spPr>
        <p:txBody>
          <a:bodyPr anchor="ctr" anchorCtr="0">
            <a:normAutofit/>
          </a:bodyPr>
          <a:lstStyle>
            <a:lvl1pPr>
              <a:defRPr sz="3000"/>
            </a:lvl1pPr>
          </a:lstStyle>
          <a:p>
            <a:r>
              <a:rPr lang="en-US" noProof="0"/>
              <a:t>Click to edit Master title style</a:t>
            </a:r>
          </a:p>
        </p:txBody>
      </p:sp>
      <p:sp>
        <p:nvSpPr>
          <p:cNvPr id="3" name="Content Placeholder 2"/>
          <p:cNvSpPr>
            <a:spLocks noGrp="1"/>
          </p:cNvSpPr>
          <p:nvPr>
            <p:ph idx="1"/>
          </p:nvPr>
        </p:nvSpPr>
        <p:spPr>
          <a:xfrm>
            <a:off x="685801" y="1869601"/>
            <a:ext cx="10840914" cy="3921600"/>
          </a:xfrm>
        </p:spPr>
        <p:txBody>
          <a:bodyPr anchor="t" anchorCtr="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530ED385-A4C3-4FF9-83FF-B62BD250DDA9}" type="datetime3">
              <a:rPr lang="en-US" noProof="0" smtClean="0"/>
              <a:t>26 October 2025</a:t>
            </a:fld>
            <a:endParaRPr lang="en-US" noProof="0" dirty="0"/>
          </a:p>
        </p:txBody>
      </p:sp>
      <p:sp>
        <p:nvSpPr>
          <p:cNvPr id="5" name="Footer Placeholder 4"/>
          <p:cNvSpPr>
            <a:spLocks noGrp="1"/>
          </p:cNvSpPr>
          <p:nvPr>
            <p:ph type="ftr" sz="quarter" idx="11"/>
          </p:nvPr>
        </p:nvSpPr>
        <p:spPr/>
        <p:txBody>
          <a:bodyPr/>
          <a:lstStyle/>
          <a:p>
            <a:r>
              <a:rPr lang="en-US" noProof="0"/>
              <a:t>Course Teacher: Prof. Dr. Engr. Muhibul Haque Bhuyan</a:t>
            </a:r>
            <a:endParaRPr lang="en-US" noProof="0" dirty="0"/>
          </a:p>
        </p:txBody>
      </p:sp>
      <p:sp>
        <p:nvSpPr>
          <p:cNvPr id="6" name="Slide Number Placeholder 5"/>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8" name="Straight Connector 7">
            <a:extLst>
              <a:ext uri="{FF2B5EF4-FFF2-40B4-BE49-F238E27FC236}">
                <a16:creationId xmlns:a16="http://schemas.microsoft.com/office/drawing/2014/main" id="{328F7C25-BFB6-430F-87B6-7D0D2C7493D6}"/>
              </a:ext>
              <a:ext uri="{C183D7F6-B498-43B3-948B-1728B52AA6E4}">
                <adec:decorative xmlns:adec="http://schemas.microsoft.com/office/drawing/2017/decorative" val="1"/>
              </a:ext>
            </a:extLst>
          </p:cNvPr>
          <p:cNvCxnSpPr>
            <a:cxnSpLocks/>
          </p:cNvCxnSpPr>
          <p:nvPr userDrawn="1"/>
        </p:nvCxnSpPr>
        <p:spPr>
          <a:xfrm rot="16200000">
            <a:off x="-185517" y="122343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10262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5" y="0"/>
            <a:ext cx="12188825" cy="6856214"/>
          </a:xfrm>
          <a:prstGeom prst="rect">
            <a:avLst/>
          </a:prstGeom>
        </p:spPr>
      </p:pic>
      <p:sp>
        <p:nvSpPr>
          <p:cNvPr id="2" name="Title 1"/>
          <p:cNvSpPr>
            <a:spLocks noGrp="1"/>
          </p:cNvSpPr>
          <p:nvPr>
            <p:ph type="ctrTitle"/>
          </p:nvPr>
        </p:nvSpPr>
        <p:spPr>
          <a:xfrm>
            <a:off x="1649896" y="2716272"/>
            <a:ext cx="10287000" cy="2421464"/>
          </a:xfrm>
        </p:spPr>
        <p:txBody>
          <a:bodyPr anchor="b">
            <a:normAutofit/>
          </a:bodyPr>
          <a:lstStyle>
            <a:lvl1pPr algn="r">
              <a:defRPr sz="4800">
                <a:effectLst/>
              </a:defRPr>
            </a:lvl1pPr>
          </a:lstStyle>
          <a:p>
            <a:r>
              <a:rPr lang="en-US" noProof="0" dirty="0"/>
              <a:t>Click to edit Master title style</a:t>
            </a:r>
          </a:p>
        </p:txBody>
      </p:sp>
      <p:sp>
        <p:nvSpPr>
          <p:cNvPr id="3" name="Subtitle 2"/>
          <p:cNvSpPr>
            <a:spLocks noGrp="1"/>
          </p:cNvSpPr>
          <p:nvPr>
            <p:ph type="subTitle" idx="1"/>
          </p:nvPr>
        </p:nvSpPr>
        <p:spPr>
          <a:xfrm>
            <a:off x="2476500" y="5137736"/>
            <a:ext cx="9460396" cy="732840"/>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4" name="Date Placeholder 3"/>
          <p:cNvSpPr>
            <a:spLocks noGrp="1"/>
          </p:cNvSpPr>
          <p:nvPr>
            <p:ph type="dt" sz="half" idx="10"/>
          </p:nvPr>
        </p:nvSpPr>
        <p:spPr>
          <a:xfrm>
            <a:off x="8932558" y="6447045"/>
            <a:ext cx="1600200" cy="377825"/>
          </a:xfrm>
        </p:spPr>
        <p:txBody>
          <a:bodyPr/>
          <a:lstStyle/>
          <a:p>
            <a:fld id="{80BB8FF1-AC00-44C7-B642-A6B304D0BCAF}" type="datetime3">
              <a:rPr lang="en-US" noProof="0" smtClean="0"/>
              <a:t>26 October 2025</a:t>
            </a:fld>
            <a:endParaRPr lang="en-US" noProof="0" dirty="0"/>
          </a:p>
        </p:txBody>
      </p:sp>
      <p:sp>
        <p:nvSpPr>
          <p:cNvPr id="5" name="Footer Placeholder 4"/>
          <p:cNvSpPr>
            <a:spLocks noGrp="1"/>
          </p:cNvSpPr>
          <p:nvPr>
            <p:ph type="ftr" sz="quarter" idx="11"/>
          </p:nvPr>
        </p:nvSpPr>
        <p:spPr>
          <a:xfrm>
            <a:off x="0" y="6478389"/>
            <a:ext cx="4893958" cy="377825"/>
          </a:xfrm>
        </p:spPr>
        <p:txBody>
          <a:bodyPr/>
          <a:lstStyle/>
          <a:p>
            <a:r>
              <a:rPr lang="en-US" noProof="0"/>
              <a:t>Course Teacher: Prof. Dr. Engr. Muhibul Haque Bhuyan</a:t>
            </a:r>
            <a:endParaRPr lang="en-US" noProof="0" dirty="0"/>
          </a:p>
        </p:txBody>
      </p:sp>
      <p:sp>
        <p:nvSpPr>
          <p:cNvPr id="6" name="Slide Number Placeholder 5"/>
          <p:cNvSpPr>
            <a:spLocks noGrp="1"/>
          </p:cNvSpPr>
          <p:nvPr>
            <p:ph type="sldNum" sz="quarter" idx="12"/>
          </p:nvPr>
        </p:nvSpPr>
        <p:spPr>
          <a:xfrm>
            <a:off x="11632690" y="6456976"/>
            <a:ext cx="551167" cy="377825"/>
          </a:xfrm>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406293711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Title 1"/>
          <p:cNvSpPr>
            <a:spLocks noGrp="1"/>
          </p:cNvSpPr>
          <p:nvPr>
            <p:ph type="title"/>
          </p:nvPr>
        </p:nvSpPr>
        <p:spPr>
          <a:xfrm>
            <a:off x="552450" y="1874308"/>
            <a:ext cx="3814235" cy="1260000"/>
          </a:xfrm>
        </p:spPr>
        <p:txBody>
          <a:bodyPr anchor="ctr" anchorCtr="0">
            <a:noAutofit/>
          </a:bodyPr>
          <a:lstStyle>
            <a:lvl1pPr algn="r">
              <a:defRPr sz="3000" b="0"/>
            </a:lvl1pPr>
          </a:lstStyle>
          <a:p>
            <a:r>
              <a:rPr lang="en-US" noProof="0" dirty="0"/>
              <a:t>Click to edit Master title style</a:t>
            </a:r>
          </a:p>
        </p:txBody>
      </p:sp>
      <p:sp>
        <p:nvSpPr>
          <p:cNvPr id="3" name="Content Placeholder 2"/>
          <p:cNvSpPr>
            <a:spLocks noGrp="1"/>
          </p:cNvSpPr>
          <p:nvPr>
            <p:ph idx="1"/>
          </p:nvPr>
        </p:nvSpPr>
        <p:spPr>
          <a:xfrm>
            <a:off x="4648200" y="0"/>
            <a:ext cx="7543800" cy="6856214"/>
          </a:xfrm>
        </p:spPr>
        <p:txBody>
          <a:bodyPr anchor="ctr">
            <a:norm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Text Placeholder 3"/>
          <p:cNvSpPr>
            <a:spLocks noGrp="1"/>
          </p:cNvSpPr>
          <p:nvPr>
            <p:ph type="body" sz="half" idx="2"/>
          </p:nvPr>
        </p:nvSpPr>
        <p:spPr>
          <a:xfrm>
            <a:off x="552450" y="3134308"/>
            <a:ext cx="3814235" cy="2016600"/>
          </a:xfrm>
        </p:spPr>
        <p:txBody>
          <a:bodyPr anchor="t">
            <a:normAutofit/>
          </a:bodyPr>
          <a:lstStyle>
            <a:lvl1pPr marL="0" indent="0" algn="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dirty="0"/>
              <a:t>Edit Master text styles</a:t>
            </a:r>
          </a:p>
        </p:txBody>
      </p:sp>
      <p:sp>
        <p:nvSpPr>
          <p:cNvPr id="5" name="Date Placeholder 4"/>
          <p:cNvSpPr>
            <a:spLocks noGrp="1"/>
          </p:cNvSpPr>
          <p:nvPr>
            <p:ph type="dt" sz="half" idx="10"/>
          </p:nvPr>
        </p:nvSpPr>
        <p:spPr/>
        <p:txBody>
          <a:bodyPr/>
          <a:lstStyle/>
          <a:p>
            <a:fld id="{3078168E-D2D8-4526-AEF1-81F805950FE2}" type="datetime3">
              <a:rPr lang="en-US" noProof="0" smtClean="0"/>
              <a:t>26 October 2025</a:t>
            </a:fld>
            <a:endParaRPr lang="en-US" noProof="0" dirty="0"/>
          </a:p>
        </p:txBody>
      </p:sp>
      <p:sp>
        <p:nvSpPr>
          <p:cNvPr id="6" name="Footer Placeholder 5"/>
          <p:cNvSpPr>
            <a:spLocks noGrp="1"/>
          </p:cNvSpPr>
          <p:nvPr>
            <p:ph type="ftr" sz="quarter" idx="11"/>
          </p:nvPr>
        </p:nvSpPr>
        <p:spPr/>
        <p:txBody>
          <a:bodyPr/>
          <a:lstStyle/>
          <a:p>
            <a:r>
              <a:rPr lang="en-US" noProof="0"/>
              <a:t>Course Teacher: Prof. Dr. Engr. Muhibul Haque Bhuyan</a:t>
            </a:r>
            <a:endParaRPr lang="en-US" noProof="0" dirty="0"/>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200633881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white">
          <a:xfrm>
            <a:off x="685801" y="609600"/>
            <a:ext cx="10840914" cy="1456267"/>
          </a:xfrm>
          <a:prstGeom prst="rect">
            <a:avLst/>
          </a:prstGeom>
          <a:effectLst/>
        </p:spPr>
        <p:txBody>
          <a:bodyPr vert="horz" lIns="91440" tIns="45720" rIns="91440" bIns="45720" rtlCol="0" anchor="ctr">
            <a:normAutofit/>
          </a:bodyPr>
          <a:lstStyle/>
          <a:p>
            <a:r>
              <a:rPr lang="en-US" noProof="0"/>
              <a:t>Click to edit Master title style</a:t>
            </a:r>
          </a:p>
        </p:txBody>
      </p:sp>
      <p:sp>
        <p:nvSpPr>
          <p:cNvPr id="3" name="Text Placeholder 2"/>
          <p:cNvSpPr>
            <a:spLocks noGrp="1"/>
          </p:cNvSpPr>
          <p:nvPr>
            <p:ph type="body" idx="1"/>
          </p:nvPr>
        </p:nvSpPr>
        <p:spPr bwMode="white">
          <a:xfrm>
            <a:off x="685801" y="2142067"/>
            <a:ext cx="10840914" cy="3649133"/>
          </a:xfrm>
          <a:prstGeom prst="rect">
            <a:avLst/>
          </a:prstGeom>
        </p:spPr>
        <p:txBody>
          <a:bodyPr vert="horz" lIns="91440" tIns="45720" rIns="91440" bIns="45720" rtlCol="0" anchor="ctr">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8551024" y="6546717"/>
            <a:ext cx="1600200" cy="315577"/>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D3906C3-87DE-433B-BC44-EA3CD45C8C1E}" type="datetime3">
              <a:rPr lang="en-US" noProof="0" smtClean="0"/>
              <a:t>26 October 2025</a:t>
            </a:fld>
            <a:endParaRPr lang="en-US" noProof="0" dirty="0"/>
          </a:p>
        </p:txBody>
      </p:sp>
      <p:sp>
        <p:nvSpPr>
          <p:cNvPr id="5" name="Footer Placeholder 4"/>
          <p:cNvSpPr>
            <a:spLocks noGrp="1"/>
          </p:cNvSpPr>
          <p:nvPr>
            <p:ph type="ftr" sz="quarter" idx="3"/>
          </p:nvPr>
        </p:nvSpPr>
        <p:spPr>
          <a:xfrm>
            <a:off x="196402" y="6546717"/>
            <a:ext cx="7827659" cy="311283"/>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noProof="0"/>
              <a:t>Course Teacher: Prof. Dr. Engr. Muhibul Haque Bhuyan</a:t>
            </a:r>
            <a:endParaRPr lang="en-US" noProof="0" dirty="0"/>
          </a:p>
        </p:txBody>
      </p:sp>
      <p:sp>
        <p:nvSpPr>
          <p:cNvPr id="6" name="Slide Number Placeholder 5"/>
          <p:cNvSpPr>
            <a:spLocks noGrp="1"/>
          </p:cNvSpPr>
          <p:nvPr>
            <p:ph type="sldNum" sz="quarter" idx="4"/>
          </p:nvPr>
        </p:nvSpPr>
        <p:spPr>
          <a:xfrm>
            <a:off x="10896387" y="6546717"/>
            <a:ext cx="1260655" cy="315576"/>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009069978"/>
      </p:ext>
    </p:extLst>
  </p:cSld>
  <p:clrMap bg1="dk1" tx1="lt1" bg2="dk2" tx2="lt2" accent1="accent1" accent2="accent2" accent3="accent3" accent4="accent4" accent5="accent5" accent6="accent6" hlink="hlink" folHlink="folHlink"/>
  <p:sldLayoutIdLst>
    <p:sldLayoutId id="2147483662" r:id="rId1"/>
    <p:sldLayoutId id="2147483661" r:id="rId2"/>
    <p:sldLayoutId id="2147483668" r:id="rId3"/>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1.xml"/><Relationship Id="rId1" Type="http://schemas.openxmlformats.org/officeDocument/2006/relationships/slideLayout" Target="../slideLayouts/slideLayout2.xml"/><Relationship Id="rId4" Type="http://schemas.openxmlformats.org/officeDocument/2006/relationships/customXml" Target="../ink/ink2.xml"/></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customXml" Target="../ink/ink3.xml"/><Relationship Id="rId7" Type="http://schemas.openxmlformats.org/officeDocument/2006/relationships/customXml" Target="../ink/ink6.xml"/><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customXml" Target="../ink/ink5.xml"/><Relationship Id="rId5" Type="http://schemas.openxmlformats.org/officeDocument/2006/relationships/customXml" Target="../ink/ink4.xml"/><Relationship Id="rId4" Type="http://schemas.openxmlformats.org/officeDocument/2006/relationships/image" Target="../media/image8.png"/><Relationship Id="rId9" Type="http://schemas.openxmlformats.org/officeDocument/2006/relationships/customXml" Target="../ink/ink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54B09-D5C9-5EAD-1E21-8231BCFE38E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2" name="TextBox 5">
                <a:extLst>
                  <a:ext uri="{FF2B5EF4-FFF2-40B4-BE49-F238E27FC236}">
                    <a16:creationId xmlns:a16="http://schemas.microsoft.com/office/drawing/2014/main" id="{7DE1085C-BFE9-2B3C-041F-267CB386ED53}"/>
                  </a:ext>
                </a:extLst>
              </p:cNvPr>
              <p:cNvSpPr txBox="1">
                <a:spLocks noChangeArrowheads="1"/>
              </p:cNvSpPr>
              <p:nvPr/>
            </p:nvSpPr>
            <p:spPr bwMode="auto">
              <a:xfrm>
                <a:off x="196402" y="705780"/>
                <a:ext cx="11807756" cy="557267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2800" dirty="0">
                    <a:latin typeface="Times New Roman" panose="02020603050405020304" pitchFamily="18" charset="0"/>
                    <a:cs typeface="Times New Roman" panose="02020603050405020304" pitchFamily="18" charset="0"/>
                  </a:rPr>
                  <a:t>If you want to make an LED of blue color blink every 2 seconds while using an Arduino system frequency of 16 MHz using a timer to generate delay without any application of the built-in delay() function, select a suitable timer of the Arduino Uno for your application. Use a pre-scaler value of 256. Determine the necessary register set-up required for the program. A table of clock-select bits and register structures is given at the end of this question paper.</a:t>
                </a:r>
                <a:endParaRPr lang="en-US" sz="2800" i="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US" i="1" dirty="0">
                  <a:latin typeface="Times New Roman" panose="02020603050405020304" pitchFamily="18" charset="0"/>
                  <a:cs typeface="Times New Roman" panose="02020603050405020304" pitchFamily="18" charset="0"/>
                </a:endParaRPr>
              </a:p>
              <a:p>
                <a:r>
                  <a:rPr lang="en-US" sz="2800" b="1" dirty="0">
                    <a:solidFill>
                      <a:srgbClr val="FF0000"/>
                    </a:solidFill>
                    <a:latin typeface="Times New Roman" panose="02020603050405020304" pitchFamily="18" charset="0"/>
                    <a:cs typeface="Times New Roman" panose="02020603050405020304" pitchFamily="18" charset="0"/>
                  </a:rPr>
                  <a:t>Answer:</a:t>
                </a:r>
                <a:endParaRPr lang="en-US" sz="2800" i="1" dirty="0">
                  <a:solidFill>
                    <a:srgbClr val="FF0000"/>
                  </a:solidFill>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Required delay = 2 s = 2000000 </a:t>
                </a:r>
                <a:r>
                  <a:rPr lang="en-US" sz="2800" dirty="0" err="1">
                    <a:latin typeface="Symbol" panose="05050102010706020507" pitchFamily="18" charset="2"/>
                    <a:cs typeface="Times New Roman" panose="02020603050405020304" pitchFamily="18" charset="0"/>
                  </a:rPr>
                  <a:t>m</a:t>
                </a:r>
                <a:r>
                  <a:rPr lang="en-US" sz="2800" dirty="0" err="1">
                    <a:latin typeface="Times New Roman" panose="02020603050405020304" pitchFamily="18" charset="0"/>
                    <a:cs typeface="Times New Roman" panose="02020603050405020304" pitchFamily="18" charset="0"/>
                  </a:rPr>
                  <a:t>s</a:t>
                </a:r>
                <a:r>
                  <a:rPr lang="en-US" sz="2800" dirty="0">
                    <a:latin typeface="Times New Roman" panose="02020603050405020304" pitchFamily="18" charset="0"/>
                    <a:cs typeface="Times New Roman" panose="02020603050405020304" pitchFamily="18" charset="0"/>
                  </a:rPr>
                  <a:t>; Given system frequency = 16 MHz</a:t>
                </a:r>
                <a:endParaRPr lang="en-US" sz="2800" i="1"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So, clock period = 1/frequency = 1/16 MHz = 0.0625 </a:t>
                </a:r>
                <a:r>
                  <a:rPr lang="en-US" sz="2800" dirty="0" err="1">
                    <a:latin typeface="Symbol" panose="05050102010706020507" pitchFamily="18" charset="2"/>
                    <a:cs typeface="Times New Roman" panose="02020603050405020304" pitchFamily="18" charset="0"/>
                  </a:rPr>
                  <a:t>m</a:t>
                </a:r>
                <a:r>
                  <a:rPr lang="en-US" sz="2800" dirty="0" err="1">
                    <a:latin typeface="Times New Roman" panose="02020603050405020304" pitchFamily="18" charset="0"/>
                    <a:cs typeface="Times New Roman" panose="02020603050405020304" pitchFamily="18" charset="0"/>
                  </a:rPr>
                  <a:t>s</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As such, </a:t>
                </a:r>
              </a:p>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cs typeface="Arial" panose="020B0604020202020204" pitchFamily="34" charset="0"/>
                        </a:rPr>
                        <m:t>𝑇𝑖𝑚𝑒𝑟</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𝑐𝑜𝑢𝑛𝑡</m:t>
                      </m:r>
                      <m:r>
                        <a:rPr lang="en-US" sz="2800" i="1">
                          <a:latin typeface="Cambria Math" panose="02040503050406030204" pitchFamily="18" charset="0"/>
                          <a:cs typeface="Arial" panose="020B0604020202020204" pitchFamily="34" charset="0"/>
                        </a:rPr>
                        <m:t>=</m:t>
                      </m:r>
                      <m:f>
                        <m:fPr>
                          <m:ctrlPr>
                            <a:rPr lang="en-US" sz="2800" i="1">
                              <a:latin typeface="Cambria Math" panose="02040503050406030204" pitchFamily="18" charset="0"/>
                              <a:cs typeface="Arial" panose="020B0604020202020204" pitchFamily="34" charset="0"/>
                            </a:rPr>
                          </m:ctrlPr>
                        </m:fPr>
                        <m:num>
                          <m:r>
                            <a:rPr lang="en-US" sz="2800" i="1">
                              <a:latin typeface="Cambria Math" panose="02040503050406030204" pitchFamily="18" charset="0"/>
                              <a:cs typeface="Arial" panose="020B0604020202020204" pitchFamily="34" charset="0"/>
                            </a:rPr>
                            <m:t>𝑅𝑒𝑞𝑢𝑖𝑟𝑒𝑑</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𝑑𝑒𝑙𝑎𝑦</m:t>
                          </m:r>
                        </m:num>
                        <m:den>
                          <m:r>
                            <a:rPr lang="en-US" sz="2800" i="1">
                              <a:latin typeface="Cambria Math" panose="02040503050406030204" pitchFamily="18" charset="0"/>
                              <a:cs typeface="Arial" panose="020B0604020202020204" pitchFamily="34" charset="0"/>
                            </a:rPr>
                            <m:t>𝑝𝑟𝑒𝑠𝑐𝑎𝑙𝑎𝑟</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𝑝𝑠</m:t>
                          </m:r>
                          <m:r>
                            <a:rPr lang="en-US" sz="2800" i="1">
                              <a:latin typeface="Cambria Math" panose="02040503050406030204" pitchFamily="18" charset="0"/>
                              <a:cs typeface="Arial" panose="020B0604020202020204" pitchFamily="34" charset="0"/>
                            </a:rPr>
                            <m:t>)×</m:t>
                          </m:r>
                          <m:r>
                            <a:rPr lang="en-US" sz="2800" i="1">
                              <a:latin typeface="Cambria Math" panose="02040503050406030204" pitchFamily="18" charset="0"/>
                              <a:ea typeface="Cambria Math" panose="02040503050406030204" pitchFamily="18" charset="0"/>
                              <a:cs typeface="Arial" panose="020B0604020202020204" pitchFamily="34" charset="0"/>
                            </a:rPr>
                            <m:t>𝑇</m:t>
                          </m:r>
                        </m:den>
                      </m:f>
                      <m:r>
                        <a:rPr lang="en-US" sz="2800" i="1">
                          <a:latin typeface="Cambria Math" panose="02040503050406030204" pitchFamily="18" charset="0"/>
                          <a:cs typeface="Arial" panose="020B0604020202020204" pitchFamily="34" charset="0"/>
                        </a:rPr>
                        <m:t>−1=</m:t>
                      </m:r>
                      <m:f>
                        <m:fPr>
                          <m:ctrlPr>
                            <a:rPr lang="en-US" sz="2800" i="1">
                              <a:latin typeface="Cambria Math" panose="02040503050406030204" pitchFamily="18" charset="0"/>
                              <a:cs typeface="Arial" panose="020B0604020202020204" pitchFamily="34" charset="0"/>
                            </a:rPr>
                          </m:ctrlPr>
                        </m:fPr>
                        <m:num>
                          <m:r>
                            <m:rPr>
                              <m:nor/>
                            </m:rPr>
                            <a:rPr lang="en-US" sz="2800" dirty="0">
                              <a:latin typeface="Times New Roman" panose="02020603050405020304" pitchFamily="18" charset="0"/>
                              <a:cs typeface="Times New Roman" panose="02020603050405020304" pitchFamily="18" charset="0"/>
                            </a:rPr>
                            <m:t>2000000</m:t>
                          </m:r>
                        </m:num>
                        <m:den>
                          <m:r>
                            <a:rPr lang="en-US" sz="2800" i="1">
                              <a:latin typeface="Cambria Math" panose="02040503050406030204" pitchFamily="18" charset="0"/>
                              <a:cs typeface="Arial" panose="020B0604020202020204" pitchFamily="34" charset="0"/>
                            </a:rPr>
                            <m:t>256</m:t>
                          </m:r>
                          <m:r>
                            <a:rPr lang="en-US" sz="2800" i="1">
                              <a:latin typeface="Cambria Math" panose="02040503050406030204" pitchFamily="18" charset="0"/>
                              <a:ea typeface="Cambria Math" panose="02040503050406030204" pitchFamily="18" charset="0"/>
                              <a:cs typeface="Arial" panose="020B0604020202020204" pitchFamily="34" charset="0"/>
                            </a:rPr>
                            <m:t>×</m:t>
                          </m:r>
                          <m:r>
                            <m:rPr>
                              <m:nor/>
                            </m:rPr>
                            <a:rPr lang="en-US" sz="2800" dirty="0">
                              <a:latin typeface="Times New Roman" panose="02020603050405020304" pitchFamily="18" charset="0"/>
                              <a:cs typeface="Times New Roman" panose="02020603050405020304" pitchFamily="18" charset="0"/>
                            </a:rPr>
                            <m:t>0.0625</m:t>
                          </m:r>
                        </m:den>
                      </m:f>
                      <m:r>
                        <a:rPr lang="en-US" sz="2800" i="1">
                          <a:latin typeface="Cambria Math" panose="02040503050406030204" pitchFamily="18" charset="0"/>
                          <a:cs typeface="Arial" panose="020B0604020202020204" pitchFamily="34" charset="0"/>
                        </a:rPr>
                        <m:t>−1=1,24,999</m:t>
                      </m:r>
                    </m:oMath>
                  </m:oMathPara>
                </a14:m>
                <a:endParaRPr lang="en-US" sz="2800" dirty="0">
                  <a:latin typeface="Times New Roman" panose="02020603050405020304" pitchFamily="18" charset="0"/>
                  <a:cs typeface="Times New Roman" panose="02020603050405020304" pitchFamily="18" charset="0"/>
                </a:endParaRPr>
              </a:p>
            </p:txBody>
          </p:sp>
        </mc:Choice>
        <mc:Fallback xmlns="">
          <p:sp>
            <p:nvSpPr>
              <p:cNvPr id="22" name="TextBox 5">
                <a:extLst>
                  <a:ext uri="{FF2B5EF4-FFF2-40B4-BE49-F238E27FC236}">
                    <a16:creationId xmlns:a16="http://schemas.microsoft.com/office/drawing/2014/main" id="{7DE1085C-BFE9-2B3C-041F-267CB386ED53}"/>
                  </a:ext>
                </a:extLst>
              </p:cNvPr>
              <p:cNvSpPr txBox="1">
                <a:spLocks noRot="1" noChangeAspect="1" noMove="1" noResize="1" noEditPoints="1" noAdjustHandles="1" noChangeArrowheads="1" noChangeShapeType="1" noTextEdit="1"/>
              </p:cNvSpPr>
              <p:nvPr/>
            </p:nvSpPr>
            <p:spPr bwMode="auto">
              <a:xfrm>
                <a:off x="196402" y="705780"/>
                <a:ext cx="11807756" cy="5572679"/>
              </a:xfrm>
              <a:prstGeom prst="rect">
                <a:avLst/>
              </a:prstGeom>
              <a:blipFill>
                <a:blip r:embed="rId3"/>
                <a:stretch>
                  <a:fillRect l="-1033" t="-120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4" name="Title 1">
            <a:extLst>
              <a:ext uri="{FF2B5EF4-FFF2-40B4-BE49-F238E27FC236}">
                <a16:creationId xmlns:a16="http://schemas.microsoft.com/office/drawing/2014/main" id="{CD4C336D-B8E3-3823-0F44-604EAC62F907}"/>
              </a:ext>
            </a:extLst>
          </p:cNvPr>
          <p:cNvSpPr>
            <a:spLocks noGrp="1" noChangeArrowheads="1"/>
          </p:cNvSpPr>
          <p:nvPr>
            <p:ph type="title"/>
          </p:nvPr>
        </p:nvSpPr>
        <p:spPr>
          <a:xfrm>
            <a:off x="196402" y="165528"/>
            <a:ext cx="11089074" cy="591399"/>
          </a:xfrm>
        </p:spPr>
        <p:txBody>
          <a:bodyPr>
            <a:normAutofit fontScale="90000"/>
          </a:bodyPr>
          <a:lstStyle/>
          <a:p>
            <a:pPr defTabSz="383790">
              <a:defRPr/>
            </a:pPr>
            <a:r>
              <a:rPr lang="en-US" altLang="en-US" sz="3555" b="1" cap="none" dirty="0">
                <a:solidFill>
                  <a:srgbClr val="FF0000"/>
                </a:solidFill>
                <a:latin typeface="Arial" panose="020B0604020202020204" pitchFamily="34" charset="0"/>
                <a:cs typeface="Arial" panose="020B0604020202020204" pitchFamily="34" charset="0"/>
              </a:rPr>
              <a:t>Example 1:</a:t>
            </a:r>
          </a:p>
        </p:txBody>
      </p:sp>
    </p:spTree>
    <p:extLst>
      <p:ext uri="{BB962C8B-B14F-4D97-AF65-F5344CB8AC3E}">
        <p14:creationId xmlns:p14="http://schemas.microsoft.com/office/powerpoint/2010/main" val="256543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9C1F8-9A39-EC95-761C-DF9CA23B367C}"/>
            </a:ext>
          </a:extLst>
        </p:cNvPr>
        <p:cNvGrpSpPr/>
        <p:nvPr/>
      </p:nvGrpSpPr>
      <p:grpSpPr>
        <a:xfrm>
          <a:off x="0" y="0"/>
          <a:ext cx="0" cy="0"/>
          <a:chOff x="0" y="0"/>
          <a:chExt cx="0" cy="0"/>
        </a:xfrm>
      </p:grpSpPr>
      <p:sp>
        <p:nvSpPr>
          <p:cNvPr id="22" name="TextBox 5">
            <a:extLst>
              <a:ext uri="{FF2B5EF4-FFF2-40B4-BE49-F238E27FC236}">
                <a16:creationId xmlns:a16="http://schemas.microsoft.com/office/drawing/2014/main" id="{E9DC717D-B9CB-E31F-5DCE-F02F03F4F4EC}"/>
              </a:ext>
            </a:extLst>
          </p:cNvPr>
          <p:cNvSpPr txBox="1">
            <a:spLocks noChangeArrowheads="1"/>
          </p:cNvSpPr>
          <p:nvPr/>
        </p:nvSpPr>
        <p:spPr bwMode="auto">
          <a:xfrm>
            <a:off x="196403" y="816966"/>
            <a:ext cx="11807756"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2800" dirty="0">
                <a:latin typeface="Times New Roman" panose="02020603050405020304" pitchFamily="18" charset="0"/>
                <a:cs typeface="Times New Roman" panose="02020603050405020304" pitchFamily="18" charset="0"/>
              </a:rPr>
              <a:t>Timer 0 can count up to 255 and Timer 1 can count up to 65,535; so, neither Timer0 nor Timer1 of Arduino is suitable for this application, but with the use of a Timer Function Sub-Program that can generate 1 </a:t>
            </a:r>
            <a:r>
              <a:rPr lang="en-US" sz="2800" dirty="0" err="1">
                <a:latin typeface="Times New Roman" panose="02020603050405020304" pitchFamily="18" charset="0"/>
                <a:cs typeface="Times New Roman" panose="02020603050405020304" pitchFamily="18" charset="0"/>
              </a:rPr>
              <a:t>ms</a:t>
            </a:r>
            <a:r>
              <a:rPr lang="en-US" sz="2800" dirty="0">
                <a:latin typeface="Times New Roman" panose="02020603050405020304" pitchFamily="18" charset="0"/>
                <a:cs typeface="Times New Roman" panose="02020603050405020304" pitchFamily="18" charset="0"/>
              </a:rPr>
              <a:t> of delay upon each call of the function, any one timer may be used for 2 s time calculation. The timer will run in normal mode as such all values of the timer counter control registers (</a:t>
            </a:r>
            <a:r>
              <a:rPr lang="en-US" sz="2800" dirty="0" err="1">
                <a:latin typeface="Times New Roman" panose="02020603050405020304" pitchFamily="18" charset="0"/>
                <a:cs typeface="Times New Roman" panose="02020603050405020304" pitchFamily="18" charset="0"/>
              </a:rPr>
              <a:t>TCCRnx</a:t>
            </a:r>
            <a:r>
              <a:rPr lang="en-US" sz="2800" dirty="0">
                <a:latin typeface="Times New Roman" panose="02020603050405020304" pitchFamily="18" charset="0"/>
                <a:cs typeface="Times New Roman" panose="02020603050405020304" pitchFamily="18" charset="0"/>
              </a:rPr>
              <a:t>, here n = 0/1 and x = A/B) will be zero except for the clock select bits (CSn2:0) of the pre-scaler value of 256 in the TCCR0B or TCCR1B will be 100. If we use Timer0 then the register setup will be as follows:</a:t>
            </a:r>
            <a:endParaRPr lang="en-US" sz="2800" i="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32151C8-A5E7-2F2E-4D2C-4494C3D4110B}"/>
              </a:ext>
            </a:extLst>
          </p:cNvPr>
          <p:cNvSpPr>
            <a:spLocks noGrp="1" noChangeArrowheads="1"/>
          </p:cNvSpPr>
          <p:nvPr>
            <p:ph type="title"/>
          </p:nvPr>
        </p:nvSpPr>
        <p:spPr>
          <a:xfrm>
            <a:off x="196402" y="165528"/>
            <a:ext cx="11089074" cy="591399"/>
          </a:xfrm>
        </p:spPr>
        <p:txBody>
          <a:bodyPr>
            <a:normAutofit fontScale="90000"/>
          </a:bodyPr>
          <a:lstStyle/>
          <a:p>
            <a:pPr defTabSz="383790">
              <a:defRPr/>
            </a:pPr>
            <a:r>
              <a:rPr lang="en-US" altLang="en-US" sz="3555" b="1" cap="none" dirty="0">
                <a:solidFill>
                  <a:srgbClr val="FF0000"/>
                </a:solidFill>
                <a:latin typeface="Arial" panose="020B0604020202020204" pitchFamily="34" charset="0"/>
                <a:cs typeface="Arial" panose="020B0604020202020204" pitchFamily="34" charset="0"/>
              </a:rPr>
              <a:t>Example 1:</a:t>
            </a:r>
          </a:p>
        </p:txBody>
      </p:sp>
      <p:pic>
        <p:nvPicPr>
          <p:cNvPr id="5" name="Picture 4">
            <a:extLst>
              <a:ext uri="{FF2B5EF4-FFF2-40B4-BE49-F238E27FC236}">
                <a16:creationId xmlns:a16="http://schemas.microsoft.com/office/drawing/2014/main" id="{16FC6D94-9B6F-B903-265E-E6310AD5696D}"/>
              </a:ext>
            </a:extLst>
          </p:cNvPr>
          <p:cNvPicPr>
            <a:picLocks noChangeAspect="1"/>
          </p:cNvPicPr>
          <p:nvPr/>
        </p:nvPicPr>
        <p:blipFill>
          <a:blip r:embed="rId3"/>
          <a:stretch>
            <a:fillRect/>
          </a:stretch>
        </p:blipFill>
        <p:spPr>
          <a:xfrm>
            <a:off x="305358" y="4347323"/>
            <a:ext cx="6537369" cy="2199394"/>
          </a:xfrm>
          <a:prstGeom prst="rect">
            <a:avLst/>
          </a:prstGeom>
        </p:spPr>
      </p:pic>
    </p:spTree>
    <p:extLst>
      <p:ext uri="{BB962C8B-B14F-4D97-AF65-F5344CB8AC3E}">
        <p14:creationId xmlns:p14="http://schemas.microsoft.com/office/powerpoint/2010/main" val="316027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E1D22-FE54-E468-8D3C-1E6C82BC51DC}"/>
            </a:ext>
          </a:extLst>
        </p:cNvPr>
        <p:cNvGrpSpPr/>
        <p:nvPr/>
      </p:nvGrpSpPr>
      <p:grpSpPr>
        <a:xfrm>
          <a:off x="0" y="0"/>
          <a:ext cx="0" cy="0"/>
          <a:chOff x="0" y="0"/>
          <a:chExt cx="0" cy="0"/>
        </a:xfrm>
      </p:grpSpPr>
      <p:sp>
        <p:nvSpPr>
          <p:cNvPr id="22" name="TextBox 5">
            <a:extLst>
              <a:ext uri="{FF2B5EF4-FFF2-40B4-BE49-F238E27FC236}">
                <a16:creationId xmlns:a16="http://schemas.microsoft.com/office/drawing/2014/main" id="{CB90E127-640B-FA93-5FB8-D095F466E382}"/>
              </a:ext>
            </a:extLst>
          </p:cNvPr>
          <p:cNvSpPr txBox="1">
            <a:spLocks noChangeArrowheads="1"/>
          </p:cNvSpPr>
          <p:nvPr/>
        </p:nvSpPr>
        <p:spPr bwMode="auto">
          <a:xfrm>
            <a:off x="196402" y="756927"/>
            <a:ext cx="11807756" cy="10310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2000" dirty="0">
                <a:latin typeface="Times New Roman" panose="02020603050405020304" pitchFamily="18" charset="0"/>
                <a:cs typeface="Times New Roman" panose="02020603050405020304" pitchFamily="18" charset="0"/>
              </a:rPr>
              <a:t>Determine the outputs of the program and correct the program if there are any errors. Assume that a green color LED is connected to pin 5 and the Arduino frequency is 16 </a:t>
            </a:r>
            <a:r>
              <a:rPr lang="en-US" sz="2000" dirty="0" err="1">
                <a:latin typeface="Times New Roman" panose="02020603050405020304" pitchFamily="18" charset="0"/>
                <a:cs typeface="Times New Roman" panose="02020603050405020304" pitchFamily="18" charset="0"/>
              </a:rPr>
              <a:t>MHz.</a:t>
            </a:r>
            <a:r>
              <a:rPr lang="en-US" sz="2000" dirty="0">
                <a:latin typeface="Times New Roman" panose="02020603050405020304" pitchFamily="18" charset="0"/>
                <a:cs typeface="Times New Roman" panose="02020603050405020304" pitchFamily="18" charset="0"/>
              </a:rPr>
              <a:t> Compute the number of counts required for a 3 </a:t>
            </a:r>
            <a:r>
              <a:rPr lang="en-US" sz="2000" dirty="0" err="1">
                <a:latin typeface="Times New Roman" panose="02020603050405020304" pitchFamily="18" charset="0"/>
                <a:cs typeface="Times New Roman" panose="02020603050405020304" pitchFamily="18" charset="0"/>
              </a:rPr>
              <a:t>ms</a:t>
            </a:r>
            <a:r>
              <a:rPr lang="en-US" sz="2000" dirty="0">
                <a:latin typeface="Times New Roman" panose="02020603050405020304" pitchFamily="18" charset="0"/>
                <a:cs typeface="Times New Roman" panose="02020603050405020304" pitchFamily="18" charset="0"/>
              </a:rPr>
              <a:t> delay in each cycle for the given delay. Compute the number of times the </a:t>
            </a:r>
            <a:r>
              <a:rPr lang="en-US" sz="2000" dirty="0" err="1">
                <a:latin typeface="Times New Roman" panose="02020603050405020304" pitchFamily="18" charset="0"/>
                <a:cs typeface="Times New Roman" panose="02020603050405020304" pitchFamily="18" charset="0"/>
              </a:rPr>
              <a:t>while_true</a:t>
            </a:r>
            <a:r>
              <a:rPr lang="en-US" sz="2000" dirty="0">
                <a:latin typeface="Times New Roman" panose="02020603050405020304" pitchFamily="18" charset="0"/>
                <a:cs typeface="Times New Roman" panose="02020603050405020304" pitchFamily="18" charset="0"/>
              </a:rPr>
              <a:t> loop will run to execute the delays of LED ON/OFF times. Use a pre-scaler value of 1024.</a:t>
            </a:r>
          </a:p>
          <a:p>
            <a:endParaRPr lang="en-US" i="1" dirty="0"/>
          </a:p>
          <a:p>
            <a:r>
              <a:rPr lang="en-US" sz="1600" dirty="0"/>
              <a:t>#define YELLOW_PIN 10</a:t>
            </a:r>
            <a:endParaRPr lang="en-US" sz="1600" i="1" dirty="0"/>
          </a:p>
          <a:p>
            <a:r>
              <a:rPr lang="en-US" sz="1600" dirty="0"/>
              <a:t>int </a:t>
            </a:r>
            <a:r>
              <a:rPr lang="en-US" sz="1600" dirty="0" err="1"/>
              <a:t>green_on</a:t>
            </a:r>
            <a:r>
              <a:rPr lang="en-US" sz="1600" dirty="0"/>
              <a:t> = 5000; // delay is given in </a:t>
            </a:r>
            <a:r>
              <a:rPr lang="en-US" sz="1600" dirty="0" err="1"/>
              <a:t>ms</a:t>
            </a:r>
            <a:endParaRPr lang="en-US" sz="1600" i="1" dirty="0"/>
          </a:p>
          <a:p>
            <a:r>
              <a:rPr lang="en-US" sz="1600" dirty="0"/>
              <a:t>int </a:t>
            </a:r>
            <a:r>
              <a:rPr lang="en-US" sz="1600" dirty="0" err="1"/>
              <a:t>green_off</a:t>
            </a:r>
            <a:r>
              <a:rPr lang="en-US" sz="1600" dirty="0"/>
              <a:t> = 4000; // delay is given in </a:t>
            </a:r>
            <a:r>
              <a:rPr lang="en-US" sz="1600" dirty="0" err="1"/>
              <a:t>ms</a:t>
            </a:r>
            <a:endParaRPr lang="en-US" sz="1600" i="1" dirty="0"/>
          </a:p>
          <a:p>
            <a:r>
              <a:rPr lang="en-US" sz="1600" dirty="0"/>
              <a:t> </a:t>
            </a:r>
            <a:endParaRPr lang="en-US" sz="1600" i="1" dirty="0"/>
          </a:p>
          <a:p>
            <a:r>
              <a:rPr lang="en-US" sz="1600" dirty="0"/>
              <a:t>int </a:t>
            </a:r>
            <a:r>
              <a:rPr lang="en-US" sz="1600" dirty="0" err="1"/>
              <a:t>delay_timer</a:t>
            </a:r>
            <a:r>
              <a:rPr lang="en-US" sz="1600" dirty="0"/>
              <a:t> (int milliseconds){</a:t>
            </a:r>
            <a:endParaRPr lang="en-US" sz="1600" i="1" dirty="0"/>
          </a:p>
          <a:p>
            <a:r>
              <a:rPr lang="en-US" sz="1600" dirty="0"/>
              <a:t>  int count = 0;</a:t>
            </a:r>
            <a:endParaRPr lang="en-US" sz="1600" i="1" dirty="0"/>
          </a:p>
          <a:p>
            <a:r>
              <a:rPr lang="en-US" sz="1600" dirty="0"/>
              <a:t>  while(1) {</a:t>
            </a:r>
            <a:endParaRPr lang="en-US" sz="1600" i="1" dirty="0"/>
          </a:p>
          <a:p>
            <a:r>
              <a:rPr lang="en-US" sz="1600" dirty="0"/>
              <a:t>    if(TCNT1 &gt;= _____) {</a:t>
            </a:r>
            <a:endParaRPr lang="en-US" sz="1600" i="1" dirty="0"/>
          </a:p>
          <a:p>
            <a:r>
              <a:rPr lang="en-US" sz="1600" dirty="0"/>
              <a:t>        TCNT1=0;</a:t>
            </a:r>
            <a:endParaRPr lang="en-US" sz="1600" i="1" dirty="0"/>
          </a:p>
          <a:p>
            <a:r>
              <a:rPr lang="en-US" sz="1600" dirty="0"/>
              <a:t>        count++; </a:t>
            </a:r>
            <a:endParaRPr lang="en-US" sz="1600" i="1" dirty="0"/>
          </a:p>
          <a:p>
            <a:r>
              <a:rPr lang="en-US" sz="1600" dirty="0"/>
              <a:t>        if (count == milliseconds) {</a:t>
            </a:r>
            <a:endParaRPr lang="en-US" sz="1600" i="1" dirty="0"/>
          </a:p>
          <a:p>
            <a:r>
              <a:rPr lang="en-US" sz="1600" dirty="0"/>
              <a:t>            count=0;</a:t>
            </a:r>
            <a:endParaRPr lang="en-US" sz="1600" i="1" dirty="0"/>
          </a:p>
          <a:p>
            <a:r>
              <a:rPr lang="en-US" sz="1600" dirty="0"/>
              <a:t>            break; }</a:t>
            </a:r>
            <a:endParaRPr lang="en-US" sz="1600" i="1" dirty="0"/>
          </a:p>
          <a:p>
            <a:r>
              <a:rPr lang="en-US" sz="1600" dirty="0"/>
              <a:t>      }</a:t>
            </a:r>
            <a:endParaRPr lang="en-US" sz="1600" i="1" dirty="0"/>
          </a:p>
          <a:p>
            <a:r>
              <a:rPr lang="en-US" sz="1600" dirty="0"/>
              <a:t>  }</a:t>
            </a:r>
            <a:endParaRPr lang="en-US" sz="1600" i="1" dirty="0"/>
          </a:p>
          <a:p>
            <a:r>
              <a:rPr lang="en-US" sz="1600" dirty="0"/>
              <a:t>  return 0;</a:t>
            </a:r>
            <a:endParaRPr lang="en-US" sz="1600" i="1" dirty="0"/>
          </a:p>
          <a:p>
            <a:r>
              <a:rPr lang="en-US" sz="1600" dirty="0"/>
              <a:t>}</a:t>
            </a:r>
            <a:endParaRPr lang="en-US" i="1" dirty="0"/>
          </a:p>
          <a:p>
            <a:r>
              <a:rPr lang="en-US" dirty="0"/>
              <a:t> </a:t>
            </a:r>
            <a:endParaRPr lang="en-US" i="1" dirty="0"/>
          </a:p>
          <a:p>
            <a:r>
              <a:rPr lang="en-US" dirty="0"/>
              <a:t> </a:t>
            </a:r>
            <a:endParaRPr lang="en-US" i="1" dirty="0"/>
          </a:p>
          <a:p>
            <a:r>
              <a:rPr lang="en-US" dirty="0"/>
              <a:t>void loop() {</a:t>
            </a:r>
            <a:endParaRPr lang="en-US" i="1" dirty="0"/>
          </a:p>
          <a:p>
            <a:r>
              <a:rPr lang="en-US" dirty="0"/>
              <a:t>    </a:t>
            </a:r>
            <a:r>
              <a:rPr lang="en-US" dirty="0" err="1"/>
              <a:t>pinMode</a:t>
            </a:r>
            <a:r>
              <a:rPr lang="en-US" dirty="0"/>
              <a:t>(GREEN_PIN, INPUT); </a:t>
            </a:r>
            <a:endParaRPr lang="en-US" i="1" dirty="0"/>
          </a:p>
          <a:p>
            <a:r>
              <a:rPr lang="en-US" dirty="0"/>
              <a:t>    TCCR0A = 0b00000000;</a:t>
            </a:r>
            <a:endParaRPr lang="en-US" i="1" dirty="0"/>
          </a:p>
          <a:p>
            <a:r>
              <a:rPr lang="en-US" dirty="0"/>
              <a:t>    TCCR0B = 0b00000100;</a:t>
            </a:r>
            <a:endParaRPr lang="en-US" i="1" dirty="0"/>
          </a:p>
          <a:p>
            <a:r>
              <a:rPr lang="en-US" dirty="0"/>
              <a:t>    TCNT1 = 0x0000;</a:t>
            </a:r>
            <a:endParaRPr lang="en-US" i="1" dirty="0"/>
          </a:p>
          <a:p>
            <a:r>
              <a:rPr lang="en-US" dirty="0"/>
              <a:t>}</a:t>
            </a:r>
            <a:endParaRPr lang="en-US" i="1" dirty="0"/>
          </a:p>
          <a:p>
            <a:r>
              <a:rPr lang="en-US" dirty="0"/>
              <a:t> </a:t>
            </a:r>
            <a:endParaRPr lang="en-US" i="1" dirty="0"/>
          </a:p>
          <a:p>
            <a:r>
              <a:rPr lang="en-US" dirty="0"/>
              <a:t>void loop() {</a:t>
            </a:r>
            <a:endParaRPr lang="en-US" i="1" dirty="0"/>
          </a:p>
          <a:p>
            <a:r>
              <a:rPr lang="en-US" dirty="0"/>
              <a:t>    </a:t>
            </a:r>
            <a:r>
              <a:rPr lang="en-US" dirty="0" err="1"/>
              <a:t>digitalWrite</a:t>
            </a:r>
            <a:r>
              <a:rPr lang="en-US" dirty="0"/>
              <a:t>(BLUE_PIN, HIGH);   </a:t>
            </a:r>
            <a:endParaRPr lang="en-US" i="1" dirty="0"/>
          </a:p>
          <a:p>
            <a:r>
              <a:rPr lang="en-US" dirty="0"/>
              <a:t>delay(</a:t>
            </a:r>
            <a:r>
              <a:rPr lang="en-US" dirty="0" err="1"/>
              <a:t>green_on</a:t>
            </a:r>
            <a:r>
              <a:rPr lang="en-US" dirty="0"/>
              <a:t>); </a:t>
            </a:r>
            <a:endParaRPr lang="en-US" i="1" dirty="0"/>
          </a:p>
          <a:p>
            <a:r>
              <a:rPr lang="en-US" dirty="0"/>
              <a:t>   </a:t>
            </a:r>
            <a:endParaRPr lang="en-US" i="1" dirty="0"/>
          </a:p>
          <a:p>
            <a:r>
              <a:rPr lang="en-US" dirty="0"/>
              <a:t>    </a:t>
            </a:r>
            <a:r>
              <a:rPr lang="en-US" dirty="0" err="1"/>
              <a:t>digitalRead</a:t>
            </a:r>
            <a:r>
              <a:rPr lang="en-US" dirty="0"/>
              <a:t>(GREEN_PIN, LOW);</a:t>
            </a:r>
            <a:endParaRPr lang="en-US" i="1" dirty="0"/>
          </a:p>
          <a:p>
            <a:r>
              <a:rPr lang="en-US" dirty="0"/>
              <a:t>    </a:t>
            </a:r>
            <a:r>
              <a:rPr lang="en-US" dirty="0" err="1"/>
              <a:t>delay_timer</a:t>
            </a:r>
            <a:r>
              <a:rPr lang="en-US" dirty="0"/>
              <a:t>(</a:t>
            </a:r>
            <a:r>
              <a:rPr lang="en-US" dirty="0" err="1"/>
              <a:t>blue_off</a:t>
            </a:r>
            <a:r>
              <a:rPr lang="en-US" dirty="0"/>
              <a:t>); </a:t>
            </a:r>
            <a:endParaRPr lang="en-US" i="1" dirty="0"/>
          </a:p>
          <a:p>
            <a:endParaRPr lang="en-US" i="1" dirty="0"/>
          </a:p>
        </p:txBody>
      </p:sp>
      <p:sp>
        <p:nvSpPr>
          <p:cNvPr id="4" name="Title 1">
            <a:extLst>
              <a:ext uri="{FF2B5EF4-FFF2-40B4-BE49-F238E27FC236}">
                <a16:creationId xmlns:a16="http://schemas.microsoft.com/office/drawing/2014/main" id="{ED4F3874-5441-E4D3-4E34-8DFD0F74924B}"/>
              </a:ext>
            </a:extLst>
          </p:cNvPr>
          <p:cNvSpPr>
            <a:spLocks noGrp="1" noChangeArrowheads="1"/>
          </p:cNvSpPr>
          <p:nvPr>
            <p:ph type="title"/>
          </p:nvPr>
        </p:nvSpPr>
        <p:spPr>
          <a:xfrm>
            <a:off x="196402" y="165528"/>
            <a:ext cx="11089074" cy="591399"/>
          </a:xfrm>
        </p:spPr>
        <p:txBody>
          <a:bodyPr>
            <a:normAutofit fontScale="90000"/>
          </a:bodyPr>
          <a:lstStyle/>
          <a:p>
            <a:pPr defTabSz="383790">
              <a:defRPr/>
            </a:pPr>
            <a:r>
              <a:rPr lang="en-US" altLang="en-US" sz="3555" b="1" cap="none" dirty="0">
                <a:solidFill>
                  <a:srgbClr val="FF0000"/>
                </a:solidFill>
                <a:latin typeface="Arial" panose="020B0604020202020204" pitchFamily="34" charset="0"/>
                <a:cs typeface="Arial" panose="020B0604020202020204" pitchFamily="34" charset="0"/>
              </a:rPr>
              <a:t>Example 2:</a:t>
            </a:r>
          </a:p>
        </p:txBody>
      </p:sp>
      <p:sp>
        <p:nvSpPr>
          <p:cNvPr id="3" name="TextBox 2">
            <a:extLst>
              <a:ext uri="{FF2B5EF4-FFF2-40B4-BE49-F238E27FC236}">
                <a16:creationId xmlns:a16="http://schemas.microsoft.com/office/drawing/2014/main" id="{BD93AE58-DCC3-69D1-8C4D-B95FC85EE7A4}"/>
              </a:ext>
            </a:extLst>
          </p:cNvPr>
          <p:cNvSpPr txBox="1"/>
          <p:nvPr/>
        </p:nvSpPr>
        <p:spPr>
          <a:xfrm>
            <a:off x="8749749" y="4358747"/>
            <a:ext cx="3318211" cy="646331"/>
          </a:xfrm>
          <a:prstGeom prst="rect">
            <a:avLst/>
          </a:prstGeom>
          <a:noFill/>
        </p:spPr>
        <p:txBody>
          <a:bodyPr wrap="square">
            <a:spAutoFit/>
          </a:bodyPr>
          <a:lstStyle/>
          <a:p>
            <a:pPr algn="ctr"/>
            <a:r>
              <a:rPr lang="en-US" dirty="0" err="1"/>
              <a:t>Prescaler</a:t>
            </a:r>
            <a:r>
              <a:rPr lang="en-US" dirty="0"/>
              <a:t> values and corresponding register contents.</a:t>
            </a:r>
            <a:endParaRPr lang="en-US" i="1" dirty="0"/>
          </a:p>
        </p:txBody>
      </p:sp>
      <p:graphicFrame>
        <p:nvGraphicFramePr>
          <p:cNvPr id="12" name="Table 11">
            <a:extLst>
              <a:ext uri="{FF2B5EF4-FFF2-40B4-BE49-F238E27FC236}">
                <a16:creationId xmlns:a16="http://schemas.microsoft.com/office/drawing/2014/main" id="{90DEBC07-023E-C163-897E-6C1B012F6A5C}"/>
              </a:ext>
            </a:extLst>
          </p:cNvPr>
          <p:cNvGraphicFramePr>
            <a:graphicFrameLocks noGrp="1"/>
          </p:cNvGraphicFramePr>
          <p:nvPr>
            <p:extLst>
              <p:ext uri="{D42A27DB-BD31-4B8C-83A1-F6EECF244321}">
                <p14:modId xmlns:p14="http://schemas.microsoft.com/office/powerpoint/2010/main" val="157359664"/>
              </p:ext>
            </p:extLst>
          </p:nvPr>
        </p:nvGraphicFramePr>
        <p:xfrm>
          <a:off x="8846087" y="5083677"/>
          <a:ext cx="3221873" cy="1463040"/>
        </p:xfrm>
        <a:graphic>
          <a:graphicData uri="http://schemas.openxmlformats.org/drawingml/2006/table">
            <a:tbl>
              <a:tblPr firstRow="1" firstCol="1" bandRow="1">
                <a:tableStyleId>{F5AB1C69-6EDB-4FF4-983F-18BD219EF322}</a:tableStyleId>
              </a:tblPr>
              <a:tblGrid>
                <a:gridCol w="731278">
                  <a:extLst>
                    <a:ext uri="{9D8B030D-6E8A-4147-A177-3AD203B41FA5}">
                      <a16:colId xmlns:a16="http://schemas.microsoft.com/office/drawing/2014/main" val="1424093759"/>
                    </a:ext>
                  </a:extLst>
                </a:gridCol>
                <a:gridCol w="731278">
                  <a:extLst>
                    <a:ext uri="{9D8B030D-6E8A-4147-A177-3AD203B41FA5}">
                      <a16:colId xmlns:a16="http://schemas.microsoft.com/office/drawing/2014/main" val="3206777813"/>
                    </a:ext>
                  </a:extLst>
                </a:gridCol>
                <a:gridCol w="731278">
                  <a:extLst>
                    <a:ext uri="{9D8B030D-6E8A-4147-A177-3AD203B41FA5}">
                      <a16:colId xmlns:a16="http://schemas.microsoft.com/office/drawing/2014/main" val="2850118542"/>
                    </a:ext>
                  </a:extLst>
                </a:gridCol>
                <a:gridCol w="1028039">
                  <a:extLst>
                    <a:ext uri="{9D8B030D-6E8A-4147-A177-3AD203B41FA5}">
                      <a16:colId xmlns:a16="http://schemas.microsoft.com/office/drawing/2014/main" val="1251787807"/>
                    </a:ext>
                  </a:extLst>
                </a:gridCol>
              </a:tblGrid>
              <a:tr h="137160">
                <a:tc>
                  <a:txBody>
                    <a:bodyPr/>
                    <a:lstStyle/>
                    <a:p>
                      <a:pPr marL="0" marR="0" algn="ctr">
                        <a:buNone/>
                        <a:tabLst>
                          <a:tab pos="3429000" algn="ctr"/>
                          <a:tab pos="6191250" algn="l"/>
                        </a:tabLst>
                      </a:pPr>
                      <a:r>
                        <a:rPr lang="en-US" sz="1600">
                          <a:effectLst/>
                        </a:rPr>
                        <a:t>CSx2</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CSx1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CSx0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Prescaler</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1807967804"/>
                  </a:ext>
                </a:extLst>
              </a:tr>
              <a:tr h="137160">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dirty="0">
                          <a:effectLst/>
                        </a:rPr>
                        <a:t>1</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3408917095"/>
                  </a:ext>
                </a:extLst>
              </a:tr>
              <a:tr h="137160">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8</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360901093"/>
                  </a:ext>
                </a:extLst>
              </a:tr>
              <a:tr h="137160">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dirty="0">
                          <a:effectLst/>
                        </a:rPr>
                        <a:t>64</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2193117473"/>
                  </a:ext>
                </a:extLst>
              </a:tr>
              <a:tr h="137160">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256</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3508462183"/>
                  </a:ext>
                </a:extLst>
              </a:tr>
              <a:tr h="147955">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dirty="0">
                          <a:effectLst/>
                        </a:rPr>
                        <a:t>1024</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2924910951"/>
                  </a:ext>
                </a:extLst>
              </a:tr>
            </a:tbl>
          </a:graphicData>
        </a:graphic>
      </p:graphicFrame>
      <p:sp>
        <p:nvSpPr>
          <p:cNvPr id="9" name="TextBox 5">
            <a:extLst>
              <a:ext uri="{FF2B5EF4-FFF2-40B4-BE49-F238E27FC236}">
                <a16:creationId xmlns:a16="http://schemas.microsoft.com/office/drawing/2014/main" id="{25F77072-AAB2-17C7-4FC1-F90767D4C52F}"/>
              </a:ext>
            </a:extLst>
          </p:cNvPr>
          <p:cNvSpPr txBox="1">
            <a:spLocks noChangeArrowheads="1"/>
          </p:cNvSpPr>
          <p:nvPr/>
        </p:nvSpPr>
        <p:spPr bwMode="auto">
          <a:xfrm>
            <a:off x="4954498" y="2217874"/>
            <a:ext cx="3802507" cy="329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1600" dirty="0"/>
              <a:t>void loop() {</a:t>
            </a:r>
            <a:endParaRPr lang="en-US" sz="1600" i="1" dirty="0"/>
          </a:p>
          <a:p>
            <a:r>
              <a:rPr lang="en-US" sz="1600" dirty="0"/>
              <a:t>    </a:t>
            </a:r>
            <a:r>
              <a:rPr lang="en-US" sz="1600" dirty="0" err="1"/>
              <a:t>pinMode</a:t>
            </a:r>
            <a:r>
              <a:rPr lang="en-US" sz="1600" dirty="0"/>
              <a:t>(GREEN_PIN, INPUT); </a:t>
            </a:r>
            <a:endParaRPr lang="en-US" sz="1600" i="1" dirty="0"/>
          </a:p>
          <a:p>
            <a:r>
              <a:rPr lang="en-US" sz="1600" dirty="0"/>
              <a:t>    TCCR0A = 0b00000000;</a:t>
            </a:r>
            <a:endParaRPr lang="en-US" sz="1600" i="1" dirty="0"/>
          </a:p>
          <a:p>
            <a:r>
              <a:rPr lang="en-US" sz="1600" dirty="0"/>
              <a:t>    TCCR0B = 0b00000100;</a:t>
            </a:r>
            <a:endParaRPr lang="en-US" sz="1600" i="1" dirty="0"/>
          </a:p>
          <a:p>
            <a:r>
              <a:rPr lang="en-US" sz="1600" dirty="0"/>
              <a:t>    TCNT1 = 0x0000;</a:t>
            </a:r>
            <a:endParaRPr lang="en-US" sz="1600" i="1" dirty="0"/>
          </a:p>
          <a:p>
            <a:r>
              <a:rPr lang="en-US" sz="1600" dirty="0"/>
              <a:t>}</a:t>
            </a:r>
            <a:endParaRPr lang="en-US" sz="1600" i="1" dirty="0"/>
          </a:p>
          <a:p>
            <a:r>
              <a:rPr lang="en-US" sz="1600" dirty="0"/>
              <a:t> </a:t>
            </a:r>
            <a:endParaRPr lang="en-US" sz="1600" i="1" dirty="0"/>
          </a:p>
          <a:p>
            <a:r>
              <a:rPr lang="en-US" sz="1600" dirty="0"/>
              <a:t>void loop() {</a:t>
            </a:r>
            <a:endParaRPr lang="en-US" sz="1600" i="1" dirty="0"/>
          </a:p>
          <a:p>
            <a:r>
              <a:rPr lang="en-US" sz="1600" dirty="0"/>
              <a:t>    </a:t>
            </a:r>
            <a:r>
              <a:rPr lang="en-US" sz="1600" dirty="0" err="1"/>
              <a:t>digitalWrite</a:t>
            </a:r>
            <a:r>
              <a:rPr lang="en-US" sz="1600" dirty="0"/>
              <a:t>(BLUE_PIN, HIGH);   </a:t>
            </a:r>
            <a:endParaRPr lang="en-US" sz="1600" i="1" dirty="0"/>
          </a:p>
          <a:p>
            <a:r>
              <a:rPr lang="en-US" sz="1600" dirty="0"/>
              <a:t>    delay(</a:t>
            </a:r>
            <a:r>
              <a:rPr lang="en-US" sz="1600" dirty="0" err="1"/>
              <a:t>green_on</a:t>
            </a:r>
            <a:r>
              <a:rPr lang="en-US" sz="1600" dirty="0"/>
              <a:t>); </a:t>
            </a:r>
            <a:endParaRPr lang="en-US" sz="1600" i="1" dirty="0"/>
          </a:p>
          <a:p>
            <a:r>
              <a:rPr lang="en-US" sz="1600" dirty="0"/>
              <a:t>   </a:t>
            </a:r>
            <a:endParaRPr lang="en-US" sz="1600" i="1" dirty="0"/>
          </a:p>
          <a:p>
            <a:r>
              <a:rPr lang="en-US" sz="1600" dirty="0"/>
              <a:t>    </a:t>
            </a:r>
            <a:r>
              <a:rPr lang="en-US" sz="1600" dirty="0" err="1"/>
              <a:t>digitalRead</a:t>
            </a:r>
            <a:r>
              <a:rPr lang="en-US" sz="1600" dirty="0"/>
              <a:t>(GREEN_PIN, LOW);</a:t>
            </a:r>
            <a:endParaRPr lang="en-US" sz="1600" i="1" dirty="0"/>
          </a:p>
          <a:p>
            <a:r>
              <a:rPr lang="en-US" sz="1600" dirty="0"/>
              <a:t>    </a:t>
            </a:r>
            <a:r>
              <a:rPr lang="en-US" sz="1600" dirty="0" err="1"/>
              <a:t>delay_timer</a:t>
            </a:r>
            <a:r>
              <a:rPr lang="en-US" sz="1600" dirty="0"/>
              <a:t>(</a:t>
            </a:r>
            <a:r>
              <a:rPr lang="en-US" sz="1600" dirty="0" err="1"/>
              <a:t>blue_off</a:t>
            </a:r>
            <a:r>
              <a:rPr lang="en-US" sz="1600" dirty="0"/>
              <a:t>); </a:t>
            </a:r>
          </a:p>
        </p:txBody>
      </p:sp>
    </p:spTree>
    <p:extLst>
      <p:ext uri="{BB962C8B-B14F-4D97-AF65-F5344CB8AC3E}">
        <p14:creationId xmlns:p14="http://schemas.microsoft.com/office/powerpoint/2010/main" val="1335799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93CFF-DB9E-9625-AC53-3C79888EC1C8}"/>
            </a:ext>
          </a:extLst>
        </p:cNvPr>
        <p:cNvGrpSpPr/>
        <p:nvPr/>
      </p:nvGrpSpPr>
      <p:grpSpPr>
        <a:xfrm>
          <a:off x="0" y="0"/>
          <a:ext cx="0" cy="0"/>
          <a:chOff x="0" y="0"/>
          <a:chExt cx="0" cy="0"/>
        </a:xfrm>
      </p:grpSpPr>
      <p:sp>
        <p:nvSpPr>
          <p:cNvPr id="22" name="TextBox 5">
            <a:extLst>
              <a:ext uri="{FF2B5EF4-FFF2-40B4-BE49-F238E27FC236}">
                <a16:creationId xmlns:a16="http://schemas.microsoft.com/office/drawing/2014/main" id="{25F77072-AAB2-17C7-4FC1-F90767D4C52F}"/>
              </a:ext>
            </a:extLst>
          </p:cNvPr>
          <p:cNvSpPr txBox="1">
            <a:spLocks noChangeArrowheads="1"/>
          </p:cNvSpPr>
          <p:nvPr/>
        </p:nvSpPr>
        <p:spPr bwMode="auto">
          <a:xfrm>
            <a:off x="348802" y="946784"/>
            <a:ext cx="537629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altLang="en-US" b="1" dirty="0">
                <a:solidFill>
                  <a:srgbClr val="FF0000"/>
                </a:solidFill>
                <a:latin typeface="Arial" panose="020B0604020202020204" pitchFamily="34" charset="0"/>
                <a:cs typeface="Arial" panose="020B0604020202020204" pitchFamily="34" charset="0"/>
              </a:rPr>
              <a:t>Answer:</a:t>
            </a:r>
          </a:p>
          <a:p>
            <a:endParaRPr lang="en-US" altLang="en-US" b="1" dirty="0">
              <a:solidFill>
                <a:srgbClr val="FF0000"/>
              </a:solidFill>
              <a:latin typeface="Arial" panose="020B0604020202020204" pitchFamily="34" charset="0"/>
              <a:cs typeface="Arial" panose="020B0604020202020204" pitchFamily="34" charset="0"/>
            </a:endParaRPr>
          </a:p>
          <a:p>
            <a:r>
              <a:rPr lang="en-US" altLang="en-US" b="1" dirty="0">
                <a:solidFill>
                  <a:srgbClr val="FFFF00"/>
                </a:solidFill>
                <a:latin typeface="Arial" panose="020B0604020202020204" pitchFamily="34" charset="0"/>
                <a:cs typeface="Arial" panose="020B0604020202020204" pitchFamily="34" charset="0"/>
              </a:rPr>
              <a:t>Corrected Codes</a:t>
            </a:r>
            <a:endParaRPr lang="en-US" i="1" dirty="0">
              <a:solidFill>
                <a:srgbClr val="FFFF00"/>
              </a:solidFill>
            </a:endParaRPr>
          </a:p>
        </p:txBody>
      </p:sp>
      <p:pic>
        <p:nvPicPr>
          <p:cNvPr id="14" name="Picture 13">
            <a:extLst>
              <a:ext uri="{FF2B5EF4-FFF2-40B4-BE49-F238E27FC236}">
                <a16:creationId xmlns:a16="http://schemas.microsoft.com/office/drawing/2014/main" id="{5E2A2E3C-E313-CD5D-CC5C-AE4DE9F730EA}"/>
              </a:ext>
            </a:extLst>
          </p:cNvPr>
          <p:cNvPicPr>
            <a:picLocks noChangeAspect="1"/>
          </p:cNvPicPr>
          <p:nvPr/>
        </p:nvPicPr>
        <p:blipFill>
          <a:blip r:embed="rId3" cstate="email">
            <a:extLst>
              <a:ext uri="{28A0092B-C50C-407E-A947-70E740481C1C}">
                <a14:useLocalDpi xmlns:a14="http://schemas.microsoft.com/office/drawing/2010/main"/>
              </a:ext>
            </a:extLst>
          </a:blip>
          <a:srcRect r="23308" b="7846"/>
          <a:stretch/>
        </p:blipFill>
        <p:spPr>
          <a:xfrm>
            <a:off x="348802" y="1907571"/>
            <a:ext cx="6314389" cy="3515034"/>
          </a:xfrm>
          <a:prstGeom prst="rect">
            <a:avLst/>
          </a:prstGeom>
        </p:spPr>
      </p:pic>
      <p:sp>
        <p:nvSpPr>
          <p:cNvPr id="17" name="Title 1">
            <a:extLst>
              <a:ext uri="{FF2B5EF4-FFF2-40B4-BE49-F238E27FC236}">
                <a16:creationId xmlns:a16="http://schemas.microsoft.com/office/drawing/2014/main" id="{D0D9E201-DA5B-B4F6-DB7E-E8A71C105041}"/>
              </a:ext>
            </a:extLst>
          </p:cNvPr>
          <p:cNvSpPr txBox="1">
            <a:spLocks noChangeArrowheads="1"/>
          </p:cNvSpPr>
          <p:nvPr/>
        </p:nvSpPr>
        <p:spPr bwMode="white">
          <a:xfrm>
            <a:off x="348802" y="317928"/>
            <a:ext cx="11089074" cy="591399"/>
          </a:xfrm>
          <a:prstGeom prst="rect">
            <a:avLst/>
          </a:prstGeom>
          <a:effectLst/>
        </p:spPr>
        <p:txBody>
          <a:bodyPr vert="horz" lIns="91440" tIns="45720" rIns="91440" bIns="45720" rtlCol="0" anchor="ctr" anchorCtr="0">
            <a:normAutofit fontScale="97500" lnSpcReduction="10000"/>
          </a:bodyPr>
          <a:lstStyle>
            <a:lvl1pPr algn="l" defTabSz="457200" rtl="0" eaLnBrk="1" latinLnBrk="0" hangingPunct="1">
              <a:spcBef>
                <a:spcPct val="0"/>
              </a:spcBef>
              <a:buNone/>
              <a:defRPr sz="30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defTabSz="383790">
              <a:defRPr/>
            </a:pPr>
            <a:r>
              <a:rPr lang="en-US" altLang="en-US" sz="3555" b="1" cap="none">
                <a:solidFill>
                  <a:srgbClr val="FF0000"/>
                </a:solidFill>
                <a:latin typeface="Arial" panose="020B0604020202020204" pitchFamily="34" charset="0"/>
                <a:cs typeface="Arial" panose="020B0604020202020204" pitchFamily="34" charset="0"/>
              </a:rPr>
              <a:t>Example 2:</a:t>
            </a:r>
            <a:endParaRPr lang="en-US" altLang="en-US" sz="3555" b="1" cap="none" dirty="0">
              <a:solidFill>
                <a:srgbClr val="FF0000"/>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F2011BBA-F8C5-8469-6583-643DF9BA8FC0}"/>
              </a:ext>
            </a:extLst>
          </p:cNvPr>
          <p:cNvPicPr>
            <a:picLocks noChangeAspect="1"/>
          </p:cNvPicPr>
          <p:nvPr/>
        </p:nvPicPr>
        <p:blipFill>
          <a:blip r:embed="rId4"/>
          <a:stretch>
            <a:fillRect/>
          </a:stretch>
        </p:blipFill>
        <p:spPr>
          <a:xfrm>
            <a:off x="6771519" y="3807892"/>
            <a:ext cx="5420481" cy="3229426"/>
          </a:xfrm>
          <a:prstGeom prst="rect">
            <a:avLst/>
          </a:prstGeom>
        </p:spPr>
      </p:pic>
    </p:spTree>
    <p:extLst>
      <p:ext uri="{BB962C8B-B14F-4D97-AF65-F5344CB8AC3E}">
        <p14:creationId xmlns:p14="http://schemas.microsoft.com/office/powerpoint/2010/main" val="3091202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0B973-4B5D-F75F-1A7A-BBBEE686CF2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2" name="TextBox 5">
                <a:extLst>
                  <a:ext uri="{FF2B5EF4-FFF2-40B4-BE49-F238E27FC236}">
                    <a16:creationId xmlns:a16="http://schemas.microsoft.com/office/drawing/2014/main" id="{95B4C035-70C7-5C12-B034-2000595949C6}"/>
                  </a:ext>
                </a:extLst>
              </p:cNvPr>
              <p:cNvSpPr txBox="1">
                <a:spLocks noChangeArrowheads="1"/>
              </p:cNvSpPr>
              <p:nvPr/>
            </p:nvSpPr>
            <p:spPr bwMode="auto">
              <a:xfrm>
                <a:off x="196403" y="816966"/>
                <a:ext cx="11799195" cy="562961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2400" dirty="0">
                    <a:latin typeface="Times New Roman" panose="02020603050405020304" pitchFamily="18" charset="0"/>
                    <a:cs typeface="Times New Roman" panose="02020603050405020304" pitchFamily="18" charset="0"/>
                  </a:rPr>
                  <a:t>The output of the program is: A green LED connected to pin 5 will be turned ON for 5 s and OFF for 4 s and this ON-OFF status will be repeated indefinitely after correcting the program (shown in the program above with the wrong parts stroked through in red color) until the microcontroller’s power is turned OFF.</a:t>
                </a:r>
                <a:endParaRPr lang="en-US" sz="2400" i="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US" sz="1600" i="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Given system frequency = 16 MHz; So, clock period = 1/frequency = 1/16 MHz = 0.0625 </a:t>
                </a:r>
                <a:r>
                  <a:rPr lang="en-US" sz="2400" dirty="0" err="1">
                    <a:latin typeface="Symbol" panose="05050102010706020507" pitchFamily="18" charset="2"/>
                    <a:cs typeface="Times New Roman" panose="02020603050405020304" pitchFamily="18" charset="0"/>
                  </a:rPr>
                  <a:t>m</a:t>
                </a:r>
                <a:r>
                  <a:rPr lang="en-US" sz="2400" dirty="0" err="1">
                    <a:latin typeface="Times New Roman" panose="02020603050405020304" pitchFamily="18" charset="0"/>
                    <a:cs typeface="Times New Roman" panose="02020603050405020304" pitchFamily="18" charset="0"/>
                  </a:rPr>
                  <a:t>s</a:t>
                </a:r>
                <a:endParaRPr lang="en-US" sz="2400" i="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Required delay = 3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 = 3000 </a:t>
                </a:r>
                <a:r>
                  <a:rPr lang="en-US" sz="2400" dirty="0" err="1">
                    <a:latin typeface="Symbol" panose="05050102010706020507" pitchFamily="18" charset="2"/>
                    <a:cs typeface="Times New Roman" panose="02020603050405020304" pitchFamily="18" charset="0"/>
                  </a:rPr>
                  <a:t>m</a:t>
                </a:r>
                <a:r>
                  <a:rPr lang="en-US" sz="2400" dirty="0" err="1">
                    <a:latin typeface="Times New Roman" panose="02020603050405020304" pitchFamily="18" charset="0"/>
                    <a:cs typeface="Times New Roman" panose="02020603050405020304" pitchFamily="18" charset="0"/>
                  </a:rPr>
                  <a:t>s</a:t>
                </a:r>
                <a:endParaRPr lang="en-US" sz="2400" i="1"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cs typeface="Arial" panose="020B0604020202020204" pitchFamily="34" charset="0"/>
                        </a:rPr>
                        <m:t>𝑇𝑖𝑚𝑒𝑟</m:t>
                      </m:r>
                      <m:r>
                        <a:rPr lang="en-US" sz="2400" i="1">
                          <a:latin typeface="Cambria Math" panose="02040503050406030204" pitchFamily="18" charset="0"/>
                          <a:cs typeface="Arial" panose="020B0604020202020204" pitchFamily="34" charset="0"/>
                        </a:rPr>
                        <m:t> </m:t>
                      </m:r>
                      <m:r>
                        <a:rPr lang="en-US" sz="2400" i="1">
                          <a:latin typeface="Cambria Math" panose="02040503050406030204" pitchFamily="18" charset="0"/>
                          <a:cs typeface="Arial" panose="020B0604020202020204" pitchFamily="34" charset="0"/>
                        </a:rPr>
                        <m:t>𝑐𝑜𝑢𝑛𝑡</m:t>
                      </m:r>
                      <m:r>
                        <a:rPr lang="en-US" sz="2400" i="1">
                          <a:latin typeface="Cambria Math" panose="02040503050406030204" pitchFamily="18" charset="0"/>
                          <a:cs typeface="Arial" panose="020B0604020202020204" pitchFamily="34" charset="0"/>
                        </a:rPr>
                        <m:t>=</m:t>
                      </m:r>
                      <m:f>
                        <m:fPr>
                          <m:ctrlPr>
                            <a:rPr lang="en-US" sz="2400" i="1">
                              <a:latin typeface="Cambria Math" panose="02040503050406030204" pitchFamily="18" charset="0"/>
                              <a:cs typeface="Arial" panose="020B0604020202020204" pitchFamily="34" charset="0"/>
                            </a:rPr>
                          </m:ctrlPr>
                        </m:fPr>
                        <m:num>
                          <m:r>
                            <a:rPr lang="en-US" sz="2400" i="1">
                              <a:latin typeface="Cambria Math" panose="02040503050406030204" pitchFamily="18" charset="0"/>
                              <a:cs typeface="Arial" panose="020B0604020202020204" pitchFamily="34" charset="0"/>
                            </a:rPr>
                            <m:t>𝑅𝑒𝑞𝑢𝑖𝑟𝑒𝑑</m:t>
                          </m:r>
                          <m:r>
                            <a:rPr lang="en-US" sz="2400" i="1">
                              <a:latin typeface="Cambria Math" panose="02040503050406030204" pitchFamily="18" charset="0"/>
                              <a:cs typeface="Arial" panose="020B0604020202020204" pitchFamily="34" charset="0"/>
                            </a:rPr>
                            <m:t> </m:t>
                          </m:r>
                          <m:r>
                            <a:rPr lang="en-US" sz="2400" i="1">
                              <a:latin typeface="Cambria Math" panose="02040503050406030204" pitchFamily="18" charset="0"/>
                              <a:cs typeface="Arial" panose="020B0604020202020204" pitchFamily="34" charset="0"/>
                            </a:rPr>
                            <m:t>𝑑𝑒𝑙𝑎𝑦</m:t>
                          </m:r>
                        </m:num>
                        <m:den>
                          <m:r>
                            <a:rPr lang="en-US" sz="2400" i="1">
                              <a:latin typeface="Cambria Math" panose="02040503050406030204" pitchFamily="18" charset="0"/>
                              <a:cs typeface="Arial" panose="020B0604020202020204" pitchFamily="34" charset="0"/>
                            </a:rPr>
                            <m:t>𝑝𝑟𝑒𝑠𝑐𝑎𝑙𝑎𝑟</m:t>
                          </m:r>
                          <m:r>
                            <a:rPr lang="en-US" sz="2400" i="1">
                              <a:latin typeface="Cambria Math" panose="02040503050406030204" pitchFamily="18" charset="0"/>
                              <a:cs typeface="Arial" panose="020B0604020202020204" pitchFamily="34" charset="0"/>
                            </a:rPr>
                            <m:t> (</m:t>
                          </m:r>
                          <m:r>
                            <a:rPr lang="en-US" sz="2400" i="1">
                              <a:latin typeface="Cambria Math" panose="02040503050406030204" pitchFamily="18" charset="0"/>
                              <a:cs typeface="Arial" panose="020B0604020202020204" pitchFamily="34" charset="0"/>
                            </a:rPr>
                            <m:t>𝑝𝑠</m:t>
                          </m:r>
                          <m:r>
                            <a:rPr lang="en-US" sz="2400" i="1">
                              <a:latin typeface="Cambria Math" panose="02040503050406030204" pitchFamily="18" charset="0"/>
                              <a:cs typeface="Arial" panose="020B0604020202020204" pitchFamily="34" charset="0"/>
                            </a:rPr>
                            <m:t>)×</m:t>
                          </m:r>
                          <m:r>
                            <a:rPr lang="en-US" sz="2400" i="1">
                              <a:latin typeface="Cambria Math" panose="02040503050406030204" pitchFamily="18" charset="0"/>
                              <a:ea typeface="Cambria Math" panose="02040503050406030204" pitchFamily="18" charset="0"/>
                              <a:cs typeface="Arial" panose="020B0604020202020204" pitchFamily="34" charset="0"/>
                            </a:rPr>
                            <m:t>𝑇</m:t>
                          </m:r>
                        </m:den>
                      </m:f>
                      <m:r>
                        <a:rPr lang="en-US" sz="2400" i="1">
                          <a:latin typeface="Cambria Math" panose="02040503050406030204" pitchFamily="18" charset="0"/>
                          <a:cs typeface="Arial" panose="020B0604020202020204" pitchFamily="34" charset="0"/>
                        </a:rPr>
                        <m:t>−1=</m:t>
                      </m:r>
                      <m:f>
                        <m:fPr>
                          <m:ctrlPr>
                            <a:rPr lang="en-US" sz="2400" i="1">
                              <a:latin typeface="Cambria Math" panose="02040503050406030204" pitchFamily="18" charset="0"/>
                              <a:cs typeface="Arial" panose="020B0604020202020204" pitchFamily="34" charset="0"/>
                            </a:rPr>
                          </m:ctrlPr>
                        </m:fPr>
                        <m:num>
                          <m:r>
                            <m:rPr>
                              <m:nor/>
                            </m:rPr>
                            <a:rPr lang="en-US" sz="2400" b="0" i="0" dirty="0" smtClean="0">
                              <a:latin typeface="Times New Roman" panose="02020603050405020304" pitchFamily="18" charset="0"/>
                              <a:cs typeface="Times New Roman" panose="02020603050405020304" pitchFamily="18" charset="0"/>
                            </a:rPr>
                            <m:t>3</m:t>
                          </m:r>
                          <m:r>
                            <m:rPr>
                              <m:nor/>
                            </m:rPr>
                            <a:rPr lang="en-US" sz="2400" dirty="0">
                              <a:latin typeface="Times New Roman" panose="02020603050405020304" pitchFamily="18" charset="0"/>
                              <a:cs typeface="Times New Roman" panose="02020603050405020304" pitchFamily="18" charset="0"/>
                            </a:rPr>
                            <m:t>000</m:t>
                          </m:r>
                        </m:num>
                        <m:den>
                          <m:r>
                            <a:rPr lang="en-US" sz="2400" b="0" i="1" dirty="0" smtClean="0">
                              <a:latin typeface="Cambria Math" panose="02040503050406030204" pitchFamily="18" charset="0"/>
                              <a:cs typeface="Times New Roman" panose="02020603050405020304" pitchFamily="18" charset="0"/>
                            </a:rPr>
                            <m:t>10</m:t>
                          </m:r>
                          <m:r>
                            <a:rPr lang="en-US" sz="2400" i="1">
                              <a:latin typeface="Cambria Math" panose="02040503050406030204" pitchFamily="18" charset="0"/>
                              <a:cs typeface="Arial" panose="020B0604020202020204" pitchFamily="34" charset="0"/>
                            </a:rPr>
                            <m:t>2</m:t>
                          </m:r>
                          <m:r>
                            <a:rPr lang="en-US" sz="2400" b="0" i="1" smtClean="0">
                              <a:latin typeface="Cambria Math" panose="02040503050406030204" pitchFamily="18" charset="0"/>
                              <a:cs typeface="Arial" panose="020B0604020202020204" pitchFamily="34" charset="0"/>
                            </a:rPr>
                            <m:t>4</m:t>
                          </m:r>
                          <m:r>
                            <a:rPr lang="en-US" sz="2400" i="1">
                              <a:latin typeface="Cambria Math" panose="02040503050406030204" pitchFamily="18" charset="0"/>
                              <a:ea typeface="Cambria Math" panose="02040503050406030204" pitchFamily="18" charset="0"/>
                              <a:cs typeface="Arial" panose="020B0604020202020204" pitchFamily="34" charset="0"/>
                            </a:rPr>
                            <m:t>×</m:t>
                          </m:r>
                          <m:r>
                            <m:rPr>
                              <m:nor/>
                            </m:rPr>
                            <a:rPr lang="en-US" sz="2400" dirty="0">
                              <a:latin typeface="Times New Roman" panose="02020603050405020304" pitchFamily="18" charset="0"/>
                              <a:cs typeface="Times New Roman" panose="02020603050405020304" pitchFamily="18" charset="0"/>
                            </a:rPr>
                            <m:t>0.0625</m:t>
                          </m:r>
                        </m:den>
                      </m:f>
                      <m:r>
                        <a:rPr lang="en-US" sz="2400" i="1">
                          <a:latin typeface="Cambria Math" panose="02040503050406030204" pitchFamily="18" charset="0"/>
                          <a:cs typeface="Arial" panose="020B0604020202020204" pitchFamily="34" charset="0"/>
                        </a:rPr>
                        <m:t>−1=</m:t>
                      </m:r>
                      <m:r>
                        <a:rPr lang="en-US" sz="2400" b="0" i="1" smtClean="0">
                          <a:latin typeface="Cambria Math" panose="02040503050406030204" pitchFamily="18" charset="0"/>
                          <a:cs typeface="Arial" panose="020B0604020202020204" pitchFamily="34" charset="0"/>
                        </a:rPr>
                        <m:t>46</m:t>
                      </m:r>
                    </m:oMath>
                  </m:oMathPara>
                </a14:m>
                <a:endParaRPr lang="en-US" sz="24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The number of counts required for a 5 s (5000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 delay in each cycle for the LED ON time = 5000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/3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 = 1667. The number of counts required for a 4 s (4000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 delay in each cycle for the LED OFF time = 4000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/3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 = 1334.</a:t>
                </a:r>
                <a:endParaRPr lang="en-US" sz="2400" i="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Timer0 can count up to 255 and Timer1 can count up to 65,535; Timer1 is appropriate for this application.</a:t>
                </a:r>
                <a:endParaRPr lang="en-US" sz="2400" i="1" dirty="0">
                  <a:latin typeface="Times New Roman" panose="02020603050405020304" pitchFamily="18" charset="0"/>
                  <a:cs typeface="Times New Roman" panose="02020603050405020304" pitchFamily="18" charset="0"/>
                </a:endParaRPr>
              </a:p>
            </p:txBody>
          </p:sp>
        </mc:Choice>
        <mc:Fallback xmlns="">
          <p:sp>
            <p:nvSpPr>
              <p:cNvPr id="22" name="TextBox 5">
                <a:extLst>
                  <a:ext uri="{FF2B5EF4-FFF2-40B4-BE49-F238E27FC236}">
                    <a16:creationId xmlns:a16="http://schemas.microsoft.com/office/drawing/2014/main" id="{95B4C035-70C7-5C12-B034-2000595949C6}"/>
                  </a:ext>
                </a:extLst>
              </p:cNvPr>
              <p:cNvSpPr txBox="1">
                <a:spLocks noRot="1" noChangeAspect="1" noMove="1" noResize="1" noEditPoints="1" noAdjustHandles="1" noChangeArrowheads="1" noChangeShapeType="1" noTextEdit="1"/>
              </p:cNvSpPr>
              <p:nvPr/>
            </p:nvSpPr>
            <p:spPr bwMode="auto">
              <a:xfrm>
                <a:off x="196403" y="816966"/>
                <a:ext cx="11799195" cy="5629618"/>
              </a:xfrm>
              <a:prstGeom prst="rect">
                <a:avLst/>
              </a:prstGeom>
              <a:blipFill>
                <a:blip r:embed="rId3"/>
                <a:stretch>
                  <a:fillRect l="-775" t="-866" r="-413" b="-15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4" name="Title 1">
            <a:extLst>
              <a:ext uri="{FF2B5EF4-FFF2-40B4-BE49-F238E27FC236}">
                <a16:creationId xmlns:a16="http://schemas.microsoft.com/office/drawing/2014/main" id="{F0B8DB3B-59C9-9172-5548-52D40DA430B5}"/>
              </a:ext>
            </a:extLst>
          </p:cNvPr>
          <p:cNvSpPr>
            <a:spLocks noGrp="1" noChangeArrowheads="1"/>
          </p:cNvSpPr>
          <p:nvPr>
            <p:ph type="title"/>
          </p:nvPr>
        </p:nvSpPr>
        <p:spPr>
          <a:xfrm>
            <a:off x="196402" y="165528"/>
            <a:ext cx="11089074" cy="591399"/>
          </a:xfrm>
        </p:spPr>
        <p:txBody>
          <a:bodyPr>
            <a:normAutofit fontScale="90000"/>
          </a:bodyPr>
          <a:lstStyle/>
          <a:p>
            <a:pPr defTabSz="383790">
              <a:defRPr/>
            </a:pPr>
            <a:r>
              <a:rPr lang="en-US" altLang="en-US" sz="3555" b="1" cap="none" dirty="0">
                <a:solidFill>
                  <a:srgbClr val="FF0000"/>
                </a:solidFill>
                <a:latin typeface="Arial" panose="020B0604020202020204" pitchFamily="34" charset="0"/>
                <a:cs typeface="Arial" panose="020B0604020202020204" pitchFamily="34" charset="0"/>
              </a:rPr>
              <a:t>Example 2:</a:t>
            </a:r>
          </a:p>
        </p:txBody>
      </p:sp>
    </p:spTree>
    <p:extLst>
      <p:ext uri="{BB962C8B-B14F-4D97-AF65-F5344CB8AC3E}">
        <p14:creationId xmlns:p14="http://schemas.microsoft.com/office/powerpoint/2010/main" val="659081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4028C-4656-596B-7CCD-D9B7F63CB85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2" name="TextBox 5">
                <a:extLst>
                  <a:ext uri="{FF2B5EF4-FFF2-40B4-BE49-F238E27FC236}">
                    <a16:creationId xmlns:a16="http://schemas.microsoft.com/office/drawing/2014/main" id="{305B35F9-6F34-E351-D407-331EA50588D1}"/>
                  </a:ext>
                </a:extLst>
              </p:cNvPr>
              <p:cNvSpPr txBox="1">
                <a:spLocks noChangeArrowheads="1"/>
              </p:cNvSpPr>
              <p:nvPr/>
            </p:nvSpPr>
            <p:spPr bwMode="auto">
              <a:xfrm>
                <a:off x="196402" y="551274"/>
                <a:ext cx="11799195" cy="62805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3200" dirty="0">
                    <a:latin typeface="Times New Roman" panose="02020603050405020304" pitchFamily="18" charset="0"/>
                    <a:cs typeface="Times New Roman" panose="02020603050405020304" pitchFamily="18" charset="0"/>
                  </a:rPr>
                  <a:t>If you want to make an LED of red color blink every 4 seconds while using an Arduino system frequency of 16 MHz using a timer to generate the delay without any application of the delay() function, which timer of the Arduino Uno is suitable for your application? You may use a pre-scaler value of 256/1024. Write the necessary register set-up required for the program.</a:t>
                </a:r>
                <a:endParaRPr lang="en-US" sz="3200" i="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endParaRPr lang="en-US" sz="2000" i="1"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Given system frequency = 16 MHz; So, clock period = 1/frequency = 1/16 MHz = 0.0625 </a:t>
                </a:r>
                <a:r>
                  <a:rPr lang="en-US" sz="3200" dirty="0" err="1">
                    <a:latin typeface="Symbol" panose="05050102010706020507" pitchFamily="18" charset="2"/>
                    <a:cs typeface="Times New Roman" panose="02020603050405020304" pitchFamily="18" charset="0"/>
                  </a:rPr>
                  <a:t>m</a:t>
                </a:r>
                <a:r>
                  <a:rPr lang="en-US" sz="3200" dirty="0" err="1">
                    <a:latin typeface="Times New Roman" panose="02020603050405020304" pitchFamily="18" charset="0"/>
                    <a:cs typeface="Times New Roman" panose="02020603050405020304" pitchFamily="18" charset="0"/>
                  </a:rPr>
                  <a:t>s</a:t>
                </a:r>
                <a:r>
                  <a:rPr lang="en-US" sz="3200" dirty="0">
                    <a:latin typeface="Times New Roman" panose="02020603050405020304" pitchFamily="18" charset="0"/>
                    <a:cs typeface="Times New Roman" panose="02020603050405020304" pitchFamily="18" charset="0"/>
                  </a:rPr>
                  <a:t>; Required delay = 4 s = 4000000 </a:t>
                </a:r>
                <a:r>
                  <a:rPr lang="en-US" sz="3200" dirty="0" err="1">
                    <a:latin typeface="Symbol" panose="05050102010706020507" pitchFamily="18" charset="2"/>
                    <a:cs typeface="Times New Roman" panose="02020603050405020304" pitchFamily="18" charset="0"/>
                  </a:rPr>
                  <a:t>m</a:t>
                </a:r>
                <a:r>
                  <a:rPr lang="en-US" sz="3200" dirty="0" err="1">
                    <a:latin typeface="Times New Roman" panose="02020603050405020304" pitchFamily="18" charset="0"/>
                    <a:cs typeface="Times New Roman" panose="02020603050405020304" pitchFamily="18" charset="0"/>
                  </a:rPr>
                  <a:t>s</a:t>
                </a:r>
                <a:endParaRPr lang="en-US" sz="3200" i="1"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cs typeface="Arial" panose="020B0604020202020204" pitchFamily="34" charset="0"/>
                        </a:rPr>
                        <m:t>𝑇𝑖𝑚𝑒𝑟</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𝑐𝑜𝑢𝑛𝑡</m:t>
                      </m:r>
                      <m:r>
                        <a:rPr lang="en-US" sz="2800" i="1">
                          <a:latin typeface="Cambria Math" panose="02040503050406030204" pitchFamily="18" charset="0"/>
                          <a:cs typeface="Arial" panose="020B0604020202020204" pitchFamily="34" charset="0"/>
                        </a:rPr>
                        <m:t>=</m:t>
                      </m:r>
                      <m:f>
                        <m:fPr>
                          <m:ctrlPr>
                            <a:rPr lang="en-US" sz="2800" i="1">
                              <a:latin typeface="Cambria Math" panose="02040503050406030204" pitchFamily="18" charset="0"/>
                              <a:cs typeface="Arial" panose="020B0604020202020204" pitchFamily="34" charset="0"/>
                            </a:rPr>
                          </m:ctrlPr>
                        </m:fPr>
                        <m:num>
                          <m:r>
                            <a:rPr lang="en-US" sz="2800" i="1">
                              <a:latin typeface="Cambria Math" panose="02040503050406030204" pitchFamily="18" charset="0"/>
                              <a:cs typeface="Arial" panose="020B0604020202020204" pitchFamily="34" charset="0"/>
                            </a:rPr>
                            <m:t>𝑅𝑒𝑞𝑢𝑖𝑟𝑒𝑑</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𝑑𝑒𝑙𝑎𝑦</m:t>
                          </m:r>
                        </m:num>
                        <m:den>
                          <m:r>
                            <a:rPr lang="en-US" sz="2800" i="1">
                              <a:latin typeface="Cambria Math" panose="02040503050406030204" pitchFamily="18" charset="0"/>
                              <a:cs typeface="Arial" panose="020B0604020202020204" pitchFamily="34" charset="0"/>
                            </a:rPr>
                            <m:t>𝑝𝑟𝑒𝑠𝑐𝑎𝑙𝑎𝑟</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𝑝𝑠</m:t>
                          </m:r>
                          <m:r>
                            <a:rPr lang="en-US" sz="2800" i="1">
                              <a:latin typeface="Cambria Math" panose="02040503050406030204" pitchFamily="18" charset="0"/>
                              <a:cs typeface="Arial" panose="020B0604020202020204" pitchFamily="34" charset="0"/>
                            </a:rPr>
                            <m:t>)×</m:t>
                          </m:r>
                          <m:r>
                            <a:rPr lang="en-US" sz="2800" i="1">
                              <a:latin typeface="Cambria Math" panose="02040503050406030204" pitchFamily="18" charset="0"/>
                              <a:ea typeface="Cambria Math" panose="02040503050406030204" pitchFamily="18" charset="0"/>
                              <a:cs typeface="Arial" panose="020B0604020202020204" pitchFamily="34" charset="0"/>
                            </a:rPr>
                            <m:t>𝑇</m:t>
                          </m:r>
                        </m:den>
                      </m:f>
                      <m:r>
                        <a:rPr lang="en-US" sz="2800" i="1">
                          <a:latin typeface="Cambria Math" panose="02040503050406030204" pitchFamily="18" charset="0"/>
                          <a:cs typeface="Arial" panose="020B0604020202020204" pitchFamily="34" charset="0"/>
                        </a:rPr>
                        <m:t>−1=</m:t>
                      </m:r>
                      <m:f>
                        <m:fPr>
                          <m:ctrlPr>
                            <a:rPr lang="en-US" sz="2800" i="1">
                              <a:latin typeface="Cambria Math" panose="02040503050406030204" pitchFamily="18" charset="0"/>
                              <a:cs typeface="Arial" panose="020B0604020202020204" pitchFamily="34" charset="0"/>
                            </a:rPr>
                          </m:ctrlPr>
                        </m:fPr>
                        <m:num>
                          <m:r>
                            <m:rPr>
                              <m:nor/>
                            </m:rPr>
                            <a:rPr lang="en-US" sz="2800" b="0" i="0" dirty="0" smtClean="0">
                              <a:latin typeface="Times New Roman" panose="02020603050405020304" pitchFamily="18" charset="0"/>
                              <a:cs typeface="Times New Roman" panose="02020603050405020304" pitchFamily="18" charset="0"/>
                            </a:rPr>
                            <m:t>4</m:t>
                          </m:r>
                          <m:r>
                            <m:rPr>
                              <m:nor/>
                            </m:rPr>
                            <a:rPr lang="en-US" sz="2800" dirty="0">
                              <a:latin typeface="Times New Roman" panose="02020603050405020304" pitchFamily="18" charset="0"/>
                              <a:cs typeface="Times New Roman" panose="02020603050405020304" pitchFamily="18" charset="0"/>
                            </a:rPr>
                            <m:t>000</m:t>
                          </m:r>
                          <m:r>
                            <a:rPr lang="en-US" sz="2800" b="0" i="1" dirty="0" smtClean="0">
                              <a:latin typeface="Cambria Math" panose="02040503050406030204" pitchFamily="18" charset="0"/>
                              <a:cs typeface="Times New Roman" panose="02020603050405020304" pitchFamily="18" charset="0"/>
                            </a:rPr>
                            <m:t>000</m:t>
                          </m:r>
                        </m:num>
                        <m:den>
                          <m:r>
                            <a:rPr lang="en-US" sz="2800" b="0" i="1" dirty="0" smtClean="0">
                              <a:latin typeface="Cambria Math" panose="02040503050406030204" pitchFamily="18" charset="0"/>
                              <a:cs typeface="Times New Roman" panose="02020603050405020304" pitchFamily="18" charset="0"/>
                            </a:rPr>
                            <m:t>10</m:t>
                          </m:r>
                          <m:r>
                            <a:rPr lang="en-US" sz="2800" i="1">
                              <a:latin typeface="Cambria Math" panose="02040503050406030204" pitchFamily="18" charset="0"/>
                              <a:cs typeface="Arial" panose="020B0604020202020204" pitchFamily="34" charset="0"/>
                            </a:rPr>
                            <m:t>2</m:t>
                          </m:r>
                          <m:r>
                            <a:rPr lang="en-US" sz="2800" b="0" i="1" smtClean="0">
                              <a:latin typeface="Cambria Math" panose="02040503050406030204" pitchFamily="18" charset="0"/>
                              <a:cs typeface="Arial" panose="020B0604020202020204" pitchFamily="34" charset="0"/>
                            </a:rPr>
                            <m:t>4</m:t>
                          </m:r>
                          <m:r>
                            <a:rPr lang="en-US" sz="2800" i="1">
                              <a:latin typeface="Cambria Math" panose="02040503050406030204" pitchFamily="18" charset="0"/>
                              <a:ea typeface="Cambria Math" panose="02040503050406030204" pitchFamily="18" charset="0"/>
                              <a:cs typeface="Arial" panose="020B0604020202020204" pitchFamily="34" charset="0"/>
                            </a:rPr>
                            <m:t>×</m:t>
                          </m:r>
                          <m:r>
                            <m:rPr>
                              <m:nor/>
                            </m:rPr>
                            <a:rPr lang="en-US" sz="2800" dirty="0">
                              <a:latin typeface="Times New Roman" panose="02020603050405020304" pitchFamily="18" charset="0"/>
                              <a:cs typeface="Times New Roman" panose="02020603050405020304" pitchFamily="18" charset="0"/>
                            </a:rPr>
                            <m:t>0.0625</m:t>
                          </m:r>
                        </m:den>
                      </m:f>
                      <m:r>
                        <a:rPr lang="en-US" sz="2800" i="1">
                          <a:latin typeface="Cambria Math" panose="02040503050406030204" pitchFamily="18" charset="0"/>
                          <a:cs typeface="Arial" panose="020B0604020202020204" pitchFamily="34" charset="0"/>
                        </a:rPr>
                        <m:t>−1=62499</m:t>
                      </m:r>
                    </m:oMath>
                  </m:oMathPara>
                </a14:m>
                <a:endParaRPr lang="en-US" sz="28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But Timer 0 can count up to 255 and Timer 1 can count up to 65,535; so Timer1 is suitable for this application.</a:t>
                </a:r>
              </a:p>
            </p:txBody>
          </p:sp>
        </mc:Choice>
        <mc:Fallback xmlns="">
          <p:sp>
            <p:nvSpPr>
              <p:cNvPr id="22" name="TextBox 5">
                <a:extLst>
                  <a:ext uri="{FF2B5EF4-FFF2-40B4-BE49-F238E27FC236}">
                    <a16:creationId xmlns:a16="http://schemas.microsoft.com/office/drawing/2014/main" id="{305B35F9-6F34-E351-D407-331EA50588D1}"/>
                  </a:ext>
                </a:extLst>
              </p:cNvPr>
              <p:cNvSpPr txBox="1">
                <a:spLocks noRot="1" noChangeAspect="1" noMove="1" noResize="1" noEditPoints="1" noAdjustHandles="1" noChangeArrowheads="1" noChangeShapeType="1" noTextEdit="1"/>
              </p:cNvSpPr>
              <p:nvPr/>
            </p:nvSpPr>
            <p:spPr bwMode="auto">
              <a:xfrm>
                <a:off x="196402" y="551274"/>
                <a:ext cx="11799195" cy="6280565"/>
              </a:xfrm>
              <a:prstGeom prst="rect">
                <a:avLst/>
              </a:prstGeom>
              <a:blipFill>
                <a:blip r:embed="rId3"/>
                <a:stretch>
                  <a:fillRect l="-1291" t="-1358" b="-213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4" name="Title 1">
            <a:extLst>
              <a:ext uri="{FF2B5EF4-FFF2-40B4-BE49-F238E27FC236}">
                <a16:creationId xmlns:a16="http://schemas.microsoft.com/office/drawing/2014/main" id="{8375DB67-7AD5-B26B-766E-A6A21DBE3DA5}"/>
              </a:ext>
            </a:extLst>
          </p:cNvPr>
          <p:cNvSpPr>
            <a:spLocks noGrp="1" noChangeArrowheads="1"/>
          </p:cNvSpPr>
          <p:nvPr>
            <p:ph type="title"/>
          </p:nvPr>
        </p:nvSpPr>
        <p:spPr>
          <a:xfrm>
            <a:off x="196402" y="165528"/>
            <a:ext cx="11089074" cy="591399"/>
          </a:xfrm>
        </p:spPr>
        <p:txBody>
          <a:bodyPr>
            <a:normAutofit fontScale="90000"/>
          </a:bodyPr>
          <a:lstStyle/>
          <a:p>
            <a:pPr defTabSz="383790">
              <a:defRPr/>
            </a:pPr>
            <a:r>
              <a:rPr lang="en-US" altLang="en-US" sz="3555" b="1" cap="none" dirty="0">
                <a:solidFill>
                  <a:srgbClr val="FF0000"/>
                </a:solidFill>
                <a:latin typeface="Arial" panose="020B0604020202020204" pitchFamily="34" charset="0"/>
                <a:cs typeface="Arial" panose="020B0604020202020204" pitchFamily="34" charset="0"/>
              </a:rPr>
              <a:t>Example 3:</a:t>
            </a:r>
          </a:p>
        </p:txBody>
      </p:sp>
    </p:spTree>
    <p:extLst>
      <p:ext uri="{BB962C8B-B14F-4D97-AF65-F5344CB8AC3E}">
        <p14:creationId xmlns:p14="http://schemas.microsoft.com/office/powerpoint/2010/main" val="1977254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2EB90-317F-53CE-0C3C-711550C87C77}"/>
            </a:ext>
          </a:extLst>
        </p:cNvPr>
        <p:cNvGrpSpPr/>
        <p:nvPr/>
      </p:nvGrpSpPr>
      <p:grpSpPr>
        <a:xfrm>
          <a:off x="0" y="0"/>
          <a:ext cx="0" cy="0"/>
          <a:chOff x="0" y="0"/>
          <a:chExt cx="0" cy="0"/>
        </a:xfrm>
      </p:grpSpPr>
      <p:sp>
        <p:nvSpPr>
          <p:cNvPr id="22" name="TextBox 5">
            <a:extLst>
              <a:ext uri="{FF2B5EF4-FFF2-40B4-BE49-F238E27FC236}">
                <a16:creationId xmlns:a16="http://schemas.microsoft.com/office/drawing/2014/main" id="{D17475FE-3B35-347B-163D-1C59F5A4F982}"/>
              </a:ext>
            </a:extLst>
          </p:cNvPr>
          <p:cNvSpPr txBox="1">
            <a:spLocks noChangeArrowheads="1"/>
          </p:cNvSpPr>
          <p:nvPr/>
        </p:nvSpPr>
        <p:spPr bwMode="auto">
          <a:xfrm>
            <a:off x="392805" y="1071887"/>
            <a:ext cx="1179919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2400" dirty="0"/>
              <a:t>void setup() {</a:t>
            </a:r>
          </a:p>
          <a:p>
            <a:r>
              <a:rPr lang="en-US" sz="2400" dirty="0"/>
              <a:t>    </a:t>
            </a:r>
          </a:p>
          <a:p>
            <a:r>
              <a:rPr lang="en-US" sz="2400" dirty="0"/>
              <a:t>    </a:t>
            </a:r>
            <a:r>
              <a:rPr lang="en-US" sz="2400" dirty="0" err="1"/>
              <a:t>pinMode</a:t>
            </a:r>
            <a:r>
              <a:rPr lang="en-US" sz="2400" dirty="0"/>
              <a:t>(REDLED_PIN, OUTPUT); </a:t>
            </a:r>
          </a:p>
          <a:p>
            <a:r>
              <a:rPr lang="en-US" sz="2400" dirty="0"/>
              <a:t>        </a:t>
            </a:r>
          </a:p>
          <a:p>
            <a:r>
              <a:rPr lang="en-US" sz="2400" dirty="0"/>
              <a:t>    TCCR1A = 0x00;  // Since Timer1 is used, so control registers of Timer1</a:t>
            </a:r>
          </a:p>
          <a:p>
            <a:r>
              <a:rPr lang="en-US" sz="2400" dirty="0"/>
              <a:t>    TCCR1B = 0x05;  // are used in this program instead of registers of Timer0.</a:t>
            </a:r>
          </a:p>
          <a:p>
            <a:r>
              <a:rPr lang="en-US" sz="2400" dirty="0"/>
              <a:t>    TCNT1 = 0x0000; </a:t>
            </a:r>
          </a:p>
          <a:p>
            <a:r>
              <a:rPr lang="en-US" sz="2400" dirty="0"/>
              <a:t>}</a:t>
            </a:r>
            <a:endParaRPr lang="en-US" sz="2400" i="1" dirty="0"/>
          </a:p>
        </p:txBody>
      </p:sp>
      <p:sp>
        <p:nvSpPr>
          <p:cNvPr id="4" name="Title 1">
            <a:extLst>
              <a:ext uri="{FF2B5EF4-FFF2-40B4-BE49-F238E27FC236}">
                <a16:creationId xmlns:a16="http://schemas.microsoft.com/office/drawing/2014/main" id="{87FE688B-4F6A-C3E9-83A9-FCBF14A42A6C}"/>
              </a:ext>
            </a:extLst>
          </p:cNvPr>
          <p:cNvSpPr>
            <a:spLocks noGrp="1" noChangeArrowheads="1"/>
          </p:cNvSpPr>
          <p:nvPr>
            <p:ph type="title"/>
          </p:nvPr>
        </p:nvSpPr>
        <p:spPr>
          <a:xfrm>
            <a:off x="196402" y="165528"/>
            <a:ext cx="11089074" cy="591399"/>
          </a:xfrm>
        </p:spPr>
        <p:txBody>
          <a:bodyPr>
            <a:normAutofit fontScale="90000"/>
          </a:bodyPr>
          <a:lstStyle/>
          <a:p>
            <a:pPr defTabSz="383790">
              <a:defRPr/>
            </a:pPr>
            <a:r>
              <a:rPr lang="en-US" altLang="en-US" sz="3555" b="1" cap="none" dirty="0">
                <a:solidFill>
                  <a:srgbClr val="FF0000"/>
                </a:solidFill>
                <a:latin typeface="Arial" panose="020B0604020202020204" pitchFamily="34" charset="0"/>
                <a:cs typeface="Arial" panose="020B0604020202020204" pitchFamily="34" charset="0"/>
              </a:rPr>
              <a:t>Example 3:</a:t>
            </a:r>
          </a:p>
        </p:txBody>
      </p:sp>
    </p:spTree>
    <p:extLst>
      <p:ext uri="{BB962C8B-B14F-4D97-AF65-F5344CB8AC3E}">
        <p14:creationId xmlns:p14="http://schemas.microsoft.com/office/powerpoint/2010/main" val="2469336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616875-61D7-A90C-EAB7-80299A0F759B}"/>
              </a:ext>
            </a:extLst>
          </p:cNvPr>
          <p:cNvSpPr txBox="1"/>
          <p:nvPr/>
        </p:nvSpPr>
        <p:spPr>
          <a:xfrm>
            <a:off x="355600" y="756927"/>
            <a:ext cx="11104880" cy="4370427"/>
          </a:xfrm>
          <a:prstGeom prst="rect">
            <a:avLst/>
          </a:prstGeom>
          <a:noFill/>
        </p:spPr>
        <p:txBody>
          <a:bodyPr wrap="square">
            <a:spAutoFit/>
          </a:bodyPr>
          <a:lstStyle/>
          <a:p>
            <a:pPr lvl="0" algn="just">
              <a:lnSpc>
                <a:spcPct val="115000"/>
              </a:lnSpc>
              <a:tabLst>
                <a:tab pos="3429000" algn="ctr"/>
                <a:tab pos="619125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 security company boasts of their tightknit security systems to its clients. Their systems run continuous security sweeps. The rate of their sweeps varies based on the client’s subscription model. The premium model offers a sweep every </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15ms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whereas the basic model runs the sweep every </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40ms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Their system is based on Arduino Uno platform running at </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16MHz</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p>
          <a:p>
            <a:pPr lvl="0" algn="just">
              <a:lnSpc>
                <a:spcPct val="115000"/>
              </a:lnSpc>
              <a:tabLst>
                <a:tab pos="3429000" algn="ctr"/>
                <a:tab pos="6191250" algn="l"/>
              </a:tabLst>
            </a:pP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15000"/>
              </a:lnSpc>
              <a:tabLst>
                <a:tab pos="3429000" algn="ctr"/>
                <a:tab pos="619125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 Compute the necessary </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timer counts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to achieve the required delay for the premium and the basic model. </a:t>
            </a:r>
            <a:endParaRPr lang="en-AE" sz="2000" dirty="0">
              <a:effectLst/>
              <a:latin typeface="Calibri" panose="020F0502020204030204" pitchFamily="34" charset="0"/>
              <a:ea typeface="Calibri" panose="020F0502020204030204" pitchFamily="34" charset="0"/>
              <a:cs typeface="Times New Roman" panose="02020603050405020304" pitchFamily="18" charset="0"/>
            </a:endParaRPr>
          </a:p>
          <a:p>
            <a:pPr>
              <a:buNone/>
            </a:pPr>
            <a:endParaRPr lang="en-US" sz="2000" dirty="0">
              <a:effectLst/>
              <a:latin typeface="Times New Roman" panose="02020603050405020304" pitchFamily="18" charset="0"/>
              <a:ea typeface="Times New Roman" panose="02020603050405020304" pitchFamily="18" charset="0"/>
            </a:endParaRPr>
          </a:p>
          <a:p>
            <a:pPr>
              <a:buNone/>
            </a:pPr>
            <a:r>
              <a:rPr lang="en-US" sz="2000" dirty="0">
                <a:latin typeface="Times New Roman" panose="02020603050405020304" pitchFamily="18" charset="0"/>
                <a:ea typeface="Times New Roman" panose="02020603050405020304" pitchFamily="18" charset="0"/>
              </a:rPr>
              <a:t>b) </a:t>
            </a:r>
            <a:r>
              <a:rPr lang="en-US" sz="2000" dirty="0">
                <a:effectLst/>
                <a:latin typeface="Times New Roman" panose="02020603050405020304" pitchFamily="18" charset="0"/>
                <a:ea typeface="Times New Roman" panose="02020603050405020304" pitchFamily="18" charset="0"/>
              </a:rPr>
              <a:t>If the system is using only a </a:t>
            </a:r>
            <a:r>
              <a:rPr lang="en-US" sz="2000" b="1" dirty="0">
                <a:effectLst/>
                <a:latin typeface="Times New Roman" panose="02020603050405020304" pitchFamily="18" charset="0"/>
                <a:ea typeface="Times New Roman" panose="02020603050405020304" pitchFamily="18" charset="0"/>
              </a:rPr>
              <a:t>16-bit timer</a:t>
            </a:r>
            <a:r>
              <a:rPr lang="en-US" sz="2000" dirty="0">
                <a:effectLst/>
                <a:latin typeface="Times New Roman" panose="02020603050405020304" pitchFamily="18" charset="0"/>
                <a:ea typeface="Times New Roman" panose="02020603050405020304" pitchFamily="18" charset="0"/>
              </a:rPr>
              <a:t> and if the available </a:t>
            </a:r>
            <a:r>
              <a:rPr lang="en-US" sz="2000" b="1" dirty="0" err="1">
                <a:effectLst/>
                <a:latin typeface="Times New Roman" panose="02020603050405020304" pitchFamily="18" charset="0"/>
                <a:ea typeface="Times New Roman" panose="02020603050405020304" pitchFamily="18" charset="0"/>
              </a:rPr>
              <a:t>prescalers</a:t>
            </a:r>
            <a:r>
              <a:rPr lang="en-US" sz="2000" b="1" dirty="0">
                <a:effectLst/>
                <a:latin typeface="Times New Roman" panose="02020603050405020304" pitchFamily="18" charset="0"/>
                <a:ea typeface="Times New Roman" panose="02020603050405020304" pitchFamily="18" charset="0"/>
              </a:rPr>
              <a:t> are 8, 64, 256 and 1024</a:t>
            </a:r>
            <a:r>
              <a:rPr lang="en-US" sz="2000" dirty="0">
                <a:effectLst/>
                <a:latin typeface="Times New Roman" panose="02020603050405020304" pitchFamily="18" charset="0"/>
                <a:ea typeface="Times New Roman" panose="02020603050405020304" pitchFamily="18" charset="0"/>
              </a:rPr>
              <a:t>, compute the </a:t>
            </a:r>
            <a:r>
              <a:rPr lang="en-US" sz="2000" b="1" dirty="0">
                <a:effectLst/>
                <a:latin typeface="Times New Roman" panose="02020603050405020304" pitchFamily="18" charset="0"/>
                <a:ea typeface="Times New Roman" panose="02020603050405020304" pitchFamily="18" charset="0"/>
              </a:rPr>
              <a:t>maximum</a:t>
            </a:r>
            <a:r>
              <a:rPr lang="en-US" sz="2000" dirty="0">
                <a:effectLst/>
                <a:latin typeface="Times New Roman" panose="02020603050405020304" pitchFamily="18" charset="0"/>
                <a:ea typeface="Times New Roman" panose="02020603050405020304" pitchFamily="18" charset="0"/>
              </a:rPr>
              <a:t> possible time to be counted for the premium and the basic model with the help of this 16-bit timer.</a:t>
            </a:r>
          </a:p>
          <a:p>
            <a:pPr>
              <a:buNone/>
            </a:pPr>
            <a:endParaRPr lang="en-US" sz="2000" dirty="0">
              <a:latin typeface="Times New Roman" panose="02020603050405020304" pitchFamily="18" charset="0"/>
            </a:endParaRPr>
          </a:p>
          <a:p>
            <a:pPr>
              <a:buNone/>
            </a:pPr>
            <a:r>
              <a:rPr lang="en-US" sz="2000" dirty="0">
                <a:latin typeface="Times New Roman" panose="02020603050405020304" pitchFamily="18" charset="0"/>
              </a:rPr>
              <a:t>c) </a:t>
            </a:r>
            <a:r>
              <a:rPr lang="en-US" sz="2000" dirty="0">
                <a:effectLst/>
                <a:latin typeface="Times New Roman" panose="02020603050405020304" pitchFamily="18" charset="0"/>
                <a:ea typeface="Times New Roman" panose="02020603050405020304" pitchFamily="18" charset="0"/>
              </a:rPr>
              <a:t>Prepare the necessary registers associated with the 16-bit timer to achieve the necessary time counts calculated in Q1. Consider the timer to be running at normal mode.</a:t>
            </a:r>
            <a:endParaRPr lang="en-AE" sz="2000" dirty="0"/>
          </a:p>
        </p:txBody>
      </p:sp>
      <p:sp>
        <p:nvSpPr>
          <p:cNvPr id="6" name="Title 1">
            <a:extLst>
              <a:ext uri="{FF2B5EF4-FFF2-40B4-BE49-F238E27FC236}">
                <a16:creationId xmlns:a16="http://schemas.microsoft.com/office/drawing/2014/main" id="{5222579F-6BC0-C79D-3BF9-EC02C271D57B}"/>
              </a:ext>
            </a:extLst>
          </p:cNvPr>
          <p:cNvSpPr txBox="1">
            <a:spLocks noChangeArrowheads="1"/>
          </p:cNvSpPr>
          <p:nvPr/>
        </p:nvSpPr>
        <p:spPr bwMode="white">
          <a:xfrm>
            <a:off x="196402" y="165528"/>
            <a:ext cx="11089074" cy="591399"/>
          </a:xfrm>
          <a:prstGeom prst="rect">
            <a:avLst/>
          </a:prstGeom>
          <a:effectLst/>
        </p:spPr>
        <p:txBody>
          <a:bodyPr vert="horz" lIns="91440" tIns="45720" rIns="91440" bIns="45720" rtlCol="0" anchor="b">
            <a:normAutofit fontScale="97500" lnSpcReduction="10000"/>
          </a:bodyPr>
          <a:lstStyle>
            <a:lvl1pPr algn="r" defTabSz="457200" rtl="0" eaLnBrk="1" latinLnBrk="0" hangingPunct="1">
              <a:spcBef>
                <a:spcPct val="0"/>
              </a:spcBef>
              <a:buNone/>
              <a:defRPr sz="48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defTabSz="383790">
              <a:defRPr/>
            </a:pPr>
            <a:r>
              <a:rPr lang="en-US" altLang="en-US" sz="3555" b="1" cap="none" dirty="0">
                <a:solidFill>
                  <a:srgbClr val="FF0000"/>
                </a:solidFill>
                <a:latin typeface="Arial" panose="020B0604020202020204" pitchFamily="34" charset="0"/>
                <a:cs typeface="Arial" panose="020B0604020202020204" pitchFamily="34" charset="0"/>
              </a:rPr>
              <a:t>Example 4:</a:t>
            </a:r>
          </a:p>
        </p:txBody>
      </p:sp>
      <p:graphicFrame>
        <p:nvGraphicFramePr>
          <p:cNvPr id="7" name="Table 6">
            <a:extLst>
              <a:ext uri="{FF2B5EF4-FFF2-40B4-BE49-F238E27FC236}">
                <a16:creationId xmlns:a16="http://schemas.microsoft.com/office/drawing/2014/main" id="{DF5675AC-3C52-0311-4E29-ECC563EC7E4A}"/>
              </a:ext>
            </a:extLst>
          </p:cNvPr>
          <p:cNvGraphicFramePr>
            <a:graphicFrameLocks noGrp="1"/>
          </p:cNvGraphicFramePr>
          <p:nvPr>
            <p:extLst>
              <p:ext uri="{D42A27DB-BD31-4B8C-83A1-F6EECF244321}">
                <p14:modId xmlns:p14="http://schemas.microsoft.com/office/powerpoint/2010/main" val="794971426"/>
              </p:ext>
            </p:extLst>
          </p:nvPr>
        </p:nvGraphicFramePr>
        <p:xfrm>
          <a:off x="8152226" y="5127143"/>
          <a:ext cx="3549810" cy="1583530"/>
        </p:xfrm>
        <a:graphic>
          <a:graphicData uri="http://schemas.openxmlformats.org/drawingml/2006/table">
            <a:tbl>
              <a:tblPr firstRow="1" firstCol="1" bandRow="1">
                <a:tableStyleId>{F5AB1C69-6EDB-4FF4-983F-18BD219EF322}</a:tableStyleId>
              </a:tblPr>
              <a:tblGrid>
                <a:gridCol w="805711">
                  <a:extLst>
                    <a:ext uri="{9D8B030D-6E8A-4147-A177-3AD203B41FA5}">
                      <a16:colId xmlns:a16="http://schemas.microsoft.com/office/drawing/2014/main" val="2511475825"/>
                    </a:ext>
                  </a:extLst>
                </a:gridCol>
                <a:gridCol w="805711">
                  <a:extLst>
                    <a:ext uri="{9D8B030D-6E8A-4147-A177-3AD203B41FA5}">
                      <a16:colId xmlns:a16="http://schemas.microsoft.com/office/drawing/2014/main" val="4270471397"/>
                    </a:ext>
                  </a:extLst>
                </a:gridCol>
                <a:gridCol w="805711">
                  <a:extLst>
                    <a:ext uri="{9D8B030D-6E8A-4147-A177-3AD203B41FA5}">
                      <a16:colId xmlns:a16="http://schemas.microsoft.com/office/drawing/2014/main" val="2830439387"/>
                    </a:ext>
                  </a:extLst>
                </a:gridCol>
                <a:gridCol w="1132677">
                  <a:extLst>
                    <a:ext uri="{9D8B030D-6E8A-4147-A177-3AD203B41FA5}">
                      <a16:colId xmlns:a16="http://schemas.microsoft.com/office/drawing/2014/main" val="819981307"/>
                    </a:ext>
                  </a:extLst>
                </a:gridCol>
              </a:tblGrid>
              <a:tr h="316706">
                <a:tc>
                  <a:txBody>
                    <a:bodyPr/>
                    <a:lstStyle/>
                    <a:p>
                      <a:pPr algn="ctr">
                        <a:buNone/>
                        <a:tabLst>
                          <a:tab pos="3429000" algn="ctr"/>
                          <a:tab pos="6191250" algn="l"/>
                        </a:tabLst>
                      </a:pPr>
                      <a:r>
                        <a:rPr lang="en-US" sz="1100">
                          <a:effectLst/>
                        </a:rPr>
                        <a:t>CS12</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CS11</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CS10</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Prescaler</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1416023448"/>
                  </a:ext>
                </a:extLst>
              </a:tr>
              <a:tr h="316706">
                <a:tc>
                  <a:txBody>
                    <a:bodyPr/>
                    <a:lstStyle/>
                    <a:p>
                      <a:pPr algn="ctr">
                        <a:buNone/>
                        <a:tabLst>
                          <a:tab pos="3429000" algn="ctr"/>
                          <a:tab pos="6191250" algn="l"/>
                        </a:tabLst>
                      </a:pPr>
                      <a:r>
                        <a:rPr lang="en-US" sz="1100">
                          <a:effectLst/>
                        </a:rPr>
                        <a:t>0</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1</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0</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8</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2214983190"/>
                  </a:ext>
                </a:extLst>
              </a:tr>
              <a:tr h="316706">
                <a:tc>
                  <a:txBody>
                    <a:bodyPr/>
                    <a:lstStyle/>
                    <a:p>
                      <a:pPr algn="ctr">
                        <a:buNone/>
                        <a:tabLst>
                          <a:tab pos="3429000" algn="ctr"/>
                          <a:tab pos="6191250" algn="l"/>
                        </a:tabLst>
                      </a:pPr>
                      <a:r>
                        <a:rPr lang="en-US" sz="1100">
                          <a:effectLst/>
                        </a:rPr>
                        <a:t>0</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1</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1</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dirty="0">
                          <a:effectLst/>
                        </a:rPr>
                        <a:t>64</a:t>
                      </a:r>
                      <a:endParaRPr lang="en-AE" sz="1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388839592"/>
                  </a:ext>
                </a:extLst>
              </a:tr>
              <a:tr h="316706">
                <a:tc>
                  <a:txBody>
                    <a:bodyPr/>
                    <a:lstStyle/>
                    <a:p>
                      <a:pPr algn="ctr">
                        <a:buNone/>
                        <a:tabLst>
                          <a:tab pos="3429000" algn="ctr"/>
                          <a:tab pos="6191250" algn="l"/>
                        </a:tabLst>
                      </a:pPr>
                      <a:r>
                        <a:rPr lang="en-US" sz="1100">
                          <a:effectLst/>
                        </a:rPr>
                        <a:t>1</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0</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0</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256</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4030296171"/>
                  </a:ext>
                </a:extLst>
              </a:tr>
              <a:tr h="316706">
                <a:tc>
                  <a:txBody>
                    <a:bodyPr/>
                    <a:lstStyle/>
                    <a:p>
                      <a:pPr algn="ctr">
                        <a:buNone/>
                        <a:tabLst>
                          <a:tab pos="3429000" algn="ctr"/>
                          <a:tab pos="6191250" algn="l"/>
                        </a:tabLst>
                      </a:pPr>
                      <a:r>
                        <a:rPr lang="en-US" sz="1100">
                          <a:effectLst/>
                        </a:rPr>
                        <a:t>1</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1</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a:effectLst/>
                        </a:rPr>
                        <a:t>1</a:t>
                      </a:r>
                      <a:endParaRPr lang="en-AE" sz="12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algn="ctr">
                        <a:buNone/>
                        <a:tabLst>
                          <a:tab pos="3429000" algn="ctr"/>
                          <a:tab pos="6191250" algn="l"/>
                        </a:tabLst>
                      </a:pPr>
                      <a:r>
                        <a:rPr lang="en-US" sz="1100" dirty="0">
                          <a:effectLst/>
                        </a:rPr>
                        <a:t>1024</a:t>
                      </a:r>
                      <a:endParaRPr lang="en-AE" sz="12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1263238304"/>
                  </a:ext>
                </a:extLst>
              </a:tr>
            </a:tbl>
          </a:graphicData>
        </a:graphic>
      </p:graphicFrame>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A957815A-B079-7AA7-2CFB-3C8743CA1486}"/>
                  </a:ext>
                </a:extLst>
              </p14:cNvPr>
              <p14:cNvContentPartPr/>
              <p14:nvPr/>
            </p14:nvContentPartPr>
            <p14:xfrm>
              <a:off x="3580680" y="2304680"/>
              <a:ext cx="360" cy="360"/>
            </p14:xfrm>
          </p:contentPart>
        </mc:Choice>
        <mc:Fallback xmlns="">
          <p:pic>
            <p:nvPicPr>
              <p:cNvPr id="2" name="Ink 1">
                <a:extLst>
                  <a:ext uri="{FF2B5EF4-FFF2-40B4-BE49-F238E27FC236}">
                    <a16:creationId xmlns:a16="http://schemas.microsoft.com/office/drawing/2014/main" id="{A957815A-B079-7AA7-2CFB-3C8743CA1486}"/>
                  </a:ext>
                </a:extLst>
              </p:cNvPr>
              <p:cNvPicPr/>
              <p:nvPr/>
            </p:nvPicPr>
            <p:blipFill>
              <a:blip r:embed="rId3"/>
              <a:stretch>
                <a:fillRect/>
              </a:stretch>
            </p:blipFill>
            <p:spPr>
              <a:xfrm>
                <a:off x="3571680" y="22956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CBAE85DB-43CB-1D28-49CF-5EC5539A8204}"/>
                  </a:ext>
                </a:extLst>
              </p14:cNvPr>
              <p14:cNvContentPartPr/>
              <p14:nvPr/>
            </p14:nvContentPartPr>
            <p14:xfrm>
              <a:off x="9386760" y="2070680"/>
              <a:ext cx="360" cy="360"/>
            </p14:xfrm>
          </p:contentPart>
        </mc:Choice>
        <mc:Fallback xmlns="">
          <p:pic>
            <p:nvPicPr>
              <p:cNvPr id="3" name="Ink 2">
                <a:extLst>
                  <a:ext uri="{FF2B5EF4-FFF2-40B4-BE49-F238E27FC236}">
                    <a16:creationId xmlns:a16="http://schemas.microsoft.com/office/drawing/2014/main" id="{CBAE85DB-43CB-1D28-49CF-5EC5539A8204}"/>
                  </a:ext>
                </a:extLst>
              </p:cNvPr>
              <p:cNvPicPr/>
              <p:nvPr/>
            </p:nvPicPr>
            <p:blipFill>
              <a:blip r:embed="rId3"/>
              <a:stretch>
                <a:fillRect/>
              </a:stretch>
            </p:blipFill>
            <p:spPr>
              <a:xfrm>
                <a:off x="9378120" y="2062040"/>
                <a:ext cx="18000" cy="18000"/>
              </a:xfrm>
              <a:prstGeom prst="rect">
                <a:avLst/>
              </a:prstGeom>
            </p:spPr>
          </p:pic>
        </mc:Fallback>
      </mc:AlternateContent>
    </p:spTree>
    <p:extLst>
      <p:ext uri="{BB962C8B-B14F-4D97-AF65-F5344CB8AC3E}">
        <p14:creationId xmlns:p14="http://schemas.microsoft.com/office/powerpoint/2010/main" val="1055870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82D2D64-B488-CE0F-D5E2-CD2121DB36B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39744"/>
          <a:stretch/>
        </p:blipFill>
        <p:spPr bwMode="auto">
          <a:xfrm>
            <a:off x="2540000" y="141601"/>
            <a:ext cx="6898640" cy="6574797"/>
          </a:xfrm>
          <a:prstGeom prst="rect">
            <a:avLst/>
          </a:prstGeom>
          <a:noFill/>
          <a:ln>
            <a:noFill/>
          </a:ln>
          <a:extLst>
            <a:ext uri="{53640926-AAD7-44D8-BBD7-CCE9431645EC}">
              <a14:shadowObscured xmlns:a14="http://schemas.microsoft.com/office/drawing/2010/main"/>
            </a:ext>
          </a:extLst>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A2B64CD-8B3E-9B7E-6EA5-2DB8A465B9EE}"/>
                  </a:ext>
                </a:extLst>
              </p14:cNvPr>
              <p14:cNvContentPartPr/>
              <p14:nvPr/>
            </p14:nvContentPartPr>
            <p14:xfrm>
              <a:off x="6832480" y="1988880"/>
              <a:ext cx="360" cy="360"/>
            </p14:xfrm>
          </p:contentPart>
        </mc:Choice>
        <mc:Fallback xmlns="">
          <p:pic>
            <p:nvPicPr>
              <p:cNvPr id="2" name="Ink 1">
                <a:extLst>
                  <a:ext uri="{FF2B5EF4-FFF2-40B4-BE49-F238E27FC236}">
                    <a16:creationId xmlns:a16="http://schemas.microsoft.com/office/drawing/2014/main" id="{7A2B64CD-8B3E-9B7E-6EA5-2DB8A465B9EE}"/>
                  </a:ext>
                </a:extLst>
              </p:cNvPr>
              <p:cNvPicPr/>
              <p:nvPr/>
            </p:nvPicPr>
            <p:blipFill>
              <a:blip r:embed="rId4"/>
              <a:stretch>
                <a:fillRect/>
              </a:stretch>
            </p:blipFill>
            <p:spPr>
              <a:xfrm>
                <a:off x="6823480" y="19798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207E310B-0EE8-D1C6-4CDC-B7C6E704A34B}"/>
                  </a:ext>
                </a:extLst>
              </p14:cNvPr>
              <p14:cNvContentPartPr/>
              <p14:nvPr/>
            </p14:nvContentPartPr>
            <p14:xfrm>
              <a:off x="7100320" y="1465800"/>
              <a:ext cx="360" cy="360"/>
            </p14:xfrm>
          </p:contentPart>
        </mc:Choice>
        <mc:Fallback xmlns="">
          <p:pic>
            <p:nvPicPr>
              <p:cNvPr id="3" name="Ink 2">
                <a:extLst>
                  <a:ext uri="{FF2B5EF4-FFF2-40B4-BE49-F238E27FC236}">
                    <a16:creationId xmlns:a16="http://schemas.microsoft.com/office/drawing/2014/main" id="{207E310B-0EE8-D1C6-4CDC-B7C6E704A34B}"/>
                  </a:ext>
                </a:extLst>
              </p:cNvPr>
              <p:cNvPicPr/>
              <p:nvPr/>
            </p:nvPicPr>
            <p:blipFill>
              <a:blip r:embed="rId4"/>
              <a:stretch>
                <a:fillRect/>
              </a:stretch>
            </p:blipFill>
            <p:spPr>
              <a:xfrm>
                <a:off x="7091680" y="145680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5CF0C80F-DC50-3D02-2593-50D8B9039581}"/>
                  </a:ext>
                </a:extLst>
              </p14:cNvPr>
              <p14:cNvContentPartPr/>
              <p14:nvPr/>
            </p14:nvContentPartPr>
            <p14:xfrm>
              <a:off x="7114360" y="2398560"/>
              <a:ext cx="360" cy="360"/>
            </p14:xfrm>
          </p:contentPart>
        </mc:Choice>
        <mc:Fallback xmlns="">
          <p:pic>
            <p:nvPicPr>
              <p:cNvPr id="4" name="Ink 3">
                <a:extLst>
                  <a:ext uri="{FF2B5EF4-FFF2-40B4-BE49-F238E27FC236}">
                    <a16:creationId xmlns:a16="http://schemas.microsoft.com/office/drawing/2014/main" id="{5CF0C80F-DC50-3D02-2593-50D8B9039581}"/>
                  </a:ext>
                </a:extLst>
              </p:cNvPr>
              <p:cNvPicPr/>
              <p:nvPr/>
            </p:nvPicPr>
            <p:blipFill>
              <a:blip r:embed="rId4"/>
              <a:stretch>
                <a:fillRect/>
              </a:stretch>
            </p:blipFill>
            <p:spPr>
              <a:xfrm>
                <a:off x="7105720" y="238956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561C9A20-5E94-3CB7-FE35-FB6EA64BAAA3}"/>
                  </a:ext>
                </a:extLst>
              </p14:cNvPr>
              <p14:cNvContentPartPr/>
              <p14:nvPr/>
            </p14:nvContentPartPr>
            <p14:xfrm>
              <a:off x="5030720" y="1607520"/>
              <a:ext cx="360" cy="360"/>
            </p14:xfrm>
          </p:contentPart>
        </mc:Choice>
        <mc:Fallback xmlns="">
          <p:pic>
            <p:nvPicPr>
              <p:cNvPr id="6" name="Ink 5">
                <a:extLst>
                  <a:ext uri="{FF2B5EF4-FFF2-40B4-BE49-F238E27FC236}">
                    <a16:creationId xmlns:a16="http://schemas.microsoft.com/office/drawing/2014/main" id="{561C9A20-5E94-3CB7-FE35-FB6EA64BAAA3}"/>
                  </a:ext>
                </a:extLst>
              </p:cNvPr>
              <p:cNvPicPr/>
              <p:nvPr/>
            </p:nvPicPr>
            <p:blipFill>
              <a:blip r:embed="rId8"/>
              <a:stretch>
                <a:fillRect/>
              </a:stretch>
            </p:blipFill>
            <p:spPr>
              <a:xfrm>
                <a:off x="5022080" y="15988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B549E47E-75AF-3950-7CA7-5A33F0BF15D9}"/>
                  </a:ext>
                </a:extLst>
              </p14:cNvPr>
              <p14:cNvContentPartPr/>
              <p14:nvPr/>
            </p14:nvContentPartPr>
            <p14:xfrm>
              <a:off x="5959520" y="1609320"/>
              <a:ext cx="360" cy="360"/>
            </p14:xfrm>
          </p:contentPart>
        </mc:Choice>
        <mc:Fallback xmlns="">
          <p:pic>
            <p:nvPicPr>
              <p:cNvPr id="7" name="Ink 6">
                <a:extLst>
                  <a:ext uri="{FF2B5EF4-FFF2-40B4-BE49-F238E27FC236}">
                    <a16:creationId xmlns:a16="http://schemas.microsoft.com/office/drawing/2014/main" id="{B549E47E-75AF-3950-7CA7-5A33F0BF15D9}"/>
                  </a:ext>
                </a:extLst>
              </p:cNvPr>
              <p:cNvPicPr/>
              <p:nvPr/>
            </p:nvPicPr>
            <p:blipFill>
              <a:blip r:embed="rId8"/>
              <a:stretch>
                <a:fillRect/>
              </a:stretch>
            </p:blipFill>
            <p:spPr>
              <a:xfrm>
                <a:off x="5950520" y="1600320"/>
                <a:ext cx="18000" cy="18000"/>
              </a:xfrm>
              <a:prstGeom prst="rect">
                <a:avLst/>
              </a:prstGeom>
            </p:spPr>
          </p:pic>
        </mc:Fallback>
      </mc:AlternateContent>
    </p:spTree>
    <p:extLst>
      <p:ext uri="{BB962C8B-B14F-4D97-AF65-F5344CB8AC3E}">
        <p14:creationId xmlns:p14="http://schemas.microsoft.com/office/powerpoint/2010/main" val="29448740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Default">
      <a:majorFont>
        <a:latin typeface="Corbel"/>
        <a:ea typeface=""/>
        <a:cs typeface=""/>
      </a:majorFont>
      <a:minorFont>
        <a:latin typeface="Corbel"/>
        <a:ea typeface=""/>
        <a:cs typeface=""/>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spDef>
      <a:spPr>
        <a:ln>
          <a:noFill/>
        </a:ln>
      </a:spPr>
      <a:bodyPr rtlCol="0" anchor="ctr"/>
      <a:lstStyle>
        <a:defPPr algn="ctr">
          <a:defRPr/>
        </a:defPPr>
      </a:lstStyle>
      <a:style>
        <a:lnRef idx="2">
          <a:schemeClr val="accent3">
            <a:shade val="50000"/>
          </a:schemeClr>
        </a:lnRef>
        <a:fillRef idx="1">
          <a:schemeClr val="accent3"/>
        </a:fillRef>
        <a:effectRef idx="0">
          <a:schemeClr val="accent3"/>
        </a:effectRef>
        <a:fontRef idx="minor">
          <a:schemeClr val="lt1"/>
        </a:fontRef>
      </a:style>
    </a:spDef>
  </a:objectDefaults>
  <a:extraClrSchemeLst/>
  <a:extLst>
    <a:ext uri="{05A4C25C-085E-4340-85A3-A5531E510DB2}">
      <thm15:themeFamily xmlns:thm15="http://schemas.microsoft.com/office/thememl/2012/main" name="TF22736411_Famous event in history presentation_AAS_v4" id="{885A6F1E-651B-4F15-A7C5-F8866BEBEDBA}" vid="{A424914B-CB64-4CFE-A131-6ACB64D36AA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C25A74-1E0C-4362-AFA3-6197BD285F3A}">
  <ds:schemaRefs>
    <ds:schemaRef ds:uri="http://schemas.microsoft.com/sharepoint/v3/contenttype/forms"/>
  </ds:schemaRefs>
</ds:datastoreItem>
</file>

<file path=customXml/itemProps2.xml><?xml version="1.0" encoding="utf-8"?>
<ds:datastoreItem xmlns:ds="http://schemas.openxmlformats.org/officeDocument/2006/customXml" ds:itemID="{0EC94942-C689-461B-8649-1FD863C6BA2B}">
  <ds:schemaRefs>
    <ds:schemaRef ds:uri="http://schemas.microsoft.com/office/infopath/2007/PartnerControls"/>
    <ds:schemaRef ds:uri="http://purl.org/dc/dcmitype/"/>
    <ds:schemaRef ds:uri="http://schemas.microsoft.com/office/2006/documentManagement/types"/>
    <ds:schemaRef ds:uri="http://purl.org/dc/elements/1.1/"/>
    <ds:schemaRef ds:uri="71af3243-3dd4-4a8d-8c0d-dd76da1f02a5"/>
    <ds:schemaRef ds:uri="http://schemas.openxmlformats.org/package/2006/metadata/core-properties"/>
    <ds:schemaRef ds:uri="http://purl.org/dc/terms/"/>
    <ds:schemaRef ds:uri="16c05727-aa75-4e4a-9b5f-8a80a1165891"/>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096277B9-27DA-47CA-9593-62E4BB44AB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Famous event in history presentation</Template>
  <TotalTime>211</TotalTime>
  <Words>1207</Words>
  <Application>Microsoft Office PowerPoint</Application>
  <PresentationFormat>Widescreen</PresentationFormat>
  <Paragraphs>146</Paragraphs>
  <Slides>9</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Cambria Math</vt:lpstr>
      <vt:lpstr>Corbel</vt:lpstr>
      <vt:lpstr>Symbol</vt:lpstr>
      <vt:lpstr>Times New Roman</vt:lpstr>
      <vt:lpstr>Celestial</vt:lpstr>
      <vt:lpstr>Example 1:</vt:lpstr>
      <vt:lpstr>Example 1:</vt:lpstr>
      <vt:lpstr>Example 2:</vt:lpstr>
      <vt:lpstr>PowerPoint Presentation</vt:lpstr>
      <vt:lpstr>Example 2:</vt:lpstr>
      <vt:lpstr>Example 3:</vt:lpstr>
      <vt:lpstr>Example 3:</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Debraj Das</cp:lastModifiedBy>
  <cp:revision>1</cp:revision>
  <dcterms:created xsi:type="dcterms:W3CDTF">2022-05-17T14:56:55Z</dcterms:created>
  <dcterms:modified xsi:type="dcterms:W3CDTF">2025-10-26T10:56:22Z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