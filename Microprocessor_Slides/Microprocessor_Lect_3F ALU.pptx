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5"/>
  </p:notesMasterIdLst>
  <p:handoutMasterIdLst>
    <p:handoutMasterId r:id="rId46"/>
  </p:handoutMasterIdLst>
  <p:sldIdLst>
    <p:sldId id="266" r:id="rId5"/>
    <p:sldId id="295" r:id="rId6"/>
    <p:sldId id="296" r:id="rId7"/>
    <p:sldId id="337" r:id="rId8"/>
    <p:sldId id="338" r:id="rId9"/>
    <p:sldId id="297" r:id="rId10"/>
    <p:sldId id="298" r:id="rId11"/>
    <p:sldId id="299" r:id="rId12"/>
    <p:sldId id="336" r:id="rId13"/>
    <p:sldId id="302" r:id="rId14"/>
    <p:sldId id="303" r:id="rId15"/>
    <p:sldId id="300" r:id="rId16"/>
    <p:sldId id="301" r:id="rId17"/>
    <p:sldId id="304" r:id="rId18"/>
    <p:sldId id="305" r:id="rId19"/>
    <p:sldId id="306" r:id="rId20"/>
    <p:sldId id="321" r:id="rId21"/>
    <p:sldId id="307" r:id="rId22"/>
    <p:sldId id="322" r:id="rId23"/>
    <p:sldId id="308" r:id="rId24"/>
    <p:sldId id="309" r:id="rId25"/>
    <p:sldId id="310" r:id="rId26"/>
    <p:sldId id="311" r:id="rId27"/>
    <p:sldId id="312" r:id="rId28"/>
    <p:sldId id="313" r:id="rId29"/>
    <p:sldId id="323" r:id="rId30"/>
    <p:sldId id="315" r:id="rId31"/>
    <p:sldId id="328" r:id="rId32"/>
    <p:sldId id="324" r:id="rId33"/>
    <p:sldId id="325" r:id="rId34"/>
    <p:sldId id="327" r:id="rId35"/>
    <p:sldId id="330" r:id="rId36"/>
    <p:sldId id="331" r:id="rId37"/>
    <p:sldId id="326" r:id="rId38"/>
    <p:sldId id="319" r:id="rId39"/>
    <p:sldId id="332" r:id="rId40"/>
    <p:sldId id="333" r:id="rId41"/>
    <p:sldId id="334" r:id="rId42"/>
    <p:sldId id="335" r:id="rId43"/>
    <p:sldId id="329" r:id="rId44"/>
  </p:sldIdLst>
  <p:sldSz cx="164592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snapToGrid="0">
      <p:cViewPr varScale="1">
        <p:scale>
          <a:sx n="53" d="100"/>
          <a:sy n="53" d="100"/>
        </p:scale>
        <p:origin x="444" y="2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959C53-1F47-4EC3-BD04-DCF7D9853FE2}" type="datetimeFigureOut">
              <a:rPr lang="en-US" smtClean="0"/>
              <a:t>12/24/2025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966561-935E-43F2-AA27-F6429D640CD0}" type="slidenum">
              <a:rPr lang="en-US" smtClean="0"/>
              <a:t>‹#›</a:t>
            </a:fld>
            <a:endParaRPr lang="en-US"/>
          </a:p>
        </p:txBody>
      </p:sp>
    </p:spTree>
    <p:extLst>
      <p:ext uri="{BB962C8B-B14F-4D97-AF65-F5344CB8AC3E}">
        <p14:creationId xmlns:p14="http://schemas.microsoft.com/office/powerpoint/2010/main" val="28583798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3753D4-FC42-4AF9-9F67-FF67B8A220EF}" type="datetimeFigureOut">
              <a:rPr lang="en-US" smtClean="0"/>
              <a:t>12/24/2025</a:t>
            </a:fld>
            <a:endParaRPr lang="en-US"/>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D5281-AB0E-4AE5-96D1-620E2E6C6426}" type="slidenum">
              <a:rPr lang="en-US" smtClean="0"/>
              <a:t>‹#›</a:t>
            </a:fld>
            <a:endParaRPr lang="en-US"/>
          </a:p>
        </p:txBody>
      </p:sp>
    </p:spTree>
    <p:extLst>
      <p:ext uri="{BB962C8B-B14F-4D97-AF65-F5344CB8AC3E}">
        <p14:creationId xmlns:p14="http://schemas.microsoft.com/office/powerpoint/2010/main" val="3235946233"/>
      </p:ext>
    </p:extLst>
  </p:cSld>
  <p:clrMap bg1="lt1" tx1="dk1" bg2="lt2" tx2="dk2" accent1="accent1" accent2="accent2" accent3="accent3" accent4="accent4" accent5="accent5" accent6="accent6" hlink="hlink" folHlink="folHlink"/>
  <p:hf hdr="0" ftr="0" dt="0"/>
  <p:notesStyle>
    <a:lvl1pPr marL="0" algn="l" defTabSz="1185062" rtl="0" eaLnBrk="1" latinLnBrk="0" hangingPunct="1">
      <a:defRPr sz="1555" kern="1200">
        <a:solidFill>
          <a:schemeClr val="tx1"/>
        </a:solidFill>
        <a:latin typeface="+mn-lt"/>
        <a:ea typeface="+mn-ea"/>
        <a:cs typeface="+mn-cs"/>
      </a:defRPr>
    </a:lvl1pPr>
    <a:lvl2pPr marL="592531" algn="l" defTabSz="1185062" rtl="0" eaLnBrk="1" latinLnBrk="0" hangingPunct="1">
      <a:defRPr sz="1555" kern="1200">
        <a:solidFill>
          <a:schemeClr val="tx1"/>
        </a:solidFill>
        <a:latin typeface="+mn-lt"/>
        <a:ea typeface="+mn-ea"/>
        <a:cs typeface="+mn-cs"/>
      </a:defRPr>
    </a:lvl2pPr>
    <a:lvl3pPr marL="1185062" algn="l" defTabSz="1185062" rtl="0" eaLnBrk="1" latinLnBrk="0" hangingPunct="1">
      <a:defRPr sz="1555" kern="1200">
        <a:solidFill>
          <a:schemeClr val="tx1"/>
        </a:solidFill>
        <a:latin typeface="+mn-lt"/>
        <a:ea typeface="+mn-ea"/>
        <a:cs typeface="+mn-cs"/>
      </a:defRPr>
    </a:lvl3pPr>
    <a:lvl4pPr marL="1777594" algn="l" defTabSz="1185062" rtl="0" eaLnBrk="1" latinLnBrk="0" hangingPunct="1">
      <a:defRPr sz="1555" kern="1200">
        <a:solidFill>
          <a:schemeClr val="tx1"/>
        </a:solidFill>
        <a:latin typeface="+mn-lt"/>
        <a:ea typeface="+mn-ea"/>
        <a:cs typeface="+mn-cs"/>
      </a:defRPr>
    </a:lvl4pPr>
    <a:lvl5pPr marL="2370125" algn="l" defTabSz="1185062" rtl="0" eaLnBrk="1" latinLnBrk="0" hangingPunct="1">
      <a:defRPr sz="1555" kern="1200">
        <a:solidFill>
          <a:schemeClr val="tx1"/>
        </a:solidFill>
        <a:latin typeface="+mn-lt"/>
        <a:ea typeface="+mn-ea"/>
        <a:cs typeface="+mn-cs"/>
      </a:defRPr>
    </a:lvl5pPr>
    <a:lvl6pPr marL="2962656" algn="l" defTabSz="1185062" rtl="0" eaLnBrk="1" latinLnBrk="0" hangingPunct="1">
      <a:defRPr sz="1555" kern="1200">
        <a:solidFill>
          <a:schemeClr val="tx1"/>
        </a:solidFill>
        <a:latin typeface="+mn-lt"/>
        <a:ea typeface="+mn-ea"/>
        <a:cs typeface="+mn-cs"/>
      </a:defRPr>
    </a:lvl6pPr>
    <a:lvl7pPr marL="3555187" algn="l" defTabSz="1185062" rtl="0" eaLnBrk="1" latinLnBrk="0" hangingPunct="1">
      <a:defRPr sz="1555" kern="1200">
        <a:solidFill>
          <a:schemeClr val="tx1"/>
        </a:solidFill>
        <a:latin typeface="+mn-lt"/>
        <a:ea typeface="+mn-ea"/>
        <a:cs typeface="+mn-cs"/>
      </a:defRPr>
    </a:lvl7pPr>
    <a:lvl8pPr marL="4147718" algn="l" defTabSz="1185062" rtl="0" eaLnBrk="1" latinLnBrk="0" hangingPunct="1">
      <a:defRPr sz="1555" kern="1200">
        <a:solidFill>
          <a:schemeClr val="tx1"/>
        </a:solidFill>
        <a:latin typeface="+mn-lt"/>
        <a:ea typeface="+mn-ea"/>
        <a:cs typeface="+mn-cs"/>
      </a:defRPr>
    </a:lvl8pPr>
    <a:lvl9pPr marL="4740250" algn="l" defTabSz="1185062" rtl="0" eaLnBrk="1" latinLnBrk="0" hangingPunct="1">
      <a:defRPr sz="15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3</a:t>
            </a:fld>
            <a:endParaRPr lang="en-US"/>
          </a:p>
        </p:txBody>
      </p:sp>
    </p:spTree>
    <p:extLst>
      <p:ext uri="{BB962C8B-B14F-4D97-AF65-F5344CB8AC3E}">
        <p14:creationId xmlns:p14="http://schemas.microsoft.com/office/powerpoint/2010/main" val="2370512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03F58-949B-021E-FEDE-6D7181BEF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E9CEB-F51B-1CF5-17FA-E9BBE9655AF6}"/>
              </a:ext>
            </a:extLst>
          </p:cNvPr>
          <p:cNvSpPr>
            <a:spLocks noGrp="1" noRot="1" noChangeAspect="1"/>
          </p:cNvSpPr>
          <p:nvPr>
            <p:ph type="sldImg"/>
          </p:nvPr>
        </p:nvSpPr>
        <p:spPr>
          <a:xfrm>
            <a:off x="342900" y="1143000"/>
            <a:ext cx="6172200" cy="3086100"/>
          </a:xfrm>
        </p:spPr>
      </p:sp>
      <p:sp>
        <p:nvSpPr>
          <p:cNvPr id="3" name="Notes Placeholder 2">
            <a:extLst>
              <a:ext uri="{FF2B5EF4-FFF2-40B4-BE49-F238E27FC236}">
                <a16:creationId xmlns:a16="http://schemas.microsoft.com/office/drawing/2014/main" id="{1E8FEDE8-0400-78B3-6AF7-7BCDF7CDC5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C8D9F1-B2CE-3B87-E58F-A6864EA7FFD1}"/>
              </a:ext>
            </a:extLst>
          </p:cNvPr>
          <p:cNvSpPr>
            <a:spLocks noGrp="1"/>
          </p:cNvSpPr>
          <p:nvPr>
            <p:ph type="sldNum" sz="quarter" idx="10"/>
          </p:nvPr>
        </p:nvSpPr>
        <p:spPr/>
        <p:txBody>
          <a:bodyPr/>
          <a:lstStyle/>
          <a:p>
            <a:fld id="{3BCD5281-AB0E-4AE5-96D1-620E2E6C6426}" type="slidenum">
              <a:rPr lang="en-US" smtClean="0"/>
              <a:t>4</a:t>
            </a:fld>
            <a:endParaRPr lang="en-US"/>
          </a:p>
        </p:txBody>
      </p:sp>
    </p:spTree>
    <p:extLst>
      <p:ext uri="{BB962C8B-B14F-4D97-AF65-F5344CB8AC3E}">
        <p14:creationId xmlns:p14="http://schemas.microsoft.com/office/powerpoint/2010/main" val="3890779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E9027-0C2F-BE4F-0E2B-DE6604D5CE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B91C6-2582-08A1-487D-19E25F1DAF42}"/>
              </a:ext>
            </a:extLst>
          </p:cNvPr>
          <p:cNvSpPr>
            <a:spLocks noGrp="1" noRot="1" noChangeAspect="1"/>
          </p:cNvSpPr>
          <p:nvPr>
            <p:ph type="sldImg"/>
          </p:nvPr>
        </p:nvSpPr>
        <p:spPr>
          <a:xfrm>
            <a:off x="342900" y="1143000"/>
            <a:ext cx="6172200" cy="3086100"/>
          </a:xfrm>
        </p:spPr>
      </p:sp>
      <p:sp>
        <p:nvSpPr>
          <p:cNvPr id="3" name="Notes Placeholder 2">
            <a:extLst>
              <a:ext uri="{FF2B5EF4-FFF2-40B4-BE49-F238E27FC236}">
                <a16:creationId xmlns:a16="http://schemas.microsoft.com/office/drawing/2014/main" id="{7654E869-BD64-9831-4B4B-2D0BAEFA44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CB229A-B1C6-57E8-232C-2EB9762C295F}"/>
              </a:ext>
            </a:extLst>
          </p:cNvPr>
          <p:cNvSpPr>
            <a:spLocks noGrp="1"/>
          </p:cNvSpPr>
          <p:nvPr>
            <p:ph type="sldNum" sz="quarter" idx="10"/>
          </p:nvPr>
        </p:nvSpPr>
        <p:spPr/>
        <p:txBody>
          <a:bodyPr/>
          <a:lstStyle/>
          <a:p>
            <a:fld id="{3BCD5281-AB0E-4AE5-96D1-620E2E6C6426}" type="slidenum">
              <a:rPr lang="en-US" smtClean="0"/>
              <a:t>5</a:t>
            </a:fld>
            <a:endParaRPr lang="en-US"/>
          </a:p>
        </p:txBody>
      </p:sp>
    </p:spTree>
    <p:extLst>
      <p:ext uri="{BB962C8B-B14F-4D97-AF65-F5344CB8AC3E}">
        <p14:creationId xmlns:p14="http://schemas.microsoft.com/office/powerpoint/2010/main" val="3000189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8</a:t>
            </a:fld>
            <a:endParaRPr lang="en-US"/>
          </a:p>
        </p:txBody>
      </p:sp>
    </p:spTree>
    <p:extLst>
      <p:ext uri="{BB962C8B-B14F-4D97-AF65-F5344CB8AC3E}">
        <p14:creationId xmlns:p14="http://schemas.microsoft.com/office/powerpoint/2010/main" val="1356645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F1D1A-B3AC-2EF0-9D73-F300114DB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5A695-7B4D-4A6E-6950-FCE0A986D549}"/>
              </a:ext>
            </a:extLst>
          </p:cNvPr>
          <p:cNvSpPr>
            <a:spLocks noGrp="1" noRot="1" noChangeAspect="1"/>
          </p:cNvSpPr>
          <p:nvPr>
            <p:ph type="sldImg"/>
          </p:nvPr>
        </p:nvSpPr>
        <p:spPr>
          <a:xfrm>
            <a:off x="342900" y="1143000"/>
            <a:ext cx="6172200" cy="3086100"/>
          </a:xfrm>
        </p:spPr>
      </p:sp>
      <p:sp>
        <p:nvSpPr>
          <p:cNvPr id="3" name="Notes Placeholder 2">
            <a:extLst>
              <a:ext uri="{FF2B5EF4-FFF2-40B4-BE49-F238E27FC236}">
                <a16:creationId xmlns:a16="http://schemas.microsoft.com/office/drawing/2014/main" id="{64BA25F1-42D2-71F7-041E-402153465B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CE83F8-38D0-7F60-6FBB-8EB6C77FF2FE}"/>
              </a:ext>
            </a:extLst>
          </p:cNvPr>
          <p:cNvSpPr>
            <a:spLocks noGrp="1"/>
          </p:cNvSpPr>
          <p:nvPr>
            <p:ph type="sldNum" sz="quarter" idx="10"/>
          </p:nvPr>
        </p:nvSpPr>
        <p:spPr/>
        <p:txBody>
          <a:bodyPr/>
          <a:lstStyle/>
          <a:p>
            <a:fld id="{3BCD5281-AB0E-4AE5-96D1-620E2E6C6426}" type="slidenum">
              <a:rPr lang="en-US" smtClean="0"/>
              <a:t>9</a:t>
            </a:fld>
            <a:endParaRPr lang="en-US"/>
          </a:p>
        </p:txBody>
      </p:sp>
    </p:spTree>
    <p:extLst>
      <p:ext uri="{BB962C8B-B14F-4D97-AF65-F5344CB8AC3E}">
        <p14:creationId xmlns:p14="http://schemas.microsoft.com/office/powerpoint/2010/main" val="554828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10</a:t>
            </a:fld>
            <a:endParaRPr lang="en-US"/>
          </a:p>
        </p:txBody>
      </p:sp>
    </p:spTree>
    <p:extLst>
      <p:ext uri="{BB962C8B-B14F-4D97-AF65-F5344CB8AC3E}">
        <p14:creationId xmlns:p14="http://schemas.microsoft.com/office/powerpoint/2010/main" val="620778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15</a:t>
            </a:fld>
            <a:endParaRPr lang="en-US"/>
          </a:p>
        </p:txBody>
      </p:sp>
    </p:spTree>
    <p:extLst>
      <p:ext uri="{BB962C8B-B14F-4D97-AF65-F5344CB8AC3E}">
        <p14:creationId xmlns:p14="http://schemas.microsoft.com/office/powerpoint/2010/main" val="3354728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18</a:t>
            </a:fld>
            <a:endParaRPr lang="en-US"/>
          </a:p>
        </p:txBody>
      </p:sp>
    </p:spTree>
    <p:extLst>
      <p:ext uri="{BB962C8B-B14F-4D97-AF65-F5344CB8AC3E}">
        <p14:creationId xmlns:p14="http://schemas.microsoft.com/office/powerpoint/2010/main" val="2974837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20</a:t>
            </a:fld>
            <a:endParaRPr lang="en-US"/>
          </a:p>
        </p:txBody>
      </p:sp>
    </p:spTree>
    <p:extLst>
      <p:ext uri="{BB962C8B-B14F-4D97-AF65-F5344CB8AC3E}">
        <p14:creationId xmlns:p14="http://schemas.microsoft.com/office/powerpoint/2010/main" val="2883502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1143000"/>
            <a:ext cx="61722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D5281-AB0E-4AE5-96D1-620E2E6C6426}" type="slidenum">
              <a:rPr lang="en-US" smtClean="0"/>
              <a:t>22</a:t>
            </a:fld>
            <a:endParaRPr lang="en-US"/>
          </a:p>
        </p:txBody>
      </p:sp>
    </p:spTree>
    <p:extLst>
      <p:ext uri="{BB962C8B-B14F-4D97-AF65-F5344CB8AC3E}">
        <p14:creationId xmlns:p14="http://schemas.microsoft.com/office/powerpoint/2010/main" val="4128726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dirty="0"/>
          </a:p>
        </p:txBody>
      </p:sp>
      <p:sp>
        <p:nvSpPr>
          <p:cNvPr id="4" name="Slide Number Placeholder 3"/>
          <p:cNvSpPr>
            <a:spLocks noGrp="1"/>
          </p:cNvSpPr>
          <p:nvPr>
            <p:ph type="sldNum" sz="quarter" idx="5"/>
          </p:nvPr>
        </p:nvSpPr>
        <p:spPr/>
        <p:txBody>
          <a:bodyPr/>
          <a:lstStyle/>
          <a:p>
            <a:fld id="{3BCD5281-AB0E-4AE5-96D1-620E2E6C6426}" type="slidenum">
              <a:rPr lang="en-US" smtClean="0"/>
              <a:t>28</a:t>
            </a:fld>
            <a:endParaRPr lang="en-US"/>
          </a:p>
        </p:txBody>
      </p:sp>
    </p:spTree>
    <p:extLst>
      <p:ext uri="{BB962C8B-B14F-4D97-AF65-F5344CB8AC3E}">
        <p14:creationId xmlns:p14="http://schemas.microsoft.com/office/powerpoint/2010/main" val="33180645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346836"/>
            <a:ext cx="123444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2057400" y="4322446"/>
            <a:ext cx="123444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a:xfrm>
            <a:off x="10521" y="7950630"/>
            <a:ext cx="3703320" cy="278969"/>
          </a:xfrm>
        </p:spPr>
        <p:txBody>
          <a:bodyPr/>
          <a:lstStyle>
            <a:lvl1pPr>
              <a:defRPr>
                <a:solidFill>
                  <a:srgbClr val="0070C0"/>
                </a:solidFill>
              </a:defRPr>
            </a:lvl1pPr>
          </a:lstStyle>
          <a:p>
            <a:fld id="{3E40FB52-8DE6-491B-9267-1232DAC81161}" type="datetime3">
              <a:rPr lang="en-US" smtClean="0"/>
              <a:t>24 December 2025</a:t>
            </a:fld>
            <a:endParaRPr lang="en-US" dirty="0"/>
          </a:p>
        </p:txBody>
      </p:sp>
      <p:sp>
        <p:nvSpPr>
          <p:cNvPr id="5" name="Footer Placeholder 4"/>
          <p:cNvSpPr>
            <a:spLocks noGrp="1"/>
          </p:cNvSpPr>
          <p:nvPr>
            <p:ph type="ftr" sz="quarter" idx="11"/>
          </p:nvPr>
        </p:nvSpPr>
        <p:spPr>
          <a:xfrm>
            <a:off x="5452110" y="7950630"/>
            <a:ext cx="5554980" cy="267212"/>
          </a:xfrm>
        </p:spPr>
        <p:txBody>
          <a:bodyPr/>
          <a:lstStyle>
            <a:lvl1pPr>
              <a:defRPr sz="1600">
                <a:solidFill>
                  <a:srgbClr val="0070C0"/>
                </a:solidFill>
              </a:defRPr>
            </a:lvl1pPr>
          </a:lstStyle>
          <a:p>
            <a:r>
              <a:rPr lang="en-US" dirty="0"/>
              <a:t>Course Teacher: Prof. Dr. Engr. </a:t>
            </a:r>
            <a:r>
              <a:rPr lang="en-US" dirty="0" err="1"/>
              <a:t>Muhibul</a:t>
            </a:r>
            <a:r>
              <a:rPr lang="en-US" dirty="0"/>
              <a:t> </a:t>
            </a:r>
            <a:r>
              <a:rPr lang="en-US" dirty="0" err="1"/>
              <a:t>Haque</a:t>
            </a:r>
            <a:r>
              <a:rPr lang="en-US" dirty="0"/>
              <a:t> </a:t>
            </a:r>
            <a:r>
              <a:rPr lang="en-US" dirty="0" err="1"/>
              <a:t>Bhuyan</a:t>
            </a:r>
            <a:endParaRPr lang="en-US" dirty="0"/>
          </a:p>
        </p:txBody>
      </p:sp>
      <p:sp>
        <p:nvSpPr>
          <p:cNvPr id="6" name="Slide Number Placeholder 5"/>
          <p:cNvSpPr>
            <a:spLocks noGrp="1"/>
          </p:cNvSpPr>
          <p:nvPr>
            <p:ph type="sldNum" sz="quarter" idx="12"/>
          </p:nvPr>
        </p:nvSpPr>
        <p:spPr>
          <a:xfrm>
            <a:off x="14401799" y="7950630"/>
            <a:ext cx="2031381" cy="278970"/>
          </a:xfr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1" y="11981"/>
            <a:ext cx="1696973" cy="1600252"/>
          </a:xfrm>
          <a:prstGeom prst="rect">
            <a:avLst/>
          </a:prstGeom>
        </p:spPr>
      </p:pic>
      <p:sp>
        <p:nvSpPr>
          <p:cNvPr id="8" name="TextBox 7"/>
          <p:cNvSpPr txBox="1"/>
          <p:nvPr userDrawn="1"/>
        </p:nvSpPr>
        <p:spPr>
          <a:xfrm>
            <a:off x="2355742" y="405040"/>
            <a:ext cx="13331330" cy="941796"/>
          </a:xfrm>
          <a:prstGeom prst="rect">
            <a:avLst/>
          </a:prstGeom>
          <a:noFill/>
        </p:spPr>
        <p:txBody>
          <a:bodyPr wrap="square" rtlCol="0">
            <a:spAutoFit/>
          </a:bodyPr>
          <a:lstStyle/>
          <a:p>
            <a:pPr algn="l"/>
            <a:r>
              <a:rPr lang="en-US" sz="3600" b="1" dirty="0">
                <a:solidFill>
                  <a:schemeClr val="accent1">
                    <a:lumMod val="75000"/>
                  </a:schemeClr>
                </a:solidFill>
              </a:rPr>
              <a:t>AMERICAN INTERNATIONAL UNIVERSITY-BANGLADESH (AIUB)</a:t>
            </a:r>
          </a:p>
          <a:p>
            <a:pPr algn="l"/>
            <a:r>
              <a:rPr lang="en-US" sz="1920" dirty="0">
                <a:solidFill>
                  <a:srgbClr val="0070C0"/>
                </a:solidFill>
              </a:rPr>
              <a:t>Where leaders are created</a:t>
            </a:r>
          </a:p>
        </p:txBody>
      </p:sp>
      <p:sp>
        <p:nvSpPr>
          <p:cNvPr id="9" name="TextBox 8"/>
          <p:cNvSpPr txBox="1"/>
          <p:nvPr userDrawn="1"/>
        </p:nvSpPr>
        <p:spPr>
          <a:xfrm>
            <a:off x="11301557" y="7813972"/>
            <a:ext cx="2905681" cy="400110"/>
          </a:xfrm>
          <a:prstGeom prst="rect">
            <a:avLst/>
          </a:prstGeom>
          <a:noFill/>
        </p:spPr>
        <p:txBody>
          <a:bodyPr wrap="square" rtlCol="0">
            <a:spAutoFit/>
          </a:bodyPr>
          <a:lstStyle/>
          <a:p>
            <a:pPr algn="r"/>
            <a:r>
              <a:rPr lang="en-US" sz="2000" b="1" dirty="0">
                <a:solidFill>
                  <a:schemeClr val="accent1">
                    <a:lumMod val="75000"/>
                  </a:schemeClr>
                </a:solidFill>
              </a:rPr>
              <a:t>Department of EEE</a:t>
            </a:r>
          </a:p>
        </p:txBody>
      </p:sp>
    </p:spTree>
    <p:extLst>
      <p:ext uri="{BB962C8B-B14F-4D97-AF65-F5344CB8AC3E}">
        <p14:creationId xmlns:p14="http://schemas.microsoft.com/office/powerpoint/2010/main" val="4049715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274" y="7919634"/>
            <a:ext cx="2788920" cy="309966"/>
          </a:xfrm>
        </p:spPr>
        <p:txBody>
          <a:bodyPr/>
          <a:lstStyle>
            <a:lvl1pPr>
              <a:defRPr sz="1400">
                <a:solidFill>
                  <a:srgbClr val="0070C0"/>
                </a:solidFill>
              </a:defRPr>
            </a:lvl1pPr>
          </a:lstStyle>
          <a:p>
            <a:fld id="{71929196-59B1-4AA0-8693-4A4DFD55DA06}" type="datetime3">
              <a:rPr lang="en-US" smtClean="0"/>
              <a:t>24 December 2025</a:t>
            </a:fld>
            <a:endParaRPr lang="en-US"/>
          </a:p>
        </p:txBody>
      </p:sp>
      <p:sp>
        <p:nvSpPr>
          <p:cNvPr id="5" name="Footer Placeholder 4"/>
          <p:cNvSpPr>
            <a:spLocks noGrp="1"/>
          </p:cNvSpPr>
          <p:nvPr>
            <p:ph type="ftr" sz="quarter" idx="11"/>
          </p:nvPr>
        </p:nvSpPr>
        <p:spPr>
          <a:xfrm>
            <a:off x="5452110" y="7919634"/>
            <a:ext cx="6636568" cy="325464"/>
          </a:xfrm>
        </p:spPr>
        <p:txBody>
          <a:bodyPr/>
          <a:lstStyle>
            <a:lvl1pPr>
              <a:defRPr sz="1600">
                <a:solidFill>
                  <a:srgbClr val="0070C0"/>
                </a:solidFill>
              </a:defRPr>
            </a:lvl1pPr>
          </a:lstStyle>
          <a:p>
            <a:r>
              <a:rPr lang="en-US"/>
              <a:t>Course Teacher: Prof. Dr. Engr. Muhibul Haque Bhuyan</a:t>
            </a:r>
            <a:endParaRPr lang="en-US" dirty="0"/>
          </a:p>
        </p:txBody>
      </p:sp>
      <p:sp>
        <p:nvSpPr>
          <p:cNvPr id="6" name="Slide Number Placeholder 5"/>
          <p:cNvSpPr>
            <a:spLocks noGrp="1"/>
          </p:cNvSpPr>
          <p:nvPr>
            <p:ph type="sldNum" sz="quarter" idx="12"/>
          </p:nvPr>
        </p:nvSpPr>
        <p:spPr>
          <a:xfrm>
            <a:off x="15141845" y="7919634"/>
            <a:ext cx="1317356" cy="290270"/>
          </a:xfr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stretch>
            <a:fillRect/>
          </a:stretch>
        </p:blipFill>
        <p:spPr>
          <a:xfrm>
            <a:off x="0" y="18938"/>
            <a:ext cx="1689315" cy="645504"/>
          </a:xfrm>
          <a:prstGeom prst="rect">
            <a:avLst/>
          </a:prstGeom>
        </p:spPr>
      </p:pic>
      <p:sp>
        <p:nvSpPr>
          <p:cNvPr id="8" name="Rectangle 7"/>
          <p:cNvSpPr/>
          <p:nvPr userDrawn="1"/>
        </p:nvSpPr>
        <p:spPr>
          <a:xfrm>
            <a:off x="11794210" y="-16858"/>
            <a:ext cx="4682591" cy="4638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b="1" dirty="0">
                <a:solidFill>
                  <a:srgbClr val="FFFF00"/>
                </a:solidFill>
              </a:rPr>
              <a:t>Microprocessor and Embedded Systems</a:t>
            </a:r>
          </a:p>
        </p:txBody>
      </p:sp>
      <p:sp>
        <p:nvSpPr>
          <p:cNvPr id="9" name="TextBox 8"/>
          <p:cNvSpPr txBox="1"/>
          <p:nvPr userDrawn="1"/>
        </p:nvSpPr>
        <p:spPr>
          <a:xfrm>
            <a:off x="12241563" y="7635430"/>
            <a:ext cx="607859" cy="523220"/>
          </a:xfrm>
          <a:prstGeom prst="rect">
            <a:avLst/>
          </a:prstGeom>
          <a:noFill/>
        </p:spPr>
        <p:txBody>
          <a:bodyPr wrap="none" rtlCol="0">
            <a:spAutoFit/>
          </a:bodyPr>
          <a:lstStyle/>
          <a:p>
            <a:fld id="{4B2552B2-E763-405A-8E5A-B8DDC8F7B503}" type="slidenum">
              <a:rPr lang="en-US" sz="2800" smtClean="0">
                <a:solidFill>
                  <a:schemeClr val="bg1"/>
                </a:solidFill>
              </a:rPr>
              <a:t>‹#›</a:t>
            </a:fld>
            <a:endParaRPr lang="en-US" sz="2800" dirty="0">
              <a:solidFill>
                <a:schemeClr val="bg1"/>
              </a:solidFill>
            </a:endParaRPr>
          </a:p>
        </p:txBody>
      </p:sp>
    </p:spTree>
    <p:extLst>
      <p:ext uri="{BB962C8B-B14F-4D97-AF65-F5344CB8AC3E}">
        <p14:creationId xmlns:p14="http://schemas.microsoft.com/office/powerpoint/2010/main" val="4323048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438150"/>
            <a:ext cx="1419606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2190750"/>
            <a:ext cx="1419606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7627621"/>
            <a:ext cx="370332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14DDBB74-B379-4CB6-B655-467BD2E335B3}" type="datetime3">
              <a:rPr lang="en-US" smtClean="0"/>
              <a:t>24 December 2025</a:t>
            </a:fld>
            <a:endParaRPr lang="en-US"/>
          </a:p>
        </p:txBody>
      </p:sp>
      <p:sp>
        <p:nvSpPr>
          <p:cNvPr id="5" name="Footer Placeholder 4"/>
          <p:cNvSpPr>
            <a:spLocks noGrp="1"/>
          </p:cNvSpPr>
          <p:nvPr>
            <p:ph type="ftr" sz="quarter" idx="3"/>
          </p:nvPr>
        </p:nvSpPr>
        <p:spPr>
          <a:xfrm>
            <a:off x="5452110" y="7627621"/>
            <a:ext cx="555498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r>
              <a:rPr lang="en-US"/>
              <a:t>Course Teacher: Prof. Dr. Engr. Muhibul Haque Bhuyan</a:t>
            </a:r>
          </a:p>
        </p:txBody>
      </p:sp>
      <p:sp>
        <p:nvSpPr>
          <p:cNvPr id="6" name="Slide Number Placeholder 5"/>
          <p:cNvSpPr>
            <a:spLocks noGrp="1"/>
          </p:cNvSpPr>
          <p:nvPr>
            <p:ph type="sldNum" sz="quarter" idx="4"/>
          </p:nvPr>
        </p:nvSpPr>
        <p:spPr>
          <a:xfrm>
            <a:off x="11624310" y="7627621"/>
            <a:ext cx="370332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C9C7C91F-6875-4C79-9E49-C73FDE57945E}" type="slidenum">
              <a:rPr lang="en-US" smtClean="0"/>
              <a:t>‹#›</a:t>
            </a:fld>
            <a:endParaRPr lang="en-US"/>
          </a:p>
        </p:txBody>
      </p:sp>
    </p:spTree>
    <p:extLst>
      <p:ext uri="{BB962C8B-B14F-4D97-AF65-F5344CB8AC3E}">
        <p14:creationId xmlns:p14="http://schemas.microsoft.com/office/powerpoint/2010/main" val="2637165226"/>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8.png"/><Relationship Id="rId7" Type="http://schemas.openxmlformats.org/officeDocument/2006/relationships/image" Target="../media/image9.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1.bin"/><Relationship Id="rId4" Type="http://schemas.openxmlformats.org/officeDocument/2006/relationships/image" Target="../media/image7.emf"/><Relationship Id="rId9"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0.png"/><Relationship Id="rId4" Type="http://schemas.openxmlformats.org/officeDocument/2006/relationships/image" Target="../media/image16.emf"/></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 Id="rId4" Type="http://schemas.microsoft.com/office/2007/relationships/hdphoto" Target="../media/hdphoto2.wdp"/></Relationships>
</file>

<file path=ppt/slides/_rels/slide3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F83542-990E-4AD7-9205-9BAC0D2B3160}"/>
              </a:ext>
            </a:extLst>
          </p:cNvPr>
          <p:cNvSpPr>
            <a:spLocks noGrp="1"/>
          </p:cNvSpPr>
          <p:nvPr>
            <p:ph type="ctrTitle"/>
          </p:nvPr>
        </p:nvSpPr>
        <p:spPr>
          <a:xfrm>
            <a:off x="1299411" y="1561715"/>
            <a:ext cx="14036383" cy="3180102"/>
          </a:xfrm>
        </p:spPr>
        <p:txBody>
          <a:bodyPr>
            <a:noAutofit/>
          </a:bodyPr>
          <a:lstStyle/>
          <a:p>
            <a:r>
              <a:rPr lang="en-US" b="1" dirty="0">
                <a:solidFill>
                  <a:srgbClr val="0070C0"/>
                </a:solidFill>
              </a:rPr>
              <a:t>Lecture # 3 (Final)</a:t>
            </a:r>
            <a:br>
              <a:rPr lang="en-US" b="1" dirty="0">
                <a:solidFill>
                  <a:srgbClr val="0070C0"/>
                </a:solidFill>
              </a:rPr>
            </a:br>
            <a:r>
              <a:rPr lang="en-US" b="1" dirty="0">
                <a:solidFill>
                  <a:srgbClr val="0070C0"/>
                </a:solidFill>
              </a:rPr>
              <a:t>Processor Logic Design (1</a:t>
            </a:r>
            <a:r>
              <a:rPr lang="en-US" b="1" baseline="30000" dirty="0">
                <a:solidFill>
                  <a:srgbClr val="0070C0"/>
                </a:solidFill>
              </a:rPr>
              <a:t>st</a:t>
            </a:r>
            <a:r>
              <a:rPr lang="en-US" b="1" dirty="0">
                <a:solidFill>
                  <a:srgbClr val="0070C0"/>
                </a:solidFill>
              </a:rPr>
              <a:t> Part)</a:t>
            </a:r>
            <a:br>
              <a:rPr lang="en-US" b="1" dirty="0">
                <a:solidFill>
                  <a:srgbClr val="0070C0"/>
                </a:solidFill>
              </a:rPr>
            </a:br>
            <a:r>
              <a:rPr lang="en-US" sz="6000" b="1" dirty="0">
                <a:solidFill>
                  <a:srgbClr val="0070C0"/>
                </a:solidFill>
              </a:rPr>
              <a:t>ALU Design</a:t>
            </a:r>
            <a:endParaRPr lang="en-US" b="1" dirty="0">
              <a:solidFill>
                <a:srgbClr val="0070C0"/>
              </a:solidFill>
            </a:endParaRPr>
          </a:p>
        </p:txBody>
      </p:sp>
      <p:sp>
        <p:nvSpPr>
          <p:cNvPr id="3" name="TextBox 2">
            <a:extLst>
              <a:ext uri="{FF2B5EF4-FFF2-40B4-BE49-F238E27FC236}">
                <a16:creationId xmlns:a16="http://schemas.microsoft.com/office/drawing/2014/main" id="{27CAD4AC-E9B6-27AE-93A6-9A17F31CBAC9}"/>
              </a:ext>
            </a:extLst>
          </p:cNvPr>
          <p:cNvSpPr txBox="1"/>
          <p:nvPr/>
        </p:nvSpPr>
        <p:spPr>
          <a:xfrm>
            <a:off x="7262950" y="5924027"/>
            <a:ext cx="8908868" cy="1446550"/>
          </a:xfrm>
          <a:prstGeom prst="rect">
            <a:avLst/>
          </a:prstGeom>
          <a:noFill/>
        </p:spPr>
        <p:txBody>
          <a:bodyPr wrap="square">
            <a:spAutoFit/>
          </a:bodyPr>
          <a:lstStyle/>
          <a:p>
            <a:pPr algn="r" rtl="0" fontAlgn="base"/>
            <a:r>
              <a:rPr lang="en-US" sz="3200" b="1" i="0" dirty="0">
                <a:solidFill>
                  <a:srgbClr val="0000BF"/>
                </a:solidFill>
                <a:effectLst/>
                <a:latin typeface="times new roman" panose="02020603050405020304" pitchFamily="18" charset="0"/>
              </a:rPr>
              <a:t>Debraj Das</a:t>
            </a:r>
            <a:endParaRPr lang="en-US" sz="2800" b="1" i="0" dirty="0">
              <a:solidFill>
                <a:srgbClr val="0000FF"/>
              </a:solidFill>
              <a:effectLst/>
              <a:latin typeface="times new roman" panose="02020603050405020304" pitchFamily="18" charset="0"/>
            </a:endParaRPr>
          </a:p>
          <a:p>
            <a:pPr algn="r" fontAlgn="base"/>
            <a:r>
              <a:rPr lang="en-US" sz="2800" b="0" i="0" dirty="0">
                <a:solidFill>
                  <a:srgbClr val="0000FF"/>
                </a:solidFill>
                <a:effectLst/>
                <a:latin typeface="Segoe UI" panose="020B0502040204020203" pitchFamily="34" charset="0"/>
              </a:rPr>
              <a:t>Department of Electrical and Electronic Engineering</a:t>
            </a:r>
            <a:br>
              <a:rPr lang="en-US" sz="2800" b="0" i="0" dirty="0">
                <a:solidFill>
                  <a:srgbClr val="0000FF"/>
                </a:solidFill>
                <a:effectLst/>
                <a:latin typeface="Segoe UI" panose="020B0502040204020203" pitchFamily="34" charset="0"/>
              </a:rPr>
            </a:br>
            <a:r>
              <a:rPr lang="en-US" sz="2800" b="0" i="0" dirty="0">
                <a:solidFill>
                  <a:srgbClr val="0000FF"/>
                </a:solidFill>
                <a:effectLst/>
                <a:latin typeface="Segoe UI" panose="020B0502040204020203" pitchFamily="34" charset="0"/>
              </a:rPr>
              <a:t>American International University-Bangladesh (AIUB)</a:t>
            </a:r>
            <a:endParaRPr lang="en-US" sz="2800" b="0" i="0" dirty="0">
              <a:solidFill>
                <a:srgbClr val="242424"/>
              </a:solidFill>
              <a:effectLst/>
              <a:latin typeface="Segoe UI" panose="020B0502040204020203" pitchFamily="34" charset="0"/>
            </a:endParaRPr>
          </a:p>
        </p:txBody>
      </p:sp>
    </p:spTree>
    <p:extLst>
      <p:ext uri="{BB962C8B-B14F-4D97-AF65-F5344CB8AC3E}">
        <p14:creationId xmlns:p14="http://schemas.microsoft.com/office/powerpoint/2010/main" val="220196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9BC1F-1CCF-45E5-AC27-929C685E6F0A}"/>
              </a:ext>
            </a:extLst>
          </p:cNvPr>
          <p:cNvSpPr>
            <a:spLocks noGrp="1"/>
          </p:cNvSpPr>
          <p:nvPr>
            <p:ph type="title"/>
          </p:nvPr>
        </p:nvSpPr>
        <p:spPr>
          <a:xfrm>
            <a:off x="1604357" y="205394"/>
            <a:ext cx="12618720" cy="958388"/>
          </a:xfrm>
        </p:spPr>
        <p:txBody>
          <a:bodyPr>
            <a:normAutofit/>
          </a:bodyPr>
          <a:lstStyle/>
          <a:p>
            <a:r>
              <a:rPr lang="en-US" sz="6000" b="1" dirty="0">
                <a:solidFill>
                  <a:srgbClr val="0070C0"/>
                </a:solidFill>
              </a:rPr>
              <a:t>Introduction</a:t>
            </a:r>
          </a:p>
        </p:txBody>
      </p:sp>
      <p:sp>
        <p:nvSpPr>
          <p:cNvPr id="3" name="Content Placeholder 2">
            <a:extLst>
              <a:ext uri="{FF2B5EF4-FFF2-40B4-BE49-F238E27FC236}">
                <a16:creationId xmlns:a16="http://schemas.microsoft.com/office/drawing/2014/main" id="{2FDD3AE2-3D8A-4CFB-A39E-441124DD9809}"/>
              </a:ext>
            </a:extLst>
          </p:cNvPr>
          <p:cNvSpPr>
            <a:spLocks noGrp="1"/>
          </p:cNvSpPr>
          <p:nvPr>
            <p:ph idx="1"/>
          </p:nvPr>
        </p:nvSpPr>
        <p:spPr>
          <a:xfrm>
            <a:off x="207817" y="1163782"/>
            <a:ext cx="15902248" cy="6755852"/>
          </a:xfrm>
        </p:spPr>
        <p:txBody>
          <a:bodyPr>
            <a:noAutofit/>
          </a:bodyPr>
          <a:lstStyle/>
          <a:p>
            <a:pPr algn="just"/>
            <a:r>
              <a:rPr lang="en-US" sz="3600" dirty="0"/>
              <a:t>A processor unit is that part of a digital system that implements the operations in the system. </a:t>
            </a:r>
          </a:p>
          <a:p>
            <a:pPr algn="just"/>
            <a:r>
              <a:rPr lang="en-US" sz="3600" dirty="0"/>
              <a:t>It comprises a number of registers and the digital functions that implement arithmetic, logic, shift, and transfer micro-operations. </a:t>
            </a:r>
          </a:p>
          <a:p>
            <a:pPr algn="just"/>
            <a:r>
              <a:rPr lang="en-US" sz="3600" dirty="0"/>
              <a:t>The processor unit, when combined with a control unit that supervises the sequence of micro-operations, is called a central processing unit (CPU). </a:t>
            </a:r>
          </a:p>
          <a:p>
            <a:pPr algn="just"/>
            <a:r>
              <a:rPr lang="en-US" sz="3600" dirty="0"/>
              <a:t>Central Processing Unit (CPU) consists of Memory (Register Banks), Arithmetic Logic Unit (ALU) and Control Unit (CU).</a:t>
            </a:r>
          </a:p>
          <a:p>
            <a:pPr algn="just"/>
            <a:r>
              <a:rPr lang="en-US" sz="3600" dirty="0"/>
              <a:t>There are </a:t>
            </a:r>
            <a:r>
              <a:rPr lang="en-US" sz="3600" b="1" dirty="0">
                <a:solidFill>
                  <a:srgbClr val="7030A0"/>
                </a:solidFill>
              </a:rPr>
              <a:t>three organizations </a:t>
            </a:r>
            <a:r>
              <a:rPr lang="en-US" sz="3600" dirty="0"/>
              <a:t>for organizing a general-purpose processor unit:</a:t>
            </a:r>
          </a:p>
          <a:p>
            <a:pPr lvl="1" algn="just">
              <a:buFont typeface="Wingdings" panose="05000000000000000000" pitchFamily="2" charset="2"/>
              <a:buChar char="§"/>
            </a:pPr>
            <a:r>
              <a:rPr lang="en-US" sz="3200" dirty="0"/>
              <a:t>Bus organization</a:t>
            </a:r>
          </a:p>
          <a:p>
            <a:pPr lvl="1" algn="just">
              <a:buFont typeface="Wingdings" panose="05000000000000000000" pitchFamily="2" charset="2"/>
              <a:buChar char="§"/>
            </a:pPr>
            <a:r>
              <a:rPr lang="en-US" sz="3200" dirty="0"/>
              <a:t>Scratchpad memory</a:t>
            </a:r>
          </a:p>
          <a:p>
            <a:pPr lvl="1" algn="just">
              <a:buFont typeface="Wingdings" panose="05000000000000000000" pitchFamily="2" charset="2"/>
              <a:buChar char="§"/>
            </a:pPr>
            <a:r>
              <a:rPr lang="en-US" sz="3200" dirty="0"/>
              <a:t>Two-port memory</a:t>
            </a:r>
          </a:p>
          <a:p>
            <a:pPr algn="just"/>
            <a:endParaRPr lang="en-US" sz="3600" dirty="0"/>
          </a:p>
        </p:txBody>
      </p:sp>
      <p:sp>
        <p:nvSpPr>
          <p:cNvPr id="4" name="Date Placeholder 3"/>
          <p:cNvSpPr>
            <a:spLocks noGrp="1"/>
          </p:cNvSpPr>
          <p:nvPr>
            <p:ph type="dt" sz="half" idx="10"/>
          </p:nvPr>
        </p:nvSpPr>
        <p:spPr/>
        <p:txBody>
          <a:bodyPr/>
          <a:lstStyle/>
          <a:p>
            <a:fld id="{9148BD5F-7E9B-486C-BC2E-BE341ED4C716}" type="datetime3">
              <a:rPr lang="en-US" smtClean="0"/>
              <a:t>24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2</a:t>
            </a:fld>
            <a:endParaRPr lang="en-US" dirty="0"/>
          </a:p>
        </p:txBody>
      </p:sp>
    </p:spTree>
    <p:extLst>
      <p:ext uri="{BB962C8B-B14F-4D97-AF65-F5344CB8AC3E}">
        <p14:creationId xmlns:p14="http://schemas.microsoft.com/office/powerpoint/2010/main" val="2976904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EE75C-4A40-4D0B-95AE-2EA858DF65CC}"/>
              </a:ext>
            </a:extLst>
          </p:cNvPr>
          <p:cNvSpPr>
            <a:spLocks noGrp="1"/>
          </p:cNvSpPr>
          <p:nvPr>
            <p:ph type="title"/>
          </p:nvPr>
        </p:nvSpPr>
        <p:spPr>
          <a:xfrm>
            <a:off x="1737359" y="68252"/>
            <a:ext cx="7672648" cy="864773"/>
          </a:xfrm>
        </p:spPr>
        <p:txBody>
          <a:bodyPr>
            <a:normAutofit/>
          </a:bodyPr>
          <a:lstStyle/>
          <a:p>
            <a:r>
              <a:rPr lang="en-US" sz="5400" b="1" dirty="0">
                <a:solidFill>
                  <a:srgbClr val="0070C0"/>
                </a:solidFill>
              </a:rPr>
              <a:t>Bus Organization</a:t>
            </a:r>
          </a:p>
        </p:txBody>
      </p:sp>
      <p:sp>
        <p:nvSpPr>
          <p:cNvPr id="3" name="Date Placeholder 2"/>
          <p:cNvSpPr>
            <a:spLocks noGrp="1"/>
          </p:cNvSpPr>
          <p:nvPr>
            <p:ph type="dt" sz="half" idx="10"/>
          </p:nvPr>
        </p:nvSpPr>
        <p:spPr/>
        <p:txBody>
          <a:bodyPr/>
          <a:lstStyle/>
          <a:p>
            <a:fld id="{B807526D-012A-4D91-8417-DD262E2850B4}" type="datetime3">
              <a:rPr lang="en-US" smtClean="0"/>
              <a:t>24 December 2025</a:t>
            </a:fld>
            <a:endParaRPr lang="en-US"/>
          </a:p>
        </p:txBody>
      </p:sp>
      <p:sp>
        <p:nvSpPr>
          <p:cNvPr id="8" name="Slide Number Placeholder 7"/>
          <p:cNvSpPr>
            <a:spLocks noGrp="1"/>
          </p:cNvSpPr>
          <p:nvPr>
            <p:ph type="sldNum" sz="quarter" idx="12"/>
          </p:nvPr>
        </p:nvSpPr>
        <p:spPr/>
        <p:txBody>
          <a:bodyPr/>
          <a:lstStyle/>
          <a:p>
            <a:fld id="{48F63A3B-78C7-47BE-AE5E-E10140E04643}" type="slidenum">
              <a:rPr lang="en-US" smtClean="0"/>
              <a:t>3</a:t>
            </a:fld>
            <a:endParaRPr lang="en-US" dirty="0"/>
          </a:p>
        </p:txBody>
      </p:sp>
      <p:pic>
        <p:nvPicPr>
          <p:cNvPr id="11" name="Picture 10"/>
          <p:cNvPicPr>
            <a:picLocks noChangeAspect="1"/>
          </p:cNvPicPr>
          <p:nvPr/>
        </p:nvPicPr>
        <p:blipFill rotWithShape="1">
          <a:blip r:embed="rId3">
            <a:duotone>
              <a:schemeClr val="accent5">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Lst>
          </a:blip>
          <a:srcRect l="2056" t="1873" r="4597" b="3956"/>
          <a:stretch/>
        </p:blipFill>
        <p:spPr>
          <a:xfrm>
            <a:off x="9277005" y="52257"/>
            <a:ext cx="7049188" cy="7867377"/>
          </a:xfrm>
          <a:prstGeom prst="rect">
            <a:avLst/>
          </a:prstGeom>
        </p:spPr>
      </p:pic>
      <p:sp>
        <p:nvSpPr>
          <p:cNvPr id="12" name="Rectangle 11">
            <a:extLst>
              <a:ext uri="{FF2B5EF4-FFF2-40B4-BE49-F238E27FC236}">
                <a16:creationId xmlns:a16="http://schemas.microsoft.com/office/drawing/2014/main" id="{9EDE8E88-5674-4DE2-BB4D-EECFCD2D2348}"/>
              </a:ext>
            </a:extLst>
          </p:cNvPr>
          <p:cNvSpPr/>
          <p:nvPr/>
        </p:nvSpPr>
        <p:spPr>
          <a:xfrm>
            <a:off x="6059461" y="7296575"/>
            <a:ext cx="7366116" cy="830997"/>
          </a:xfrm>
          <a:prstGeom prst="rect">
            <a:avLst/>
          </a:prstGeom>
        </p:spPr>
        <p:txBody>
          <a:bodyPr wrap="square">
            <a:spAutoFit/>
          </a:bodyPr>
          <a:lstStyle/>
          <a:p>
            <a:pPr algn="r"/>
            <a:r>
              <a:rPr lang="en-US" sz="2400" dirty="0"/>
              <a:t>Fig. 9.1 Processor registers and ALU connected through Common Buses</a:t>
            </a:r>
          </a:p>
        </p:txBody>
      </p:sp>
      <p:sp>
        <p:nvSpPr>
          <p:cNvPr id="15" name="Content Placeholder 4">
            <a:extLst>
              <a:ext uri="{FF2B5EF4-FFF2-40B4-BE49-F238E27FC236}">
                <a16:creationId xmlns:a16="http://schemas.microsoft.com/office/drawing/2014/main" id="{ED18861A-715B-4313-BDF7-A97D9A71DF19}"/>
              </a:ext>
            </a:extLst>
          </p:cNvPr>
          <p:cNvSpPr txBox="1">
            <a:spLocks/>
          </p:cNvSpPr>
          <p:nvPr/>
        </p:nvSpPr>
        <p:spPr>
          <a:xfrm>
            <a:off x="191193" y="933025"/>
            <a:ext cx="9484822" cy="6831063"/>
          </a:xfrm>
          <a:prstGeom prst="rect">
            <a:avLst/>
          </a:prstGeom>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spcBef>
                <a:spcPts val="0"/>
              </a:spcBef>
              <a:spcAft>
                <a:spcPts val="600"/>
              </a:spcAft>
            </a:pPr>
            <a:r>
              <a:rPr lang="en-US" sz="3200" dirty="0"/>
              <a:t>A bus organization has 4 registers, each register is connected to 2 multiplexers to form 2 buses A and B. </a:t>
            </a:r>
          </a:p>
          <a:p>
            <a:pPr>
              <a:spcBef>
                <a:spcPts val="0"/>
              </a:spcBef>
              <a:spcAft>
                <a:spcPts val="600"/>
              </a:spcAft>
            </a:pPr>
            <a:r>
              <a:rPr lang="en-US" sz="3200" dirty="0"/>
              <a:t>To perform the </a:t>
            </a:r>
            <a:r>
              <a:rPr lang="en-US" sz="3200" b="1" dirty="0">
                <a:solidFill>
                  <a:srgbClr val="FF0000"/>
                </a:solidFill>
              </a:rPr>
              <a:t>micro-operation</a:t>
            </a:r>
            <a:r>
              <a:rPr lang="en-US" sz="3200" dirty="0"/>
              <a:t>:</a:t>
            </a:r>
          </a:p>
          <a:p>
            <a:pPr lvl="1">
              <a:spcBef>
                <a:spcPts val="0"/>
              </a:spcBef>
              <a:spcAft>
                <a:spcPts val="600"/>
              </a:spcAft>
            </a:pPr>
            <a:r>
              <a:rPr lang="en-US" sz="3200" dirty="0"/>
              <a:t>R1 = R2 + R3</a:t>
            </a:r>
          </a:p>
          <a:p>
            <a:pPr>
              <a:spcBef>
                <a:spcPts val="0"/>
              </a:spcBef>
              <a:spcAft>
                <a:spcPts val="600"/>
              </a:spcAft>
            </a:pPr>
            <a:r>
              <a:rPr lang="en-US" sz="3200" dirty="0"/>
              <a:t>The control unit must provide binary selection variables to the following selector inputs –</a:t>
            </a:r>
          </a:p>
          <a:p>
            <a:pPr marL="548640" indent="-548640">
              <a:spcBef>
                <a:spcPts val="0"/>
              </a:spcBef>
              <a:spcAft>
                <a:spcPts val="600"/>
              </a:spcAft>
              <a:buFont typeface="+mj-lt"/>
              <a:buAutoNum type="arabicPeriod"/>
            </a:pPr>
            <a:r>
              <a:rPr lang="en-US" sz="3200" dirty="0">
                <a:solidFill>
                  <a:srgbClr val="7030A0"/>
                </a:solidFill>
              </a:rPr>
              <a:t>MUX A Selector: </a:t>
            </a:r>
            <a:r>
              <a:rPr lang="en-US" sz="3200" dirty="0"/>
              <a:t>to place contents of R2 onto bus A</a:t>
            </a:r>
          </a:p>
          <a:p>
            <a:pPr marL="548640" indent="-548640">
              <a:spcBef>
                <a:spcPts val="0"/>
              </a:spcBef>
              <a:spcAft>
                <a:spcPts val="600"/>
              </a:spcAft>
              <a:buFont typeface="+mj-lt"/>
              <a:buAutoNum type="arabicPeriod"/>
            </a:pPr>
            <a:r>
              <a:rPr lang="en-US" sz="3200" dirty="0">
                <a:solidFill>
                  <a:srgbClr val="7030A0"/>
                </a:solidFill>
              </a:rPr>
              <a:t>MUX B Selector: </a:t>
            </a:r>
            <a:r>
              <a:rPr lang="en-US" sz="3200" dirty="0"/>
              <a:t>to place contents of R3 onto bus B</a:t>
            </a:r>
          </a:p>
          <a:p>
            <a:pPr marL="548640" indent="-548640">
              <a:spcBef>
                <a:spcPts val="0"/>
              </a:spcBef>
              <a:spcAft>
                <a:spcPts val="600"/>
              </a:spcAft>
              <a:buFont typeface="+mj-lt"/>
              <a:buAutoNum type="arabicPeriod"/>
            </a:pPr>
            <a:r>
              <a:rPr lang="en-US" sz="3200" dirty="0">
                <a:solidFill>
                  <a:srgbClr val="7030A0"/>
                </a:solidFill>
              </a:rPr>
              <a:t>ALU Function Selector: </a:t>
            </a:r>
            <a:r>
              <a:rPr lang="en-US" sz="3200" dirty="0"/>
              <a:t>to provide the arithmetic operation A + B</a:t>
            </a:r>
          </a:p>
          <a:p>
            <a:pPr marL="548640" indent="-548640">
              <a:spcBef>
                <a:spcPts val="0"/>
              </a:spcBef>
              <a:spcAft>
                <a:spcPts val="600"/>
              </a:spcAft>
              <a:buFont typeface="+mj-lt"/>
              <a:buAutoNum type="arabicPeriod"/>
            </a:pPr>
            <a:r>
              <a:rPr lang="en-US" sz="3200" dirty="0">
                <a:solidFill>
                  <a:srgbClr val="7030A0"/>
                </a:solidFill>
              </a:rPr>
              <a:t>Shift Selector: </a:t>
            </a:r>
            <a:r>
              <a:rPr lang="en-US" sz="3200" dirty="0"/>
              <a:t>for direct transfer from the output of the ALU onto output bus S (no shift)</a:t>
            </a:r>
          </a:p>
          <a:p>
            <a:pPr marL="548640" indent="-548640">
              <a:spcBef>
                <a:spcPts val="0"/>
              </a:spcBef>
              <a:spcAft>
                <a:spcPts val="600"/>
              </a:spcAft>
              <a:buFont typeface="+mj-lt"/>
              <a:buAutoNum type="arabicPeriod"/>
            </a:pPr>
            <a:r>
              <a:rPr lang="en-US" sz="3200" dirty="0">
                <a:solidFill>
                  <a:srgbClr val="7030A0"/>
                </a:solidFill>
              </a:rPr>
              <a:t>Decoder Destination Selector: </a:t>
            </a:r>
            <a:r>
              <a:rPr lang="en-US" sz="3200" dirty="0"/>
              <a:t>to transfer the contents of bus S into R1</a:t>
            </a:r>
          </a:p>
        </p:txBody>
      </p:sp>
    </p:spTree>
    <p:extLst>
      <p:ext uri="{BB962C8B-B14F-4D97-AF65-F5344CB8AC3E}">
        <p14:creationId xmlns:p14="http://schemas.microsoft.com/office/powerpoint/2010/main" val="362182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5">
                                            <p:txEl>
                                              <p:pRg st="4" end="4"/>
                                            </p:txEl>
                                          </p:spTgt>
                                        </p:tgtEl>
                                        <p:attrNameLst>
                                          <p:attrName>style.color</p:attrName>
                                        </p:attrNameLst>
                                      </p:cBhvr>
                                      <p:to>
                                        <a:schemeClr val="accent2"/>
                                      </p:to>
                                    </p:animClr>
                                    <p:animClr clrSpc="rgb" dir="cw">
                                      <p:cBhvr>
                                        <p:cTn id="7" dur="500" fill="hold"/>
                                        <p:tgtEl>
                                          <p:spTgt spid="15">
                                            <p:txEl>
                                              <p:pRg st="4" end="4"/>
                                            </p:txEl>
                                          </p:spTgt>
                                        </p:tgtEl>
                                        <p:attrNameLst>
                                          <p:attrName>fillcolor</p:attrName>
                                        </p:attrNameLst>
                                      </p:cBhvr>
                                      <p:to>
                                        <a:schemeClr val="accent2"/>
                                      </p:to>
                                    </p:animClr>
                                    <p:set>
                                      <p:cBhvr>
                                        <p:cTn id="8" dur="500" fill="hold"/>
                                        <p:tgtEl>
                                          <p:spTgt spid="15">
                                            <p:txEl>
                                              <p:pRg st="4" end="4"/>
                                            </p:txEl>
                                          </p:spTgt>
                                        </p:tgtEl>
                                        <p:attrNameLst>
                                          <p:attrName>fill.type</p:attrName>
                                        </p:attrNameLst>
                                      </p:cBhvr>
                                      <p:to>
                                        <p:strVal val="solid"/>
                                      </p:to>
                                    </p:set>
                                    <p:set>
                                      <p:cBhvr>
                                        <p:cTn id="9" dur="500" fill="hold"/>
                                        <p:tgtEl>
                                          <p:spTgt spid="15">
                                            <p:txEl>
                                              <p:pRg st="4" end="4"/>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5">
                                            <p:txEl>
                                              <p:pRg st="5" end="5"/>
                                            </p:txEl>
                                          </p:spTgt>
                                        </p:tgtEl>
                                        <p:attrNameLst>
                                          <p:attrName>style.color</p:attrName>
                                        </p:attrNameLst>
                                      </p:cBhvr>
                                      <p:to>
                                        <a:srgbClr val="C00000"/>
                                      </p:to>
                                    </p:animClr>
                                    <p:animClr clrSpc="rgb" dir="cw">
                                      <p:cBhvr>
                                        <p:cTn id="14" dur="500" fill="hold"/>
                                        <p:tgtEl>
                                          <p:spTgt spid="15">
                                            <p:txEl>
                                              <p:pRg st="5" end="5"/>
                                            </p:txEl>
                                          </p:spTgt>
                                        </p:tgtEl>
                                        <p:attrNameLst>
                                          <p:attrName>fillcolor</p:attrName>
                                        </p:attrNameLst>
                                      </p:cBhvr>
                                      <p:to>
                                        <a:srgbClr val="C00000"/>
                                      </p:to>
                                    </p:animClr>
                                    <p:set>
                                      <p:cBhvr>
                                        <p:cTn id="15" dur="500" fill="hold"/>
                                        <p:tgtEl>
                                          <p:spTgt spid="15">
                                            <p:txEl>
                                              <p:pRg st="5" end="5"/>
                                            </p:txEl>
                                          </p:spTgt>
                                        </p:tgtEl>
                                        <p:attrNameLst>
                                          <p:attrName>fill.type</p:attrName>
                                        </p:attrNameLst>
                                      </p:cBhvr>
                                      <p:to>
                                        <p:strVal val="solid"/>
                                      </p:to>
                                    </p:set>
                                    <p:set>
                                      <p:cBhvr>
                                        <p:cTn id="16" dur="500" fill="hold"/>
                                        <p:tgtEl>
                                          <p:spTgt spid="15">
                                            <p:txEl>
                                              <p:pRg st="5" end="5"/>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15">
                                            <p:txEl>
                                              <p:pRg st="6" end="6"/>
                                            </p:txEl>
                                          </p:spTgt>
                                        </p:tgtEl>
                                        <p:attrNameLst>
                                          <p:attrName>style.color</p:attrName>
                                        </p:attrNameLst>
                                      </p:cBhvr>
                                      <p:to>
                                        <a:srgbClr val="FF0000"/>
                                      </p:to>
                                    </p:animClr>
                                    <p:animClr clrSpc="rgb" dir="cw">
                                      <p:cBhvr>
                                        <p:cTn id="21" dur="500" fill="hold"/>
                                        <p:tgtEl>
                                          <p:spTgt spid="15">
                                            <p:txEl>
                                              <p:pRg st="6" end="6"/>
                                            </p:txEl>
                                          </p:spTgt>
                                        </p:tgtEl>
                                        <p:attrNameLst>
                                          <p:attrName>fillcolor</p:attrName>
                                        </p:attrNameLst>
                                      </p:cBhvr>
                                      <p:to>
                                        <a:srgbClr val="FF0000"/>
                                      </p:to>
                                    </p:animClr>
                                    <p:set>
                                      <p:cBhvr>
                                        <p:cTn id="22" dur="500" fill="hold"/>
                                        <p:tgtEl>
                                          <p:spTgt spid="15">
                                            <p:txEl>
                                              <p:pRg st="6" end="6"/>
                                            </p:txEl>
                                          </p:spTgt>
                                        </p:tgtEl>
                                        <p:attrNameLst>
                                          <p:attrName>fill.type</p:attrName>
                                        </p:attrNameLst>
                                      </p:cBhvr>
                                      <p:to>
                                        <p:strVal val="solid"/>
                                      </p:to>
                                    </p:set>
                                    <p:set>
                                      <p:cBhvr>
                                        <p:cTn id="23" dur="500" fill="hold"/>
                                        <p:tgtEl>
                                          <p:spTgt spid="15">
                                            <p:txEl>
                                              <p:pRg st="6" end="6"/>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15">
                                            <p:txEl>
                                              <p:pRg st="7" end="7"/>
                                            </p:txEl>
                                          </p:spTgt>
                                        </p:tgtEl>
                                        <p:attrNameLst>
                                          <p:attrName>style.color</p:attrName>
                                        </p:attrNameLst>
                                      </p:cBhvr>
                                      <p:to>
                                        <a:srgbClr val="00B0F0"/>
                                      </p:to>
                                    </p:animClr>
                                    <p:animClr clrSpc="rgb" dir="cw">
                                      <p:cBhvr>
                                        <p:cTn id="28" dur="500" fill="hold"/>
                                        <p:tgtEl>
                                          <p:spTgt spid="15">
                                            <p:txEl>
                                              <p:pRg st="7" end="7"/>
                                            </p:txEl>
                                          </p:spTgt>
                                        </p:tgtEl>
                                        <p:attrNameLst>
                                          <p:attrName>fillcolor</p:attrName>
                                        </p:attrNameLst>
                                      </p:cBhvr>
                                      <p:to>
                                        <a:srgbClr val="00B0F0"/>
                                      </p:to>
                                    </p:animClr>
                                    <p:set>
                                      <p:cBhvr>
                                        <p:cTn id="29" dur="500" fill="hold"/>
                                        <p:tgtEl>
                                          <p:spTgt spid="15">
                                            <p:txEl>
                                              <p:pRg st="7" end="7"/>
                                            </p:txEl>
                                          </p:spTgt>
                                        </p:tgtEl>
                                        <p:attrNameLst>
                                          <p:attrName>fill.type</p:attrName>
                                        </p:attrNameLst>
                                      </p:cBhvr>
                                      <p:to>
                                        <p:strVal val="solid"/>
                                      </p:to>
                                    </p:set>
                                    <p:set>
                                      <p:cBhvr>
                                        <p:cTn id="30" dur="500" fill="hold"/>
                                        <p:tgtEl>
                                          <p:spTgt spid="15">
                                            <p:txEl>
                                              <p:pRg st="7" end="7"/>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15">
                                            <p:txEl>
                                              <p:pRg st="8" end="8"/>
                                            </p:txEl>
                                          </p:spTgt>
                                        </p:tgtEl>
                                        <p:attrNameLst>
                                          <p:attrName>style.color</p:attrName>
                                        </p:attrNameLst>
                                      </p:cBhvr>
                                      <p:to>
                                        <a:srgbClr val="00B050"/>
                                      </p:to>
                                    </p:animClr>
                                    <p:animClr clrSpc="rgb" dir="cw">
                                      <p:cBhvr>
                                        <p:cTn id="35" dur="500" fill="hold"/>
                                        <p:tgtEl>
                                          <p:spTgt spid="15">
                                            <p:txEl>
                                              <p:pRg st="8" end="8"/>
                                            </p:txEl>
                                          </p:spTgt>
                                        </p:tgtEl>
                                        <p:attrNameLst>
                                          <p:attrName>fillcolor</p:attrName>
                                        </p:attrNameLst>
                                      </p:cBhvr>
                                      <p:to>
                                        <a:srgbClr val="00B050"/>
                                      </p:to>
                                    </p:animClr>
                                    <p:set>
                                      <p:cBhvr>
                                        <p:cTn id="36" dur="500" fill="hold"/>
                                        <p:tgtEl>
                                          <p:spTgt spid="15">
                                            <p:txEl>
                                              <p:pRg st="8" end="8"/>
                                            </p:txEl>
                                          </p:spTgt>
                                        </p:tgtEl>
                                        <p:attrNameLst>
                                          <p:attrName>fill.type</p:attrName>
                                        </p:attrNameLst>
                                      </p:cBhvr>
                                      <p:to>
                                        <p:strVal val="solid"/>
                                      </p:to>
                                    </p:set>
                                    <p:set>
                                      <p:cBhvr>
                                        <p:cTn id="37" dur="500" fill="hold"/>
                                        <p:tgtEl>
                                          <p:spTgt spid="15">
                                            <p:txEl>
                                              <p:pRg st="8" end="8"/>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06269-DFA8-B8AA-FA6A-536023778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944B4-AFF0-5D87-6AFA-3B98ADCB34CD}"/>
              </a:ext>
            </a:extLst>
          </p:cNvPr>
          <p:cNvSpPr>
            <a:spLocks noGrp="1"/>
          </p:cNvSpPr>
          <p:nvPr>
            <p:ph type="title"/>
          </p:nvPr>
        </p:nvSpPr>
        <p:spPr>
          <a:xfrm>
            <a:off x="1737359" y="68252"/>
            <a:ext cx="7672648" cy="864773"/>
          </a:xfrm>
        </p:spPr>
        <p:txBody>
          <a:bodyPr>
            <a:normAutofit/>
          </a:bodyPr>
          <a:lstStyle/>
          <a:p>
            <a:r>
              <a:rPr lang="en-US" sz="5400" b="1" dirty="0">
                <a:solidFill>
                  <a:srgbClr val="0070C0"/>
                </a:solidFill>
              </a:rPr>
              <a:t>Bus Organization</a:t>
            </a:r>
          </a:p>
        </p:txBody>
      </p:sp>
      <p:sp>
        <p:nvSpPr>
          <p:cNvPr id="3" name="Date Placeholder 2">
            <a:extLst>
              <a:ext uri="{FF2B5EF4-FFF2-40B4-BE49-F238E27FC236}">
                <a16:creationId xmlns:a16="http://schemas.microsoft.com/office/drawing/2014/main" id="{A8FFF490-3309-6FFB-1C1D-FE99B8BA4A99}"/>
              </a:ext>
            </a:extLst>
          </p:cNvPr>
          <p:cNvSpPr>
            <a:spLocks noGrp="1"/>
          </p:cNvSpPr>
          <p:nvPr>
            <p:ph type="dt" sz="half" idx="10"/>
          </p:nvPr>
        </p:nvSpPr>
        <p:spPr/>
        <p:txBody>
          <a:bodyPr/>
          <a:lstStyle/>
          <a:p>
            <a:fld id="{B807526D-012A-4D91-8417-DD262E2850B4}" type="datetime3">
              <a:rPr lang="en-US" smtClean="0"/>
              <a:t>24 December 2025</a:t>
            </a:fld>
            <a:endParaRPr lang="en-US"/>
          </a:p>
        </p:txBody>
      </p:sp>
      <p:sp>
        <p:nvSpPr>
          <p:cNvPr id="8" name="Slide Number Placeholder 7">
            <a:extLst>
              <a:ext uri="{FF2B5EF4-FFF2-40B4-BE49-F238E27FC236}">
                <a16:creationId xmlns:a16="http://schemas.microsoft.com/office/drawing/2014/main" id="{01CB3A4B-FE8B-8D76-64A7-507F83D401C2}"/>
              </a:ext>
            </a:extLst>
          </p:cNvPr>
          <p:cNvSpPr>
            <a:spLocks noGrp="1"/>
          </p:cNvSpPr>
          <p:nvPr>
            <p:ph type="sldNum" sz="quarter" idx="12"/>
          </p:nvPr>
        </p:nvSpPr>
        <p:spPr/>
        <p:txBody>
          <a:bodyPr/>
          <a:lstStyle/>
          <a:p>
            <a:fld id="{48F63A3B-78C7-47BE-AE5E-E10140E04643}" type="slidenum">
              <a:rPr lang="en-US" smtClean="0"/>
              <a:t>4</a:t>
            </a:fld>
            <a:endParaRPr lang="en-US" dirty="0"/>
          </a:p>
        </p:txBody>
      </p:sp>
      <p:pic>
        <p:nvPicPr>
          <p:cNvPr id="11" name="Picture 10">
            <a:extLst>
              <a:ext uri="{FF2B5EF4-FFF2-40B4-BE49-F238E27FC236}">
                <a16:creationId xmlns:a16="http://schemas.microsoft.com/office/drawing/2014/main" id="{67155FAC-962B-DECB-8ACA-EFFBA26FFCB1}"/>
              </a:ext>
            </a:extLst>
          </p:cNvPr>
          <p:cNvPicPr>
            <a:picLocks noChangeAspect="1"/>
          </p:cNvPicPr>
          <p:nvPr/>
        </p:nvPicPr>
        <p:blipFill rotWithShape="1">
          <a:blip r:embed="rId3">
            <a:duotone>
              <a:schemeClr val="accent5">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Lst>
          </a:blip>
          <a:srcRect l="2056" t="1873" r="4597" b="3956"/>
          <a:stretch/>
        </p:blipFill>
        <p:spPr>
          <a:xfrm>
            <a:off x="9277005" y="52257"/>
            <a:ext cx="7049188" cy="7867377"/>
          </a:xfrm>
          <a:prstGeom prst="rect">
            <a:avLst/>
          </a:prstGeom>
        </p:spPr>
      </p:pic>
      <p:sp>
        <p:nvSpPr>
          <p:cNvPr id="15" name="Content Placeholder 4">
            <a:extLst>
              <a:ext uri="{FF2B5EF4-FFF2-40B4-BE49-F238E27FC236}">
                <a16:creationId xmlns:a16="http://schemas.microsoft.com/office/drawing/2014/main" id="{14A6A6A5-6174-CD6D-4DAC-B9996EE7DD2D}"/>
              </a:ext>
            </a:extLst>
          </p:cNvPr>
          <p:cNvSpPr txBox="1">
            <a:spLocks/>
          </p:cNvSpPr>
          <p:nvPr/>
        </p:nvSpPr>
        <p:spPr>
          <a:xfrm>
            <a:off x="191193" y="933025"/>
            <a:ext cx="9484822" cy="6831063"/>
          </a:xfrm>
          <a:prstGeom prst="rect">
            <a:avLst/>
          </a:prstGeom>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spcBef>
                <a:spcPts val="0"/>
              </a:spcBef>
              <a:spcAft>
                <a:spcPts val="600"/>
              </a:spcAft>
            </a:pPr>
            <a:r>
              <a:rPr lang="en-US" sz="3200" dirty="0"/>
              <a:t>A bus organization has 4 registers, each register is connected to 2 multiplexers to form 2 buses A and B. </a:t>
            </a:r>
          </a:p>
          <a:p>
            <a:pPr>
              <a:spcBef>
                <a:spcPts val="0"/>
              </a:spcBef>
              <a:spcAft>
                <a:spcPts val="600"/>
              </a:spcAft>
            </a:pPr>
            <a:r>
              <a:rPr lang="en-US" sz="3200" dirty="0"/>
              <a:t>To perform the </a:t>
            </a:r>
            <a:r>
              <a:rPr lang="en-US" sz="3200" b="1" dirty="0">
                <a:solidFill>
                  <a:srgbClr val="FF0000"/>
                </a:solidFill>
              </a:rPr>
              <a:t>micro-operation</a:t>
            </a:r>
            <a:r>
              <a:rPr lang="en-US" sz="3200" dirty="0"/>
              <a:t>:</a:t>
            </a:r>
          </a:p>
          <a:p>
            <a:pPr lvl="1">
              <a:spcBef>
                <a:spcPts val="0"/>
              </a:spcBef>
              <a:spcAft>
                <a:spcPts val="600"/>
              </a:spcAft>
            </a:pPr>
            <a:r>
              <a:rPr lang="en-US" sz="3200" dirty="0"/>
              <a:t>R1</a:t>
            </a:r>
            <a:r>
              <a:rPr lang="en-US" sz="3200" b="1" dirty="0">
                <a:solidFill>
                  <a:srgbClr val="FF0000"/>
                </a:solidFill>
              </a:rPr>
              <a:t>(1000)</a:t>
            </a:r>
            <a:r>
              <a:rPr lang="en-US" sz="3200" dirty="0"/>
              <a:t> = R2</a:t>
            </a:r>
            <a:r>
              <a:rPr lang="en-US" sz="3200" b="1" dirty="0">
                <a:solidFill>
                  <a:srgbClr val="FF0000"/>
                </a:solidFill>
              </a:rPr>
              <a:t>(0011)</a:t>
            </a:r>
            <a:r>
              <a:rPr lang="en-US" sz="3200" dirty="0"/>
              <a:t> + R3</a:t>
            </a:r>
            <a:r>
              <a:rPr lang="en-US" sz="3200" b="1" dirty="0">
                <a:solidFill>
                  <a:srgbClr val="FF0000"/>
                </a:solidFill>
              </a:rPr>
              <a:t>(0101)</a:t>
            </a:r>
            <a:endParaRPr lang="en-US" sz="3200" dirty="0"/>
          </a:p>
          <a:p>
            <a:pPr>
              <a:spcBef>
                <a:spcPts val="0"/>
              </a:spcBef>
              <a:spcAft>
                <a:spcPts val="600"/>
              </a:spcAft>
            </a:pPr>
            <a:r>
              <a:rPr lang="en-US" sz="3200" dirty="0"/>
              <a:t>The control unit must provide binary selection variables to the following selector inputs –</a:t>
            </a:r>
          </a:p>
          <a:p>
            <a:pPr marL="548640" indent="-548640">
              <a:spcBef>
                <a:spcPts val="0"/>
              </a:spcBef>
              <a:spcAft>
                <a:spcPts val="600"/>
              </a:spcAft>
              <a:buFont typeface="+mj-lt"/>
              <a:buAutoNum type="arabicPeriod"/>
            </a:pPr>
            <a:r>
              <a:rPr lang="en-US" sz="3200" dirty="0">
                <a:solidFill>
                  <a:srgbClr val="7030A0"/>
                </a:solidFill>
              </a:rPr>
              <a:t>MUX A Selector: </a:t>
            </a:r>
            <a:r>
              <a:rPr lang="en-US" sz="3200" dirty="0"/>
              <a:t>to place contents of R2 onto bus A</a:t>
            </a:r>
          </a:p>
          <a:p>
            <a:pPr marL="548640" indent="-548640">
              <a:spcBef>
                <a:spcPts val="0"/>
              </a:spcBef>
              <a:spcAft>
                <a:spcPts val="600"/>
              </a:spcAft>
              <a:buFont typeface="+mj-lt"/>
              <a:buAutoNum type="arabicPeriod"/>
            </a:pPr>
            <a:r>
              <a:rPr lang="en-US" sz="3200" dirty="0">
                <a:solidFill>
                  <a:srgbClr val="7030A0"/>
                </a:solidFill>
              </a:rPr>
              <a:t>MUX B Selector: </a:t>
            </a:r>
            <a:r>
              <a:rPr lang="en-US" sz="3200" dirty="0"/>
              <a:t>to place contents of R3 onto bus B</a:t>
            </a:r>
          </a:p>
          <a:p>
            <a:pPr marL="548640" indent="-548640">
              <a:spcBef>
                <a:spcPts val="0"/>
              </a:spcBef>
              <a:spcAft>
                <a:spcPts val="600"/>
              </a:spcAft>
              <a:buFont typeface="+mj-lt"/>
              <a:buAutoNum type="arabicPeriod"/>
            </a:pPr>
            <a:r>
              <a:rPr lang="en-US" sz="3200" dirty="0">
                <a:solidFill>
                  <a:srgbClr val="7030A0"/>
                </a:solidFill>
              </a:rPr>
              <a:t>ALU Function Selector: </a:t>
            </a:r>
            <a:r>
              <a:rPr lang="en-US" sz="3200" dirty="0"/>
              <a:t>to provide the arithmetic operation A + B</a:t>
            </a:r>
          </a:p>
          <a:p>
            <a:pPr marL="548640" indent="-548640">
              <a:spcBef>
                <a:spcPts val="0"/>
              </a:spcBef>
              <a:spcAft>
                <a:spcPts val="600"/>
              </a:spcAft>
              <a:buFont typeface="+mj-lt"/>
              <a:buAutoNum type="arabicPeriod"/>
            </a:pPr>
            <a:r>
              <a:rPr lang="en-US" sz="3200" dirty="0">
                <a:solidFill>
                  <a:srgbClr val="7030A0"/>
                </a:solidFill>
              </a:rPr>
              <a:t>Shift Selector: </a:t>
            </a:r>
            <a:r>
              <a:rPr lang="en-US" sz="3200" dirty="0"/>
              <a:t>for direct transfer from the output of the ALU onto output bus S (no shift)</a:t>
            </a:r>
          </a:p>
          <a:p>
            <a:pPr marL="548640" indent="-548640">
              <a:spcBef>
                <a:spcPts val="0"/>
              </a:spcBef>
              <a:spcAft>
                <a:spcPts val="600"/>
              </a:spcAft>
              <a:buFont typeface="+mj-lt"/>
              <a:buAutoNum type="arabicPeriod"/>
            </a:pPr>
            <a:r>
              <a:rPr lang="en-US" sz="3200" dirty="0">
                <a:solidFill>
                  <a:srgbClr val="7030A0"/>
                </a:solidFill>
              </a:rPr>
              <a:t>Decoder Destination Selector: </a:t>
            </a:r>
            <a:r>
              <a:rPr lang="en-US" sz="3200" dirty="0"/>
              <a:t>to transfer the contents of bus S into R1</a:t>
            </a:r>
          </a:p>
        </p:txBody>
      </p:sp>
      <p:cxnSp>
        <p:nvCxnSpPr>
          <p:cNvPr id="6" name="Straight Connector 5">
            <a:extLst>
              <a:ext uri="{FF2B5EF4-FFF2-40B4-BE49-F238E27FC236}">
                <a16:creationId xmlns:a16="http://schemas.microsoft.com/office/drawing/2014/main" id="{63E8699C-4605-94E9-B244-D754F99C4168}"/>
              </a:ext>
            </a:extLst>
          </p:cNvPr>
          <p:cNvCxnSpPr/>
          <p:nvPr/>
        </p:nvCxnSpPr>
        <p:spPr>
          <a:xfrm>
            <a:off x="11874137" y="4689566"/>
            <a:ext cx="809897"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36EE7F43-65DD-FC3E-BDFA-6D2C8BE9C1DB}"/>
              </a:ext>
            </a:extLst>
          </p:cNvPr>
          <p:cNvCxnSpPr/>
          <p:nvPr/>
        </p:nvCxnSpPr>
        <p:spPr>
          <a:xfrm>
            <a:off x="15503233" y="4689566"/>
            <a:ext cx="809897"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38300B14-6B3B-6B5B-FA17-5863D778687A}"/>
              </a:ext>
            </a:extLst>
          </p:cNvPr>
          <p:cNvCxnSpPr/>
          <p:nvPr/>
        </p:nvCxnSpPr>
        <p:spPr>
          <a:xfrm>
            <a:off x="15503233" y="6187440"/>
            <a:ext cx="809897"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E927E850-9822-57E2-3D28-DF21F375E24B}"/>
              </a:ext>
            </a:extLst>
          </p:cNvPr>
          <p:cNvCxnSpPr/>
          <p:nvPr/>
        </p:nvCxnSpPr>
        <p:spPr>
          <a:xfrm>
            <a:off x="15450981" y="7088777"/>
            <a:ext cx="809897" cy="0"/>
          </a:xfrm>
          <a:prstGeom prst="line">
            <a:avLst/>
          </a:prstGeom>
          <a:ln w="28575">
            <a:solidFill>
              <a:srgbClr val="00B0F0"/>
            </a:solidFill>
          </a:ln>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0F714A94-D404-E559-75F2-24321C25BFDF}"/>
              </a:ext>
            </a:extLst>
          </p:cNvPr>
          <p:cNvCxnSpPr/>
          <p:nvPr/>
        </p:nvCxnSpPr>
        <p:spPr>
          <a:xfrm>
            <a:off x="10145485" y="5547360"/>
            <a:ext cx="809897" cy="0"/>
          </a:xfrm>
          <a:prstGeom prst="line">
            <a:avLst/>
          </a:prstGeom>
          <a:ln w="28575">
            <a:solidFill>
              <a:srgbClr val="00B050"/>
            </a:solidFill>
          </a:ln>
        </p:spPr>
        <p:style>
          <a:lnRef idx="1">
            <a:schemeClr val="accent2"/>
          </a:lnRef>
          <a:fillRef idx="0">
            <a:schemeClr val="accent2"/>
          </a:fillRef>
          <a:effectRef idx="0">
            <a:schemeClr val="accent2"/>
          </a:effectRef>
          <a:fontRef idx="minor">
            <a:schemeClr val="tx1"/>
          </a:fontRef>
        </p:style>
      </p:cxnSp>
      <p:sp>
        <p:nvSpPr>
          <p:cNvPr id="5" name="Rectangle 4">
            <a:extLst>
              <a:ext uri="{FF2B5EF4-FFF2-40B4-BE49-F238E27FC236}">
                <a16:creationId xmlns:a16="http://schemas.microsoft.com/office/drawing/2014/main" id="{8DA71E7D-2E49-A7F8-E565-D55F471C43FB}"/>
              </a:ext>
            </a:extLst>
          </p:cNvPr>
          <p:cNvSpPr/>
          <p:nvPr/>
        </p:nvSpPr>
        <p:spPr>
          <a:xfrm>
            <a:off x="11564160" y="2479564"/>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0011</a:t>
            </a:r>
          </a:p>
        </p:txBody>
      </p:sp>
      <p:sp>
        <p:nvSpPr>
          <p:cNvPr id="14" name="Rectangle 13">
            <a:extLst>
              <a:ext uri="{FF2B5EF4-FFF2-40B4-BE49-F238E27FC236}">
                <a16:creationId xmlns:a16="http://schemas.microsoft.com/office/drawing/2014/main" id="{0B97378A-EC9C-BFC9-A206-32A245CB65A8}"/>
              </a:ext>
            </a:extLst>
          </p:cNvPr>
          <p:cNvSpPr/>
          <p:nvPr/>
        </p:nvSpPr>
        <p:spPr>
          <a:xfrm>
            <a:off x="11564160" y="3501934"/>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0101</a:t>
            </a:r>
          </a:p>
        </p:txBody>
      </p:sp>
      <p:sp>
        <p:nvSpPr>
          <p:cNvPr id="16" name="Rectangle 15">
            <a:extLst>
              <a:ext uri="{FF2B5EF4-FFF2-40B4-BE49-F238E27FC236}">
                <a16:creationId xmlns:a16="http://schemas.microsoft.com/office/drawing/2014/main" id="{442023C0-2210-B9E6-C43B-CAF5444ED8AE}"/>
              </a:ext>
            </a:extLst>
          </p:cNvPr>
          <p:cNvSpPr/>
          <p:nvPr/>
        </p:nvSpPr>
        <p:spPr>
          <a:xfrm>
            <a:off x="11987078" y="4711936"/>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10</a:t>
            </a:r>
          </a:p>
        </p:txBody>
      </p:sp>
      <p:sp>
        <p:nvSpPr>
          <p:cNvPr id="18" name="Rectangle 17">
            <a:extLst>
              <a:ext uri="{FF2B5EF4-FFF2-40B4-BE49-F238E27FC236}">
                <a16:creationId xmlns:a16="http://schemas.microsoft.com/office/drawing/2014/main" id="{2F631A68-DCB0-53AA-F662-EA89527B1528}"/>
              </a:ext>
            </a:extLst>
          </p:cNvPr>
          <p:cNvSpPr/>
          <p:nvPr/>
        </p:nvSpPr>
        <p:spPr>
          <a:xfrm>
            <a:off x="13469573" y="5131626"/>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0011</a:t>
            </a:r>
          </a:p>
        </p:txBody>
      </p:sp>
      <p:sp>
        <p:nvSpPr>
          <p:cNvPr id="19" name="Rectangle 18">
            <a:extLst>
              <a:ext uri="{FF2B5EF4-FFF2-40B4-BE49-F238E27FC236}">
                <a16:creationId xmlns:a16="http://schemas.microsoft.com/office/drawing/2014/main" id="{7A2818B0-5ED3-A0B9-1B40-DAB9E91C7873}"/>
              </a:ext>
            </a:extLst>
          </p:cNvPr>
          <p:cNvSpPr/>
          <p:nvPr/>
        </p:nvSpPr>
        <p:spPr>
          <a:xfrm>
            <a:off x="15610503" y="4702266"/>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11</a:t>
            </a:r>
          </a:p>
        </p:txBody>
      </p:sp>
      <p:sp>
        <p:nvSpPr>
          <p:cNvPr id="20" name="Rectangle 19">
            <a:extLst>
              <a:ext uri="{FF2B5EF4-FFF2-40B4-BE49-F238E27FC236}">
                <a16:creationId xmlns:a16="http://schemas.microsoft.com/office/drawing/2014/main" id="{E64ECC98-E3FC-6736-3FC2-D26E31BD5B70}"/>
              </a:ext>
            </a:extLst>
          </p:cNvPr>
          <p:cNvSpPr/>
          <p:nvPr/>
        </p:nvSpPr>
        <p:spPr>
          <a:xfrm>
            <a:off x="14897883" y="5131626"/>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0101</a:t>
            </a:r>
          </a:p>
        </p:txBody>
      </p:sp>
      <p:sp>
        <p:nvSpPr>
          <p:cNvPr id="21" name="Rectangle 20">
            <a:extLst>
              <a:ext uri="{FF2B5EF4-FFF2-40B4-BE49-F238E27FC236}">
                <a16:creationId xmlns:a16="http://schemas.microsoft.com/office/drawing/2014/main" id="{A77BA414-943E-DD29-7753-589B155EDFF5}"/>
              </a:ext>
            </a:extLst>
          </p:cNvPr>
          <p:cNvSpPr/>
          <p:nvPr/>
        </p:nvSpPr>
        <p:spPr>
          <a:xfrm>
            <a:off x="15461290" y="6223896"/>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0010</a:t>
            </a:r>
          </a:p>
        </p:txBody>
      </p:sp>
      <p:sp>
        <p:nvSpPr>
          <p:cNvPr id="22" name="Rectangle 21">
            <a:extLst>
              <a:ext uri="{FF2B5EF4-FFF2-40B4-BE49-F238E27FC236}">
                <a16:creationId xmlns:a16="http://schemas.microsoft.com/office/drawing/2014/main" id="{4EF65B1D-5F26-CDA1-6007-95DAAA071162}"/>
              </a:ext>
            </a:extLst>
          </p:cNvPr>
          <p:cNvSpPr/>
          <p:nvPr/>
        </p:nvSpPr>
        <p:spPr>
          <a:xfrm>
            <a:off x="14234605" y="6258810"/>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1000</a:t>
            </a:r>
          </a:p>
        </p:txBody>
      </p:sp>
      <p:sp>
        <p:nvSpPr>
          <p:cNvPr id="23" name="Rectangle 22">
            <a:extLst>
              <a:ext uri="{FF2B5EF4-FFF2-40B4-BE49-F238E27FC236}">
                <a16:creationId xmlns:a16="http://schemas.microsoft.com/office/drawing/2014/main" id="{72A4D090-C3E8-3D44-1C3F-E149CF9457A2}"/>
              </a:ext>
            </a:extLst>
          </p:cNvPr>
          <p:cNvSpPr/>
          <p:nvPr/>
        </p:nvSpPr>
        <p:spPr>
          <a:xfrm>
            <a:off x="15423553" y="7119167"/>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000</a:t>
            </a:r>
          </a:p>
        </p:txBody>
      </p:sp>
      <p:sp>
        <p:nvSpPr>
          <p:cNvPr id="24" name="Rectangle 23">
            <a:extLst>
              <a:ext uri="{FF2B5EF4-FFF2-40B4-BE49-F238E27FC236}">
                <a16:creationId xmlns:a16="http://schemas.microsoft.com/office/drawing/2014/main" id="{B0529243-AC31-5FC8-7624-1C6D4FA60E37}"/>
              </a:ext>
            </a:extLst>
          </p:cNvPr>
          <p:cNvSpPr/>
          <p:nvPr/>
        </p:nvSpPr>
        <p:spPr>
          <a:xfrm>
            <a:off x="14209205" y="7119167"/>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1000</a:t>
            </a:r>
          </a:p>
        </p:txBody>
      </p:sp>
      <p:sp>
        <p:nvSpPr>
          <p:cNvPr id="26" name="Rectangle 25">
            <a:extLst>
              <a:ext uri="{FF2B5EF4-FFF2-40B4-BE49-F238E27FC236}">
                <a16:creationId xmlns:a16="http://schemas.microsoft.com/office/drawing/2014/main" id="{A659EE64-BD57-D45F-8D67-02301A954550}"/>
              </a:ext>
            </a:extLst>
          </p:cNvPr>
          <p:cNvSpPr/>
          <p:nvPr/>
        </p:nvSpPr>
        <p:spPr>
          <a:xfrm>
            <a:off x="10126778" y="5610534"/>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a:t>
            </a:r>
          </a:p>
        </p:txBody>
      </p:sp>
      <p:sp>
        <p:nvSpPr>
          <p:cNvPr id="27" name="Rectangle 26">
            <a:extLst>
              <a:ext uri="{FF2B5EF4-FFF2-40B4-BE49-F238E27FC236}">
                <a16:creationId xmlns:a16="http://schemas.microsoft.com/office/drawing/2014/main" id="{1A81C4E5-1687-20AF-D327-51AC674DF003}"/>
              </a:ext>
            </a:extLst>
          </p:cNvPr>
          <p:cNvSpPr/>
          <p:nvPr/>
        </p:nvSpPr>
        <p:spPr>
          <a:xfrm>
            <a:off x="11553635" y="1436449"/>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1000</a:t>
            </a:r>
          </a:p>
        </p:txBody>
      </p:sp>
      <p:sp>
        <p:nvSpPr>
          <p:cNvPr id="28" name="Rectangle 27">
            <a:extLst>
              <a:ext uri="{FF2B5EF4-FFF2-40B4-BE49-F238E27FC236}">
                <a16:creationId xmlns:a16="http://schemas.microsoft.com/office/drawing/2014/main" id="{ACCC0A40-6BF6-9CCD-0E64-A0AE325ED0CD}"/>
              </a:ext>
            </a:extLst>
          </p:cNvPr>
          <p:cNvSpPr/>
          <p:nvPr/>
        </p:nvSpPr>
        <p:spPr>
          <a:xfrm>
            <a:off x="14795500" y="5755061"/>
            <a:ext cx="341746"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a:t>
            </a:r>
          </a:p>
        </p:txBody>
      </p:sp>
      <p:sp>
        <p:nvSpPr>
          <p:cNvPr id="29" name="Rectangle 28">
            <a:extLst>
              <a:ext uri="{FF2B5EF4-FFF2-40B4-BE49-F238E27FC236}">
                <a16:creationId xmlns:a16="http://schemas.microsoft.com/office/drawing/2014/main" id="{AA9DA93F-FCBA-D4C3-9E38-E0A3A2A6F150}"/>
              </a:ext>
            </a:extLst>
          </p:cNvPr>
          <p:cNvSpPr/>
          <p:nvPr/>
        </p:nvSpPr>
        <p:spPr>
          <a:xfrm>
            <a:off x="14388247" y="6650667"/>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b="1" dirty="0">
                <a:solidFill>
                  <a:srgbClr val="FF0000"/>
                </a:solidFill>
              </a:rPr>
              <a:t>No shift</a:t>
            </a:r>
          </a:p>
        </p:txBody>
      </p:sp>
      <p:sp>
        <p:nvSpPr>
          <p:cNvPr id="25" name="Rectangle 24">
            <a:extLst>
              <a:ext uri="{FF2B5EF4-FFF2-40B4-BE49-F238E27FC236}">
                <a16:creationId xmlns:a16="http://schemas.microsoft.com/office/drawing/2014/main" id="{D884949C-5412-C931-5B63-9DE0C0B993E7}"/>
              </a:ext>
            </a:extLst>
          </p:cNvPr>
          <p:cNvSpPr/>
          <p:nvPr/>
        </p:nvSpPr>
        <p:spPr>
          <a:xfrm>
            <a:off x="10698504" y="1291942"/>
            <a:ext cx="330914"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a:t>
            </a:r>
          </a:p>
        </p:txBody>
      </p:sp>
      <p:sp>
        <p:nvSpPr>
          <p:cNvPr id="30" name="Rectangle 29">
            <a:extLst>
              <a:ext uri="{FF2B5EF4-FFF2-40B4-BE49-F238E27FC236}">
                <a16:creationId xmlns:a16="http://schemas.microsoft.com/office/drawing/2014/main" id="{9895010E-4EB3-F3DA-EFB1-ABAE1CDF9BB2}"/>
              </a:ext>
            </a:extLst>
          </p:cNvPr>
          <p:cNvSpPr/>
          <p:nvPr/>
        </p:nvSpPr>
        <p:spPr>
          <a:xfrm>
            <a:off x="11038852" y="238579"/>
            <a:ext cx="340348"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31" name="Rectangle 30">
            <a:extLst>
              <a:ext uri="{FF2B5EF4-FFF2-40B4-BE49-F238E27FC236}">
                <a16:creationId xmlns:a16="http://schemas.microsoft.com/office/drawing/2014/main" id="{2838639E-FDB8-82C3-7DD5-A9D974A39482}"/>
              </a:ext>
            </a:extLst>
          </p:cNvPr>
          <p:cNvSpPr/>
          <p:nvPr/>
        </p:nvSpPr>
        <p:spPr>
          <a:xfrm>
            <a:off x="10785208" y="2252831"/>
            <a:ext cx="340348"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32" name="Rectangle 31">
            <a:extLst>
              <a:ext uri="{FF2B5EF4-FFF2-40B4-BE49-F238E27FC236}">
                <a16:creationId xmlns:a16="http://schemas.microsoft.com/office/drawing/2014/main" id="{DFDF1648-E3E0-514D-23E4-3CFD9B42EDBD}"/>
              </a:ext>
            </a:extLst>
          </p:cNvPr>
          <p:cNvSpPr/>
          <p:nvPr/>
        </p:nvSpPr>
        <p:spPr>
          <a:xfrm>
            <a:off x="10830578" y="3289248"/>
            <a:ext cx="340348"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33" name="Rectangle 32">
            <a:extLst>
              <a:ext uri="{FF2B5EF4-FFF2-40B4-BE49-F238E27FC236}">
                <a16:creationId xmlns:a16="http://schemas.microsoft.com/office/drawing/2014/main" id="{0023971B-524A-E769-9A86-59C4968DD34F}"/>
              </a:ext>
            </a:extLst>
          </p:cNvPr>
          <p:cNvSpPr/>
          <p:nvPr/>
        </p:nvSpPr>
        <p:spPr>
          <a:xfrm>
            <a:off x="9420197" y="4204049"/>
            <a:ext cx="330914"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a:t>
            </a:r>
          </a:p>
        </p:txBody>
      </p:sp>
    </p:spTree>
    <p:extLst>
      <p:ext uri="{BB962C8B-B14F-4D97-AF65-F5344CB8AC3E}">
        <p14:creationId xmlns:p14="http://schemas.microsoft.com/office/powerpoint/2010/main" val="149715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5">
                                            <p:txEl>
                                              <p:pRg st="4" end="4"/>
                                            </p:txEl>
                                          </p:spTgt>
                                        </p:tgtEl>
                                        <p:attrNameLst>
                                          <p:attrName>style.color</p:attrName>
                                        </p:attrNameLst>
                                      </p:cBhvr>
                                      <p:to>
                                        <a:schemeClr val="accent2"/>
                                      </p:to>
                                    </p:animClr>
                                    <p:animClr clrSpc="rgb" dir="cw">
                                      <p:cBhvr>
                                        <p:cTn id="7" dur="500" fill="hold"/>
                                        <p:tgtEl>
                                          <p:spTgt spid="15">
                                            <p:txEl>
                                              <p:pRg st="4" end="4"/>
                                            </p:txEl>
                                          </p:spTgt>
                                        </p:tgtEl>
                                        <p:attrNameLst>
                                          <p:attrName>fillcolor</p:attrName>
                                        </p:attrNameLst>
                                      </p:cBhvr>
                                      <p:to>
                                        <a:schemeClr val="accent2"/>
                                      </p:to>
                                    </p:animClr>
                                    <p:set>
                                      <p:cBhvr>
                                        <p:cTn id="8" dur="500" fill="hold"/>
                                        <p:tgtEl>
                                          <p:spTgt spid="15">
                                            <p:txEl>
                                              <p:pRg st="4" end="4"/>
                                            </p:txEl>
                                          </p:spTgt>
                                        </p:tgtEl>
                                        <p:attrNameLst>
                                          <p:attrName>fill.type</p:attrName>
                                        </p:attrNameLst>
                                      </p:cBhvr>
                                      <p:to>
                                        <p:strVal val="solid"/>
                                      </p:to>
                                    </p:set>
                                    <p:set>
                                      <p:cBhvr>
                                        <p:cTn id="9" dur="500" fill="hold"/>
                                        <p:tgtEl>
                                          <p:spTgt spid="15">
                                            <p:txEl>
                                              <p:pRg st="4" end="4"/>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9" presetClass="emph" presetSubtype="0" fill="hold" nodeType="clickEffect">
                                  <p:stCondLst>
                                    <p:cond delay="0"/>
                                  </p:stCondLst>
                                  <p:childTnLst>
                                    <p:animClr clrSpc="rgb" dir="cw">
                                      <p:cBhvr override="childStyle">
                                        <p:cTn id="19" dur="500" fill="hold"/>
                                        <p:tgtEl>
                                          <p:spTgt spid="15">
                                            <p:txEl>
                                              <p:pRg st="5" end="5"/>
                                            </p:txEl>
                                          </p:spTgt>
                                        </p:tgtEl>
                                        <p:attrNameLst>
                                          <p:attrName>style.color</p:attrName>
                                        </p:attrNameLst>
                                      </p:cBhvr>
                                      <p:to>
                                        <a:srgbClr val="C00000"/>
                                      </p:to>
                                    </p:animClr>
                                    <p:animClr clrSpc="rgb" dir="cw">
                                      <p:cBhvr>
                                        <p:cTn id="20" dur="500" fill="hold"/>
                                        <p:tgtEl>
                                          <p:spTgt spid="15">
                                            <p:txEl>
                                              <p:pRg st="5" end="5"/>
                                            </p:txEl>
                                          </p:spTgt>
                                        </p:tgtEl>
                                        <p:attrNameLst>
                                          <p:attrName>fillcolor</p:attrName>
                                        </p:attrNameLst>
                                      </p:cBhvr>
                                      <p:to>
                                        <a:srgbClr val="C00000"/>
                                      </p:to>
                                    </p:animClr>
                                    <p:set>
                                      <p:cBhvr>
                                        <p:cTn id="21" dur="500" fill="hold"/>
                                        <p:tgtEl>
                                          <p:spTgt spid="15">
                                            <p:txEl>
                                              <p:pRg st="5" end="5"/>
                                            </p:txEl>
                                          </p:spTgt>
                                        </p:tgtEl>
                                        <p:attrNameLst>
                                          <p:attrName>fill.type</p:attrName>
                                        </p:attrNameLst>
                                      </p:cBhvr>
                                      <p:to>
                                        <p:strVal val="solid"/>
                                      </p:to>
                                    </p:set>
                                    <p:set>
                                      <p:cBhvr>
                                        <p:cTn id="22" dur="500" fill="hold"/>
                                        <p:tgtEl>
                                          <p:spTgt spid="15">
                                            <p:txEl>
                                              <p:pRg st="5" end="5"/>
                                            </p:txEl>
                                          </p:spTgt>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9" presetClass="emph" presetSubtype="0" fill="hold" nodeType="clickEffect">
                                  <p:stCondLst>
                                    <p:cond delay="0"/>
                                  </p:stCondLst>
                                  <p:childTnLst>
                                    <p:animClr clrSpc="rgb" dir="cw">
                                      <p:cBhvr override="childStyle">
                                        <p:cTn id="32" dur="500" fill="hold"/>
                                        <p:tgtEl>
                                          <p:spTgt spid="15">
                                            <p:txEl>
                                              <p:pRg st="6" end="6"/>
                                            </p:txEl>
                                          </p:spTgt>
                                        </p:tgtEl>
                                        <p:attrNameLst>
                                          <p:attrName>style.color</p:attrName>
                                        </p:attrNameLst>
                                      </p:cBhvr>
                                      <p:to>
                                        <a:srgbClr val="FF0000"/>
                                      </p:to>
                                    </p:animClr>
                                    <p:animClr clrSpc="rgb" dir="cw">
                                      <p:cBhvr>
                                        <p:cTn id="33" dur="500" fill="hold"/>
                                        <p:tgtEl>
                                          <p:spTgt spid="15">
                                            <p:txEl>
                                              <p:pRg st="6" end="6"/>
                                            </p:txEl>
                                          </p:spTgt>
                                        </p:tgtEl>
                                        <p:attrNameLst>
                                          <p:attrName>fillcolor</p:attrName>
                                        </p:attrNameLst>
                                      </p:cBhvr>
                                      <p:to>
                                        <a:srgbClr val="FF0000"/>
                                      </p:to>
                                    </p:animClr>
                                    <p:set>
                                      <p:cBhvr>
                                        <p:cTn id="34" dur="500" fill="hold"/>
                                        <p:tgtEl>
                                          <p:spTgt spid="15">
                                            <p:txEl>
                                              <p:pRg st="6" end="6"/>
                                            </p:txEl>
                                          </p:spTgt>
                                        </p:tgtEl>
                                        <p:attrNameLst>
                                          <p:attrName>fill.type</p:attrName>
                                        </p:attrNameLst>
                                      </p:cBhvr>
                                      <p:to>
                                        <p:strVal val="solid"/>
                                      </p:to>
                                    </p:set>
                                    <p:set>
                                      <p:cBhvr>
                                        <p:cTn id="35" dur="500" fill="hold"/>
                                        <p:tgtEl>
                                          <p:spTgt spid="15">
                                            <p:txEl>
                                              <p:pRg st="6" end="6"/>
                                            </p:txEl>
                                          </p:spTgt>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9" presetClass="emph" presetSubtype="0" fill="hold" nodeType="clickEffect">
                                  <p:stCondLst>
                                    <p:cond delay="0"/>
                                  </p:stCondLst>
                                  <p:childTnLst>
                                    <p:animClr clrSpc="rgb" dir="cw">
                                      <p:cBhvr override="childStyle">
                                        <p:cTn id="45" dur="500" fill="hold"/>
                                        <p:tgtEl>
                                          <p:spTgt spid="15">
                                            <p:txEl>
                                              <p:pRg st="7" end="7"/>
                                            </p:txEl>
                                          </p:spTgt>
                                        </p:tgtEl>
                                        <p:attrNameLst>
                                          <p:attrName>style.color</p:attrName>
                                        </p:attrNameLst>
                                      </p:cBhvr>
                                      <p:to>
                                        <a:srgbClr val="00B0F0"/>
                                      </p:to>
                                    </p:animClr>
                                    <p:animClr clrSpc="rgb" dir="cw">
                                      <p:cBhvr>
                                        <p:cTn id="46" dur="500" fill="hold"/>
                                        <p:tgtEl>
                                          <p:spTgt spid="15">
                                            <p:txEl>
                                              <p:pRg st="7" end="7"/>
                                            </p:txEl>
                                          </p:spTgt>
                                        </p:tgtEl>
                                        <p:attrNameLst>
                                          <p:attrName>fillcolor</p:attrName>
                                        </p:attrNameLst>
                                      </p:cBhvr>
                                      <p:to>
                                        <a:srgbClr val="00B0F0"/>
                                      </p:to>
                                    </p:animClr>
                                    <p:set>
                                      <p:cBhvr>
                                        <p:cTn id="47" dur="500" fill="hold"/>
                                        <p:tgtEl>
                                          <p:spTgt spid="15">
                                            <p:txEl>
                                              <p:pRg st="7" end="7"/>
                                            </p:txEl>
                                          </p:spTgt>
                                        </p:tgtEl>
                                        <p:attrNameLst>
                                          <p:attrName>fill.type</p:attrName>
                                        </p:attrNameLst>
                                      </p:cBhvr>
                                      <p:to>
                                        <p:strVal val="solid"/>
                                      </p:to>
                                    </p:set>
                                    <p:set>
                                      <p:cBhvr>
                                        <p:cTn id="48" dur="500" fill="hold"/>
                                        <p:tgtEl>
                                          <p:spTgt spid="15">
                                            <p:txEl>
                                              <p:pRg st="7" end="7"/>
                                            </p:txEl>
                                          </p:spTgt>
                                        </p:tgtEl>
                                        <p:attrNameLst>
                                          <p:attrName>fill.on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9" presetClass="emph" presetSubtype="0" fill="hold" nodeType="clickEffect">
                                  <p:stCondLst>
                                    <p:cond delay="0"/>
                                  </p:stCondLst>
                                  <p:childTnLst>
                                    <p:animClr clrSpc="rgb" dir="cw">
                                      <p:cBhvr override="childStyle">
                                        <p:cTn id="58" dur="500" fill="hold"/>
                                        <p:tgtEl>
                                          <p:spTgt spid="15">
                                            <p:txEl>
                                              <p:pRg st="8" end="8"/>
                                            </p:txEl>
                                          </p:spTgt>
                                        </p:tgtEl>
                                        <p:attrNameLst>
                                          <p:attrName>style.color</p:attrName>
                                        </p:attrNameLst>
                                      </p:cBhvr>
                                      <p:to>
                                        <a:srgbClr val="00B050"/>
                                      </p:to>
                                    </p:animClr>
                                    <p:animClr clrSpc="rgb" dir="cw">
                                      <p:cBhvr>
                                        <p:cTn id="59" dur="500" fill="hold"/>
                                        <p:tgtEl>
                                          <p:spTgt spid="15">
                                            <p:txEl>
                                              <p:pRg st="8" end="8"/>
                                            </p:txEl>
                                          </p:spTgt>
                                        </p:tgtEl>
                                        <p:attrNameLst>
                                          <p:attrName>fillcolor</p:attrName>
                                        </p:attrNameLst>
                                      </p:cBhvr>
                                      <p:to>
                                        <a:srgbClr val="00B050"/>
                                      </p:to>
                                    </p:animClr>
                                    <p:set>
                                      <p:cBhvr>
                                        <p:cTn id="60" dur="500" fill="hold"/>
                                        <p:tgtEl>
                                          <p:spTgt spid="15">
                                            <p:txEl>
                                              <p:pRg st="8" end="8"/>
                                            </p:txEl>
                                          </p:spTgt>
                                        </p:tgtEl>
                                        <p:attrNameLst>
                                          <p:attrName>fill.type</p:attrName>
                                        </p:attrNameLst>
                                      </p:cBhvr>
                                      <p:to>
                                        <p:strVal val="solid"/>
                                      </p:to>
                                    </p:set>
                                    <p:set>
                                      <p:cBhvr>
                                        <p:cTn id="61" dur="500" fill="hold"/>
                                        <p:tgtEl>
                                          <p:spTgt spid="15">
                                            <p:txEl>
                                              <p:pRg st="8" end="8"/>
                                            </p:txEl>
                                          </p:spTgt>
                                        </p:tgtEl>
                                        <p:attrNameLst>
                                          <p:attrName>fill.on</p:attrName>
                                        </p:attrNameLst>
                                      </p:cBhvr>
                                      <p:to>
                                        <p:strVal val="tru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 calcmode="lin" valueType="num">
                                      <p:cBhvr additive="base">
                                        <p:cTn id="66" dur="500" fill="hold"/>
                                        <p:tgtEl>
                                          <p:spTgt spid="13"/>
                                        </p:tgtEl>
                                        <p:attrNameLst>
                                          <p:attrName>ppt_x</p:attrName>
                                        </p:attrNameLst>
                                      </p:cBhvr>
                                      <p:tavLst>
                                        <p:tav tm="0">
                                          <p:val>
                                            <p:strVal val="#ppt_x"/>
                                          </p:val>
                                        </p:tav>
                                        <p:tav tm="100000">
                                          <p:val>
                                            <p:strVal val="#ppt_x"/>
                                          </p:val>
                                        </p:tav>
                                      </p:tavLst>
                                    </p:anim>
                                    <p:anim calcmode="lin" valueType="num">
                                      <p:cBhvr additive="base">
                                        <p:cTn id="6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1" presetClass="entr" presetSubtype="1" fill="hold" grpId="0"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heel(1)">
                                      <p:cBhvr>
                                        <p:cTn id="72" dur="2000"/>
                                        <p:tgtEl>
                                          <p:spTgt spid="5"/>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1" fill="hold" grpId="0"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wheel(1)">
                                      <p:cBhvr>
                                        <p:cTn id="77" dur="2000"/>
                                        <p:tgtEl>
                                          <p:spTgt spid="14"/>
                                        </p:tgtEl>
                                      </p:cBhvr>
                                    </p:animEffect>
                                  </p:childTnLst>
                                </p:cTn>
                              </p:par>
                            </p:childTnLst>
                          </p:cTn>
                        </p:par>
                      </p:childTnLst>
                    </p:cTn>
                  </p:par>
                  <p:par>
                    <p:cTn id="78" fill="hold">
                      <p:stCondLst>
                        <p:cond delay="indefinite"/>
                      </p:stCondLst>
                      <p:childTnLst>
                        <p:par>
                          <p:cTn id="79" fill="hold">
                            <p:stCondLst>
                              <p:cond delay="0"/>
                            </p:stCondLst>
                            <p:childTnLst>
                              <p:par>
                                <p:cTn id="80" presetID="21" presetClass="entr" presetSubtype="1"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heel(1)">
                                      <p:cBhvr>
                                        <p:cTn id="82" dur="2000"/>
                                        <p:tgtEl>
                                          <p:spTgt spid="16"/>
                                        </p:tgtEl>
                                      </p:cBhvr>
                                    </p:animEffect>
                                  </p:childTnLst>
                                </p:cTn>
                              </p:par>
                            </p:childTnLst>
                          </p:cTn>
                        </p:par>
                      </p:childTnLst>
                    </p:cTn>
                  </p:par>
                  <p:par>
                    <p:cTn id="83" fill="hold">
                      <p:stCondLst>
                        <p:cond delay="indefinite"/>
                      </p:stCondLst>
                      <p:childTnLst>
                        <p:par>
                          <p:cTn id="84" fill="hold">
                            <p:stCondLst>
                              <p:cond delay="0"/>
                            </p:stCondLst>
                            <p:childTnLst>
                              <p:par>
                                <p:cTn id="85" presetID="21" presetClass="entr" presetSubtype="1"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wheel(1)">
                                      <p:cBhvr>
                                        <p:cTn id="87" dur="200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21" presetClass="entr" presetSubtype="1"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wheel(1)">
                                      <p:cBhvr>
                                        <p:cTn id="92" dur="200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21" presetClass="entr" presetSubtype="1"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wheel(1)">
                                      <p:cBhvr>
                                        <p:cTn id="97" dur="200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21" presetClass="entr" presetSubtype="1"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wheel(1)">
                                      <p:cBhvr>
                                        <p:cTn id="102" dur="200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1" presetClass="entr" presetSubtype="1" fill="hold" grpId="0" nodeType="click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wheel(1)">
                                      <p:cBhvr>
                                        <p:cTn id="107" dur="2000"/>
                                        <p:tgtEl>
                                          <p:spTgt spid="28"/>
                                        </p:tgtEl>
                                      </p:cBhvr>
                                    </p:animEffect>
                                  </p:childTnLst>
                                </p:cTn>
                              </p:par>
                            </p:childTnLst>
                          </p:cTn>
                        </p:par>
                      </p:childTnLst>
                    </p:cTn>
                  </p:par>
                  <p:par>
                    <p:cTn id="108" fill="hold">
                      <p:stCondLst>
                        <p:cond delay="indefinite"/>
                      </p:stCondLst>
                      <p:childTnLst>
                        <p:par>
                          <p:cTn id="109" fill="hold">
                            <p:stCondLst>
                              <p:cond delay="0"/>
                            </p:stCondLst>
                            <p:childTnLst>
                              <p:par>
                                <p:cTn id="110" presetID="21" presetClass="entr" presetSubtype="1" fill="hold" grpId="0" nodeType="clickEffect">
                                  <p:stCondLst>
                                    <p:cond delay="0"/>
                                  </p:stCondLst>
                                  <p:childTnLst>
                                    <p:set>
                                      <p:cBhvr>
                                        <p:cTn id="111" dur="1" fill="hold">
                                          <p:stCondLst>
                                            <p:cond delay="0"/>
                                          </p:stCondLst>
                                        </p:cTn>
                                        <p:tgtEl>
                                          <p:spTgt spid="22"/>
                                        </p:tgtEl>
                                        <p:attrNameLst>
                                          <p:attrName>style.visibility</p:attrName>
                                        </p:attrNameLst>
                                      </p:cBhvr>
                                      <p:to>
                                        <p:strVal val="visible"/>
                                      </p:to>
                                    </p:set>
                                    <p:animEffect transition="in" filter="wheel(1)">
                                      <p:cBhvr>
                                        <p:cTn id="112" dur="2000"/>
                                        <p:tgtEl>
                                          <p:spTgt spid="22"/>
                                        </p:tgtEl>
                                      </p:cBhvr>
                                    </p:animEffect>
                                  </p:childTnLst>
                                </p:cTn>
                              </p:par>
                            </p:childTnLst>
                          </p:cTn>
                        </p:par>
                      </p:childTnLst>
                    </p:cTn>
                  </p:par>
                  <p:par>
                    <p:cTn id="113" fill="hold">
                      <p:stCondLst>
                        <p:cond delay="indefinite"/>
                      </p:stCondLst>
                      <p:childTnLst>
                        <p:par>
                          <p:cTn id="114" fill="hold">
                            <p:stCondLst>
                              <p:cond delay="0"/>
                            </p:stCondLst>
                            <p:childTnLst>
                              <p:par>
                                <p:cTn id="115" presetID="21" presetClass="entr" presetSubtype="1" fill="hold" grpId="0" nodeType="clickEffect">
                                  <p:stCondLst>
                                    <p:cond delay="0"/>
                                  </p:stCondLst>
                                  <p:childTnLst>
                                    <p:set>
                                      <p:cBhvr>
                                        <p:cTn id="116" dur="1" fill="hold">
                                          <p:stCondLst>
                                            <p:cond delay="0"/>
                                          </p:stCondLst>
                                        </p:cTn>
                                        <p:tgtEl>
                                          <p:spTgt spid="23"/>
                                        </p:tgtEl>
                                        <p:attrNameLst>
                                          <p:attrName>style.visibility</p:attrName>
                                        </p:attrNameLst>
                                      </p:cBhvr>
                                      <p:to>
                                        <p:strVal val="visible"/>
                                      </p:to>
                                    </p:set>
                                    <p:animEffect transition="in" filter="wheel(1)">
                                      <p:cBhvr>
                                        <p:cTn id="117" dur="2000"/>
                                        <p:tgtEl>
                                          <p:spTgt spid="23"/>
                                        </p:tgtEl>
                                      </p:cBhvr>
                                    </p:animEffect>
                                  </p:childTnLst>
                                </p:cTn>
                              </p:par>
                            </p:childTnLst>
                          </p:cTn>
                        </p:par>
                      </p:childTnLst>
                    </p:cTn>
                  </p:par>
                  <p:par>
                    <p:cTn id="118" fill="hold">
                      <p:stCondLst>
                        <p:cond delay="indefinite"/>
                      </p:stCondLst>
                      <p:childTnLst>
                        <p:par>
                          <p:cTn id="119" fill="hold">
                            <p:stCondLst>
                              <p:cond delay="0"/>
                            </p:stCondLst>
                            <p:childTnLst>
                              <p:par>
                                <p:cTn id="120" presetID="21" presetClass="entr" presetSubtype="1" fill="hold" grpId="0" nodeType="clickEffect">
                                  <p:stCondLst>
                                    <p:cond delay="0"/>
                                  </p:stCondLst>
                                  <p:childTnLst>
                                    <p:set>
                                      <p:cBhvr>
                                        <p:cTn id="121" dur="1" fill="hold">
                                          <p:stCondLst>
                                            <p:cond delay="0"/>
                                          </p:stCondLst>
                                        </p:cTn>
                                        <p:tgtEl>
                                          <p:spTgt spid="29"/>
                                        </p:tgtEl>
                                        <p:attrNameLst>
                                          <p:attrName>style.visibility</p:attrName>
                                        </p:attrNameLst>
                                      </p:cBhvr>
                                      <p:to>
                                        <p:strVal val="visible"/>
                                      </p:to>
                                    </p:set>
                                    <p:animEffect transition="in" filter="wheel(1)">
                                      <p:cBhvr>
                                        <p:cTn id="122" dur="2000"/>
                                        <p:tgtEl>
                                          <p:spTgt spid="29"/>
                                        </p:tgtEl>
                                      </p:cBhvr>
                                    </p:animEffect>
                                  </p:childTnLst>
                                </p:cTn>
                              </p:par>
                            </p:childTnLst>
                          </p:cTn>
                        </p:par>
                      </p:childTnLst>
                    </p:cTn>
                  </p:par>
                  <p:par>
                    <p:cTn id="123" fill="hold">
                      <p:stCondLst>
                        <p:cond delay="indefinite"/>
                      </p:stCondLst>
                      <p:childTnLst>
                        <p:par>
                          <p:cTn id="124" fill="hold">
                            <p:stCondLst>
                              <p:cond delay="0"/>
                            </p:stCondLst>
                            <p:childTnLst>
                              <p:par>
                                <p:cTn id="125" presetID="21" presetClass="entr" presetSubtype="1" fill="hold" grpId="0" nodeType="clickEffect">
                                  <p:stCondLst>
                                    <p:cond delay="0"/>
                                  </p:stCondLst>
                                  <p:childTnLst>
                                    <p:set>
                                      <p:cBhvr>
                                        <p:cTn id="126" dur="1" fill="hold">
                                          <p:stCondLst>
                                            <p:cond delay="0"/>
                                          </p:stCondLst>
                                        </p:cTn>
                                        <p:tgtEl>
                                          <p:spTgt spid="24"/>
                                        </p:tgtEl>
                                        <p:attrNameLst>
                                          <p:attrName>style.visibility</p:attrName>
                                        </p:attrNameLst>
                                      </p:cBhvr>
                                      <p:to>
                                        <p:strVal val="visible"/>
                                      </p:to>
                                    </p:set>
                                    <p:animEffect transition="in" filter="wheel(1)">
                                      <p:cBhvr>
                                        <p:cTn id="127" dur="2000"/>
                                        <p:tgtEl>
                                          <p:spTgt spid="24"/>
                                        </p:tgtEl>
                                      </p:cBhvr>
                                    </p:animEffect>
                                  </p:childTnLst>
                                </p:cTn>
                              </p:par>
                            </p:childTnLst>
                          </p:cTn>
                        </p:par>
                      </p:childTnLst>
                    </p:cTn>
                  </p:par>
                  <p:par>
                    <p:cTn id="128" fill="hold">
                      <p:stCondLst>
                        <p:cond delay="indefinite"/>
                      </p:stCondLst>
                      <p:childTnLst>
                        <p:par>
                          <p:cTn id="129" fill="hold">
                            <p:stCondLst>
                              <p:cond delay="0"/>
                            </p:stCondLst>
                            <p:childTnLst>
                              <p:par>
                                <p:cTn id="130" presetID="21" presetClass="entr" presetSubtype="1" fill="hold" grpId="0" nodeType="clickEffect">
                                  <p:stCondLst>
                                    <p:cond delay="0"/>
                                  </p:stCondLst>
                                  <p:childTnLst>
                                    <p:set>
                                      <p:cBhvr>
                                        <p:cTn id="131" dur="1" fill="hold">
                                          <p:stCondLst>
                                            <p:cond delay="0"/>
                                          </p:stCondLst>
                                        </p:cTn>
                                        <p:tgtEl>
                                          <p:spTgt spid="26"/>
                                        </p:tgtEl>
                                        <p:attrNameLst>
                                          <p:attrName>style.visibility</p:attrName>
                                        </p:attrNameLst>
                                      </p:cBhvr>
                                      <p:to>
                                        <p:strVal val="visible"/>
                                      </p:to>
                                    </p:set>
                                    <p:animEffect transition="in" filter="wheel(1)">
                                      <p:cBhvr>
                                        <p:cTn id="132" dur="2000"/>
                                        <p:tgtEl>
                                          <p:spTgt spid="26"/>
                                        </p:tgtEl>
                                      </p:cBhvr>
                                    </p:animEffect>
                                  </p:childTnLst>
                                </p:cTn>
                              </p:par>
                            </p:childTnLst>
                          </p:cTn>
                        </p:par>
                      </p:childTnLst>
                    </p:cTn>
                  </p:par>
                  <p:par>
                    <p:cTn id="133" fill="hold">
                      <p:stCondLst>
                        <p:cond delay="indefinite"/>
                      </p:stCondLst>
                      <p:childTnLst>
                        <p:par>
                          <p:cTn id="134" fill="hold">
                            <p:stCondLst>
                              <p:cond delay="0"/>
                            </p:stCondLst>
                            <p:childTnLst>
                              <p:par>
                                <p:cTn id="135" presetID="21" presetClass="entr" presetSubtype="1" fill="hold" grpId="0" nodeType="clickEffect">
                                  <p:stCondLst>
                                    <p:cond delay="0"/>
                                  </p:stCondLst>
                                  <p:childTnLst>
                                    <p:set>
                                      <p:cBhvr>
                                        <p:cTn id="136" dur="1" fill="hold">
                                          <p:stCondLst>
                                            <p:cond delay="0"/>
                                          </p:stCondLst>
                                        </p:cTn>
                                        <p:tgtEl>
                                          <p:spTgt spid="33"/>
                                        </p:tgtEl>
                                        <p:attrNameLst>
                                          <p:attrName>style.visibility</p:attrName>
                                        </p:attrNameLst>
                                      </p:cBhvr>
                                      <p:to>
                                        <p:strVal val="visible"/>
                                      </p:to>
                                    </p:set>
                                    <p:animEffect transition="in" filter="wheel(1)">
                                      <p:cBhvr>
                                        <p:cTn id="137" dur="2000"/>
                                        <p:tgtEl>
                                          <p:spTgt spid="33"/>
                                        </p:tgtEl>
                                      </p:cBhvr>
                                    </p:animEffect>
                                  </p:childTnLst>
                                </p:cTn>
                              </p:par>
                            </p:childTnLst>
                          </p:cTn>
                        </p:par>
                      </p:childTnLst>
                    </p:cTn>
                  </p:par>
                  <p:par>
                    <p:cTn id="138" fill="hold">
                      <p:stCondLst>
                        <p:cond delay="indefinite"/>
                      </p:stCondLst>
                      <p:childTnLst>
                        <p:par>
                          <p:cTn id="139" fill="hold">
                            <p:stCondLst>
                              <p:cond delay="0"/>
                            </p:stCondLst>
                            <p:childTnLst>
                              <p:par>
                                <p:cTn id="140" presetID="21" presetClass="entr" presetSubtype="1" fill="hold" grpId="0" nodeType="click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wheel(1)">
                                      <p:cBhvr>
                                        <p:cTn id="142" dur="2000"/>
                                        <p:tgtEl>
                                          <p:spTgt spid="30"/>
                                        </p:tgtEl>
                                      </p:cBhvr>
                                    </p:animEffect>
                                  </p:childTnLst>
                                </p:cTn>
                              </p:par>
                            </p:childTnLst>
                          </p:cTn>
                        </p:par>
                      </p:childTnLst>
                    </p:cTn>
                  </p:par>
                  <p:par>
                    <p:cTn id="143" fill="hold">
                      <p:stCondLst>
                        <p:cond delay="indefinite"/>
                      </p:stCondLst>
                      <p:childTnLst>
                        <p:par>
                          <p:cTn id="144" fill="hold">
                            <p:stCondLst>
                              <p:cond delay="0"/>
                            </p:stCondLst>
                            <p:childTnLst>
                              <p:par>
                                <p:cTn id="145" presetID="21" presetClass="entr" presetSubtype="1" fill="hold" grpId="0" nodeType="clickEffect">
                                  <p:stCondLst>
                                    <p:cond delay="0"/>
                                  </p:stCondLst>
                                  <p:childTnLst>
                                    <p:set>
                                      <p:cBhvr>
                                        <p:cTn id="146" dur="1" fill="hold">
                                          <p:stCondLst>
                                            <p:cond delay="0"/>
                                          </p:stCondLst>
                                        </p:cTn>
                                        <p:tgtEl>
                                          <p:spTgt spid="25"/>
                                        </p:tgtEl>
                                        <p:attrNameLst>
                                          <p:attrName>style.visibility</p:attrName>
                                        </p:attrNameLst>
                                      </p:cBhvr>
                                      <p:to>
                                        <p:strVal val="visible"/>
                                      </p:to>
                                    </p:set>
                                    <p:animEffect transition="in" filter="wheel(1)">
                                      <p:cBhvr>
                                        <p:cTn id="147" dur="2000"/>
                                        <p:tgtEl>
                                          <p:spTgt spid="25"/>
                                        </p:tgtEl>
                                      </p:cBhvr>
                                    </p:animEffect>
                                  </p:childTnLst>
                                </p:cTn>
                              </p:par>
                            </p:childTnLst>
                          </p:cTn>
                        </p:par>
                      </p:childTnLst>
                    </p:cTn>
                  </p:par>
                  <p:par>
                    <p:cTn id="148" fill="hold">
                      <p:stCondLst>
                        <p:cond delay="indefinite"/>
                      </p:stCondLst>
                      <p:childTnLst>
                        <p:par>
                          <p:cTn id="149" fill="hold">
                            <p:stCondLst>
                              <p:cond delay="0"/>
                            </p:stCondLst>
                            <p:childTnLst>
                              <p:par>
                                <p:cTn id="150" presetID="21" presetClass="entr" presetSubtype="1" fill="hold" grpId="0" nodeType="click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wheel(1)">
                                      <p:cBhvr>
                                        <p:cTn id="152" dur="2000"/>
                                        <p:tgtEl>
                                          <p:spTgt spid="31"/>
                                        </p:tgtEl>
                                      </p:cBhvr>
                                    </p:animEffect>
                                  </p:childTnLst>
                                </p:cTn>
                              </p:par>
                            </p:childTnLst>
                          </p:cTn>
                        </p:par>
                      </p:childTnLst>
                    </p:cTn>
                  </p:par>
                  <p:par>
                    <p:cTn id="153" fill="hold">
                      <p:stCondLst>
                        <p:cond delay="indefinite"/>
                      </p:stCondLst>
                      <p:childTnLst>
                        <p:par>
                          <p:cTn id="154" fill="hold">
                            <p:stCondLst>
                              <p:cond delay="0"/>
                            </p:stCondLst>
                            <p:childTnLst>
                              <p:par>
                                <p:cTn id="155" presetID="21" presetClass="entr" presetSubtype="1" fill="hold" grpId="0" nodeType="clickEffect">
                                  <p:stCondLst>
                                    <p:cond delay="0"/>
                                  </p:stCondLst>
                                  <p:childTnLst>
                                    <p:set>
                                      <p:cBhvr>
                                        <p:cTn id="156" dur="1" fill="hold">
                                          <p:stCondLst>
                                            <p:cond delay="0"/>
                                          </p:stCondLst>
                                        </p:cTn>
                                        <p:tgtEl>
                                          <p:spTgt spid="32"/>
                                        </p:tgtEl>
                                        <p:attrNameLst>
                                          <p:attrName>style.visibility</p:attrName>
                                        </p:attrNameLst>
                                      </p:cBhvr>
                                      <p:to>
                                        <p:strVal val="visible"/>
                                      </p:to>
                                    </p:set>
                                    <p:animEffect transition="in" filter="wheel(1)">
                                      <p:cBhvr>
                                        <p:cTn id="157" dur="2000"/>
                                        <p:tgtEl>
                                          <p:spTgt spid="32"/>
                                        </p:tgtEl>
                                      </p:cBhvr>
                                    </p:animEffect>
                                  </p:childTnLst>
                                </p:cTn>
                              </p:par>
                            </p:childTnLst>
                          </p:cTn>
                        </p:par>
                      </p:childTnLst>
                    </p:cTn>
                  </p:par>
                  <p:par>
                    <p:cTn id="158" fill="hold">
                      <p:stCondLst>
                        <p:cond delay="indefinite"/>
                      </p:stCondLst>
                      <p:childTnLst>
                        <p:par>
                          <p:cTn id="159" fill="hold">
                            <p:stCondLst>
                              <p:cond delay="0"/>
                            </p:stCondLst>
                            <p:childTnLst>
                              <p:par>
                                <p:cTn id="160" presetID="21" presetClass="entr" presetSubtype="1" fill="hold" grpId="0" nodeType="clickEffect">
                                  <p:stCondLst>
                                    <p:cond delay="0"/>
                                  </p:stCondLst>
                                  <p:childTnLst>
                                    <p:set>
                                      <p:cBhvr>
                                        <p:cTn id="161" dur="1" fill="hold">
                                          <p:stCondLst>
                                            <p:cond delay="0"/>
                                          </p:stCondLst>
                                        </p:cTn>
                                        <p:tgtEl>
                                          <p:spTgt spid="27"/>
                                        </p:tgtEl>
                                        <p:attrNameLst>
                                          <p:attrName>style.visibility</p:attrName>
                                        </p:attrNameLst>
                                      </p:cBhvr>
                                      <p:to>
                                        <p:strVal val="visible"/>
                                      </p:to>
                                    </p:set>
                                    <p:animEffect transition="in" filter="wheel(1)">
                                      <p:cBhvr>
                                        <p:cTn id="162"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16"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P spid="25" grpId="0" animBg="1"/>
      <p:bldP spid="30" grpId="0" animBg="1"/>
      <p:bldP spid="31" grpId="0" animBg="1"/>
      <p:bldP spid="32" grpId="0" animBg="1"/>
      <p:bldP spid="3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D4ACA-86B9-5B5D-5589-8FFA47716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F4CB0-BADD-6746-33A6-4BCC7B5C9E49}"/>
              </a:ext>
            </a:extLst>
          </p:cNvPr>
          <p:cNvSpPr>
            <a:spLocks noGrp="1"/>
          </p:cNvSpPr>
          <p:nvPr>
            <p:ph type="title"/>
          </p:nvPr>
        </p:nvSpPr>
        <p:spPr>
          <a:xfrm>
            <a:off x="1737359" y="68252"/>
            <a:ext cx="7672648" cy="864773"/>
          </a:xfrm>
        </p:spPr>
        <p:txBody>
          <a:bodyPr>
            <a:normAutofit/>
          </a:bodyPr>
          <a:lstStyle/>
          <a:p>
            <a:r>
              <a:rPr lang="en-US" sz="5400" b="1" dirty="0">
                <a:solidFill>
                  <a:srgbClr val="0070C0"/>
                </a:solidFill>
              </a:rPr>
              <a:t>Bus Organization</a:t>
            </a:r>
          </a:p>
        </p:txBody>
      </p:sp>
      <p:sp>
        <p:nvSpPr>
          <p:cNvPr id="3" name="Date Placeholder 2">
            <a:extLst>
              <a:ext uri="{FF2B5EF4-FFF2-40B4-BE49-F238E27FC236}">
                <a16:creationId xmlns:a16="http://schemas.microsoft.com/office/drawing/2014/main" id="{5BEA2407-6143-6A6A-694F-3CD9562D18A2}"/>
              </a:ext>
            </a:extLst>
          </p:cNvPr>
          <p:cNvSpPr>
            <a:spLocks noGrp="1"/>
          </p:cNvSpPr>
          <p:nvPr>
            <p:ph type="dt" sz="half" idx="10"/>
          </p:nvPr>
        </p:nvSpPr>
        <p:spPr/>
        <p:txBody>
          <a:bodyPr/>
          <a:lstStyle/>
          <a:p>
            <a:fld id="{B807526D-012A-4D91-8417-DD262E2850B4}" type="datetime3">
              <a:rPr lang="en-US" smtClean="0"/>
              <a:t>24 December 2025</a:t>
            </a:fld>
            <a:endParaRPr lang="en-US"/>
          </a:p>
        </p:txBody>
      </p:sp>
      <p:sp>
        <p:nvSpPr>
          <p:cNvPr id="8" name="Slide Number Placeholder 7">
            <a:extLst>
              <a:ext uri="{FF2B5EF4-FFF2-40B4-BE49-F238E27FC236}">
                <a16:creationId xmlns:a16="http://schemas.microsoft.com/office/drawing/2014/main" id="{373C0082-7370-534C-1452-1A7041C1982E}"/>
              </a:ext>
            </a:extLst>
          </p:cNvPr>
          <p:cNvSpPr>
            <a:spLocks noGrp="1"/>
          </p:cNvSpPr>
          <p:nvPr>
            <p:ph type="sldNum" sz="quarter" idx="12"/>
          </p:nvPr>
        </p:nvSpPr>
        <p:spPr/>
        <p:txBody>
          <a:bodyPr/>
          <a:lstStyle/>
          <a:p>
            <a:fld id="{48F63A3B-78C7-47BE-AE5E-E10140E04643}" type="slidenum">
              <a:rPr lang="en-US" smtClean="0"/>
              <a:t>5</a:t>
            </a:fld>
            <a:endParaRPr lang="en-US" dirty="0"/>
          </a:p>
        </p:txBody>
      </p:sp>
      <p:pic>
        <p:nvPicPr>
          <p:cNvPr id="11" name="Picture 10">
            <a:extLst>
              <a:ext uri="{FF2B5EF4-FFF2-40B4-BE49-F238E27FC236}">
                <a16:creationId xmlns:a16="http://schemas.microsoft.com/office/drawing/2014/main" id="{6ED3A5D1-DED1-72F4-7D9D-35E341766A66}"/>
              </a:ext>
            </a:extLst>
          </p:cNvPr>
          <p:cNvPicPr>
            <a:picLocks noChangeAspect="1"/>
          </p:cNvPicPr>
          <p:nvPr/>
        </p:nvPicPr>
        <p:blipFill rotWithShape="1">
          <a:blip r:embed="rId3">
            <a:duotone>
              <a:schemeClr val="accent5">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Lst>
          </a:blip>
          <a:srcRect l="2056" t="1873" r="4597" b="3956"/>
          <a:stretch/>
        </p:blipFill>
        <p:spPr>
          <a:xfrm>
            <a:off x="9277005" y="52257"/>
            <a:ext cx="7049188" cy="7867377"/>
          </a:xfrm>
          <a:prstGeom prst="rect">
            <a:avLst/>
          </a:prstGeom>
        </p:spPr>
      </p:pic>
      <p:sp>
        <p:nvSpPr>
          <p:cNvPr id="15" name="Content Placeholder 4">
            <a:extLst>
              <a:ext uri="{FF2B5EF4-FFF2-40B4-BE49-F238E27FC236}">
                <a16:creationId xmlns:a16="http://schemas.microsoft.com/office/drawing/2014/main" id="{E6FAB118-6BA4-BA1A-C966-957344213EBB}"/>
              </a:ext>
            </a:extLst>
          </p:cNvPr>
          <p:cNvSpPr txBox="1">
            <a:spLocks/>
          </p:cNvSpPr>
          <p:nvPr/>
        </p:nvSpPr>
        <p:spPr>
          <a:xfrm>
            <a:off x="191193" y="933025"/>
            <a:ext cx="9484822" cy="6831063"/>
          </a:xfrm>
          <a:prstGeom prst="rect">
            <a:avLst/>
          </a:prstGeom>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spcBef>
                <a:spcPts val="0"/>
              </a:spcBef>
              <a:spcAft>
                <a:spcPts val="600"/>
              </a:spcAft>
            </a:pPr>
            <a:r>
              <a:rPr lang="en-US" sz="3200" dirty="0"/>
              <a:t>A bus organization has 4 registers, each register is connected to 2 multiplexers to form 2 buses A and B. </a:t>
            </a:r>
          </a:p>
          <a:p>
            <a:pPr>
              <a:spcBef>
                <a:spcPts val="0"/>
              </a:spcBef>
              <a:spcAft>
                <a:spcPts val="600"/>
              </a:spcAft>
            </a:pPr>
            <a:r>
              <a:rPr lang="en-US" sz="3200" dirty="0"/>
              <a:t>To perform the </a:t>
            </a:r>
            <a:r>
              <a:rPr lang="en-US" sz="3200" b="1" dirty="0">
                <a:solidFill>
                  <a:srgbClr val="FF0000"/>
                </a:solidFill>
              </a:rPr>
              <a:t>micro-operation</a:t>
            </a:r>
            <a:r>
              <a:rPr lang="en-US" sz="3200" dirty="0"/>
              <a:t>:</a:t>
            </a:r>
          </a:p>
          <a:p>
            <a:pPr lvl="1">
              <a:spcBef>
                <a:spcPts val="0"/>
              </a:spcBef>
              <a:spcAft>
                <a:spcPts val="600"/>
              </a:spcAft>
            </a:pPr>
            <a:r>
              <a:rPr lang="en-US" sz="3200" dirty="0"/>
              <a:t>R1</a:t>
            </a:r>
            <a:r>
              <a:rPr lang="en-US" sz="3200" b="1" dirty="0">
                <a:solidFill>
                  <a:srgbClr val="FF0000"/>
                </a:solidFill>
              </a:rPr>
              <a:t>(0110)</a:t>
            </a:r>
            <a:r>
              <a:rPr lang="en-US" sz="3200" dirty="0"/>
              <a:t> = R2</a:t>
            </a:r>
            <a:r>
              <a:rPr lang="en-US" sz="3200" b="1" dirty="0">
                <a:solidFill>
                  <a:srgbClr val="FF0000"/>
                </a:solidFill>
              </a:rPr>
              <a:t>(1011)</a:t>
            </a:r>
            <a:r>
              <a:rPr lang="en-US" sz="3200" dirty="0"/>
              <a:t> - R3</a:t>
            </a:r>
            <a:r>
              <a:rPr lang="en-US" sz="3200" b="1" dirty="0">
                <a:solidFill>
                  <a:srgbClr val="FF0000"/>
                </a:solidFill>
              </a:rPr>
              <a:t>(0101)</a:t>
            </a:r>
            <a:endParaRPr lang="en-US" sz="3200" dirty="0"/>
          </a:p>
          <a:p>
            <a:pPr>
              <a:spcBef>
                <a:spcPts val="0"/>
              </a:spcBef>
              <a:spcAft>
                <a:spcPts val="600"/>
              </a:spcAft>
            </a:pPr>
            <a:r>
              <a:rPr lang="en-US" sz="3200" dirty="0"/>
              <a:t>The control unit must provide binary selection variables to the following selector inputs –</a:t>
            </a:r>
          </a:p>
          <a:p>
            <a:pPr marL="548640" indent="-548640">
              <a:spcBef>
                <a:spcPts val="0"/>
              </a:spcBef>
              <a:spcAft>
                <a:spcPts val="600"/>
              </a:spcAft>
              <a:buFont typeface="+mj-lt"/>
              <a:buAutoNum type="arabicPeriod"/>
            </a:pPr>
            <a:r>
              <a:rPr lang="en-US" sz="3200" dirty="0">
                <a:solidFill>
                  <a:srgbClr val="7030A0"/>
                </a:solidFill>
              </a:rPr>
              <a:t>MUX A Selector: </a:t>
            </a:r>
            <a:r>
              <a:rPr lang="en-US" sz="3200" dirty="0"/>
              <a:t>to place contents of R2 onto bus A</a:t>
            </a:r>
          </a:p>
          <a:p>
            <a:pPr marL="548640" indent="-548640">
              <a:spcBef>
                <a:spcPts val="0"/>
              </a:spcBef>
              <a:spcAft>
                <a:spcPts val="600"/>
              </a:spcAft>
              <a:buFont typeface="+mj-lt"/>
              <a:buAutoNum type="arabicPeriod"/>
            </a:pPr>
            <a:r>
              <a:rPr lang="en-US" sz="3200" dirty="0">
                <a:solidFill>
                  <a:srgbClr val="7030A0"/>
                </a:solidFill>
              </a:rPr>
              <a:t>MUX B Selector: </a:t>
            </a:r>
            <a:r>
              <a:rPr lang="en-US" sz="3200" dirty="0"/>
              <a:t>to place contents of R3 onto bus B</a:t>
            </a:r>
          </a:p>
          <a:p>
            <a:pPr marL="548640" indent="-548640">
              <a:spcBef>
                <a:spcPts val="0"/>
              </a:spcBef>
              <a:spcAft>
                <a:spcPts val="600"/>
              </a:spcAft>
              <a:buFont typeface="+mj-lt"/>
              <a:buAutoNum type="arabicPeriod"/>
            </a:pPr>
            <a:r>
              <a:rPr lang="en-US" sz="3200" dirty="0">
                <a:solidFill>
                  <a:srgbClr val="7030A0"/>
                </a:solidFill>
              </a:rPr>
              <a:t>ALU Function Selector: </a:t>
            </a:r>
            <a:r>
              <a:rPr lang="en-US" sz="3200" dirty="0"/>
              <a:t>to provide the arithmetic operation A - B</a:t>
            </a:r>
          </a:p>
          <a:p>
            <a:pPr marL="548640" indent="-548640">
              <a:spcBef>
                <a:spcPts val="0"/>
              </a:spcBef>
              <a:spcAft>
                <a:spcPts val="600"/>
              </a:spcAft>
              <a:buFont typeface="+mj-lt"/>
              <a:buAutoNum type="arabicPeriod"/>
            </a:pPr>
            <a:r>
              <a:rPr lang="en-US" sz="3200" dirty="0">
                <a:solidFill>
                  <a:srgbClr val="7030A0"/>
                </a:solidFill>
              </a:rPr>
              <a:t>Shift Selector: </a:t>
            </a:r>
            <a:r>
              <a:rPr lang="en-US" sz="3200" dirty="0"/>
              <a:t>for direct transfer from the output of the ALU onto output bus S (no shift)</a:t>
            </a:r>
          </a:p>
          <a:p>
            <a:pPr marL="548640" indent="-548640">
              <a:spcBef>
                <a:spcPts val="0"/>
              </a:spcBef>
              <a:spcAft>
                <a:spcPts val="600"/>
              </a:spcAft>
              <a:buFont typeface="+mj-lt"/>
              <a:buAutoNum type="arabicPeriod"/>
            </a:pPr>
            <a:r>
              <a:rPr lang="en-US" sz="3200" dirty="0">
                <a:solidFill>
                  <a:srgbClr val="7030A0"/>
                </a:solidFill>
              </a:rPr>
              <a:t>Decoder Destination Selector: </a:t>
            </a:r>
            <a:r>
              <a:rPr lang="en-US" sz="3200" dirty="0"/>
              <a:t>to transfer the contents of bus S into R1</a:t>
            </a:r>
          </a:p>
        </p:txBody>
      </p:sp>
      <p:cxnSp>
        <p:nvCxnSpPr>
          <p:cNvPr id="6" name="Straight Connector 5">
            <a:extLst>
              <a:ext uri="{FF2B5EF4-FFF2-40B4-BE49-F238E27FC236}">
                <a16:creationId xmlns:a16="http://schemas.microsoft.com/office/drawing/2014/main" id="{9C34F98E-96E5-D101-4F4A-A6959A62EC2C}"/>
              </a:ext>
            </a:extLst>
          </p:cNvPr>
          <p:cNvCxnSpPr/>
          <p:nvPr/>
        </p:nvCxnSpPr>
        <p:spPr>
          <a:xfrm>
            <a:off x="11874137" y="4689566"/>
            <a:ext cx="809897"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1C7F5214-B09D-327D-804C-9E6C41803C0B}"/>
              </a:ext>
            </a:extLst>
          </p:cNvPr>
          <p:cNvCxnSpPr/>
          <p:nvPr/>
        </p:nvCxnSpPr>
        <p:spPr>
          <a:xfrm>
            <a:off x="15503233" y="4689566"/>
            <a:ext cx="809897"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B4F8FA0A-E8C2-664E-0495-762A876418A9}"/>
              </a:ext>
            </a:extLst>
          </p:cNvPr>
          <p:cNvCxnSpPr/>
          <p:nvPr/>
        </p:nvCxnSpPr>
        <p:spPr>
          <a:xfrm>
            <a:off x="15503233" y="6187440"/>
            <a:ext cx="809897"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4599A2F4-2C53-BF9B-082A-83A783F24B3F}"/>
              </a:ext>
            </a:extLst>
          </p:cNvPr>
          <p:cNvCxnSpPr/>
          <p:nvPr/>
        </p:nvCxnSpPr>
        <p:spPr>
          <a:xfrm>
            <a:off x="15450981" y="7088777"/>
            <a:ext cx="809897" cy="0"/>
          </a:xfrm>
          <a:prstGeom prst="line">
            <a:avLst/>
          </a:prstGeom>
          <a:ln w="28575">
            <a:solidFill>
              <a:srgbClr val="00B0F0"/>
            </a:solidFill>
          </a:ln>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9F8159FC-E256-7ECB-3422-17D915864886}"/>
              </a:ext>
            </a:extLst>
          </p:cNvPr>
          <p:cNvCxnSpPr/>
          <p:nvPr/>
        </p:nvCxnSpPr>
        <p:spPr>
          <a:xfrm>
            <a:off x="10145485" y="5547360"/>
            <a:ext cx="809897" cy="0"/>
          </a:xfrm>
          <a:prstGeom prst="line">
            <a:avLst/>
          </a:prstGeom>
          <a:ln w="28575">
            <a:solidFill>
              <a:srgbClr val="00B050"/>
            </a:solidFill>
          </a:ln>
        </p:spPr>
        <p:style>
          <a:lnRef idx="1">
            <a:schemeClr val="accent2"/>
          </a:lnRef>
          <a:fillRef idx="0">
            <a:schemeClr val="accent2"/>
          </a:fillRef>
          <a:effectRef idx="0">
            <a:schemeClr val="accent2"/>
          </a:effectRef>
          <a:fontRef idx="minor">
            <a:schemeClr val="tx1"/>
          </a:fontRef>
        </p:style>
      </p:cxnSp>
      <p:sp>
        <p:nvSpPr>
          <p:cNvPr id="5" name="Rectangle 4">
            <a:extLst>
              <a:ext uri="{FF2B5EF4-FFF2-40B4-BE49-F238E27FC236}">
                <a16:creationId xmlns:a16="http://schemas.microsoft.com/office/drawing/2014/main" id="{13C2721C-EE3E-243F-4712-860BF501DA64}"/>
              </a:ext>
            </a:extLst>
          </p:cNvPr>
          <p:cNvSpPr/>
          <p:nvPr/>
        </p:nvSpPr>
        <p:spPr>
          <a:xfrm>
            <a:off x="11564160" y="2479564"/>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1011</a:t>
            </a:r>
          </a:p>
        </p:txBody>
      </p:sp>
      <p:sp>
        <p:nvSpPr>
          <p:cNvPr id="14" name="Rectangle 13">
            <a:extLst>
              <a:ext uri="{FF2B5EF4-FFF2-40B4-BE49-F238E27FC236}">
                <a16:creationId xmlns:a16="http://schemas.microsoft.com/office/drawing/2014/main" id="{23F6C609-02C1-5CCB-AA50-CC124F24768E}"/>
              </a:ext>
            </a:extLst>
          </p:cNvPr>
          <p:cNvSpPr/>
          <p:nvPr/>
        </p:nvSpPr>
        <p:spPr>
          <a:xfrm>
            <a:off x="11564160" y="3501934"/>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0101</a:t>
            </a:r>
          </a:p>
        </p:txBody>
      </p:sp>
      <p:sp>
        <p:nvSpPr>
          <p:cNvPr id="16" name="Rectangle 15">
            <a:extLst>
              <a:ext uri="{FF2B5EF4-FFF2-40B4-BE49-F238E27FC236}">
                <a16:creationId xmlns:a16="http://schemas.microsoft.com/office/drawing/2014/main" id="{40ED8F4F-C3CF-259B-001C-C861D9A52C39}"/>
              </a:ext>
            </a:extLst>
          </p:cNvPr>
          <p:cNvSpPr/>
          <p:nvPr/>
        </p:nvSpPr>
        <p:spPr>
          <a:xfrm>
            <a:off x="11987078" y="4711936"/>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10</a:t>
            </a:r>
          </a:p>
        </p:txBody>
      </p:sp>
      <p:sp>
        <p:nvSpPr>
          <p:cNvPr id="18" name="Rectangle 17">
            <a:extLst>
              <a:ext uri="{FF2B5EF4-FFF2-40B4-BE49-F238E27FC236}">
                <a16:creationId xmlns:a16="http://schemas.microsoft.com/office/drawing/2014/main" id="{08BE9A0E-FD89-54E9-A0E2-B7A042545EFF}"/>
              </a:ext>
            </a:extLst>
          </p:cNvPr>
          <p:cNvSpPr/>
          <p:nvPr/>
        </p:nvSpPr>
        <p:spPr>
          <a:xfrm>
            <a:off x="13469573" y="5131626"/>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1011</a:t>
            </a:r>
          </a:p>
        </p:txBody>
      </p:sp>
      <p:sp>
        <p:nvSpPr>
          <p:cNvPr id="19" name="Rectangle 18">
            <a:extLst>
              <a:ext uri="{FF2B5EF4-FFF2-40B4-BE49-F238E27FC236}">
                <a16:creationId xmlns:a16="http://schemas.microsoft.com/office/drawing/2014/main" id="{1A3DC407-F138-4E4D-09E1-1A3416EF7385}"/>
              </a:ext>
            </a:extLst>
          </p:cNvPr>
          <p:cNvSpPr/>
          <p:nvPr/>
        </p:nvSpPr>
        <p:spPr>
          <a:xfrm>
            <a:off x="15610503" y="4702266"/>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11</a:t>
            </a:r>
          </a:p>
        </p:txBody>
      </p:sp>
      <p:sp>
        <p:nvSpPr>
          <p:cNvPr id="20" name="Rectangle 19">
            <a:extLst>
              <a:ext uri="{FF2B5EF4-FFF2-40B4-BE49-F238E27FC236}">
                <a16:creationId xmlns:a16="http://schemas.microsoft.com/office/drawing/2014/main" id="{05BE405B-6238-4945-14B1-DD1CA09A1D6E}"/>
              </a:ext>
            </a:extLst>
          </p:cNvPr>
          <p:cNvSpPr/>
          <p:nvPr/>
        </p:nvSpPr>
        <p:spPr>
          <a:xfrm>
            <a:off x="14897883" y="5131626"/>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0101</a:t>
            </a:r>
          </a:p>
        </p:txBody>
      </p:sp>
      <p:sp>
        <p:nvSpPr>
          <p:cNvPr id="21" name="Rectangle 20">
            <a:extLst>
              <a:ext uri="{FF2B5EF4-FFF2-40B4-BE49-F238E27FC236}">
                <a16:creationId xmlns:a16="http://schemas.microsoft.com/office/drawing/2014/main" id="{1E38AFD8-E97A-98C0-64EF-1D57D0556C47}"/>
              </a:ext>
            </a:extLst>
          </p:cNvPr>
          <p:cNvSpPr/>
          <p:nvPr/>
        </p:nvSpPr>
        <p:spPr>
          <a:xfrm>
            <a:off x="15461290" y="6223896"/>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0101</a:t>
            </a:r>
          </a:p>
        </p:txBody>
      </p:sp>
      <p:sp>
        <p:nvSpPr>
          <p:cNvPr id="22" name="Rectangle 21">
            <a:extLst>
              <a:ext uri="{FF2B5EF4-FFF2-40B4-BE49-F238E27FC236}">
                <a16:creationId xmlns:a16="http://schemas.microsoft.com/office/drawing/2014/main" id="{4A9A4942-6956-3542-A166-4BDD6061AB56}"/>
              </a:ext>
            </a:extLst>
          </p:cNvPr>
          <p:cNvSpPr/>
          <p:nvPr/>
        </p:nvSpPr>
        <p:spPr>
          <a:xfrm>
            <a:off x="14234605" y="6258810"/>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0110</a:t>
            </a:r>
          </a:p>
        </p:txBody>
      </p:sp>
      <p:sp>
        <p:nvSpPr>
          <p:cNvPr id="23" name="Rectangle 22">
            <a:extLst>
              <a:ext uri="{FF2B5EF4-FFF2-40B4-BE49-F238E27FC236}">
                <a16:creationId xmlns:a16="http://schemas.microsoft.com/office/drawing/2014/main" id="{C32EDEF7-0331-CA11-21E4-84FEA1DA80B6}"/>
              </a:ext>
            </a:extLst>
          </p:cNvPr>
          <p:cNvSpPr/>
          <p:nvPr/>
        </p:nvSpPr>
        <p:spPr>
          <a:xfrm>
            <a:off x="15423553" y="7119167"/>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000</a:t>
            </a:r>
          </a:p>
        </p:txBody>
      </p:sp>
      <p:sp>
        <p:nvSpPr>
          <p:cNvPr id="24" name="Rectangle 23">
            <a:extLst>
              <a:ext uri="{FF2B5EF4-FFF2-40B4-BE49-F238E27FC236}">
                <a16:creationId xmlns:a16="http://schemas.microsoft.com/office/drawing/2014/main" id="{31F924D4-C9AE-9254-B5F3-A6B3969D42EF}"/>
              </a:ext>
            </a:extLst>
          </p:cNvPr>
          <p:cNvSpPr/>
          <p:nvPr/>
        </p:nvSpPr>
        <p:spPr>
          <a:xfrm>
            <a:off x="14209205" y="7119167"/>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0110</a:t>
            </a:r>
          </a:p>
        </p:txBody>
      </p:sp>
      <p:sp>
        <p:nvSpPr>
          <p:cNvPr id="26" name="Rectangle 25">
            <a:extLst>
              <a:ext uri="{FF2B5EF4-FFF2-40B4-BE49-F238E27FC236}">
                <a16:creationId xmlns:a16="http://schemas.microsoft.com/office/drawing/2014/main" id="{C3BB7117-C317-4CF3-5FF7-B0F7D6F1098B}"/>
              </a:ext>
            </a:extLst>
          </p:cNvPr>
          <p:cNvSpPr/>
          <p:nvPr/>
        </p:nvSpPr>
        <p:spPr>
          <a:xfrm>
            <a:off x="10126778" y="5610534"/>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a:t>
            </a:r>
          </a:p>
        </p:txBody>
      </p:sp>
      <p:sp>
        <p:nvSpPr>
          <p:cNvPr id="27" name="Rectangle 26">
            <a:extLst>
              <a:ext uri="{FF2B5EF4-FFF2-40B4-BE49-F238E27FC236}">
                <a16:creationId xmlns:a16="http://schemas.microsoft.com/office/drawing/2014/main" id="{79BA8D73-1B7B-1038-9191-25E93D9B5E6D}"/>
              </a:ext>
            </a:extLst>
          </p:cNvPr>
          <p:cNvSpPr/>
          <p:nvPr/>
        </p:nvSpPr>
        <p:spPr>
          <a:xfrm>
            <a:off x="11553635" y="1436449"/>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0110</a:t>
            </a:r>
          </a:p>
        </p:txBody>
      </p:sp>
      <p:sp>
        <p:nvSpPr>
          <p:cNvPr id="28" name="Rectangle 27">
            <a:extLst>
              <a:ext uri="{FF2B5EF4-FFF2-40B4-BE49-F238E27FC236}">
                <a16:creationId xmlns:a16="http://schemas.microsoft.com/office/drawing/2014/main" id="{46F2C3F3-F3A0-3776-D65D-5556B6BFEF81}"/>
              </a:ext>
            </a:extLst>
          </p:cNvPr>
          <p:cNvSpPr/>
          <p:nvPr/>
        </p:nvSpPr>
        <p:spPr>
          <a:xfrm>
            <a:off x="14795500" y="5755061"/>
            <a:ext cx="341746"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a:t>
            </a:r>
          </a:p>
        </p:txBody>
      </p:sp>
      <p:sp>
        <p:nvSpPr>
          <p:cNvPr id="29" name="Rectangle 28">
            <a:extLst>
              <a:ext uri="{FF2B5EF4-FFF2-40B4-BE49-F238E27FC236}">
                <a16:creationId xmlns:a16="http://schemas.microsoft.com/office/drawing/2014/main" id="{E167A646-8479-A342-7681-8F3954AF1417}"/>
              </a:ext>
            </a:extLst>
          </p:cNvPr>
          <p:cNvSpPr/>
          <p:nvPr/>
        </p:nvSpPr>
        <p:spPr>
          <a:xfrm>
            <a:off x="14388247" y="6650667"/>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b="1" dirty="0">
                <a:solidFill>
                  <a:srgbClr val="FF0000"/>
                </a:solidFill>
              </a:rPr>
              <a:t>No shift</a:t>
            </a:r>
          </a:p>
        </p:txBody>
      </p:sp>
      <p:sp>
        <p:nvSpPr>
          <p:cNvPr id="25" name="Rectangle 24">
            <a:extLst>
              <a:ext uri="{FF2B5EF4-FFF2-40B4-BE49-F238E27FC236}">
                <a16:creationId xmlns:a16="http://schemas.microsoft.com/office/drawing/2014/main" id="{625F8A47-EFD9-8344-3981-DA8411936B80}"/>
              </a:ext>
            </a:extLst>
          </p:cNvPr>
          <p:cNvSpPr/>
          <p:nvPr/>
        </p:nvSpPr>
        <p:spPr>
          <a:xfrm>
            <a:off x="10698504" y="1291942"/>
            <a:ext cx="330914"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a:t>
            </a:r>
          </a:p>
        </p:txBody>
      </p:sp>
      <p:sp>
        <p:nvSpPr>
          <p:cNvPr id="30" name="Rectangle 29">
            <a:extLst>
              <a:ext uri="{FF2B5EF4-FFF2-40B4-BE49-F238E27FC236}">
                <a16:creationId xmlns:a16="http://schemas.microsoft.com/office/drawing/2014/main" id="{847E4CC5-D971-1EC8-4BE9-74BAAAA4302D}"/>
              </a:ext>
            </a:extLst>
          </p:cNvPr>
          <p:cNvSpPr/>
          <p:nvPr/>
        </p:nvSpPr>
        <p:spPr>
          <a:xfrm>
            <a:off x="11038852" y="238579"/>
            <a:ext cx="340348"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31" name="Rectangle 30">
            <a:extLst>
              <a:ext uri="{FF2B5EF4-FFF2-40B4-BE49-F238E27FC236}">
                <a16:creationId xmlns:a16="http://schemas.microsoft.com/office/drawing/2014/main" id="{B7446FB9-CAEB-A2D1-0ACD-7E76E2B25737}"/>
              </a:ext>
            </a:extLst>
          </p:cNvPr>
          <p:cNvSpPr/>
          <p:nvPr/>
        </p:nvSpPr>
        <p:spPr>
          <a:xfrm>
            <a:off x="10785208" y="2252831"/>
            <a:ext cx="340348"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32" name="Rectangle 31">
            <a:extLst>
              <a:ext uri="{FF2B5EF4-FFF2-40B4-BE49-F238E27FC236}">
                <a16:creationId xmlns:a16="http://schemas.microsoft.com/office/drawing/2014/main" id="{839A664D-F0BE-F730-D4E7-033AF053E9E6}"/>
              </a:ext>
            </a:extLst>
          </p:cNvPr>
          <p:cNvSpPr/>
          <p:nvPr/>
        </p:nvSpPr>
        <p:spPr>
          <a:xfrm>
            <a:off x="10830578" y="3289248"/>
            <a:ext cx="340348"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a:t>
            </a:r>
          </a:p>
        </p:txBody>
      </p:sp>
      <p:sp>
        <p:nvSpPr>
          <p:cNvPr id="33" name="Rectangle 32">
            <a:extLst>
              <a:ext uri="{FF2B5EF4-FFF2-40B4-BE49-F238E27FC236}">
                <a16:creationId xmlns:a16="http://schemas.microsoft.com/office/drawing/2014/main" id="{DD5CC75F-F329-0FC0-1FB4-23DFB8F80BC5}"/>
              </a:ext>
            </a:extLst>
          </p:cNvPr>
          <p:cNvSpPr/>
          <p:nvPr/>
        </p:nvSpPr>
        <p:spPr>
          <a:xfrm>
            <a:off x="9420197" y="4204049"/>
            <a:ext cx="330914"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a:t>
            </a:r>
          </a:p>
        </p:txBody>
      </p:sp>
    </p:spTree>
    <p:extLst>
      <p:ext uri="{BB962C8B-B14F-4D97-AF65-F5344CB8AC3E}">
        <p14:creationId xmlns:p14="http://schemas.microsoft.com/office/powerpoint/2010/main" val="119473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15">
                                            <p:txEl>
                                              <p:pRg st="4" end="4"/>
                                            </p:txEl>
                                          </p:spTgt>
                                        </p:tgtEl>
                                        <p:attrNameLst>
                                          <p:attrName>style.color</p:attrName>
                                        </p:attrNameLst>
                                      </p:cBhvr>
                                      <p:to>
                                        <a:schemeClr val="accent2"/>
                                      </p:to>
                                    </p:animClr>
                                    <p:animClr clrSpc="rgb" dir="cw">
                                      <p:cBhvr>
                                        <p:cTn id="7" dur="500" fill="hold"/>
                                        <p:tgtEl>
                                          <p:spTgt spid="15">
                                            <p:txEl>
                                              <p:pRg st="4" end="4"/>
                                            </p:txEl>
                                          </p:spTgt>
                                        </p:tgtEl>
                                        <p:attrNameLst>
                                          <p:attrName>fillcolor</p:attrName>
                                        </p:attrNameLst>
                                      </p:cBhvr>
                                      <p:to>
                                        <a:schemeClr val="accent2"/>
                                      </p:to>
                                    </p:animClr>
                                    <p:set>
                                      <p:cBhvr>
                                        <p:cTn id="8" dur="500" fill="hold"/>
                                        <p:tgtEl>
                                          <p:spTgt spid="15">
                                            <p:txEl>
                                              <p:pRg st="4" end="4"/>
                                            </p:txEl>
                                          </p:spTgt>
                                        </p:tgtEl>
                                        <p:attrNameLst>
                                          <p:attrName>fill.type</p:attrName>
                                        </p:attrNameLst>
                                      </p:cBhvr>
                                      <p:to>
                                        <p:strVal val="solid"/>
                                      </p:to>
                                    </p:set>
                                    <p:set>
                                      <p:cBhvr>
                                        <p:cTn id="9" dur="500" fill="hold"/>
                                        <p:tgtEl>
                                          <p:spTgt spid="15">
                                            <p:txEl>
                                              <p:pRg st="4" end="4"/>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9" presetClass="emph" presetSubtype="0" fill="hold" nodeType="clickEffect">
                                  <p:stCondLst>
                                    <p:cond delay="0"/>
                                  </p:stCondLst>
                                  <p:childTnLst>
                                    <p:animClr clrSpc="rgb" dir="cw">
                                      <p:cBhvr override="childStyle">
                                        <p:cTn id="19" dur="500" fill="hold"/>
                                        <p:tgtEl>
                                          <p:spTgt spid="15">
                                            <p:txEl>
                                              <p:pRg st="5" end="5"/>
                                            </p:txEl>
                                          </p:spTgt>
                                        </p:tgtEl>
                                        <p:attrNameLst>
                                          <p:attrName>style.color</p:attrName>
                                        </p:attrNameLst>
                                      </p:cBhvr>
                                      <p:to>
                                        <a:srgbClr val="C00000"/>
                                      </p:to>
                                    </p:animClr>
                                    <p:animClr clrSpc="rgb" dir="cw">
                                      <p:cBhvr>
                                        <p:cTn id="20" dur="500" fill="hold"/>
                                        <p:tgtEl>
                                          <p:spTgt spid="15">
                                            <p:txEl>
                                              <p:pRg st="5" end="5"/>
                                            </p:txEl>
                                          </p:spTgt>
                                        </p:tgtEl>
                                        <p:attrNameLst>
                                          <p:attrName>fillcolor</p:attrName>
                                        </p:attrNameLst>
                                      </p:cBhvr>
                                      <p:to>
                                        <a:srgbClr val="C00000"/>
                                      </p:to>
                                    </p:animClr>
                                    <p:set>
                                      <p:cBhvr>
                                        <p:cTn id="21" dur="500" fill="hold"/>
                                        <p:tgtEl>
                                          <p:spTgt spid="15">
                                            <p:txEl>
                                              <p:pRg st="5" end="5"/>
                                            </p:txEl>
                                          </p:spTgt>
                                        </p:tgtEl>
                                        <p:attrNameLst>
                                          <p:attrName>fill.type</p:attrName>
                                        </p:attrNameLst>
                                      </p:cBhvr>
                                      <p:to>
                                        <p:strVal val="solid"/>
                                      </p:to>
                                    </p:set>
                                    <p:set>
                                      <p:cBhvr>
                                        <p:cTn id="22" dur="500" fill="hold"/>
                                        <p:tgtEl>
                                          <p:spTgt spid="15">
                                            <p:txEl>
                                              <p:pRg st="5" end="5"/>
                                            </p:txEl>
                                          </p:spTgt>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9" presetClass="emph" presetSubtype="0" fill="hold" nodeType="clickEffect">
                                  <p:stCondLst>
                                    <p:cond delay="0"/>
                                  </p:stCondLst>
                                  <p:childTnLst>
                                    <p:animClr clrSpc="rgb" dir="cw">
                                      <p:cBhvr override="childStyle">
                                        <p:cTn id="32" dur="500" fill="hold"/>
                                        <p:tgtEl>
                                          <p:spTgt spid="15">
                                            <p:txEl>
                                              <p:pRg st="6" end="6"/>
                                            </p:txEl>
                                          </p:spTgt>
                                        </p:tgtEl>
                                        <p:attrNameLst>
                                          <p:attrName>style.color</p:attrName>
                                        </p:attrNameLst>
                                      </p:cBhvr>
                                      <p:to>
                                        <a:srgbClr val="FF0000"/>
                                      </p:to>
                                    </p:animClr>
                                    <p:animClr clrSpc="rgb" dir="cw">
                                      <p:cBhvr>
                                        <p:cTn id="33" dur="500" fill="hold"/>
                                        <p:tgtEl>
                                          <p:spTgt spid="15">
                                            <p:txEl>
                                              <p:pRg st="6" end="6"/>
                                            </p:txEl>
                                          </p:spTgt>
                                        </p:tgtEl>
                                        <p:attrNameLst>
                                          <p:attrName>fillcolor</p:attrName>
                                        </p:attrNameLst>
                                      </p:cBhvr>
                                      <p:to>
                                        <a:srgbClr val="FF0000"/>
                                      </p:to>
                                    </p:animClr>
                                    <p:set>
                                      <p:cBhvr>
                                        <p:cTn id="34" dur="500" fill="hold"/>
                                        <p:tgtEl>
                                          <p:spTgt spid="15">
                                            <p:txEl>
                                              <p:pRg st="6" end="6"/>
                                            </p:txEl>
                                          </p:spTgt>
                                        </p:tgtEl>
                                        <p:attrNameLst>
                                          <p:attrName>fill.type</p:attrName>
                                        </p:attrNameLst>
                                      </p:cBhvr>
                                      <p:to>
                                        <p:strVal val="solid"/>
                                      </p:to>
                                    </p:set>
                                    <p:set>
                                      <p:cBhvr>
                                        <p:cTn id="35" dur="500" fill="hold"/>
                                        <p:tgtEl>
                                          <p:spTgt spid="15">
                                            <p:txEl>
                                              <p:pRg st="6" end="6"/>
                                            </p:txEl>
                                          </p:spTgt>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9" presetClass="emph" presetSubtype="0" fill="hold" nodeType="clickEffect">
                                  <p:stCondLst>
                                    <p:cond delay="0"/>
                                  </p:stCondLst>
                                  <p:childTnLst>
                                    <p:animClr clrSpc="rgb" dir="cw">
                                      <p:cBhvr override="childStyle">
                                        <p:cTn id="45" dur="500" fill="hold"/>
                                        <p:tgtEl>
                                          <p:spTgt spid="15">
                                            <p:txEl>
                                              <p:pRg st="7" end="7"/>
                                            </p:txEl>
                                          </p:spTgt>
                                        </p:tgtEl>
                                        <p:attrNameLst>
                                          <p:attrName>style.color</p:attrName>
                                        </p:attrNameLst>
                                      </p:cBhvr>
                                      <p:to>
                                        <a:srgbClr val="00B0F0"/>
                                      </p:to>
                                    </p:animClr>
                                    <p:animClr clrSpc="rgb" dir="cw">
                                      <p:cBhvr>
                                        <p:cTn id="46" dur="500" fill="hold"/>
                                        <p:tgtEl>
                                          <p:spTgt spid="15">
                                            <p:txEl>
                                              <p:pRg st="7" end="7"/>
                                            </p:txEl>
                                          </p:spTgt>
                                        </p:tgtEl>
                                        <p:attrNameLst>
                                          <p:attrName>fillcolor</p:attrName>
                                        </p:attrNameLst>
                                      </p:cBhvr>
                                      <p:to>
                                        <a:srgbClr val="00B0F0"/>
                                      </p:to>
                                    </p:animClr>
                                    <p:set>
                                      <p:cBhvr>
                                        <p:cTn id="47" dur="500" fill="hold"/>
                                        <p:tgtEl>
                                          <p:spTgt spid="15">
                                            <p:txEl>
                                              <p:pRg st="7" end="7"/>
                                            </p:txEl>
                                          </p:spTgt>
                                        </p:tgtEl>
                                        <p:attrNameLst>
                                          <p:attrName>fill.type</p:attrName>
                                        </p:attrNameLst>
                                      </p:cBhvr>
                                      <p:to>
                                        <p:strVal val="solid"/>
                                      </p:to>
                                    </p:set>
                                    <p:set>
                                      <p:cBhvr>
                                        <p:cTn id="48" dur="500" fill="hold"/>
                                        <p:tgtEl>
                                          <p:spTgt spid="15">
                                            <p:txEl>
                                              <p:pRg st="7" end="7"/>
                                            </p:txEl>
                                          </p:spTgt>
                                        </p:tgtEl>
                                        <p:attrNameLst>
                                          <p:attrName>fill.on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9" presetClass="emph" presetSubtype="0" fill="hold" nodeType="clickEffect">
                                  <p:stCondLst>
                                    <p:cond delay="0"/>
                                  </p:stCondLst>
                                  <p:childTnLst>
                                    <p:animClr clrSpc="rgb" dir="cw">
                                      <p:cBhvr override="childStyle">
                                        <p:cTn id="58" dur="500" fill="hold"/>
                                        <p:tgtEl>
                                          <p:spTgt spid="15">
                                            <p:txEl>
                                              <p:pRg st="8" end="8"/>
                                            </p:txEl>
                                          </p:spTgt>
                                        </p:tgtEl>
                                        <p:attrNameLst>
                                          <p:attrName>style.color</p:attrName>
                                        </p:attrNameLst>
                                      </p:cBhvr>
                                      <p:to>
                                        <a:srgbClr val="00B050"/>
                                      </p:to>
                                    </p:animClr>
                                    <p:animClr clrSpc="rgb" dir="cw">
                                      <p:cBhvr>
                                        <p:cTn id="59" dur="500" fill="hold"/>
                                        <p:tgtEl>
                                          <p:spTgt spid="15">
                                            <p:txEl>
                                              <p:pRg st="8" end="8"/>
                                            </p:txEl>
                                          </p:spTgt>
                                        </p:tgtEl>
                                        <p:attrNameLst>
                                          <p:attrName>fillcolor</p:attrName>
                                        </p:attrNameLst>
                                      </p:cBhvr>
                                      <p:to>
                                        <a:srgbClr val="00B050"/>
                                      </p:to>
                                    </p:animClr>
                                    <p:set>
                                      <p:cBhvr>
                                        <p:cTn id="60" dur="500" fill="hold"/>
                                        <p:tgtEl>
                                          <p:spTgt spid="15">
                                            <p:txEl>
                                              <p:pRg st="8" end="8"/>
                                            </p:txEl>
                                          </p:spTgt>
                                        </p:tgtEl>
                                        <p:attrNameLst>
                                          <p:attrName>fill.type</p:attrName>
                                        </p:attrNameLst>
                                      </p:cBhvr>
                                      <p:to>
                                        <p:strVal val="solid"/>
                                      </p:to>
                                    </p:set>
                                    <p:set>
                                      <p:cBhvr>
                                        <p:cTn id="61" dur="500" fill="hold"/>
                                        <p:tgtEl>
                                          <p:spTgt spid="15">
                                            <p:txEl>
                                              <p:pRg st="8" end="8"/>
                                            </p:txEl>
                                          </p:spTgt>
                                        </p:tgtEl>
                                        <p:attrNameLst>
                                          <p:attrName>fill.on</p:attrName>
                                        </p:attrNameLst>
                                      </p:cBhvr>
                                      <p:to>
                                        <p:strVal val="tru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 calcmode="lin" valueType="num">
                                      <p:cBhvr additive="base">
                                        <p:cTn id="66" dur="500" fill="hold"/>
                                        <p:tgtEl>
                                          <p:spTgt spid="13"/>
                                        </p:tgtEl>
                                        <p:attrNameLst>
                                          <p:attrName>ppt_x</p:attrName>
                                        </p:attrNameLst>
                                      </p:cBhvr>
                                      <p:tavLst>
                                        <p:tav tm="0">
                                          <p:val>
                                            <p:strVal val="#ppt_x"/>
                                          </p:val>
                                        </p:tav>
                                        <p:tav tm="100000">
                                          <p:val>
                                            <p:strVal val="#ppt_x"/>
                                          </p:val>
                                        </p:tav>
                                      </p:tavLst>
                                    </p:anim>
                                    <p:anim calcmode="lin" valueType="num">
                                      <p:cBhvr additive="base">
                                        <p:cTn id="6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1" presetClass="entr" presetSubtype="1" fill="hold" grpId="0"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heel(1)">
                                      <p:cBhvr>
                                        <p:cTn id="72" dur="2000"/>
                                        <p:tgtEl>
                                          <p:spTgt spid="5"/>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1" fill="hold" grpId="0"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wheel(1)">
                                      <p:cBhvr>
                                        <p:cTn id="77" dur="2000"/>
                                        <p:tgtEl>
                                          <p:spTgt spid="14"/>
                                        </p:tgtEl>
                                      </p:cBhvr>
                                    </p:animEffect>
                                  </p:childTnLst>
                                </p:cTn>
                              </p:par>
                            </p:childTnLst>
                          </p:cTn>
                        </p:par>
                      </p:childTnLst>
                    </p:cTn>
                  </p:par>
                  <p:par>
                    <p:cTn id="78" fill="hold">
                      <p:stCondLst>
                        <p:cond delay="indefinite"/>
                      </p:stCondLst>
                      <p:childTnLst>
                        <p:par>
                          <p:cTn id="79" fill="hold">
                            <p:stCondLst>
                              <p:cond delay="0"/>
                            </p:stCondLst>
                            <p:childTnLst>
                              <p:par>
                                <p:cTn id="80" presetID="21" presetClass="entr" presetSubtype="1"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heel(1)">
                                      <p:cBhvr>
                                        <p:cTn id="82" dur="2000"/>
                                        <p:tgtEl>
                                          <p:spTgt spid="16"/>
                                        </p:tgtEl>
                                      </p:cBhvr>
                                    </p:animEffect>
                                  </p:childTnLst>
                                </p:cTn>
                              </p:par>
                            </p:childTnLst>
                          </p:cTn>
                        </p:par>
                      </p:childTnLst>
                    </p:cTn>
                  </p:par>
                  <p:par>
                    <p:cTn id="83" fill="hold">
                      <p:stCondLst>
                        <p:cond delay="indefinite"/>
                      </p:stCondLst>
                      <p:childTnLst>
                        <p:par>
                          <p:cTn id="84" fill="hold">
                            <p:stCondLst>
                              <p:cond delay="0"/>
                            </p:stCondLst>
                            <p:childTnLst>
                              <p:par>
                                <p:cTn id="85" presetID="21" presetClass="entr" presetSubtype="1"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wheel(1)">
                                      <p:cBhvr>
                                        <p:cTn id="87" dur="200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21" presetClass="entr" presetSubtype="1"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wheel(1)">
                                      <p:cBhvr>
                                        <p:cTn id="92" dur="200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21" presetClass="entr" presetSubtype="1"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wheel(1)">
                                      <p:cBhvr>
                                        <p:cTn id="97" dur="2000"/>
                                        <p:tgtEl>
                                          <p:spTgt spid="20"/>
                                        </p:tgtEl>
                                      </p:cBhvr>
                                    </p:animEffect>
                                  </p:childTnLst>
                                </p:cTn>
                              </p:par>
                            </p:childTnLst>
                          </p:cTn>
                        </p:par>
                      </p:childTnLst>
                    </p:cTn>
                  </p:par>
                  <p:par>
                    <p:cTn id="98" fill="hold">
                      <p:stCondLst>
                        <p:cond delay="indefinite"/>
                      </p:stCondLst>
                      <p:childTnLst>
                        <p:par>
                          <p:cTn id="99" fill="hold">
                            <p:stCondLst>
                              <p:cond delay="0"/>
                            </p:stCondLst>
                            <p:childTnLst>
                              <p:par>
                                <p:cTn id="100" presetID="21" presetClass="entr" presetSubtype="1"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wheel(1)">
                                      <p:cBhvr>
                                        <p:cTn id="102" dur="200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21" presetClass="entr" presetSubtype="1" fill="hold" grpId="0" nodeType="click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wheel(1)">
                                      <p:cBhvr>
                                        <p:cTn id="107" dur="2000"/>
                                        <p:tgtEl>
                                          <p:spTgt spid="28"/>
                                        </p:tgtEl>
                                      </p:cBhvr>
                                    </p:animEffect>
                                  </p:childTnLst>
                                </p:cTn>
                              </p:par>
                            </p:childTnLst>
                          </p:cTn>
                        </p:par>
                      </p:childTnLst>
                    </p:cTn>
                  </p:par>
                  <p:par>
                    <p:cTn id="108" fill="hold">
                      <p:stCondLst>
                        <p:cond delay="indefinite"/>
                      </p:stCondLst>
                      <p:childTnLst>
                        <p:par>
                          <p:cTn id="109" fill="hold">
                            <p:stCondLst>
                              <p:cond delay="0"/>
                            </p:stCondLst>
                            <p:childTnLst>
                              <p:par>
                                <p:cTn id="110" presetID="21" presetClass="entr" presetSubtype="1" fill="hold" grpId="0" nodeType="clickEffect">
                                  <p:stCondLst>
                                    <p:cond delay="0"/>
                                  </p:stCondLst>
                                  <p:childTnLst>
                                    <p:set>
                                      <p:cBhvr>
                                        <p:cTn id="111" dur="1" fill="hold">
                                          <p:stCondLst>
                                            <p:cond delay="0"/>
                                          </p:stCondLst>
                                        </p:cTn>
                                        <p:tgtEl>
                                          <p:spTgt spid="22"/>
                                        </p:tgtEl>
                                        <p:attrNameLst>
                                          <p:attrName>style.visibility</p:attrName>
                                        </p:attrNameLst>
                                      </p:cBhvr>
                                      <p:to>
                                        <p:strVal val="visible"/>
                                      </p:to>
                                    </p:set>
                                    <p:animEffect transition="in" filter="wheel(1)">
                                      <p:cBhvr>
                                        <p:cTn id="112" dur="2000"/>
                                        <p:tgtEl>
                                          <p:spTgt spid="22"/>
                                        </p:tgtEl>
                                      </p:cBhvr>
                                    </p:animEffect>
                                  </p:childTnLst>
                                </p:cTn>
                              </p:par>
                            </p:childTnLst>
                          </p:cTn>
                        </p:par>
                      </p:childTnLst>
                    </p:cTn>
                  </p:par>
                  <p:par>
                    <p:cTn id="113" fill="hold">
                      <p:stCondLst>
                        <p:cond delay="indefinite"/>
                      </p:stCondLst>
                      <p:childTnLst>
                        <p:par>
                          <p:cTn id="114" fill="hold">
                            <p:stCondLst>
                              <p:cond delay="0"/>
                            </p:stCondLst>
                            <p:childTnLst>
                              <p:par>
                                <p:cTn id="115" presetID="21" presetClass="entr" presetSubtype="1" fill="hold" grpId="0" nodeType="clickEffect">
                                  <p:stCondLst>
                                    <p:cond delay="0"/>
                                  </p:stCondLst>
                                  <p:childTnLst>
                                    <p:set>
                                      <p:cBhvr>
                                        <p:cTn id="116" dur="1" fill="hold">
                                          <p:stCondLst>
                                            <p:cond delay="0"/>
                                          </p:stCondLst>
                                        </p:cTn>
                                        <p:tgtEl>
                                          <p:spTgt spid="23"/>
                                        </p:tgtEl>
                                        <p:attrNameLst>
                                          <p:attrName>style.visibility</p:attrName>
                                        </p:attrNameLst>
                                      </p:cBhvr>
                                      <p:to>
                                        <p:strVal val="visible"/>
                                      </p:to>
                                    </p:set>
                                    <p:animEffect transition="in" filter="wheel(1)">
                                      <p:cBhvr>
                                        <p:cTn id="117" dur="2000"/>
                                        <p:tgtEl>
                                          <p:spTgt spid="23"/>
                                        </p:tgtEl>
                                      </p:cBhvr>
                                    </p:animEffect>
                                  </p:childTnLst>
                                </p:cTn>
                              </p:par>
                            </p:childTnLst>
                          </p:cTn>
                        </p:par>
                      </p:childTnLst>
                    </p:cTn>
                  </p:par>
                  <p:par>
                    <p:cTn id="118" fill="hold">
                      <p:stCondLst>
                        <p:cond delay="indefinite"/>
                      </p:stCondLst>
                      <p:childTnLst>
                        <p:par>
                          <p:cTn id="119" fill="hold">
                            <p:stCondLst>
                              <p:cond delay="0"/>
                            </p:stCondLst>
                            <p:childTnLst>
                              <p:par>
                                <p:cTn id="120" presetID="21" presetClass="entr" presetSubtype="1" fill="hold" grpId="0" nodeType="clickEffect">
                                  <p:stCondLst>
                                    <p:cond delay="0"/>
                                  </p:stCondLst>
                                  <p:childTnLst>
                                    <p:set>
                                      <p:cBhvr>
                                        <p:cTn id="121" dur="1" fill="hold">
                                          <p:stCondLst>
                                            <p:cond delay="0"/>
                                          </p:stCondLst>
                                        </p:cTn>
                                        <p:tgtEl>
                                          <p:spTgt spid="29"/>
                                        </p:tgtEl>
                                        <p:attrNameLst>
                                          <p:attrName>style.visibility</p:attrName>
                                        </p:attrNameLst>
                                      </p:cBhvr>
                                      <p:to>
                                        <p:strVal val="visible"/>
                                      </p:to>
                                    </p:set>
                                    <p:animEffect transition="in" filter="wheel(1)">
                                      <p:cBhvr>
                                        <p:cTn id="122" dur="2000"/>
                                        <p:tgtEl>
                                          <p:spTgt spid="29"/>
                                        </p:tgtEl>
                                      </p:cBhvr>
                                    </p:animEffect>
                                  </p:childTnLst>
                                </p:cTn>
                              </p:par>
                            </p:childTnLst>
                          </p:cTn>
                        </p:par>
                      </p:childTnLst>
                    </p:cTn>
                  </p:par>
                  <p:par>
                    <p:cTn id="123" fill="hold">
                      <p:stCondLst>
                        <p:cond delay="indefinite"/>
                      </p:stCondLst>
                      <p:childTnLst>
                        <p:par>
                          <p:cTn id="124" fill="hold">
                            <p:stCondLst>
                              <p:cond delay="0"/>
                            </p:stCondLst>
                            <p:childTnLst>
                              <p:par>
                                <p:cTn id="125" presetID="21" presetClass="entr" presetSubtype="1" fill="hold" grpId="0" nodeType="clickEffect">
                                  <p:stCondLst>
                                    <p:cond delay="0"/>
                                  </p:stCondLst>
                                  <p:childTnLst>
                                    <p:set>
                                      <p:cBhvr>
                                        <p:cTn id="126" dur="1" fill="hold">
                                          <p:stCondLst>
                                            <p:cond delay="0"/>
                                          </p:stCondLst>
                                        </p:cTn>
                                        <p:tgtEl>
                                          <p:spTgt spid="24"/>
                                        </p:tgtEl>
                                        <p:attrNameLst>
                                          <p:attrName>style.visibility</p:attrName>
                                        </p:attrNameLst>
                                      </p:cBhvr>
                                      <p:to>
                                        <p:strVal val="visible"/>
                                      </p:to>
                                    </p:set>
                                    <p:animEffect transition="in" filter="wheel(1)">
                                      <p:cBhvr>
                                        <p:cTn id="127" dur="2000"/>
                                        <p:tgtEl>
                                          <p:spTgt spid="24"/>
                                        </p:tgtEl>
                                      </p:cBhvr>
                                    </p:animEffect>
                                  </p:childTnLst>
                                </p:cTn>
                              </p:par>
                            </p:childTnLst>
                          </p:cTn>
                        </p:par>
                      </p:childTnLst>
                    </p:cTn>
                  </p:par>
                  <p:par>
                    <p:cTn id="128" fill="hold">
                      <p:stCondLst>
                        <p:cond delay="indefinite"/>
                      </p:stCondLst>
                      <p:childTnLst>
                        <p:par>
                          <p:cTn id="129" fill="hold">
                            <p:stCondLst>
                              <p:cond delay="0"/>
                            </p:stCondLst>
                            <p:childTnLst>
                              <p:par>
                                <p:cTn id="130" presetID="21" presetClass="entr" presetSubtype="1" fill="hold" grpId="0" nodeType="clickEffect">
                                  <p:stCondLst>
                                    <p:cond delay="0"/>
                                  </p:stCondLst>
                                  <p:childTnLst>
                                    <p:set>
                                      <p:cBhvr>
                                        <p:cTn id="131" dur="1" fill="hold">
                                          <p:stCondLst>
                                            <p:cond delay="0"/>
                                          </p:stCondLst>
                                        </p:cTn>
                                        <p:tgtEl>
                                          <p:spTgt spid="26"/>
                                        </p:tgtEl>
                                        <p:attrNameLst>
                                          <p:attrName>style.visibility</p:attrName>
                                        </p:attrNameLst>
                                      </p:cBhvr>
                                      <p:to>
                                        <p:strVal val="visible"/>
                                      </p:to>
                                    </p:set>
                                    <p:animEffect transition="in" filter="wheel(1)">
                                      <p:cBhvr>
                                        <p:cTn id="132" dur="2000"/>
                                        <p:tgtEl>
                                          <p:spTgt spid="26"/>
                                        </p:tgtEl>
                                      </p:cBhvr>
                                    </p:animEffect>
                                  </p:childTnLst>
                                </p:cTn>
                              </p:par>
                            </p:childTnLst>
                          </p:cTn>
                        </p:par>
                      </p:childTnLst>
                    </p:cTn>
                  </p:par>
                  <p:par>
                    <p:cTn id="133" fill="hold">
                      <p:stCondLst>
                        <p:cond delay="indefinite"/>
                      </p:stCondLst>
                      <p:childTnLst>
                        <p:par>
                          <p:cTn id="134" fill="hold">
                            <p:stCondLst>
                              <p:cond delay="0"/>
                            </p:stCondLst>
                            <p:childTnLst>
                              <p:par>
                                <p:cTn id="135" presetID="21" presetClass="entr" presetSubtype="1" fill="hold" grpId="0" nodeType="clickEffect">
                                  <p:stCondLst>
                                    <p:cond delay="0"/>
                                  </p:stCondLst>
                                  <p:childTnLst>
                                    <p:set>
                                      <p:cBhvr>
                                        <p:cTn id="136" dur="1" fill="hold">
                                          <p:stCondLst>
                                            <p:cond delay="0"/>
                                          </p:stCondLst>
                                        </p:cTn>
                                        <p:tgtEl>
                                          <p:spTgt spid="33"/>
                                        </p:tgtEl>
                                        <p:attrNameLst>
                                          <p:attrName>style.visibility</p:attrName>
                                        </p:attrNameLst>
                                      </p:cBhvr>
                                      <p:to>
                                        <p:strVal val="visible"/>
                                      </p:to>
                                    </p:set>
                                    <p:animEffect transition="in" filter="wheel(1)">
                                      <p:cBhvr>
                                        <p:cTn id="137" dur="2000"/>
                                        <p:tgtEl>
                                          <p:spTgt spid="33"/>
                                        </p:tgtEl>
                                      </p:cBhvr>
                                    </p:animEffect>
                                  </p:childTnLst>
                                </p:cTn>
                              </p:par>
                            </p:childTnLst>
                          </p:cTn>
                        </p:par>
                      </p:childTnLst>
                    </p:cTn>
                  </p:par>
                  <p:par>
                    <p:cTn id="138" fill="hold">
                      <p:stCondLst>
                        <p:cond delay="indefinite"/>
                      </p:stCondLst>
                      <p:childTnLst>
                        <p:par>
                          <p:cTn id="139" fill="hold">
                            <p:stCondLst>
                              <p:cond delay="0"/>
                            </p:stCondLst>
                            <p:childTnLst>
                              <p:par>
                                <p:cTn id="140" presetID="21" presetClass="entr" presetSubtype="1" fill="hold" grpId="0" nodeType="click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wheel(1)">
                                      <p:cBhvr>
                                        <p:cTn id="142" dur="2000"/>
                                        <p:tgtEl>
                                          <p:spTgt spid="30"/>
                                        </p:tgtEl>
                                      </p:cBhvr>
                                    </p:animEffect>
                                  </p:childTnLst>
                                </p:cTn>
                              </p:par>
                            </p:childTnLst>
                          </p:cTn>
                        </p:par>
                      </p:childTnLst>
                    </p:cTn>
                  </p:par>
                  <p:par>
                    <p:cTn id="143" fill="hold">
                      <p:stCondLst>
                        <p:cond delay="indefinite"/>
                      </p:stCondLst>
                      <p:childTnLst>
                        <p:par>
                          <p:cTn id="144" fill="hold">
                            <p:stCondLst>
                              <p:cond delay="0"/>
                            </p:stCondLst>
                            <p:childTnLst>
                              <p:par>
                                <p:cTn id="145" presetID="21" presetClass="entr" presetSubtype="1" fill="hold" grpId="0" nodeType="clickEffect">
                                  <p:stCondLst>
                                    <p:cond delay="0"/>
                                  </p:stCondLst>
                                  <p:childTnLst>
                                    <p:set>
                                      <p:cBhvr>
                                        <p:cTn id="146" dur="1" fill="hold">
                                          <p:stCondLst>
                                            <p:cond delay="0"/>
                                          </p:stCondLst>
                                        </p:cTn>
                                        <p:tgtEl>
                                          <p:spTgt spid="25"/>
                                        </p:tgtEl>
                                        <p:attrNameLst>
                                          <p:attrName>style.visibility</p:attrName>
                                        </p:attrNameLst>
                                      </p:cBhvr>
                                      <p:to>
                                        <p:strVal val="visible"/>
                                      </p:to>
                                    </p:set>
                                    <p:animEffect transition="in" filter="wheel(1)">
                                      <p:cBhvr>
                                        <p:cTn id="147" dur="2000"/>
                                        <p:tgtEl>
                                          <p:spTgt spid="25"/>
                                        </p:tgtEl>
                                      </p:cBhvr>
                                    </p:animEffect>
                                  </p:childTnLst>
                                </p:cTn>
                              </p:par>
                            </p:childTnLst>
                          </p:cTn>
                        </p:par>
                      </p:childTnLst>
                    </p:cTn>
                  </p:par>
                  <p:par>
                    <p:cTn id="148" fill="hold">
                      <p:stCondLst>
                        <p:cond delay="indefinite"/>
                      </p:stCondLst>
                      <p:childTnLst>
                        <p:par>
                          <p:cTn id="149" fill="hold">
                            <p:stCondLst>
                              <p:cond delay="0"/>
                            </p:stCondLst>
                            <p:childTnLst>
                              <p:par>
                                <p:cTn id="150" presetID="21" presetClass="entr" presetSubtype="1" fill="hold" grpId="0" nodeType="click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wheel(1)">
                                      <p:cBhvr>
                                        <p:cTn id="152" dur="2000"/>
                                        <p:tgtEl>
                                          <p:spTgt spid="31"/>
                                        </p:tgtEl>
                                      </p:cBhvr>
                                    </p:animEffect>
                                  </p:childTnLst>
                                </p:cTn>
                              </p:par>
                            </p:childTnLst>
                          </p:cTn>
                        </p:par>
                      </p:childTnLst>
                    </p:cTn>
                  </p:par>
                  <p:par>
                    <p:cTn id="153" fill="hold">
                      <p:stCondLst>
                        <p:cond delay="indefinite"/>
                      </p:stCondLst>
                      <p:childTnLst>
                        <p:par>
                          <p:cTn id="154" fill="hold">
                            <p:stCondLst>
                              <p:cond delay="0"/>
                            </p:stCondLst>
                            <p:childTnLst>
                              <p:par>
                                <p:cTn id="155" presetID="21" presetClass="entr" presetSubtype="1" fill="hold" grpId="0" nodeType="clickEffect">
                                  <p:stCondLst>
                                    <p:cond delay="0"/>
                                  </p:stCondLst>
                                  <p:childTnLst>
                                    <p:set>
                                      <p:cBhvr>
                                        <p:cTn id="156" dur="1" fill="hold">
                                          <p:stCondLst>
                                            <p:cond delay="0"/>
                                          </p:stCondLst>
                                        </p:cTn>
                                        <p:tgtEl>
                                          <p:spTgt spid="32"/>
                                        </p:tgtEl>
                                        <p:attrNameLst>
                                          <p:attrName>style.visibility</p:attrName>
                                        </p:attrNameLst>
                                      </p:cBhvr>
                                      <p:to>
                                        <p:strVal val="visible"/>
                                      </p:to>
                                    </p:set>
                                    <p:animEffect transition="in" filter="wheel(1)">
                                      <p:cBhvr>
                                        <p:cTn id="157" dur="2000"/>
                                        <p:tgtEl>
                                          <p:spTgt spid="32"/>
                                        </p:tgtEl>
                                      </p:cBhvr>
                                    </p:animEffect>
                                  </p:childTnLst>
                                </p:cTn>
                              </p:par>
                            </p:childTnLst>
                          </p:cTn>
                        </p:par>
                      </p:childTnLst>
                    </p:cTn>
                  </p:par>
                  <p:par>
                    <p:cTn id="158" fill="hold">
                      <p:stCondLst>
                        <p:cond delay="indefinite"/>
                      </p:stCondLst>
                      <p:childTnLst>
                        <p:par>
                          <p:cTn id="159" fill="hold">
                            <p:stCondLst>
                              <p:cond delay="0"/>
                            </p:stCondLst>
                            <p:childTnLst>
                              <p:par>
                                <p:cTn id="160" presetID="21" presetClass="entr" presetSubtype="1" fill="hold" grpId="0" nodeType="clickEffect">
                                  <p:stCondLst>
                                    <p:cond delay="0"/>
                                  </p:stCondLst>
                                  <p:childTnLst>
                                    <p:set>
                                      <p:cBhvr>
                                        <p:cTn id="161" dur="1" fill="hold">
                                          <p:stCondLst>
                                            <p:cond delay="0"/>
                                          </p:stCondLst>
                                        </p:cTn>
                                        <p:tgtEl>
                                          <p:spTgt spid="27"/>
                                        </p:tgtEl>
                                        <p:attrNameLst>
                                          <p:attrName>style.visibility</p:attrName>
                                        </p:attrNameLst>
                                      </p:cBhvr>
                                      <p:to>
                                        <p:strVal val="visible"/>
                                      </p:to>
                                    </p:set>
                                    <p:animEffect transition="in" filter="wheel(1)">
                                      <p:cBhvr>
                                        <p:cTn id="162"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16"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P spid="25" grpId="0" animBg="1"/>
      <p:bldP spid="30" grpId="0" animBg="1"/>
      <p:bldP spid="31"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7ED9-2181-4F4E-BDED-E5939040B1BF}"/>
              </a:ext>
            </a:extLst>
          </p:cNvPr>
          <p:cNvSpPr>
            <a:spLocks noGrp="1"/>
          </p:cNvSpPr>
          <p:nvPr>
            <p:ph type="title"/>
          </p:nvPr>
        </p:nvSpPr>
        <p:spPr>
          <a:xfrm>
            <a:off x="1471354" y="255271"/>
            <a:ext cx="12618720" cy="1207770"/>
          </a:xfrm>
        </p:spPr>
        <p:txBody>
          <a:bodyPr>
            <a:normAutofit/>
          </a:bodyPr>
          <a:lstStyle/>
          <a:p>
            <a:r>
              <a:rPr lang="en-US" sz="5400" b="1" dirty="0">
                <a:solidFill>
                  <a:srgbClr val="0070C0"/>
                </a:solidFill>
              </a:rPr>
              <a:t>Bus Organization</a:t>
            </a:r>
          </a:p>
        </p:txBody>
      </p:sp>
      <p:sp>
        <p:nvSpPr>
          <p:cNvPr id="3" name="Content Placeholder 2">
            <a:extLst>
              <a:ext uri="{FF2B5EF4-FFF2-40B4-BE49-F238E27FC236}">
                <a16:creationId xmlns:a16="http://schemas.microsoft.com/office/drawing/2014/main" id="{A4236090-461D-4706-8F15-02D07CC8664D}"/>
              </a:ext>
            </a:extLst>
          </p:cNvPr>
          <p:cNvSpPr>
            <a:spLocks noGrp="1"/>
          </p:cNvSpPr>
          <p:nvPr>
            <p:ph idx="1"/>
          </p:nvPr>
        </p:nvSpPr>
        <p:spPr>
          <a:xfrm>
            <a:off x="166255" y="1463040"/>
            <a:ext cx="16093440" cy="5871547"/>
          </a:xfrm>
        </p:spPr>
        <p:txBody>
          <a:bodyPr>
            <a:noAutofit/>
          </a:bodyPr>
          <a:lstStyle/>
          <a:p>
            <a:r>
              <a:rPr lang="en-US" sz="4400" dirty="0"/>
              <a:t>The </a:t>
            </a:r>
            <a:r>
              <a:rPr lang="en-US" sz="4400" b="1" dirty="0">
                <a:solidFill>
                  <a:srgbClr val="FF0000"/>
                </a:solidFill>
              </a:rPr>
              <a:t>five control selection variables must be generated</a:t>
            </a:r>
            <a:r>
              <a:rPr lang="en-US" sz="4400" dirty="0"/>
              <a:t> simultaneously and must be available during one common clock pulse interval.</a:t>
            </a:r>
          </a:p>
          <a:p>
            <a:r>
              <a:rPr lang="en-US" sz="4400" dirty="0"/>
              <a:t>The binary information from two source registers propagates through the </a:t>
            </a:r>
            <a:r>
              <a:rPr lang="en-US" sz="4400" dirty="0">
                <a:solidFill>
                  <a:srgbClr val="FF0000"/>
                </a:solidFill>
              </a:rPr>
              <a:t>combinational gates in the multiplexers, the ALU</a:t>
            </a:r>
            <a:r>
              <a:rPr lang="en-US" sz="4400" dirty="0"/>
              <a:t>, and the shifter, to the output bus and into the inputs of the destination register all during one clock pulse interval.</a:t>
            </a:r>
          </a:p>
          <a:p>
            <a:r>
              <a:rPr lang="en-US" sz="4400" dirty="0"/>
              <a:t>Then, when the next </a:t>
            </a:r>
            <a:r>
              <a:rPr lang="en-US" sz="4400" dirty="0">
                <a:solidFill>
                  <a:srgbClr val="FF0000"/>
                </a:solidFill>
              </a:rPr>
              <a:t>clock pulse arrives</a:t>
            </a:r>
            <a:r>
              <a:rPr lang="en-US" sz="4400" dirty="0"/>
              <a:t>, the binary information on the output bus is transferred to R1.</a:t>
            </a:r>
          </a:p>
        </p:txBody>
      </p:sp>
      <p:sp>
        <p:nvSpPr>
          <p:cNvPr id="4" name="Date Placeholder 3"/>
          <p:cNvSpPr>
            <a:spLocks noGrp="1"/>
          </p:cNvSpPr>
          <p:nvPr>
            <p:ph type="dt" sz="half" idx="10"/>
          </p:nvPr>
        </p:nvSpPr>
        <p:spPr/>
        <p:txBody>
          <a:bodyPr/>
          <a:lstStyle/>
          <a:p>
            <a:fld id="{448397E2-DE77-45CE-BCEB-7DAC3EF854EB}" type="datetime3">
              <a:rPr lang="en-US" smtClean="0"/>
              <a:t>24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6</a:t>
            </a:fld>
            <a:endParaRPr lang="en-US" dirty="0"/>
          </a:p>
        </p:txBody>
      </p:sp>
    </p:spTree>
    <p:extLst>
      <p:ext uri="{BB962C8B-B14F-4D97-AF65-F5344CB8AC3E}">
        <p14:creationId xmlns:p14="http://schemas.microsoft.com/office/powerpoint/2010/main" val="4285523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77C1E-5E27-4695-AA5E-4698264470C1}"/>
              </a:ext>
            </a:extLst>
          </p:cNvPr>
          <p:cNvSpPr>
            <a:spLocks noGrp="1"/>
          </p:cNvSpPr>
          <p:nvPr>
            <p:ph type="title"/>
          </p:nvPr>
        </p:nvSpPr>
        <p:spPr>
          <a:xfrm>
            <a:off x="1105592" y="137861"/>
            <a:ext cx="12618720" cy="1192176"/>
          </a:xfrm>
        </p:spPr>
        <p:txBody>
          <a:bodyPr>
            <a:normAutofit/>
          </a:bodyPr>
          <a:lstStyle/>
          <a:p>
            <a:pPr>
              <a:lnSpc>
                <a:spcPct val="85000"/>
              </a:lnSpc>
            </a:pPr>
            <a:r>
              <a:rPr lang="en-US" sz="5400" b="1" dirty="0">
                <a:solidFill>
                  <a:srgbClr val="0070C0"/>
                </a:solidFill>
              </a:rPr>
              <a:t>Scratchpad Memory</a:t>
            </a:r>
            <a:endParaRPr lang="en-US" sz="5400" dirty="0">
              <a:solidFill>
                <a:srgbClr val="0070C0"/>
              </a:solidFill>
            </a:endParaRPr>
          </a:p>
        </p:txBody>
      </p:sp>
      <p:sp>
        <p:nvSpPr>
          <p:cNvPr id="3" name="Content Placeholder 2">
            <a:extLst>
              <a:ext uri="{FF2B5EF4-FFF2-40B4-BE49-F238E27FC236}">
                <a16:creationId xmlns:a16="http://schemas.microsoft.com/office/drawing/2014/main" id="{3AE11DCE-3FBD-4233-9860-10F63DD4113E}"/>
              </a:ext>
            </a:extLst>
          </p:cNvPr>
          <p:cNvSpPr>
            <a:spLocks noGrp="1"/>
          </p:cNvSpPr>
          <p:nvPr>
            <p:ph idx="1"/>
          </p:nvPr>
        </p:nvSpPr>
        <p:spPr>
          <a:xfrm>
            <a:off x="133004" y="980387"/>
            <a:ext cx="16110065" cy="6667320"/>
          </a:xfrm>
        </p:spPr>
        <p:txBody>
          <a:bodyPr>
            <a:noAutofit/>
          </a:bodyPr>
          <a:lstStyle/>
          <a:p>
            <a:pPr>
              <a:spcBef>
                <a:spcPts val="720"/>
              </a:spcBef>
            </a:pPr>
            <a:r>
              <a:rPr lang="en-US" sz="4000" dirty="0"/>
              <a:t>The registers in a processor unit can be enclosed within a small memory unit. When included in a processor unit, a small memory is sometimes called a </a:t>
            </a:r>
            <a:r>
              <a:rPr lang="en-US" sz="4000" b="1" dirty="0">
                <a:solidFill>
                  <a:srgbClr val="FF0000"/>
                </a:solidFill>
              </a:rPr>
              <a:t>scratchpad memory</a:t>
            </a:r>
            <a:r>
              <a:rPr lang="en-US" sz="4000" dirty="0"/>
              <a:t>.</a:t>
            </a:r>
          </a:p>
          <a:p>
            <a:pPr>
              <a:spcBef>
                <a:spcPts val="720"/>
              </a:spcBef>
            </a:pPr>
            <a:r>
              <a:rPr lang="en-US" sz="4000" dirty="0"/>
              <a:t>The use of a small memory is a cheaper alternative to connecting processor registers through a bus system. The difference between the two systems is the manner in which information is selected for transfer into the ALU.</a:t>
            </a:r>
          </a:p>
          <a:p>
            <a:pPr>
              <a:spcBef>
                <a:spcPts val="720"/>
              </a:spcBef>
            </a:pPr>
            <a:r>
              <a:rPr lang="en-US" sz="4000" dirty="0"/>
              <a:t>In the bus system, the information transfer is selected by the multiplexers that form the buses.</a:t>
            </a:r>
          </a:p>
          <a:p>
            <a:pPr>
              <a:spcBef>
                <a:spcPts val="720"/>
              </a:spcBef>
            </a:pPr>
            <a:r>
              <a:rPr lang="en-US" sz="4000" dirty="0"/>
              <a:t>On the other hand, a single register in </a:t>
            </a:r>
            <a:r>
              <a:rPr lang="en-US" sz="4000" dirty="0">
                <a:solidFill>
                  <a:srgbClr val="FF0000"/>
                </a:solidFill>
              </a:rPr>
              <a:t>a group of registers organized as a small memory </a:t>
            </a:r>
            <a:r>
              <a:rPr lang="en-US" sz="4000" dirty="0"/>
              <a:t>must be </a:t>
            </a:r>
            <a:r>
              <a:rPr lang="en-US" sz="4000" dirty="0">
                <a:solidFill>
                  <a:srgbClr val="FF0000"/>
                </a:solidFill>
              </a:rPr>
              <a:t>selected</a:t>
            </a:r>
            <a:r>
              <a:rPr lang="en-US" sz="4000" dirty="0"/>
              <a:t> by means of an </a:t>
            </a:r>
            <a:r>
              <a:rPr lang="en-US" sz="4000" dirty="0">
                <a:solidFill>
                  <a:srgbClr val="FF0000"/>
                </a:solidFill>
              </a:rPr>
              <a:t>address</a:t>
            </a:r>
            <a:r>
              <a:rPr lang="en-US" sz="4000" dirty="0"/>
              <a:t> to the memory unit.</a:t>
            </a:r>
          </a:p>
        </p:txBody>
      </p:sp>
      <p:sp>
        <p:nvSpPr>
          <p:cNvPr id="4" name="Date Placeholder 3"/>
          <p:cNvSpPr>
            <a:spLocks noGrp="1"/>
          </p:cNvSpPr>
          <p:nvPr>
            <p:ph type="dt" sz="half" idx="10"/>
          </p:nvPr>
        </p:nvSpPr>
        <p:spPr/>
        <p:txBody>
          <a:bodyPr/>
          <a:lstStyle/>
          <a:p>
            <a:fld id="{9886441F-BD48-4147-8D91-DD273D7EC4A5}" type="datetime3">
              <a:rPr lang="en-US" smtClean="0"/>
              <a:t>24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7</a:t>
            </a:fld>
            <a:endParaRPr lang="en-US" dirty="0"/>
          </a:p>
        </p:txBody>
      </p:sp>
    </p:spTree>
    <p:extLst>
      <p:ext uri="{BB962C8B-B14F-4D97-AF65-F5344CB8AC3E}">
        <p14:creationId xmlns:p14="http://schemas.microsoft.com/office/powerpoint/2010/main" val="3671047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067D-1670-470D-BFAB-C9DFC17A20D5}"/>
              </a:ext>
            </a:extLst>
          </p:cNvPr>
          <p:cNvSpPr>
            <a:spLocks noGrp="1"/>
          </p:cNvSpPr>
          <p:nvPr>
            <p:ph type="title"/>
          </p:nvPr>
        </p:nvSpPr>
        <p:spPr>
          <a:xfrm>
            <a:off x="1072342" y="177070"/>
            <a:ext cx="12618720" cy="1269344"/>
          </a:xfrm>
        </p:spPr>
        <p:txBody>
          <a:bodyPr>
            <a:normAutofit/>
          </a:bodyPr>
          <a:lstStyle/>
          <a:p>
            <a:r>
              <a:rPr lang="en-US" sz="5400" b="1" dirty="0">
                <a:solidFill>
                  <a:srgbClr val="0070C0"/>
                </a:solidFill>
              </a:rPr>
              <a:t>Scratchpad Memory</a:t>
            </a:r>
            <a:endParaRPr lang="en-US" sz="5400" dirty="0">
              <a:solidFill>
                <a:srgbClr val="0070C0"/>
              </a:solidFill>
            </a:endParaRPr>
          </a:p>
        </p:txBody>
      </p:sp>
      <p:sp>
        <p:nvSpPr>
          <p:cNvPr id="3" name="Content Placeholder 2">
            <a:extLst>
              <a:ext uri="{FF2B5EF4-FFF2-40B4-BE49-F238E27FC236}">
                <a16:creationId xmlns:a16="http://schemas.microsoft.com/office/drawing/2014/main" id="{0F1A97F8-1EA5-49E4-8938-DF72E0B3B2B1}"/>
              </a:ext>
            </a:extLst>
          </p:cNvPr>
          <p:cNvSpPr>
            <a:spLocks noGrp="1"/>
          </p:cNvSpPr>
          <p:nvPr>
            <p:ph idx="1"/>
          </p:nvPr>
        </p:nvSpPr>
        <p:spPr>
          <a:xfrm>
            <a:off x="216131" y="1200235"/>
            <a:ext cx="11872547" cy="6414222"/>
          </a:xfrm>
        </p:spPr>
        <p:txBody>
          <a:bodyPr>
            <a:noAutofit/>
          </a:bodyPr>
          <a:lstStyle/>
          <a:p>
            <a:r>
              <a:rPr lang="en-US" sz="3600" dirty="0"/>
              <a:t>To perform the operation R1 = R2 + R3, the control must provide binary selection variables to perform the following </a:t>
            </a:r>
            <a:r>
              <a:rPr lang="en-US" sz="3600" dirty="0">
                <a:solidFill>
                  <a:srgbClr val="FF0000"/>
                </a:solidFill>
              </a:rPr>
              <a:t>sequence of three microoperations</a:t>
            </a:r>
            <a:r>
              <a:rPr lang="en-US" sz="3600" dirty="0"/>
              <a:t>:</a:t>
            </a:r>
          </a:p>
          <a:p>
            <a:pPr lvl="1"/>
            <a:r>
              <a:rPr lang="en-US" sz="3600" dirty="0"/>
              <a:t>T1: A  </a:t>
            </a:r>
            <a:r>
              <a:rPr lang="en-US" sz="3600" dirty="0">
                <a:sym typeface="Wingdings" panose="05000000000000000000" pitchFamily="2" charset="2"/>
              </a:rPr>
              <a:t> M[10]	 Read R2 into register A</a:t>
            </a:r>
          </a:p>
          <a:p>
            <a:pPr lvl="1"/>
            <a:r>
              <a:rPr lang="en-US" sz="3600" dirty="0">
                <a:sym typeface="Wingdings" panose="05000000000000000000" pitchFamily="2" charset="2"/>
              </a:rPr>
              <a:t>T2: B   M[11]  	 Read R3 into register B</a:t>
            </a:r>
          </a:p>
          <a:p>
            <a:pPr lvl="1"/>
            <a:r>
              <a:rPr lang="en-US" sz="3600" dirty="0">
                <a:sym typeface="Wingdings" panose="05000000000000000000" pitchFamily="2" charset="2"/>
              </a:rPr>
              <a:t>T3: M[01]  A+B	 Perform the operation in ALU     				            and transfer the result to R1</a:t>
            </a:r>
          </a:p>
          <a:p>
            <a:r>
              <a:rPr lang="en-US" sz="3600" dirty="0"/>
              <a:t>The reason for a sequence of 3 microoperations, instead of just 1 as in a bus-organized processor, is due to the limitation of the memory unit having only one set of address terminals but two source registers are to be accessed. So, multiple memory addresses can’t be accessed simultaneously.</a:t>
            </a:r>
          </a:p>
        </p:txBody>
      </p:sp>
      <p:pic>
        <p:nvPicPr>
          <p:cNvPr id="8" name="Picture 7">
            <a:extLst>
              <a:ext uri="{FF2B5EF4-FFF2-40B4-BE49-F238E27FC236}">
                <a16:creationId xmlns:a16="http://schemas.microsoft.com/office/drawing/2014/main" id="{0D334108-3DFD-46F3-AE2B-74F15C602E53}"/>
              </a:ext>
            </a:extLst>
          </p:cNvPr>
          <p:cNvPicPr>
            <a:picLocks noChangeAspect="1"/>
          </p:cNvPicPr>
          <p:nvPr/>
        </p:nvPicPr>
        <p:blipFill rotWithShape="1">
          <a:blip r:embed="rId3"/>
          <a:srcRect l="2082"/>
          <a:stretch/>
        </p:blipFill>
        <p:spPr>
          <a:xfrm>
            <a:off x="11048206" y="472537"/>
            <a:ext cx="5285712" cy="6846031"/>
          </a:xfrm>
          <a:prstGeom prst="rect">
            <a:avLst/>
          </a:prstGeom>
        </p:spPr>
      </p:pic>
      <p:sp>
        <p:nvSpPr>
          <p:cNvPr id="9" name="TextBox 8">
            <a:extLst>
              <a:ext uri="{FF2B5EF4-FFF2-40B4-BE49-F238E27FC236}">
                <a16:creationId xmlns:a16="http://schemas.microsoft.com/office/drawing/2014/main" id="{CC204947-D623-4E76-B591-BEC744349455}"/>
              </a:ext>
            </a:extLst>
          </p:cNvPr>
          <p:cNvSpPr txBox="1"/>
          <p:nvPr/>
        </p:nvSpPr>
        <p:spPr>
          <a:xfrm>
            <a:off x="11371810" y="7383177"/>
            <a:ext cx="4771505" cy="738664"/>
          </a:xfrm>
          <a:prstGeom prst="rect">
            <a:avLst/>
          </a:prstGeom>
          <a:noFill/>
        </p:spPr>
        <p:txBody>
          <a:bodyPr wrap="square" lIns="0" tIns="0" rIns="0" bIns="0" rtlCol="0">
            <a:spAutoFit/>
          </a:bodyPr>
          <a:lstStyle/>
          <a:p>
            <a:pPr algn="ctr"/>
            <a:r>
              <a:rPr lang="en-US" sz="2400" dirty="0"/>
              <a:t>Fig. 9.2 Processor unit employing a scratchpad memory</a:t>
            </a:r>
          </a:p>
        </p:txBody>
      </p:sp>
      <p:sp>
        <p:nvSpPr>
          <p:cNvPr id="4" name="Date Placeholder 3"/>
          <p:cNvSpPr>
            <a:spLocks noGrp="1"/>
          </p:cNvSpPr>
          <p:nvPr>
            <p:ph type="dt" sz="half" idx="10"/>
          </p:nvPr>
        </p:nvSpPr>
        <p:spPr/>
        <p:txBody>
          <a:bodyPr/>
          <a:lstStyle/>
          <a:p>
            <a:fld id="{7CF26F60-B56E-47F7-84A6-C1649B35866B}" type="datetime3">
              <a:rPr lang="en-US" smtClean="0"/>
              <a:t>24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8</a:t>
            </a:fld>
            <a:endParaRPr lang="en-US" dirty="0"/>
          </a:p>
        </p:txBody>
      </p:sp>
    </p:spTree>
    <p:extLst>
      <p:ext uri="{BB962C8B-B14F-4D97-AF65-F5344CB8AC3E}">
        <p14:creationId xmlns:p14="http://schemas.microsoft.com/office/powerpoint/2010/main" val="2505679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1" end="1"/>
                                            </p:txEl>
                                          </p:spTgt>
                                        </p:tgtEl>
                                        <p:attrNameLst>
                                          <p:attrName>style.color</p:attrName>
                                        </p:attrNameLst>
                                      </p:cBhvr>
                                      <p:to>
                                        <a:schemeClr val="accent2"/>
                                      </p:to>
                                    </p:animClr>
                                    <p:animClr clrSpc="rgb" dir="cw">
                                      <p:cBhvr>
                                        <p:cTn id="7" dur="500" fill="hold"/>
                                        <p:tgtEl>
                                          <p:spTgt spid="3">
                                            <p:txEl>
                                              <p:pRg st="1" end="1"/>
                                            </p:txEl>
                                          </p:spTgt>
                                        </p:tgtEl>
                                        <p:attrNameLst>
                                          <p:attrName>fillcolor</p:attrName>
                                        </p:attrNameLst>
                                      </p:cBhvr>
                                      <p:to>
                                        <a:schemeClr val="accent2"/>
                                      </p:to>
                                    </p:animClr>
                                    <p:set>
                                      <p:cBhvr>
                                        <p:cTn id="8" dur="500" fill="hold"/>
                                        <p:tgtEl>
                                          <p:spTgt spid="3">
                                            <p:txEl>
                                              <p:pRg st="1" end="1"/>
                                            </p:txEl>
                                          </p:spTgt>
                                        </p:tgtEl>
                                        <p:attrNameLst>
                                          <p:attrName>fill.type</p:attrName>
                                        </p:attrNameLst>
                                      </p:cBhvr>
                                      <p:to>
                                        <p:strVal val="solid"/>
                                      </p:to>
                                    </p:set>
                                    <p:set>
                                      <p:cBhvr>
                                        <p:cTn id="9" dur="500" fill="hold"/>
                                        <p:tgtEl>
                                          <p:spTgt spid="3">
                                            <p:txEl>
                                              <p:pRg st="1" end="1"/>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3">
                                            <p:txEl>
                                              <p:pRg st="2" end="2"/>
                                            </p:txEl>
                                          </p:spTgt>
                                        </p:tgtEl>
                                        <p:attrNameLst>
                                          <p:attrName>style.color</p:attrName>
                                        </p:attrNameLst>
                                      </p:cBhvr>
                                      <p:to>
                                        <a:srgbClr val="FF0000"/>
                                      </p:to>
                                    </p:animClr>
                                    <p:animClr clrSpc="rgb" dir="cw">
                                      <p:cBhvr>
                                        <p:cTn id="14" dur="500" fill="hold"/>
                                        <p:tgtEl>
                                          <p:spTgt spid="3">
                                            <p:txEl>
                                              <p:pRg st="2" end="2"/>
                                            </p:txEl>
                                          </p:spTgt>
                                        </p:tgtEl>
                                        <p:attrNameLst>
                                          <p:attrName>fillcolor</p:attrName>
                                        </p:attrNameLst>
                                      </p:cBhvr>
                                      <p:to>
                                        <a:srgbClr val="FF0000"/>
                                      </p:to>
                                    </p:animClr>
                                    <p:set>
                                      <p:cBhvr>
                                        <p:cTn id="15" dur="500" fill="hold"/>
                                        <p:tgtEl>
                                          <p:spTgt spid="3">
                                            <p:txEl>
                                              <p:pRg st="2" end="2"/>
                                            </p:txEl>
                                          </p:spTgt>
                                        </p:tgtEl>
                                        <p:attrNameLst>
                                          <p:attrName>fill.type</p:attrName>
                                        </p:attrNameLst>
                                      </p:cBhvr>
                                      <p:to>
                                        <p:strVal val="solid"/>
                                      </p:to>
                                    </p:set>
                                    <p:set>
                                      <p:cBhvr>
                                        <p:cTn id="16" dur="500" fill="hold"/>
                                        <p:tgtEl>
                                          <p:spTgt spid="3">
                                            <p:txEl>
                                              <p:pRg st="2" end="2"/>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3">
                                            <p:txEl>
                                              <p:pRg st="3" end="3"/>
                                            </p:txEl>
                                          </p:spTgt>
                                        </p:tgtEl>
                                        <p:attrNameLst>
                                          <p:attrName>style.color</p:attrName>
                                        </p:attrNameLst>
                                      </p:cBhvr>
                                      <p:to>
                                        <a:srgbClr val="00B050"/>
                                      </p:to>
                                    </p:animClr>
                                    <p:animClr clrSpc="rgb" dir="cw">
                                      <p:cBhvr>
                                        <p:cTn id="21" dur="500" fill="hold"/>
                                        <p:tgtEl>
                                          <p:spTgt spid="3">
                                            <p:txEl>
                                              <p:pRg st="3" end="3"/>
                                            </p:txEl>
                                          </p:spTgt>
                                        </p:tgtEl>
                                        <p:attrNameLst>
                                          <p:attrName>fillcolor</p:attrName>
                                        </p:attrNameLst>
                                      </p:cBhvr>
                                      <p:to>
                                        <a:srgbClr val="00B050"/>
                                      </p:to>
                                    </p:animClr>
                                    <p:set>
                                      <p:cBhvr>
                                        <p:cTn id="22" dur="500" fill="hold"/>
                                        <p:tgtEl>
                                          <p:spTgt spid="3">
                                            <p:txEl>
                                              <p:pRg st="3" end="3"/>
                                            </p:txEl>
                                          </p:spTgt>
                                        </p:tgtEl>
                                        <p:attrNameLst>
                                          <p:attrName>fill.type</p:attrName>
                                        </p:attrNameLst>
                                      </p:cBhvr>
                                      <p:to>
                                        <p:strVal val="solid"/>
                                      </p:to>
                                    </p:set>
                                    <p:set>
                                      <p:cBhvr>
                                        <p:cTn id="23" dur="500" fill="hold"/>
                                        <p:tgtEl>
                                          <p:spTgt spid="3">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5BC5A-49A7-71D8-C507-D293DEC6F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542AA-D0AE-1F47-AA7A-B1F973ACD020}"/>
              </a:ext>
            </a:extLst>
          </p:cNvPr>
          <p:cNvSpPr>
            <a:spLocks noGrp="1"/>
          </p:cNvSpPr>
          <p:nvPr>
            <p:ph type="title"/>
          </p:nvPr>
        </p:nvSpPr>
        <p:spPr>
          <a:xfrm>
            <a:off x="1072342" y="177070"/>
            <a:ext cx="12618720" cy="1269344"/>
          </a:xfrm>
        </p:spPr>
        <p:txBody>
          <a:bodyPr>
            <a:normAutofit/>
          </a:bodyPr>
          <a:lstStyle/>
          <a:p>
            <a:r>
              <a:rPr lang="en-US" sz="5400" b="1" dirty="0">
                <a:solidFill>
                  <a:srgbClr val="0070C0"/>
                </a:solidFill>
              </a:rPr>
              <a:t>Scratchpad Memory</a:t>
            </a:r>
            <a:endParaRPr lang="en-US" sz="5400" dirty="0">
              <a:solidFill>
                <a:srgbClr val="0070C0"/>
              </a:solidFill>
            </a:endParaRPr>
          </a:p>
        </p:txBody>
      </p:sp>
      <p:sp>
        <p:nvSpPr>
          <p:cNvPr id="3" name="Content Placeholder 2">
            <a:extLst>
              <a:ext uri="{FF2B5EF4-FFF2-40B4-BE49-F238E27FC236}">
                <a16:creationId xmlns:a16="http://schemas.microsoft.com/office/drawing/2014/main" id="{4B7010C5-CCEB-CDE4-6D42-8E2EBE01B8AC}"/>
              </a:ext>
            </a:extLst>
          </p:cNvPr>
          <p:cNvSpPr>
            <a:spLocks noGrp="1"/>
          </p:cNvSpPr>
          <p:nvPr>
            <p:ph idx="1"/>
          </p:nvPr>
        </p:nvSpPr>
        <p:spPr>
          <a:xfrm>
            <a:off x="216131" y="1200235"/>
            <a:ext cx="11872547" cy="6414222"/>
          </a:xfrm>
        </p:spPr>
        <p:txBody>
          <a:bodyPr>
            <a:noAutofit/>
          </a:bodyPr>
          <a:lstStyle/>
          <a:p>
            <a:r>
              <a:rPr lang="en-US" sz="3600" dirty="0"/>
              <a:t>To perform the operation R1</a:t>
            </a:r>
            <a:r>
              <a:rPr lang="en-US" sz="3600" dirty="0">
                <a:solidFill>
                  <a:srgbClr val="FF0000"/>
                </a:solidFill>
              </a:rPr>
              <a:t>(0110)</a:t>
            </a:r>
            <a:r>
              <a:rPr lang="en-US" sz="3600" dirty="0"/>
              <a:t> = R2</a:t>
            </a:r>
            <a:r>
              <a:rPr lang="en-US" sz="3600" dirty="0">
                <a:solidFill>
                  <a:srgbClr val="FF0000"/>
                </a:solidFill>
              </a:rPr>
              <a:t>(0001)</a:t>
            </a:r>
            <a:r>
              <a:rPr lang="en-US" sz="3600" dirty="0"/>
              <a:t> + R3</a:t>
            </a:r>
            <a:r>
              <a:rPr lang="en-US" sz="3600" dirty="0">
                <a:solidFill>
                  <a:srgbClr val="FF0000"/>
                </a:solidFill>
              </a:rPr>
              <a:t>(0101)</a:t>
            </a:r>
            <a:r>
              <a:rPr lang="en-US" sz="3600" dirty="0"/>
              <a:t>, the control must provide binary selection variables to perform the following </a:t>
            </a:r>
            <a:r>
              <a:rPr lang="en-US" sz="3600" dirty="0">
                <a:solidFill>
                  <a:srgbClr val="FF0000"/>
                </a:solidFill>
              </a:rPr>
              <a:t>sequence of 3 microoperations</a:t>
            </a:r>
            <a:r>
              <a:rPr lang="en-US" sz="3600" dirty="0"/>
              <a:t>:</a:t>
            </a:r>
          </a:p>
          <a:p>
            <a:pPr lvl="1"/>
            <a:r>
              <a:rPr lang="en-US" sz="3600" dirty="0"/>
              <a:t>T1: A  </a:t>
            </a:r>
            <a:r>
              <a:rPr lang="en-US" sz="3600" dirty="0">
                <a:sym typeface="Wingdings" panose="05000000000000000000" pitchFamily="2" charset="2"/>
              </a:rPr>
              <a:t> M[10]	 Read R2 into register A</a:t>
            </a:r>
          </a:p>
          <a:p>
            <a:pPr lvl="1"/>
            <a:r>
              <a:rPr lang="en-US" sz="3600" dirty="0">
                <a:sym typeface="Wingdings" panose="05000000000000000000" pitchFamily="2" charset="2"/>
              </a:rPr>
              <a:t>T2: B   M[11]  	 Read R3 into register B</a:t>
            </a:r>
          </a:p>
          <a:p>
            <a:pPr lvl="1"/>
            <a:r>
              <a:rPr lang="en-US" sz="3600" dirty="0">
                <a:sym typeface="Wingdings" panose="05000000000000000000" pitchFamily="2" charset="2"/>
              </a:rPr>
              <a:t>T3</a:t>
            </a:r>
            <a:r>
              <a:rPr lang="en-US" sz="3600">
                <a:sym typeface="Wingdings" panose="05000000000000000000" pitchFamily="2" charset="2"/>
              </a:rPr>
              <a:t>: M[01</a:t>
            </a:r>
            <a:r>
              <a:rPr lang="en-US" sz="3600" dirty="0">
                <a:sym typeface="Wingdings" panose="05000000000000000000" pitchFamily="2" charset="2"/>
              </a:rPr>
              <a:t>]  A+B	 Perform the operation in ALU     				            and transfer the result to R1</a:t>
            </a:r>
          </a:p>
          <a:p>
            <a:r>
              <a:rPr lang="en-US" sz="3600" dirty="0"/>
              <a:t>The reason for a sequence of 3 microoperations, instead of just 1 as in a bus-organized processor, is due to the limitation of the memory unit having only one set of address terminals but two source registers are to be accessed. So, multiple memory addresses can’t be accessed simultaneously.</a:t>
            </a:r>
          </a:p>
        </p:txBody>
      </p:sp>
      <p:pic>
        <p:nvPicPr>
          <p:cNvPr id="8" name="Picture 7">
            <a:extLst>
              <a:ext uri="{FF2B5EF4-FFF2-40B4-BE49-F238E27FC236}">
                <a16:creationId xmlns:a16="http://schemas.microsoft.com/office/drawing/2014/main" id="{9A5287E7-5393-9DC5-D8C3-6EFD884AFE99}"/>
              </a:ext>
            </a:extLst>
          </p:cNvPr>
          <p:cNvPicPr>
            <a:picLocks noChangeAspect="1"/>
          </p:cNvPicPr>
          <p:nvPr/>
        </p:nvPicPr>
        <p:blipFill rotWithShape="1">
          <a:blip r:embed="rId3"/>
          <a:srcRect l="2082"/>
          <a:stretch/>
        </p:blipFill>
        <p:spPr>
          <a:xfrm>
            <a:off x="11048206" y="472537"/>
            <a:ext cx="5285712" cy="6846031"/>
          </a:xfrm>
          <a:prstGeom prst="rect">
            <a:avLst/>
          </a:prstGeom>
        </p:spPr>
      </p:pic>
      <p:sp>
        <p:nvSpPr>
          <p:cNvPr id="9" name="TextBox 8">
            <a:extLst>
              <a:ext uri="{FF2B5EF4-FFF2-40B4-BE49-F238E27FC236}">
                <a16:creationId xmlns:a16="http://schemas.microsoft.com/office/drawing/2014/main" id="{666090C4-5794-D625-4DD7-89EC40CCE889}"/>
              </a:ext>
            </a:extLst>
          </p:cNvPr>
          <p:cNvSpPr txBox="1"/>
          <p:nvPr/>
        </p:nvSpPr>
        <p:spPr>
          <a:xfrm>
            <a:off x="11371810" y="7383177"/>
            <a:ext cx="4771505" cy="738664"/>
          </a:xfrm>
          <a:prstGeom prst="rect">
            <a:avLst/>
          </a:prstGeom>
          <a:noFill/>
        </p:spPr>
        <p:txBody>
          <a:bodyPr wrap="square" lIns="0" tIns="0" rIns="0" bIns="0" rtlCol="0">
            <a:spAutoFit/>
          </a:bodyPr>
          <a:lstStyle/>
          <a:p>
            <a:pPr algn="ctr"/>
            <a:r>
              <a:rPr lang="en-US" sz="2400" dirty="0"/>
              <a:t>Fig. 9.2 Processor unit employing a scratchpad memory</a:t>
            </a:r>
          </a:p>
        </p:txBody>
      </p:sp>
      <p:sp>
        <p:nvSpPr>
          <p:cNvPr id="4" name="Date Placeholder 3">
            <a:extLst>
              <a:ext uri="{FF2B5EF4-FFF2-40B4-BE49-F238E27FC236}">
                <a16:creationId xmlns:a16="http://schemas.microsoft.com/office/drawing/2014/main" id="{EF2ED2A3-9169-B206-ABB6-E061DD7DE639}"/>
              </a:ext>
            </a:extLst>
          </p:cNvPr>
          <p:cNvSpPr>
            <a:spLocks noGrp="1"/>
          </p:cNvSpPr>
          <p:nvPr>
            <p:ph type="dt" sz="half" idx="10"/>
          </p:nvPr>
        </p:nvSpPr>
        <p:spPr/>
        <p:txBody>
          <a:bodyPr/>
          <a:lstStyle/>
          <a:p>
            <a:fld id="{7CF26F60-B56E-47F7-84A6-C1649B35866B}" type="datetime3">
              <a:rPr lang="en-US" smtClean="0"/>
              <a:t>24 December 2025</a:t>
            </a:fld>
            <a:endParaRPr lang="en-US"/>
          </a:p>
        </p:txBody>
      </p:sp>
      <p:sp>
        <p:nvSpPr>
          <p:cNvPr id="6" name="Slide Number Placeholder 5">
            <a:extLst>
              <a:ext uri="{FF2B5EF4-FFF2-40B4-BE49-F238E27FC236}">
                <a16:creationId xmlns:a16="http://schemas.microsoft.com/office/drawing/2014/main" id="{AF8B47A5-BF2D-C47A-C5A4-3D8ABE921B93}"/>
              </a:ext>
            </a:extLst>
          </p:cNvPr>
          <p:cNvSpPr>
            <a:spLocks noGrp="1"/>
          </p:cNvSpPr>
          <p:nvPr>
            <p:ph type="sldNum" sz="quarter" idx="12"/>
          </p:nvPr>
        </p:nvSpPr>
        <p:spPr/>
        <p:txBody>
          <a:bodyPr/>
          <a:lstStyle/>
          <a:p>
            <a:fld id="{48F63A3B-78C7-47BE-AE5E-E10140E04643}" type="slidenum">
              <a:rPr lang="en-US" smtClean="0"/>
              <a:t>9</a:t>
            </a:fld>
            <a:endParaRPr lang="en-US" dirty="0"/>
          </a:p>
        </p:txBody>
      </p:sp>
      <p:cxnSp>
        <p:nvCxnSpPr>
          <p:cNvPr id="10" name="Straight Arrow Connector 9">
            <a:extLst>
              <a:ext uri="{FF2B5EF4-FFF2-40B4-BE49-F238E27FC236}">
                <a16:creationId xmlns:a16="http://schemas.microsoft.com/office/drawing/2014/main" id="{7EC39C83-C52E-E1C8-C466-F50620D02F5F}"/>
              </a:ext>
            </a:extLst>
          </p:cNvPr>
          <p:cNvCxnSpPr>
            <a:cxnSpLocks/>
          </p:cNvCxnSpPr>
          <p:nvPr/>
        </p:nvCxnSpPr>
        <p:spPr>
          <a:xfrm flipH="1">
            <a:off x="12893040" y="2763247"/>
            <a:ext cx="323402" cy="1717313"/>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9D8350AE-85D1-9DD6-E181-06147C6DC198}"/>
              </a:ext>
            </a:extLst>
          </p:cNvPr>
          <p:cNvCxnSpPr>
            <a:cxnSpLocks/>
          </p:cNvCxnSpPr>
          <p:nvPr/>
        </p:nvCxnSpPr>
        <p:spPr>
          <a:xfrm>
            <a:off x="13837572" y="2913017"/>
            <a:ext cx="382344" cy="1567543"/>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6" name="Rectangle 15">
            <a:extLst>
              <a:ext uri="{FF2B5EF4-FFF2-40B4-BE49-F238E27FC236}">
                <a16:creationId xmlns:a16="http://schemas.microsoft.com/office/drawing/2014/main" id="{9F09F3EB-0A31-51A8-00F8-3E539BF186D1}"/>
              </a:ext>
            </a:extLst>
          </p:cNvPr>
          <p:cNvSpPr/>
          <p:nvPr/>
        </p:nvSpPr>
        <p:spPr>
          <a:xfrm>
            <a:off x="13141234" y="5316583"/>
            <a:ext cx="979715" cy="40494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B275F2-799F-6F86-1061-D0E1E161EF09}"/>
              </a:ext>
            </a:extLst>
          </p:cNvPr>
          <p:cNvSpPr/>
          <p:nvPr/>
        </p:nvSpPr>
        <p:spPr>
          <a:xfrm>
            <a:off x="13141234" y="2505132"/>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0001</a:t>
            </a:r>
          </a:p>
        </p:txBody>
      </p:sp>
      <p:sp>
        <p:nvSpPr>
          <p:cNvPr id="13" name="Rectangle 12">
            <a:extLst>
              <a:ext uri="{FF2B5EF4-FFF2-40B4-BE49-F238E27FC236}">
                <a16:creationId xmlns:a16="http://schemas.microsoft.com/office/drawing/2014/main" id="{0E6F8300-7F76-8191-99C0-C4921B5DEA97}"/>
              </a:ext>
            </a:extLst>
          </p:cNvPr>
          <p:cNvSpPr/>
          <p:nvPr/>
        </p:nvSpPr>
        <p:spPr>
          <a:xfrm>
            <a:off x="13173036" y="2873829"/>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0101</a:t>
            </a:r>
          </a:p>
        </p:txBody>
      </p:sp>
      <p:sp>
        <p:nvSpPr>
          <p:cNvPr id="14" name="Rectangle 13">
            <a:extLst>
              <a:ext uri="{FF2B5EF4-FFF2-40B4-BE49-F238E27FC236}">
                <a16:creationId xmlns:a16="http://schemas.microsoft.com/office/drawing/2014/main" id="{8DBDA266-E691-5D21-FCA7-A2B3FCF37E94}"/>
              </a:ext>
            </a:extLst>
          </p:cNvPr>
          <p:cNvSpPr/>
          <p:nvPr/>
        </p:nvSpPr>
        <p:spPr>
          <a:xfrm>
            <a:off x="11174278" y="2099049"/>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10</a:t>
            </a:r>
          </a:p>
        </p:txBody>
      </p:sp>
      <p:sp>
        <p:nvSpPr>
          <p:cNvPr id="15" name="Rectangle 14">
            <a:extLst>
              <a:ext uri="{FF2B5EF4-FFF2-40B4-BE49-F238E27FC236}">
                <a16:creationId xmlns:a16="http://schemas.microsoft.com/office/drawing/2014/main" id="{14BA6838-8395-633F-403E-C3A7AC0E8570}"/>
              </a:ext>
            </a:extLst>
          </p:cNvPr>
          <p:cNvSpPr/>
          <p:nvPr/>
        </p:nvSpPr>
        <p:spPr>
          <a:xfrm>
            <a:off x="12513759" y="3726509"/>
            <a:ext cx="899554" cy="288046"/>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2400" b="1" dirty="0">
                <a:solidFill>
                  <a:srgbClr val="FF0000"/>
                </a:solidFill>
              </a:rPr>
              <a:t>0001</a:t>
            </a:r>
          </a:p>
        </p:txBody>
      </p:sp>
      <p:sp>
        <p:nvSpPr>
          <p:cNvPr id="17" name="Rectangle 16">
            <a:extLst>
              <a:ext uri="{FF2B5EF4-FFF2-40B4-BE49-F238E27FC236}">
                <a16:creationId xmlns:a16="http://schemas.microsoft.com/office/drawing/2014/main" id="{358D9CAC-3EF6-C1FA-8C78-2678891EF46C}"/>
              </a:ext>
            </a:extLst>
          </p:cNvPr>
          <p:cNvSpPr/>
          <p:nvPr/>
        </p:nvSpPr>
        <p:spPr>
          <a:xfrm>
            <a:off x="11174278" y="2763247"/>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11</a:t>
            </a:r>
          </a:p>
        </p:txBody>
      </p:sp>
      <p:sp>
        <p:nvSpPr>
          <p:cNvPr id="18" name="Rectangle 17">
            <a:extLst>
              <a:ext uri="{FF2B5EF4-FFF2-40B4-BE49-F238E27FC236}">
                <a16:creationId xmlns:a16="http://schemas.microsoft.com/office/drawing/2014/main" id="{17C58B40-C39D-A30D-EBC6-F0A92742FF2A}"/>
              </a:ext>
            </a:extLst>
          </p:cNvPr>
          <p:cNvSpPr/>
          <p:nvPr/>
        </p:nvSpPr>
        <p:spPr>
          <a:xfrm>
            <a:off x="13757562" y="3690091"/>
            <a:ext cx="901097" cy="288540"/>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2400" b="1" dirty="0">
                <a:solidFill>
                  <a:srgbClr val="FF0000"/>
                </a:solidFill>
              </a:rPr>
              <a:t>0101</a:t>
            </a:r>
          </a:p>
        </p:txBody>
      </p:sp>
      <p:sp>
        <p:nvSpPr>
          <p:cNvPr id="19" name="Rectangle 18">
            <a:extLst>
              <a:ext uri="{FF2B5EF4-FFF2-40B4-BE49-F238E27FC236}">
                <a16:creationId xmlns:a16="http://schemas.microsoft.com/office/drawing/2014/main" id="{0E036007-B9E4-778A-C1B1-9713FAEDD776}"/>
              </a:ext>
            </a:extLst>
          </p:cNvPr>
          <p:cNvSpPr/>
          <p:nvPr/>
        </p:nvSpPr>
        <p:spPr>
          <a:xfrm>
            <a:off x="11829002" y="4191546"/>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a:t>
            </a:r>
          </a:p>
        </p:txBody>
      </p:sp>
      <p:sp>
        <p:nvSpPr>
          <p:cNvPr id="20" name="Rectangle 19">
            <a:extLst>
              <a:ext uri="{FF2B5EF4-FFF2-40B4-BE49-F238E27FC236}">
                <a16:creationId xmlns:a16="http://schemas.microsoft.com/office/drawing/2014/main" id="{B93EB02B-9971-1B94-077D-088209EF4E1E}"/>
              </a:ext>
            </a:extLst>
          </p:cNvPr>
          <p:cNvSpPr/>
          <p:nvPr/>
        </p:nvSpPr>
        <p:spPr>
          <a:xfrm>
            <a:off x="14681561" y="4191546"/>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a:t>
            </a:r>
          </a:p>
        </p:txBody>
      </p:sp>
      <p:sp>
        <p:nvSpPr>
          <p:cNvPr id="21" name="Rectangle 20">
            <a:extLst>
              <a:ext uri="{FF2B5EF4-FFF2-40B4-BE49-F238E27FC236}">
                <a16:creationId xmlns:a16="http://schemas.microsoft.com/office/drawing/2014/main" id="{2FAC1787-5E62-8BEB-D692-7A6AC3B2FFAE}"/>
              </a:ext>
            </a:extLst>
          </p:cNvPr>
          <p:cNvSpPr/>
          <p:nvPr/>
        </p:nvSpPr>
        <p:spPr>
          <a:xfrm>
            <a:off x="12593769" y="4862595"/>
            <a:ext cx="899554" cy="288046"/>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2400" b="1" dirty="0">
                <a:solidFill>
                  <a:srgbClr val="FF0000"/>
                </a:solidFill>
              </a:rPr>
              <a:t>0001</a:t>
            </a:r>
          </a:p>
        </p:txBody>
      </p:sp>
      <p:sp>
        <p:nvSpPr>
          <p:cNvPr id="22" name="Rectangle 21">
            <a:extLst>
              <a:ext uri="{FF2B5EF4-FFF2-40B4-BE49-F238E27FC236}">
                <a16:creationId xmlns:a16="http://schemas.microsoft.com/office/drawing/2014/main" id="{602ED7D5-B275-9D18-055B-9FF74AE1A8DC}"/>
              </a:ext>
            </a:extLst>
          </p:cNvPr>
          <p:cNvSpPr/>
          <p:nvPr/>
        </p:nvSpPr>
        <p:spPr>
          <a:xfrm>
            <a:off x="13837572" y="4826177"/>
            <a:ext cx="901097" cy="288540"/>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2400" b="1" dirty="0">
                <a:solidFill>
                  <a:srgbClr val="FF0000"/>
                </a:solidFill>
              </a:rPr>
              <a:t>0101</a:t>
            </a:r>
          </a:p>
        </p:txBody>
      </p:sp>
      <p:sp>
        <p:nvSpPr>
          <p:cNvPr id="23" name="Rectangle 22">
            <a:extLst>
              <a:ext uri="{FF2B5EF4-FFF2-40B4-BE49-F238E27FC236}">
                <a16:creationId xmlns:a16="http://schemas.microsoft.com/office/drawing/2014/main" id="{434C9CFA-9B18-9757-0E83-A6B18AB4C931}"/>
              </a:ext>
            </a:extLst>
          </p:cNvPr>
          <p:cNvSpPr/>
          <p:nvPr/>
        </p:nvSpPr>
        <p:spPr>
          <a:xfrm>
            <a:off x="14690525" y="5783091"/>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0010</a:t>
            </a:r>
          </a:p>
        </p:txBody>
      </p:sp>
      <p:sp>
        <p:nvSpPr>
          <p:cNvPr id="24" name="Rectangle 23">
            <a:extLst>
              <a:ext uri="{FF2B5EF4-FFF2-40B4-BE49-F238E27FC236}">
                <a16:creationId xmlns:a16="http://schemas.microsoft.com/office/drawing/2014/main" id="{87953044-46C8-7156-0036-34A327557C80}"/>
              </a:ext>
            </a:extLst>
          </p:cNvPr>
          <p:cNvSpPr/>
          <p:nvPr/>
        </p:nvSpPr>
        <p:spPr>
          <a:xfrm>
            <a:off x="13216442" y="5904180"/>
            <a:ext cx="899554" cy="288046"/>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2400" b="1" dirty="0">
                <a:solidFill>
                  <a:srgbClr val="FF0000"/>
                </a:solidFill>
              </a:rPr>
              <a:t>0110</a:t>
            </a:r>
          </a:p>
        </p:txBody>
      </p:sp>
      <p:sp>
        <p:nvSpPr>
          <p:cNvPr id="25" name="Rectangle 24">
            <a:extLst>
              <a:ext uri="{FF2B5EF4-FFF2-40B4-BE49-F238E27FC236}">
                <a16:creationId xmlns:a16="http://schemas.microsoft.com/office/drawing/2014/main" id="{754F54B6-4EDD-32B3-96F4-5D923487C44C}"/>
              </a:ext>
            </a:extLst>
          </p:cNvPr>
          <p:cNvSpPr/>
          <p:nvPr/>
        </p:nvSpPr>
        <p:spPr>
          <a:xfrm>
            <a:off x="14825597" y="6825915"/>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000</a:t>
            </a:r>
          </a:p>
        </p:txBody>
      </p:sp>
      <p:sp>
        <p:nvSpPr>
          <p:cNvPr id="26" name="Rectangle 25">
            <a:extLst>
              <a:ext uri="{FF2B5EF4-FFF2-40B4-BE49-F238E27FC236}">
                <a16:creationId xmlns:a16="http://schemas.microsoft.com/office/drawing/2014/main" id="{92FAD8BE-2EA8-3A17-9892-6AACF48F497C}"/>
              </a:ext>
            </a:extLst>
          </p:cNvPr>
          <p:cNvSpPr/>
          <p:nvPr/>
        </p:nvSpPr>
        <p:spPr>
          <a:xfrm>
            <a:off x="13141234" y="6881327"/>
            <a:ext cx="899554" cy="288046"/>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2400" b="1" dirty="0">
                <a:solidFill>
                  <a:srgbClr val="FF0000"/>
                </a:solidFill>
              </a:rPr>
              <a:t>0110</a:t>
            </a:r>
          </a:p>
        </p:txBody>
      </p:sp>
      <p:sp>
        <p:nvSpPr>
          <p:cNvPr id="27" name="Rectangle 26">
            <a:extLst>
              <a:ext uri="{FF2B5EF4-FFF2-40B4-BE49-F238E27FC236}">
                <a16:creationId xmlns:a16="http://schemas.microsoft.com/office/drawing/2014/main" id="{4C11FACD-8FEF-2D25-445B-DB25AB8B3A07}"/>
              </a:ext>
            </a:extLst>
          </p:cNvPr>
          <p:cNvSpPr/>
          <p:nvPr/>
        </p:nvSpPr>
        <p:spPr>
          <a:xfrm>
            <a:off x="14440991" y="1341733"/>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a:t>
            </a:r>
          </a:p>
        </p:txBody>
      </p:sp>
      <p:sp>
        <p:nvSpPr>
          <p:cNvPr id="28" name="Rectangle 27">
            <a:extLst>
              <a:ext uri="{FF2B5EF4-FFF2-40B4-BE49-F238E27FC236}">
                <a16:creationId xmlns:a16="http://schemas.microsoft.com/office/drawing/2014/main" id="{259E312B-0374-92F9-4E9C-74EFC987F514}"/>
              </a:ext>
            </a:extLst>
          </p:cNvPr>
          <p:cNvSpPr/>
          <p:nvPr/>
        </p:nvSpPr>
        <p:spPr>
          <a:xfrm>
            <a:off x="13713058" y="1636319"/>
            <a:ext cx="899554" cy="288046"/>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2400" b="1" dirty="0">
                <a:solidFill>
                  <a:srgbClr val="FF0000"/>
                </a:solidFill>
              </a:rPr>
              <a:t>0110</a:t>
            </a:r>
          </a:p>
        </p:txBody>
      </p:sp>
      <p:sp>
        <p:nvSpPr>
          <p:cNvPr id="29" name="Rectangle 28">
            <a:extLst>
              <a:ext uri="{FF2B5EF4-FFF2-40B4-BE49-F238E27FC236}">
                <a16:creationId xmlns:a16="http://schemas.microsoft.com/office/drawing/2014/main" id="{D1FFC25F-3D13-AAC0-0B3B-52F5ABF1FE85}"/>
              </a:ext>
            </a:extLst>
          </p:cNvPr>
          <p:cNvSpPr/>
          <p:nvPr/>
        </p:nvSpPr>
        <p:spPr>
          <a:xfrm>
            <a:off x="14719683" y="1933557"/>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a:t>
            </a:r>
          </a:p>
        </p:txBody>
      </p:sp>
      <p:sp>
        <p:nvSpPr>
          <p:cNvPr id="30" name="Rectangle 29">
            <a:extLst>
              <a:ext uri="{FF2B5EF4-FFF2-40B4-BE49-F238E27FC236}">
                <a16:creationId xmlns:a16="http://schemas.microsoft.com/office/drawing/2014/main" id="{F0BD93AE-F60A-9995-C58C-7444038A2B0D}"/>
              </a:ext>
            </a:extLst>
          </p:cNvPr>
          <p:cNvSpPr/>
          <p:nvPr/>
        </p:nvSpPr>
        <p:spPr>
          <a:xfrm>
            <a:off x="14656754" y="2568188"/>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a:t>
            </a:r>
          </a:p>
        </p:txBody>
      </p:sp>
      <p:sp>
        <p:nvSpPr>
          <p:cNvPr id="31" name="Rectangle 30">
            <a:extLst>
              <a:ext uri="{FF2B5EF4-FFF2-40B4-BE49-F238E27FC236}">
                <a16:creationId xmlns:a16="http://schemas.microsoft.com/office/drawing/2014/main" id="{6714D049-E7B2-64D9-5A57-5F5E5312528E}"/>
              </a:ext>
            </a:extLst>
          </p:cNvPr>
          <p:cNvSpPr/>
          <p:nvPr/>
        </p:nvSpPr>
        <p:spPr>
          <a:xfrm>
            <a:off x="13128896" y="2107014"/>
            <a:ext cx="899554" cy="288046"/>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2400" b="1" dirty="0">
                <a:solidFill>
                  <a:srgbClr val="FF0000"/>
                </a:solidFill>
              </a:rPr>
              <a:t>0110</a:t>
            </a:r>
          </a:p>
        </p:txBody>
      </p:sp>
      <p:sp>
        <p:nvSpPr>
          <p:cNvPr id="32" name="Rectangle 31">
            <a:extLst>
              <a:ext uri="{FF2B5EF4-FFF2-40B4-BE49-F238E27FC236}">
                <a16:creationId xmlns:a16="http://schemas.microsoft.com/office/drawing/2014/main" id="{E9535918-DBD2-C737-C958-AC94026EA1C4}"/>
              </a:ext>
            </a:extLst>
          </p:cNvPr>
          <p:cNvSpPr/>
          <p:nvPr/>
        </p:nvSpPr>
        <p:spPr>
          <a:xfrm>
            <a:off x="12010101" y="2091050"/>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a:t>
            </a:r>
          </a:p>
        </p:txBody>
      </p:sp>
    </p:spTree>
    <p:extLst>
      <p:ext uri="{BB962C8B-B14F-4D97-AF65-F5344CB8AC3E}">
        <p14:creationId xmlns:p14="http://schemas.microsoft.com/office/powerpoint/2010/main" val="283429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heel(1)">
                                      <p:cBhvr>
                                        <p:cTn id="12" dur="2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9" presetClass="emph" presetSubtype="0" fill="hold" nodeType="clickEffect">
                                  <p:stCondLst>
                                    <p:cond delay="0"/>
                                  </p:stCondLst>
                                  <p:childTnLst>
                                    <p:animClr clrSpc="rgb" dir="cw">
                                      <p:cBhvr override="childStyle">
                                        <p:cTn id="16" dur="500" fill="hold"/>
                                        <p:tgtEl>
                                          <p:spTgt spid="3">
                                            <p:txEl>
                                              <p:pRg st="1" end="1"/>
                                            </p:txEl>
                                          </p:spTgt>
                                        </p:tgtEl>
                                        <p:attrNameLst>
                                          <p:attrName>style.color</p:attrName>
                                        </p:attrNameLst>
                                      </p:cBhvr>
                                      <p:to>
                                        <a:schemeClr val="accent2"/>
                                      </p:to>
                                    </p:animClr>
                                    <p:animClr clrSpc="rgb" dir="cw">
                                      <p:cBhvr>
                                        <p:cTn id="17" dur="500" fill="hold"/>
                                        <p:tgtEl>
                                          <p:spTgt spid="3">
                                            <p:txEl>
                                              <p:pRg st="1" end="1"/>
                                            </p:txEl>
                                          </p:spTgt>
                                        </p:tgtEl>
                                        <p:attrNameLst>
                                          <p:attrName>fillcolor</p:attrName>
                                        </p:attrNameLst>
                                      </p:cBhvr>
                                      <p:to>
                                        <a:schemeClr val="accent2"/>
                                      </p:to>
                                    </p:animClr>
                                    <p:set>
                                      <p:cBhvr>
                                        <p:cTn id="18" dur="500" fill="hold"/>
                                        <p:tgtEl>
                                          <p:spTgt spid="3">
                                            <p:txEl>
                                              <p:pRg st="1" end="1"/>
                                            </p:txEl>
                                          </p:spTgt>
                                        </p:tgtEl>
                                        <p:attrNameLst>
                                          <p:attrName>fill.type</p:attrName>
                                        </p:attrNameLst>
                                      </p:cBhvr>
                                      <p:to>
                                        <p:strVal val="solid"/>
                                      </p:to>
                                    </p:set>
                                    <p:set>
                                      <p:cBhvr>
                                        <p:cTn id="19" dur="500" fill="hold"/>
                                        <p:tgtEl>
                                          <p:spTgt spid="3">
                                            <p:txEl>
                                              <p:pRg st="1" end="1"/>
                                            </p:txEl>
                                          </p:spTgt>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heel(1)">
                                      <p:cBhvr>
                                        <p:cTn id="24" dur="20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heel(1)">
                                      <p:cBhvr>
                                        <p:cTn id="29" dur="20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arn(inVertical)">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1" presetClass="entr" presetSubtype="1"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heel(1)">
                                      <p:cBhvr>
                                        <p:cTn id="39" dur="20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9" presetClass="emph" presetSubtype="0" fill="hold" nodeType="clickEffect">
                                  <p:stCondLst>
                                    <p:cond delay="0"/>
                                  </p:stCondLst>
                                  <p:childTnLst>
                                    <p:animClr clrSpc="rgb" dir="cw">
                                      <p:cBhvr override="childStyle">
                                        <p:cTn id="43" dur="500" fill="hold"/>
                                        <p:tgtEl>
                                          <p:spTgt spid="3">
                                            <p:txEl>
                                              <p:pRg st="2" end="2"/>
                                            </p:txEl>
                                          </p:spTgt>
                                        </p:tgtEl>
                                        <p:attrNameLst>
                                          <p:attrName>style.color</p:attrName>
                                        </p:attrNameLst>
                                      </p:cBhvr>
                                      <p:to>
                                        <a:srgbClr val="FF0000"/>
                                      </p:to>
                                    </p:animClr>
                                    <p:animClr clrSpc="rgb" dir="cw">
                                      <p:cBhvr>
                                        <p:cTn id="44" dur="500" fill="hold"/>
                                        <p:tgtEl>
                                          <p:spTgt spid="3">
                                            <p:txEl>
                                              <p:pRg st="2" end="2"/>
                                            </p:txEl>
                                          </p:spTgt>
                                        </p:tgtEl>
                                        <p:attrNameLst>
                                          <p:attrName>fillcolor</p:attrName>
                                        </p:attrNameLst>
                                      </p:cBhvr>
                                      <p:to>
                                        <a:srgbClr val="FF0000"/>
                                      </p:to>
                                    </p:animClr>
                                    <p:set>
                                      <p:cBhvr>
                                        <p:cTn id="45" dur="500" fill="hold"/>
                                        <p:tgtEl>
                                          <p:spTgt spid="3">
                                            <p:txEl>
                                              <p:pRg st="2" end="2"/>
                                            </p:txEl>
                                          </p:spTgt>
                                        </p:tgtEl>
                                        <p:attrNameLst>
                                          <p:attrName>fill.type</p:attrName>
                                        </p:attrNameLst>
                                      </p:cBhvr>
                                      <p:to>
                                        <p:strVal val="solid"/>
                                      </p:to>
                                    </p:set>
                                    <p:set>
                                      <p:cBhvr>
                                        <p:cTn id="46" dur="500" fill="hold"/>
                                        <p:tgtEl>
                                          <p:spTgt spid="3">
                                            <p:txEl>
                                              <p:pRg st="2" end="2"/>
                                            </p:txEl>
                                          </p:spTgt>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21" presetClass="entr" presetSubtype="1"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heel(1)">
                                      <p:cBhvr>
                                        <p:cTn id="51" dur="20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barn(inVertical)">
                                      <p:cBhvr>
                                        <p:cTn id="56" dur="5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21" presetClass="entr" presetSubtype="1"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heel(1)">
                                      <p:cBhvr>
                                        <p:cTn id="61" dur="2000"/>
                                        <p:tgtEl>
                                          <p:spTgt spid="18"/>
                                        </p:tgtEl>
                                      </p:cBhvr>
                                    </p:animEffec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heel(1)">
                                      <p:cBhvr>
                                        <p:cTn id="66" dur="2000"/>
                                        <p:tgtEl>
                                          <p:spTgt spid="19"/>
                                        </p:tgtEl>
                                      </p:cBhvr>
                                    </p:animEffect>
                                  </p:childTnLst>
                                </p:cTn>
                              </p:par>
                            </p:childTnLst>
                          </p:cTn>
                        </p:par>
                      </p:childTnLst>
                    </p:cTn>
                  </p:par>
                  <p:par>
                    <p:cTn id="67" fill="hold">
                      <p:stCondLst>
                        <p:cond delay="indefinite"/>
                      </p:stCondLst>
                      <p:childTnLst>
                        <p:par>
                          <p:cTn id="68" fill="hold">
                            <p:stCondLst>
                              <p:cond delay="0"/>
                            </p:stCondLst>
                            <p:childTnLst>
                              <p:par>
                                <p:cTn id="69" presetID="21" presetClass="entr" presetSubtype="1"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heel(1)">
                                      <p:cBhvr>
                                        <p:cTn id="71" dur="2000"/>
                                        <p:tgtEl>
                                          <p:spTgt spid="20"/>
                                        </p:tgtEl>
                                      </p:cBhvr>
                                    </p:animEffect>
                                  </p:childTnLst>
                                </p:cTn>
                              </p:par>
                            </p:childTnLst>
                          </p:cTn>
                        </p:par>
                      </p:childTnLst>
                    </p:cTn>
                  </p:par>
                  <p:par>
                    <p:cTn id="72" fill="hold">
                      <p:stCondLst>
                        <p:cond delay="indefinite"/>
                      </p:stCondLst>
                      <p:childTnLst>
                        <p:par>
                          <p:cTn id="73" fill="hold">
                            <p:stCondLst>
                              <p:cond delay="0"/>
                            </p:stCondLst>
                            <p:childTnLst>
                              <p:par>
                                <p:cTn id="74" presetID="21" presetClass="entr" presetSubtype="1" fill="hold" grpId="0" nodeType="click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wheel(1)">
                                      <p:cBhvr>
                                        <p:cTn id="76" dur="2000"/>
                                        <p:tgtEl>
                                          <p:spTgt spid="21"/>
                                        </p:tgtEl>
                                      </p:cBhvr>
                                    </p:animEffect>
                                  </p:childTnLst>
                                </p:cTn>
                              </p:par>
                            </p:childTnLst>
                          </p:cTn>
                        </p:par>
                      </p:childTnLst>
                    </p:cTn>
                  </p:par>
                  <p:par>
                    <p:cTn id="77" fill="hold">
                      <p:stCondLst>
                        <p:cond delay="indefinite"/>
                      </p:stCondLst>
                      <p:childTnLst>
                        <p:par>
                          <p:cTn id="78" fill="hold">
                            <p:stCondLst>
                              <p:cond delay="0"/>
                            </p:stCondLst>
                            <p:childTnLst>
                              <p:par>
                                <p:cTn id="79" presetID="21" presetClass="entr" presetSubtype="1"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heel(1)">
                                      <p:cBhvr>
                                        <p:cTn id="81" dur="2000"/>
                                        <p:tgtEl>
                                          <p:spTgt spid="22"/>
                                        </p:tgtEl>
                                      </p:cBhvr>
                                    </p:animEffect>
                                  </p:childTnLst>
                                </p:cTn>
                              </p:par>
                            </p:childTnLst>
                          </p:cTn>
                        </p:par>
                      </p:childTnLst>
                    </p:cTn>
                  </p:par>
                  <p:par>
                    <p:cTn id="82" fill="hold">
                      <p:stCondLst>
                        <p:cond delay="indefinite"/>
                      </p:stCondLst>
                      <p:childTnLst>
                        <p:par>
                          <p:cTn id="83" fill="hold">
                            <p:stCondLst>
                              <p:cond delay="0"/>
                            </p:stCondLst>
                            <p:childTnLst>
                              <p:par>
                                <p:cTn id="84" presetID="21" presetClass="entr" presetSubtype="1" fill="hold" grpId="0" nodeType="click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wheel(1)">
                                      <p:cBhvr>
                                        <p:cTn id="86" dur="2000"/>
                                        <p:tgtEl>
                                          <p:spTgt spid="23"/>
                                        </p:tgtEl>
                                      </p:cBhvr>
                                    </p:animEffect>
                                  </p:childTnLst>
                                </p:cTn>
                              </p:par>
                            </p:childTnLst>
                          </p:cTn>
                        </p:par>
                      </p:childTnLst>
                    </p:cTn>
                  </p:par>
                  <p:par>
                    <p:cTn id="87" fill="hold">
                      <p:stCondLst>
                        <p:cond delay="indefinite"/>
                      </p:stCondLst>
                      <p:childTnLst>
                        <p:par>
                          <p:cTn id="88" fill="hold">
                            <p:stCondLst>
                              <p:cond delay="0"/>
                            </p:stCondLst>
                            <p:childTnLst>
                              <p:par>
                                <p:cTn id="89" presetID="21" presetClass="entr" presetSubtype="1" fill="hold" grpId="0" nodeType="click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wheel(1)">
                                      <p:cBhvr>
                                        <p:cTn id="91" dur="2000"/>
                                        <p:tgtEl>
                                          <p:spTgt spid="16"/>
                                        </p:tgtEl>
                                      </p:cBhvr>
                                    </p:animEffect>
                                  </p:childTnLst>
                                </p:cTn>
                              </p:par>
                            </p:childTnLst>
                          </p:cTn>
                        </p:par>
                      </p:childTnLst>
                    </p:cTn>
                  </p:par>
                  <p:par>
                    <p:cTn id="92" fill="hold">
                      <p:stCondLst>
                        <p:cond delay="indefinite"/>
                      </p:stCondLst>
                      <p:childTnLst>
                        <p:par>
                          <p:cTn id="93" fill="hold">
                            <p:stCondLst>
                              <p:cond delay="0"/>
                            </p:stCondLst>
                            <p:childTnLst>
                              <p:par>
                                <p:cTn id="94" presetID="21" presetClass="entr" presetSubtype="1" fill="hold" grpId="0" nodeType="click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wheel(1)">
                                      <p:cBhvr>
                                        <p:cTn id="96" dur="2000"/>
                                        <p:tgtEl>
                                          <p:spTgt spid="24"/>
                                        </p:tgtEl>
                                      </p:cBhvr>
                                    </p:animEffect>
                                  </p:childTnLst>
                                </p:cTn>
                              </p:par>
                            </p:childTnLst>
                          </p:cTn>
                        </p:par>
                      </p:childTnLst>
                    </p:cTn>
                  </p:par>
                  <p:par>
                    <p:cTn id="97" fill="hold">
                      <p:stCondLst>
                        <p:cond delay="indefinite"/>
                      </p:stCondLst>
                      <p:childTnLst>
                        <p:par>
                          <p:cTn id="98" fill="hold">
                            <p:stCondLst>
                              <p:cond delay="0"/>
                            </p:stCondLst>
                            <p:childTnLst>
                              <p:par>
                                <p:cTn id="99" presetID="21" presetClass="entr" presetSubtype="1" fill="hold" grpId="0" nodeType="click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wheel(1)">
                                      <p:cBhvr>
                                        <p:cTn id="101" dur="2000"/>
                                        <p:tgtEl>
                                          <p:spTgt spid="25"/>
                                        </p:tgtEl>
                                      </p:cBhvr>
                                    </p:animEffect>
                                  </p:childTnLst>
                                </p:cTn>
                              </p:par>
                            </p:childTnLst>
                          </p:cTn>
                        </p:par>
                      </p:childTnLst>
                    </p:cTn>
                  </p:par>
                  <p:par>
                    <p:cTn id="102" fill="hold">
                      <p:stCondLst>
                        <p:cond delay="indefinite"/>
                      </p:stCondLst>
                      <p:childTnLst>
                        <p:par>
                          <p:cTn id="103" fill="hold">
                            <p:stCondLst>
                              <p:cond delay="0"/>
                            </p:stCondLst>
                            <p:childTnLst>
                              <p:par>
                                <p:cTn id="104" presetID="21" presetClass="entr" presetSubtype="1" fill="hold" grpId="0" nodeType="click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wheel(1)">
                                      <p:cBhvr>
                                        <p:cTn id="106" dur="2000"/>
                                        <p:tgtEl>
                                          <p:spTgt spid="26"/>
                                        </p:tgtEl>
                                      </p:cBhvr>
                                    </p:animEffect>
                                  </p:childTnLst>
                                </p:cTn>
                              </p:par>
                            </p:childTnLst>
                          </p:cTn>
                        </p:par>
                      </p:childTnLst>
                    </p:cTn>
                  </p:par>
                  <p:par>
                    <p:cTn id="107" fill="hold">
                      <p:stCondLst>
                        <p:cond delay="indefinite"/>
                      </p:stCondLst>
                      <p:childTnLst>
                        <p:par>
                          <p:cTn id="108" fill="hold">
                            <p:stCondLst>
                              <p:cond delay="0"/>
                            </p:stCondLst>
                            <p:childTnLst>
                              <p:par>
                                <p:cTn id="109" presetID="19" presetClass="emph" presetSubtype="0" fill="hold" nodeType="clickEffect">
                                  <p:stCondLst>
                                    <p:cond delay="0"/>
                                  </p:stCondLst>
                                  <p:childTnLst>
                                    <p:animClr clrSpc="rgb" dir="cw">
                                      <p:cBhvr override="childStyle">
                                        <p:cTn id="110" dur="500" fill="hold"/>
                                        <p:tgtEl>
                                          <p:spTgt spid="3">
                                            <p:txEl>
                                              <p:pRg st="3" end="3"/>
                                            </p:txEl>
                                          </p:spTgt>
                                        </p:tgtEl>
                                        <p:attrNameLst>
                                          <p:attrName>style.color</p:attrName>
                                        </p:attrNameLst>
                                      </p:cBhvr>
                                      <p:to>
                                        <a:srgbClr val="00B050"/>
                                      </p:to>
                                    </p:animClr>
                                    <p:animClr clrSpc="rgb" dir="cw">
                                      <p:cBhvr>
                                        <p:cTn id="111" dur="500" fill="hold"/>
                                        <p:tgtEl>
                                          <p:spTgt spid="3">
                                            <p:txEl>
                                              <p:pRg st="3" end="3"/>
                                            </p:txEl>
                                          </p:spTgt>
                                        </p:tgtEl>
                                        <p:attrNameLst>
                                          <p:attrName>fillcolor</p:attrName>
                                        </p:attrNameLst>
                                      </p:cBhvr>
                                      <p:to>
                                        <a:srgbClr val="00B050"/>
                                      </p:to>
                                    </p:animClr>
                                    <p:set>
                                      <p:cBhvr>
                                        <p:cTn id="112" dur="500" fill="hold"/>
                                        <p:tgtEl>
                                          <p:spTgt spid="3">
                                            <p:txEl>
                                              <p:pRg st="3" end="3"/>
                                            </p:txEl>
                                          </p:spTgt>
                                        </p:tgtEl>
                                        <p:attrNameLst>
                                          <p:attrName>fill.type</p:attrName>
                                        </p:attrNameLst>
                                      </p:cBhvr>
                                      <p:to>
                                        <p:strVal val="solid"/>
                                      </p:to>
                                    </p:set>
                                    <p:set>
                                      <p:cBhvr>
                                        <p:cTn id="113" dur="500" fill="hold"/>
                                        <p:tgtEl>
                                          <p:spTgt spid="3">
                                            <p:txEl>
                                              <p:pRg st="3" end="3"/>
                                            </p:txEl>
                                          </p:spTgt>
                                        </p:tgtEl>
                                        <p:attrNameLst>
                                          <p:attrName>fill.on</p:attrName>
                                        </p:attrNameLst>
                                      </p:cBhvr>
                                      <p:to>
                                        <p:strVal val="true"/>
                                      </p:to>
                                    </p:set>
                                  </p:childTnLst>
                                </p:cTn>
                              </p:par>
                            </p:childTnLst>
                          </p:cTn>
                        </p:par>
                      </p:childTnLst>
                    </p:cTn>
                  </p:par>
                  <p:par>
                    <p:cTn id="114" fill="hold">
                      <p:stCondLst>
                        <p:cond delay="indefinite"/>
                      </p:stCondLst>
                      <p:childTnLst>
                        <p:par>
                          <p:cTn id="115" fill="hold">
                            <p:stCondLst>
                              <p:cond delay="0"/>
                            </p:stCondLst>
                            <p:childTnLst>
                              <p:par>
                                <p:cTn id="116" presetID="21" presetClass="entr" presetSubtype="1" fill="hold" grpId="0" nodeType="click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wheel(1)">
                                      <p:cBhvr>
                                        <p:cTn id="118" dur="2000"/>
                                        <p:tgtEl>
                                          <p:spTgt spid="27"/>
                                        </p:tgtEl>
                                      </p:cBhvr>
                                    </p:animEffect>
                                  </p:childTnLst>
                                </p:cTn>
                              </p:par>
                            </p:childTnLst>
                          </p:cTn>
                        </p:par>
                      </p:childTnLst>
                    </p:cTn>
                  </p:par>
                  <p:par>
                    <p:cTn id="119" fill="hold">
                      <p:stCondLst>
                        <p:cond delay="indefinite"/>
                      </p:stCondLst>
                      <p:childTnLst>
                        <p:par>
                          <p:cTn id="120" fill="hold">
                            <p:stCondLst>
                              <p:cond delay="0"/>
                            </p:stCondLst>
                            <p:childTnLst>
                              <p:par>
                                <p:cTn id="121" presetID="21" presetClass="entr" presetSubtype="1" fill="hold" grpId="0" nodeType="clickEffect">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wheel(1)">
                                      <p:cBhvr>
                                        <p:cTn id="123" dur="2000"/>
                                        <p:tgtEl>
                                          <p:spTgt spid="28"/>
                                        </p:tgtEl>
                                      </p:cBhvr>
                                    </p:animEffect>
                                  </p:childTnLst>
                                </p:cTn>
                              </p:par>
                            </p:childTnLst>
                          </p:cTn>
                        </p:par>
                      </p:childTnLst>
                    </p:cTn>
                  </p:par>
                  <p:par>
                    <p:cTn id="124" fill="hold">
                      <p:stCondLst>
                        <p:cond delay="indefinite"/>
                      </p:stCondLst>
                      <p:childTnLst>
                        <p:par>
                          <p:cTn id="125" fill="hold">
                            <p:stCondLst>
                              <p:cond delay="0"/>
                            </p:stCondLst>
                            <p:childTnLst>
                              <p:par>
                                <p:cTn id="126" presetID="21" presetClass="entr" presetSubtype="1" fill="hold" grpId="0" nodeType="clickEffect">
                                  <p:stCondLst>
                                    <p:cond delay="0"/>
                                  </p:stCondLst>
                                  <p:childTnLst>
                                    <p:set>
                                      <p:cBhvr>
                                        <p:cTn id="127" dur="1" fill="hold">
                                          <p:stCondLst>
                                            <p:cond delay="0"/>
                                          </p:stCondLst>
                                        </p:cTn>
                                        <p:tgtEl>
                                          <p:spTgt spid="32"/>
                                        </p:tgtEl>
                                        <p:attrNameLst>
                                          <p:attrName>style.visibility</p:attrName>
                                        </p:attrNameLst>
                                      </p:cBhvr>
                                      <p:to>
                                        <p:strVal val="visible"/>
                                      </p:to>
                                    </p:set>
                                    <p:animEffect transition="in" filter="wheel(1)">
                                      <p:cBhvr>
                                        <p:cTn id="128" dur="2000"/>
                                        <p:tgtEl>
                                          <p:spTgt spid="32"/>
                                        </p:tgtEl>
                                      </p:cBhvr>
                                    </p:animEffect>
                                  </p:childTnLst>
                                </p:cTn>
                              </p:par>
                            </p:childTnLst>
                          </p:cTn>
                        </p:par>
                      </p:childTnLst>
                    </p:cTn>
                  </p:par>
                  <p:par>
                    <p:cTn id="129" fill="hold">
                      <p:stCondLst>
                        <p:cond delay="indefinite"/>
                      </p:stCondLst>
                      <p:childTnLst>
                        <p:par>
                          <p:cTn id="130" fill="hold">
                            <p:stCondLst>
                              <p:cond delay="0"/>
                            </p:stCondLst>
                            <p:childTnLst>
                              <p:par>
                                <p:cTn id="131" presetID="21" presetClass="entr" presetSubtype="1" fill="hold" grpId="0" nodeType="clickEffect">
                                  <p:stCondLst>
                                    <p:cond delay="0"/>
                                  </p:stCondLst>
                                  <p:childTnLst>
                                    <p:set>
                                      <p:cBhvr>
                                        <p:cTn id="132" dur="1" fill="hold">
                                          <p:stCondLst>
                                            <p:cond delay="0"/>
                                          </p:stCondLst>
                                        </p:cTn>
                                        <p:tgtEl>
                                          <p:spTgt spid="30"/>
                                        </p:tgtEl>
                                        <p:attrNameLst>
                                          <p:attrName>style.visibility</p:attrName>
                                        </p:attrNameLst>
                                      </p:cBhvr>
                                      <p:to>
                                        <p:strVal val="visible"/>
                                      </p:to>
                                    </p:set>
                                    <p:animEffect transition="in" filter="wheel(1)">
                                      <p:cBhvr>
                                        <p:cTn id="133" dur="2000"/>
                                        <p:tgtEl>
                                          <p:spTgt spid="30"/>
                                        </p:tgtEl>
                                      </p:cBhvr>
                                    </p:animEffect>
                                  </p:childTnLst>
                                </p:cTn>
                              </p:par>
                            </p:childTnLst>
                          </p:cTn>
                        </p:par>
                      </p:childTnLst>
                    </p:cTn>
                  </p:par>
                  <p:par>
                    <p:cTn id="134" fill="hold">
                      <p:stCondLst>
                        <p:cond delay="indefinite"/>
                      </p:stCondLst>
                      <p:childTnLst>
                        <p:par>
                          <p:cTn id="135" fill="hold">
                            <p:stCondLst>
                              <p:cond delay="0"/>
                            </p:stCondLst>
                            <p:childTnLst>
                              <p:par>
                                <p:cTn id="136" presetID="21" presetClass="entr" presetSubtype="1" fill="hold" grpId="0" nodeType="clickEffect">
                                  <p:stCondLst>
                                    <p:cond delay="0"/>
                                  </p:stCondLst>
                                  <p:childTnLst>
                                    <p:set>
                                      <p:cBhvr>
                                        <p:cTn id="137" dur="1" fill="hold">
                                          <p:stCondLst>
                                            <p:cond delay="0"/>
                                          </p:stCondLst>
                                        </p:cTn>
                                        <p:tgtEl>
                                          <p:spTgt spid="31"/>
                                        </p:tgtEl>
                                        <p:attrNameLst>
                                          <p:attrName>style.visibility</p:attrName>
                                        </p:attrNameLst>
                                      </p:cBhvr>
                                      <p:to>
                                        <p:strVal val="visible"/>
                                      </p:to>
                                    </p:set>
                                    <p:animEffect transition="in" filter="wheel(1)">
                                      <p:cBhvr>
                                        <p:cTn id="138"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1"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6219A-1849-46BD-B3D0-1A24BC887E31}"/>
              </a:ext>
            </a:extLst>
          </p:cNvPr>
          <p:cNvSpPr>
            <a:spLocks noGrp="1"/>
          </p:cNvSpPr>
          <p:nvPr>
            <p:ph type="title"/>
          </p:nvPr>
        </p:nvSpPr>
        <p:spPr>
          <a:xfrm>
            <a:off x="1064029" y="215075"/>
            <a:ext cx="12876415" cy="1108018"/>
          </a:xfrm>
        </p:spPr>
        <p:txBody>
          <a:bodyPr>
            <a:normAutofit/>
          </a:bodyPr>
          <a:lstStyle/>
          <a:p>
            <a:r>
              <a:rPr lang="en-US" sz="5400" b="1" dirty="0">
                <a:solidFill>
                  <a:srgbClr val="0070C0"/>
                </a:solidFill>
              </a:rPr>
              <a:t>Processor Unit with 2-Port Memory</a:t>
            </a:r>
          </a:p>
        </p:txBody>
      </p:sp>
      <p:sp>
        <p:nvSpPr>
          <p:cNvPr id="3" name="Content Placeholder 2">
            <a:extLst>
              <a:ext uri="{FF2B5EF4-FFF2-40B4-BE49-F238E27FC236}">
                <a16:creationId xmlns:a16="http://schemas.microsoft.com/office/drawing/2014/main" id="{B495A474-F936-45CA-AA76-EDB38BAD7554}"/>
              </a:ext>
            </a:extLst>
          </p:cNvPr>
          <p:cNvSpPr>
            <a:spLocks noGrp="1"/>
          </p:cNvSpPr>
          <p:nvPr>
            <p:ph idx="1"/>
          </p:nvPr>
        </p:nvSpPr>
        <p:spPr>
          <a:xfrm>
            <a:off x="266006" y="1935707"/>
            <a:ext cx="9343507" cy="5595623"/>
          </a:xfrm>
        </p:spPr>
        <p:txBody>
          <a:bodyPr>
            <a:normAutofit/>
          </a:bodyPr>
          <a:lstStyle/>
          <a:p>
            <a:r>
              <a:rPr lang="en-US" sz="4320" dirty="0"/>
              <a:t>Some processors employ a </a:t>
            </a:r>
            <a:r>
              <a:rPr lang="en-US" sz="4320" dirty="0">
                <a:solidFill>
                  <a:srgbClr val="FF0000"/>
                </a:solidFill>
              </a:rPr>
              <a:t>2-port memory to overcome the delay </a:t>
            </a:r>
            <a:r>
              <a:rPr lang="en-US" sz="4320" dirty="0"/>
              <a:t>caused when reading two source registers.</a:t>
            </a:r>
          </a:p>
          <a:p>
            <a:r>
              <a:rPr lang="en-US" sz="4320" dirty="0"/>
              <a:t>If the destination register is the same as one of the source registers, then the entire micro-operations can be done within </a:t>
            </a:r>
            <a:r>
              <a:rPr lang="en-US" sz="4320" dirty="0">
                <a:solidFill>
                  <a:srgbClr val="FF0000"/>
                </a:solidFill>
              </a:rPr>
              <a:t>one clock pulse period</a:t>
            </a:r>
            <a:r>
              <a:rPr lang="en-US" sz="4320" dirty="0"/>
              <a:t>.</a:t>
            </a:r>
          </a:p>
        </p:txBody>
      </p:sp>
      <p:pic>
        <p:nvPicPr>
          <p:cNvPr id="5" name="Picture 4">
            <a:extLst>
              <a:ext uri="{FF2B5EF4-FFF2-40B4-BE49-F238E27FC236}">
                <a16:creationId xmlns:a16="http://schemas.microsoft.com/office/drawing/2014/main" id="{3C442431-051A-4507-9A20-6FEE089A6D31}"/>
              </a:ext>
            </a:extLst>
          </p:cNvPr>
          <p:cNvPicPr>
            <a:picLocks noChangeAspect="1"/>
          </p:cNvPicPr>
          <p:nvPr/>
        </p:nvPicPr>
        <p:blipFill rotWithShape="1">
          <a:blip r:embed="rId3"/>
          <a:srcRect l="2340"/>
          <a:stretch/>
        </p:blipFill>
        <p:spPr>
          <a:xfrm>
            <a:off x="9219314" y="1000707"/>
            <a:ext cx="6924538" cy="6306312"/>
          </a:xfrm>
          <a:prstGeom prst="rect">
            <a:avLst/>
          </a:prstGeom>
        </p:spPr>
      </p:pic>
      <p:sp>
        <p:nvSpPr>
          <p:cNvPr id="6" name="TextBox 5">
            <a:extLst>
              <a:ext uri="{FF2B5EF4-FFF2-40B4-BE49-F238E27FC236}">
                <a16:creationId xmlns:a16="http://schemas.microsoft.com/office/drawing/2014/main" id="{271182CE-DE32-4256-8FF7-C1C40EDDAE7C}"/>
              </a:ext>
            </a:extLst>
          </p:cNvPr>
          <p:cNvSpPr txBox="1"/>
          <p:nvPr/>
        </p:nvSpPr>
        <p:spPr>
          <a:xfrm>
            <a:off x="9538389" y="7376786"/>
            <a:ext cx="6687215" cy="523220"/>
          </a:xfrm>
          <a:prstGeom prst="rect">
            <a:avLst/>
          </a:prstGeom>
          <a:noFill/>
        </p:spPr>
        <p:txBody>
          <a:bodyPr wrap="none" rtlCol="0">
            <a:spAutoFit/>
          </a:bodyPr>
          <a:lstStyle/>
          <a:p>
            <a:r>
              <a:rPr lang="en-US" sz="2800" dirty="0"/>
              <a:t>Fig. 9.3 Processor unit with a 2-port memory</a:t>
            </a:r>
          </a:p>
        </p:txBody>
      </p:sp>
      <p:sp>
        <p:nvSpPr>
          <p:cNvPr id="4" name="Date Placeholder 3"/>
          <p:cNvSpPr>
            <a:spLocks noGrp="1"/>
          </p:cNvSpPr>
          <p:nvPr>
            <p:ph type="dt" sz="half" idx="10"/>
          </p:nvPr>
        </p:nvSpPr>
        <p:spPr/>
        <p:txBody>
          <a:bodyPr/>
          <a:lstStyle/>
          <a:p>
            <a:fld id="{2B6FB33D-44AC-4342-91E3-88971D2E3D43}" type="datetime3">
              <a:rPr lang="en-US" smtClean="0"/>
              <a:t>24 December 2025</a:t>
            </a:fld>
            <a:endParaRPr lang="en-US"/>
          </a:p>
        </p:txBody>
      </p:sp>
      <p:sp>
        <p:nvSpPr>
          <p:cNvPr id="8" name="Slide Number Placeholder 7"/>
          <p:cNvSpPr>
            <a:spLocks noGrp="1"/>
          </p:cNvSpPr>
          <p:nvPr>
            <p:ph type="sldNum" sz="quarter" idx="12"/>
          </p:nvPr>
        </p:nvSpPr>
        <p:spPr/>
        <p:txBody>
          <a:bodyPr/>
          <a:lstStyle/>
          <a:p>
            <a:fld id="{48F63A3B-78C7-47BE-AE5E-E10140E04643}" type="slidenum">
              <a:rPr lang="en-US" smtClean="0"/>
              <a:t>10</a:t>
            </a:fld>
            <a:endParaRPr lang="en-US" dirty="0"/>
          </a:p>
        </p:txBody>
      </p:sp>
    </p:spTree>
    <p:extLst>
      <p:ext uri="{BB962C8B-B14F-4D97-AF65-F5344CB8AC3E}">
        <p14:creationId xmlns:p14="http://schemas.microsoft.com/office/powerpoint/2010/main" val="2569524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4BF74-E184-483D-83B4-0BC781E5056A}"/>
              </a:ext>
            </a:extLst>
          </p:cNvPr>
          <p:cNvSpPr>
            <a:spLocks noGrp="1"/>
          </p:cNvSpPr>
          <p:nvPr>
            <p:ph type="title"/>
          </p:nvPr>
        </p:nvSpPr>
        <p:spPr>
          <a:xfrm>
            <a:off x="1155469" y="321772"/>
            <a:ext cx="12618720" cy="1124643"/>
          </a:xfrm>
        </p:spPr>
        <p:txBody>
          <a:bodyPr>
            <a:normAutofit/>
          </a:bodyPr>
          <a:lstStyle/>
          <a:p>
            <a:r>
              <a:rPr lang="en-US" sz="5400" b="1" dirty="0">
                <a:solidFill>
                  <a:srgbClr val="0070C0"/>
                </a:solidFill>
              </a:rPr>
              <a:t>Processor Unit with 2-Port Memory</a:t>
            </a:r>
          </a:p>
        </p:txBody>
      </p:sp>
      <p:sp>
        <p:nvSpPr>
          <p:cNvPr id="3" name="Content Placeholder 2">
            <a:extLst>
              <a:ext uri="{FF2B5EF4-FFF2-40B4-BE49-F238E27FC236}">
                <a16:creationId xmlns:a16="http://schemas.microsoft.com/office/drawing/2014/main" id="{5E60D5E6-8840-44F7-895A-3408DF39EAAB}"/>
              </a:ext>
            </a:extLst>
          </p:cNvPr>
          <p:cNvSpPr>
            <a:spLocks noGrp="1"/>
          </p:cNvSpPr>
          <p:nvPr>
            <p:ph idx="1"/>
          </p:nvPr>
        </p:nvSpPr>
        <p:spPr>
          <a:xfrm>
            <a:off x="224442" y="1363290"/>
            <a:ext cx="9567950" cy="6633556"/>
          </a:xfrm>
        </p:spPr>
        <p:txBody>
          <a:bodyPr>
            <a:noAutofit/>
          </a:bodyPr>
          <a:lstStyle/>
          <a:p>
            <a:pPr algn="just"/>
            <a:r>
              <a:rPr lang="en-US" sz="3600" dirty="0">
                <a:solidFill>
                  <a:srgbClr val="FF0000"/>
                </a:solidFill>
              </a:rPr>
              <a:t>When CP = 1</a:t>
            </a:r>
            <a:r>
              <a:rPr lang="en-US" sz="3600" dirty="0"/>
              <a:t>, </a:t>
            </a:r>
            <a:r>
              <a:rPr lang="en-US" sz="3600" b="1" dirty="0">
                <a:solidFill>
                  <a:srgbClr val="7030A0"/>
                </a:solidFill>
              </a:rPr>
              <a:t>A and B latches </a:t>
            </a:r>
            <a:r>
              <a:rPr lang="en-US" sz="3600" dirty="0">
                <a:solidFill>
                  <a:srgbClr val="7030A0"/>
                </a:solidFill>
              </a:rPr>
              <a:t>are open </a:t>
            </a:r>
            <a:r>
              <a:rPr lang="en-US" sz="3600" dirty="0"/>
              <a:t>and accept information coming from memory. The WE is also in a HIGH state and disables write operation and enables read operation. Thus, when CP = 1, words selected by A and B addresses are read from memory and placed in A and B registers.</a:t>
            </a:r>
          </a:p>
          <a:p>
            <a:pPr algn="just"/>
            <a:r>
              <a:rPr lang="en-US" sz="3600" dirty="0">
                <a:solidFill>
                  <a:srgbClr val="0070C0"/>
                </a:solidFill>
              </a:rPr>
              <a:t>When CP = 0, </a:t>
            </a:r>
            <a:r>
              <a:rPr lang="en-US" sz="3600" dirty="0">
                <a:solidFill>
                  <a:srgbClr val="002060"/>
                </a:solidFill>
              </a:rPr>
              <a:t>the latches are closed and retain the last data entered. </a:t>
            </a:r>
            <a:r>
              <a:rPr lang="en-US" sz="3600" dirty="0"/>
              <a:t>ALU operation is performed and if a write is enabled since CP = 0, and ME input is enabled, the result of the micro-operation is written into memory word defined by A address.</a:t>
            </a:r>
          </a:p>
        </p:txBody>
      </p:sp>
      <p:pic>
        <p:nvPicPr>
          <p:cNvPr id="4" name="Picture 3">
            <a:extLst>
              <a:ext uri="{FF2B5EF4-FFF2-40B4-BE49-F238E27FC236}">
                <a16:creationId xmlns:a16="http://schemas.microsoft.com/office/drawing/2014/main" id="{67068CD3-EFAD-41F4-9EED-AA32414BF1E1}"/>
              </a:ext>
            </a:extLst>
          </p:cNvPr>
          <p:cNvPicPr>
            <a:picLocks noChangeAspect="1"/>
          </p:cNvPicPr>
          <p:nvPr/>
        </p:nvPicPr>
        <p:blipFill rotWithShape="1">
          <a:blip r:embed="rId2"/>
          <a:srcRect l="1997"/>
          <a:stretch/>
        </p:blipFill>
        <p:spPr>
          <a:xfrm>
            <a:off x="9958646" y="1403486"/>
            <a:ext cx="6367547" cy="5778705"/>
          </a:xfrm>
          <a:prstGeom prst="rect">
            <a:avLst/>
          </a:prstGeom>
        </p:spPr>
      </p:pic>
      <p:sp>
        <p:nvSpPr>
          <p:cNvPr id="5" name="Date Placeholder 4"/>
          <p:cNvSpPr>
            <a:spLocks noGrp="1"/>
          </p:cNvSpPr>
          <p:nvPr>
            <p:ph type="dt" sz="half" idx="10"/>
          </p:nvPr>
        </p:nvSpPr>
        <p:spPr/>
        <p:txBody>
          <a:bodyPr/>
          <a:lstStyle/>
          <a:p>
            <a:fld id="{5AC76B70-8FFD-48C3-8423-9418BC2D3E43}" type="datetime3">
              <a:rPr lang="en-US" smtClean="0"/>
              <a:t>24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11</a:t>
            </a:fld>
            <a:endParaRPr lang="en-US" dirty="0"/>
          </a:p>
        </p:txBody>
      </p:sp>
      <p:sp>
        <p:nvSpPr>
          <p:cNvPr id="8" name="TextBox 7">
            <a:extLst>
              <a:ext uri="{FF2B5EF4-FFF2-40B4-BE49-F238E27FC236}">
                <a16:creationId xmlns:a16="http://schemas.microsoft.com/office/drawing/2014/main" id="{271182CE-DE32-4256-8FF7-C1C40EDDAE7C}"/>
              </a:ext>
            </a:extLst>
          </p:cNvPr>
          <p:cNvSpPr txBox="1"/>
          <p:nvPr/>
        </p:nvSpPr>
        <p:spPr>
          <a:xfrm>
            <a:off x="9604889" y="7376786"/>
            <a:ext cx="6687215" cy="523220"/>
          </a:xfrm>
          <a:prstGeom prst="rect">
            <a:avLst/>
          </a:prstGeom>
          <a:noFill/>
        </p:spPr>
        <p:txBody>
          <a:bodyPr wrap="none" rtlCol="0">
            <a:spAutoFit/>
          </a:bodyPr>
          <a:lstStyle/>
          <a:p>
            <a:r>
              <a:rPr lang="en-US" sz="2800" dirty="0"/>
              <a:t>Fig. 9.3 Processor unit with a 2-port memory</a:t>
            </a:r>
          </a:p>
        </p:txBody>
      </p:sp>
      <p:sp>
        <p:nvSpPr>
          <p:cNvPr id="9" name="TextBox 8">
            <a:extLst>
              <a:ext uri="{FF2B5EF4-FFF2-40B4-BE49-F238E27FC236}">
                <a16:creationId xmlns:a16="http://schemas.microsoft.com/office/drawing/2014/main" id="{D0350527-D8D5-A50C-F71D-ED2B9EF9B329}"/>
              </a:ext>
            </a:extLst>
          </p:cNvPr>
          <p:cNvSpPr txBox="1"/>
          <p:nvPr/>
        </p:nvSpPr>
        <p:spPr>
          <a:xfrm>
            <a:off x="10270969" y="5120638"/>
            <a:ext cx="767145" cy="584775"/>
          </a:xfrm>
          <a:prstGeom prst="rect">
            <a:avLst/>
          </a:prstGeom>
          <a:noFill/>
        </p:spPr>
        <p:txBody>
          <a:bodyPr wrap="square" rtlCol="0">
            <a:spAutoFit/>
          </a:bodyPr>
          <a:lstStyle/>
          <a:p>
            <a:r>
              <a:rPr lang="en-US" sz="3200" dirty="0">
                <a:solidFill>
                  <a:srgbClr val="FF0000"/>
                </a:solidFill>
              </a:rPr>
              <a:t>=1</a:t>
            </a:r>
          </a:p>
        </p:txBody>
      </p:sp>
      <p:sp>
        <p:nvSpPr>
          <p:cNvPr id="10" name="TextBox 9">
            <a:extLst>
              <a:ext uri="{FF2B5EF4-FFF2-40B4-BE49-F238E27FC236}">
                <a16:creationId xmlns:a16="http://schemas.microsoft.com/office/drawing/2014/main" id="{C31A0BEE-8949-9F24-ABBA-CA2583536E50}"/>
              </a:ext>
            </a:extLst>
          </p:cNvPr>
          <p:cNvSpPr txBox="1"/>
          <p:nvPr/>
        </p:nvSpPr>
        <p:spPr>
          <a:xfrm>
            <a:off x="14994135" y="2791094"/>
            <a:ext cx="767145" cy="584775"/>
          </a:xfrm>
          <a:prstGeom prst="rect">
            <a:avLst/>
          </a:prstGeom>
          <a:noFill/>
        </p:spPr>
        <p:txBody>
          <a:bodyPr wrap="square" rtlCol="0">
            <a:spAutoFit/>
          </a:bodyPr>
          <a:lstStyle/>
          <a:p>
            <a:r>
              <a:rPr lang="en-US" sz="3200" dirty="0">
                <a:solidFill>
                  <a:srgbClr val="FF0000"/>
                </a:solidFill>
              </a:rPr>
              <a:t>1</a:t>
            </a:r>
          </a:p>
        </p:txBody>
      </p:sp>
      <p:sp>
        <p:nvSpPr>
          <p:cNvPr id="11" name="Rectangle 10">
            <a:extLst>
              <a:ext uri="{FF2B5EF4-FFF2-40B4-BE49-F238E27FC236}">
                <a16:creationId xmlns:a16="http://schemas.microsoft.com/office/drawing/2014/main" id="{668ECCCC-EB61-99A1-DCF8-93975C2B1895}"/>
              </a:ext>
            </a:extLst>
          </p:cNvPr>
          <p:cNvSpPr/>
          <p:nvPr/>
        </p:nvSpPr>
        <p:spPr>
          <a:xfrm>
            <a:off x="12488092" y="6008914"/>
            <a:ext cx="1972492" cy="56170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C0EF1A2D-FF33-AF06-92EA-1B0CD5A09621}"/>
              </a:ext>
            </a:extLst>
          </p:cNvPr>
          <p:cNvCxnSpPr>
            <a:cxnSpLocks/>
            <a:stCxn id="14" idx="1"/>
          </p:cNvCxnSpPr>
          <p:nvPr/>
        </p:nvCxnSpPr>
        <p:spPr>
          <a:xfrm flipH="1">
            <a:off x="12709378" y="2903649"/>
            <a:ext cx="330256" cy="2084605"/>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45969CD5-9A68-DF71-C0A7-6B59095259F5}"/>
              </a:ext>
            </a:extLst>
          </p:cNvPr>
          <p:cNvCxnSpPr>
            <a:cxnSpLocks/>
          </p:cNvCxnSpPr>
          <p:nvPr/>
        </p:nvCxnSpPr>
        <p:spPr>
          <a:xfrm>
            <a:off x="13785707" y="3272346"/>
            <a:ext cx="450836" cy="1715908"/>
          </a:xfrm>
          <a:prstGeom prst="straightConnector1">
            <a:avLst/>
          </a:prstGeom>
          <a:ln w="28575">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3E1CCDBA-5232-822B-5A1A-F663D61D257E}"/>
              </a:ext>
            </a:extLst>
          </p:cNvPr>
          <p:cNvSpPr/>
          <p:nvPr/>
        </p:nvSpPr>
        <p:spPr>
          <a:xfrm>
            <a:off x="13039634" y="2759132"/>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0010</a:t>
            </a:r>
          </a:p>
        </p:txBody>
      </p:sp>
      <p:sp>
        <p:nvSpPr>
          <p:cNvPr id="15" name="Rectangle 14">
            <a:extLst>
              <a:ext uri="{FF2B5EF4-FFF2-40B4-BE49-F238E27FC236}">
                <a16:creationId xmlns:a16="http://schemas.microsoft.com/office/drawing/2014/main" id="{A5ED8CCC-7307-3FAE-C5B5-8BC84BDA8F19}"/>
              </a:ext>
            </a:extLst>
          </p:cNvPr>
          <p:cNvSpPr/>
          <p:nvPr/>
        </p:nvSpPr>
        <p:spPr>
          <a:xfrm>
            <a:off x="13071436" y="3127829"/>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0100</a:t>
            </a:r>
          </a:p>
        </p:txBody>
      </p:sp>
      <p:sp>
        <p:nvSpPr>
          <p:cNvPr id="16" name="Rectangle 15">
            <a:extLst>
              <a:ext uri="{FF2B5EF4-FFF2-40B4-BE49-F238E27FC236}">
                <a16:creationId xmlns:a16="http://schemas.microsoft.com/office/drawing/2014/main" id="{8FFD6C7C-0E3B-31E5-9075-5A53CE7E724D}"/>
              </a:ext>
            </a:extLst>
          </p:cNvPr>
          <p:cNvSpPr/>
          <p:nvPr/>
        </p:nvSpPr>
        <p:spPr>
          <a:xfrm>
            <a:off x="10345179" y="2383622"/>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10</a:t>
            </a:r>
          </a:p>
        </p:txBody>
      </p:sp>
      <p:sp>
        <p:nvSpPr>
          <p:cNvPr id="17" name="Rectangle 16">
            <a:extLst>
              <a:ext uri="{FF2B5EF4-FFF2-40B4-BE49-F238E27FC236}">
                <a16:creationId xmlns:a16="http://schemas.microsoft.com/office/drawing/2014/main" id="{83C8A7AD-70E6-C5AB-83F6-684B155296B4}"/>
              </a:ext>
            </a:extLst>
          </p:cNvPr>
          <p:cNvSpPr/>
          <p:nvPr/>
        </p:nvSpPr>
        <p:spPr>
          <a:xfrm>
            <a:off x="15368155" y="2636774"/>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11</a:t>
            </a:r>
          </a:p>
        </p:txBody>
      </p:sp>
      <p:sp>
        <p:nvSpPr>
          <p:cNvPr id="19" name="Rectangle 18">
            <a:extLst>
              <a:ext uri="{FF2B5EF4-FFF2-40B4-BE49-F238E27FC236}">
                <a16:creationId xmlns:a16="http://schemas.microsoft.com/office/drawing/2014/main" id="{5EFEB165-8A0B-BB64-35DF-E1F3053333DC}"/>
              </a:ext>
            </a:extLst>
          </p:cNvPr>
          <p:cNvSpPr/>
          <p:nvPr/>
        </p:nvSpPr>
        <p:spPr>
          <a:xfrm>
            <a:off x="11684539" y="4367743"/>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0010</a:t>
            </a:r>
          </a:p>
        </p:txBody>
      </p:sp>
      <p:sp>
        <p:nvSpPr>
          <p:cNvPr id="20" name="Rectangle 19">
            <a:extLst>
              <a:ext uri="{FF2B5EF4-FFF2-40B4-BE49-F238E27FC236}">
                <a16:creationId xmlns:a16="http://schemas.microsoft.com/office/drawing/2014/main" id="{F1F9C076-9EE3-3B0A-9CB8-C0553BFAA841}"/>
              </a:ext>
            </a:extLst>
          </p:cNvPr>
          <p:cNvSpPr/>
          <p:nvPr/>
        </p:nvSpPr>
        <p:spPr>
          <a:xfrm>
            <a:off x="14378728" y="4314115"/>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0100</a:t>
            </a:r>
          </a:p>
        </p:txBody>
      </p:sp>
      <p:sp>
        <p:nvSpPr>
          <p:cNvPr id="22" name="Rectangle 21">
            <a:extLst>
              <a:ext uri="{FF2B5EF4-FFF2-40B4-BE49-F238E27FC236}">
                <a16:creationId xmlns:a16="http://schemas.microsoft.com/office/drawing/2014/main" id="{BF31B03C-B921-C235-CF91-710525531AC1}"/>
              </a:ext>
            </a:extLst>
          </p:cNvPr>
          <p:cNvSpPr/>
          <p:nvPr/>
        </p:nvSpPr>
        <p:spPr>
          <a:xfrm>
            <a:off x="11678732" y="5565549"/>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0010</a:t>
            </a:r>
          </a:p>
        </p:txBody>
      </p:sp>
      <p:sp>
        <p:nvSpPr>
          <p:cNvPr id="23" name="Rectangle 22">
            <a:extLst>
              <a:ext uri="{FF2B5EF4-FFF2-40B4-BE49-F238E27FC236}">
                <a16:creationId xmlns:a16="http://schemas.microsoft.com/office/drawing/2014/main" id="{32CBD2BF-977D-CA2D-BF61-001D8F43F4B3}"/>
              </a:ext>
            </a:extLst>
          </p:cNvPr>
          <p:cNvSpPr/>
          <p:nvPr/>
        </p:nvSpPr>
        <p:spPr>
          <a:xfrm>
            <a:off x="14407573" y="5509353"/>
            <a:ext cx="902640" cy="28903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0100</a:t>
            </a:r>
          </a:p>
        </p:txBody>
      </p:sp>
      <p:sp>
        <p:nvSpPr>
          <p:cNvPr id="24" name="Rectangle 23">
            <a:extLst>
              <a:ext uri="{FF2B5EF4-FFF2-40B4-BE49-F238E27FC236}">
                <a16:creationId xmlns:a16="http://schemas.microsoft.com/office/drawing/2014/main" id="{CE2C8759-6091-4DF6-DE7D-CFF465A51FF4}"/>
              </a:ext>
            </a:extLst>
          </p:cNvPr>
          <p:cNvSpPr/>
          <p:nvPr/>
        </p:nvSpPr>
        <p:spPr>
          <a:xfrm>
            <a:off x="13561348" y="6781144"/>
            <a:ext cx="899554" cy="288046"/>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2400" b="1" dirty="0">
                <a:solidFill>
                  <a:srgbClr val="FF0000"/>
                </a:solidFill>
              </a:rPr>
              <a:t>0110</a:t>
            </a:r>
          </a:p>
        </p:txBody>
      </p:sp>
      <p:sp>
        <p:nvSpPr>
          <p:cNvPr id="25" name="TextBox 24">
            <a:extLst>
              <a:ext uri="{FF2B5EF4-FFF2-40B4-BE49-F238E27FC236}">
                <a16:creationId xmlns:a16="http://schemas.microsoft.com/office/drawing/2014/main" id="{54E7C089-BDAB-BC83-47FA-9B8CB0E3C06A}"/>
              </a:ext>
            </a:extLst>
          </p:cNvPr>
          <p:cNvSpPr txBox="1"/>
          <p:nvPr/>
        </p:nvSpPr>
        <p:spPr>
          <a:xfrm>
            <a:off x="10270969" y="5489359"/>
            <a:ext cx="767145" cy="584775"/>
          </a:xfrm>
          <a:prstGeom prst="rect">
            <a:avLst/>
          </a:prstGeom>
          <a:noFill/>
        </p:spPr>
        <p:txBody>
          <a:bodyPr wrap="square" rtlCol="0">
            <a:spAutoFit/>
          </a:bodyPr>
          <a:lstStyle/>
          <a:p>
            <a:r>
              <a:rPr lang="en-US" sz="3200" dirty="0">
                <a:solidFill>
                  <a:srgbClr val="FF0000"/>
                </a:solidFill>
              </a:rPr>
              <a:t>=0</a:t>
            </a:r>
          </a:p>
        </p:txBody>
      </p:sp>
      <p:sp>
        <p:nvSpPr>
          <p:cNvPr id="26" name="Rectangle 25">
            <a:extLst>
              <a:ext uri="{FF2B5EF4-FFF2-40B4-BE49-F238E27FC236}">
                <a16:creationId xmlns:a16="http://schemas.microsoft.com/office/drawing/2014/main" id="{9C2ABAE2-6089-4389-F654-A1092B6F5C4D}"/>
              </a:ext>
            </a:extLst>
          </p:cNvPr>
          <p:cNvSpPr/>
          <p:nvPr/>
        </p:nvSpPr>
        <p:spPr>
          <a:xfrm>
            <a:off x="11113168" y="2383622"/>
            <a:ext cx="595356" cy="289014"/>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400" b="1" dirty="0">
                <a:solidFill>
                  <a:srgbClr val="FF0000"/>
                </a:solidFill>
              </a:rPr>
              <a:t>01</a:t>
            </a:r>
          </a:p>
        </p:txBody>
      </p:sp>
      <p:sp>
        <p:nvSpPr>
          <p:cNvPr id="27" name="Rectangle 26">
            <a:extLst>
              <a:ext uri="{FF2B5EF4-FFF2-40B4-BE49-F238E27FC236}">
                <a16:creationId xmlns:a16="http://schemas.microsoft.com/office/drawing/2014/main" id="{0933BAE2-8D7C-0BF0-0396-2C5C823A0C58}"/>
              </a:ext>
            </a:extLst>
          </p:cNvPr>
          <p:cNvSpPr/>
          <p:nvPr/>
        </p:nvSpPr>
        <p:spPr>
          <a:xfrm>
            <a:off x="13022218" y="2074252"/>
            <a:ext cx="899554" cy="288046"/>
          </a:xfrm>
          <a:prstGeom prst="rect">
            <a:avLst/>
          </a:prstGeom>
          <a:solidFill>
            <a:schemeClr val="bg1"/>
          </a:solid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2400" b="1" dirty="0">
                <a:solidFill>
                  <a:srgbClr val="FF0000"/>
                </a:solidFill>
              </a:rPr>
              <a:t>0110</a:t>
            </a:r>
          </a:p>
        </p:txBody>
      </p:sp>
    </p:spTree>
    <p:extLst>
      <p:ext uri="{BB962C8B-B14F-4D97-AF65-F5344CB8AC3E}">
        <p14:creationId xmlns:p14="http://schemas.microsoft.com/office/powerpoint/2010/main" val="40891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0" end="0"/>
                                            </p:txEl>
                                          </p:spTgt>
                                        </p:tgtEl>
                                        <p:attrNameLst>
                                          <p:attrName>style.color</p:attrName>
                                        </p:attrNameLst>
                                      </p:cBhvr>
                                      <p:to>
                                        <a:schemeClr val="accent2"/>
                                      </p:to>
                                    </p:animClr>
                                    <p:animClr clrSpc="rgb" dir="cw">
                                      <p:cBhvr>
                                        <p:cTn id="7" dur="500" fill="hold"/>
                                        <p:tgtEl>
                                          <p:spTgt spid="3">
                                            <p:txEl>
                                              <p:pRg st="0" end="0"/>
                                            </p:txEl>
                                          </p:spTgt>
                                        </p:tgtEl>
                                        <p:attrNameLst>
                                          <p:attrName>fillcolor</p:attrName>
                                        </p:attrNameLst>
                                      </p:cBhvr>
                                      <p:to>
                                        <a:schemeClr val="accent2"/>
                                      </p:to>
                                    </p:animClr>
                                    <p:set>
                                      <p:cBhvr>
                                        <p:cTn id="8" dur="500" fill="hold"/>
                                        <p:tgtEl>
                                          <p:spTgt spid="3">
                                            <p:txEl>
                                              <p:pRg st="0" end="0"/>
                                            </p:txEl>
                                          </p:spTgt>
                                        </p:tgtEl>
                                        <p:attrNameLst>
                                          <p:attrName>fill.type</p:attrName>
                                        </p:attrNameLst>
                                      </p:cBhvr>
                                      <p:to>
                                        <p:strVal val="solid"/>
                                      </p:to>
                                    </p:set>
                                    <p:set>
                                      <p:cBhvr>
                                        <p:cTn id="9" dur="500" fill="hold"/>
                                        <p:tgtEl>
                                          <p:spTgt spid="3">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heel(1)">
                                      <p:cBhvr>
                                        <p:cTn id="14" dur="20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heel(1)">
                                      <p:cBhvr>
                                        <p:cTn id="19" dur="20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heel(1)">
                                      <p:cBhvr>
                                        <p:cTn id="24" dur="20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heel(1)">
                                      <p:cBhvr>
                                        <p:cTn id="29" dur="20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1+#ppt_w/2"/>
                                          </p:val>
                                        </p:tav>
                                        <p:tav tm="100000">
                                          <p:val>
                                            <p:strVal val="#ppt_x"/>
                                          </p:val>
                                        </p:tav>
                                      </p:tavLst>
                                    </p:anim>
                                    <p:anim calcmode="lin" valueType="num">
                                      <p:cBhvr additive="base">
                                        <p:cTn id="35"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1+#ppt_w/2"/>
                                          </p:val>
                                        </p:tav>
                                        <p:tav tm="100000">
                                          <p:val>
                                            <p:strVal val="#ppt_x"/>
                                          </p:val>
                                        </p:tav>
                                      </p:tavLst>
                                    </p:anim>
                                    <p:anim calcmode="lin" valueType="num">
                                      <p:cBhvr additive="base">
                                        <p:cTn id="4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arn(inVertical)">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1" presetClass="entr" presetSubtype="1"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heel(1)">
                                      <p:cBhvr>
                                        <p:cTn id="51" dur="20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barn(inVertical)">
                                      <p:cBhvr>
                                        <p:cTn id="56"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21" presetClass="entr" presetSubtype="1"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heel(1)">
                                      <p:cBhvr>
                                        <p:cTn id="61" dur="20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heel(1)">
                                      <p:cBhvr>
                                        <p:cTn id="66" dur="20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21" presetClass="entr" presetSubtype="1"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wheel(1)">
                                      <p:cBhvr>
                                        <p:cTn id="71" dur="2000"/>
                                        <p:tgtEl>
                                          <p:spTgt spid="23"/>
                                        </p:tgtEl>
                                      </p:cBhvr>
                                    </p:animEffect>
                                  </p:childTnLst>
                                </p:cTn>
                              </p:par>
                            </p:childTnLst>
                          </p:cTn>
                        </p:par>
                      </p:childTnLst>
                    </p:cTn>
                  </p:par>
                  <p:par>
                    <p:cTn id="72" fill="hold">
                      <p:stCondLst>
                        <p:cond delay="indefinite"/>
                      </p:stCondLst>
                      <p:childTnLst>
                        <p:par>
                          <p:cTn id="73" fill="hold">
                            <p:stCondLst>
                              <p:cond delay="0"/>
                            </p:stCondLst>
                            <p:childTnLst>
                              <p:par>
                                <p:cTn id="74" presetID="21" presetClass="entr" presetSubtype="1"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heel(1)">
                                      <p:cBhvr>
                                        <p:cTn id="76" dur="2000"/>
                                        <p:tgtEl>
                                          <p:spTgt spid="11"/>
                                        </p:tgtEl>
                                      </p:cBhvr>
                                    </p:animEffect>
                                  </p:childTnLst>
                                </p:cTn>
                              </p:par>
                            </p:childTnLst>
                          </p:cTn>
                        </p:par>
                      </p:childTnLst>
                    </p:cTn>
                  </p:par>
                  <p:par>
                    <p:cTn id="77" fill="hold">
                      <p:stCondLst>
                        <p:cond delay="indefinite"/>
                      </p:stCondLst>
                      <p:childTnLst>
                        <p:par>
                          <p:cTn id="78" fill="hold">
                            <p:stCondLst>
                              <p:cond delay="0"/>
                            </p:stCondLst>
                            <p:childTnLst>
                              <p:par>
                                <p:cTn id="79" presetID="21" presetClass="entr" presetSubtype="1" fill="hold" grpId="0" nodeType="click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wheel(1)">
                                      <p:cBhvr>
                                        <p:cTn id="81" dur="2000"/>
                                        <p:tgtEl>
                                          <p:spTgt spid="2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3">
                                            <p:txEl>
                                              <p:pRg st="1" end="1"/>
                                            </p:txEl>
                                          </p:spTgt>
                                        </p:tgtEl>
                                        <p:attrNameLst>
                                          <p:attrName>style.visibility</p:attrName>
                                        </p:attrNameLst>
                                      </p:cBhvr>
                                      <p:to>
                                        <p:strVal val="visible"/>
                                      </p:to>
                                    </p:set>
                                    <p:animEffect transition="in" filter="wipe(down)">
                                      <p:cBhvr>
                                        <p:cTn id="86" dur="500"/>
                                        <p:tgtEl>
                                          <p:spTgt spid="3">
                                            <p:txEl>
                                              <p:pRg st="1" end="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500" fill="hold"/>
                                        <p:tgtEl>
                                          <p:spTgt spid="25"/>
                                        </p:tgtEl>
                                        <p:attrNameLst>
                                          <p:attrName>ppt_x</p:attrName>
                                        </p:attrNameLst>
                                      </p:cBhvr>
                                      <p:tavLst>
                                        <p:tav tm="0">
                                          <p:val>
                                            <p:strVal val="1+#ppt_w/2"/>
                                          </p:val>
                                        </p:tav>
                                        <p:tav tm="100000">
                                          <p:val>
                                            <p:strVal val="#ppt_x"/>
                                          </p:val>
                                        </p:tav>
                                      </p:tavLst>
                                    </p:anim>
                                    <p:anim calcmode="lin" valueType="num">
                                      <p:cBhvr additive="base">
                                        <p:cTn id="92"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1" presetClass="entr" presetSubtype="1"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wheel(1)">
                                      <p:cBhvr>
                                        <p:cTn id="97" dur="2000"/>
                                        <p:tgtEl>
                                          <p:spTgt spid="26"/>
                                        </p:tgtEl>
                                      </p:cBhvr>
                                    </p:animEffect>
                                  </p:childTnLst>
                                </p:cTn>
                              </p:par>
                            </p:childTnLst>
                          </p:cTn>
                        </p:par>
                      </p:childTnLst>
                    </p:cTn>
                  </p:par>
                  <p:par>
                    <p:cTn id="98" fill="hold">
                      <p:stCondLst>
                        <p:cond delay="indefinite"/>
                      </p:stCondLst>
                      <p:childTnLst>
                        <p:par>
                          <p:cTn id="99" fill="hold">
                            <p:stCondLst>
                              <p:cond delay="0"/>
                            </p:stCondLst>
                            <p:childTnLst>
                              <p:par>
                                <p:cTn id="100" presetID="21" presetClass="entr" presetSubtype="1" fill="hold" grpId="0" nodeType="click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wheel(1)">
                                      <p:cBhvr>
                                        <p:cTn id="102"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4" grpId="0" animBg="1"/>
      <p:bldP spid="15" grpId="0" animBg="1"/>
      <p:bldP spid="16" grpId="0" animBg="1"/>
      <p:bldP spid="17" grpId="0" animBg="1"/>
      <p:bldP spid="19" grpId="0" animBg="1"/>
      <p:bldP spid="20" grpId="0" animBg="1"/>
      <p:bldP spid="22" grpId="0" animBg="1"/>
      <p:bldP spid="23" grpId="0" animBg="1"/>
      <p:bldP spid="24" grpId="0" animBg="1"/>
      <p:bldP spid="25" grpId="0"/>
      <p:bldP spid="26" grpId="0" animBg="1"/>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EA15C-127B-4F34-B0D4-8A8BCE169222}"/>
              </a:ext>
            </a:extLst>
          </p:cNvPr>
          <p:cNvSpPr>
            <a:spLocks noGrp="1"/>
          </p:cNvSpPr>
          <p:nvPr>
            <p:ph type="title"/>
          </p:nvPr>
        </p:nvSpPr>
        <p:spPr>
          <a:xfrm>
            <a:off x="1055713" y="102180"/>
            <a:ext cx="12618720" cy="1145497"/>
          </a:xfrm>
        </p:spPr>
        <p:txBody>
          <a:bodyPr>
            <a:normAutofit/>
          </a:bodyPr>
          <a:lstStyle/>
          <a:p>
            <a:r>
              <a:rPr lang="en-US" sz="5400" b="1" dirty="0">
                <a:solidFill>
                  <a:srgbClr val="0070C0"/>
                </a:solidFill>
              </a:rPr>
              <a:t>Arithmetic Logic Unit (ALU)</a:t>
            </a:r>
            <a:endParaRPr lang="en-US" sz="5400" dirty="0">
              <a:solidFill>
                <a:srgbClr val="0070C0"/>
              </a:solidFill>
            </a:endParaRPr>
          </a:p>
        </p:txBody>
      </p:sp>
      <p:sp>
        <p:nvSpPr>
          <p:cNvPr id="3" name="Content Placeholder 2">
            <a:extLst>
              <a:ext uri="{FF2B5EF4-FFF2-40B4-BE49-F238E27FC236}">
                <a16:creationId xmlns:a16="http://schemas.microsoft.com/office/drawing/2014/main" id="{40C60271-2C7D-4F17-A28F-B0F9D1A939E8}"/>
              </a:ext>
            </a:extLst>
          </p:cNvPr>
          <p:cNvSpPr>
            <a:spLocks noGrp="1"/>
          </p:cNvSpPr>
          <p:nvPr>
            <p:ph idx="1"/>
          </p:nvPr>
        </p:nvSpPr>
        <p:spPr>
          <a:xfrm>
            <a:off x="299258" y="1040626"/>
            <a:ext cx="15977062" cy="2916233"/>
          </a:xfrm>
        </p:spPr>
        <p:txBody>
          <a:bodyPr>
            <a:noAutofit/>
          </a:bodyPr>
          <a:lstStyle/>
          <a:p>
            <a:pPr>
              <a:spcBef>
                <a:spcPts val="720"/>
              </a:spcBef>
            </a:pPr>
            <a:r>
              <a:rPr lang="en-US" sz="4000" dirty="0"/>
              <a:t>An Arithmetic Logic Unit (ALU) is a </a:t>
            </a:r>
            <a:r>
              <a:rPr lang="en-US" sz="4000" dirty="0">
                <a:solidFill>
                  <a:srgbClr val="FF0000"/>
                </a:solidFill>
              </a:rPr>
              <a:t>multi-operation</a:t>
            </a:r>
            <a:r>
              <a:rPr lang="en-US" sz="4000" dirty="0"/>
              <a:t>, </a:t>
            </a:r>
            <a:r>
              <a:rPr lang="en-US" sz="4000" dirty="0">
                <a:solidFill>
                  <a:srgbClr val="FF0000"/>
                </a:solidFill>
              </a:rPr>
              <a:t>combinational logic digital functional circuit</a:t>
            </a:r>
            <a:r>
              <a:rPr lang="en-US" sz="4000" dirty="0"/>
              <a:t>. </a:t>
            </a:r>
          </a:p>
          <a:p>
            <a:pPr>
              <a:spcBef>
                <a:spcPts val="720"/>
              </a:spcBef>
            </a:pPr>
            <a:r>
              <a:rPr lang="en-US" sz="4000" dirty="0"/>
              <a:t>The ALU can perform </a:t>
            </a:r>
            <a:r>
              <a:rPr lang="en-US" sz="4000" dirty="0">
                <a:solidFill>
                  <a:srgbClr val="FF0000"/>
                </a:solidFill>
              </a:rPr>
              <a:t>a set of basic arithmetic and logic operations</a:t>
            </a:r>
            <a:r>
              <a:rPr lang="en-US" sz="4000" dirty="0"/>
              <a:t>.</a:t>
            </a:r>
          </a:p>
          <a:p>
            <a:pPr>
              <a:spcBef>
                <a:spcPts val="720"/>
              </a:spcBef>
            </a:pPr>
            <a:r>
              <a:rPr lang="en-US" sz="4000" dirty="0"/>
              <a:t>The ALU has several </a:t>
            </a:r>
            <a:r>
              <a:rPr lang="en-US" sz="4000" dirty="0">
                <a:solidFill>
                  <a:srgbClr val="FF0000"/>
                </a:solidFill>
              </a:rPr>
              <a:t>selection lines to select a particular operation</a:t>
            </a:r>
            <a:r>
              <a:rPr lang="en-US" sz="4000" dirty="0"/>
              <a:t> in the unit. </a:t>
            </a:r>
          </a:p>
        </p:txBody>
      </p:sp>
      <p:pic>
        <p:nvPicPr>
          <p:cNvPr id="5" name="Picture 4">
            <a:extLst>
              <a:ext uri="{FF2B5EF4-FFF2-40B4-BE49-F238E27FC236}">
                <a16:creationId xmlns:a16="http://schemas.microsoft.com/office/drawing/2014/main" id="{66AE5FF9-7E86-45BE-A580-0C69061F0AB2}"/>
              </a:ext>
            </a:extLst>
          </p:cNvPr>
          <p:cNvPicPr>
            <a:picLocks noChangeAspect="1"/>
          </p:cNvPicPr>
          <p:nvPr/>
        </p:nvPicPr>
        <p:blipFill rotWithShape="1">
          <a:blip r:embed="rId2"/>
          <a:srcRect l="819" t="2712" r="1127" b="3519"/>
          <a:stretch/>
        </p:blipFill>
        <p:spPr>
          <a:xfrm>
            <a:off x="8030897" y="3487783"/>
            <a:ext cx="8271550" cy="4441374"/>
          </a:xfrm>
          <a:prstGeom prst="rect">
            <a:avLst/>
          </a:prstGeom>
        </p:spPr>
      </p:pic>
      <mc:AlternateContent xmlns:mc="http://schemas.openxmlformats.org/markup-compatibility/2006" xmlns:a14="http://schemas.microsoft.com/office/drawing/2010/main">
        <mc:Choice Requires="a14">
          <p:sp>
            <p:nvSpPr>
              <p:cNvPr id="4" name="Rectangle 3"/>
              <p:cNvSpPr/>
              <p:nvPr/>
            </p:nvSpPr>
            <p:spPr>
              <a:xfrm>
                <a:off x="179915" y="4079153"/>
                <a:ext cx="8182689" cy="2812886"/>
              </a:xfrm>
              <a:prstGeom prst="rect">
                <a:avLst/>
              </a:prstGeom>
            </p:spPr>
            <p:txBody>
              <a:bodyPr wrap="square">
                <a:spAutoFit/>
              </a:bodyPr>
              <a:lstStyle/>
              <a:p>
                <a:pPr marL="342900" indent="-342900">
                  <a:buFont typeface="Arial" panose="020B0604020202020204" pitchFamily="34" charset="0"/>
                  <a:buChar char="•"/>
                </a:pPr>
                <a:r>
                  <a:rPr lang="en-US" sz="4400" dirty="0"/>
                  <a:t>The selection lines are decoded within the ALU so that </a:t>
                </a:r>
                <a:r>
                  <a:rPr lang="en-US" sz="4400" i="1" dirty="0">
                    <a:solidFill>
                      <a:srgbClr val="FF0000"/>
                    </a:solidFill>
                  </a:rPr>
                  <a:t>k</a:t>
                </a:r>
                <a:r>
                  <a:rPr lang="en-US" sz="4400" dirty="0">
                    <a:solidFill>
                      <a:srgbClr val="FF0000"/>
                    </a:solidFill>
                  </a:rPr>
                  <a:t> selection variables can specify up to </a:t>
                </a:r>
                <a14:m>
                  <m:oMath xmlns:m="http://schemas.openxmlformats.org/officeDocument/2006/math">
                    <m:sSup>
                      <m:sSupPr>
                        <m:ctrlPr>
                          <a:rPr lang="en-US" sz="4400" i="1">
                            <a:solidFill>
                              <a:srgbClr val="FF0000"/>
                            </a:solidFill>
                            <a:latin typeface="Cambria Math" panose="02040503050406030204" pitchFamily="18" charset="0"/>
                          </a:rPr>
                        </m:ctrlPr>
                      </m:sSupPr>
                      <m:e>
                        <m:r>
                          <a:rPr lang="en-US" sz="4400" i="1">
                            <a:solidFill>
                              <a:srgbClr val="FF0000"/>
                            </a:solidFill>
                            <a:latin typeface="Cambria Math" panose="02040503050406030204" pitchFamily="18" charset="0"/>
                          </a:rPr>
                          <m:t>2</m:t>
                        </m:r>
                      </m:e>
                      <m:sup>
                        <m:r>
                          <a:rPr lang="en-US" sz="4400" i="1">
                            <a:solidFill>
                              <a:srgbClr val="FF0000"/>
                            </a:solidFill>
                            <a:latin typeface="Cambria Math" panose="02040503050406030204" pitchFamily="18" charset="0"/>
                          </a:rPr>
                          <m:t>𝑘</m:t>
                        </m:r>
                      </m:sup>
                    </m:sSup>
                    <m:r>
                      <a:rPr lang="en-US" sz="4400" i="1">
                        <a:solidFill>
                          <a:srgbClr val="FF0000"/>
                        </a:solidFill>
                        <a:latin typeface="Cambria Math" panose="02040503050406030204" pitchFamily="18" charset="0"/>
                      </a:rPr>
                      <m:t> </m:t>
                    </m:r>
                  </m:oMath>
                </a14:m>
                <a:r>
                  <a:rPr lang="en-US" sz="4400" dirty="0">
                    <a:solidFill>
                      <a:srgbClr val="FF0000"/>
                    </a:solidFill>
                  </a:rPr>
                  <a:t>distinct operations</a:t>
                </a:r>
                <a:r>
                  <a:rPr lang="en-US" sz="4400" dirty="0"/>
                  <a:t>.</a:t>
                </a:r>
              </a:p>
            </p:txBody>
          </p:sp>
        </mc:Choice>
        <mc:Fallback xmlns="">
          <p:sp>
            <p:nvSpPr>
              <p:cNvPr id="4" name="Rectangle 3"/>
              <p:cNvSpPr>
                <a:spLocks noRot="1" noChangeAspect="1" noMove="1" noResize="1" noEditPoints="1" noAdjustHandles="1" noChangeArrowheads="1" noChangeShapeType="1" noTextEdit="1"/>
              </p:cNvSpPr>
              <p:nvPr/>
            </p:nvSpPr>
            <p:spPr>
              <a:xfrm>
                <a:off x="179915" y="4079153"/>
                <a:ext cx="8182689" cy="2812886"/>
              </a:xfrm>
              <a:prstGeom prst="rect">
                <a:avLst/>
              </a:prstGeom>
              <a:blipFill>
                <a:blip r:embed="rId3"/>
                <a:stretch>
                  <a:fillRect l="-2757" t="-4329" r="-3875" b="-9524"/>
                </a:stretch>
              </a:blipFill>
            </p:spPr>
            <p:txBody>
              <a:bodyPr/>
              <a:lstStyle/>
              <a:p>
                <a:r>
                  <a:rPr lang="en-US">
                    <a:noFill/>
                  </a:rPr>
                  <a:t> </a:t>
                </a:r>
              </a:p>
            </p:txBody>
          </p:sp>
        </mc:Fallback>
      </mc:AlternateContent>
      <p:sp>
        <p:nvSpPr>
          <p:cNvPr id="6" name="Date Placeholder 5"/>
          <p:cNvSpPr>
            <a:spLocks noGrp="1"/>
          </p:cNvSpPr>
          <p:nvPr>
            <p:ph type="dt" sz="half" idx="10"/>
          </p:nvPr>
        </p:nvSpPr>
        <p:spPr/>
        <p:txBody>
          <a:bodyPr/>
          <a:lstStyle/>
          <a:p>
            <a:fld id="{134D2A81-DA21-4E1A-B610-AD3AB12CBFF0}" type="datetime3">
              <a:rPr lang="en-US" smtClean="0"/>
              <a:t>24 December 2025</a:t>
            </a:fld>
            <a:endParaRPr lang="en-US"/>
          </a:p>
        </p:txBody>
      </p:sp>
      <p:sp>
        <p:nvSpPr>
          <p:cNvPr id="8" name="Slide Number Placeholder 7"/>
          <p:cNvSpPr>
            <a:spLocks noGrp="1"/>
          </p:cNvSpPr>
          <p:nvPr>
            <p:ph type="sldNum" sz="quarter" idx="12"/>
          </p:nvPr>
        </p:nvSpPr>
        <p:spPr/>
        <p:txBody>
          <a:bodyPr/>
          <a:lstStyle/>
          <a:p>
            <a:fld id="{48F63A3B-78C7-47BE-AE5E-E10140E04643}" type="slidenum">
              <a:rPr lang="en-US" smtClean="0"/>
              <a:t>12</a:t>
            </a:fld>
            <a:endParaRPr lang="en-US" dirty="0"/>
          </a:p>
        </p:txBody>
      </p:sp>
    </p:spTree>
    <p:extLst>
      <p:ext uri="{BB962C8B-B14F-4D97-AF65-F5344CB8AC3E}">
        <p14:creationId xmlns:p14="http://schemas.microsoft.com/office/powerpoint/2010/main" val="2970154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63EA15C-127B-4F34-B0D4-8A8BCE169222}"/>
              </a:ext>
            </a:extLst>
          </p:cNvPr>
          <p:cNvSpPr>
            <a:spLocks noGrp="1"/>
          </p:cNvSpPr>
          <p:nvPr>
            <p:ph type="title"/>
          </p:nvPr>
        </p:nvSpPr>
        <p:spPr>
          <a:xfrm>
            <a:off x="1579417" y="102180"/>
            <a:ext cx="12095015" cy="1145497"/>
          </a:xfrm>
        </p:spPr>
        <p:txBody>
          <a:bodyPr>
            <a:normAutofit/>
          </a:bodyPr>
          <a:lstStyle/>
          <a:p>
            <a:r>
              <a:rPr lang="en-US" sz="5400" b="1" dirty="0">
                <a:solidFill>
                  <a:srgbClr val="0070C0"/>
                </a:solidFill>
              </a:rPr>
              <a:t>Arithmetic Logic Unit (ALU)</a:t>
            </a:r>
            <a:endParaRPr lang="en-US" sz="5400" dirty="0">
              <a:solidFill>
                <a:srgbClr val="0070C0"/>
              </a:solidFill>
            </a:endParaRPr>
          </a:p>
        </p:txBody>
      </p:sp>
      <p:sp>
        <p:nvSpPr>
          <p:cNvPr id="3" name="Content Placeholder 2">
            <a:extLst>
              <a:ext uri="{FF2B5EF4-FFF2-40B4-BE49-F238E27FC236}">
                <a16:creationId xmlns:a16="http://schemas.microsoft.com/office/drawing/2014/main" id="{EC9D763F-92A4-4A96-BB78-1D0D733BE60F}"/>
              </a:ext>
            </a:extLst>
          </p:cNvPr>
          <p:cNvSpPr>
            <a:spLocks noGrp="1"/>
          </p:cNvSpPr>
          <p:nvPr>
            <p:ph idx="1"/>
          </p:nvPr>
        </p:nvSpPr>
        <p:spPr>
          <a:xfrm>
            <a:off x="232756" y="1081177"/>
            <a:ext cx="15927185" cy="3435053"/>
          </a:xfrm>
        </p:spPr>
        <p:txBody>
          <a:bodyPr>
            <a:noAutofit/>
          </a:bodyPr>
          <a:lstStyle/>
          <a:p>
            <a:pPr marL="617220" indent="-617220">
              <a:spcBef>
                <a:spcPts val="720"/>
              </a:spcBef>
              <a:buFont typeface="+mj-lt"/>
              <a:buAutoNum type="arabicPeriod"/>
            </a:pPr>
            <a:r>
              <a:rPr lang="en-US" sz="4000" dirty="0"/>
              <a:t>The mode select </a:t>
            </a:r>
            <a:r>
              <a:rPr lang="en-US" sz="4000" b="1" dirty="0">
                <a:solidFill>
                  <a:srgbClr val="FF0000"/>
                </a:solidFill>
              </a:rPr>
              <a:t>s2 </a:t>
            </a:r>
            <a:r>
              <a:rPr lang="en-US" sz="4000" dirty="0">
                <a:solidFill>
                  <a:srgbClr val="FF0000"/>
                </a:solidFill>
              </a:rPr>
              <a:t>distinguishes between arithmetic and logic operations</a:t>
            </a:r>
            <a:r>
              <a:rPr lang="en-US" sz="4000" dirty="0"/>
              <a:t>.</a:t>
            </a:r>
          </a:p>
          <a:p>
            <a:pPr marL="617220" indent="-617220">
              <a:spcBef>
                <a:spcPts val="720"/>
              </a:spcBef>
              <a:buFont typeface="+mj-lt"/>
              <a:buAutoNum type="arabicPeriod"/>
            </a:pPr>
            <a:r>
              <a:rPr lang="en-US" sz="4000" dirty="0"/>
              <a:t>The </a:t>
            </a:r>
            <a:r>
              <a:rPr lang="en-US" sz="4000" dirty="0">
                <a:solidFill>
                  <a:srgbClr val="00B050"/>
                </a:solidFill>
              </a:rPr>
              <a:t>two function-select inputs </a:t>
            </a:r>
            <a:r>
              <a:rPr lang="en-US" sz="4000" b="1" dirty="0">
                <a:solidFill>
                  <a:srgbClr val="00B050"/>
                </a:solidFill>
              </a:rPr>
              <a:t>s1 and s0 </a:t>
            </a:r>
            <a:r>
              <a:rPr lang="en-US" sz="4000" dirty="0">
                <a:solidFill>
                  <a:srgbClr val="00B050"/>
                </a:solidFill>
              </a:rPr>
              <a:t>specify the arithmetic and logic operation </a:t>
            </a:r>
            <a:r>
              <a:rPr lang="en-US" sz="4000" dirty="0"/>
              <a:t>to be generated.</a:t>
            </a:r>
          </a:p>
          <a:p>
            <a:pPr marL="617220" indent="-617220">
              <a:spcBef>
                <a:spcPts val="720"/>
              </a:spcBef>
              <a:buFont typeface="+mj-lt"/>
              <a:buAutoNum type="arabicPeriod"/>
            </a:pPr>
            <a:r>
              <a:rPr lang="en-US" sz="4000" dirty="0"/>
              <a:t>The input and output carry (</a:t>
            </a:r>
            <a:r>
              <a:rPr lang="en-US" sz="4000" dirty="0" err="1"/>
              <a:t>C</a:t>
            </a:r>
            <a:r>
              <a:rPr lang="en-US" sz="4000" baseline="-25000" dirty="0" err="1"/>
              <a:t>in</a:t>
            </a:r>
            <a:r>
              <a:rPr lang="en-US" sz="4000" dirty="0"/>
              <a:t> and </a:t>
            </a:r>
            <a:r>
              <a:rPr lang="en-US" sz="4000" dirty="0" err="1"/>
              <a:t>C</a:t>
            </a:r>
            <a:r>
              <a:rPr lang="en-US" sz="4000" baseline="-25000" dirty="0" err="1"/>
              <a:t>out</a:t>
            </a:r>
            <a:r>
              <a:rPr lang="en-US" sz="4000" dirty="0"/>
              <a:t>) have meanings only during arithmetic operations.</a:t>
            </a:r>
          </a:p>
        </p:txBody>
      </p:sp>
      <p:pic>
        <p:nvPicPr>
          <p:cNvPr id="4" name="Picture 3">
            <a:extLst>
              <a:ext uri="{FF2B5EF4-FFF2-40B4-BE49-F238E27FC236}">
                <a16:creationId xmlns:a16="http://schemas.microsoft.com/office/drawing/2014/main" id="{40F657B8-BA00-45BA-8133-C5AAEACACA9B}"/>
              </a:ext>
            </a:extLst>
          </p:cNvPr>
          <p:cNvPicPr>
            <a:picLocks noChangeAspect="1"/>
          </p:cNvPicPr>
          <p:nvPr/>
        </p:nvPicPr>
        <p:blipFill>
          <a:blip r:embed="rId2"/>
          <a:stretch>
            <a:fillRect/>
          </a:stretch>
        </p:blipFill>
        <p:spPr>
          <a:xfrm>
            <a:off x="9312320" y="4114800"/>
            <a:ext cx="7014228" cy="3967566"/>
          </a:xfrm>
          <a:prstGeom prst="rect">
            <a:avLst/>
          </a:prstGeom>
        </p:spPr>
      </p:pic>
      <p:sp>
        <p:nvSpPr>
          <p:cNvPr id="7" name="Rectangle 6"/>
          <p:cNvSpPr/>
          <p:nvPr/>
        </p:nvSpPr>
        <p:spPr>
          <a:xfrm>
            <a:off x="232756" y="4534696"/>
            <a:ext cx="9110751" cy="3416320"/>
          </a:xfrm>
          <a:prstGeom prst="rect">
            <a:avLst/>
          </a:prstGeom>
        </p:spPr>
        <p:txBody>
          <a:bodyPr wrap="square">
            <a:spAutoFit/>
          </a:bodyPr>
          <a:lstStyle/>
          <a:p>
            <a:pPr marL="617220" indent="-617220">
              <a:buFont typeface="+mj-lt"/>
              <a:buAutoNum type="arabicPeriod" startAt="4"/>
            </a:pPr>
            <a:r>
              <a:rPr lang="en-US" sz="3600" dirty="0"/>
              <a:t>The input carry </a:t>
            </a:r>
            <a:r>
              <a:rPr lang="en-US" sz="3600" b="1" dirty="0" err="1">
                <a:solidFill>
                  <a:srgbClr val="0070C0"/>
                </a:solidFill>
              </a:rPr>
              <a:t>C</a:t>
            </a:r>
            <a:r>
              <a:rPr lang="en-US" sz="3600" b="1" baseline="-25000" dirty="0" err="1">
                <a:solidFill>
                  <a:srgbClr val="0070C0"/>
                </a:solidFill>
              </a:rPr>
              <a:t>in</a:t>
            </a:r>
            <a:r>
              <a:rPr lang="en-US" sz="3600" b="1" dirty="0">
                <a:solidFill>
                  <a:srgbClr val="0070C0"/>
                </a:solidFill>
              </a:rPr>
              <a:t> </a:t>
            </a:r>
            <a:r>
              <a:rPr lang="en-US" sz="3600" dirty="0">
                <a:solidFill>
                  <a:srgbClr val="0070C0"/>
                </a:solidFill>
              </a:rPr>
              <a:t>in the least significant position</a:t>
            </a:r>
            <a:r>
              <a:rPr lang="en-US" sz="3600" dirty="0"/>
              <a:t> of an ALU is quite often used as the fourth selection variable that can double the number of arithmetic operations. Thus, a total of </a:t>
            </a:r>
            <a:r>
              <a:rPr lang="en-US" sz="3600" dirty="0">
                <a:solidFill>
                  <a:srgbClr val="FF0000"/>
                </a:solidFill>
              </a:rPr>
              <a:t>8 arithmetic operations </a:t>
            </a:r>
            <a:r>
              <a:rPr lang="en-US" sz="3600" dirty="0"/>
              <a:t>and </a:t>
            </a:r>
            <a:r>
              <a:rPr lang="en-US" sz="3600" dirty="0">
                <a:solidFill>
                  <a:srgbClr val="FF0000"/>
                </a:solidFill>
              </a:rPr>
              <a:t>4 logical operations </a:t>
            </a:r>
            <a:r>
              <a:rPr lang="en-US" sz="3600" dirty="0"/>
              <a:t>can be performed.</a:t>
            </a:r>
          </a:p>
        </p:txBody>
      </p:sp>
      <p:sp>
        <p:nvSpPr>
          <p:cNvPr id="2" name="Date Placeholder 1"/>
          <p:cNvSpPr>
            <a:spLocks noGrp="1"/>
          </p:cNvSpPr>
          <p:nvPr>
            <p:ph type="dt" sz="half" idx="10"/>
          </p:nvPr>
        </p:nvSpPr>
        <p:spPr/>
        <p:txBody>
          <a:bodyPr/>
          <a:lstStyle/>
          <a:p>
            <a:fld id="{EF13C1D0-9426-47D7-871F-95F10E233808}" type="datetime3">
              <a:rPr lang="en-US" smtClean="0"/>
              <a:t>24 December 2025</a:t>
            </a:fld>
            <a:endParaRPr lang="en-US"/>
          </a:p>
        </p:txBody>
      </p:sp>
      <p:sp>
        <p:nvSpPr>
          <p:cNvPr id="8" name="Slide Number Placeholder 7"/>
          <p:cNvSpPr>
            <a:spLocks noGrp="1"/>
          </p:cNvSpPr>
          <p:nvPr>
            <p:ph type="sldNum" sz="quarter" idx="12"/>
          </p:nvPr>
        </p:nvSpPr>
        <p:spPr/>
        <p:txBody>
          <a:bodyPr/>
          <a:lstStyle/>
          <a:p>
            <a:fld id="{48F63A3B-78C7-47BE-AE5E-E10140E04643}" type="slidenum">
              <a:rPr lang="en-US" smtClean="0"/>
              <a:t>13</a:t>
            </a:fld>
            <a:endParaRPr lang="en-US" dirty="0"/>
          </a:p>
        </p:txBody>
      </p:sp>
      <p:cxnSp>
        <p:nvCxnSpPr>
          <p:cNvPr id="9" name="Straight Connector 8">
            <a:extLst>
              <a:ext uri="{FF2B5EF4-FFF2-40B4-BE49-F238E27FC236}">
                <a16:creationId xmlns:a16="http://schemas.microsoft.com/office/drawing/2014/main" id="{1F9AB955-A2DF-B1D2-7F85-D62993864193}"/>
              </a:ext>
            </a:extLst>
          </p:cNvPr>
          <p:cNvCxnSpPr>
            <a:cxnSpLocks/>
          </p:cNvCxnSpPr>
          <p:nvPr/>
        </p:nvCxnSpPr>
        <p:spPr>
          <a:xfrm>
            <a:off x="14616952" y="5643154"/>
            <a:ext cx="1542989"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
        <p:nvSpPr>
          <p:cNvPr id="11" name="Right Brace 10">
            <a:extLst>
              <a:ext uri="{FF2B5EF4-FFF2-40B4-BE49-F238E27FC236}">
                <a16:creationId xmlns:a16="http://schemas.microsoft.com/office/drawing/2014/main" id="{65AC4CCA-C338-0E6A-5375-ED064A53F48F}"/>
              </a:ext>
            </a:extLst>
          </p:cNvPr>
          <p:cNvSpPr/>
          <p:nvPr/>
        </p:nvSpPr>
        <p:spPr>
          <a:xfrm>
            <a:off x="15714618" y="5734605"/>
            <a:ext cx="352697" cy="613934"/>
          </a:xfrm>
          <a:prstGeom prst="rightBrace">
            <a:avLst>
              <a:gd name="adj1" fmla="val 11809"/>
              <a:gd name="adj2" fmla="val 47619"/>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D8506421-2859-DAF3-E1A6-5AB677E381E5}"/>
              </a:ext>
            </a:extLst>
          </p:cNvPr>
          <p:cNvCxnSpPr>
            <a:cxnSpLocks/>
          </p:cNvCxnSpPr>
          <p:nvPr/>
        </p:nvCxnSpPr>
        <p:spPr>
          <a:xfrm>
            <a:off x="14524326" y="6723017"/>
            <a:ext cx="1542989" cy="0"/>
          </a:xfrm>
          <a:prstGeom prst="line">
            <a:avLst/>
          </a:prstGeom>
          <a:ln w="28575">
            <a:solidFill>
              <a:srgbClr val="0070C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2703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wipe(down)">
                                      <p:cBhvr>
                                        <p:cTn id="24" dur="5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circle(in)">
                                      <p:cBhvr>
                                        <p:cTn id="29" dur="20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 calcmode="lin" valueType="num">
                                      <p:cBhvr additive="base">
                                        <p:cTn id="3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7">
                                            <p:txEl>
                                              <p:pRg st="0" end="0"/>
                                            </p:txEl>
                                          </p:spTgt>
                                        </p:tgtEl>
                                        <p:attrNameLst>
                                          <p:attrName>style.visibility</p:attrName>
                                        </p:attrNameLst>
                                      </p:cBhvr>
                                      <p:to>
                                        <p:strVal val="visible"/>
                                      </p:to>
                                    </p:set>
                                    <p:animEffect transition="in" filter="circle(in)">
                                      <p:cBhvr>
                                        <p:cTn id="40" dur="2000"/>
                                        <p:tgtEl>
                                          <p:spTgt spid="7">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8C7E6-4D7B-42EE-B75B-C06775F36F96}"/>
              </a:ext>
            </a:extLst>
          </p:cNvPr>
          <p:cNvSpPr>
            <a:spLocks noGrp="1"/>
          </p:cNvSpPr>
          <p:nvPr>
            <p:ph type="title"/>
          </p:nvPr>
        </p:nvSpPr>
        <p:spPr>
          <a:xfrm>
            <a:off x="1496291" y="438150"/>
            <a:ext cx="13042670" cy="1407275"/>
          </a:xfrm>
        </p:spPr>
        <p:txBody>
          <a:bodyPr>
            <a:normAutofit/>
          </a:bodyPr>
          <a:lstStyle/>
          <a:p>
            <a:r>
              <a:rPr lang="en-US" sz="6000" b="1" dirty="0">
                <a:solidFill>
                  <a:srgbClr val="0070C0"/>
                </a:solidFill>
              </a:rPr>
              <a:t>Design of Arithmetic Circuit</a:t>
            </a:r>
          </a:p>
        </p:txBody>
      </p:sp>
      <p:sp>
        <p:nvSpPr>
          <p:cNvPr id="3" name="Content Placeholder 2">
            <a:extLst>
              <a:ext uri="{FF2B5EF4-FFF2-40B4-BE49-F238E27FC236}">
                <a16:creationId xmlns:a16="http://schemas.microsoft.com/office/drawing/2014/main" id="{11168800-135F-4FF7-9E9E-457F889BDF77}"/>
              </a:ext>
            </a:extLst>
          </p:cNvPr>
          <p:cNvSpPr>
            <a:spLocks noGrp="1"/>
          </p:cNvSpPr>
          <p:nvPr>
            <p:ph idx="1"/>
          </p:nvPr>
        </p:nvSpPr>
        <p:spPr>
          <a:xfrm>
            <a:off x="340822" y="1845425"/>
            <a:ext cx="15819119" cy="4724404"/>
          </a:xfrm>
        </p:spPr>
        <p:txBody>
          <a:bodyPr>
            <a:normAutofit/>
          </a:bodyPr>
          <a:lstStyle/>
          <a:p>
            <a:r>
              <a:rPr lang="en-US" sz="4400" dirty="0"/>
              <a:t>The </a:t>
            </a:r>
            <a:r>
              <a:rPr lang="en-US" sz="4400" dirty="0">
                <a:solidFill>
                  <a:srgbClr val="FF0000"/>
                </a:solidFill>
              </a:rPr>
              <a:t>basic component </a:t>
            </a:r>
            <a:r>
              <a:rPr lang="en-US" sz="4400" dirty="0"/>
              <a:t>of the arithmetic section of an ALU is the </a:t>
            </a:r>
            <a:r>
              <a:rPr lang="en-US" sz="4400" dirty="0">
                <a:solidFill>
                  <a:srgbClr val="FF0000"/>
                </a:solidFill>
              </a:rPr>
              <a:t>parallel adder</a:t>
            </a:r>
            <a:r>
              <a:rPr lang="en-US" sz="4400" dirty="0"/>
              <a:t>. </a:t>
            </a:r>
          </a:p>
          <a:p>
            <a:r>
              <a:rPr lang="en-US" sz="4400" dirty="0"/>
              <a:t>A parallel adder is constructed with several </a:t>
            </a:r>
            <a:r>
              <a:rPr lang="en-US" sz="4400" dirty="0">
                <a:solidFill>
                  <a:srgbClr val="FF0000"/>
                </a:solidFill>
              </a:rPr>
              <a:t>full adder circuits cascaded</a:t>
            </a:r>
            <a:r>
              <a:rPr lang="en-US" sz="4400" dirty="0"/>
              <a:t>. </a:t>
            </a:r>
          </a:p>
          <a:p>
            <a:r>
              <a:rPr lang="en-US" sz="4400" dirty="0"/>
              <a:t>By </a:t>
            </a:r>
            <a:r>
              <a:rPr lang="en-US" sz="4400" dirty="0">
                <a:solidFill>
                  <a:srgbClr val="FF0000"/>
                </a:solidFill>
              </a:rPr>
              <a:t>controlling</a:t>
            </a:r>
            <a:r>
              <a:rPr lang="en-US" sz="4400" dirty="0"/>
              <a:t> the </a:t>
            </a:r>
            <a:r>
              <a:rPr lang="en-US" sz="4400" dirty="0">
                <a:solidFill>
                  <a:srgbClr val="FF0000"/>
                </a:solidFill>
              </a:rPr>
              <a:t>data inputs </a:t>
            </a:r>
            <a:r>
              <a:rPr lang="en-US" sz="4400" dirty="0"/>
              <a:t>to the parallel adder, it is possible to obtain </a:t>
            </a:r>
            <a:r>
              <a:rPr lang="en-US" sz="4400" dirty="0">
                <a:solidFill>
                  <a:srgbClr val="FF0000"/>
                </a:solidFill>
              </a:rPr>
              <a:t>different types of arithmetic operations</a:t>
            </a:r>
            <a:r>
              <a:rPr lang="en-US" sz="4400" dirty="0"/>
              <a:t>.</a:t>
            </a:r>
          </a:p>
        </p:txBody>
      </p:sp>
      <p:sp>
        <p:nvSpPr>
          <p:cNvPr id="4" name="Date Placeholder 3"/>
          <p:cNvSpPr>
            <a:spLocks noGrp="1"/>
          </p:cNvSpPr>
          <p:nvPr>
            <p:ph type="dt" sz="half" idx="10"/>
          </p:nvPr>
        </p:nvSpPr>
        <p:spPr/>
        <p:txBody>
          <a:bodyPr/>
          <a:lstStyle/>
          <a:p>
            <a:fld id="{12A8C51F-53C2-4494-9C3B-AD1D277D5C1C}" type="datetime3">
              <a:rPr lang="en-US" smtClean="0"/>
              <a:t>24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14</a:t>
            </a:fld>
            <a:endParaRPr lang="en-US" dirty="0"/>
          </a:p>
        </p:txBody>
      </p:sp>
    </p:spTree>
    <p:extLst>
      <p:ext uri="{BB962C8B-B14F-4D97-AF65-F5344CB8AC3E}">
        <p14:creationId xmlns:p14="http://schemas.microsoft.com/office/powerpoint/2010/main" val="237738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C9F54-A445-4971-A2C8-89CEBBEE08E1}"/>
              </a:ext>
            </a:extLst>
          </p:cNvPr>
          <p:cNvSpPr>
            <a:spLocks noGrp="1"/>
          </p:cNvSpPr>
          <p:nvPr>
            <p:ph type="title"/>
          </p:nvPr>
        </p:nvSpPr>
        <p:spPr>
          <a:xfrm>
            <a:off x="199505" y="266007"/>
            <a:ext cx="16093440" cy="1163782"/>
          </a:xfrm>
        </p:spPr>
        <p:txBody>
          <a:bodyPr>
            <a:normAutofit/>
          </a:bodyPr>
          <a:lstStyle/>
          <a:p>
            <a:r>
              <a:rPr lang="en-US" sz="4400" b="1" dirty="0">
                <a:solidFill>
                  <a:srgbClr val="0070C0"/>
                </a:solidFill>
              </a:rPr>
              <a:t>Operations obtained by controlling one set of inputs to a parallel adder</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74A1B1F2-0DE6-4818-8C37-506946643062}"/>
                  </a:ext>
                </a:extLst>
              </p:cNvPr>
              <p:cNvSpPr>
                <a:spLocks noGrp="1"/>
              </p:cNvSpPr>
              <p:nvPr>
                <p:ph idx="1"/>
              </p:nvPr>
            </p:nvSpPr>
            <p:spPr>
              <a:xfrm>
                <a:off x="1664511" y="2280152"/>
                <a:ext cx="1898687" cy="630021"/>
              </a:xfrm>
            </p:spPr>
            <p:txBody>
              <a:bodyPr>
                <a:normAutofit/>
              </a:bodyPr>
              <a:lstStyle/>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0</m:t>
                        </m:r>
                      </m:sub>
                    </m:sSub>
                  </m:oMath>
                </a14:m>
                <a:r>
                  <a:rPr lang="en-US" dirty="0"/>
                  <a:t> = 01</a:t>
                </a:r>
              </a:p>
            </p:txBody>
          </p:sp>
        </mc:Choice>
        <mc:Fallback xmlns="">
          <p:sp>
            <p:nvSpPr>
              <p:cNvPr id="11" name="Content Placeholder 10">
                <a:extLst>
                  <a:ext uri="{FF2B5EF4-FFF2-40B4-BE49-F238E27FC236}">
                    <a16:creationId xmlns:a16="http://schemas.microsoft.com/office/drawing/2014/main" id="{74A1B1F2-0DE6-4818-8C37-506946643062}"/>
                  </a:ext>
                </a:extLst>
              </p:cNvPr>
              <p:cNvSpPr>
                <a:spLocks noGrp="1" noRot="1" noChangeAspect="1" noMove="1" noResize="1" noEditPoints="1" noAdjustHandles="1" noChangeArrowheads="1" noChangeShapeType="1" noTextEdit="1"/>
              </p:cNvSpPr>
              <p:nvPr>
                <p:ph idx="1"/>
              </p:nvPr>
            </p:nvSpPr>
            <p:spPr>
              <a:xfrm>
                <a:off x="1664511" y="2280152"/>
                <a:ext cx="1898687" cy="630021"/>
              </a:xfrm>
              <a:blipFill>
                <a:blip r:embed="rId3"/>
                <a:stretch>
                  <a:fillRect t="-21359" r="-4487" b="-22330"/>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FD583BB8-F283-4CFA-A836-C49BE7C82C15}"/>
              </a:ext>
            </a:extLst>
          </p:cNvPr>
          <p:cNvCxnSpPr/>
          <p:nvPr/>
        </p:nvCxnSpPr>
        <p:spPr>
          <a:xfrm>
            <a:off x="6164462" y="6397986"/>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13D515D-2135-4892-BD7A-BF1D8595A2A1}"/>
              </a:ext>
            </a:extLst>
          </p:cNvPr>
          <p:cNvSpPr txBox="1"/>
          <p:nvPr/>
        </p:nvSpPr>
        <p:spPr>
          <a:xfrm>
            <a:off x="14296939" y="7286946"/>
            <a:ext cx="1689812" cy="646331"/>
          </a:xfrm>
          <a:prstGeom prst="rect">
            <a:avLst/>
          </a:prstGeom>
          <a:noFill/>
        </p:spPr>
        <p:txBody>
          <a:bodyPr wrap="square" rtlCol="0">
            <a:spAutoFit/>
          </a:bodyPr>
          <a:lstStyle/>
          <a:p>
            <a:r>
              <a:rPr lang="en-US" sz="3600" b="1" dirty="0">
                <a:solidFill>
                  <a:srgbClr val="FF0000"/>
                </a:solidFill>
              </a:rPr>
              <a:t>Fig. 9.6</a:t>
            </a:r>
          </a:p>
        </p:txBody>
      </p:sp>
      <p:sp>
        <p:nvSpPr>
          <p:cNvPr id="4" name="Date Placeholder 3"/>
          <p:cNvSpPr>
            <a:spLocks noGrp="1"/>
          </p:cNvSpPr>
          <p:nvPr>
            <p:ph type="dt" sz="half" idx="10"/>
          </p:nvPr>
        </p:nvSpPr>
        <p:spPr/>
        <p:txBody>
          <a:bodyPr/>
          <a:lstStyle/>
          <a:p>
            <a:fld id="{174A3934-A274-41E5-877A-3F71459D3AF1}" type="datetime3">
              <a:rPr lang="en-US" smtClean="0"/>
              <a:t>24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15</a:t>
            </a:fld>
            <a:endParaRPr lang="en-US" dirty="0"/>
          </a:p>
        </p:txBody>
      </p:sp>
      <p:pic>
        <p:nvPicPr>
          <p:cNvPr id="7" name="Picture 6"/>
          <p:cNvPicPr>
            <a:picLocks noChangeAspect="1"/>
          </p:cNvPicPr>
          <p:nvPr/>
        </p:nvPicPr>
        <p:blipFill>
          <a:blip r:embed="rId4"/>
          <a:stretch>
            <a:fillRect/>
          </a:stretch>
        </p:blipFill>
        <p:spPr>
          <a:xfrm>
            <a:off x="3741686" y="1304462"/>
            <a:ext cx="4536806" cy="2716808"/>
          </a:xfrm>
          <a:prstGeom prst="rect">
            <a:avLst/>
          </a:prstGeom>
        </p:spPr>
      </p:pic>
      <p:sp>
        <p:nvSpPr>
          <p:cNvPr id="8" name="TextBox 7"/>
          <p:cNvSpPr txBox="1"/>
          <p:nvPr/>
        </p:nvSpPr>
        <p:spPr>
          <a:xfrm>
            <a:off x="3741686" y="4021270"/>
            <a:ext cx="4471288" cy="461665"/>
          </a:xfrm>
          <a:prstGeom prst="rect">
            <a:avLst/>
          </a:prstGeom>
          <a:noFill/>
        </p:spPr>
        <p:txBody>
          <a:bodyPr wrap="square" rtlCol="0">
            <a:spAutoFit/>
          </a:bodyPr>
          <a:lstStyle/>
          <a:p>
            <a:pPr algn="ctr"/>
            <a:r>
              <a:rPr lang="en-US" sz="2400" dirty="0"/>
              <a:t>(a) Addition without input carry</a:t>
            </a:r>
          </a:p>
        </p:txBody>
      </p:sp>
      <p:graphicFrame>
        <p:nvGraphicFramePr>
          <p:cNvPr id="9" name="Object 8"/>
          <p:cNvGraphicFramePr>
            <a:graphicFrameLocks noChangeAspect="1"/>
          </p:cNvGraphicFramePr>
          <p:nvPr>
            <p:extLst>
              <p:ext uri="{D42A27DB-BD31-4B8C-83A1-F6EECF244321}">
                <p14:modId xmlns:p14="http://schemas.microsoft.com/office/powerpoint/2010/main" val="3032573064"/>
              </p:ext>
            </p:extLst>
          </p:nvPr>
        </p:nvGraphicFramePr>
        <p:xfrm>
          <a:off x="10076942" y="1376031"/>
          <a:ext cx="4270436" cy="2556042"/>
        </p:xfrm>
        <a:graphic>
          <a:graphicData uri="http://schemas.openxmlformats.org/presentationml/2006/ole">
            <mc:AlternateContent xmlns:mc="http://schemas.openxmlformats.org/markup-compatibility/2006">
              <mc:Choice xmlns:v="urn:schemas-microsoft-com:vml" Requires="v">
                <p:oleObj name="Visio" r:id="rId5" imgW="3270943" imgH="1957382" progId="Visio.Drawing.6">
                  <p:embed/>
                </p:oleObj>
              </mc:Choice>
              <mc:Fallback>
                <p:oleObj name="Visio" r:id="rId5" imgW="3270943" imgH="1957382" progId="Visio.Drawing.6">
                  <p:embed/>
                  <p:pic>
                    <p:nvPicPr>
                      <p:cNvPr id="0" name=""/>
                      <p:cNvPicPr/>
                      <p:nvPr/>
                    </p:nvPicPr>
                    <p:blipFill>
                      <a:blip r:embed="rId6"/>
                      <a:stretch>
                        <a:fillRect/>
                      </a:stretch>
                    </p:blipFill>
                    <p:spPr>
                      <a:xfrm>
                        <a:off x="10076942" y="1376031"/>
                        <a:ext cx="4270436" cy="2556042"/>
                      </a:xfrm>
                      <a:prstGeom prst="rect">
                        <a:avLst/>
                      </a:prstGeom>
                    </p:spPr>
                  </p:pic>
                </p:oleObj>
              </mc:Fallback>
            </mc:AlternateContent>
          </a:graphicData>
        </a:graphic>
      </p:graphicFrame>
      <p:sp>
        <p:nvSpPr>
          <p:cNvPr id="17" name="TextBox 16"/>
          <p:cNvSpPr txBox="1"/>
          <p:nvPr/>
        </p:nvSpPr>
        <p:spPr>
          <a:xfrm>
            <a:off x="9540829" y="3893964"/>
            <a:ext cx="4471288" cy="461665"/>
          </a:xfrm>
          <a:prstGeom prst="rect">
            <a:avLst/>
          </a:prstGeom>
          <a:noFill/>
        </p:spPr>
        <p:txBody>
          <a:bodyPr wrap="square" rtlCol="0">
            <a:spAutoFit/>
          </a:bodyPr>
          <a:lstStyle/>
          <a:p>
            <a:pPr algn="ctr"/>
            <a:r>
              <a:rPr lang="en-US" sz="2400" dirty="0"/>
              <a:t>(b) Addition with input carry</a:t>
            </a:r>
          </a:p>
        </p:txBody>
      </p:sp>
      <p:pic>
        <p:nvPicPr>
          <p:cNvPr id="12" name="Picture 11"/>
          <p:cNvPicPr>
            <a:picLocks noChangeAspect="1"/>
          </p:cNvPicPr>
          <p:nvPr/>
        </p:nvPicPr>
        <p:blipFill>
          <a:blip r:embed="rId7"/>
          <a:stretch>
            <a:fillRect/>
          </a:stretch>
        </p:blipFill>
        <p:spPr>
          <a:xfrm>
            <a:off x="3813810" y="4583769"/>
            <a:ext cx="4492236" cy="2703177"/>
          </a:xfrm>
          <a:prstGeom prst="rect">
            <a:avLst/>
          </a:prstGeom>
        </p:spPr>
      </p:pic>
      <p:sp>
        <p:nvSpPr>
          <p:cNvPr id="19" name="TextBox 18"/>
          <p:cNvSpPr txBox="1"/>
          <p:nvPr/>
        </p:nvSpPr>
        <p:spPr>
          <a:xfrm>
            <a:off x="3243848" y="7249257"/>
            <a:ext cx="5285009" cy="461665"/>
          </a:xfrm>
          <a:prstGeom prst="rect">
            <a:avLst/>
          </a:prstGeom>
          <a:noFill/>
        </p:spPr>
        <p:txBody>
          <a:bodyPr wrap="square" rtlCol="0">
            <a:spAutoFit/>
          </a:bodyPr>
          <a:lstStyle/>
          <a:p>
            <a:pPr algn="ctr"/>
            <a:r>
              <a:rPr lang="en-US" sz="2400" dirty="0"/>
              <a:t>(c) Addition with 1’s complement of B</a:t>
            </a:r>
          </a:p>
        </p:txBody>
      </p:sp>
      <p:pic>
        <p:nvPicPr>
          <p:cNvPr id="20" name="Picture 19"/>
          <p:cNvPicPr>
            <a:picLocks noChangeAspect="1"/>
          </p:cNvPicPr>
          <p:nvPr/>
        </p:nvPicPr>
        <p:blipFill>
          <a:blip r:embed="rId8"/>
          <a:stretch>
            <a:fillRect/>
          </a:stretch>
        </p:blipFill>
        <p:spPr>
          <a:xfrm>
            <a:off x="9540829" y="4457161"/>
            <a:ext cx="4662529" cy="2792096"/>
          </a:xfrm>
          <a:prstGeom prst="rect">
            <a:avLst/>
          </a:prstGeom>
        </p:spPr>
      </p:pic>
      <p:sp>
        <p:nvSpPr>
          <p:cNvPr id="21" name="TextBox 20"/>
          <p:cNvSpPr txBox="1"/>
          <p:nvPr/>
        </p:nvSpPr>
        <p:spPr>
          <a:xfrm>
            <a:off x="9843208" y="7181342"/>
            <a:ext cx="4230920" cy="461665"/>
          </a:xfrm>
          <a:prstGeom prst="rect">
            <a:avLst/>
          </a:prstGeom>
          <a:noFill/>
        </p:spPr>
        <p:txBody>
          <a:bodyPr wrap="square" rtlCol="0">
            <a:spAutoFit/>
          </a:bodyPr>
          <a:lstStyle/>
          <a:p>
            <a:pPr algn="ctr"/>
            <a:r>
              <a:rPr lang="en-US" sz="2400" dirty="0"/>
              <a:t>(d) Subtraction</a:t>
            </a:r>
          </a:p>
        </p:txBody>
      </p:sp>
      <mc:AlternateContent xmlns:mc="http://schemas.openxmlformats.org/markup-compatibility/2006" xmlns:a14="http://schemas.microsoft.com/office/drawing/2010/main">
        <mc:Choice Requires="a14">
          <p:sp>
            <p:nvSpPr>
              <p:cNvPr id="10" name="Content Placeholder 10">
                <a:extLst>
                  <a:ext uri="{FF2B5EF4-FFF2-40B4-BE49-F238E27FC236}">
                    <a16:creationId xmlns:a16="http://schemas.microsoft.com/office/drawing/2014/main" id="{C8EE8ACD-F471-CB1D-A331-28CAB1F82EC5}"/>
                  </a:ext>
                </a:extLst>
              </p:cNvPr>
              <p:cNvSpPr txBox="1">
                <a:spLocks/>
              </p:cNvSpPr>
              <p:nvPr/>
            </p:nvSpPr>
            <p:spPr>
              <a:xfrm>
                <a:off x="1629683" y="5620346"/>
                <a:ext cx="1898687" cy="630021"/>
              </a:xfrm>
              <a:prstGeom prst="rect">
                <a:avLst/>
              </a:prstGeom>
            </p:spPr>
            <p:txBody>
              <a:bodyPr vert="horz" lIns="91440" tIns="45720" rIns="91440" bIns="45720" rtlCol="0">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oMath>
                </a14:m>
                <a:r>
                  <a:rPr lang="en-US" dirty="0"/>
                  <a:t> = 10</a:t>
                </a:r>
              </a:p>
              <a:p>
                <a:pPr marL="0" indent="0">
                  <a:buFont typeface="Arial" panose="020B0604020202020204" pitchFamily="34" charset="0"/>
                  <a:buNone/>
                </a:pPr>
                <a:endParaRPr lang="en-US" dirty="0"/>
              </a:p>
            </p:txBody>
          </p:sp>
        </mc:Choice>
        <mc:Fallback xmlns="">
          <p:sp>
            <p:nvSpPr>
              <p:cNvPr id="10" name="Content Placeholder 10">
                <a:extLst>
                  <a:ext uri="{FF2B5EF4-FFF2-40B4-BE49-F238E27FC236}">
                    <a16:creationId xmlns:a16="http://schemas.microsoft.com/office/drawing/2014/main" id="{C8EE8ACD-F471-CB1D-A331-28CAB1F82EC5}"/>
                  </a:ext>
                </a:extLst>
              </p:cNvPr>
              <p:cNvSpPr txBox="1">
                <a:spLocks noRot="1" noChangeAspect="1" noMove="1" noResize="1" noEditPoints="1" noAdjustHandles="1" noChangeArrowheads="1" noChangeShapeType="1" noTextEdit="1"/>
              </p:cNvSpPr>
              <p:nvPr/>
            </p:nvSpPr>
            <p:spPr>
              <a:xfrm>
                <a:off x="1629683" y="5620346"/>
                <a:ext cx="1898687" cy="630021"/>
              </a:xfrm>
              <a:prstGeom prst="rect">
                <a:avLst/>
              </a:prstGeom>
              <a:blipFill>
                <a:blip r:embed="rId9"/>
                <a:stretch>
                  <a:fillRect t="-21359" r="-4487" b="-22330"/>
                </a:stretch>
              </a:blipFill>
            </p:spPr>
            <p:txBody>
              <a:bodyPr/>
              <a:lstStyle/>
              <a:p>
                <a:r>
                  <a:rPr lang="en-US">
                    <a:noFill/>
                  </a:rPr>
                  <a:t> </a:t>
                </a:r>
              </a:p>
            </p:txBody>
          </p:sp>
        </mc:Fallback>
      </mc:AlternateContent>
    </p:spTree>
    <p:extLst>
      <p:ext uri="{BB962C8B-B14F-4D97-AF65-F5344CB8AC3E}">
        <p14:creationId xmlns:p14="http://schemas.microsoft.com/office/powerpoint/2010/main" val="106371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500" fill="hold"/>
                                        <p:tgtEl>
                                          <p:spTgt spid="19"/>
                                        </p:tgtEl>
                                        <p:attrNameLst>
                                          <p:attrName>ppt_x</p:attrName>
                                        </p:attrNameLst>
                                      </p:cBhvr>
                                      <p:tavLst>
                                        <p:tav tm="0">
                                          <p:val>
                                            <p:strVal val="#ppt_x"/>
                                          </p:val>
                                        </p:tav>
                                        <p:tav tm="100000">
                                          <p:val>
                                            <p:strVal val="#ppt_x"/>
                                          </p:val>
                                        </p:tav>
                                      </p:tavLst>
                                    </p:anim>
                                    <p:anim calcmode="lin" valueType="num">
                                      <p:cBhvr additive="base">
                                        <p:cTn id="4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additive="base">
                                        <p:cTn id="57" dur="500" fill="hold"/>
                                        <p:tgtEl>
                                          <p:spTgt spid="21"/>
                                        </p:tgtEl>
                                        <p:attrNameLst>
                                          <p:attrName>ppt_x</p:attrName>
                                        </p:attrNameLst>
                                      </p:cBhvr>
                                      <p:tavLst>
                                        <p:tav tm="0">
                                          <p:val>
                                            <p:strVal val="#ppt_x"/>
                                          </p:val>
                                        </p:tav>
                                        <p:tav tm="100000">
                                          <p:val>
                                            <p:strVal val="#ppt_x"/>
                                          </p:val>
                                        </p:tav>
                                      </p:tavLst>
                                    </p:anim>
                                    <p:anim calcmode="lin" valueType="num">
                                      <p:cBhvr additive="base">
                                        <p:cTn id="5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3" grpId="0"/>
      <p:bldP spid="8" grpId="0"/>
      <p:bldP spid="17" grpId="0"/>
      <p:bldP spid="19" grpId="0"/>
      <p:bldP spid="21"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10">
                <a:extLst>
                  <a:ext uri="{FF2B5EF4-FFF2-40B4-BE49-F238E27FC236}">
                    <a16:creationId xmlns:a16="http://schemas.microsoft.com/office/drawing/2014/main" id="{0BB4022A-0FCF-4E80-AAC7-A32632CD8E22}"/>
                  </a:ext>
                </a:extLst>
              </p:cNvPr>
              <p:cNvSpPr>
                <a:spLocks noGrp="1"/>
              </p:cNvSpPr>
              <p:nvPr>
                <p:ph idx="1"/>
              </p:nvPr>
            </p:nvSpPr>
            <p:spPr>
              <a:xfrm>
                <a:off x="1954796" y="2239388"/>
                <a:ext cx="1914613" cy="615956"/>
              </a:xfrm>
            </p:spPr>
            <p:txBody>
              <a:bodyPr>
                <a:normAutofit/>
              </a:bodyPr>
              <a:lstStyle/>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0</m:t>
                        </m:r>
                      </m:sub>
                    </m:sSub>
                  </m:oMath>
                </a14:m>
                <a:r>
                  <a:rPr lang="en-US" dirty="0"/>
                  <a:t> = 00</a:t>
                </a:r>
              </a:p>
            </p:txBody>
          </p:sp>
        </mc:Choice>
        <mc:Fallback xmlns="">
          <p:sp>
            <p:nvSpPr>
              <p:cNvPr id="4" name="Content Placeholder 10">
                <a:extLst>
                  <a:ext uri="{FF2B5EF4-FFF2-40B4-BE49-F238E27FC236}">
                    <a16:creationId xmlns:a16="http://schemas.microsoft.com/office/drawing/2014/main" id="{0BB4022A-0FCF-4E80-AAC7-A32632CD8E22}"/>
                  </a:ext>
                </a:extLst>
              </p:cNvPr>
              <p:cNvSpPr>
                <a:spLocks noGrp="1" noRot="1" noChangeAspect="1" noMove="1" noResize="1" noEditPoints="1" noAdjustHandles="1" noChangeArrowheads="1" noChangeShapeType="1" noTextEdit="1"/>
              </p:cNvSpPr>
              <p:nvPr>
                <p:ph idx="1"/>
              </p:nvPr>
            </p:nvSpPr>
            <p:spPr>
              <a:xfrm>
                <a:off x="1954796" y="2239388"/>
                <a:ext cx="1914613" cy="615956"/>
              </a:xfrm>
              <a:blipFill>
                <a:blip r:embed="rId2"/>
                <a:stretch>
                  <a:fillRect t="-21782" r="-3503" b="-24752"/>
                </a:stretch>
              </a:blipFill>
            </p:spPr>
            <p:txBody>
              <a:bodyPr/>
              <a:lstStyle/>
              <a:p>
                <a:r>
                  <a:rPr lang="en-US">
                    <a:noFill/>
                  </a:rPr>
                  <a:t> </a:t>
                </a:r>
              </a:p>
            </p:txBody>
          </p:sp>
        </mc:Fallback>
      </mc:AlternateContent>
      <p:sp>
        <p:nvSpPr>
          <p:cNvPr id="3" name="Date Placeholder 2"/>
          <p:cNvSpPr>
            <a:spLocks noGrp="1"/>
          </p:cNvSpPr>
          <p:nvPr>
            <p:ph type="dt" sz="half" idx="10"/>
          </p:nvPr>
        </p:nvSpPr>
        <p:spPr/>
        <p:txBody>
          <a:bodyPr/>
          <a:lstStyle/>
          <a:p>
            <a:fld id="{FF38B80B-900E-42A5-B398-D314F184A731}" type="datetime3">
              <a:rPr lang="en-US" smtClean="0"/>
              <a:t>24 December 2025</a:t>
            </a:fld>
            <a:endParaRPr lang="en-US"/>
          </a:p>
        </p:txBody>
      </p:sp>
      <p:sp>
        <p:nvSpPr>
          <p:cNvPr id="10" name="Slide Number Placeholder 9"/>
          <p:cNvSpPr>
            <a:spLocks noGrp="1"/>
          </p:cNvSpPr>
          <p:nvPr>
            <p:ph type="sldNum" sz="quarter" idx="12"/>
          </p:nvPr>
        </p:nvSpPr>
        <p:spPr/>
        <p:txBody>
          <a:bodyPr/>
          <a:lstStyle/>
          <a:p>
            <a:fld id="{48F63A3B-78C7-47BE-AE5E-E10140E04643}" type="slidenum">
              <a:rPr lang="en-US" smtClean="0"/>
              <a:t>16</a:t>
            </a:fld>
            <a:endParaRPr lang="en-US" dirty="0"/>
          </a:p>
        </p:txBody>
      </p:sp>
      <p:sp>
        <p:nvSpPr>
          <p:cNvPr id="12" name="Title 1">
            <a:extLst>
              <a:ext uri="{FF2B5EF4-FFF2-40B4-BE49-F238E27FC236}">
                <a16:creationId xmlns:a16="http://schemas.microsoft.com/office/drawing/2014/main" id="{97CC9F54-A445-4971-A2C8-89CEBBEE08E1}"/>
              </a:ext>
            </a:extLst>
          </p:cNvPr>
          <p:cNvSpPr>
            <a:spLocks noGrp="1"/>
          </p:cNvSpPr>
          <p:nvPr>
            <p:ph type="title"/>
          </p:nvPr>
        </p:nvSpPr>
        <p:spPr>
          <a:xfrm>
            <a:off x="199505" y="266007"/>
            <a:ext cx="16093440" cy="1163782"/>
          </a:xfrm>
        </p:spPr>
        <p:txBody>
          <a:bodyPr>
            <a:normAutofit/>
          </a:bodyPr>
          <a:lstStyle/>
          <a:p>
            <a:r>
              <a:rPr lang="en-US" sz="4400" b="1" dirty="0">
                <a:solidFill>
                  <a:srgbClr val="0070C0"/>
                </a:solidFill>
              </a:rPr>
              <a:t>Operations obtained by controlling one set of inputs to a parallel adder</a:t>
            </a:r>
          </a:p>
        </p:txBody>
      </p:sp>
      <p:sp>
        <p:nvSpPr>
          <p:cNvPr id="13" name="TextBox 12">
            <a:extLst>
              <a:ext uri="{FF2B5EF4-FFF2-40B4-BE49-F238E27FC236}">
                <a16:creationId xmlns:a16="http://schemas.microsoft.com/office/drawing/2014/main" id="{913D515D-2135-4892-BD7A-BF1D8595A2A1}"/>
              </a:ext>
            </a:extLst>
          </p:cNvPr>
          <p:cNvSpPr txBox="1"/>
          <p:nvPr/>
        </p:nvSpPr>
        <p:spPr>
          <a:xfrm>
            <a:off x="14296939" y="7286946"/>
            <a:ext cx="1689812" cy="646331"/>
          </a:xfrm>
          <a:prstGeom prst="rect">
            <a:avLst/>
          </a:prstGeom>
          <a:noFill/>
        </p:spPr>
        <p:txBody>
          <a:bodyPr wrap="square" rtlCol="0">
            <a:spAutoFit/>
          </a:bodyPr>
          <a:lstStyle/>
          <a:p>
            <a:r>
              <a:rPr lang="en-US" sz="3600" b="1" dirty="0">
                <a:solidFill>
                  <a:srgbClr val="FF0000"/>
                </a:solidFill>
              </a:rPr>
              <a:t>Fig. 9.6</a:t>
            </a:r>
          </a:p>
        </p:txBody>
      </p:sp>
      <p:pic>
        <p:nvPicPr>
          <p:cNvPr id="14" name="Picture 13"/>
          <p:cNvPicPr>
            <a:picLocks noChangeAspect="1"/>
          </p:cNvPicPr>
          <p:nvPr/>
        </p:nvPicPr>
        <p:blipFill>
          <a:blip r:embed="rId3"/>
          <a:stretch>
            <a:fillRect/>
          </a:stretch>
        </p:blipFill>
        <p:spPr>
          <a:xfrm>
            <a:off x="4360555" y="1202624"/>
            <a:ext cx="4654572" cy="2787331"/>
          </a:xfrm>
          <a:prstGeom prst="rect">
            <a:avLst/>
          </a:prstGeom>
        </p:spPr>
      </p:pic>
      <p:sp>
        <p:nvSpPr>
          <p:cNvPr id="16" name="TextBox 15"/>
          <p:cNvSpPr txBox="1"/>
          <p:nvPr/>
        </p:nvSpPr>
        <p:spPr>
          <a:xfrm>
            <a:off x="4223902" y="3887886"/>
            <a:ext cx="4471288" cy="461665"/>
          </a:xfrm>
          <a:prstGeom prst="rect">
            <a:avLst/>
          </a:prstGeom>
          <a:noFill/>
        </p:spPr>
        <p:txBody>
          <a:bodyPr wrap="square" rtlCol="0">
            <a:spAutoFit/>
          </a:bodyPr>
          <a:lstStyle/>
          <a:p>
            <a:pPr algn="ctr"/>
            <a:r>
              <a:rPr lang="en-US" sz="2400" dirty="0"/>
              <a:t>(e) Transfer of </a:t>
            </a:r>
            <a:r>
              <a:rPr lang="en-US" sz="2400" i="1" dirty="0"/>
              <a:t>A</a:t>
            </a:r>
          </a:p>
        </p:txBody>
      </p:sp>
      <p:sp>
        <p:nvSpPr>
          <p:cNvPr id="17" name="TextBox 16"/>
          <p:cNvSpPr txBox="1"/>
          <p:nvPr/>
        </p:nvSpPr>
        <p:spPr>
          <a:xfrm>
            <a:off x="9540829" y="3893964"/>
            <a:ext cx="4471288" cy="461665"/>
          </a:xfrm>
          <a:prstGeom prst="rect">
            <a:avLst/>
          </a:prstGeom>
          <a:noFill/>
        </p:spPr>
        <p:txBody>
          <a:bodyPr wrap="square" rtlCol="0">
            <a:spAutoFit/>
          </a:bodyPr>
          <a:lstStyle/>
          <a:p>
            <a:pPr algn="ctr"/>
            <a:r>
              <a:rPr lang="en-US" sz="2400" dirty="0"/>
              <a:t>(f) Increment of </a:t>
            </a:r>
            <a:r>
              <a:rPr lang="en-US" sz="2400" i="1" dirty="0"/>
              <a:t>A</a:t>
            </a:r>
          </a:p>
        </p:txBody>
      </p:sp>
      <p:pic>
        <p:nvPicPr>
          <p:cNvPr id="19" name="Picture 18"/>
          <p:cNvPicPr>
            <a:picLocks noChangeAspect="1"/>
          </p:cNvPicPr>
          <p:nvPr/>
        </p:nvPicPr>
        <p:blipFill>
          <a:blip r:embed="rId4"/>
          <a:stretch>
            <a:fillRect/>
          </a:stretch>
        </p:blipFill>
        <p:spPr>
          <a:xfrm>
            <a:off x="9899577" y="1202624"/>
            <a:ext cx="4638242" cy="2777552"/>
          </a:xfrm>
          <a:prstGeom prst="rect">
            <a:avLst/>
          </a:prstGeom>
        </p:spPr>
      </p:pic>
      <p:pic>
        <p:nvPicPr>
          <p:cNvPr id="20" name="Picture 19"/>
          <p:cNvPicPr>
            <a:picLocks noChangeAspect="1"/>
          </p:cNvPicPr>
          <p:nvPr/>
        </p:nvPicPr>
        <p:blipFill>
          <a:blip r:embed="rId5"/>
          <a:stretch>
            <a:fillRect/>
          </a:stretch>
        </p:blipFill>
        <p:spPr>
          <a:xfrm>
            <a:off x="4298177" y="4524408"/>
            <a:ext cx="4830387" cy="2892615"/>
          </a:xfrm>
          <a:prstGeom prst="rect">
            <a:avLst/>
          </a:prstGeom>
        </p:spPr>
      </p:pic>
      <p:sp>
        <p:nvSpPr>
          <p:cNvPr id="21" name="TextBox 20"/>
          <p:cNvSpPr txBox="1"/>
          <p:nvPr/>
        </p:nvSpPr>
        <p:spPr>
          <a:xfrm>
            <a:off x="4079779" y="7361047"/>
            <a:ext cx="4471288" cy="461665"/>
          </a:xfrm>
          <a:prstGeom prst="rect">
            <a:avLst/>
          </a:prstGeom>
          <a:noFill/>
        </p:spPr>
        <p:txBody>
          <a:bodyPr wrap="square" rtlCol="0">
            <a:spAutoFit/>
          </a:bodyPr>
          <a:lstStyle/>
          <a:p>
            <a:pPr algn="ctr"/>
            <a:r>
              <a:rPr lang="en-US" sz="2400" dirty="0"/>
              <a:t>(g) Decrement of </a:t>
            </a:r>
            <a:r>
              <a:rPr lang="en-US" sz="2400" i="1" dirty="0"/>
              <a:t>A</a:t>
            </a:r>
          </a:p>
        </p:txBody>
      </p:sp>
      <p:pic>
        <p:nvPicPr>
          <p:cNvPr id="22" name="Picture 21"/>
          <p:cNvPicPr>
            <a:picLocks noChangeAspect="1"/>
          </p:cNvPicPr>
          <p:nvPr/>
        </p:nvPicPr>
        <p:blipFill>
          <a:blip r:embed="rId6"/>
          <a:stretch>
            <a:fillRect/>
          </a:stretch>
        </p:blipFill>
        <p:spPr>
          <a:xfrm>
            <a:off x="10096187" y="4389493"/>
            <a:ext cx="4962206" cy="2971554"/>
          </a:xfrm>
          <a:prstGeom prst="rect">
            <a:avLst/>
          </a:prstGeom>
        </p:spPr>
      </p:pic>
      <p:sp>
        <p:nvSpPr>
          <p:cNvPr id="23" name="TextBox 22"/>
          <p:cNvSpPr txBox="1"/>
          <p:nvPr/>
        </p:nvSpPr>
        <p:spPr>
          <a:xfrm>
            <a:off x="9819139" y="7286946"/>
            <a:ext cx="4471288" cy="461665"/>
          </a:xfrm>
          <a:prstGeom prst="rect">
            <a:avLst/>
          </a:prstGeom>
          <a:noFill/>
        </p:spPr>
        <p:txBody>
          <a:bodyPr wrap="square" rtlCol="0">
            <a:spAutoFit/>
          </a:bodyPr>
          <a:lstStyle/>
          <a:p>
            <a:pPr algn="ctr"/>
            <a:r>
              <a:rPr lang="en-US" sz="2400" dirty="0"/>
              <a:t>(h) Transfer of </a:t>
            </a:r>
            <a:r>
              <a:rPr lang="en-US" sz="2400" i="1" dirty="0"/>
              <a:t>A</a:t>
            </a:r>
          </a:p>
        </p:txBody>
      </p:sp>
      <mc:AlternateContent xmlns:mc="http://schemas.openxmlformats.org/markup-compatibility/2006" xmlns:a14="http://schemas.microsoft.com/office/drawing/2010/main">
        <mc:Choice Requires="a14">
          <p:sp>
            <p:nvSpPr>
              <p:cNvPr id="2" name="Content Placeholder 10">
                <a:extLst>
                  <a:ext uri="{FF2B5EF4-FFF2-40B4-BE49-F238E27FC236}">
                    <a16:creationId xmlns:a16="http://schemas.microsoft.com/office/drawing/2014/main" id="{C779A100-E22E-99C8-371F-C0250BDCE924}"/>
                  </a:ext>
                </a:extLst>
              </p:cNvPr>
              <p:cNvSpPr txBox="1">
                <a:spLocks/>
              </p:cNvSpPr>
              <p:nvPr/>
            </p:nvSpPr>
            <p:spPr>
              <a:xfrm>
                <a:off x="2008300" y="5567292"/>
                <a:ext cx="1914613" cy="615956"/>
              </a:xfrm>
              <a:prstGeom prst="rect">
                <a:avLst/>
              </a:prstGeom>
            </p:spPr>
            <p:txBody>
              <a:bodyPr vert="horz" lIns="91440" tIns="45720" rIns="91440" bIns="45720" rtlCol="0">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oMath>
                </a14:m>
                <a:r>
                  <a:rPr lang="en-US" dirty="0"/>
                  <a:t> = 11</a:t>
                </a:r>
              </a:p>
              <a:p>
                <a:pPr marL="0" indent="0">
                  <a:buFont typeface="Arial" panose="020B0604020202020204" pitchFamily="34" charset="0"/>
                  <a:buNone/>
                </a:pPr>
                <a:endParaRPr lang="en-US" dirty="0"/>
              </a:p>
            </p:txBody>
          </p:sp>
        </mc:Choice>
        <mc:Fallback xmlns="">
          <p:sp>
            <p:nvSpPr>
              <p:cNvPr id="2" name="Content Placeholder 10">
                <a:extLst>
                  <a:ext uri="{FF2B5EF4-FFF2-40B4-BE49-F238E27FC236}">
                    <a16:creationId xmlns:a16="http://schemas.microsoft.com/office/drawing/2014/main" id="{C779A100-E22E-99C8-371F-C0250BDCE924}"/>
                  </a:ext>
                </a:extLst>
              </p:cNvPr>
              <p:cNvSpPr txBox="1">
                <a:spLocks noRot="1" noChangeAspect="1" noMove="1" noResize="1" noEditPoints="1" noAdjustHandles="1" noChangeArrowheads="1" noChangeShapeType="1" noTextEdit="1"/>
              </p:cNvSpPr>
              <p:nvPr/>
            </p:nvSpPr>
            <p:spPr>
              <a:xfrm>
                <a:off x="2008300" y="5567292"/>
                <a:ext cx="1914613" cy="615956"/>
              </a:xfrm>
              <a:prstGeom prst="rect">
                <a:avLst/>
              </a:prstGeom>
              <a:blipFill>
                <a:blip r:embed="rId7"/>
                <a:stretch>
                  <a:fillRect t="-21782" r="-3492" b="-24752"/>
                </a:stretch>
              </a:blipFill>
            </p:spPr>
            <p:txBody>
              <a:bodyPr/>
              <a:lstStyle/>
              <a:p>
                <a:r>
                  <a:rPr lang="en-US">
                    <a:noFill/>
                  </a:rPr>
                  <a:t> </a:t>
                </a:r>
              </a:p>
            </p:txBody>
          </p:sp>
        </mc:Fallback>
      </mc:AlternateContent>
    </p:spTree>
    <p:extLst>
      <p:ext uri="{BB962C8B-B14F-4D97-AF65-F5344CB8AC3E}">
        <p14:creationId xmlns:p14="http://schemas.microsoft.com/office/powerpoint/2010/main" val="2268137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 calcmode="lin" valueType="num">
                                      <p:cBhvr additive="base">
                                        <p:cTn id="45" dur="500" fill="hold"/>
                                        <p:tgtEl>
                                          <p:spTgt spid="21"/>
                                        </p:tgtEl>
                                        <p:attrNameLst>
                                          <p:attrName>ppt_x</p:attrName>
                                        </p:attrNameLst>
                                      </p:cBhvr>
                                      <p:tavLst>
                                        <p:tav tm="0">
                                          <p:val>
                                            <p:strVal val="#ppt_x"/>
                                          </p:val>
                                        </p:tav>
                                        <p:tav tm="100000">
                                          <p:val>
                                            <p:strVal val="#ppt_x"/>
                                          </p:val>
                                        </p:tav>
                                      </p:tavLst>
                                    </p:anim>
                                    <p:anim calcmode="lin" valueType="num">
                                      <p:cBhvr additive="base">
                                        <p:cTn id="4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500" fill="hold"/>
                                        <p:tgtEl>
                                          <p:spTgt spid="22"/>
                                        </p:tgtEl>
                                        <p:attrNameLst>
                                          <p:attrName>ppt_x</p:attrName>
                                        </p:attrNameLst>
                                      </p:cBhvr>
                                      <p:tavLst>
                                        <p:tav tm="0">
                                          <p:val>
                                            <p:strVal val="#ppt_x"/>
                                          </p:val>
                                        </p:tav>
                                        <p:tav tm="100000">
                                          <p:val>
                                            <p:strVal val="#ppt_x"/>
                                          </p:val>
                                        </p:tav>
                                      </p:tavLst>
                                    </p:anim>
                                    <p:anim calcmode="lin" valueType="num">
                                      <p:cBhvr additive="base">
                                        <p:cTn id="5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additive="base">
                                        <p:cTn id="57" dur="500" fill="hold"/>
                                        <p:tgtEl>
                                          <p:spTgt spid="23"/>
                                        </p:tgtEl>
                                        <p:attrNameLst>
                                          <p:attrName>ppt_x</p:attrName>
                                        </p:attrNameLst>
                                      </p:cBhvr>
                                      <p:tavLst>
                                        <p:tav tm="0">
                                          <p:val>
                                            <p:strVal val="#ppt_x"/>
                                          </p:val>
                                        </p:tav>
                                        <p:tav tm="100000">
                                          <p:val>
                                            <p:strVal val="#ppt_x"/>
                                          </p:val>
                                        </p:tav>
                                      </p:tavLst>
                                    </p:anim>
                                    <p:anim calcmode="lin" valueType="num">
                                      <p:cBhvr additive="base">
                                        <p:cTn id="5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3" grpId="0"/>
      <p:bldP spid="16" grpId="0"/>
      <p:bldP spid="17" grpId="0"/>
      <p:bldP spid="21" grpId="0"/>
      <p:bldP spid="23"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E7DCA8-51F2-43B9-8CF6-9EB3A1227742}" type="datetime3">
              <a:rPr lang="en-US" smtClean="0"/>
              <a:t>24 December 2025</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t>17</a:t>
            </a:fld>
            <a:endParaRPr lang="en-US" dirty="0"/>
          </a:p>
        </p:txBody>
      </p:sp>
      <p:sp>
        <p:nvSpPr>
          <p:cNvPr id="6" name="TextBox 5"/>
          <p:cNvSpPr txBox="1"/>
          <p:nvPr/>
        </p:nvSpPr>
        <p:spPr>
          <a:xfrm>
            <a:off x="120744" y="581892"/>
            <a:ext cx="16205451" cy="7478970"/>
          </a:xfrm>
          <a:prstGeom prst="rect">
            <a:avLst/>
          </a:prstGeom>
          <a:noFill/>
        </p:spPr>
        <p:txBody>
          <a:bodyPr wrap="square" rtlCol="0">
            <a:spAutoFit/>
          </a:bodyPr>
          <a:lstStyle/>
          <a:p>
            <a:r>
              <a:rPr lang="en-US" sz="3600" dirty="0"/>
              <a:t>The condition illustrated in Fig. 9.6 (g) inserts all 1s into the B terminals. This produces the </a:t>
            </a:r>
            <a:r>
              <a:rPr lang="en-US" sz="3600" dirty="0">
                <a:solidFill>
                  <a:srgbClr val="FF0000"/>
                </a:solidFill>
              </a:rPr>
              <a:t>decrement operation, F = A – 1</a:t>
            </a:r>
            <a:r>
              <a:rPr lang="en-US" sz="3600" dirty="0"/>
              <a:t>. To show that this condition is indeed a decrement operation, consider a parallel adder with </a:t>
            </a:r>
            <a:r>
              <a:rPr lang="en-US" sz="3600" i="1" dirty="0"/>
              <a:t>n</a:t>
            </a:r>
            <a:r>
              <a:rPr lang="en-US" sz="3600" dirty="0"/>
              <a:t> full-adder circuits. When the </a:t>
            </a:r>
            <a:r>
              <a:rPr lang="en-US" sz="3600" b="1" dirty="0">
                <a:solidFill>
                  <a:srgbClr val="7030A0"/>
                </a:solidFill>
              </a:rPr>
              <a:t>output carry </a:t>
            </a:r>
            <a:r>
              <a:rPr lang="en-US" sz="3600" dirty="0"/>
              <a:t>is 1, it </a:t>
            </a:r>
            <a:r>
              <a:rPr lang="en-US" sz="3600" b="1" dirty="0">
                <a:solidFill>
                  <a:srgbClr val="7030A0"/>
                </a:solidFill>
              </a:rPr>
              <a:t>represents the number 2</a:t>
            </a:r>
            <a:r>
              <a:rPr lang="en-US" sz="3600" b="1" baseline="30000" dirty="0">
                <a:solidFill>
                  <a:srgbClr val="7030A0"/>
                </a:solidFill>
              </a:rPr>
              <a:t>n</a:t>
            </a:r>
            <a:r>
              <a:rPr lang="en-US" sz="3600" b="1" dirty="0">
                <a:solidFill>
                  <a:srgbClr val="7030A0"/>
                </a:solidFill>
              </a:rPr>
              <a:t> </a:t>
            </a:r>
            <a:r>
              <a:rPr lang="en-US" sz="3600" dirty="0"/>
              <a:t>because 2</a:t>
            </a:r>
            <a:r>
              <a:rPr lang="en-US" sz="3600" baseline="30000" dirty="0"/>
              <a:t>n</a:t>
            </a:r>
            <a:r>
              <a:rPr lang="en-US" sz="3600" dirty="0"/>
              <a:t> in binary consists of a 1 followed by </a:t>
            </a:r>
            <a:r>
              <a:rPr lang="en-US" sz="3600" i="1" dirty="0"/>
              <a:t>n</a:t>
            </a:r>
            <a:r>
              <a:rPr lang="en-US" sz="3600" dirty="0"/>
              <a:t> 0s. Subtracting 1 from 2</a:t>
            </a:r>
            <a:r>
              <a:rPr lang="en-US" sz="3600" baseline="30000" dirty="0"/>
              <a:t>n</a:t>
            </a:r>
            <a:r>
              <a:rPr lang="en-US" sz="3600" dirty="0"/>
              <a:t>, we obtain 2</a:t>
            </a:r>
            <a:r>
              <a:rPr lang="en-US" sz="3600" baseline="30000" dirty="0"/>
              <a:t>n</a:t>
            </a:r>
            <a:r>
              <a:rPr lang="en-US" sz="3600" dirty="0"/>
              <a:t> – 1, which in binary is a number of </a:t>
            </a:r>
            <a:r>
              <a:rPr lang="en-US" sz="3600" i="1" dirty="0"/>
              <a:t>n</a:t>
            </a:r>
            <a:r>
              <a:rPr lang="en-US" sz="3600" dirty="0"/>
              <a:t> 1s. Adding 2</a:t>
            </a:r>
            <a:r>
              <a:rPr lang="en-US" sz="3600" baseline="30000" dirty="0"/>
              <a:t>n</a:t>
            </a:r>
            <a:r>
              <a:rPr lang="en-US" sz="3600" dirty="0"/>
              <a:t> – 1 to A, we obtain </a:t>
            </a:r>
            <a:r>
              <a:rPr lang="en-US" sz="3600" dirty="0">
                <a:solidFill>
                  <a:srgbClr val="FF0000"/>
                </a:solidFill>
              </a:rPr>
              <a:t>F</a:t>
            </a:r>
            <a:r>
              <a:rPr lang="en-US" sz="3600" dirty="0"/>
              <a:t> = </a:t>
            </a:r>
            <a:r>
              <a:rPr lang="en-US" sz="3600" dirty="0">
                <a:solidFill>
                  <a:srgbClr val="FF0000"/>
                </a:solidFill>
              </a:rPr>
              <a:t>A +</a:t>
            </a:r>
            <a:r>
              <a:rPr lang="en-US" sz="3600" dirty="0"/>
              <a:t> </a:t>
            </a:r>
            <a:r>
              <a:rPr lang="en-US" sz="3600" b="1" dirty="0">
                <a:solidFill>
                  <a:srgbClr val="7030A0"/>
                </a:solidFill>
              </a:rPr>
              <a:t>2</a:t>
            </a:r>
            <a:r>
              <a:rPr lang="en-US" sz="3600" b="1" baseline="30000" dirty="0">
                <a:solidFill>
                  <a:srgbClr val="7030A0"/>
                </a:solidFill>
              </a:rPr>
              <a:t>n</a:t>
            </a:r>
            <a:r>
              <a:rPr lang="en-US" sz="3600" dirty="0"/>
              <a:t> </a:t>
            </a:r>
            <a:r>
              <a:rPr lang="en-US" sz="3600" dirty="0">
                <a:solidFill>
                  <a:srgbClr val="FF0000"/>
                </a:solidFill>
              </a:rPr>
              <a:t>– 1</a:t>
            </a:r>
            <a:r>
              <a:rPr lang="en-US" sz="3600" dirty="0"/>
              <a:t> = </a:t>
            </a:r>
            <a:r>
              <a:rPr lang="en-US" sz="3600" b="1" dirty="0">
                <a:solidFill>
                  <a:srgbClr val="7030A0"/>
                </a:solidFill>
              </a:rPr>
              <a:t>2</a:t>
            </a:r>
            <a:r>
              <a:rPr lang="en-US" sz="3600" b="1" baseline="30000" dirty="0">
                <a:solidFill>
                  <a:srgbClr val="7030A0"/>
                </a:solidFill>
              </a:rPr>
              <a:t>n</a:t>
            </a:r>
            <a:r>
              <a:rPr lang="en-US" sz="3600" dirty="0"/>
              <a:t> + </a:t>
            </a:r>
            <a:r>
              <a:rPr lang="en-US" sz="3600" dirty="0">
                <a:solidFill>
                  <a:srgbClr val="FF0000"/>
                </a:solidFill>
              </a:rPr>
              <a:t>A – 1</a:t>
            </a:r>
            <a:r>
              <a:rPr lang="en-US" sz="3600" dirty="0"/>
              <a:t>. If the output carry </a:t>
            </a:r>
            <a:r>
              <a:rPr lang="en-US" sz="3600" b="1" dirty="0">
                <a:solidFill>
                  <a:srgbClr val="7030A0"/>
                </a:solidFill>
              </a:rPr>
              <a:t>2</a:t>
            </a:r>
            <a:r>
              <a:rPr lang="en-US" sz="3600" b="1" baseline="30000" dirty="0">
                <a:solidFill>
                  <a:srgbClr val="7030A0"/>
                </a:solidFill>
              </a:rPr>
              <a:t>n</a:t>
            </a:r>
            <a:r>
              <a:rPr lang="en-US" sz="3600" dirty="0"/>
              <a:t> is removed then we obtain the </a:t>
            </a:r>
            <a:r>
              <a:rPr lang="en-US" sz="3600" dirty="0">
                <a:solidFill>
                  <a:srgbClr val="FF0000"/>
                </a:solidFill>
              </a:rPr>
              <a:t>decrement operation, F = A – 1</a:t>
            </a:r>
            <a:r>
              <a:rPr lang="en-US" sz="3600" dirty="0"/>
              <a:t>.</a:t>
            </a:r>
          </a:p>
          <a:p>
            <a:r>
              <a:rPr lang="en-US" sz="3200" dirty="0"/>
              <a:t>To demonstrate with a numerical example, let us consider, n = 8 and A = 9. Then</a:t>
            </a:r>
          </a:p>
          <a:p>
            <a:pPr algn="ctr"/>
            <a:r>
              <a:rPr lang="en-US" sz="3200" dirty="0"/>
              <a:t>A = 0000 1001 = 9</a:t>
            </a:r>
          </a:p>
          <a:p>
            <a:pPr algn="ctr"/>
            <a:r>
              <a:rPr lang="en-US" sz="3200" b="1" dirty="0">
                <a:solidFill>
                  <a:srgbClr val="7030A0"/>
                </a:solidFill>
              </a:rPr>
              <a:t>2</a:t>
            </a:r>
            <a:r>
              <a:rPr lang="en-US" sz="3200" b="1" baseline="30000" dirty="0">
                <a:solidFill>
                  <a:srgbClr val="7030A0"/>
                </a:solidFill>
              </a:rPr>
              <a:t>8</a:t>
            </a:r>
            <a:r>
              <a:rPr lang="en-US" sz="3200" dirty="0"/>
              <a:t> = 1 0000 0000 = </a:t>
            </a:r>
            <a:r>
              <a:rPr lang="en-US" sz="3200" b="1" dirty="0">
                <a:solidFill>
                  <a:srgbClr val="7030A0"/>
                </a:solidFill>
              </a:rPr>
              <a:t>256</a:t>
            </a:r>
          </a:p>
          <a:p>
            <a:pPr algn="ctr"/>
            <a:r>
              <a:rPr lang="en-US" sz="3200" b="1" dirty="0">
                <a:solidFill>
                  <a:srgbClr val="7030A0"/>
                </a:solidFill>
              </a:rPr>
              <a:t>2</a:t>
            </a:r>
            <a:r>
              <a:rPr lang="en-US" sz="3200" b="1" baseline="30000" dirty="0">
                <a:solidFill>
                  <a:srgbClr val="7030A0"/>
                </a:solidFill>
              </a:rPr>
              <a:t>8</a:t>
            </a:r>
            <a:r>
              <a:rPr lang="en-US" sz="3200" dirty="0"/>
              <a:t> – 1 = 1111 1111 = 255</a:t>
            </a:r>
          </a:p>
          <a:p>
            <a:pPr algn="ctr"/>
            <a:r>
              <a:rPr lang="en-US" sz="3200" dirty="0"/>
              <a:t>A + </a:t>
            </a:r>
            <a:r>
              <a:rPr lang="en-US" sz="3200" b="1" dirty="0">
                <a:solidFill>
                  <a:srgbClr val="7030A0"/>
                </a:solidFill>
              </a:rPr>
              <a:t>2</a:t>
            </a:r>
            <a:r>
              <a:rPr lang="en-US" sz="3200" b="1" baseline="30000" dirty="0">
                <a:solidFill>
                  <a:srgbClr val="7030A0"/>
                </a:solidFill>
              </a:rPr>
              <a:t>8</a:t>
            </a:r>
            <a:r>
              <a:rPr lang="en-US" sz="3200" dirty="0"/>
              <a:t> – 1 = 1 0000 1000 = </a:t>
            </a:r>
            <a:r>
              <a:rPr lang="en-US" sz="3200" b="1" dirty="0">
                <a:solidFill>
                  <a:srgbClr val="7030A0"/>
                </a:solidFill>
              </a:rPr>
              <a:t>256</a:t>
            </a:r>
            <a:r>
              <a:rPr lang="en-US" sz="3200" dirty="0"/>
              <a:t> + 8</a:t>
            </a:r>
          </a:p>
          <a:p>
            <a:r>
              <a:rPr lang="en-US" sz="3200" dirty="0"/>
              <a:t>Removing the output carry </a:t>
            </a:r>
            <a:r>
              <a:rPr lang="en-US" sz="3200" b="1" dirty="0">
                <a:solidFill>
                  <a:srgbClr val="7030A0"/>
                </a:solidFill>
              </a:rPr>
              <a:t>2</a:t>
            </a:r>
            <a:r>
              <a:rPr lang="en-US" sz="3200" b="1" baseline="30000" dirty="0">
                <a:solidFill>
                  <a:srgbClr val="7030A0"/>
                </a:solidFill>
              </a:rPr>
              <a:t>n</a:t>
            </a:r>
            <a:r>
              <a:rPr lang="en-US" sz="3200" b="1" dirty="0">
                <a:solidFill>
                  <a:srgbClr val="7030A0"/>
                </a:solidFill>
              </a:rPr>
              <a:t> = 256</a:t>
            </a:r>
            <a:r>
              <a:rPr lang="en-US" sz="3200" dirty="0"/>
              <a:t>, we obtain 8 (i.e., 9 – 1). Thus, we have decremented A by 1 (from 9 to 8) by adding to it a binary number with all 1s. </a:t>
            </a:r>
          </a:p>
        </p:txBody>
      </p:sp>
    </p:spTree>
    <p:extLst>
      <p:ext uri="{BB962C8B-B14F-4D97-AF65-F5344CB8AC3E}">
        <p14:creationId xmlns:p14="http://schemas.microsoft.com/office/powerpoint/2010/main" val="3135791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9C7E-5E0F-4610-80C8-7D666BCA8545}"/>
              </a:ext>
            </a:extLst>
          </p:cNvPr>
          <p:cNvSpPr>
            <a:spLocks noGrp="1"/>
          </p:cNvSpPr>
          <p:nvPr>
            <p:ph type="title"/>
          </p:nvPr>
        </p:nvSpPr>
        <p:spPr>
          <a:xfrm>
            <a:off x="1712422" y="153669"/>
            <a:ext cx="12045142" cy="914430"/>
          </a:xfrm>
        </p:spPr>
        <p:txBody>
          <a:bodyPr>
            <a:normAutofit/>
          </a:bodyPr>
          <a:lstStyle/>
          <a:p>
            <a:r>
              <a:rPr lang="en-US" sz="5400" b="1" dirty="0">
                <a:solidFill>
                  <a:srgbClr val="0070C0"/>
                </a:solidFill>
              </a:rPr>
              <a:t>Function Table for Arithmetic Circuit</a:t>
            </a:r>
          </a:p>
        </p:txBody>
      </p:sp>
      <p:sp>
        <p:nvSpPr>
          <p:cNvPr id="3" name="Date Placeholder 2"/>
          <p:cNvSpPr>
            <a:spLocks noGrp="1"/>
          </p:cNvSpPr>
          <p:nvPr>
            <p:ph type="dt" sz="half" idx="10"/>
          </p:nvPr>
        </p:nvSpPr>
        <p:spPr/>
        <p:txBody>
          <a:bodyPr/>
          <a:lstStyle/>
          <a:p>
            <a:fld id="{916838AA-B2AF-4BBE-8BB2-AC94B765B086}" type="datetime3">
              <a:rPr lang="en-US" smtClean="0"/>
              <a:t>24 December 2025</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t>18</a:t>
            </a:fld>
            <a:endParaRPr lang="en-US" dirty="0"/>
          </a:p>
        </p:txBody>
      </p:sp>
      <p:sp>
        <p:nvSpPr>
          <p:cNvPr id="8" name="Content Placeholder 7"/>
          <p:cNvSpPr txBox="1">
            <a:spLocks noGrp="1"/>
          </p:cNvSpPr>
          <p:nvPr>
            <p:ph idx="1"/>
          </p:nvPr>
        </p:nvSpPr>
        <p:spPr>
          <a:xfrm>
            <a:off x="433301" y="1068099"/>
            <a:ext cx="14196060" cy="557717"/>
          </a:xfrm>
          <a:prstGeom prst="rect">
            <a:avLst/>
          </a:prstGeom>
          <a:noFill/>
        </p:spPr>
        <p:txBody>
          <a:bodyPr wrap="square" rtlCol="0">
            <a:spAutoFit/>
          </a:bodyPr>
          <a:lstStyle/>
          <a:p>
            <a:pPr marL="0" indent="0">
              <a:buNone/>
            </a:pPr>
            <a:r>
              <a:rPr lang="en-US" dirty="0"/>
              <a:t>Table 9.1 Function Table for the arithmetic circuit of Fig. 9.8</a:t>
            </a:r>
          </a:p>
        </p:txBody>
      </p:sp>
      <p:pic>
        <p:nvPicPr>
          <p:cNvPr id="9" name="Picture 8"/>
          <p:cNvPicPr>
            <a:picLocks noChangeAspect="1"/>
          </p:cNvPicPr>
          <p:nvPr/>
        </p:nvPicPr>
        <p:blipFill rotWithShape="1">
          <a:blip r:embed="rId3">
            <a:duotone>
              <a:schemeClr val="accent5">
                <a:shade val="45000"/>
                <a:satMod val="135000"/>
              </a:schemeClr>
              <a:prstClr val="white"/>
            </a:duotone>
          </a:blip>
          <a:srcRect l="3819" t="17386" r="5277" b="6831"/>
          <a:stretch/>
        </p:blipFill>
        <p:spPr>
          <a:xfrm>
            <a:off x="433301" y="1625816"/>
            <a:ext cx="14708544" cy="6293818"/>
          </a:xfrm>
          <a:prstGeom prst="rect">
            <a:avLst/>
          </a:prstGeom>
        </p:spPr>
      </p:pic>
    </p:spTree>
    <p:extLst>
      <p:ext uri="{BB962C8B-B14F-4D97-AF65-F5344CB8AC3E}">
        <p14:creationId xmlns:p14="http://schemas.microsoft.com/office/powerpoint/2010/main" val="133694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BF3BC8-4190-4AD3-A962-056AD2E1F547}" type="datetime3">
              <a:rPr lang="en-US" smtClean="0"/>
              <a:t>24 December 2025</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t>19</a:t>
            </a:fld>
            <a:endParaRPr lang="en-US" dirty="0"/>
          </a:p>
        </p:txBody>
      </p:sp>
      <p:sp>
        <p:nvSpPr>
          <p:cNvPr id="6" name="TextBox 5"/>
          <p:cNvSpPr txBox="1"/>
          <p:nvPr/>
        </p:nvSpPr>
        <p:spPr>
          <a:xfrm>
            <a:off x="120744" y="1064027"/>
            <a:ext cx="16205451" cy="6986528"/>
          </a:xfrm>
          <a:prstGeom prst="rect">
            <a:avLst/>
          </a:prstGeom>
          <a:noFill/>
        </p:spPr>
        <p:txBody>
          <a:bodyPr wrap="square" rtlCol="0">
            <a:spAutoFit/>
          </a:bodyPr>
          <a:lstStyle/>
          <a:p>
            <a:r>
              <a:rPr lang="en-US" sz="3200" dirty="0"/>
              <a:t>The circuit that controls input </a:t>
            </a:r>
            <a:r>
              <a:rPr lang="en-US" sz="3200" i="1" dirty="0"/>
              <a:t>B</a:t>
            </a:r>
            <a:r>
              <a:rPr lang="en-US" sz="3200" dirty="0"/>
              <a:t> to provide the functions illustrated in Fig. 9.6 is called a </a:t>
            </a:r>
            <a:r>
              <a:rPr lang="en-US" sz="3200" b="1" dirty="0">
                <a:solidFill>
                  <a:srgbClr val="FF0000"/>
                </a:solidFill>
              </a:rPr>
              <a:t>true/complement, one/zero element</a:t>
            </a:r>
            <a:r>
              <a:rPr lang="en-US" sz="3200" dirty="0"/>
              <a:t>. The circuit is illustrated in Fig. 9.7.</a:t>
            </a:r>
          </a:p>
          <a:p>
            <a:r>
              <a:rPr lang="en-US" sz="3200" dirty="0"/>
              <a:t>Two selection lines </a:t>
            </a:r>
            <a:r>
              <a:rPr lang="en-US" sz="3200" i="1" dirty="0"/>
              <a:t>s</a:t>
            </a:r>
            <a:r>
              <a:rPr lang="en-US" sz="3200" baseline="-25000" dirty="0"/>
              <a:t>1</a:t>
            </a:r>
            <a:r>
              <a:rPr lang="en-US" sz="3200" dirty="0"/>
              <a:t> and </a:t>
            </a:r>
            <a:r>
              <a:rPr lang="en-US" sz="3200" i="1" dirty="0"/>
              <a:t>s</a:t>
            </a:r>
            <a:r>
              <a:rPr lang="en-US" sz="3200" baseline="-25000" dirty="0"/>
              <a:t>0</a:t>
            </a:r>
            <a:r>
              <a:rPr lang="en-US" sz="3200" dirty="0"/>
              <a:t> control the input of each </a:t>
            </a:r>
            <a:r>
              <a:rPr lang="en-US" sz="3200" i="1" dirty="0"/>
              <a:t>B</a:t>
            </a:r>
            <a:r>
              <a:rPr lang="en-US" sz="3200" dirty="0"/>
              <a:t> terminal. The diagram shows one typical input designated by Bi and an output designated by </a:t>
            </a:r>
            <a:r>
              <a:rPr lang="en-US" sz="3200" i="1" dirty="0"/>
              <a:t>Y</a:t>
            </a:r>
            <a:r>
              <a:rPr lang="en-US" sz="3200" i="1" baseline="-25000" dirty="0"/>
              <a:t>i</a:t>
            </a:r>
            <a:r>
              <a:rPr lang="en-US" sz="3200" dirty="0"/>
              <a:t>.</a:t>
            </a:r>
          </a:p>
          <a:p>
            <a:r>
              <a:rPr lang="en-US" sz="3200" dirty="0"/>
              <a:t>In a typical application, there are n such circuits for </a:t>
            </a:r>
            <a:r>
              <a:rPr lang="en-US" sz="3200" i="1" dirty="0" err="1"/>
              <a:t>i</a:t>
            </a:r>
            <a:r>
              <a:rPr lang="en-US" sz="3200" dirty="0"/>
              <a:t> = 1, 2, 3, ……, </a:t>
            </a:r>
            <a:r>
              <a:rPr lang="en-US" sz="3200" i="1" dirty="0"/>
              <a:t>n</a:t>
            </a:r>
            <a:r>
              <a:rPr lang="en-US" sz="3200" dirty="0"/>
              <a:t>.</a:t>
            </a:r>
          </a:p>
          <a:p>
            <a:r>
              <a:rPr lang="en-US" sz="3200" dirty="0"/>
              <a:t>As shown in the Table of Fig. 9.7, when both </a:t>
            </a:r>
            <a:r>
              <a:rPr lang="en-US" sz="3200" i="1" dirty="0"/>
              <a:t>s</a:t>
            </a:r>
            <a:r>
              <a:rPr lang="en-US" sz="3200" baseline="-25000" dirty="0"/>
              <a:t>1</a:t>
            </a:r>
            <a:r>
              <a:rPr lang="en-US" sz="3200" dirty="0"/>
              <a:t> and </a:t>
            </a:r>
            <a:r>
              <a:rPr lang="en-US" sz="3200" i="1" dirty="0"/>
              <a:t>s</a:t>
            </a:r>
            <a:r>
              <a:rPr lang="en-US" sz="3200" baseline="-25000" dirty="0"/>
              <a:t>0</a:t>
            </a:r>
            <a:r>
              <a:rPr lang="en-US" sz="3200" dirty="0"/>
              <a:t> are equal to zero, the output </a:t>
            </a:r>
            <a:r>
              <a:rPr lang="en-US" sz="3200" i="1" dirty="0"/>
              <a:t>Y</a:t>
            </a:r>
            <a:r>
              <a:rPr lang="en-US" sz="3200" i="1" baseline="-25000" dirty="0"/>
              <a:t>i</a:t>
            </a:r>
            <a:r>
              <a:rPr lang="en-US" sz="3200" dirty="0"/>
              <a:t> is equal to 0 regardless of the value of </a:t>
            </a:r>
            <a:r>
              <a:rPr lang="en-US" sz="3200" i="1" dirty="0"/>
              <a:t>B</a:t>
            </a:r>
            <a:r>
              <a:rPr lang="en-US" sz="3200" i="1" baseline="-25000" dirty="0"/>
              <a:t>i</a:t>
            </a:r>
            <a:r>
              <a:rPr lang="en-US" sz="3200" dirty="0"/>
              <a:t>.</a:t>
            </a:r>
          </a:p>
          <a:p>
            <a:r>
              <a:rPr lang="en-US" sz="3200" dirty="0"/>
              <a:t>When </a:t>
            </a:r>
            <a:r>
              <a:rPr lang="en-US" sz="3200" i="1" dirty="0"/>
              <a:t>s</a:t>
            </a:r>
            <a:r>
              <a:rPr lang="en-US" sz="3200" baseline="-25000" dirty="0"/>
              <a:t>1</a:t>
            </a:r>
            <a:r>
              <a:rPr lang="en-US" sz="3200" dirty="0"/>
              <a:t> = 0 and </a:t>
            </a:r>
            <a:r>
              <a:rPr lang="en-US" sz="3200" i="1" dirty="0"/>
              <a:t>s</a:t>
            </a:r>
            <a:r>
              <a:rPr lang="en-US" sz="3200" baseline="-25000" dirty="0"/>
              <a:t>0</a:t>
            </a:r>
            <a:r>
              <a:rPr lang="en-US" sz="3200" dirty="0"/>
              <a:t> = 1, the top AND gate generates the value of </a:t>
            </a:r>
            <a:r>
              <a:rPr lang="en-US" sz="3200" i="1" dirty="0"/>
              <a:t>B</a:t>
            </a:r>
            <a:r>
              <a:rPr lang="en-US" sz="3200" i="1" baseline="-25000" dirty="0"/>
              <a:t>i</a:t>
            </a:r>
            <a:r>
              <a:rPr lang="en-US" sz="3200" dirty="0"/>
              <a:t> while the bottom AND gate output is 0; thus, the output </a:t>
            </a:r>
            <a:r>
              <a:rPr lang="en-US" sz="3200" i="1" dirty="0"/>
              <a:t>Y</a:t>
            </a:r>
            <a:r>
              <a:rPr lang="en-US" sz="3200" i="1" baseline="-25000" dirty="0"/>
              <a:t>i</a:t>
            </a:r>
            <a:r>
              <a:rPr lang="en-US" sz="3200" dirty="0"/>
              <a:t> is equal to </a:t>
            </a:r>
            <a:r>
              <a:rPr lang="en-US" sz="3200" i="1" dirty="0"/>
              <a:t>B</a:t>
            </a:r>
            <a:r>
              <a:rPr lang="en-US" sz="3200" i="1" baseline="-25000" dirty="0"/>
              <a:t>i</a:t>
            </a:r>
            <a:r>
              <a:rPr lang="en-US" sz="3200" dirty="0"/>
              <a:t>.</a:t>
            </a:r>
          </a:p>
          <a:p>
            <a:r>
              <a:rPr lang="en-US" sz="3200" dirty="0"/>
              <a:t>With </a:t>
            </a:r>
            <a:r>
              <a:rPr lang="en-US" sz="3200" i="1" dirty="0"/>
              <a:t>s</a:t>
            </a:r>
            <a:r>
              <a:rPr lang="en-US" sz="3200" baseline="-25000" dirty="0"/>
              <a:t>1</a:t>
            </a:r>
            <a:r>
              <a:rPr lang="en-US" sz="3200" dirty="0"/>
              <a:t> = 1 and </a:t>
            </a:r>
            <a:r>
              <a:rPr lang="en-US" sz="3200" i="1" dirty="0"/>
              <a:t>s</a:t>
            </a:r>
            <a:r>
              <a:rPr lang="en-US" sz="3200" baseline="-25000" dirty="0"/>
              <a:t>0</a:t>
            </a:r>
            <a:r>
              <a:rPr lang="en-US" sz="3200" dirty="0"/>
              <a:t> = 0, the bottom AND gate generates the complemented value of </a:t>
            </a:r>
            <a:r>
              <a:rPr lang="en-US" sz="3200" i="1" dirty="0"/>
              <a:t>B</a:t>
            </a:r>
            <a:r>
              <a:rPr lang="en-US" sz="3200" i="1" baseline="-25000" dirty="0"/>
              <a:t>i</a:t>
            </a:r>
            <a:r>
              <a:rPr lang="en-US" sz="3200" dirty="0"/>
              <a:t> while the top AND gate output is 0; thus, the output </a:t>
            </a:r>
            <a:r>
              <a:rPr lang="en-US" sz="3200" i="1" dirty="0"/>
              <a:t>Y</a:t>
            </a:r>
            <a:r>
              <a:rPr lang="en-US" sz="3200" i="1" baseline="-25000" dirty="0"/>
              <a:t>i</a:t>
            </a:r>
            <a:r>
              <a:rPr lang="en-US" sz="3200" dirty="0"/>
              <a:t> is equal to </a:t>
            </a:r>
            <a:r>
              <a:rPr lang="en-US" sz="3200" i="1" dirty="0" err="1"/>
              <a:t>B’</a:t>
            </a:r>
            <a:r>
              <a:rPr lang="en-US" sz="3200" i="1" baseline="-25000" dirty="0" err="1"/>
              <a:t>i</a:t>
            </a:r>
            <a:r>
              <a:rPr lang="en-US" sz="3200" dirty="0"/>
              <a:t>.</a:t>
            </a:r>
          </a:p>
          <a:p>
            <a:r>
              <a:rPr lang="en-US" sz="3200" dirty="0"/>
              <a:t>Finally, when both </a:t>
            </a:r>
            <a:r>
              <a:rPr lang="en-US" sz="3200" i="1" dirty="0"/>
              <a:t>s</a:t>
            </a:r>
            <a:r>
              <a:rPr lang="en-US" sz="3200" baseline="-25000" dirty="0"/>
              <a:t>1</a:t>
            </a:r>
            <a:r>
              <a:rPr lang="en-US" sz="3200" dirty="0"/>
              <a:t> = 1 and </a:t>
            </a:r>
            <a:r>
              <a:rPr lang="en-US" sz="3200" i="1" dirty="0"/>
              <a:t>s</a:t>
            </a:r>
            <a:r>
              <a:rPr lang="en-US" sz="3200" baseline="-25000" dirty="0"/>
              <a:t>0</a:t>
            </a:r>
            <a:r>
              <a:rPr lang="en-US" sz="3200" dirty="0"/>
              <a:t> = 1, both the top and bottom AND gates generate the normal and complemented value of </a:t>
            </a:r>
            <a:r>
              <a:rPr lang="en-US" sz="3200" i="1" dirty="0"/>
              <a:t>B</a:t>
            </a:r>
            <a:r>
              <a:rPr lang="en-US" sz="3200" i="1" baseline="-25000" dirty="0"/>
              <a:t>i </a:t>
            </a:r>
            <a:r>
              <a:rPr lang="en-US" sz="3200" dirty="0"/>
              <a:t>respectively; thus, the output </a:t>
            </a:r>
            <a:r>
              <a:rPr lang="en-US" sz="3200" i="1" dirty="0"/>
              <a:t>Y</a:t>
            </a:r>
            <a:r>
              <a:rPr lang="en-US" sz="3200" i="1" baseline="-25000" dirty="0"/>
              <a:t>i</a:t>
            </a:r>
            <a:r>
              <a:rPr lang="en-US" sz="3200" dirty="0"/>
              <a:t> is equal to </a:t>
            </a:r>
            <a:r>
              <a:rPr lang="en-US" sz="3200" i="1" dirty="0"/>
              <a:t>B</a:t>
            </a:r>
            <a:r>
              <a:rPr lang="en-US" sz="3200" i="1" baseline="-25000" dirty="0"/>
              <a:t>i  </a:t>
            </a:r>
            <a:r>
              <a:rPr lang="en-US" sz="3200" dirty="0"/>
              <a:t>+ </a:t>
            </a:r>
            <a:r>
              <a:rPr lang="en-US" sz="3200" i="1" dirty="0"/>
              <a:t>B</a:t>
            </a:r>
            <a:r>
              <a:rPr lang="en-US" sz="3200" i="1" baseline="-25000" dirty="0"/>
              <a:t>i</a:t>
            </a:r>
            <a:r>
              <a:rPr lang="en-US" sz="3200" i="1" dirty="0"/>
              <a:t>’</a:t>
            </a:r>
            <a:r>
              <a:rPr lang="en-US" sz="3200" dirty="0"/>
              <a:t>, which is equal to 1.</a:t>
            </a:r>
          </a:p>
          <a:p>
            <a:r>
              <a:rPr lang="en-US" sz="3200" dirty="0"/>
              <a:t>These are illustrated in the Table of Fig. 9.7</a:t>
            </a:r>
          </a:p>
        </p:txBody>
      </p:sp>
      <p:sp>
        <p:nvSpPr>
          <p:cNvPr id="7" name="Title 1">
            <a:extLst>
              <a:ext uri="{FF2B5EF4-FFF2-40B4-BE49-F238E27FC236}">
                <a16:creationId xmlns:a16="http://schemas.microsoft.com/office/drawing/2014/main" id="{3AF19C7E-5E0F-4610-80C8-7D666BCA8545}"/>
              </a:ext>
            </a:extLst>
          </p:cNvPr>
          <p:cNvSpPr>
            <a:spLocks noGrp="1"/>
          </p:cNvSpPr>
          <p:nvPr>
            <p:ph type="title"/>
          </p:nvPr>
        </p:nvSpPr>
        <p:spPr>
          <a:xfrm>
            <a:off x="1138844" y="253420"/>
            <a:ext cx="12618720" cy="1076617"/>
          </a:xfrm>
        </p:spPr>
        <p:txBody>
          <a:bodyPr>
            <a:normAutofit/>
          </a:bodyPr>
          <a:lstStyle/>
          <a:p>
            <a:r>
              <a:rPr lang="en-US" sz="5400" b="1" dirty="0">
                <a:solidFill>
                  <a:srgbClr val="0070C0"/>
                </a:solidFill>
              </a:rPr>
              <a:t>Functions of Arithmetic Circuit</a:t>
            </a:r>
          </a:p>
        </p:txBody>
      </p:sp>
    </p:spTree>
    <p:extLst>
      <p:ext uri="{BB962C8B-B14F-4D97-AF65-F5344CB8AC3E}">
        <p14:creationId xmlns:p14="http://schemas.microsoft.com/office/powerpoint/2010/main" val="3267508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5552A-1107-45BD-913D-719EF1B8ADA2}"/>
              </a:ext>
            </a:extLst>
          </p:cNvPr>
          <p:cNvSpPr>
            <a:spLocks noGrp="1"/>
          </p:cNvSpPr>
          <p:nvPr>
            <p:ph type="title"/>
          </p:nvPr>
        </p:nvSpPr>
        <p:spPr>
          <a:xfrm>
            <a:off x="1072342" y="326567"/>
            <a:ext cx="12618720" cy="966453"/>
          </a:xfrm>
        </p:spPr>
        <p:txBody>
          <a:bodyPr>
            <a:normAutofit/>
          </a:bodyPr>
          <a:lstStyle/>
          <a:p>
            <a:r>
              <a:rPr lang="en-US" sz="5400" b="1" dirty="0">
                <a:solidFill>
                  <a:srgbClr val="0070C0"/>
                </a:solidFill>
              </a:rPr>
              <a:t>True/Complement, One/Zero Circuit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68FAC1-A2F1-43DA-8D09-EF1053B750E7}"/>
                  </a:ext>
                </a:extLst>
              </p:cNvPr>
              <p:cNvSpPr>
                <a:spLocks noGrp="1"/>
              </p:cNvSpPr>
              <p:nvPr>
                <p:ph idx="1"/>
              </p:nvPr>
            </p:nvSpPr>
            <p:spPr>
              <a:xfrm>
                <a:off x="249382" y="1134286"/>
                <a:ext cx="15993687" cy="6785347"/>
              </a:xfrm>
            </p:spPr>
            <p:txBody>
              <a:bodyPr>
                <a:noAutofit/>
              </a:bodyPr>
              <a:lstStyle/>
              <a:p>
                <a:pPr>
                  <a:spcBef>
                    <a:spcPts val="720"/>
                  </a:spcBef>
                </a:pPr>
                <a:r>
                  <a:rPr lang="en-US" sz="4000" dirty="0"/>
                  <a:t>The values of the Y inputs to the full-adder circuits are a function of selection variables </a:t>
                </a:r>
                <a14:m>
                  <m:oMath xmlns:m="http://schemas.openxmlformats.org/officeDocument/2006/math">
                    <m:sSub>
                      <m:sSubPr>
                        <m:ctrlPr>
                          <a:rPr lang="en-US" sz="4000" i="1">
                            <a:latin typeface="Cambria Math" panose="02040503050406030204" pitchFamily="18" charset="0"/>
                          </a:rPr>
                        </m:ctrlPr>
                      </m:sSubPr>
                      <m:e>
                        <m:r>
                          <a:rPr lang="en-US" sz="4000" i="1">
                            <a:latin typeface="Cambria Math" panose="02040503050406030204" pitchFamily="18" charset="0"/>
                          </a:rPr>
                          <m:t>𝑆</m:t>
                        </m:r>
                      </m:e>
                      <m:sub>
                        <m:r>
                          <a:rPr lang="en-US" sz="4000" i="1">
                            <a:latin typeface="Cambria Math" panose="02040503050406030204" pitchFamily="18" charset="0"/>
                          </a:rPr>
                          <m:t>1</m:t>
                        </m:r>
                      </m:sub>
                    </m:sSub>
                  </m:oMath>
                </a14:m>
                <a:r>
                  <a:rPr lang="en-US" sz="4000" dirty="0"/>
                  <a:t>and </a:t>
                </a:r>
                <a14:m>
                  <m:oMath xmlns:m="http://schemas.openxmlformats.org/officeDocument/2006/math">
                    <m:sSub>
                      <m:sSubPr>
                        <m:ctrlPr>
                          <a:rPr lang="en-US" sz="4000" i="1">
                            <a:latin typeface="Cambria Math" panose="02040503050406030204" pitchFamily="18" charset="0"/>
                          </a:rPr>
                        </m:ctrlPr>
                      </m:sSubPr>
                      <m:e>
                        <m:r>
                          <a:rPr lang="en-US" sz="4000" i="1">
                            <a:latin typeface="Cambria Math" panose="02040503050406030204" pitchFamily="18" charset="0"/>
                          </a:rPr>
                          <m:t>𝑆</m:t>
                        </m:r>
                      </m:e>
                      <m:sub>
                        <m:r>
                          <a:rPr lang="en-US" sz="4000" i="1">
                            <a:latin typeface="Cambria Math" panose="02040503050406030204" pitchFamily="18" charset="0"/>
                          </a:rPr>
                          <m:t>0</m:t>
                        </m:r>
                      </m:sub>
                    </m:sSub>
                    <m:r>
                      <a:rPr lang="en-US" sz="4000" i="1">
                        <a:latin typeface="Cambria Math" panose="02040503050406030204" pitchFamily="18" charset="0"/>
                      </a:rPr>
                      <m:t> </m:t>
                    </m:r>
                  </m:oMath>
                </a14:m>
                <a:r>
                  <a:rPr lang="en-US" sz="4000" dirty="0"/>
                  <a:t>.</a:t>
                </a:r>
              </a:p>
              <a:p>
                <a:pPr>
                  <a:spcBef>
                    <a:spcPts val="720"/>
                  </a:spcBef>
                </a:pPr>
                <a:endParaRPr lang="en-US" sz="4000" dirty="0"/>
              </a:p>
              <a:p>
                <a:pPr>
                  <a:spcBef>
                    <a:spcPts val="720"/>
                  </a:spcBef>
                </a:pPr>
                <a:endParaRPr lang="en-US" sz="4000" dirty="0"/>
              </a:p>
              <a:p>
                <a:pPr>
                  <a:spcBef>
                    <a:spcPts val="720"/>
                  </a:spcBef>
                </a:pPr>
                <a:endParaRPr lang="en-US" sz="4000" dirty="0"/>
              </a:p>
              <a:p>
                <a:pPr marL="0" indent="0">
                  <a:spcBef>
                    <a:spcPts val="0"/>
                  </a:spcBef>
                  <a:buNone/>
                </a:pPr>
                <a:r>
                  <a:rPr lang="en-US" sz="4000" dirty="0"/>
                  <a:t>           </a:t>
                </a:r>
              </a:p>
              <a:p>
                <a:pPr marL="0" indent="0">
                  <a:spcBef>
                    <a:spcPts val="0"/>
                  </a:spcBef>
                  <a:buNone/>
                </a:pPr>
                <a:endParaRPr lang="en-US" sz="2800" dirty="0">
                  <a:solidFill>
                    <a:srgbClr val="FF0000"/>
                  </a:solidFill>
                </a:endParaRPr>
              </a:p>
              <a:p>
                <a:pPr marL="0" indent="0">
                  <a:spcBef>
                    <a:spcPts val="0"/>
                  </a:spcBef>
                  <a:buNone/>
                </a:pPr>
                <a:r>
                  <a:rPr lang="en-US" sz="3600" dirty="0">
                    <a:solidFill>
                      <a:srgbClr val="FF0000"/>
                    </a:solidFill>
                  </a:rPr>
                  <a:t>  Fig. 9.7 </a:t>
                </a:r>
                <a:r>
                  <a:rPr lang="en-US" sz="3600" dirty="0"/>
                  <a:t>True/complement, one/zero element</a:t>
                </a:r>
                <a:endParaRPr lang="en-US" sz="3600" dirty="0">
                  <a:solidFill>
                    <a:srgbClr val="FF0000"/>
                  </a:solidFill>
                </a:endParaRPr>
              </a:p>
              <a:p>
                <a:pPr>
                  <a:spcBef>
                    <a:spcPts val="720"/>
                  </a:spcBef>
                </a:pPr>
                <a:r>
                  <a:rPr lang="en-US" sz="4000" dirty="0">
                    <a:latin typeface="Calibri" panose="020F0502020204030204" pitchFamily="34" charset="0"/>
                  </a:rPr>
                  <a:t>The arithmetic circuit needs a </a:t>
                </a:r>
                <a:r>
                  <a:rPr lang="en-US" sz="4000" b="1" dirty="0">
                    <a:solidFill>
                      <a:srgbClr val="FF0000"/>
                    </a:solidFill>
                    <a:latin typeface="Calibri" panose="020F0502020204030204" pitchFamily="34" charset="0"/>
                  </a:rPr>
                  <a:t>combinational circuit </a:t>
                </a:r>
                <a:r>
                  <a:rPr lang="en-US" sz="4000" dirty="0">
                    <a:latin typeface="Calibri" panose="020F0502020204030204" pitchFamily="34" charset="0"/>
                  </a:rPr>
                  <a:t>in </a:t>
                </a:r>
                <a:r>
                  <a:rPr lang="en-US" sz="4000" b="1" dirty="0">
                    <a:solidFill>
                      <a:srgbClr val="FF0000"/>
                    </a:solidFill>
                    <a:latin typeface="Calibri" panose="020F0502020204030204" pitchFamily="34" charset="0"/>
                  </a:rPr>
                  <a:t>each stage </a:t>
                </a:r>
                <a:r>
                  <a:rPr lang="en-US" sz="4000" dirty="0">
                    <a:latin typeface="Calibri" panose="020F0502020204030204" pitchFamily="34" charset="0"/>
                  </a:rPr>
                  <a:t>specified by Boolean functions –</a:t>
                </a:r>
              </a:p>
              <a:p>
                <a:pPr marL="0" indent="0" algn="ctr">
                  <a:spcBef>
                    <a:spcPts val="720"/>
                  </a:spcBef>
                  <a:buNone/>
                </a:pPr>
                <a:r>
                  <a:rPr lang="en-US" sz="3600" i="1" dirty="0">
                    <a:latin typeface="Calibri" panose="020F0502020204030204" pitchFamily="34" charset="0"/>
                  </a:rPr>
                  <a:t>X</a:t>
                </a:r>
                <a:r>
                  <a:rPr lang="en-US" sz="1800" i="1" dirty="0">
                    <a:latin typeface="Calibri" panose="020F0502020204030204" pitchFamily="34" charset="0"/>
                  </a:rPr>
                  <a:t>i </a:t>
                </a:r>
                <a:r>
                  <a:rPr lang="en-US" sz="3600" i="1" dirty="0">
                    <a:latin typeface="Calibri" panose="020F0502020204030204" pitchFamily="34" charset="0"/>
                  </a:rPr>
                  <a:t>= A</a:t>
                </a:r>
                <a:r>
                  <a:rPr lang="en-US" sz="1800" i="1" dirty="0">
                    <a:latin typeface="Calibri" panose="020F0502020204030204" pitchFamily="34" charset="0"/>
                  </a:rPr>
                  <a:t>i</a:t>
                </a:r>
              </a:p>
              <a:p>
                <a:pPr marL="0" indent="0" algn="ctr">
                  <a:spcBef>
                    <a:spcPts val="720"/>
                  </a:spcBef>
                  <a:buNone/>
                </a:pPr>
                <a:r>
                  <a:rPr lang="pt-BR" sz="3600" i="1" dirty="0">
                    <a:latin typeface="Calibri" panose="020F0502020204030204" pitchFamily="34" charset="0"/>
                  </a:rPr>
                  <a:t>Y</a:t>
                </a:r>
                <a:r>
                  <a:rPr lang="pt-BR" sz="1800" i="1" dirty="0">
                    <a:latin typeface="Calibri" panose="020F0502020204030204" pitchFamily="34" charset="0"/>
                  </a:rPr>
                  <a:t>i </a:t>
                </a:r>
                <a:r>
                  <a:rPr lang="pt-BR" sz="3600" i="1" dirty="0">
                    <a:latin typeface="Calibri" panose="020F0502020204030204" pitchFamily="34" charset="0"/>
                  </a:rPr>
                  <a:t>= B</a:t>
                </a:r>
                <a:r>
                  <a:rPr lang="pt-BR" sz="1800" i="1" dirty="0">
                    <a:latin typeface="Calibri" panose="020F0502020204030204" pitchFamily="34" charset="0"/>
                  </a:rPr>
                  <a:t>i</a:t>
                </a:r>
                <a:r>
                  <a:rPr lang="pt-BR" sz="3600" i="1" dirty="0">
                    <a:latin typeface="Calibri" panose="020F0502020204030204" pitchFamily="34" charset="0"/>
                  </a:rPr>
                  <a:t>s</a:t>
                </a:r>
                <a:r>
                  <a:rPr lang="pt-BR" sz="1800" i="1" dirty="0">
                    <a:latin typeface="Calibri" panose="020F0502020204030204" pitchFamily="34" charset="0"/>
                  </a:rPr>
                  <a:t>0 </a:t>
                </a:r>
                <a:r>
                  <a:rPr lang="pt-BR" sz="3600" i="1" dirty="0">
                    <a:latin typeface="Calibri" panose="020F0502020204030204" pitchFamily="34" charset="0"/>
                  </a:rPr>
                  <a:t>+ B</a:t>
                </a:r>
                <a:r>
                  <a:rPr lang="pt-BR" sz="1800" i="1" dirty="0">
                    <a:latin typeface="Calibri" panose="020F0502020204030204" pitchFamily="34" charset="0"/>
                  </a:rPr>
                  <a:t>i</a:t>
                </a:r>
                <a:r>
                  <a:rPr lang="pt-BR" sz="3600" i="1" dirty="0">
                    <a:latin typeface="Calibri" panose="020F0502020204030204" pitchFamily="34" charset="0"/>
                  </a:rPr>
                  <a:t>’s</a:t>
                </a:r>
                <a:r>
                  <a:rPr lang="pt-BR" sz="1800" i="1" dirty="0">
                    <a:latin typeface="Calibri" panose="020F0502020204030204" pitchFamily="34" charset="0"/>
                  </a:rPr>
                  <a:t>1 </a:t>
                </a:r>
                <a:r>
                  <a:rPr lang="pt-BR" sz="3600" i="1" dirty="0">
                    <a:latin typeface="Calibri" panose="020F0502020204030204" pitchFamily="34" charset="0"/>
                  </a:rPr>
                  <a:t>, i= 1,2,3,...,n</a:t>
                </a:r>
                <a:endParaRPr lang="en-US" sz="2800" dirty="0"/>
              </a:p>
              <a:p>
                <a:pPr>
                  <a:spcBef>
                    <a:spcPts val="720"/>
                  </a:spcBef>
                </a:pPr>
                <a:endParaRPr lang="en-US" sz="4000" dirty="0"/>
              </a:p>
            </p:txBody>
          </p:sp>
        </mc:Choice>
        <mc:Fallback xmlns="">
          <p:sp>
            <p:nvSpPr>
              <p:cNvPr id="3" name="Content Placeholder 2">
                <a:extLst>
                  <a:ext uri="{FF2B5EF4-FFF2-40B4-BE49-F238E27FC236}">
                    <a16:creationId xmlns:a16="http://schemas.microsoft.com/office/drawing/2014/main" id="{4168FAC1-A2F1-43DA-8D09-EF1053B750E7}"/>
                  </a:ext>
                </a:extLst>
              </p:cNvPr>
              <p:cNvSpPr>
                <a:spLocks noGrp="1" noRot="1" noChangeAspect="1" noMove="1" noResize="1" noEditPoints="1" noAdjustHandles="1" noChangeArrowheads="1" noChangeShapeType="1" noTextEdit="1"/>
              </p:cNvSpPr>
              <p:nvPr>
                <p:ph idx="1"/>
              </p:nvPr>
            </p:nvSpPr>
            <p:spPr>
              <a:xfrm>
                <a:off x="249382" y="1134286"/>
                <a:ext cx="15993687" cy="6785347"/>
              </a:xfrm>
              <a:blipFill>
                <a:blip r:embed="rId3"/>
                <a:stretch>
                  <a:fillRect l="-1220" t="-2516" r="-1486" b="-485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4F06319-7D26-4146-8688-873B60166D60}"/>
              </a:ext>
            </a:extLst>
          </p:cNvPr>
          <p:cNvPicPr>
            <a:picLocks noChangeAspect="1"/>
          </p:cNvPicPr>
          <p:nvPr/>
        </p:nvPicPr>
        <p:blipFill rotWithShape="1">
          <a:blip r:embed="rId4">
            <a:duotone>
              <a:prstClr val="black"/>
              <a:schemeClr val="accent5">
                <a:tint val="45000"/>
                <a:satMod val="400000"/>
              </a:schemeClr>
            </a:duotone>
          </a:blip>
          <a:srcRect r="21318"/>
          <a:stretch/>
        </p:blipFill>
        <p:spPr>
          <a:xfrm rot="21289217">
            <a:off x="637058" y="2381669"/>
            <a:ext cx="7583758" cy="2768622"/>
          </a:xfrm>
          <a:prstGeom prst="rect">
            <a:avLst/>
          </a:prstGeom>
          <a:scene3d>
            <a:camera prst="orthographicFront">
              <a:rot lat="0" lon="0" rev="21299999"/>
            </a:camera>
            <a:lightRig rig="threePt" dir="t"/>
          </a:scene3d>
        </p:spPr>
      </p:pic>
      <p:sp>
        <p:nvSpPr>
          <p:cNvPr id="5" name="Date Placeholder 4"/>
          <p:cNvSpPr>
            <a:spLocks noGrp="1"/>
          </p:cNvSpPr>
          <p:nvPr>
            <p:ph type="dt" sz="half" idx="10"/>
          </p:nvPr>
        </p:nvSpPr>
        <p:spPr/>
        <p:txBody>
          <a:bodyPr/>
          <a:lstStyle/>
          <a:p>
            <a:fld id="{76A5621E-AF2A-4E0D-8A79-868C068001B2}" type="datetime3">
              <a:rPr lang="en-US" smtClean="0"/>
              <a:t>24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20</a:t>
            </a:fld>
            <a:endParaRPr lang="en-US" dirty="0"/>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422037257"/>
                  </p:ext>
                </p:extLst>
              </p:nvPr>
            </p:nvGraphicFramePr>
            <p:xfrm>
              <a:off x="10782074" y="2100739"/>
              <a:ext cx="4206243" cy="2895600"/>
            </p:xfrm>
            <a:graphic>
              <a:graphicData uri="http://schemas.openxmlformats.org/drawingml/2006/table">
                <a:tbl>
                  <a:tblPr firstRow="1" bandRow="1">
                    <a:tableStyleId>{5C22544A-7EE6-4342-B048-85BDC9FD1C3A}</a:tableStyleId>
                  </a:tblPr>
                  <a:tblGrid>
                    <a:gridCol w="1402081">
                      <a:extLst>
                        <a:ext uri="{9D8B030D-6E8A-4147-A177-3AD203B41FA5}">
                          <a16:colId xmlns:a16="http://schemas.microsoft.com/office/drawing/2014/main" val="3409970662"/>
                        </a:ext>
                      </a:extLst>
                    </a:gridCol>
                    <a:gridCol w="1402081">
                      <a:extLst>
                        <a:ext uri="{9D8B030D-6E8A-4147-A177-3AD203B41FA5}">
                          <a16:colId xmlns:a16="http://schemas.microsoft.com/office/drawing/2014/main" val="3760788146"/>
                        </a:ext>
                      </a:extLst>
                    </a:gridCol>
                    <a:gridCol w="1402081">
                      <a:extLst>
                        <a:ext uri="{9D8B030D-6E8A-4147-A177-3AD203B41FA5}">
                          <a16:colId xmlns:a16="http://schemas.microsoft.com/office/drawing/2014/main" val="1897586980"/>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1" i="1" smtClean="0">
                                        <a:latin typeface="Cambria Math" panose="02040503050406030204" pitchFamily="18" charset="0"/>
                                      </a:rPr>
                                      <m:t>𝒔</m:t>
                                    </m:r>
                                  </m:e>
                                  <m:sub>
                                    <m:r>
                                      <a:rPr lang="en-US" sz="3200" b="1" i="1" smtClean="0">
                                        <a:latin typeface="Cambria Math" panose="02040503050406030204" pitchFamily="18" charset="0"/>
                                      </a:rPr>
                                      <m:t>𝟏</m:t>
                                    </m:r>
                                  </m:sub>
                                </m:sSub>
                              </m:oMath>
                            </m:oMathPara>
                          </a14:m>
                          <a:endParaRPr lang="en-US" sz="32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1" i="1" smtClean="0">
                                        <a:latin typeface="Cambria Math" panose="02040503050406030204" pitchFamily="18" charset="0"/>
                                      </a:rPr>
                                      <m:t>𝒔</m:t>
                                    </m:r>
                                  </m:e>
                                  <m:sub>
                                    <m:r>
                                      <a:rPr lang="en-US" sz="3200" b="1" i="1" smtClean="0">
                                        <a:latin typeface="Cambria Math" panose="02040503050406030204" pitchFamily="18" charset="0"/>
                                      </a:rPr>
                                      <m:t>𝟎</m:t>
                                    </m:r>
                                  </m:sub>
                                </m:sSub>
                              </m:oMath>
                            </m:oMathPara>
                          </a14:m>
                          <a:endParaRPr lang="en-US" sz="32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1" i="1" smtClean="0">
                                        <a:latin typeface="Cambria Math" panose="02040503050406030204" pitchFamily="18" charset="0"/>
                                      </a:rPr>
                                      <m:t>𝒀</m:t>
                                    </m:r>
                                  </m:e>
                                  <m:sub>
                                    <m:r>
                                      <a:rPr lang="en-US" sz="3200" b="1" i="1" smtClean="0">
                                        <a:latin typeface="Cambria Math" panose="02040503050406030204" pitchFamily="18" charset="0"/>
                                      </a:rPr>
                                      <m:t>𝒊</m:t>
                                    </m:r>
                                  </m:sub>
                                </m:sSub>
                              </m:oMath>
                            </m:oMathPara>
                          </a14:m>
                          <a:endParaRPr lang="en-US" sz="3200" dirty="0"/>
                        </a:p>
                      </a:txBody>
                      <a:tcPr/>
                    </a:tc>
                    <a:extLst>
                      <a:ext uri="{0D108BD9-81ED-4DB2-BD59-A6C34878D82A}">
                        <a16:rowId xmlns:a16="http://schemas.microsoft.com/office/drawing/2014/main" val="571516951"/>
                      </a:ext>
                    </a:extLst>
                  </a:tr>
                  <a:tr h="370840">
                    <a:tc>
                      <a:txBody>
                        <a:bodyPr/>
                        <a:lstStyle/>
                        <a:p>
                          <a:pPr algn="ctr"/>
                          <a:r>
                            <a:rPr lang="en-US" sz="3200" dirty="0"/>
                            <a:t>0</a:t>
                          </a:r>
                        </a:p>
                      </a:txBody>
                      <a:tcPr/>
                    </a:tc>
                    <a:tc>
                      <a:txBody>
                        <a:bodyPr/>
                        <a:lstStyle/>
                        <a:p>
                          <a:pPr algn="ctr"/>
                          <a:r>
                            <a:rPr lang="en-US" sz="3200" dirty="0"/>
                            <a:t>0</a:t>
                          </a:r>
                        </a:p>
                      </a:txBody>
                      <a:tcPr/>
                    </a:tc>
                    <a:tc>
                      <a:txBody>
                        <a:bodyPr/>
                        <a:lstStyle/>
                        <a:p>
                          <a:pPr algn="ctr"/>
                          <a:r>
                            <a:rPr lang="en-US" sz="3200" dirty="0"/>
                            <a:t>0</a:t>
                          </a:r>
                        </a:p>
                      </a:txBody>
                      <a:tcPr/>
                    </a:tc>
                    <a:extLst>
                      <a:ext uri="{0D108BD9-81ED-4DB2-BD59-A6C34878D82A}">
                        <a16:rowId xmlns:a16="http://schemas.microsoft.com/office/drawing/2014/main" val="4086985688"/>
                      </a:ext>
                    </a:extLst>
                  </a:tr>
                  <a:tr h="370840">
                    <a:tc>
                      <a:txBody>
                        <a:bodyPr/>
                        <a:lstStyle/>
                        <a:p>
                          <a:pPr algn="ctr"/>
                          <a:r>
                            <a:rPr lang="en-US" sz="3200" dirty="0"/>
                            <a:t>0</a:t>
                          </a:r>
                        </a:p>
                      </a:txBody>
                      <a:tcPr/>
                    </a:tc>
                    <a:tc>
                      <a:txBody>
                        <a:bodyPr/>
                        <a:lstStyle/>
                        <a:p>
                          <a:pPr algn="ctr"/>
                          <a:r>
                            <a:rPr lang="en-US" sz="3200" dirty="0"/>
                            <a:t>1</a:t>
                          </a:r>
                        </a:p>
                      </a:txBody>
                      <a:tcPr/>
                    </a:tc>
                    <a:tc>
                      <a:txBody>
                        <a:bodyPr/>
                        <a:lstStyle/>
                        <a:p>
                          <a:pPr algn="ctr"/>
                          <a:r>
                            <a:rPr lang="en-US" sz="3200" i="1" dirty="0"/>
                            <a:t>B</a:t>
                          </a:r>
                          <a:r>
                            <a:rPr lang="en-US" sz="3200" i="1" baseline="-25000" dirty="0"/>
                            <a:t>i</a:t>
                          </a:r>
                          <a:endParaRPr lang="en-US" sz="3200" dirty="0"/>
                        </a:p>
                      </a:txBody>
                      <a:tcPr/>
                    </a:tc>
                    <a:extLst>
                      <a:ext uri="{0D108BD9-81ED-4DB2-BD59-A6C34878D82A}">
                        <a16:rowId xmlns:a16="http://schemas.microsoft.com/office/drawing/2014/main" val="3578981720"/>
                      </a:ext>
                    </a:extLst>
                  </a:tr>
                  <a:tr h="370840">
                    <a:tc>
                      <a:txBody>
                        <a:bodyPr/>
                        <a:lstStyle/>
                        <a:p>
                          <a:pPr algn="ctr"/>
                          <a:r>
                            <a:rPr lang="en-US" sz="3200" dirty="0"/>
                            <a:t>1</a:t>
                          </a:r>
                        </a:p>
                      </a:txBody>
                      <a:tcPr/>
                    </a:tc>
                    <a:tc>
                      <a:txBody>
                        <a:bodyPr/>
                        <a:lstStyle/>
                        <a:p>
                          <a:pPr algn="ctr"/>
                          <a:r>
                            <a:rPr lang="en-US" sz="3200" dirty="0"/>
                            <a:t>0</a:t>
                          </a:r>
                        </a:p>
                      </a:txBody>
                      <a:tcPr/>
                    </a:tc>
                    <a:tc>
                      <a:txBody>
                        <a:bodyPr/>
                        <a:lstStyle/>
                        <a:p>
                          <a:pPr algn="ctr"/>
                          <a:r>
                            <a:rPr lang="en-US" sz="3200" i="1" dirty="0"/>
                            <a:t>B</a:t>
                          </a:r>
                          <a:r>
                            <a:rPr lang="en-US" sz="3200" i="1" baseline="-25000" dirty="0"/>
                            <a:t>i</a:t>
                          </a:r>
                          <a:r>
                            <a:rPr lang="en-US" sz="3200" i="1" dirty="0"/>
                            <a:t>’</a:t>
                          </a:r>
                          <a:endParaRPr lang="en-US" sz="3200" dirty="0"/>
                        </a:p>
                      </a:txBody>
                      <a:tcPr/>
                    </a:tc>
                    <a:extLst>
                      <a:ext uri="{0D108BD9-81ED-4DB2-BD59-A6C34878D82A}">
                        <a16:rowId xmlns:a16="http://schemas.microsoft.com/office/drawing/2014/main" val="179007299"/>
                      </a:ext>
                    </a:extLst>
                  </a:tr>
                  <a:tr h="370840">
                    <a:tc>
                      <a:txBody>
                        <a:bodyPr/>
                        <a:lstStyle/>
                        <a:p>
                          <a:pPr algn="ctr"/>
                          <a:r>
                            <a:rPr lang="en-US" sz="3200" dirty="0"/>
                            <a:t>1</a:t>
                          </a:r>
                        </a:p>
                      </a:txBody>
                      <a:tcPr/>
                    </a:tc>
                    <a:tc>
                      <a:txBody>
                        <a:bodyPr/>
                        <a:lstStyle/>
                        <a:p>
                          <a:pPr algn="ctr"/>
                          <a:r>
                            <a:rPr lang="en-US" sz="3200" dirty="0"/>
                            <a:t>1</a:t>
                          </a:r>
                        </a:p>
                      </a:txBody>
                      <a:tcPr/>
                    </a:tc>
                    <a:tc>
                      <a:txBody>
                        <a:bodyPr/>
                        <a:lstStyle/>
                        <a:p>
                          <a:pPr algn="ctr"/>
                          <a:r>
                            <a:rPr lang="en-US" sz="3200" dirty="0"/>
                            <a:t>1</a:t>
                          </a:r>
                        </a:p>
                      </a:txBody>
                      <a:tcPr/>
                    </a:tc>
                    <a:extLst>
                      <a:ext uri="{0D108BD9-81ED-4DB2-BD59-A6C34878D82A}">
                        <a16:rowId xmlns:a16="http://schemas.microsoft.com/office/drawing/2014/main" val="1521917815"/>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422037257"/>
                  </p:ext>
                </p:extLst>
              </p:nvPr>
            </p:nvGraphicFramePr>
            <p:xfrm>
              <a:off x="10782074" y="2100739"/>
              <a:ext cx="4206243" cy="2895600"/>
            </p:xfrm>
            <a:graphic>
              <a:graphicData uri="http://schemas.openxmlformats.org/drawingml/2006/table">
                <a:tbl>
                  <a:tblPr firstRow="1" bandRow="1">
                    <a:tableStyleId>{5C22544A-7EE6-4342-B048-85BDC9FD1C3A}</a:tableStyleId>
                  </a:tblPr>
                  <a:tblGrid>
                    <a:gridCol w="1402081">
                      <a:extLst>
                        <a:ext uri="{9D8B030D-6E8A-4147-A177-3AD203B41FA5}">
                          <a16:colId xmlns:a16="http://schemas.microsoft.com/office/drawing/2014/main" val="3409970662"/>
                        </a:ext>
                      </a:extLst>
                    </a:gridCol>
                    <a:gridCol w="1402081">
                      <a:extLst>
                        <a:ext uri="{9D8B030D-6E8A-4147-A177-3AD203B41FA5}">
                          <a16:colId xmlns:a16="http://schemas.microsoft.com/office/drawing/2014/main" val="3760788146"/>
                        </a:ext>
                      </a:extLst>
                    </a:gridCol>
                    <a:gridCol w="1402081">
                      <a:extLst>
                        <a:ext uri="{9D8B030D-6E8A-4147-A177-3AD203B41FA5}">
                          <a16:colId xmlns:a16="http://schemas.microsoft.com/office/drawing/2014/main" val="1897586980"/>
                        </a:ext>
                      </a:extLst>
                    </a:gridCol>
                  </a:tblGrid>
                  <a:tr h="579120">
                    <a:tc>
                      <a:txBody>
                        <a:bodyPr/>
                        <a:lstStyle/>
                        <a:p>
                          <a:endParaRPr lang="en-US"/>
                        </a:p>
                      </a:txBody>
                      <a:tcPr>
                        <a:blipFill>
                          <a:blip r:embed="rId5"/>
                          <a:stretch>
                            <a:fillRect l="-435" t="-1053" r="-202174" b="-435789"/>
                          </a:stretch>
                        </a:blipFill>
                      </a:tcPr>
                    </a:tc>
                    <a:tc>
                      <a:txBody>
                        <a:bodyPr/>
                        <a:lstStyle/>
                        <a:p>
                          <a:endParaRPr lang="en-US"/>
                        </a:p>
                      </a:txBody>
                      <a:tcPr>
                        <a:blipFill>
                          <a:blip r:embed="rId5"/>
                          <a:stretch>
                            <a:fillRect l="-100000" t="-1053" r="-101299" b="-435789"/>
                          </a:stretch>
                        </a:blipFill>
                      </a:tcPr>
                    </a:tc>
                    <a:tc>
                      <a:txBody>
                        <a:bodyPr/>
                        <a:lstStyle/>
                        <a:p>
                          <a:endParaRPr lang="en-US"/>
                        </a:p>
                      </a:txBody>
                      <a:tcPr>
                        <a:blipFill>
                          <a:blip r:embed="rId5"/>
                          <a:stretch>
                            <a:fillRect l="-200870" t="-1053" r="-1739" b="-435789"/>
                          </a:stretch>
                        </a:blipFill>
                      </a:tcPr>
                    </a:tc>
                    <a:extLst>
                      <a:ext uri="{0D108BD9-81ED-4DB2-BD59-A6C34878D82A}">
                        <a16:rowId xmlns:a16="http://schemas.microsoft.com/office/drawing/2014/main" val="571516951"/>
                      </a:ext>
                    </a:extLst>
                  </a:tr>
                  <a:tr h="579120">
                    <a:tc>
                      <a:txBody>
                        <a:bodyPr/>
                        <a:lstStyle/>
                        <a:p>
                          <a:pPr algn="ctr"/>
                          <a:r>
                            <a:rPr lang="en-US" sz="3200" dirty="0"/>
                            <a:t>0</a:t>
                          </a:r>
                        </a:p>
                      </a:txBody>
                      <a:tcPr/>
                    </a:tc>
                    <a:tc>
                      <a:txBody>
                        <a:bodyPr/>
                        <a:lstStyle/>
                        <a:p>
                          <a:pPr algn="ctr"/>
                          <a:r>
                            <a:rPr lang="en-US" sz="3200" dirty="0"/>
                            <a:t>0</a:t>
                          </a:r>
                        </a:p>
                      </a:txBody>
                      <a:tcPr/>
                    </a:tc>
                    <a:tc>
                      <a:txBody>
                        <a:bodyPr/>
                        <a:lstStyle/>
                        <a:p>
                          <a:pPr algn="ctr"/>
                          <a:r>
                            <a:rPr lang="en-US" sz="3200" dirty="0"/>
                            <a:t>0</a:t>
                          </a:r>
                        </a:p>
                      </a:txBody>
                      <a:tcPr/>
                    </a:tc>
                    <a:extLst>
                      <a:ext uri="{0D108BD9-81ED-4DB2-BD59-A6C34878D82A}">
                        <a16:rowId xmlns:a16="http://schemas.microsoft.com/office/drawing/2014/main" val="4086985688"/>
                      </a:ext>
                    </a:extLst>
                  </a:tr>
                  <a:tr h="579120">
                    <a:tc>
                      <a:txBody>
                        <a:bodyPr/>
                        <a:lstStyle/>
                        <a:p>
                          <a:pPr algn="ctr"/>
                          <a:r>
                            <a:rPr lang="en-US" sz="3200" dirty="0"/>
                            <a:t>0</a:t>
                          </a:r>
                        </a:p>
                      </a:txBody>
                      <a:tcPr/>
                    </a:tc>
                    <a:tc>
                      <a:txBody>
                        <a:bodyPr/>
                        <a:lstStyle/>
                        <a:p>
                          <a:pPr algn="ctr"/>
                          <a:r>
                            <a:rPr lang="en-US" sz="3200" dirty="0"/>
                            <a:t>1</a:t>
                          </a:r>
                        </a:p>
                      </a:txBody>
                      <a:tcPr/>
                    </a:tc>
                    <a:tc>
                      <a:txBody>
                        <a:bodyPr/>
                        <a:lstStyle/>
                        <a:p>
                          <a:pPr algn="ctr"/>
                          <a:r>
                            <a:rPr lang="en-US" sz="3200" i="1" dirty="0"/>
                            <a:t>B</a:t>
                          </a:r>
                          <a:r>
                            <a:rPr lang="en-US" sz="3200" i="1" baseline="-25000" dirty="0"/>
                            <a:t>i</a:t>
                          </a:r>
                          <a:endParaRPr lang="en-US" sz="3200" dirty="0"/>
                        </a:p>
                      </a:txBody>
                      <a:tcPr/>
                    </a:tc>
                    <a:extLst>
                      <a:ext uri="{0D108BD9-81ED-4DB2-BD59-A6C34878D82A}">
                        <a16:rowId xmlns:a16="http://schemas.microsoft.com/office/drawing/2014/main" val="3578981720"/>
                      </a:ext>
                    </a:extLst>
                  </a:tr>
                  <a:tr h="579120">
                    <a:tc>
                      <a:txBody>
                        <a:bodyPr/>
                        <a:lstStyle/>
                        <a:p>
                          <a:pPr algn="ctr"/>
                          <a:r>
                            <a:rPr lang="en-US" sz="3200" dirty="0"/>
                            <a:t>1</a:t>
                          </a:r>
                        </a:p>
                      </a:txBody>
                      <a:tcPr/>
                    </a:tc>
                    <a:tc>
                      <a:txBody>
                        <a:bodyPr/>
                        <a:lstStyle/>
                        <a:p>
                          <a:pPr algn="ctr"/>
                          <a:r>
                            <a:rPr lang="en-US" sz="3200" dirty="0"/>
                            <a:t>0</a:t>
                          </a:r>
                        </a:p>
                      </a:txBody>
                      <a:tcPr/>
                    </a:tc>
                    <a:tc>
                      <a:txBody>
                        <a:bodyPr/>
                        <a:lstStyle/>
                        <a:p>
                          <a:pPr algn="ctr"/>
                          <a:r>
                            <a:rPr lang="en-US" sz="3200" i="1" dirty="0"/>
                            <a:t>B</a:t>
                          </a:r>
                          <a:r>
                            <a:rPr lang="en-US" sz="3200" i="1" baseline="-25000" dirty="0"/>
                            <a:t>i</a:t>
                          </a:r>
                          <a:r>
                            <a:rPr lang="en-US" sz="3200" i="1" dirty="0"/>
                            <a:t>’</a:t>
                          </a:r>
                          <a:endParaRPr lang="en-US" sz="3200" dirty="0"/>
                        </a:p>
                      </a:txBody>
                      <a:tcPr/>
                    </a:tc>
                    <a:extLst>
                      <a:ext uri="{0D108BD9-81ED-4DB2-BD59-A6C34878D82A}">
                        <a16:rowId xmlns:a16="http://schemas.microsoft.com/office/drawing/2014/main" val="179007299"/>
                      </a:ext>
                    </a:extLst>
                  </a:tr>
                  <a:tr h="579120">
                    <a:tc>
                      <a:txBody>
                        <a:bodyPr/>
                        <a:lstStyle/>
                        <a:p>
                          <a:pPr algn="ctr"/>
                          <a:r>
                            <a:rPr lang="en-US" sz="3200" dirty="0"/>
                            <a:t>1</a:t>
                          </a:r>
                        </a:p>
                      </a:txBody>
                      <a:tcPr/>
                    </a:tc>
                    <a:tc>
                      <a:txBody>
                        <a:bodyPr/>
                        <a:lstStyle/>
                        <a:p>
                          <a:pPr algn="ctr"/>
                          <a:r>
                            <a:rPr lang="en-US" sz="3200" dirty="0"/>
                            <a:t>1</a:t>
                          </a:r>
                        </a:p>
                      </a:txBody>
                      <a:tcPr/>
                    </a:tc>
                    <a:tc>
                      <a:txBody>
                        <a:bodyPr/>
                        <a:lstStyle/>
                        <a:p>
                          <a:pPr algn="ctr"/>
                          <a:r>
                            <a:rPr lang="en-US" sz="3200" dirty="0"/>
                            <a:t>1</a:t>
                          </a:r>
                        </a:p>
                      </a:txBody>
                      <a:tcPr/>
                    </a:tc>
                    <a:extLst>
                      <a:ext uri="{0D108BD9-81ED-4DB2-BD59-A6C34878D82A}">
                        <a16:rowId xmlns:a16="http://schemas.microsoft.com/office/drawing/2014/main" val="1521917815"/>
                      </a:ext>
                    </a:extLst>
                  </a:tr>
                </a:tbl>
              </a:graphicData>
            </a:graphic>
          </p:graphicFrame>
        </mc:Fallback>
      </mc:AlternateContent>
    </p:spTree>
    <p:extLst>
      <p:ext uri="{BB962C8B-B14F-4D97-AF65-F5344CB8AC3E}">
        <p14:creationId xmlns:p14="http://schemas.microsoft.com/office/powerpoint/2010/main" val="521526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C6AC700-A66E-4091-8EBB-D67B8590539C}" type="datetime3">
              <a:rPr lang="en-US" smtClean="0"/>
              <a:t>24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21</a:t>
            </a:fld>
            <a:endParaRPr lang="en-US" dirty="0"/>
          </a:p>
        </p:txBody>
      </p:sp>
      <p:pic>
        <p:nvPicPr>
          <p:cNvPr id="9" name="Picture 8"/>
          <p:cNvPicPr>
            <a:picLocks noChangeAspect="1"/>
          </p:cNvPicPr>
          <p:nvPr/>
        </p:nvPicPr>
        <p:blipFill rotWithShape="1">
          <a:blip r:embed="rId2">
            <a:duotone>
              <a:schemeClr val="accent5">
                <a:shade val="45000"/>
                <a:satMod val="135000"/>
              </a:schemeClr>
              <a:prstClr val="white"/>
            </a:duotone>
          </a:blip>
          <a:srcRect l="2898" t="3228" r="3686" b="4103"/>
          <a:stretch/>
        </p:blipFill>
        <p:spPr>
          <a:xfrm>
            <a:off x="323041" y="729628"/>
            <a:ext cx="7239042" cy="6886786"/>
          </a:xfrm>
          <a:prstGeom prst="rect">
            <a:avLst/>
          </a:prstGeom>
        </p:spPr>
      </p:pic>
      <p:sp>
        <p:nvSpPr>
          <p:cNvPr id="2" name="Title 1">
            <a:extLst>
              <a:ext uri="{FF2B5EF4-FFF2-40B4-BE49-F238E27FC236}">
                <a16:creationId xmlns:a16="http://schemas.microsoft.com/office/drawing/2014/main" id="{66DB13EE-9066-4270-BF91-8769F7E74896}"/>
              </a:ext>
            </a:extLst>
          </p:cNvPr>
          <p:cNvSpPr>
            <a:spLocks noGrp="1"/>
          </p:cNvSpPr>
          <p:nvPr>
            <p:ph type="title"/>
          </p:nvPr>
        </p:nvSpPr>
        <p:spPr>
          <a:xfrm>
            <a:off x="1587737" y="33250"/>
            <a:ext cx="11114112" cy="658278"/>
          </a:xfrm>
        </p:spPr>
        <p:txBody>
          <a:bodyPr>
            <a:noAutofit/>
          </a:bodyPr>
          <a:lstStyle/>
          <a:p>
            <a:r>
              <a:rPr lang="en-US" sz="4800" b="1" dirty="0">
                <a:solidFill>
                  <a:srgbClr val="0070C0"/>
                </a:solidFill>
              </a:rPr>
              <a:t>Logic Diagram of an Arithmetic Circuit</a:t>
            </a:r>
          </a:p>
        </p:txBody>
      </p:sp>
      <p:sp>
        <p:nvSpPr>
          <p:cNvPr id="3" name="TextBox 2">
            <a:extLst>
              <a:ext uri="{FF2B5EF4-FFF2-40B4-BE49-F238E27FC236}">
                <a16:creationId xmlns:a16="http://schemas.microsoft.com/office/drawing/2014/main" id="{439EF05C-417F-4D00-BDBC-DC92E2A9570D}"/>
              </a:ext>
            </a:extLst>
          </p:cNvPr>
          <p:cNvSpPr txBox="1"/>
          <p:nvPr/>
        </p:nvSpPr>
        <p:spPr>
          <a:xfrm>
            <a:off x="234139" y="7629114"/>
            <a:ext cx="6293661" cy="400110"/>
          </a:xfrm>
          <a:prstGeom prst="rect">
            <a:avLst/>
          </a:prstGeom>
          <a:noFill/>
        </p:spPr>
        <p:txBody>
          <a:bodyPr wrap="square" rtlCol="0">
            <a:spAutoFit/>
          </a:bodyPr>
          <a:lstStyle/>
          <a:p>
            <a:r>
              <a:rPr lang="en-US" sz="2000" dirty="0">
                <a:solidFill>
                  <a:srgbClr val="FF0000"/>
                </a:solidFill>
              </a:rPr>
              <a:t>Figure 9-8 Logic Diagram of a 4-bit Arithmetic Circuit</a:t>
            </a:r>
          </a:p>
        </p:txBody>
      </p:sp>
      <p:pic>
        <p:nvPicPr>
          <p:cNvPr id="4" name="Picture 3">
            <a:extLst>
              <a:ext uri="{FF2B5EF4-FFF2-40B4-BE49-F238E27FC236}">
                <a16:creationId xmlns:a16="http://schemas.microsoft.com/office/drawing/2014/main" id="{4E3009CB-ACBF-E082-83B7-ADC70A3D5DDD}"/>
              </a:ext>
            </a:extLst>
          </p:cNvPr>
          <p:cNvPicPr>
            <a:picLocks noChangeAspect="1"/>
          </p:cNvPicPr>
          <p:nvPr/>
        </p:nvPicPr>
        <p:blipFill rotWithShape="1">
          <a:blip r:embed="rId2">
            <a:duotone>
              <a:schemeClr val="accent5">
                <a:shade val="45000"/>
                <a:satMod val="135000"/>
              </a:schemeClr>
              <a:prstClr val="white"/>
            </a:duotone>
          </a:blip>
          <a:srcRect l="2898" t="3228" r="3686" b="4103"/>
          <a:stretch/>
        </p:blipFill>
        <p:spPr>
          <a:xfrm>
            <a:off x="8819266" y="604618"/>
            <a:ext cx="7533106" cy="7220481"/>
          </a:xfrm>
          <a:prstGeom prst="rect">
            <a:avLst/>
          </a:prstGeom>
        </p:spPr>
      </p:pic>
      <p:sp>
        <p:nvSpPr>
          <p:cNvPr id="8" name="Rectangle 7">
            <a:extLst>
              <a:ext uri="{FF2B5EF4-FFF2-40B4-BE49-F238E27FC236}">
                <a16:creationId xmlns:a16="http://schemas.microsoft.com/office/drawing/2014/main" id="{7FF682B1-2969-5230-FA3C-96CCAF8E7BF8}"/>
              </a:ext>
            </a:extLst>
          </p:cNvPr>
          <p:cNvSpPr/>
          <p:nvPr/>
        </p:nvSpPr>
        <p:spPr>
          <a:xfrm>
            <a:off x="9166180" y="8768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10" name="Rectangle 9">
            <a:extLst>
              <a:ext uri="{FF2B5EF4-FFF2-40B4-BE49-F238E27FC236}">
                <a16:creationId xmlns:a16="http://schemas.microsoft.com/office/drawing/2014/main" id="{3311357F-1F65-B50C-475B-3AF7CE86B306}"/>
              </a:ext>
            </a:extLst>
          </p:cNvPr>
          <p:cNvSpPr/>
          <p:nvPr/>
        </p:nvSpPr>
        <p:spPr>
          <a:xfrm>
            <a:off x="9166180" y="16069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11" name="Rectangle 10">
            <a:extLst>
              <a:ext uri="{FF2B5EF4-FFF2-40B4-BE49-F238E27FC236}">
                <a16:creationId xmlns:a16="http://schemas.microsoft.com/office/drawing/2014/main" id="{E53F14E3-58EF-7459-2EF5-0B9573992464}"/>
              </a:ext>
            </a:extLst>
          </p:cNvPr>
          <p:cNvSpPr/>
          <p:nvPr/>
        </p:nvSpPr>
        <p:spPr>
          <a:xfrm>
            <a:off x="9166180" y="1175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12" name="Rectangle 11">
            <a:extLst>
              <a:ext uri="{FF2B5EF4-FFF2-40B4-BE49-F238E27FC236}">
                <a16:creationId xmlns:a16="http://schemas.microsoft.com/office/drawing/2014/main" id="{36A112EA-0BEA-581B-03C6-C426DF78C2EC}"/>
              </a:ext>
            </a:extLst>
          </p:cNvPr>
          <p:cNvSpPr/>
          <p:nvPr/>
        </p:nvSpPr>
        <p:spPr>
          <a:xfrm>
            <a:off x="9166180" y="5339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13" name="Rectangle 12">
            <a:extLst>
              <a:ext uri="{FF2B5EF4-FFF2-40B4-BE49-F238E27FC236}">
                <a16:creationId xmlns:a16="http://schemas.microsoft.com/office/drawing/2014/main" id="{1446EF02-6136-098C-E52E-9FE7F04069C7}"/>
              </a:ext>
            </a:extLst>
          </p:cNvPr>
          <p:cNvSpPr/>
          <p:nvPr/>
        </p:nvSpPr>
        <p:spPr>
          <a:xfrm>
            <a:off x="9166180" y="18293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14" name="Rectangle 13">
            <a:extLst>
              <a:ext uri="{FF2B5EF4-FFF2-40B4-BE49-F238E27FC236}">
                <a16:creationId xmlns:a16="http://schemas.microsoft.com/office/drawing/2014/main" id="{D3F62940-8C2A-1ACF-3840-5124A2A36F75}"/>
              </a:ext>
            </a:extLst>
          </p:cNvPr>
          <p:cNvSpPr/>
          <p:nvPr/>
        </p:nvSpPr>
        <p:spPr>
          <a:xfrm>
            <a:off x="9166180" y="31309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15" name="Rectangle 14">
            <a:extLst>
              <a:ext uri="{FF2B5EF4-FFF2-40B4-BE49-F238E27FC236}">
                <a16:creationId xmlns:a16="http://schemas.microsoft.com/office/drawing/2014/main" id="{DC7844F3-4152-B4B1-B43C-B8C85D805768}"/>
              </a:ext>
            </a:extLst>
          </p:cNvPr>
          <p:cNvSpPr/>
          <p:nvPr/>
        </p:nvSpPr>
        <p:spPr>
          <a:xfrm>
            <a:off x="9166180" y="33660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16" name="Rectangle 15">
            <a:extLst>
              <a:ext uri="{FF2B5EF4-FFF2-40B4-BE49-F238E27FC236}">
                <a16:creationId xmlns:a16="http://schemas.microsoft.com/office/drawing/2014/main" id="{98BF2B8C-96CE-CB8A-BC7A-3710E4442886}"/>
              </a:ext>
            </a:extLst>
          </p:cNvPr>
          <p:cNvSpPr/>
          <p:nvPr/>
        </p:nvSpPr>
        <p:spPr>
          <a:xfrm>
            <a:off x="9166180" y="46549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17" name="Rectangle 16">
            <a:extLst>
              <a:ext uri="{FF2B5EF4-FFF2-40B4-BE49-F238E27FC236}">
                <a16:creationId xmlns:a16="http://schemas.microsoft.com/office/drawing/2014/main" id="{555AFE40-1DCD-8997-3689-F32562E785F8}"/>
              </a:ext>
            </a:extLst>
          </p:cNvPr>
          <p:cNvSpPr/>
          <p:nvPr/>
        </p:nvSpPr>
        <p:spPr>
          <a:xfrm>
            <a:off x="9166180" y="48900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18" name="Rectangle 17">
            <a:extLst>
              <a:ext uri="{FF2B5EF4-FFF2-40B4-BE49-F238E27FC236}">
                <a16:creationId xmlns:a16="http://schemas.microsoft.com/office/drawing/2014/main" id="{33C5D0E5-4A00-B712-2C11-011E49468D7E}"/>
              </a:ext>
            </a:extLst>
          </p:cNvPr>
          <p:cNvSpPr/>
          <p:nvPr/>
        </p:nvSpPr>
        <p:spPr>
          <a:xfrm>
            <a:off x="9166180" y="61789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19" name="Rectangle 18">
            <a:extLst>
              <a:ext uri="{FF2B5EF4-FFF2-40B4-BE49-F238E27FC236}">
                <a16:creationId xmlns:a16="http://schemas.microsoft.com/office/drawing/2014/main" id="{1EC63F00-A1CD-5770-5EFE-A29A4F4019B9}"/>
              </a:ext>
            </a:extLst>
          </p:cNvPr>
          <p:cNvSpPr/>
          <p:nvPr/>
        </p:nvSpPr>
        <p:spPr>
          <a:xfrm>
            <a:off x="9166180" y="64140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20" name="Rectangle 19">
            <a:extLst>
              <a:ext uri="{FF2B5EF4-FFF2-40B4-BE49-F238E27FC236}">
                <a16:creationId xmlns:a16="http://schemas.microsoft.com/office/drawing/2014/main" id="{5F58DC6F-485A-A70A-177D-EA00BB8112CD}"/>
              </a:ext>
            </a:extLst>
          </p:cNvPr>
          <p:cNvSpPr/>
          <p:nvPr/>
        </p:nvSpPr>
        <p:spPr>
          <a:xfrm>
            <a:off x="11433130" y="17974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21" name="Rectangle 20">
            <a:extLst>
              <a:ext uri="{FF2B5EF4-FFF2-40B4-BE49-F238E27FC236}">
                <a16:creationId xmlns:a16="http://schemas.microsoft.com/office/drawing/2014/main" id="{A8D935F0-4CA6-8B0B-91E4-F24435290D2D}"/>
              </a:ext>
            </a:extLst>
          </p:cNvPr>
          <p:cNvSpPr/>
          <p:nvPr/>
        </p:nvSpPr>
        <p:spPr>
          <a:xfrm>
            <a:off x="11433130" y="20579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22" name="Rectangle 21">
            <a:extLst>
              <a:ext uri="{FF2B5EF4-FFF2-40B4-BE49-F238E27FC236}">
                <a16:creationId xmlns:a16="http://schemas.microsoft.com/office/drawing/2014/main" id="{91729222-C404-AEFA-1881-3800AD2278FD}"/>
              </a:ext>
            </a:extLst>
          </p:cNvPr>
          <p:cNvSpPr/>
          <p:nvPr/>
        </p:nvSpPr>
        <p:spPr>
          <a:xfrm>
            <a:off x="11433130" y="24578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23" name="Rectangle 22">
            <a:extLst>
              <a:ext uri="{FF2B5EF4-FFF2-40B4-BE49-F238E27FC236}">
                <a16:creationId xmlns:a16="http://schemas.microsoft.com/office/drawing/2014/main" id="{6E513733-E8C9-8DD4-49AA-4C4CC75D7A95}"/>
              </a:ext>
            </a:extLst>
          </p:cNvPr>
          <p:cNvSpPr/>
          <p:nvPr/>
        </p:nvSpPr>
        <p:spPr>
          <a:xfrm>
            <a:off x="11433130" y="27183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24" name="Rectangle 23">
            <a:extLst>
              <a:ext uri="{FF2B5EF4-FFF2-40B4-BE49-F238E27FC236}">
                <a16:creationId xmlns:a16="http://schemas.microsoft.com/office/drawing/2014/main" id="{60FF6F8A-153A-4C5B-B86C-4E96F0059BEA}"/>
              </a:ext>
            </a:extLst>
          </p:cNvPr>
          <p:cNvSpPr/>
          <p:nvPr/>
        </p:nvSpPr>
        <p:spPr>
          <a:xfrm>
            <a:off x="11433130" y="3334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25" name="Rectangle 24">
            <a:extLst>
              <a:ext uri="{FF2B5EF4-FFF2-40B4-BE49-F238E27FC236}">
                <a16:creationId xmlns:a16="http://schemas.microsoft.com/office/drawing/2014/main" id="{8050EF78-AFFE-39A6-E61C-43BB73453902}"/>
              </a:ext>
            </a:extLst>
          </p:cNvPr>
          <p:cNvSpPr/>
          <p:nvPr/>
        </p:nvSpPr>
        <p:spPr>
          <a:xfrm>
            <a:off x="11433130" y="35946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26" name="Rectangle 25">
            <a:extLst>
              <a:ext uri="{FF2B5EF4-FFF2-40B4-BE49-F238E27FC236}">
                <a16:creationId xmlns:a16="http://schemas.microsoft.com/office/drawing/2014/main" id="{A87B92A4-F3FB-6529-25D2-B48435BBBD21}"/>
              </a:ext>
            </a:extLst>
          </p:cNvPr>
          <p:cNvSpPr/>
          <p:nvPr/>
        </p:nvSpPr>
        <p:spPr>
          <a:xfrm>
            <a:off x="11433130" y="39945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27" name="Rectangle 26">
            <a:extLst>
              <a:ext uri="{FF2B5EF4-FFF2-40B4-BE49-F238E27FC236}">
                <a16:creationId xmlns:a16="http://schemas.microsoft.com/office/drawing/2014/main" id="{FFAF93D9-85AF-0959-E9F9-AC9D9943A79F}"/>
              </a:ext>
            </a:extLst>
          </p:cNvPr>
          <p:cNvSpPr/>
          <p:nvPr/>
        </p:nvSpPr>
        <p:spPr>
          <a:xfrm>
            <a:off x="11433130" y="42550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28" name="Rectangle 27">
            <a:extLst>
              <a:ext uri="{FF2B5EF4-FFF2-40B4-BE49-F238E27FC236}">
                <a16:creationId xmlns:a16="http://schemas.microsoft.com/office/drawing/2014/main" id="{4535D3A6-983D-72CA-46DF-9C3B8C12C0EF}"/>
              </a:ext>
            </a:extLst>
          </p:cNvPr>
          <p:cNvSpPr/>
          <p:nvPr/>
        </p:nvSpPr>
        <p:spPr>
          <a:xfrm>
            <a:off x="11433130" y="48327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29" name="Rectangle 28">
            <a:extLst>
              <a:ext uri="{FF2B5EF4-FFF2-40B4-BE49-F238E27FC236}">
                <a16:creationId xmlns:a16="http://schemas.microsoft.com/office/drawing/2014/main" id="{5988CC1D-EA2B-C771-83DB-6C1C58FF555B}"/>
              </a:ext>
            </a:extLst>
          </p:cNvPr>
          <p:cNvSpPr/>
          <p:nvPr/>
        </p:nvSpPr>
        <p:spPr>
          <a:xfrm>
            <a:off x="11433130" y="50932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0" name="Rectangle 29">
            <a:extLst>
              <a:ext uri="{FF2B5EF4-FFF2-40B4-BE49-F238E27FC236}">
                <a16:creationId xmlns:a16="http://schemas.microsoft.com/office/drawing/2014/main" id="{8FFDFDCE-2492-979E-6B1D-85244338A232}"/>
              </a:ext>
            </a:extLst>
          </p:cNvPr>
          <p:cNvSpPr/>
          <p:nvPr/>
        </p:nvSpPr>
        <p:spPr>
          <a:xfrm>
            <a:off x="11433130" y="5493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31" name="Rectangle 30">
            <a:extLst>
              <a:ext uri="{FF2B5EF4-FFF2-40B4-BE49-F238E27FC236}">
                <a16:creationId xmlns:a16="http://schemas.microsoft.com/office/drawing/2014/main" id="{B7BC00CD-6889-9275-C041-1050090CEA10}"/>
              </a:ext>
            </a:extLst>
          </p:cNvPr>
          <p:cNvSpPr/>
          <p:nvPr/>
        </p:nvSpPr>
        <p:spPr>
          <a:xfrm>
            <a:off x="11433130" y="57536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32" name="Rectangle 31">
            <a:extLst>
              <a:ext uri="{FF2B5EF4-FFF2-40B4-BE49-F238E27FC236}">
                <a16:creationId xmlns:a16="http://schemas.microsoft.com/office/drawing/2014/main" id="{BAE8DF68-38D7-F25B-1F0B-C02F440ED231}"/>
              </a:ext>
            </a:extLst>
          </p:cNvPr>
          <p:cNvSpPr/>
          <p:nvPr/>
        </p:nvSpPr>
        <p:spPr>
          <a:xfrm>
            <a:off x="11433130" y="63694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33" name="Rectangle 32">
            <a:extLst>
              <a:ext uri="{FF2B5EF4-FFF2-40B4-BE49-F238E27FC236}">
                <a16:creationId xmlns:a16="http://schemas.microsoft.com/office/drawing/2014/main" id="{F8D3A586-AB1D-0075-B31C-1119181E7B19}"/>
              </a:ext>
            </a:extLst>
          </p:cNvPr>
          <p:cNvSpPr/>
          <p:nvPr/>
        </p:nvSpPr>
        <p:spPr>
          <a:xfrm>
            <a:off x="11433130" y="66299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4" name="Rectangle 33">
            <a:extLst>
              <a:ext uri="{FF2B5EF4-FFF2-40B4-BE49-F238E27FC236}">
                <a16:creationId xmlns:a16="http://schemas.microsoft.com/office/drawing/2014/main" id="{9409D422-1CE4-49DB-F333-3ADC02E77636}"/>
              </a:ext>
            </a:extLst>
          </p:cNvPr>
          <p:cNvSpPr/>
          <p:nvPr/>
        </p:nvSpPr>
        <p:spPr>
          <a:xfrm>
            <a:off x="11433130" y="70298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5" name="Rectangle 34">
            <a:extLst>
              <a:ext uri="{FF2B5EF4-FFF2-40B4-BE49-F238E27FC236}">
                <a16:creationId xmlns:a16="http://schemas.microsoft.com/office/drawing/2014/main" id="{C89F914A-38A8-5C01-B2DC-0110681BACBD}"/>
              </a:ext>
            </a:extLst>
          </p:cNvPr>
          <p:cNvSpPr/>
          <p:nvPr/>
        </p:nvSpPr>
        <p:spPr>
          <a:xfrm>
            <a:off x="11433130" y="72903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36" name="Rectangle 35">
            <a:extLst>
              <a:ext uri="{FF2B5EF4-FFF2-40B4-BE49-F238E27FC236}">
                <a16:creationId xmlns:a16="http://schemas.microsoft.com/office/drawing/2014/main" id="{CCEA632E-A81B-573F-E026-F3B87A00B111}"/>
              </a:ext>
            </a:extLst>
          </p:cNvPr>
          <p:cNvSpPr/>
          <p:nvPr/>
        </p:nvSpPr>
        <p:spPr>
          <a:xfrm>
            <a:off x="12982529" y="20387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37" name="Rectangle 36">
            <a:extLst>
              <a:ext uri="{FF2B5EF4-FFF2-40B4-BE49-F238E27FC236}">
                <a16:creationId xmlns:a16="http://schemas.microsoft.com/office/drawing/2014/main" id="{BE6CD541-6F6D-A119-A46A-1C7EA8F9AAC0}"/>
              </a:ext>
            </a:extLst>
          </p:cNvPr>
          <p:cNvSpPr/>
          <p:nvPr/>
        </p:nvSpPr>
        <p:spPr>
          <a:xfrm>
            <a:off x="12982529" y="35627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8" name="Rectangle 37">
            <a:extLst>
              <a:ext uri="{FF2B5EF4-FFF2-40B4-BE49-F238E27FC236}">
                <a16:creationId xmlns:a16="http://schemas.microsoft.com/office/drawing/2014/main" id="{ADF63814-BA35-F12E-8ED1-B99C1A63E2A8}"/>
              </a:ext>
            </a:extLst>
          </p:cNvPr>
          <p:cNvSpPr/>
          <p:nvPr/>
        </p:nvSpPr>
        <p:spPr>
          <a:xfrm>
            <a:off x="12982529" y="50867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9" name="Rectangle 38">
            <a:extLst>
              <a:ext uri="{FF2B5EF4-FFF2-40B4-BE49-F238E27FC236}">
                <a16:creationId xmlns:a16="http://schemas.microsoft.com/office/drawing/2014/main" id="{E52000DA-E8E5-A863-D6B3-E2C59B3880CA}"/>
              </a:ext>
            </a:extLst>
          </p:cNvPr>
          <p:cNvSpPr/>
          <p:nvPr/>
        </p:nvSpPr>
        <p:spPr>
          <a:xfrm>
            <a:off x="12982529" y="66107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0" name="Rectangle 39">
            <a:extLst>
              <a:ext uri="{FF2B5EF4-FFF2-40B4-BE49-F238E27FC236}">
                <a16:creationId xmlns:a16="http://schemas.microsoft.com/office/drawing/2014/main" id="{B1D1ACDC-FDD7-D705-1B6E-6C98A5DADBF2}"/>
              </a:ext>
            </a:extLst>
          </p:cNvPr>
          <p:cNvSpPr/>
          <p:nvPr/>
        </p:nvSpPr>
        <p:spPr>
          <a:xfrm>
            <a:off x="12982529" y="23435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1" name="Rectangle 40">
            <a:extLst>
              <a:ext uri="{FF2B5EF4-FFF2-40B4-BE49-F238E27FC236}">
                <a16:creationId xmlns:a16="http://schemas.microsoft.com/office/drawing/2014/main" id="{A4A2D88C-2AEB-E571-738B-04E2244140EF}"/>
              </a:ext>
            </a:extLst>
          </p:cNvPr>
          <p:cNvSpPr/>
          <p:nvPr/>
        </p:nvSpPr>
        <p:spPr>
          <a:xfrm>
            <a:off x="12982529" y="38675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2" name="Rectangle 41">
            <a:extLst>
              <a:ext uri="{FF2B5EF4-FFF2-40B4-BE49-F238E27FC236}">
                <a16:creationId xmlns:a16="http://schemas.microsoft.com/office/drawing/2014/main" id="{34FF31F7-60AE-C4A1-DF08-954BEF7B62A2}"/>
              </a:ext>
            </a:extLst>
          </p:cNvPr>
          <p:cNvSpPr/>
          <p:nvPr/>
        </p:nvSpPr>
        <p:spPr>
          <a:xfrm>
            <a:off x="12982529" y="53915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3" name="Rectangle 42">
            <a:extLst>
              <a:ext uri="{FF2B5EF4-FFF2-40B4-BE49-F238E27FC236}">
                <a16:creationId xmlns:a16="http://schemas.microsoft.com/office/drawing/2014/main" id="{B2199C7B-ED50-998E-B4A5-CA5EB0BD167B}"/>
              </a:ext>
            </a:extLst>
          </p:cNvPr>
          <p:cNvSpPr/>
          <p:nvPr/>
        </p:nvSpPr>
        <p:spPr>
          <a:xfrm>
            <a:off x="12982529" y="69155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4" name="Rectangle 43">
            <a:extLst>
              <a:ext uri="{FF2B5EF4-FFF2-40B4-BE49-F238E27FC236}">
                <a16:creationId xmlns:a16="http://schemas.microsoft.com/office/drawing/2014/main" id="{A4EBCCBD-2FEC-58D4-7411-B52E752DAE0D}"/>
              </a:ext>
            </a:extLst>
          </p:cNvPr>
          <p:cNvSpPr/>
          <p:nvPr/>
        </p:nvSpPr>
        <p:spPr>
          <a:xfrm>
            <a:off x="13973129" y="1556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45" name="Rectangle 44">
            <a:extLst>
              <a:ext uri="{FF2B5EF4-FFF2-40B4-BE49-F238E27FC236}">
                <a16:creationId xmlns:a16="http://schemas.microsoft.com/office/drawing/2014/main" id="{973A2FFE-96C1-8381-AB6D-472D5296B9D5}"/>
              </a:ext>
            </a:extLst>
          </p:cNvPr>
          <p:cNvSpPr/>
          <p:nvPr/>
        </p:nvSpPr>
        <p:spPr>
          <a:xfrm>
            <a:off x="13973129" y="3080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6" name="Rectangle 45">
            <a:extLst>
              <a:ext uri="{FF2B5EF4-FFF2-40B4-BE49-F238E27FC236}">
                <a16:creationId xmlns:a16="http://schemas.microsoft.com/office/drawing/2014/main" id="{814F731C-5EEA-2FEF-2E48-90CD06934F87}"/>
              </a:ext>
            </a:extLst>
          </p:cNvPr>
          <p:cNvSpPr/>
          <p:nvPr/>
        </p:nvSpPr>
        <p:spPr>
          <a:xfrm>
            <a:off x="13973129" y="4604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47" name="Rectangle 46">
            <a:extLst>
              <a:ext uri="{FF2B5EF4-FFF2-40B4-BE49-F238E27FC236}">
                <a16:creationId xmlns:a16="http://schemas.microsoft.com/office/drawing/2014/main" id="{F3B341E1-EC8D-0BA5-8CAD-EF73A3E527E3}"/>
              </a:ext>
            </a:extLst>
          </p:cNvPr>
          <p:cNvSpPr/>
          <p:nvPr/>
        </p:nvSpPr>
        <p:spPr>
          <a:xfrm>
            <a:off x="13973129" y="6128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8" name="Rectangle 47">
            <a:extLst>
              <a:ext uri="{FF2B5EF4-FFF2-40B4-BE49-F238E27FC236}">
                <a16:creationId xmlns:a16="http://schemas.microsoft.com/office/drawing/2014/main" id="{BB75F392-05F1-578B-4E24-DD2616497C86}"/>
              </a:ext>
            </a:extLst>
          </p:cNvPr>
          <p:cNvSpPr/>
          <p:nvPr/>
        </p:nvSpPr>
        <p:spPr>
          <a:xfrm>
            <a:off x="13973129" y="22038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9" name="Rectangle 48">
            <a:extLst>
              <a:ext uri="{FF2B5EF4-FFF2-40B4-BE49-F238E27FC236}">
                <a16:creationId xmlns:a16="http://schemas.microsoft.com/office/drawing/2014/main" id="{FEC74E5E-9A50-5FA3-35AF-5858731681B3}"/>
              </a:ext>
            </a:extLst>
          </p:cNvPr>
          <p:cNvSpPr/>
          <p:nvPr/>
        </p:nvSpPr>
        <p:spPr>
          <a:xfrm>
            <a:off x="13973129" y="37278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0" name="Rectangle 49">
            <a:extLst>
              <a:ext uri="{FF2B5EF4-FFF2-40B4-BE49-F238E27FC236}">
                <a16:creationId xmlns:a16="http://schemas.microsoft.com/office/drawing/2014/main" id="{2786A00F-585E-58C4-C244-F70525393F6C}"/>
              </a:ext>
            </a:extLst>
          </p:cNvPr>
          <p:cNvSpPr/>
          <p:nvPr/>
        </p:nvSpPr>
        <p:spPr>
          <a:xfrm>
            <a:off x="13973129" y="52518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1" name="Rectangle 50">
            <a:extLst>
              <a:ext uri="{FF2B5EF4-FFF2-40B4-BE49-F238E27FC236}">
                <a16:creationId xmlns:a16="http://schemas.microsoft.com/office/drawing/2014/main" id="{6E123C97-6219-27E2-068B-D028D6F84A82}"/>
              </a:ext>
            </a:extLst>
          </p:cNvPr>
          <p:cNvSpPr/>
          <p:nvPr/>
        </p:nvSpPr>
        <p:spPr>
          <a:xfrm>
            <a:off x="13973129" y="67758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2" name="Rectangle 51">
            <a:extLst>
              <a:ext uri="{FF2B5EF4-FFF2-40B4-BE49-F238E27FC236}">
                <a16:creationId xmlns:a16="http://schemas.microsoft.com/office/drawing/2014/main" id="{A181A3D4-DD31-88C1-C8B6-CD558C83FC61}"/>
              </a:ext>
            </a:extLst>
          </p:cNvPr>
          <p:cNvSpPr/>
          <p:nvPr/>
        </p:nvSpPr>
        <p:spPr>
          <a:xfrm>
            <a:off x="15109780" y="1175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3" name="Rectangle 52">
            <a:extLst>
              <a:ext uri="{FF2B5EF4-FFF2-40B4-BE49-F238E27FC236}">
                <a16:creationId xmlns:a16="http://schemas.microsoft.com/office/drawing/2014/main" id="{5BC77139-C711-191C-29D8-842A48CF8960}"/>
              </a:ext>
            </a:extLst>
          </p:cNvPr>
          <p:cNvSpPr/>
          <p:nvPr/>
        </p:nvSpPr>
        <p:spPr>
          <a:xfrm>
            <a:off x="15408229" y="18609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4" name="Rectangle 53">
            <a:extLst>
              <a:ext uri="{FF2B5EF4-FFF2-40B4-BE49-F238E27FC236}">
                <a16:creationId xmlns:a16="http://schemas.microsoft.com/office/drawing/2014/main" id="{BC93AA82-08CE-6EAA-E72B-C6FE94E165A5}"/>
              </a:ext>
            </a:extLst>
          </p:cNvPr>
          <p:cNvSpPr/>
          <p:nvPr/>
        </p:nvSpPr>
        <p:spPr>
          <a:xfrm>
            <a:off x="15408229" y="33849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5" name="Rectangle 54">
            <a:extLst>
              <a:ext uri="{FF2B5EF4-FFF2-40B4-BE49-F238E27FC236}">
                <a16:creationId xmlns:a16="http://schemas.microsoft.com/office/drawing/2014/main" id="{64E794FA-ECCA-8B32-DE9F-4F9E09CB65DA}"/>
              </a:ext>
            </a:extLst>
          </p:cNvPr>
          <p:cNvSpPr/>
          <p:nvPr/>
        </p:nvSpPr>
        <p:spPr>
          <a:xfrm>
            <a:off x="15408229" y="49089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6" name="Rectangle 55">
            <a:extLst>
              <a:ext uri="{FF2B5EF4-FFF2-40B4-BE49-F238E27FC236}">
                <a16:creationId xmlns:a16="http://schemas.microsoft.com/office/drawing/2014/main" id="{6F3AAA02-099D-FF92-3A93-7769D21DA18A}"/>
              </a:ext>
            </a:extLst>
          </p:cNvPr>
          <p:cNvSpPr/>
          <p:nvPr/>
        </p:nvSpPr>
        <p:spPr>
          <a:xfrm>
            <a:off x="15408229" y="64329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7" name="Rectangle 56">
            <a:extLst>
              <a:ext uri="{FF2B5EF4-FFF2-40B4-BE49-F238E27FC236}">
                <a16:creationId xmlns:a16="http://schemas.microsoft.com/office/drawing/2014/main" id="{8BDD7B49-6C54-AEDA-9CAE-B8CB56287E5D}"/>
              </a:ext>
            </a:extLst>
          </p:cNvPr>
          <p:cNvSpPr/>
          <p:nvPr/>
        </p:nvSpPr>
        <p:spPr>
          <a:xfrm>
            <a:off x="15116129" y="2699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8" name="Rectangle 57">
            <a:extLst>
              <a:ext uri="{FF2B5EF4-FFF2-40B4-BE49-F238E27FC236}">
                <a16:creationId xmlns:a16="http://schemas.microsoft.com/office/drawing/2014/main" id="{4C57040F-8A62-46EE-4CED-8D4116437887}"/>
              </a:ext>
            </a:extLst>
          </p:cNvPr>
          <p:cNvSpPr/>
          <p:nvPr/>
        </p:nvSpPr>
        <p:spPr>
          <a:xfrm>
            <a:off x="15116129" y="4223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9" name="Rectangle 58">
            <a:extLst>
              <a:ext uri="{FF2B5EF4-FFF2-40B4-BE49-F238E27FC236}">
                <a16:creationId xmlns:a16="http://schemas.microsoft.com/office/drawing/2014/main" id="{3E5C82DF-3F90-8153-9216-FA80B5AF140B}"/>
              </a:ext>
            </a:extLst>
          </p:cNvPr>
          <p:cNvSpPr/>
          <p:nvPr/>
        </p:nvSpPr>
        <p:spPr>
          <a:xfrm>
            <a:off x="15116129" y="5747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60" name="Rectangle 59">
            <a:extLst>
              <a:ext uri="{FF2B5EF4-FFF2-40B4-BE49-F238E27FC236}">
                <a16:creationId xmlns:a16="http://schemas.microsoft.com/office/drawing/2014/main" id="{5AD47694-6790-FF96-F15F-4C581ED3CAFC}"/>
              </a:ext>
            </a:extLst>
          </p:cNvPr>
          <p:cNvSpPr/>
          <p:nvPr/>
        </p:nvSpPr>
        <p:spPr>
          <a:xfrm>
            <a:off x="15116129" y="7271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Tree>
    <p:extLst>
      <p:ext uri="{BB962C8B-B14F-4D97-AF65-F5344CB8AC3E}">
        <p14:creationId xmlns:p14="http://schemas.microsoft.com/office/powerpoint/2010/main" val="51586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heel(1)">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heel(1)">
                                      <p:cBhvr>
                                        <p:cTn id="17" dur="2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heel(1)">
                                      <p:cBhvr>
                                        <p:cTn id="22" dur="2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heel(1)">
                                      <p:cBhvr>
                                        <p:cTn id="27" dur="2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heel(1)">
                                      <p:cBhvr>
                                        <p:cTn id="32" dur="20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heel(1)">
                                      <p:cBhvr>
                                        <p:cTn id="37" dur="20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heel(1)">
                                      <p:cBhvr>
                                        <p:cTn id="42" dur="20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1" presetClass="entr" presetSubtype="1"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heel(1)">
                                      <p:cBhvr>
                                        <p:cTn id="47" dur="20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heel(1)">
                                      <p:cBhvr>
                                        <p:cTn id="52" dur="20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1" presetClass="entr" presetSubtype="1"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heel(1)">
                                      <p:cBhvr>
                                        <p:cTn id="57" dur="20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1"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wheel(1)">
                                      <p:cBhvr>
                                        <p:cTn id="62" dur="20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21" presetClass="entr" presetSubtype="1"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heel(1)">
                                      <p:cBhvr>
                                        <p:cTn id="67" dur="20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21" presetClass="entr" presetSubtype="1"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heel(1)">
                                      <p:cBhvr>
                                        <p:cTn id="72" dur="20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1"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wheel(1)">
                                      <p:cBhvr>
                                        <p:cTn id="77" dur="2000"/>
                                        <p:tgtEl>
                                          <p:spTgt spid="23"/>
                                        </p:tgtEl>
                                      </p:cBhvr>
                                    </p:animEffect>
                                  </p:childTnLst>
                                </p:cTn>
                              </p:par>
                            </p:childTnLst>
                          </p:cTn>
                        </p:par>
                      </p:childTnLst>
                    </p:cTn>
                  </p:par>
                  <p:par>
                    <p:cTn id="78" fill="hold">
                      <p:stCondLst>
                        <p:cond delay="indefinite"/>
                      </p:stCondLst>
                      <p:childTnLst>
                        <p:par>
                          <p:cTn id="79" fill="hold">
                            <p:stCondLst>
                              <p:cond delay="0"/>
                            </p:stCondLst>
                            <p:childTnLst>
                              <p:par>
                                <p:cTn id="80" presetID="21" presetClass="entr" presetSubtype="1"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wheel(1)">
                                      <p:cBhvr>
                                        <p:cTn id="82" dur="2000"/>
                                        <p:tgtEl>
                                          <p:spTgt spid="24"/>
                                        </p:tgtEl>
                                      </p:cBhvr>
                                    </p:animEffect>
                                  </p:childTnLst>
                                </p:cTn>
                              </p:par>
                            </p:childTnLst>
                          </p:cTn>
                        </p:par>
                      </p:childTnLst>
                    </p:cTn>
                  </p:par>
                  <p:par>
                    <p:cTn id="83" fill="hold">
                      <p:stCondLst>
                        <p:cond delay="indefinite"/>
                      </p:stCondLst>
                      <p:childTnLst>
                        <p:par>
                          <p:cTn id="84" fill="hold">
                            <p:stCondLst>
                              <p:cond delay="0"/>
                            </p:stCondLst>
                            <p:childTnLst>
                              <p:par>
                                <p:cTn id="85" presetID="21" presetClass="entr" presetSubtype="1"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wheel(1)">
                                      <p:cBhvr>
                                        <p:cTn id="87" dur="2000"/>
                                        <p:tgtEl>
                                          <p:spTgt spid="25"/>
                                        </p:tgtEl>
                                      </p:cBhvr>
                                    </p:animEffect>
                                  </p:childTnLst>
                                </p:cTn>
                              </p:par>
                            </p:childTnLst>
                          </p:cTn>
                        </p:par>
                      </p:childTnLst>
                    </p:cTn>
                  </p:par>
                  <p:par>
                    <p:cTn id="88" fill="hold">
                      <p:stCondLst>
                        <p:cond delay="indefinite"/>
                      </p:stCondLst>
                      <p:childTnLst>
                        <p:par>
                          <p:cTn id="89" fill="hold">
                            <p:stCondLst>
                              <p:cond delay="0"/>
                            </p:stCondLst>
                            <p:childTnLst>
                              <p:par>
                                <p:cTn id="90" presetID="21" presetClass="entr" presetSubtype="1" fill="hold" grpId="0" nodeType="click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wheel(1)">
                                      <p:cBhvr>
                                        <p:cTn id="92" dur="2000"/>
                                        <p:tgtEl>
                                          <p:spTgt spid="26"/>
                                        </p:tgtEl>
                                      </p:cBhvr>
                                    </p:animEffect>
                                  </p:childTnLst>
                                </p:cTn>
                              </p:par>
                            </p:childTnLst>
                          </p:cTn>
                        </p:par>
                      </p:childTnLst>
                    </p:cTn>
                  </p:par>
                  <p:par>
                    <p:cTn id="93" fill="hold">
                      <p:stCondLst>
                        <p:cond delay="indefinite"/>
                      </p:stCondLst>
                      <p:childTnLst>
                        <p:par>
                          <p:cTn id="94" fill="hold">
                            <p:stCondLst>
                              <p:cond delay="0"/>
                            </p:stCondLst>
                            <p:childTnLst>
                              <p:par>
                                <p:cTn id="95" presetID="21" presetClass="entr" presetSubtype="1" fill="hold" grpId="0" nodeType="clickEffect">
                                  <p:stCondLst>
                                    <p:cond delay="0"/>
                                  </p:stCondLst>
                                  <p:childTnLst>
                                    <p:set>
                                      <p:cBhvr>
                                        <p:cTn id="96" dur="1" fill="hold">
                                          <p:stCondLst>
                                            <p:cond delay="0"/>
                                          </p:stCondLst>
                                        </p:cTn>
                                        <p:tgtEl>
                                          <p:spTgt spid="27"/>
                                        </p:tgtEl>
                                        <p:attrNameLst>
                                          <p:attrName>style.visibility</p:attrName>
                                        </p:attrNameLst>
                                      </p:cBhvr>
                                      <p:to>
                                        <p:strVal val="visible"/>
                                      </p:to>
                                    </p:set>
                                    <p:animEffect transition="in" filter="wheel(1)">
                                      <p:cBhvr>
                                        <p:cTn id="97" dur="2000"/>
                                        <p:tgtEl>
                                          <p:spTgt spid="27"/>
                                        </p:tgtEl>
                                      </p:cBhvr>
                                    </p:animEffect>
                                  </p:childTnLst>
                                </p:cTn>
                              </p:par>
                            </p:childTnLst>
                          </p:cTn>
                        </p:par>
                      </p:childTnLst>
                    </p:cTn>
                  </p:par>
                  <p:par>
                    <p:cTn id="98" fill="hold">
                      <p:stCondLst>
                        <p:cond delay="indefinite"/>
                      </p:stCondLst>
                      <p:childTnLst>
                        <p:par>
                          <p:cTn id="99" fill="hold">
                            <p:stCondLst>
                              <p:cond delay="0"/>
                            </p:stCondLst>
                            <p:childTnLst>
                              <p:par>
                                <p:cTn id="100" presetID="21" presetClass="entr" presetSubtype="1" fill="hold" grpId="0" nodeType="click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wheel(1)">
                                      <p:cBhvr>
                                        <p:cTn id="102" dur="2000"/>
                                        <p:tgtEl>
                                          <p:spTgt spid="28"/>
                                        </p:tgtEl>
                                      </p:cBhvr>
                                    </p:animEffect>
                                  </p:childTnLst>
                                </p:cTn>
                              </p:par>
                            </p:childTnLst>
                          </p:cTn>
                        </p:par>
                      </p:childTnLst>
                    </p:cTn>
                  </p:par>
                  <p:par>
                    <p:cTn id="103" fill="hold">
                      <p:stCondLst>
                        <p:cond delay="indefinite"/>
                      </p:stCondLst>
                      <p:childTnLst>
                        <p:par>
                          <p:cTn id="104" fill="hold">
                            <p:stCondLst>
                              <p:cond delay="0"/>
                            </p:stCondLst>
                            <p:childTnLst>
                              <p:par>
                                <p:cTn id="105" presetID="21" presetClass="entr" presetSubtype="1" fill="hold" grpId="0" nodeType="click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wheel(1)">
                                      <p:cBhvr>
                                        <p:cTn id="107" dur="2000"/>
                                        <p:tgtEl>
                                          <p:spTgt spid="29"/>
                                        </p:tgtEl>
                                      </p:cBhvr>
                                    </p:animEffect>
                                  </p:childTnLst>
                                </p:cTn>
                              </p:par>
                            </p:childTnLst>
                          </p:cTn>
                        </p:par>
                      </p:childTnLst>
                    </p:cTn>
                  </p:par>
                  <p:par>
                    <p:cTn id="108" fill="hold">
                      <p:stCondLst>
                        <p:cond delay="indefinite"/>
                      </p:stCondLst>
                      <p:childTnLst>
                        <p:par>
                          <p:cTn id="109" fill="hold">
                            <p:stCondLst>
                              <p:cond delay="0"/>
                            </p:stCondLst>
                            <p:childTnLst>
                              <p:par>
                                <p:cTn id="110" presetID="21" presetClass="entr" presetSubtype="1" fill="hold" grpId="0" nodeType="clickEffect">
                                  <p:stCondLst>
                                    <p:cond delay="0"/>
                                  </p:stCondLst>
                                  <p:childTnLst>
                                    <p:set>
                                      <p:cBhvr>
                                        <p:cTn id="111" dur="1" fill="hold">
                                          <p:stCondLst>
                                            <p:cond delay="0"/>
                                          </p:stCondLst>
                                        </p:cTn>
                                        <p:tgtEl>
                                          <p:spTgt spid="30"/>
                                        </p:tgtEl>
                                        <p:attrNameLst>
                                          <p:attrName>style.visibility</p:attrName>
                                        </p:attrNameLst>
                                      </p:cBhvr>
                                      <p:to>
                                        <p:strVal val="visible"/>
                                      </p:to>
                                    </p:set>
                                    <p:animEffect transition="in" filter="wheel(1)">
                                      <p:cBhvr>
                                        <p:cTn id="112" dur="2000"/>
                                        <p:tgtEl>
                                          <p:spTgt spid="30"/>
                                        </p:tgtEl>
                                      </p:cBhvr>
                                    </p:animEffect>
                                  </p:childTnLst>
                                </p:cTn>
                              </p:par>
                            </p:childTnLst>
                          </p:cTn>
                        </p:par>
                      </p:childTnLst>
                    </p:cTn>
                  </p:par>
                  <p:par>
                    <p:cTn id="113" fill="hold">
                      <p:stCondLst>
                        <p:cond delay="indefinite"/>
                      </p:stCondLst>
                      <p:childTnLst>
                        <p:par>
                          <p:cTn id="114" fill="hold">
                            <p:stCondLst>
                              <p:cond delay="0"/>
                            </p:stCondLst>
                            <p:childTnLst>
                              <p:par>
                                <p:cTn id="115" presetID="21" presetClass="entr" presetSubtype="1"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wheel(1)">
                                      <p:cBhvr>
                                        <p:cTn id="117" dur="2000"/>
                                        <p:tgtEl>
                                          <p:spTgt spid="31"/>
                                        </p:tgtEl>
                                      </p:cBhvr>
                                    </p:animEffect>
                                  </p:childTnLst>
                                </p:cTn>
                              </p:par>
                            </p:childTnLst>
                          </p:cTn>
                        </p:par>
                      </p:childTnLst>
                    </p:cTn>
                  </p:par>
                  <p:par>
                    <p:cTn id="118" fill="hold">
                      <p:stCondLst>
                        <p:cond delay="indefinite"/>
                      </p:stCondLst>
                      <p:childTnLst>
                        <p:par>
                          <p:cTn id="119" fill="hold">
                            <p:stCondLst>
                              <p:cond delay="0"/>
                            </p:stCondLst>
                            <p:childTnLst>
                              <p:par>
                                <p:cTn id="120" presetID="21" presetClass="entr" presetSubtype="1" fill="hold" grpId="0" nodeType="click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wheel(1)">
                                      <p:cBhvr>
                                        <p:cTn id="122" dur="2000"/>
                                        <p:tgtEl>
                                          <p:spTgt spid="32"/>
                                        </p:tgtEl>
                                      </p:cBhvr>
                                    </p:animEffect>
                                  </p:childTnLst>
                                </p:cTn>
                              </p:par>
                            </p:childTnLst>
                          </p:cTn>
                        </p:par>
                      </p:childTnLst>
                    </p:cTn>
                  </p:par>
                  <p:par>
                    <p:cTn id="123" fill="hold">
                      <p:stCondLst>
                        <p:cond delay="indefinite"/>
                      </p:stCondLst>
                      <p:childTnLst>
                        <p:par>
                          <p:cTn id="124" fill="hold">
                            <p:stCondLst>
                              <p:cond delay="0"/>
                            </p:stCondLst>
                            <p:childTnLst>
                              <p:par>
                                <p:cTn id="125" presetID="21" presetClass="entr" presetSubtype="1" fill="hold" grpId="0" nodeType="clickEffect">
                                  <p:stCondLst>
                                    <p:cond delay="0"/>
                                  </p:stCondLst>
                                  <p:childTnLst>
                                    <p:set>
                                      <p:cBhvr>
                                        <p:cTn id="126" dur="1" fill="hold">
                                          <p:stCondLst>
                                            <p:cond delay="0"/>
                                          </p:stCondLst>
                                        </p:cTn>
                                        <p:tgtEl>
                                          <p:spTgt spid="33"/>
                                        </p:tgtEl>
                                        <p:attrNameLst>
                                          <p:attrName>style.visibility</p:attrName>
                                        </p:attrNameLst>
                                      </p:cBhvr>
                                      <p:to>
                                        <p:strVal val="visible"/>
                                      </p:to>
                                    </p:set>
                                    <p:animEffect transition="in" filter="wheel(1)">
                                      <p:cBhvr>
                                        <p:cTn id="127" dur="2000"/>
                                        <p:tgtEl>
                                          <p:spTgt spid="33"/>
                                        </p:tgtEl>
                                      </p:cBhvr>
                                    </p:animEffect>
                                  </p:childTnLst>
                                </p:cTn>
                              </p:par>
                            </p:childTnLst>
                          </p:cTn>
                        </p:par>
                      </p:childTnLst>
                    </p:cTn>
                  </p:par>
                  <p:par>
                    <p:cTn id="128" fill="hold">
                      <p:stCondLst>
                        <p:cond delay="indefinite"/>
                      </p:stCondLst>
                      <p:childTnLst>
                        <p:par>
                          <p:cTn id="129" fill="hold">
                            <p:stCondLst>
                              <p:cond delay="0"/>
                            </p:stCondLst>
                            <p:childTnLst>
                              <p:par>
                                <p:cTn id="130" presetID="21" presetClass="entr" presetSubtype="1" fill="hold" grpId="0" nodeType="clickEffect">
                                  <p:stCondLst>
                                    <p:cond delay="0"/>
                                  </p:stCondLst>
                                  <p:childTnLst>
                                    <p:set>
                                      <p:cBhvr>
                                        <p:cTn id="131" dur="1" fill="hold">
                                          <p:stCondLst>
                                            <p:cond delay="0"/>
                                          </p:stCondLst>
                                        </p:cTn>
                                        <p:tgtEl>
                                          <p:spTgt spid="34"/>
                                        </p:tgtEl>
                                        <p:attrNameLst>
                                          <p:attrName>style.visibility</p:attrName>
                                        </p:attrNameLst>
                                      </p:cBhvr>
                                      <p:to>
                                        <p:strVal val="visible"/>
                                      </p:to>
                                    </p:set>
                                    <p:animEffect transition="in" filter="wheel(1)">
                                      <p:cBhvr>
                                        <p:cTn id="132" dur="2000"/>
                                        <p:tgtEl>
                                          <p:spTgt spid="34"/>
                                        </p:tgtEl>
                                      </p:cBhvr>
                                    </p:animEffect>
                                  </p:childTnLst>
                                </p:cTn>
                              </p:par>
                            </p:childTnLst>
                          </p:cTn>
                        </p:par>
                      </p:childTnLst>
                    </p:cTn>
                  </p:par>
                  <p:par>
                    <p:cTn id="133" fill="hold">
                      <p:stCondLst>
                        <p:cond delay="indefinite"/>
                      </p:stCondLst>
                      <p:childTnLst>
                        <p:par>
                          <p:cTn id="134" fill="hold">
                            <p:stCondLst>
                              <p:cond delay="0"/>
                            </p:stCondLst>
                            <p:childTnLst>
                              <p:par>
                                <p:cTn id="135" presetID="21" presetClass="entr" presetSubtype="1" fill="hold" grpId="0" nodeType="clickEffect">
                                  <p:stCondLst>
                                    <p:cond delay="0"/>
                                  </p:stCondLst>
                                  <p:childTnLst>
                                    <p:set>
                                      <p:cBhvr>
                                        <p:cTn id="136" dur="1" fill="hold">
                                          <p:stCondLst>
                                            <p:cond delay="0"/>
                                          </p:stCondLst>
                                        </p:cTn>
                                        <p:tgtEl>
                                          <p:spTgt spid="35"/>
                                        </p:tgtEl>
                                        <p:attrNameLst>
                                          <p:attrName>style.visibility</p:attrName>
                                        </p:attrNameLst>
                                      </p:cBhvr>
                                      <p:to>
                                        <p:strVal val="visible"/>
                                      </p:to>
                                    </p:set>
                                    <p:animEffect transition="in" filter="wheel(1)">
                                      <p:cBhvr>
                                        <p:cTn id="137" dur="2000"/>
                                        <p:tgtEl>
                                          <p:spTgt spid="35"/>
                                        </p:tgtEl>
                                      </p:cBhvr>
                                    </p:animEffect>
                                  </p:childTnLst>
                                </p:cTn>
                              </p:par>
                            </p:childTnLst>
                          </p:cTn>
                        </p:par>
                      </p:childTnLst>
                    </p:cTn>
                  </p:par>
                  <p:par>
                    <p:cTn id="138" fill="hold">
                      <p:stCondLst>
                        <p:cond delay="indefinite"/>
                      </p:stCondLst>
                      <p:childTnLst>
                        <p:par>
                          <p:cTn id="139" fill="hold">
                            <p:stCondLst>
                              <p:cond delay="0"/>
                            </p:stCondLst>
                            <p:childTnLst>
                              <p:par>
                                <p:cTn id="140" presetID="21" presetClass="entr" presetSubtype="1" fill="hold" grpId="0" nodeType="clickEffect">
                                  <p:stCondLst>
                                    <p:cond delay="0"/>
                                  </p:stCondLst>
                                  <p:childTnLst>
                                    <p:set>
                                      <p:cBhvr>
                                        <p:cTn id="141" dur="1" fill="hold">
                                          <p:stCondLst>
                                            <p:cond delay="0"/>
                                          </p:stCondLst>
                                        </p:cTn>
                                        <p:tgtEl>
                                          <p:spTgt spid="36"/>
                                        </p:tgtEl>
                                        <p:attrNameLst>
                                          <p:attrName>style.visibility</p:attrName>
                                        </p:attrNameLst>
                                      </p:cBhvr>
                                      <p:to>
                                        <p:strVal val="visible"/>
                                      </p:to>
                                    </p:set>
                                    <p:animEffect transition="in" filter="wheel(1)">
                                      <p:cBhvr>
                                        <p:cTn id="142" dur="2000"/>
                                        <p:tgtEl>
                                          <p:spTgt spid="36"/>
                                        </p:tgtEl>
                                      </p:cBhvr>
                                    </p:animEffect>
                                  </p:childTnLst>
                                </p:cTn>
                              </p:par>
                            </p:childTnLst>
                          </p:cTn>
                        </p:par>
                      </p:childTnLst>
                    </p:cTn>
                  </p:par>
                  <p:par>
                    <p:cTn id="143" fill="hold">
                      <p:stCondLst>
                        <p:cond delay="indefinite"/>
                      </p:stCondLst>
                      <p:childTnLst>
                        <p:par>
                          <p:cTn id="144" fill="hold">
                            <p:stCondLst>
                              <p:cond delay="0"/>
                            </p:stCondLst>
                            <p:childTnLst>
                              <p:par>
                                <p:cTn id="145" presetID="21" presetClass="entr" presetSubtype="1" fill="hold" grpId="0" nodeType="clickEffect">
                                  <p:stCondLst>
                                    <p:cond delay="0"/>
                                  </p:stCondLst>
                                  <p:childTnLst>
                                    <p:set>
                                      <p:cBhvr>
                                        <p:cTn id="146" dur="1" fill="hold">
                                          <p:stCondLst>
                                            <p:cond delay="0"/>
                                          </p:stCondLst>
                                        </p:cTn>
                                        <p:tgtEl>
                                          <p:spTgt spid="37"/>
                                        </p:tgtEl>
                                        <p:attrNameLst>
                                          <p:attrName>style.visibility</p:attrName>
                                        </p:attrNameLst>
                                      </p:cBhvr>
                                      <p:to>
                                        <p:strVal val="visible"/>
                                      </p:to>
                                    </p:set>
                                    <p:animEffect transition="in" filter="wheel(1)">
                                      <p:cBhvr>
                                        <p:cTn id="147" dur="2000"/>
                                        <p:tgtEl>
                                          <p:spTgt spid="37"/>
                                        </p:tgtEl>
                                      </p:cBhvr>
                                    </p:animEffect>
                                  </p:childTnLst>
                                </p:cTn>
                              </p:par>
                            </p:childTnLst>
                          </p:cTn>
                        </p:par>
                      </p:childTnLst>
                    </p:cTn>
                  </p:par>
                  <p:par>
                    <p:cTn id="148" fill="hold">
                      <p:stCondLst>
                        <p:cond delay="indefinite"/>
                      </p:stCondLst>
                      <p:childTnLst>
                        <p:par>
                          <p:cTn id="149" fill="hold">
                            <p:stCondLst>
                              <p:cond delay="0"/>
                            </p:stCondLst>
                            <p:childTnLst>
                              <p:par>
                                <p:cTn id="150" presetID="21" presetClass="entr" presetSubtype="1" fill="hold" grpId="0" nodeType="clickEffect">
                                  <p:stCondLst>
                                    <p:cond delay="0"/>
                                  </p:stCondLst>
                                  <p:childTnLst>
                                    <p:set>
                                      <p:cBhvr>
                                        <p:cTn id="151" dur="1" fill="hold">
                                          <p:stCondLst>
                                            <p:cond delay="0"/>
                                          </p:stCondLst>
                                        </p:cTn>
                                        <p:tgtEl>
                                          <p:spTgt spid="38"/>
                                        </p:tgtEl>
                                        <p:attrNameLst>
                                          <p:attrName>style.visibility</p:attrName>
                                        </p:attrNameLst>
                                      </p:cBhvr>
                                      <p:to>
                                        <p:strVal val="visible"/>
                                      </p:to>
                                    </p:set>
                                    <p:animEffect transition="in" filter="wheel(1)">
                                      <p:cBhvr>
                                        <p:cTn id="152" dur="2000"/>
                                        <p:tgtEl>
                                          <p:spTgt spid="38"/>
                                        </p:tgtEl>
                                      </p:cBhvr>
                                    </p:animEffect>
                                  </p:childTnLst>
                                </p:cTn>
                              </p:par>
                            </p:childTnLst>
                          </p:cTn>
                        </p:par>
                      </p:childTnLst>
                    </p:cTn>
                  </p:par>
                  <p:par>
                    <p:cTn id="153" fill="hold">
                      <p:stCondLst>
                        <p:cond delay="indefinite"/>
                      </p:stCondLst>
                      <p:childTnLst>
                        <p:par>
                          <p:cTn id="154" fill="hold">
                            <p:stCondLst>
                              <p:cond delay="0"/>
                            </p:stCondLst>
                            <p:childTnLst>
                              <p:par>
                                <p:cTn id="155" presetID="21" presetClass="entr" presetSubtype="1" fill="hold" grpId="0" nodeType="clickEffect">
                                  <p:stCondLst>
                                    <p:cond delay="0"/>
                                  </p:stCondLst>
                                  <p:childTnLst>
                                    <p:set>
                                      <p:cBhvr>
                                        <p:cTn id="156" dur="1" fill="hold">
                                          <p:stCondLst>
                                            <p:cond delay="0"/>
                                          </p:stCondLst>
                                        </p:cTn>
                                        <p:tgtEl>
                                          <p:spTgt spid="39"/>
                                        </p:tgtEl>
                                        <p:attrNameLst>
                                          <p:attrName>style.visibility</p:attrName>
                                        </p:attrNameLst>
                                      </p:cBhvr>
                                      <p:to>
                                        <p:strVal val="visible"/>
                                      </p:to>
                                    </p:set>
                                    <p:animEffect transition="in" filter="wheel(1)">
                                      <p:cBhvr>
                                        <p:cTn id="157" dur="2000"/>
                                        <p:tgtEl>
                                          <p:spTgt spid="39"/>
                                        </p:tgtEl>
                                      </p:cBhvr>
                                    </p:animEffect>
                                  </p:childTnLst>
                                </p:cTn>
                              </p:par>
                            </p:childTnLst>
                          </p:cTn>
                        </p:par>
                      </p:childTnLst>
                    </p:cTn>
                  </p:par>
                  <p:par>
                    <p:cTn id="158" fill="hold">
                      <p:stCondLst>
                        <p:cond delay="indefinite"/>
                      </p:stCondLst>
                      <p:childTnLst>
                        <p:par>
                          <p:cTn id="159" fill="hold">
                            <p:stCondLst>
                              <p:cond delay="0"/>
                            </p:stCondLst>
                            <p:childTnLst>
                              <p:par>
                                <p:cTn id="160" presetID="21" presetClass="entr" presetSubtype="1" fill="hold" grpId="0" nodeType="clickEffect">
                                  <p:stCondLst>
                                    <p:cond delay="0"/>
                                  </p:stCondLst>
                                  <p:childTnLst>
                                    <p:set>
                                      <p:cBhvr>
                                        <p:cTn id="161" dur="1" fill="hold">
                                          <p:stCondLst>
                                            <p:cond delay="0"/>
                                          </p:stCondLst>
                                        </p:cTn>
                                        <p:tgtEl>
                                          <p:spTgt spid="40"/>
                                        </p:tgtEl>
                                        <p:attrNameLst>
                                          <p:attrName>style.visibility</p:attrName>
                                        </p:attrNameLst>
                                      </p:cBhvr>
                                      <p:to>
                                        <p:strVal val="visible"/>
                                      </p:to>
                                    </p:set>
                                    <p:animEffect transition="in" filter="wheel(1)">
                                      <p:cBhvr>
                                        <p:cTn id="162" dur="2000"/>
                                        <p:tgtEl>
                                          <p:spTgt spid="40"/>
                                        </p:tgtEl>
                                      </p:cBhvr>
                                    </p:animEffect>
                                  </p:childTnLst>
                                </p:cTn>
                              </p:par>
                            </p:childTnLst>
                          </p:cTn>
                        </p:par>
                      </p:childTnLst>
                    </p:cTn>
                  </p:par>
                  <p:par>
                    <p:cTn id="163" fill="hold">
                      <p:stCondLst>
                        <p:cond delay="indefinite"/>
                      </p:stCondLst>
                      <p:childTnLst>
                        <p:par>
                          <p:cTn id="164" fill="hold">
                            <p:stCondLst>
                              <p:cond delay="0"/>
                            </p:stCondLst>
                            <p:childTnLst>
                              <p:par>
                                <p:cTn id="165" presetID="21" presetClass="entr" presetSubtype="1" fill="hold" grpId="0" nodeType="clickEffect">
                                  <p:stCondLst>
                                    <p:cond delay="0"/>
                                  </p:stCondLst>
                                  <p:childTnLst>
                                    <p:set>
                                      <p:cBhvr>
                                        <p:cTn id="166" dur="1" fill="hold">
                                          <p:stCondLst>
                                            <p:cond delay="0"/>
                                          </p:stCondLst>
                                        </p:cTn>
                                        <p:tgtEl>
                                          <p:spTgt spid="41"/>
                                        </p:tgtEl>
                                        <p:attrNameLst>
                                          <p:attrName>style.visibility</p:attrName>
                                        </p:attrNameLst>
                                      </p:cBhvr>
                                      <p:to>
                                        <p:strVal val="visible"/>
                                      </p:to>
                                    </p:set>
                                    <p:animEffect transition="in" filter="wheel(1)">
                                      <p:cBhvr>
                                        <p:cTn id="167" dur="2000"/>
                                        <p:tgtEl>
                                          <p:spTgt spid="41"/>
                                        </p:tgtEl>
                                      </p:cBhvr>
                                    </p:animEffect>
                                  </p:childTnLst>
                                </p:cTn>
                              </p:par>
                            </p:childTnLst>
                          </p:cTn>
                        </p:par>
                      </p:childTnLst>
                    </p:cTn>
                  </p:par>
                  <p:par>
                    <p:cTn id="168" fill="hold">
                      <p:stCondLst>
                        <p:cond delay="indefinite"/>
                      </p:stCondLst>
                      <p:childTnLst>
                        <p:par>
                          <p:cTn id="169" fill="hold">
                            <p:stCondLst>
                              <p:cond delay="0"/>
                            </p:stCondLst>
                            <p:childTnLst>
                              <p:par>
                                <p:cTn id="170" presetID="21" presetClass="entr" presetSubtype="1" fill="hold" grpId="0" nodeType="clickEffect">
                                  <p:stCondLst>
                                    <p:cond delay="0"/>
                                  </p:stCondLst>
                                  <p:childTnLst>
                                    <p:set>
                                      <p:cBhvr>
                                        <p:cTn id="171" dur="1" fill="hold">
                                          <p:stCondLst>
                                            <p:cond delay="0"/>
                                          </p:stCondLst>
                                        </p:cTn>
                                        <p:tgtEl>
                                          <p:spTgt spid="42"/>
                                        </p:tgtEl>
                                        <p:attrNameLst>
                                          <p:attrName>style.visibility</p:attrName>
                                        </p:attrNameLst>
                                      </p:cBhvr>
                                      <p:to>
                                        <p:strVal val="visible"/>
                                      </p:to>
                                    </p:set>
                                    <p:animEffect transition="in" filter="wheel(1)">
                                      <p:cBhvr>
                                        <p:cTn id="172" dur="2000"/>
                                        <p:tgtEl>
                                          <p:spTgt spid="42"/>
                                        </p:tgtEl>
                                      </p:cBhvr>
                                    </p:animEffect>
                                  </p:childTnLst>
                                </p:cTn>
                              </p:par>
                            </p:childTnLst>
                          </p:cTn>
                        </p:par>
                      </p:childTnLst>
                    </p:cTn>
                  </p:par>
                  <p:par>
                    <p:cTn id="173" fill="hold">
                      <p:stCondLst>
                        <p:cond delay="indefinite"/>
                      </p:stCondLst>
                      <p:childTnLst>
                        <p:par>
                          <p:cTn id="174" fill="hold">
                            <p:stCondLst>
                              <p:cond delay="0"/>
                            </p:stCondLst>
                            <p:childTnLst>
                              <p:par>
                                <p:cTn id="175" presetID="21" presetClass="entr" presetSubtype="1" fill="hold" grpId="0" nodeType="clickEffect">
                                  <p:stCondLst>
                                    <p:cond delay="0"/>
                                  </p:stCondLst>
                                  <p:childTnLst>
                                    <p:set>
                                      <p:cBhvr>
                                        <p:cTn id="176" dur="1" fill="hold">
                                          <p:stCondLst>
                                            <p:cond delay="0"/>
                                          </p:stCondLst>
                                        </p:cTn>
                                        <p:tgtEl>
                                          <p:spTgt spid="43"/>
                                        </p:tgtEl>
                                        <p:attrNameLst>
                                          <p:attrName>style.visibility</p:attrName>
                                        </p:attrNameLst>
                                      </p:cBhvr>
                                      <p:to>
                                        <p:strVal val="visible"/>
                                      </p:to>
                                    </p:set>
                                    <p:animEffect transition="in" filter="wheel(1)">
                                      <p:cBhvr>
                                        <p:cTn id="177" dur="2000"/>
                                        <p:tgtEl>
                                          <p:spTgt spid="43"/>
                                        </p:tgtEl>
                                      </p:cBhvr>
                                    </p:animEffect>
                                  </p:childTnLst>
                                </p:cTn>
                              </p:par>
                            </p:childTnLst>
                          </p:cTn>
                        </p:par>
                      </p:childTnLst>
                    </p:cTn>
                  </p:par>
                  <p:par>
                    <p:cTn id="178" fill="hold">
                      <p:stCondLst>
                        <p:cond delay="indefinite"/>
                      </p:stCondLst>
                      <p:childTnLst>
                        <p:par>
                          <p:cTn id="179" fill="hold">
                            <p:stCondLst>
                              <p:cond delay="0"/>
                            </p:stCondLst>
                            <p:childTnLst>
                              <p:par>
                                <p:cTn id="180" presetID="21" presetClass="entr" presetSubtype="1" fill="hold" grpId="0" nodeType="clickEffect">
                                  <p:stCondLst>
                                    <p:cond delay="0"/>
                                  </p:stCondLst>
                                  <p:childTnLst>
                                    <p:set>
                                      <p:cBhvr>
                                        <p:cTn id="181" dur="1" fill="hold">
                                          <p:stCondLst>
                                            <p:cond delay="0"/>
                                          </p:stCondLst>
                                        </p:cTn>
                                        <p:tgtEl>
                                          <p:spTgt spid="44"/>
                                        </p:tgtEl>
                                        <p:attrNameLst>
                                          <p:attrName>style.visibility</p:attrName>
                                        </p:attrNameLst>
                                      </p:cBhvr>
                                      <p:to>
                                        <p:strVal val="visible"/>
                                      </p:to>
                                    </p:set>
                                    <p:animEffect transition="in" filter="wheel(1)">
                                      <p:cBhvr>
                                        <p:cTn id="182" dur="2000"/>
                                        <p:tgtEl>
                                          <p:spTgt spid="44"/>
                                        </p:tgtEl>
                                      </p:cBhvr>
                                    </p:animEffect>
                                  </p:childTnLst>
                                </p:cTn>
                              </p:par>
                            </p:childTnLst>
                          </p:cTn>
                        </p:par>
                      </p:childTnLst>
                    </p:cTn>
                  </p:par>
                  <p:par>
                    <p:cTn id="183" fill="hold">
                      <p:stCondLst>
                        <p:cond delay="indefinite"/>
                      </p:stCondLst>
                      <p:childTnLst>
                        <p:par>
                          <p:cTn id="184" fill="hold">
                            <p:stCondLst>
                              <p:cond delay="0"/>
                            </p:stCondLst>
                            <p:childTnLst>
                              <p:par>
                                <p:cTn id="185" presetID="21" presetClass="entr" presetSubtype="1" fill="hold" grpId="0" nodeType="clickEffect">
                                  <p:stCondLst>
                                    <p:cond delay="0"/>
                                  </p:stCondLst>
                                  <p:childTnLst>
                                    <p:set>
                                      <p:cBhvr>
                                        <p:cTn id="186" dur="1" fill="hold">
                                          <p:stCondLst>
                                            <p:cond delay="0"/>
                                          </p:stCondLst>
                                        </p:cTn>
                                        <p:tgtEl>
                                          <p:spTgt spid="45"/>
                                        </p:tgtEl>
                                        <p:attrNameLst>
                                          <p:attrName>style.visibility</p:attrName>
                                        </p:attrNameLst>
                                      </p:cBhvr>
                                      <p:to>
                                        <p:strVal val="visible"/>
                                      </p:to>
                                    </p:set>
                                    <p:animEffect transition="in" filter="wheel(1)">
                                      <p:cBhvr>
                                        <p:cTn id="187" dur="2000"/>
                                        <p:tgtEl>
                                          <p:spTgt spid="45"/>
                                        </p:tgtEl>
                                      </p:cBhvr>
                                    </p:animEffect>
                                  </p:childTnLst>
                                </p:cTn>
                              </p:par>
                            </p:childTnLst>
                          </p:cTn>
                        </p:par>
                      </p:childTnLst>
                    </p:cTn>
                  </p:par>
                  <p:par>
                    <p:cTn id="188" fill="hold">
                      <p:stCondLst>
                        <p:cond delay="indefinite"/>
                      </p:stCondLst>
                      <p:childTnLst>
                        <p:par>
                          <p:cTn id="189" fill="hold">
                            <p:stCondLst>
                              <p:cond delay="0"/>
                            </p:stCondLst>
                            <p:childTnLst>
                              <p:par>
                                <p:cTn id="190" presetID="21" presetClass="entr" presetSubtype="1" fill="hold" grpId="0" nodeType="clickEffect">
                                  <p:stCondLst>
                                    <p:cond delay="0"/>
                                  </p:stCondLst>
                                  <p:childTnLst>
                                    <p:set>
                                      <p:cBhvr>
                                        <p:cTn id="191" dur="1" fill="hold">
                                          <p:stCondLst>
                                            <p:cond delay="0"/>
                                          </p:stCondLst>
                                        </p:cTn>
                                        <p:tgtEl>
                                          <p:spTgt spid="46"/>
                                        </p:tgtEl>
                                        <p:attrNameLst>
                                          <p:attrName>style.visibility</p:attrName>
                                        </p:attrNameLst>
                                      </p:cBhvr>
                                      <p:to>
                                        <p:strVal val="visible"/>
                                      </p:to>
                                    </p:set>
                                    <p:animEffect transition="in" filter="wheel(1)">
                                      <p:cBhvr>
                                        <p:cTn id="192" dur="2000"/>
                                        <p:tgtEl>
                                          <p:spTgt spid="46"/>
                                        </p:tgtEl>
                                      </p:cBhvr>
                                    </p:animEffect>
                                  </p:childTnLst>
                                </p:cTn>
                              </p:par>
                            </p:childTnLst>
                          </p:cTn>
                        </p:par>
                      </p:childTnLst>
                    </p:cTn>
                  </p:par>
                  <p:par>
                    <p:cTn id="193" fill="hold">
                      <p:stCondLst>
                        <p:cond delay="indefinite"/>
                      </p:stCondLst>
                      <p:childTnLst>
                        <p:par>
                          <p:cTn id="194" fill="hold">
                            <p:stCondLst>
                              <p:cond delay="0"/>
                            </p:stCondLst>
                            <p:childTnLst>
                              <p:par>
                                <p:cTn id="195" presetID="21" presetClass="entr" presetSubtype="1" fill="hold" grpId="0" nodeType="clickEffect">
                                  <p:stCondLst>
                                    <p:cond delay="0"/>
                                  </p:stCondLst>
                                  <p:childTnLst>
                                    <p:set>
                                      <p:cBhvr>
                                        <p:cTn id="196" dur="1" fill="hold">
                                          <p:stCondLst>
                                            <p:cond delay="0"/>
                                          </p:stCondLst>
                                        </p:cTn>
                                        <p:tgtEl>
                                          <p:spTgt spid="47"/>
                                        </p:tgtEl>
                                        <p:attrNameLst>
                                          <p:attrName>style.visibility</p:attrName>
                                        </p:attrNameLst>
                                      </p:cBhvr>
                                      <p:to>
                                        <p:strVal val="visible"/>
                                      </p:to>
                                    </p:set>
                                    <p:animEffect transition="in" filter="wheel(1)">
                                      <p:cBhvr>
                                        <p:cTn id="197" dur="2000"/>
                                        <p:tgtEl>
                                          <p:spTgt spid="47"/>
                                        </p:tgtEl>
                                      </p:cBhvr>
                                    </p:animEffect>
                                  </p:childTnLst>
                                </p:cTn>
                              </p:par>
                            </p:childTnLst>
                          </p:cTn>
                        </p:par>
                      </p:childTnLst>
                    </p:cTn>
                  </p:par>
                  <p:par>
                    <p:cTn id="198" fill="hold">
                      <p:stCondLst>
                        <p:cond delay="indefinite"/>
                      </p:stCondLst>
                      <p:childTnLst>
                        <p:par>
                          <p:cTn id="199" fill="hold">
                            <p:stCondLst>
                              <p:cond delay="0"/>
                            </p:stCondLst>
                            <p:childTnLst>
                              <p:par>
                                <p:cTn id="200" presetID="21" presetClass="entr" presetSubtype="1" fill="hold" grpId="0" nodeType="clickEffect">
                                  <p:stCondLst>
                                    <p:cond delay="0"/>
                                  </p:stCondLst>
                                  <p:childTnLst>
                                    <p:set>
                                      <p:cBhvr>
                                        <p:cTn id="201" dur="1" fill="hold">
                                          <p:stCondLst>
                                            <p:cond delay="0"/>
                                          </p:stCondLst>
                                        </p:cTn>
                                        <p:tgtEl>
                                          <p:spTgt spid="48"/>
                                        </p:tgtEl>
                                        <p:attrNameLst>
                                          <p:attrName>style.visibility</p:attrName>
                                        </p:attrNameLst>
                                      </p:cBhvr>
                                      <p:to>
                                        <p:strVal val="visible"/>
                                      </p:to>
                                    </p:set>
                                    <p:animEffect transition="in" filter="wheel(1)">
                                      <p:cBhvr>
                                        <p:cTn id="202" dur="2000"/>
                                        <p:tgtEl>
                                          <p:spTgt spid="48"/>
                                        </p:tgtEl>
                                      </p:cBhvr>
                                    </p:animEffect>
                                  </p:childTnLst>
                                </p:cTn>
                              </p:par>
                            </p:childTnLst>
                          </p:cTn>
                        </p:par>
                      </p:childTnLst>
                    </p:cTn>
                  </p:par>
                  <p:par>
                    <p:cTn id="203" fill="hold">
                      <p:stCondLst>
                        <p:cond delay="indefinite"/>
                      </p:stCondLst>
                      <p:childTnLst>
                        <p:par>
                          <p:cTn id="204" fill="hold">
                            <p:stCondLst>
                              <p:cond delay="0"/>
                            </p:stCondLst>
                            <p:childTnLst>
                              <p:par>
                                <p:cTn id="205" presetID="21" presetClass="entr" presetSubtype="1" fill="hold" grpId="0" nodeType="clickEffect">
                                  <p:stCondLst>
                                    <p:cond delay="0"/>
                                  </p:stCondLst>
                                  <p:childTnLst>
                                    <p:set>
                                      <p:cBhvr>
                                        <p:cTn id="206" dur="1" fill="hold">
                                          <p:stCondLst>
                                            <p:cond delay="0"/>
                                          </p:stCondLst>
                                        </p:cTn>
                                        <p:tgtEl>
                                          <p:spTgt spid="49"/>
                                        </p:tgtEl>
                                        <p:attrNameLst>
                                          <p:attrName>style.visibility</p:attrName>
                                        </p:attrNameLst>
                                      </p:cBhvr>
                                      <p:to>
                                        <p:strVal val="visible"/>
                                      </p:to>
                                    </p:set>
                                    <p:animEffect transition="in" filter="wheel(1)">
                                      <p:cBhvr>
                                        <p:cTn id="207" dur="2000"/>
                                        <p:tgtEl>
                                          <p:spTgt spid="49"/>
                                        </p:tgtEl>
                                      </p:cBhvr>
                                    </p:animEffect>
                                  </p:childTnLst>
                                </p:cTn>
                              </p:par>
                            </p:childTnLst>
                          </p:cTn>
                        </p:par>
                      </p:childTnLst>
                    </p:cTn>
                  </p:par>
                  <p:par>
                    <p:cTn id="208" fill="hold">
                      <p:stCondLst>
                        <p:cond delay="indefinite"/>
                      </p:stCondLst>
                      <p:childTnLst>
                        <p:par>
                          <p:cTn id="209" fill="hold">
                            <p:stCondLst>
                              <p:cond delay="0"/>
                            </p:stCondLst>
                            <p:childTnLst>
                              <p:par>
                                <p:cTn id="210" presetID="21" presetClass="entr" presetSubtype="1" fill="hold" grpId="0" nodeType="clickEffect">
                                  <p:stCondLst>
                                    <p:cond delay="0"/>
                                  </p:stCondLst>
                                  <p:childTnLst>
                                    <p:set>
                                      <p:cBhvr>
                                        <p:cTn id="211" dur="1" fill="hold">
                                          <p:stCondLst>
                                            <p:cond delay="0"/>
                                          </p:stCondLst>
                                        </p:cTn>
                                        <p:tgtEl>
                                          <p:spTgt spid="50"/>
                                        </p:tgtEl>
                                        <p:attrNameLst>
                                          <p:attrName>style.visibility</p:attrName>
                                        </p:attrNameLst>
                                      </p:cBhvr>
                                      <p:to>
                                        <p:strVal val="visible"/>
                                      </p:to>
                                    </p:set>
                                    <p:animEffect transition="in" filter="wheel(1)">
                                      <p:cBhvr>
                                        <p:cTn id="212" dur="2000"/>
                                        <p:tgtEl>
                                          <p:spTgt spid="50"/>
                                        </p:tgtEl>
                                      </p:cBhvr>
                                    </p:animEffect>
                                  </p:childTnLst>
                                </p:cTn>
                              </p:par>
                            </p:childTnLst>
                          </p:cTn>
                        </p:par>
                      </p:childTnLst>
                    </p:cTn>
                  </p:par>
                  <p:par>
                    <p:cTn id="213" fill="hold">
                      <p:stCondLst>
                        <p:cond delay="indefinite"/>
                      </p:stCondLst>
                      <p:childTnLst>
                        <p:par>
                          <p:cTn id="214" fill="hold">
                            <p:stCondLst>
                              <p:cond delay="0"/>
                            </p:stCondLst>
                            <p:childTnLst>
                              <p:par>
                                <p:cTn id="215" presetID="21" presetClass="entr" presetSubtype="1" fill="hold" grpId="0" nodeType="clickEffect">
                                  <p:stCondLst>
                                    <p:cond delay="0"/>
                                  </p:stCondLst>
                                  <p:childTnLst>
                                    <p:set>
                                      <p:cBhvr>
                                        <p:cTn id="216" dur="1" fill="hold">
                                          <p:stCondLst>
                                            <p:cond delay="0"/>
                                          </p:stCondLst>
                                        </p:cTn>
                                        <p:tgtEl>
                                          <p:spTgt spid="51"/>
                                        </p:tgtEl>
                                        <p:attrNameLst>
                                          <p:attrName>style.visibility</p:attrName>
                                        </p:attrNameLst>
                                      </p:cBhvr>
                                      <p:to>
                                        <p:strVal val="visible"/>
                                      </p:to>
                                    </p:set>
                                    <p:animEffect transition="in" filter="wheel(1)">
                                      <p:cBhvr>
                                        <p:cTn id="217" dur="2000"/>
                                        <p:tgtEl>
                                          <p:spTgt spid="51"/>
                                        </p:tgtEl>
                                      </p:cBhvr>
                                    </p:animEffect>
                                  </p:childTnLst>
                                </p:cTn>
                              </p:par>
                            </p:childTnLst>
                          </p:cTn>
                        </p:par>
                      </p:childTnLst>
                    </p:cTn>
                  </p:par>
                  <p:par>
                    <p:cTn id="218" fill="hold">
                      <p:stCondLst>
                        <p:cond delay="indefinite"/>
                      </p:stCondLst>
                      <p:childTnLst>
                        <p:par>
                          <p:cTn id="219" fill="hold">
                            <p:stCondLst>
                              <p:cond delay="0"/>
                            </p:stCondLst>
                            <p:childTnLst>
                              <p:par>
                                <p:cTn id="220" presetID="21" presetClass="entr" presetSubtype="1" fill="hold" grpId="0" nodeType="clickEffect">
                                  <p:stCondLst>
                                    <p:cond delay="0"/>
                                  </p:stCondLst>
                                  <p:childTnLst>
                                    <p:set>
                                      <p:cBhvr>
                                        <p:cTn id="221" dur="1" fill="hold">
                                          <p:stCondLst>
                                            <p:cond delay="0"/>
                                          </p:stCondLst>
                                        </p:cTn>
                                        <p:tgtEl>
                                          <p:spTgt spid="52"/>
                                        </p:tgtEl>
                                        <p:attrNameLst>
                                          <p:attrName>style.visibility</p:attrName>
                                        </p:attrNameLst>
                                      </p:cBhvr>
                                      <p:to>
                                        <p:strVal val="visible"/>
                                      </p:to>
                                    </p:set>
                                    <p:animEffect transition="in" filter="wheel(1)">
                                      <p:cBhvr>
                                        <p:cTn id="222" dur="2000"/>
                                        <p:tgtEl>
                                          <p:spTgt spid="52"/>
                                        </p:tgtEl>
                                      </p:cBhvr>
                                    </p:animEffect>
                                  </p:childTnLst>
                                </p:cTn>
                              </p:par>
                            </p:childTnLst>
                          </p:cTn>
                        </p:par>
                      </p:childTnLst>
                    </p:cTn>
                  </p:par>
                  <p:par>
                    <p:cTn id="223" fill="hold">
                      <p:stCondLst>
                        <p:cond delay="indefinite"/>
                      </p:stCondLst>
                      <p:childTnLst>
                        <p:par>
                          <p:cTn id="224" fill="hold">
                            <p:stCondLst>
                              <p:cond delay="0"/>
                            </p:stCondLst>
                            <p:childTnLst>
                              <p:par>
                                <p:cTn id="225" presetID="21" presetClass="entr" presetSubtype="1" fill="hold" grpId="0" nodeType="clickEffect">
                                  <p:stCondLst>
                                    <p:cond delay="0"/>
                                  </p:stCondLst>
                                  <p:childTnLst>
                                    <p:set>
                                      <p:cBhvr>
                                        <p:cTn id="226" dur="1" fill="hold">
                                          <p:stCondLst>
                                            <p:cond delay="0"/>
                                          </p:stCondLst>
                                        </p:cTn>
                                        <p:tgtEl>
                                          <p:spTgt spid="53"/>
                                        </p:tgtEl>
                                        <p:attrNameLst>
                                          <p:attrName>style.visibility</p:attrName>
                                        </p:attrNameLst>
                                      </p:cBhvr>
                                      <p:to>
                                        <p:strVal val="visible"/>
                                      </p:to>
                                    </p:set>
                                    <p:animEffect transition="in" filter="wheel(1)">
                                      <p:cBhvr>
                                        <p:cTn id="227" dur="2000"/>
                                        <p:tgtEl>
                                          <p:spTgt spid="53"/>
                                        </p:tgtEl>
                                      </p:cBhvr>
                                    </p:animEffect>
                                  </p:childTnLst>
                                </p:cTn>
                              </p:par>
                            </p:childTnLst>
                          </p:cTn>
                        </p:par>
                      </p:childTnLst>
                    </p:cTn>
                  </p:par>
                  <p:par>
                    <p:cTn id="228" fill="hold">
                      <p:stCondLst>
                        <p:cond delay="indefinite"/>
                      </p:stCondLst>
                      <p:childTnLst>
                        <p:par>
                          <p:cTn id="229" fill="hold">
                            <p:stCondLst>
                              <p:cond delay="0"/>
                            </p:stCondLst>
                            <p:childTnLst>
                              <p:par>
                                <p:cTn id="230" presetID="21" presetClass="entr" presetSubtype="1" fill="hold" grpId="0" nodeType="clickEffect">
                                  <p:stCondLst>
                                    <p:cond delay="0"/>
                                  </p:stCondLst>
                                  <p:childTnLst>
                                    <p:set>
                                      <p:cBhvr>
                                        <p:cTn id="231" dur="1" fill="hold">
                                          <p:stCondLst>
                                            <p:cond delay="0"/>
                                          </p:stCondLst>
                                        </p:cTn>
                                        <p:tgtEl>
                                          <p:spTgt spid="57"/>
                                        </p:tgtEl>
                                        <p:attrNameLst>
                                          <p:attrName>style.visibility</p:attrName>
                                        </p:attrNameLst>
                                      </p:cBhvr>
                                      <p:to>
                                        <p:strVal val="visible"/>
                                      </p:to>
                                    </p:set>
                                    <p:animEffect transition="in" filter="wheel(1)">
                                      <p:cBhvr>
                                        <p:cTn id="232" dur="2000"/>
                                        <p:tgtEl>
                                          <p:spTgt spid="57"/>
                                        </p:tgtEl>
                                      </p:cBhvr>
                                    </p:animEffect>
                                  </p:childTnLst>
                                </p:cTn>
                              </p:par>
                            </p:childTnLst>
                          </p:cTn>
                        </p:par>
                      </p:childTnLst>
                    </p:cTn>
                  </p:par>
                  <p:par>
                    <p:cTn id="233" fill="hold">
                      <p:stCondLst>
                        <p:cond delay="indefinite"/>
                      </p:stCondLst>
                      <p:childTnLst>
                        <p:par>
                          <p:cTn id="234" fill="hold">
                            <p:stCondLst>
                              <p:cond delay="0"/>
                            </p:stCondLst>
                            <p:childTnLst>
                              <p:par>
                                <p:cTn id="235" presetID="21" presetClass="entr" presetSubtype="1" fill="hold" grpId="0" nodeType="clickEffect">
                                  <p:stCondLst>
                                    <p:cond delay="0"/>
                                  </p:stCondLst>
                                  <p:childTnLst>
                                    <p:set>
                                      <p:cBhvr>
                                        <p:cTn id="236" dur="1" fill="hold">
                                          <p:stCondLst>
                                            <p:cond delay="0"/>
                                          </p:stCondLst>
                                        </p:cTn>
                                        <p:tgtEl>
                                          <p:spTgt spid="54"/>
                                        </p:tgtEl>
                                        <p:attrNameLst>
                                          <p:attrName>style.visibility</p:attrName>
                                        </p:attrNameLst>
                                      </p:cBhvr>
                                      <p:to>
                                        <p:strVal val="visible"/>
                                      </p:to>
                                    </p:set>
                                    <p:animEffect transition="in" filter="wheel(1)">
                                      <p:cBhvr>
                                        <p:cTn id="237" dur="2000"/>
                                        <p:tgtEl>
                                          <p:spTgt spid="54"/>
                                        </p:tgtEl>
                                      </p:cBhvr>
                                    </p:animEffect>
                                  </p:childTnLst>
                                </p:cTn>
                              </p:par>
                            </p:childTnLst>
                          </p:cTn>
                        </p:par>
                      </p:childTnLst>
                    </p:cTn>
                  </p:par>
                  <p:par>
                    <p:cTn id="238" fill="hold">
                      <p:stCondLst>
                        <p:cond delay="indefinite"/>
                      </p:stCondLst>
                      <p:childTnLst>
                        <p:par>
                          <p:cTn id="239" fill="hold">
                            <p:stCondLst>
                              <p:cond delay="0"/>
                            </p:stCondLst>
                            <p:childTnLst>
                              <p:par>
                                <p:cTn id="240" presetID="21" presetClass="entr" presetSubtype="1" fill="hold" grpId="0" nodeType="clickEffect">
                                  <p:stCondLst>
                                    <p:cond delay="0"/>
                                  </p:stCondLst>
                                  <p:childTnLst>
                                    <p:set>
                                      <p:cBhvr>
                                        <p:cTn id="241" dur="1" fill="hold">
                                          <p:stCondLst>
                                            <p:cond delay="0"/>
                                          </p:stCondLst>
                                        </p:cTn>
                                        <p:tgtEl>
                                          <p:spTgt spid="58"/>
                                        </p:tgtEl>
                                        <p:attrNameLst>
                                          <p:attrName>style.visibility</p:attrName>
                                        </p:attrNameLst>
                                      </p:cBhvr>
                                      <p:to>
                                        <p:strVal val="visible"/>
                                      </p:to>
                                    </p:set>
                                    <p:animEffect transition="in" filter="wheel(1)">
                                      <p:cBhvr>
                                        <p:cTn id="242" dur="2000"/>
                                        <p:tgtEl>
                                          <p:spTgt spid="58"/>
                                        </p:tgtEl>
                                      </p:cBhvr>
                                    </p:animEffect>
                                  </p:childTnLst>
                                </p:cTn>
                              </p:par>
                            </p:childTnLst>
                          </p:cTn>
                        </p:par>
                      </p:childTnLst>
                    </p:cTn>
                  </p:par>
                  <p:par>
                    <p:cTn id="243" fill="hold">
                      <p:stCondLst>
                        <p:cond delay="indefinite"/>
                      </p:stCondLst>
                      <p:childTnLst>
                        <p:par>
                          <p:cTn id="244" fill="hold">
                            <p:stCondLst>
                              <p:cond delay="0"/>
                            </p:stCondLst>
                            <p:childTnLst>
                              <p:par>
                                <p:cTn id="245" presetID="21" presetClass="entr" presetSubtype="1" fill="hold" grpId="0" nodeType="clickEffect">
                                  <p:stCondLst>
                                    <p:cond delay="0"/>
                                  </p:stCondLst>
                                  <p:childTnLst>
                                    <p:set>
                                      <p:cBhvr>
                                        <p:cTn id="246" dur="1" fill="hold">
                                          <p:stCondLst>
                                            <p:cond delay="0"/>
                                          </p:stCondLst>
                                        </p:cTn>
                                        <p:tgtEl>
                                          <p:spTgt spid="55"/>
                                        </p:tgtEl>
                                        <p:attrNameLst>
                                          <p:attrName>style.visibility</p:attrName>
                                        </p:attrNameLst>
                                      </p:cBhvr>
                                      <p:to>
                                        <p:strVal val="visible"/>
                                      </p:to>
                                    </p:set>
                                    <p:animEffect transition="in" filter="wheel(1)">
                                      <p:cBhvr>
                                        <p:cTn id="247" dur="2000"/>
                                        <p:tgtEl>
                                          <p:spTgt spid="55"/>
                                        </p:tgtEl>
                                      </p:cBhvr>
                                    </p:animEffect>
                                  </p:childTnLst>
                                </p:cTn>
                              </p:par>
                            </p:childTnLst>
                          </p:cTn>
                        </p:par>
                      </p:childTnLst>
                    </p:cTn>
                  </p:par>
                  <p:par>
                    <p:cTn id="248" fill="hold">
                      <p:stCondLst>
                        <p:cond delay="indefinite"/>
                      </p:stCondLst>
                      <p:childTnLst>
                        <p:par>
                          <p:cTn id="249" fill="hold">
                            <p:stCondLst>
                              <p:cond delay="0"/>
                            </p:stCondLst>
                            <p:childTnLst>
                              <p:par>
                                <p:cTn id="250" presetID="21" presetClass="entr" presetSubtype="1" fill="hold" grpId="0" nodeType="clickEffect">
                                  <p:stCondLst>
                                    <p:cond delay="0"/>
                                  </p:stCondLst>
                                  <p:childTnLst>
                                    <p:set>
                                      <p:cBhvr>
                                        <p:cTn id="251" dur="1" fill="hold">
                                          <p:stCondLst>
                                            <p:cond delay="0"/>
                                          </p:stCondLst>
                                        </p:cTn>
                                        <p:tgtEl>
                                          <p:spTgt spid="59"/>
                                        </p:tgtEl>
                                        <p:attrNameLst>
                                          <p:attrName>style.visibility</p:attrName>
                                        </p:attrNameLst>
                                      </p:cBhvr>
                                      <p:to>
                                        <p:strVal val="visible"/>
                                      </p:to>
                                    </p:set>
                                    <p:animEffect transition="in" filter="wheel(1)">
                                      <p:cBhvr>
                                        <p:cTn id="252" dur="2000"/>
                                        <p:tgtEl>
                                          <p:spTgt spid="59"/>
                                        </p:tgtEl>
                                      </p:cBhvr>
                                    </p:animEffect>
                                  </p:childTnLst>
                                </p:cTn>
                              </p:par>
                            </p:childTnLst>
                          </p:cTn>
                        </p:par>
                      </p:childTnLst>
                    </p:cTn>
                  </p:par>
                  <p:par>
                    <p:cTn id="253" fill="hold">
                      <p:stCondLst>
                        <p:cond delay="indefinite"/>
                      </p:stCondLst>
                      <p:childTnLst>
                        <p:par>
                          <p:cTn id="254" fill="hold">
                            <p:stCondLst>
                              <p:cond delay="0"/>
                            </p:stCondLst>
                            <p:childTnLst>
                              <p:par>
                                <p:cTn id="255" presetID="21" presetClass="entr" presetSubtype="1" fill="hold" grpId="0" nodeType="clickEffect">
                                  <p:stCondLst>
                                    <p:cond delay="0"/>
                                  </p:stCondLst>
                                  <p:childTnLst>
                                    <p:set>
                                      <p:cBhvr>
                                        <p:cTn id="256" dur="1" fill="hold">
                                          <p:stCondLst>
                                            <p:cond delay="0"/>
                                          </p:stCondLst>
                                        </p:cTn>
                                        <p:tgtEl>
                                          <p:spTgt spid="56"/>
                                        </p:tgtEl>
                                        <p:attrNameLst>
                                          <p:attrName>style.visibility</p:attrName>
                                        </p:attrNameLst>
                                      </p:cBhvr>
                                      <p:to>
                                        <p:strVal val="visible"/>
                                      </p:to>
                                    </p:set>
                                    <p:animEffect transition="in" filter="wheel(1)">
                                      <p:cBhvr>
                                        <p:cTn id="257" dur="2000"/>
                                        <p:tgtEl>
                                          <p:spTgt spid="56"/>
                                        </p:tgtEl>
                                      </p:cBhvr>
                                    </p:animEffect>
                                  </p:childTnLst>
                                </p:cTn>
                              </p:par>
                            </p:childTnLst>
                          </p:cTn>
                        </p:par>
                      </p:childTnLst>
                    </p:cTn>
                  </p:par>
                  <p:par>
                    <p:cTn id="258" fill="hold">
                      <p:stCondLst>
                        <p:cond delay="indefinite"/>
                      </p:stCondLst>
                      <p:childTnLst>
                        <p:par>
                          <p:cTn id="259" fill="hold">
                            <p:stCondLst>
                              <p:cond delay="0"/>
                            </p:stCondLst>
                            <p:childTnLst>
                              <p:par>
                                <p:cTn id="260" presetID="21" presetClass="entr" presetSubtype="1" fill="hold" grpId="0" nodeType="clickEffect">
                                  <p:stCondLst>
                                    <p:cond delay="0"/>
                                  </p:stCondLst>
                                  <p:childTnLst>
                                    <p:set>
                                      <p:cBhvr>
                                        <p:cTn id="261" dur="1" fill="hold">
                                          <p:stCondLst>
                                            <p:cond delay="0"/>
                                          </p:stCondLst>
                                        </p:cTn>
                                        <p:tgtEl>
                                          <p:spTgt spid="60"/>
                                        </p:tgtEl>
                                        <p:attrNameLst>
                                          <p:attrName>style.visibility</p:attrName>
                                        </p:attrNameLst>
                                      </p:cBhvr>
                                      <p:to>
                                        <p:strVal val="visible"/>
                                      </p:to>
                                    </p:set>
                                    <p:animEffect transition="in" filter="wheel(1)">
                                      <p:cBhvr>
                                        <p:cTn id="262" dur="2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7733C-1430-4D98-9FC4-79295086B9FA}"/>
              </a:ext>
            </a:extLst>
          </p:cNvPr>
          <p:cNvSpPr>
            <a:spLocks noGrp="1"/>
          </p:cNvSpPr>
          <p:nvPr>
            <p:ph type="title"/>
          </p:nvPr>
        </p:nvSpPr>
        <p:spPr>
          <a:xfrm>
            <a:off x="1712427" y="81266"/>
            <a:ext cx="8279471" cy="816509"/>
          </a:xfrm>
        </p:spPr>
        <p:txBody>
          <a:bodyPr>
            <a:normAutofit/>
          </a:bodyPr>
          <a:lstStyle/>
          <a:p>
            <a:r>
              <a:rPr lang="en-US" sz="4800" b="1" dirty="0">
                <a:solidFill>
                  <a:srgbClr val="0070C0"/>
                </a:solidFill>
              </a:rPr>
              <a:t>Exercise (Homework) </a:t>
            </a:r>
          </a:p>
        </p:txBody>
      </p:sp>
      <p:sp>
        <p:nvSpPr>
          <p:cNvPr id="3" name="Content Placeholder 2">
            <a:extLst>
              <a:ext uri="{FF2B5EF4-FFF2-40B4-BE49-F238E27FC236}">
                <a16:creationId xmlns:a16="http://schemas.microsoft.com/office/drawing/2014/main" id="{E502A2CD-7036-4437-8288-42C71ACE8587}"/>
              </a:ext>
            </a:extLst>
          </p:cNvPr>
          <p:cNvSpPr>
            <a:spLocks noGrp="1"/>
          </p:cNvSpPr>
          <p:nvPr>
            <p:ph idx="1"/>
          </p:nvPr>
        </p:nvSpPr>
        <p:spPr>
          <a:xfrm>
            <a:off x="249382" y="759544"/>
            <a:ext cx="10806545" cy="2064555"/>
          </a:xfrm>
        </p:spPr>
        <p:txBody>
          <a:bodyPr>
            <a:noAutofit/>
          </a:bodyPr>
          <a:lstStyle/>
          <a:p>
            <a:r>
              <a:rPr lang="en-US" sz="3600" dirty="0"/>
              <a:t>Design an adder/subtractor circuit with one selection variable s and two inputs A and B: when s = 0 the circuit performs A+B. When </a:t>
            </a:r>
            <a:r>
              <a:rPr lang="en-US" sz="3600" i="1" dirty="0"/>
              <a:t>s</a:t>
            </a:r>
            <a:r>
              <a:rPr lang="en-US" sz="3600" dirty="0"/>
              <a:t> = 1 the circuit performs A-B by taking the 2’s complement of B.</a:t>
            </a:r>
          </a:p>
        </p:txBody>
      </p:sp>
      <p:sp>
        <p:nvSpPr>
          <p:cNvPr id="7" name="Rectangle 6">
            <a:extLst>
              <a:ext uri="{FF2B5EF4-FFF2-40B4-BE49-F238E27FC236}">
                <a16:creationId xmlns:a16="http://schemas.microsoft.com/office/drawing/2014/main" id="{29A02650-25A7-4234-966A-DBFC17E0A2F1}"/>
              </a:ext>
            </a:extLst>
          </p:cNvPr>
          <p:cNvSpPr/>
          <p:nvPr/>
        </p:nvSpPr>
        <p:spPr>
          <a:xfrm>
            <a:off x="530386" y="2940475"/>
            <a:ext cx="3425258" cy="1938992"/>
          </a:xfrm>
          <a:prstGeom prst="rect">
            <a:avLst/>
          </a:prstGeom>
        </p:spPr>
        <p:txBody>
          <a:bodyPr wrap="square">
            <a:spAutoFit/>
          </a:bodyPr>
          <a:lstStyle/>
          <a:p>
            <a:r>
              <a:rPr lang="en-US" sz="4000" i="1" dirty="0">
                <a:solidFill>
                  <a:srgbClr val="FF0000"/>
                </a:solidFill>
                <a:latin typeface="Calibri" panose="020F0502020204030204" pitchFamily="34" charset="0"/>
              </a:rPr>
              <a:t>X</a:t>
            </a:r>
            <a:r>
              <a:rPr lang="en-US" sz="4000" i="1" baseline="-25000" dirty="0">
                <a:solidFill>
                  <a:srgbClr val="FF0000"/>
                </a:solidFill>
                <a:latin typeface="Calibri" panose="020F0502020204030204" pitchFamily="34" charset="0"/>
              </a:rPr>
              <a:t>i</a:t>
            </a:r>
            <a:r>
              <a:rPr lang="en-US" sz="4000" i="1" dirty="0">
                <a:solidFill>
                  <a:srgbClr val="FF0000"/>
                </a:solidFill>
                <a:latin typeface="Calibri" panose="020F0502020204030204" pitchFamily="34" charset="0"/>
              </a:rPr>
              <a:t> </a:t>
            </a:r>
            <a:r>
              <a:rPr lang="en-US" sz="4000" dirty="0">
                <a:solidFill>
                  <a:srgbClr val="FF0000"/>
                </a:solidFill>
                <a:latin typeface="Calibri" panose="020F0502020204030204" pitchFamily="34" charset="0"/>
              </a:rPr>
              <a:t>=</a:t>
            </a:r>
            <a:r>
              <a:rPr lang="en-US" sz="4000" i="1" dirty="0">
                <a:solidFill>
                  <a:srgbClr val="FF0000"/>
                </a:solidFill>
                <a:latin typeface="Calibri" panose="020F0502020204030204" pitchFamily="34" charset="0"/>
              </a:rPr>
              <a:t> A</a:t>
            </a:r>
            <a:r>
              <a:rPr lang="en-US" sz="4000" i="1" baseline="-25000" dirty="0">
                <a:solidFill>
                  <a:srgbClr val="FF0000"/>
                </a:solidFill>
                <a:latin typeface="Calibri" panose="020F0502020204030204" pitchFamily="34" charset="0"/>
              </a:rPr>
              <a:t>i</a:t>
            </a:r>
          </a:p>
          <a:p>
            <a:r>
              <a:rPr lang="en-US" sz="4000" i="1" dirty="0">
                <a:solidFill>
                  <a:srgbClr val="FF0000"/>
                </a:solidFill>
                <a:latin typeface="Calibri" panose="020F0502020204030204" pitchFamily="34" charset="0"/>
              </a:rPr>
              <a:t>Y</a:t>
            </a:r>
            <a:r>
              <a:rPr lang="en-US" sz="4000" i="1" baseline="-25000" dirty="0">
                <a:solidFill>
                  <a:srgbClr val="FF0000"/>
                </a:solidFill>
                <a:latin typeface="Calibri" panose="020F0502020204030204" pitchFamily="34" charset="0"/>
              </a:rPr>
              <a:t>i</a:t>
            </a:r>
            <a:r>
              <a:rPr lang="en-US" sz="4000" i="1" dirty="0">
                <a:solidFill>
                  <a:srgbClr val="FF0000"/>
                </a:solidFill>
                <a:latin typeface="Calibri" panose="020F0502020204030204" pitchFamily="34" charset="0"/>
              </a:rPr>
              <a:t> </a:t>
            </a:r>
            <a:r>
              <a:rPr lang="en-US" sz="4000" dirty="0">
                <a:solidFill>
                  <a:srgbClr val="FF0000"/>
                </a:solidFill>
                <a:latin typeface="Calibri" panose="020F0502020204030204" pitchFamily="34" charset="0"/>
              </a:rPr>
              <a:t>=</a:t>
            </a:r>
            <a:r>
              <a:rPr lang="en-US" sz="4000" i="1" dirty="0">
                <a:solidFill>
                  <a:srgbClr val="FF0000"/>
                </a:solidFill>
                <a:latin typeface="Calibri" panose="020F0502020204030204" pitchFamily="34" charset="0"/>
              </a:rPr>
              <a:t> B</a:t>
            </a:r>
            <a:r>
              <a:rPr lang="en-US" sz="4000" i="1" baseline="-25000" dirty="0">
                <a:solidFill>
                  <a:srgbClr val="FF0000"/>
                </a:solidFill>
                <a:latin typeface="Calibri" panose="020F0502020204030204" pitchFamily="34" charset="0"/>
              </a:rPr>
              <a:t>i</a:t>
            </a:r>
            <a:r>
              <a:rPr lang="en-US" sz="4000" i="1" dirty="0">
                <a:solidFill>
                  <a:srgbClr val="FF0000"/>
                </a:solidFill>
                <a:latin typeface="Calibri" panose="020F0502020204030204" pitchFamily="34" charset="0"/>
              </a:rPr>
              <a:t> </a:t>
            </a:r>
            <a:r>
              <a:rPr lang="en-US" sz="4000" dirty="0">
                <a:solidFill>
                  <a:srgbClr val="FF0000"/>
                </a:solidFill>
                <a:latin typeface="Calibri" panose="020F0502020204030204" pitchFamily="34" charset="0"/>
              </a:rPr>
              <a:t>XOR</a:t>
            </a:r>
            <a:r>
              <a:rPr lang="en-US" sz="4000" i="1" dirty="0">
                <a:solidFill>
                  <a:srgbClr val="FF0000"/>
                </a:solidFill>
                <a:latin typeface="Calibri" panose="020F0502020204030204" pitchFamily="34" charset="0"/>
              </a:rPr>
              <a:t> s</a:t>
            </a:r>
          </a:p>
          <a:p>
            <a:r>
              <a:rPr lang="en-US" sz="4000" i="1" dirty="0" err="1">
                <a:solidFill>
                  <a:srgbClr val="FF0000"/>
                </a:solidFill>
                <a:latin typeface="Calibri" panose="020F0502020204030204" pitchFamily="34" charset="0"/>
              </a:rPr>
              <a:t>C</a:t>
            </a:r>
            <a:r>
              <a:rPr lang="en-US" sz="4000" i="1" baseline="-25000" dirty="0" err="1">
                <a:solidFill>
                  <a:srgbClr val="FF0000"/>
                </a:solidFill>
                <a:latin typeface="Calibri" panose="020F0502020204030204" pitchFamily="34" charset="0"/>
              </a:rPr>
              <a:t>in</a:t>
            </a:r>
            <a:r>
              <a:rPr lang="en-US" sz="4000" i="1" dirty="0">
                <a:solidFill>
                  <a:srgbClr val="FF0000"/>
                </a:solidFill>
                <a:latin typeface="Calibri" panose="020F0502020204030204" pitchFamily="34" charset="0"/>
              </a:rPr>
              <a:t> </a:t>
            </a:r>
            <a:r>
              <a:rPr lang="en-US" sz="4000" dirty="0">
                <a:solidFill>
                  <a:srgbClr val="FF0000"/>
                </a:solidFill>
                <a:latin typeface="Calibri" panose="020F0502020204030204" pitchFamily="34" charset="0"/>
              </a:rPr>
              <a:t>=</a:t>
            </a:r>
            <a:r>
              <a:rPr lang="en-US" sz="4000" i="1" dirty="0">
                <a:solidFill>
                  <a:srgbClr val="FF0000"/>
                </a:solidFill>
                <a:latin typeface="Calibri" panose="020F0502020204030204" pitchFamily="34" charset="0"/>
              </a:rPr>
              <a:t> s</a:t>
            </a:r>
            <a:endParaRPr lang="en-US" sz="4000" i="1" dirty="0">
              <a:solidFill>
                <a:srgbClr val="FF0000"/>
              </a:solidFill>
            </a:endParaRPr>
          </a:p>
        </p:txBody>
      </p:sp>
      <p:pic>
        <p:nvPicPr>
          <p:cNvPr id="1026" name="Picture 2" descr="Xor Gate Circuit Diagram, Xor, Wiring Diagram and Circuit ...">
            <a:extLst>
              <a:ext uri="{FF2B5EF4-FFF2-40B4-BE49-F238E27FC236}">
                <a16:creationId xmlns:a16="http://schemas.microsoft.com/office/drawing/2014/main" id="{7A0B34D0-E853-4D7A-B5EB-B66FA5568F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991" b="20404"/>
          <a:stretch/>
        </p:blipFill>
        <p:spPr bwMode="auto">
          <a:xfrm>
            <a:off x="3448865" y="3456043"/>
            <a:ext cx="3042457" cy="180227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7D5F0B38-80D1-4494-9C37-0BCE30F2D62F}"/>
              </a:ext>
            </a:extLst>
          </p:cNvPr>
          <p:cNvGraphicFramePr>
            <a:graphicFrameLocks noGrp="1"/>
          </p:cNvGraphicFramePr>
          <p:nvPr>
            <p:extLst>
              <p:ext uri="{D42A27DB-BD31-4B8C-83A1-F6EECF244321}">
                <p14:modId xmlns:p14="http://schemas.microsoft.com/office/powerpoint/2010/main" val="387619903"/>
              </p:ext>
            </p:extLst>
          </p:nvPr>
        </p:nvGraphicFramePr>
        <p:xfrm>
          <a:off x="530386" y="5370379"/>
          <a:ext cx="5968540" cy="2290902"/>
        </p:xfrm>
        <a:graphic>
          <a:graphicData uri="http://schemas.openxmlformats.org/drawingml/2006/table">
            <a:tbl>
              <a:tblPr firstRow="1" bandRow="1">
                <a:tableStyleId>{5C22544A-7EE6-4342-B048-85BDC9FD1C3A}</a:tableStyleId>
              </a:tblPr>
              <a:tblGrid>
                <a:gridCol w="927153">
                  <a:extLst>
                    <a:ext uri="{9D8B030D-6E8A-4147-A177-3AD203B41FA5}">
                      <a16:colId xmlns:a16="http://schemas.microsoft.com/office/drawing/2014/main" val="4250414180"/>
                    </a:ext>
                  </a:extLst>
                </a:gridCol>
                <a:gridCol w="1313465">
                  <a:extLst>
                    <a:ext uri="{9D8B030D-6E8A-4147-A177-3AD203B41FA5}">
                      <a16:colId xmlns:a16="http://schemas.microsoft.com/office/drawing/2014/main" val="2187140167"/>
                    </a:ext>
                  </a:extLst>
                </a:gridCol>
                <a:gridCol w="1467990">
                  <a:extLst>
                    <a:ext uri="{9D8B030D-6E8A-4147-A177-3AD203B41FA5}">
                      <a16:colId xmlns:a16="http://schemas.microsoft.com/office/drawing/2014/main" val="607253720"/>
                    </a:ext>
                  </a:extLst>
                </a:gridCol>
                <a:gridCol w="907835">
                  <a:extLst>
                    <a:ext uri="{9D8B030D-6E8A-4147-A177-3AD203B41FA5}">
                      <a16:colId xmlns:a16="http://schemas.microsoft.com/office/drawing/2014/main" val="161454346"/>
                    </a:ext>
                  </a:extLst>
                </a:gridCol>
                <a:gridCol w="1352097">
                  <a:extLst>
                    <a:ext uri="{9D8B030D-6E8A-4147-A177-3AD203B41FA5}">
                      <a16:colId xmlns:a16="http://schemas.microsoft.com/office/drawing/2014/main" val="1519213856"/>
                    </a:ext>
                  </a:extLst>
                </a:gridCol>
              </a:tblGrid>
              <a:tr h="763634">
                <a:tc>
                  <a:txBody>
                    <a:bodyPr/>
                    <a:lstStyle/>
                    <a:p>
                      <a:pPr algn="ctr"/>
                      <a:r>
                        <a:rPr lang="en-US" sz="4000" i="1" dirty="0"/>
                        <a:t>s</a:t>
                      </a:r>
                    </a:p>
                  </a:txBody>
                  <a:tcPr marL="109728" marR="109728" marT="54864" marB="54864"/>
                </a:tc>
                <a:tc>
                  <a:txBody>
                    <a:bodyPr/>
                    <a:lstStyle/>
                    <a:p>
                      <a:pPr algn="ctr"/>
                      <a:r>
                        <a:rPr lang="en-US" sz="4000" i="1" dirty="0"/>
                        <a:t>F</a:t>
                      </a:r>
                    </a:p>
                  </a:txBody>
                  <a:tcPr marL="109728" marR="109728" marT="54864" marB="54864"/>
                </a:tc>
                <a:tc>
                  <a:txBody>
                    <a:bodyPr/>
                    <a:lstStyle/>
                    <a:p>
                      <a:pPr algn="ctr"/>
                      <a:r>
                        <a:rPr lang="en-US" sz="4000" i="1" dirty="0"/>
                        <a:t>X</a:t>
                      </a:r>
                    </a:p>
                  </a:txBody>
                  <a:tcPr marL="109728" marR="109728" marT="54864" marB="54864"/>
                </a:tc>
                <a:tc>
                  <a:txBody>
                    <a:bodyPr/>
                    <a:lstStyle/>
                    <a:p>
                      <a:pPr algn="ctr"/>
                      <a:r>
                        <a:rPr lang="en-US" sz="4000" i="1" dirty="0"/>
                        <a:t>Y</a:t>
                      </a:r>
                    </a:p>
                  </a:txBody>
                  <a:tcPr marL="109728" marR="109728" marT="54864" marB="54864"/>
                </a:tc>
                <a:tc>
                  <a:txBody>
                    <a:bodyPr/>
                    <a:lstStyle/>
                    <a:p>
                      <a:pPr algn="ctr"/>
                      <a:r>
                        <a:rPr lang="en-US" sz="4000" i="1" dirty="0" err="1"/>
                        <a:t>C</a:t>
                      </a:r>
                      <a:r>
                        <a:rPr lang="en-US" sz="4000" i="1" baseline="-25000" dirty="0" err="1"/>
                        <a:t>in</a:t>
                      </a:r>
                      <a:endParaRPr lang="en-US" sz="4000" i="1" dirty="0"/>
                    </a:p>
                  </a:txBody>
                  <a:tcPr marL="109728" marR="109728" marT="54864" marB="54864"/>
                </a:tc>
                <a:extLst>
                  <a:ext uri="{0D108BD9-81ED-4DB2-BD59-A6C34878D82A}">
                    <a16:rowId xmlns:a16="http://schemas.microsoft.com/office/drawing/2014/main" val="251040091"/>
                  </a:ext>
                </a:extLst>
              </a:tr>
              <a:tr h="763634">
                <a:tc>
                  <a:txBody>
                    <a:bodyPr/>
                    <a:lstStyle/>
                    <a:p>
                      <a:pPr algn="ctr"/>
                      <a:r>
                        <a:rPr lang="en-US" sz="4000" dirty="0"/>
                        <a:t>0</a:t>
                      </a:r>
                    </a:p>
                  </a:txBody>
                  <a:tcPr marL="109728" marR="109728" marT="54864" marB="54864"/>
                </a:tc>
                <a:tc>
                  <a:txBody>
                    <a:bodyPr/>
                    <a:lstStyle/>
                    <a:p>
                      <a:pPr algn="ctr"/>
                      <a:r>
                        <a:rPr lang="en-US" sz="4000" i="1" dirty="0"/>
                        <a:t>A+B</a:t>
                      </a:r>
                    </a:p>
                  </a:txBody>
                  <a:tcPr marL="109728" marR="109728" marT="54864" marB="54864"/>
                </a:tc>
                <a:tc>
                  <a:txBody>
                    <a:bodyPr/>
                    <a:lstStyle/>
                    <a:p>
                      <a:pPr algn="ctr"/>
                      <a:r>
                        <a:rPr lang="en-US" sz="4000" i="1" dirty="0"/>
                        <a:t>A</a:t>
                      </a:r>
                    </a:p>
                  </a:txBody>
                  <a:tcPr marL="109728" marR="109728" marT="54864" marB="54864"/>
                </a:tc>
                <a:tc>
                  <a:txBody>
                    <a:bodyPr/>
                    <a:lstStyle/>
                    <a:p>
                      <a:pPr algn="ctr"/>
                      <a:r>
                        <a:rPr lang="en-US" sz="4000" i="1" dirty="0"/>
                        <a:t>B</a:t>
                      </a:r>
                    </a:p>
                  </a:txBody>
                  <a:tcPr marL="109728" marR="109728" marT="54864" marB="54864"/>
                </a:tc>
                <a:tc>
                  <a:txBody>
                    <a:bodyPr/>
                    <a:lstStyle/>
                    <a:p>
                      <a:pPr algn="ctr"/>
                      <a:r>
                        <a:rPr lang="en-US" sz="4000" dirty="0"/>
                        <a:t>0</a:t>
                      </a:r>
                    </a:p>
                  </a:txBody>
                  <a:tcPr marL="109728" marR="109728" marT="54864" marB="54864"/>
                </a:tc>
                <a:extLst>
                  <a:ext uri="{0D108BD9-81ED-4DB2-BD59-A6C34878D82A}">
                    <a16:rowId xmlns:a16="http://schemas.microsoft.com/office/drawing/2014/main" val="3056920560"/>
                  </a:ext>
                </a:extLst>
              </a:tr>
              <a:tr h="763634">
                <a:tc>
                  <a:txBody>
                    <a:bodyPr/>
                    <a:lstStyle/>
                    <a:p>
                      <a:pPr algn="ctr"/>
                      <a:r>
                        <a:rPr lang="en-US" sz="4000" dirty="0"/>
                        <a:t>1</a:t>
                      </a:r>
                    </a:p>
                  </a:txBody>
                  <a:tcPr marL="109728" marR="109728" marT="54864" marB="54864"/>
                </a:tc>
                <a:tc>
                  <a:txBody>
                    <a:bodyPr/>
                    <a:lstStyle/>
                    <a:p>
                      <a:pPr algn="ctr"/>
                      <a:r>
                        <a:rPr lang="en-US" sz="4000" i="1" dirty="0"/>
                        <a:t>A-B</a:t>
                      </a:r>
                    </a:p>
                  </a:txBody>
                  <a:tcPr marL="109728" marR="109728" marT="54864" marB="54864"/>
                </a:tc>
                <a:tc>
                  <a:txBody>
                    <a:bodyPr/>
                    <a:lstStyle/>
                    <a:p>
                      <a:pPr algn="ctr"/>
                      <a:r>
                        <a:rPr lang="en-US" sz="4000" i="1" dirty="0"/>
                        <a:t>A</a:t>
                      </a:r>
                    </a:p>
                  </a:txBody>
                  <a:tcPr marL="109728" marR="109728" marT="54864" marB="54864"/>
                </a:tc>
                <a:tc>
                  <a:txBody>
                    <a:bodyPr/>
                    <a:lstStyle/>
                    <a:p>
                      <a:pPr algn="ctr"/>
                      <a:r>
                        <a:rPr lang="en-US" sz="4000" i="1" dirty="0"/>
                        <a:t>B’</a:t>
                      </a:r>
                    </a:p>
                  </a:txBody>
                  <a:tcPr marL="109728" marR="109728" marT="54864" marB="54864"/>
                </a:tc>
                <a:tc>
                  <a:txBody>
                    <a:bodyPr/>
                    <a:lstStyle/>
                    <a:p>
                      <a:pPr algn="ctr"/>
                      <a:r>
                        <a:rPr lang="en-US" sz="4000" dirty="0"/>
                        <a:t>1</a:t>
                      </a:r>
                    </a:p>
                  </a:txBody>
                  <a:tcPr marL="109728" marR="109728" marT="54864" marB="54864"/>
                </a:tc>
                <a:extLst>
                  <a:ext uri="{0D108BD9-81ED-4DB2-BD59-A6C34878D82A}">
                    <a16:rowId xmlns:a16="http://schemas.microsoft.com/office/drawing/2014/main" val="343649899"/>
                  </a:ext>
                </a:extLst>
              </a:tr>
            </a:tbl>
          </a:graphicData>
        </a:graphic>
      </p:graphicFrame>
      <p:sp>
        <p:nvSpPr>
          <p:cNvPr id="6" name="Date Placeholder 5"/>
          <p:cNvSpPr>
            <a:spLocks noGrp="1"/>
          </p:cNvSpPr>
          <p:nvPr>
            <p:ph type="dt" sz="half" idx="10"/>
          </p:nvPr>
        </p:nvSpPr>
        <p:spPr/>
        <p:txBody>
          <a:bodyPr/>
          <a:lstStyle/>
          <a:p>
            <a:fld id="{14580BD6-EF6B-4196-8093-B6685F19677F}" type="datetime3">
              <a:rPr lang="en-US" smtClean="0"/>
              <a:t>24 December 2025</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22</a:t>
            </a:fld>
            <a:endParaRPr lang="en-US" dirty="0"/>
          </a:p>
        </p:txBody>
      </p:sp>
      <p:pic>
        <p:nvPicPr>
          <p:cNvPr id="11" name="Picture 10"/>
          <p:cNvPicPr>
            <a:picLocks noChangeAspect="1"/>
          </p:cNvPicPr>
          <p:nvPr/>
        </p:nvPicPr>
        <p:blipFill rotWithShape="1">
          <a:blip r:embed="rId4">
            <a:duotone>
              <a:schemeClr val="accent5">
                <a:shade val="45000"/>
                <a:satMod val="135000"/>
              </a:schemeClr>
              <a:prstClr val="white"/>
            </a:duotone>
          </a:blip>
          <a:srcRect l="5757" t="2380" r="3672" b="2338"/>
          <a:stretch/>
        </p:blipFill>
        <p:spPr>
          <a:xfrm>
            <a:off x="6783186" y="2360815"/>
            <a:ext cx="4131354" cy="5621801"/>
          </a:xfrm>
          <a:prstGeom prst="rect">
            <a:avLst/>
          </a:prstGeom>
        </p:spPr>
      </p:pic>
      <p:pic>
        <p:nvPicPr>
          <p:cNvPr id="12" name="Picture 11"/>
          <p:cNvPicPr>
            <a:picLocks noChangeAspect="1"/>
          </p:cNvPicPr>
          <p:nvPr/>
        </p:nvPicPr>
        <p:blipFill rotWithShape="1">
          <a:blip r:embed="rId5"/>
          <a:srcRect l="8777" t="1442" r="6848" b="2598"/>
          <a:stretch/>
        </p:blipFill>
        <p:spPr>
          <a:xfrm>
            <a:off x="11057764" y="483090"/>
            <a:ext cx="5258213" cy="7499526"/>
          </a:xfrm>
          <a:prstGeom prst="rect">
            <a:avLst/>
          </a:prstGeom>
        </p:spPr>
      </p:pic>
      <p:sp>
        <p:nvSpPr>
          <p:cNvPr id="10" name="TextBox 9"/>
          <p:cNvSpPr txBox="1"/>
          <p:nvPr/>
        </p:nvSpPr>
        <p:spPr>
          <a:xfrm>
            <a:off x="3291840" y="3030044"/>
            <a:ext cx="3249358" cy="461665"/>
          </a:xfrm>
          <a:prstGeom prst="rect">
            <a:avLst/>
          </a:prstGeom>
          <a:noFill/>
        </p:spPr>
        <p:txBody>
          <a:bodyPr wrap="square" rtlCol="0">
            <a:spAutoFit/>
          </a:bodyPr>
          <a:lstStyle/>
          <a:p>
            <a:pPr algn="ctr"/>
            <a:r>
              <a:rPr lang="en-US" sz="2400" b="1" dirty="0">
                <a:solidFill>
                  <a:srgbClr val="7030A0"/>
                </a:solidFill>
              </a:rPr>
              <a:t>Truth Table of XOR gate</a:t>
            </a:r>
          </a:p>
        </p:txBody>
      </p:sp>
    </p:spTree>
    <p:extLst>
      <p:ext uri="{BB962C8B-B14F-4D97-AF65-F5344CB8AC3E}">
        <p14:creationId xmlns:p14="http://schemas.microsoft.com/office/powerpoint/2010/main" val="227057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duotone>
              <a:schemeClr val="accent2">
                <a:shade val="45000"/>
                <a:satMod val="135000"/>
              </a:schemeClr>
              <a:prstClr val="white"/>
            </a:duotone>
          </a:blip>
          <a:srcRect l="4665" t="3035" r="4206" b="4736"/>
          <a:stretch/>
        </p:blipFill>
        <p:spPr>
          <a:xfrm>
            <a:off x="7226299" y="2244886"/>
            <a:ext cx="9083271" cy="5674748"/>
          </a:xfrm>
          <a:prstGeom prst="rect">
            <a:avLst/>
          </a:prstGeom>
        </p:spPr>
      </p:pic>
      <p:sp>
        <p:nvSpPr>
          <p:cNvPr id="2" name="Title 1">
            <a:extLst>
              <a:ext uri="{FF2B5EF4-FFF2-40B4-BE49-F238E27FC236}">
                <a16:creationId xmlns:a16="http://schemas.microsoft.com/office/drawing/2014/main" id="{D0A01D9A-3785-4AD7-BCCD-9B7AE0C5B906}"/>
              </a:ext>
            </a:extLst>
          </p:cNvPr>
          <p:cNvSpPr>
            <a:spLocks noGrp="1"/>
          </p:cNvSpPr>
          <p:nvPr>
            <p:ph type="title"/>
          </p:nvPr>
        </p:nvSpPr>
        <p:spPr>
          <a:xfrm>
            <a:off x="1410734" y="227803"/>
            <a:ext cx="12618720" cy="948265"/>
          </a:xfrm>
        </p:spPr>
        <p:txBody>
          <a:bodyPr>
            <a:normAutofit/>
          </a:bodyPr>
          <a:lstStyle/>
          <a:p>
            <a:r>
              <a:rPr lang="en-US" sz="5400" b="1" dirty="0">
                <a:solidFill>
                  <a:srgbClr val="0070C0"/>
                </a:solidFill>
              </a:rPr>
              <a:t>Design of a Logic Circuit</a:t>
            </a:r>
            <a:endParaRPr lang="en-US" sz="5400" dirty="0">
              <a:solidFill>
                <a:srgbClr val="0070C0"/>
              </a:solidFill>
            </a:endParaRPr>
          </a:p>
        </p:txBody>
      </p:sp>
      <p:sp>
        <p:nvSpPr>
          <p:cNvPr id="3" name="Content Placeholder 2">
            <a:extLst>
              <a:ext uri="{FF2B5EF4-FFF2-40B4-BE49-F238E27FC236}">
                <a16:creationId xmlns:a16="http://schemas.microsoft.com/office/drawing/2014/main" id="{AD02D973-CE27-4FC2-9EE5-CD4CAD02C5EE}"/>
              </a:ext>
            </a:extLst>
          </p:cNvPr>
          <p:cNvSpPr>
            <a:spLocks noGrp="1"/>
          </p:cNvSpPr>
          <p:nvPr>
            <p:ph idx="1"/>
          </p:nvPr>
        </p:nvSpPr>
        <p:spPr>
          <a:xfrm>
            <a:off x="182879" y="1097079"/>
            <a:ext cx="16110065" cy="1080856"/>
          </a:xfrm>
        </p:spPr>
        <p:txBody>
          <a:bodyPr>
            <a:noAutofit/>
          </a:bodyPr>
          <a:lstStyle/>
          <a:p>
            <a:r>
              <a:rPr lang="en-US" sz="4000" dirty="0"/>
              <a:t>The logic microoperations manipulate the bits of the operands separately and treat each bit as a binary variable.</a:t>
            </a:r>
          </a:p>
        </p:txBody>
      </p:sp>
      <p:sp>
        <p:nvSpPr>
          <p:cNvPr id="5" name="Rectangle 4"/>
          <p:cNvSpPr/>
          <p:nvPr/>
        </p:nvSpPr>
        <p:spPr>
          <a:xfrm>
            <a:off x="182878" y="2261511"/>
            <a:ext cx="7448206" cy="5632311"/>
          </a:xfrm>
          <a:prstGeom prst="rect">
            <a:avLst/>
          </a:prstGeom>
        </p:spPr>
        <p:txBody>
          <a:bodyPr wrap="square">
            <a:spAutoFit/>
          </a:bodyPr>
          <a:lstStyle/>
          <a:p>
            <a:pPr marL="342900" indent="-342900">
              <a:buFont typeface="Arial" panose="020B0604020202020204" pitchFamily="34" charset="0"/>
              <a:buChar char="•"/>
            </a:pPr>
            <a:r>
              <a:rPr lang="en-US" sz="4000" dirty="0"/>
              <a:t>All </a:t>
            </a:r>
            <a:r>
              <a:rPr lang="en-US" sz="4000" dirty="0">
                <a:solidFill>
                  <a:srgbClr val="FF0000"/>
                </a:solidFill>
              </a:rPr>
              <a:t>logic operations </a:t>
            </a:r>
            <a:r>
              <a:rPr lang="en-US" sz="4000" dirty="0"/>
              <a:t>can be obtained by means of </a:t>
            </a:r>
            <a:r>
              <a:rPr lang="en-US" sz="4000" b="1" dirty="0">
                <a:solidFill>
                  <a:srgbClr val="FF0000"/>
                </a:solidFill>
              </a:rPr>
              <a:t>AND, OR </a:t>
            </a:r>
            <a:r>
              <a:rPr lang="en-US" sz="4000" dirty="0">
                <a:solidFill>
                  <a:srgbClr val="FF0000"/>
                </a:solidFill>
              </a:rPr>
              <a:t>and </a:t>
            </a:r>
            <a:r>
              <a:rPr lang="en-US" sz="4000" b="1" dirty="0">
                <a:solidFill>
                  <a:srgbClr val="FF0000"/>
                </a:solidFill>
              </a:rPr>
              <a:t>NOT </a:t>
            </a:r>
            <a:r>
              <a:rPr lang="en-US" sz="4000" dirty="0">
                <a:solidFill>
                  <a:srgbClr val="FF0000"/>
                </a:solidFill>
              </a:rPr>
              <a:t>operations</a:t>
            </a:r>
            <a:r>
              <a:rPr lang="en-US" sz="4000" dirty="0"/>
              <a:t>. </a:t>
            </a:r>
          </a:p>
          <a:p>
            <a:pPr marL="342900" indent="-342900">
              <a:buFont typeface="Arial" panose="020B0604020202020204" pitchFamily="34" charset="0"/>
              <a:buChar char="•"/>
            </a:pPr>
            <a:r>
              <a:rPr lang="en-US" sz="4000" dirty="0"/>
              <a:t>For 3 operations, we need 2 selection variables, but 2 selection lines can choose between 4 (2</a:t>
            </a:r>
            <a:r>
              <a:rPr lang="en-US" sz="4000" baseline="30000" dirty="0"/>
              <a:t>2</a:t>
            </a:r>
            <a:r>
              <a:rPr lang="en-US" sz="4000" dirty="0"/>
              <a:t>) logic operations, and hence XOR operation is also incorporated in the logical circuit.</a:t>
            </a:r>
          </a:p>
        </p:txBody>
      </p:sp>
      <p:sp>
        <p:nvSpPr>
          <p:cNvPr id="6" name="Date Placeholder 5"/>
          <p:cNvSpPr>
            <a:spLocks noGrp="1"/>
          </p:cNvSpPr>
          <p:nvPr>
            <p:ph type="dt" sz="half" idx="10"/>
          </p:nvPr>
        </p:nvSpPr>
        <p:spPr/>
        <p:txBody>
          <a:bodyPr/>
          <a:lstStyle/>
          <a:p>
            <a:fld id="{807219DD-1A8A-484B-A67C-1E18450AFDD5}" type="datetime3">
              <a:rPr lang="en-US" smtClean="0"/>
              <a:t>24 December 2025</a:t>
            </a:fld>
            <a:endParaRPr lang="en-US"/>
          </a:p>
        </p:txBody>
      </p:sp>
      <p:sp>
        <p:nvSpPr>
          <p:cNvPr id="8" name="Slide Number Placeholder 7"/>
          <p:cNvSpPr>
            <a:spLocks noGrp="1"/>
          </p:cNvSpPr>
          <p:nvPr>
            <p:ph type="sldNum" sz="quarter" idx="12"/>
          </p:nvPr>
        </p:nvSpPr>
        <p:spPr/>
        <p:txBody>
          <a:bodyPr/>
          <a:lstStyle/>
          <a:p>
            <a:fld id="{48F63A3B-78C7-47BE-AE5E-E10140E04643}" type="slidenum">
              <a:rPr lang="en-US" smtClean="0"/>
              <a:t>23</a:t>
            </a:fld>
            <a:endParaRPr lang="en-US" dirty="0"/>
          </a:p>
        </p:txBody>
      </p:sp>
    </p:spTree>
    <p:extLst>
      <p:ext uri="{BB962C8B-B14F-4D97-AF65-F5344CB8AC3E}">
        <p14:creationId xmlns:p14="http://schemas.microsoft.com/office/powerpoint/2010/main" val="163841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EBBA6-AE03-4C4F-B76B-3E3E1F82758B}"/>
              </a:ext>
            </a:extLst>
          </p:cNvPr>
          <p:cNvSpPr>
            <a:spLocks noGrp="1"/>
          </p:cNvSpPr>
          <p:nvPr>
            <p:ph type="title"/>
          </p:nvPr>
        </p:nvSpPr>
        <p:spPr>
          <a:xfrm>
            <a:off x="698269" y="205394"/>
            <a:ext cx="11720946" cy="1192706"/>
          </a:xfrm>
        </p:spPr>
        <p:txBody>
          <a:bodyPr>
            <a:normAutofit/>
          </a:bodyPr>
          <a:lstStyle/>
          <a:p>
            <a:r>
              <a:rPr lang="en-US" sz="5400" b="1" dirty="0">
                <a:solidFill>
                  <a:srgbClr val="0070C0"/>
                </a:solidFill>
              </a:rPr>
              <a:t>Combining Logic and Arithmetic Circuits</a:t>
            </a:r>
          </a:p>
        </p:txBody>
      </p:sp>
      <p:sp>
        <p:nvSpPr>
          <p:cNvPr id="3" name="Content Placeholder 2">
            <a:extLst>
              <a:ext uri="{FF2B5EF4-FFF2-40B4-BE49-F238E27FC236}">
                <a16:creationId xmlns:a16="http://schemas.microsoft.com/office/drawing/2014/main" id="{BB78AA6A-DCB5-4AC5-9B73-2D8FF9A6ABDE}"/>
              </a:ext>
            </a:extLst>
          </p:cNvPr>
          <p:cNvSpPr>
            <a:spLocks noGrp="1"/>
          </p:cNvSpPr>
          <p:nvPr>
            <p:ph idx="1"/>
          </p:nvPr>
        </p:nvSpPr>
        <p:spPr>
          <a:xfrm>
            <a:off x="249381" y="1398100"/>
            <a:ext cx="15993687" cy="1145594"/>
          </a:xfrm>
        </p:spPr>
        <p:txBody>
          <a:bodyPr>
            <a:noAutofit/>
          </a:bodyPr>
          <a:lstStyle/>
          <a:p>
            <a:r>
              <a:rPr lang="en-US" sz="4000" dirty="0"/>
              <a:t>The logic circuit can be combined with the arithmetic circuit to produce </a:t>
            </a:r>
            <a:r>
              <a:rPr lang="en-US" sz="4000" dirty="0">
                <a:solidFill>
                  <a:srgbClr val="FF0000"/>
                </a:solidFill>
              </a:rPr>
              <a:t>one arithmetic logic unit</a:t>
            </a:r>
            <a:r>
              <a:rPr lang="en-US" sz="4000" dirty="0"/>
              <a:t>.</a:t>
            </a:r>
          </a:p>
        </p:txBody>
      </p:sp>
      <p:sp>
        <p:nvSpPr>
          <p:cNvPr id="5" name="Rectangle 4"/>
          <p:cNvSpPr/>
          <p:nvPr/>
        </p:nvSpPr>
        <p:spPr>
          <a:xfrm>
            <a:off x="249381" y="2660298"/>
            <a:ext cx="7331826" cy="4401205"/>
          </a:xfrm>
          <a:prstGeom prst="rect">
            <a:avLst/>
          </a:prstGeom>
        </p:spPr>
        <p:txBody>
          <a:bodyPr wrap="square">
            <a:spAutoFit/>
          </a:bodyPr>
          <a:lstStyle/>
          <a:p>
            <a:pPr marL="342900" indent="-342900">
              <a:buFont typeface="Arial" panose="020B0604020202020204" pitchFamily="34" charset="0"/>
              <a:buChar char="•"/>
            </a:pPr>
            <a:r>
              <a:rPr lang="en-US" sz="4000" dirty="0"/>
              <a:t>Selection variables </a:t>
            </a:r>
            <a:r>
              <a:rPr lang="en-US" sz="4000" dirty="0">
                <a:solidFill>
                  <a:srgbClr val="FF0000"/>
                </a:solidFill>
              </a:rPr>
              <a:t>s1 and s0 </a:t>
            </a:r>
            <a:r>
              <a:rPr lang="en-US" sz="4000" dirty="0"/>
              <a:t>can be made </a:t>
            </a:r>
            <a:r>
              <a:rPr lang="en-US" sz="4000" dirty="0">
                <a:solidFill>
                  <a:srgbClr val="FF0000"/>
                </a:solidFill>
              </a:rPr>
              <a:t>common to both sections </a:t>
            </a:r>
            <a:r>
              <a:rPr lang="en-US" sz="4000" dirty="0"/>
              <a:t>provided we use a </a:t>
            </a:r>
            <a:r>
              <a:rPr lang="en-US" sz="4000" dirty="0">
                <a:solidFill>
                  <a:srgbClr val="FF0000"/>
                </a:solidFill>
              </a:rPr>
              <a:t>third variable s2 to differentiate between the two</a:t>
            </a:r>
            <a:r>
              <a:rPr lang="en-US" sz="4000" dirty="0"/>
              <a:t>.</a:t>
            </a:r>
          </a:p>
          <a:p>
            <a:pPr marL="342900" indent="-342900">
              <a:buFont typeface="Arial" panose="020B0604020202020204" pitchFamily="34" charset="0"/>
              <a:buChar char="•"/>
            </a:pPr>
            <a:r>
              <a:rPr lang="en-US" sz="4000" dirty="0"/>
              <a:t>This third variable is the </a:t>
            </a:r>
            <a:r>
              <a:rPr lang="en-US" sz="4000" dirty="0">
                <a:solidFill>
                  <a:srgbClr val="FF0000"/>
                </a:solidFill>
              </a:rPr>
              <a:t>select input to a 2:1 multiplexer</a:t>
            </a:r>
            <a:r>
              <a:rPr lang="en-US" sz="4000" dirty="0"/>
              <a:t>.</a:t>
            </a:r>
          </a:p>
        </p:txBody>
      </p:sp>
      <p:sp>
        <p:nvSpPr>
          <p:cNvPr id="6" name="Date Placeholder 5"/>
          <p:cNvSpPr>
            <a:spLocks noGrp="1"/>
          </p:cNvSpPr>
          <p:nvPr>
            <p:ph type="dt" sz="half" idx="10"/>
          </p:nvPr>
        </p:nvSpPr>
        <p:spPr/>
        <p:txBody>
          <a:bodyPr/>
          <a:lstStyle/>
          <a:p>
            <a:fld id="{513DA533-2B5C-49E3-A400-E4E7FC542746}" type="datetime3">
              <a:rPr lang="en-US" smtClean="0"/>
              <a:t>24 December 2025</a:t>
            </a:fld>
            <a:endParaRPr lang="en-US"/>
          </a:p>
        </p:txBody>
      </p:sp>
      <p:sp>
        <p:nvSpPr>
          <p:cNvPr id="8" name="Slide Number Placeholder 7"/>
          <p:cNvSpPr>
            <a:spLocks noGrp="1"/>
          </p:cNvSpPr>
          <p:nvPr>
            <p:ph type="sldNum" sz="quarter" idx="12"/>
          </p:nvPr>
        </p:nvSpPr>
        <p:spPr/>
        <p:txBody>
          <a:bodyPr/>
          <a:lstStyle/>
          <a:p>
            <a:fld id="{48F63A3B-78C7-47BE-AE5E-E10140E04643}" type="slidenum">
              <a:rPr lang="en-US" smtClean="0"/>
              <a:t>24</a:t>
            </a:fld>
            <a:endParaRPr lang="en-US" dirty="0"/>
          </a:p>
        </p:txBody>
      </p:sp>
      <p:pic>
        <p:nvPicPr>
          <p:cNvPr id="9" name="Picture 8"/>
          <p:cNvPicPr>
            <a:picLocks noChangeAspect="1"/>
          </p:cNvPicPr>
          <p:nvPr/>
        </p:nvPicPr>
        <p:blipFill rotWithShape="1">
          <a:blip r:embed="rId2">
            <a:duotone>
              <a:schemeClr val="accent2">
                <a:shade val="45000"/>
                <a:satMod val="135000"/>
              </a:schemeClr>
              <a:prstClr val="white"/>
            </a:duotone>
          </a:blip>
          <a:srcRect l="3847" t="3103" r="3028" b="4099"/>
          <a:stretch/>
        </p:blipFill>
        <p:spPr>
          <a:xfrm>
            <a:off x="7547957" y="1995054"/>
            <a:ext cx="8794863" cy="5951913"/>
          </a:xfrm>
          <a:prstGeom prst="rect">
            <a:avLst/>
          </a:prstGeom>
        </p:spPr>
      </p:pic>
    </p:spTree>
    <p:extLst>
      <p:ext uri="{BB962C8B-B14F-4D97-AF65-F5344CB8AC3E}">
        <p14:creationId xmlns:p14="http://schemas.microsoft.com/office/powerpoint/2010/main" val="387960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a:duotone>
              <a:schemeClr val="accent2">
                <a:shade val="45000"/>
                <a:satMod val="135000"/>
              </a:schemeClr>
              <a:prstClr val="white"/>
            </a:duotone>
          </a:blip>
          <a:srcRect l="3847" t="3103" r="3028" b="4099"/>
          <a:stretch/>
        </p:blipFill>
        <p:spPr>
          <a:xfrm>
            <a:off x="8728364" y="1473501"/>
            <a:ext cx="7519273" cy="5293059"/>
          </a:xfrm>
          <a:prstGeom prst="rect">
            <a:avLst/>
          </a:prstGeom>
        </p:spPr>
      </p:pic>
      <p:sp>
        <p:nvSpPr>
          <p:cNvPr id="2" name="Title 1">
            <a:extLst>
              <a:ext uri="{FF2B5EF4-FFF2-40B4-BE49-F238E27FC236}">
                <a16:creationId xmlns:a16="http://schemas.microsoft.com/office/drawing/2014/main" id="{629A8BB8-CCAD-4BB1-8B21-CA2876DE0E98}"/>
              </a:ext>
            </a:extLst>
          </p:cNvPr>
          <p:cNvSpPr>
            <a:spLocks noGrp="1"/>
          </p:cNvSpPr>
          <p:nvPr>
            <p:ph type="title"/>
          </p:nvPr>
        </p:nvSpPr>
        <p:spPr>
          <a:xfrm>
            <a:off x="1313411" y="188766"/>
            <a:ext cx="13882255" cy="1140588"/>
          </a:xfrm>
        </p:spPr>
        <p:txBody>
          <a:bodyPr>
            <a:normAutofit/>
          </a:bodyPr>
          <a:lstStyle/>
          <a:p>
            <a:r>
              <a:rPr lang="en-US" sz="5400" b="1" dirty="0">
                <a:solidFill>
                  <a:srgbClr val="0070C0"/>
                </a:solidFill>
              </a:rPr>
              <a:t>Logic Operations in One Stage of Arithmetic Circuit</a:t>
            </a:r>
          </a:p>
        </p:txBody>
      </p:sp>
      <p:pic>
        <p:nvPicPr>
          <p:cNvPr id="4" name="Content Placeholder 3">
            <a:extLst>
              <a:ext uri="{FF2B5EF4-FFF2-40B4-BE49-F238E27FC236}">
                <a16:creationId xmlns:a16="http://schemas.microsoft.com/office/drawing/2014/main" id="{27E109C2-2C1B-4DE7-9CB1-E7209FCC520C}"/>
              </a:ext>
            </a:extLst>
          </p:cNvPr>
          <p:cNvPicPr>
            <a:picLocks noGrp="1" noChangeAspect="1"/>
          </p:cNvPicPr>
          <p:nvPr>
            <p:ph idx="1"/>
          </p:nvPr>
        </p:nvPicPr>
        <p:blipFill rotWithShape="1">
          <a:blip r:embed="rId3">
            <a:duotone>
              <a:prstClr val="black"/>
              <a:schemeClr val="accent6">
                <a:tint val="45000"/>
                <a:satMod val="400000"/>
              </a:schemeClr>
            </a:duotone>
          </a:blip>
          <a:srcRect l="3516" t="3434" r="3180" b="4367"/>
          <a:stretch/>
        </p:blipFill>
        <p:spPr>
          <a:xfrm>
            <a:off x="232763" y="1599475"/>
            <a:ext cx="8179717" cy="3268981"/>
          </a:xfrm>
          <a:prstGeom prst="rect">
            <a:avLst/>
          </a:prstGeom>
        </p:spPr>
      </p:pic>
      <p:sp>
        <p:nvSpPr>
          <p:cNvPr id="3" name="TextBox 2">
            <a:extLst>
              <a:ext uri="{FF2B5EF4-FFF2-40B4-BE49-F238E27FC236}">
                <a16:creationId xmlns:a16="http://schemas.microsoft.com/office/drawing/2014/main" id="{AF296420-6C5C-4640-9738-9991B81D0F21}"/>
              </a:ext>
            </a:extLst>
          </p:cNvPr>
          <p:cNvSpPr txBox="1"/>
          <p:nvPr/>
        </p:nvSpPr>
        <p:spPr>
          <a:xfrm>
            <a:off x="149638" y="1104436"/>
            <a:ext cx="8760090" cy="523220"/>
          </a:xfrm>
          <a:prstGeom prst="rect">
            <a:avLst/>
          </a:prstGeom>
          <a:noFill/>
        </p:spPr>
        <p:txBody>
          <a:bodyPr wrap="none" rtlCol="0">
            <a:spAutoFit/>
          </a:bodyPr>
          <a:lstStyle/>
          <a:p>
            <a:r>
              <a:rPr lang="en-US" sz="2800" dirty="0">
                <a:solidFill>
                  <a:srgbClr val="FF0000"/>
                </a:solidFill>
              </a:rPr>
              <a:t>Table 9-3 Logic operations in one state of arithmetic circuit</a:t>
            </a:r>
          </a:p>
        </p:txBody>
      </p:sp>
      <p:sp>
        <p:nvSpPr>
          <p:cNvPr id="6" name="TextBox 5"/>
          <p:cNvSpPr txBox="1"/>
          <p:nvPr/>
        </p:nvSpPr>
        <p:spPr>
          <a:xfrm>
            <a:off x="6716495" y="2977768"/>
            <a:ext cx="598517" cy="683264"/>
          </a:xfrm>
          <a:prstGeom prst="rect">
            <a:avLst/>
          </a:prstGeom>
          <a:noFill/>
        </p:spPr>
        <p:txBody>
          <a:bodyPr wrap="square" rtlCol="0">
            <a:spAutoFit/>
          </a:bodyPr>
          <a:lstStyle/>
          <a:p>
            <a:r>
              <a:rPr lang="en-US" sz="3840" b="1" dirty="0">
                <a:solidFill>
                  <a:srgbClr val="FF0000"/>
                </a:solidFill>
                <a:latin typeface="Times New Roman" panose="02020603050405020304" pitchFamily="18" charset="0"/>
                <a:cs typeface="Times New Roman" panose="02020603050405020304" pitchFamily="18" charset="0"/>
              </a:rPr>
              <a:t>?</a:t>
            </a:r>
          </a:p>
        </p:txBody>
      </p:sp>
      <p:sp>
        <p:nvSpPr>
          <p:cNvPr id="7" name="TextBox 6"/>
          <p:cNvSpPr txBox="1"/>
          <p:nvPr/>
        </p:nvSpPr>
        <p:spPr>
          <a:xfrm>
            <a:off x="6716495" y="3774383"/>
            <a:ext cx="598517" cy="683264"/>
          </a:xfrm>
          <a:prstGeom prst="rect">
            <a:avLst/>
          </a:prstGeom>
          <a:noFill/>
        </p:spPr>
        <p:txBody>
          <a:bodyPr wrap="square" rtlCol="0">
            <a:spAutoFit/>
          </a:bodyPr>
          <a:lstStyle/>
          <a:p>
            <a:r>
              <a:rPr lang="en-US" sz="3840" b="1" dirty="0">
                <a:solidFill>
                  <a:srgbClr val="FF0000"/>
                </a:solidFill>
                <a:latin typeface="Times New Roman" panose="02020603050405020304" pitchFamily="18" charset="0"/>
                <a:cs typeface="Times New Roman" panose="02020603050405020304" pitchFamily="18" charset="0"/>
              </a:rPr>
              <a:t>?</a:t>
            </a:r>
          </a:p>
        </p:txBody>
      </p:sp>
      <p:sp>
        <p:nvSpPr>
          <p:cNvPr id="8" name="TextBox 7"/>
          <p:cNvSpPr txBox="1"/>
          <p:nvPr/>
        </p:nvSpPr>
        <p:spPr>
          <a:xfrm>
            <a:off x="216131" y="4978766"/>
            <a:ext cx="10008523" cy="2062103"/>
          </a:xfrm>
          <a:prstGeom prst="rect">
            <a:avLst/>
          </a:prstGeom>
          <a:noFill/>
        </p:spPr>
        <p:txBody>
          <a:bodyPr wrap="square" rtlCol="0">
            <a:spAutoFit/>
          </a:bodyPr>
          <a:lstStyle/>
          <a:p>
            <a:r>
              <a:rPr lang="en-US" sz="3200" dirty="0"/>
              <a:t>XNOR gate gives an output “1” when its inputs are “</a:t>
            </a:r>
            <a:r>
              <a:rPr lang="en-US" sz="3200" i="1" dirty="0"/>
              <a:t>logically equal</a:t>
            </a:r>
            <a:r>
              <a:rPr lang="en-US" sz="3200" dirty="0"/>
              <a:t>” or “</a:t>
            </a:r>
            <a:r>
              <a:rPr lang="en-US" sz="3200" i="1" dirty="0"/>
              <a:t>equivalent</a:t>
            </a:r>
            <a:r>
              <a:rPr lang="en-US" sz="3200" dirty="0"/>
              <a:t>” to each other, which is why an </a:t>
            </a:r>
            <a:r>
              <a:rPr lang="en-US" sz="3200" b="1" dirty="0"/>
              <a:t>Exclusive-NOR</a:t>
            </a:r>
            <a:r>
              <a:rPr lang="en-US" sz="3200" dirty="0"/>
              <a:t> gate is sometimes called an </a:t>
            </a:r>
            <a:r>
              <a:rPr lang="en-US" sz="3200" b="1" dirty="0"/>
              <a:t>Equivalence Gate</a:t>
            </a:r>
            <a:r>
              <a:rPr lang="en-US" sz="3200" dirty="0"/>
              <a:t>.</a:t>
            </a:r>
          </a:p>
        </p:txBody>
      </p:sp>
      <p:graphicFrame>
        <p:nvGraphicFramePr>
          <p:cNvPr id="9" name="Table 8"/>
          <p:cNvGraphicFramePr>
            <a:graphicFrameLocks noGrp="1"/>
          </p:cNvGraphicFramePr>
          <p:nvPr>
            <p:extLst>
              <p:ext uri="{D42A27DB-BD31-4B8C-83A1-F6EECF244321}">
                <p14:modId xmlns:p14="http://schemas.microsoft.com/office/powerpoint/2010/main" val="3523718735"/>
              </p:ext>
            </p:extLst>
          </p:nvPr>
        </p:nvGraphicFramePr>
        <p:xfrm>
          <a:off x="3414793" y="6578924"/>
          <a:ext cx="4355871" cy="1463040"/>
        </p:xfrm>
        <a:graphic>
          <a:graphicData uri="http://schemas.openxmlformats.org/drawingml/2006/table">
            <a:tbl>
              <a:tblPr>
                <a:tableStyleId>{ED083AE6-46FA-4A59-8FB0-9F97EB10719F}</a:tableStyleId>
              </a:tblPr>
              <a:tblGrid>
                <a:gridCol w="1162582">
                  <a:extLst>
                    <a:ext uri="{9D8B030D-6E8A-4147-A177-3AD203B41FA5}">
                      <a16:colId xmlns:a16="http://schemas.microsoft.com/office/drawing/2014/main" val="1167010717"/>
                    </a:ext>
                  </a:extLst>
                </a:gridCol>
                <a:gridCol w="1162582">
                  <a:extLst>
                    <a:ext uri="{9D8B030D-6E8A-4147-A177-3AD203B41FA5}">
                      <a16:colId xmlns:a16="http://schemas.microsoft.com/office/drawing/2014/main" val="874720121"/>
                    </a:ext>
                  </a:extLst>
                </a:gridCol>
                <a:gridCol w="2030707">
                  <a:extLst>
                    <a:ext uri="{9D8B030D-6E8A-4147-A177-3AD203B41FA5}">
                      <a16:colId xmlns:a16="http://schemas.microsoft.com/office/drawing/2014/main" val="4005369820"/>
                    </a:ext>
                  </a:extLst>
                </a:gridCol>
              </a:tblGrid>
              <a:tr h="365760">
                <a:tc gridSpan="2">
                  <a:txBody>
                    <a:bodyPr/>
                    <a:lstStyle/>
                    <a:p>
                      <a:pPr algn="ctr"/>
                      <a:r>
                        <a:rPr lang="en-US" sz="2400" b="1" dirty="0">
                          <a:solidFill>
                            <a:srgbClr val="FF0000"/>
                          </a:solidFill>
                          <a:effectLst/>
                          <a:latin typeface="Times New Roman" panose="02020603050405020304" pitchFamily="18" charset="0"/>
                          <a:cs typeface="Times New Roman" panose="02020603050405020304" pitchFamily="18" charset="0"/>
                        </a:rPr>
                        <a:t>Input</a:t>
                      </a:r>
                    </a:p>
                  </a:txBody>
                  <a:tcPr marL="109728" marR="109728" marT="0" marB="0" anchor="ctr"/>
                </a:tc>
                <a:tc hMerge="1">
                  <a:txBody>
                    <a:bodyPr/>
                    <a:lstStyle/>
                    <a:p>
                      <a:endParaRPr lang="en-US"/>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Output</a:t>
                      </a:r>
                    </a:p>
                  </a:txBody>
                  <a:tcPr marL="109728" marR="109728" marT="0" marB="0" anchor="ctr"/>
                </a:tc>
                <a:extLst>
                  <a:ext uri="{0D108BD9-81ED-4DB2-BD59-A6C34878D82A}">
                    <a16:rowId xmlns:a16="http://schemas.microsoft.com/office/drawing/2014/main" val="3246559988"/>
                  </a:ext>
                </a:extLst>
              </a:tr>
              <a:tr h="365760">
                <a:tc>
                  <a:txBody>
                    <a:bodyPr/>
                    <a:lstStyle/>
                    <a:p>
                      <a:pPr algn="ctr"/>
                      <a:r>
                        <a:rPr lang="en-US" sz="2400" b="1" i="1" dirty="0">
                          <a:effectLst/>
                          <a:latin typeface="Times New Roman" panose="02020603050405020304" pitchFamily="18" charset="0"/>
                          <a:cs typeface="Times New Roman" panose="02020603050405020304" pitchFamily="18" charset="0"/>
                        </a:rPr>
                        <a:t>A</a:t>
                      </a:r>
                    </a:p>
                  </a:txBody>
                  <a:tcPr marL="109728" marR="109728" marT="0" marB="0" anchor="ctr"/>
                </a:tc>
                <a:tc>
                  <a:txBody>
                    <a:bodyPr/>
                    <a:lstStyle/>
                    <a:p>
                      <a:pPr algn="ctr"/>
                      <a:r>
                        <a:rPr lang="en-US" sz="2400" b="1" i="1" dirty="0">
                          <a:latin typeface="Times New Roman" panose="02020603050405020304" pitchFamily="18" charset="0"/>
                          <a:cs typeface="Times New Roman" panose="02020603050405020304" pitchFamily="18" charset="0"/>
                        </a:rPr>
                        <a:t>B</a:t>
                      </a:r>
                    </a:p>
                  </a:txBody>
                  <a:tcPr marL="109728" marR="109728" marT="0" marB="0" anchor="ctr"/>
                </a:tc>
                <a:tc>
                  <a:txBody>
                    <a:bodyPr/>
                    <a:lstStyle/>
                    <a:p>
                      <a:pPr algn="ctr"/>
                      <a:r>
                        <a:rPr lang="en-US" sz="2400" b="1" i="1"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XNOR </a:t>
                      </a:r>
                      <a:r>
                        <a:rPr lang="en-US" sz="2400" b="1" i="1" dirty="0">
                          <a:latin typeface="Times New Roman" panose="02020603050405020304" pitchFamily="18" charset="0"/>
                          <a:cs typeface="Times New Roman" panose="02020603050405020304" pitchFamily="18" charset="0"/>
                        </a:rPr>
                        <a:t>B</a:t>
                      </a:r>
                    </a:p>
                  </a:txBody>
                  <a:tcPr marL="109728" marR="109728" marT="0" marB="0" anchor="ctr"/>
                </a:tc>
                <a:extLst>
                  <a:ext uri="{0D108BD9-81ED-4DB2-BD59-A6C34878D82A}">
                    <a16:rowId xmlns:a16="http://schemas.microsoft.com/office/drawing/2014/main" val="3112467801"/>
                  </a:ext>
                </a:extLst>
              </a:tr>
              <a:tr h="365760">
                <a:tc>
                  <a:txBody>
                    <a:bodyPr/>
                    <a:lstStyle/>
                    <a:p>
                      <a:pPr algn="ctr"/>
                      <a:r>
                        <a:rPr lang="en-US" sz="2400">
                          <a:effectLst/>
                          <a:latin typeface="Times New Roman" panose="02020603050405020304" pitchFamily="18" charset="0"/>
                          <a:cs typeface="Times New Roman" panose="02020603050405020304" pitchFamily="18" charset="0"/>
                        </a:rPr>
                        <a:t>1</a:t>
                      </a:r>
                      <a:endParaRPr lang="en-US" sz="2400" b="1">
                        <a:effectLst/>
                        <a:latin typeface="Times New Roman" panose="02020603050405020304" pitchFamily="18" charset="0"/>
                        <a:cs typeface="Times New Roman" panose="02020603050405020304" pitchFamily="18" charset="0"/>
                      </a:endParaRPr>
                    </a:p>
                  </a:txBody>
                  <a:tcPr marL="109728" marR="109728" marT="0" marB="0" anchor="ctr"/>
                </a:tc>
                <a:tc>
                  <a:txBody>
                    <a:bodyPr/>
                    <a:lstStyle/>
                    <a:p>
                      <a:pPr algn="ctr"/>
                      <a:r>
                        <a:rPr lang="en-US" sz="2400" dirty="0">
                          <a:latin typeface="Times New Roman" panose="02020603050405020304" pitchFamily="18" charset="0"/>
                          <a:cs typeface="Times New Roman" panose="02020603050405020304" pitchFamily="18" charset="0"/>
                        </a:rPr>
                        <a:t>0</a:t>
                      </a:r>
                      <a:endParaRPr lang="en-US" sz="2400" b="1" dirty="0">
                        <a:latin typeface="Times New Roman" panose="02020603050405020304" pitchFamily="18" charset="0"/>
                        <a:cs typeface="Times New Roman" panose="02020603050405020304" pitchFamily="18" charset="0"/>
                      </a:endParaRPr>
                    </a:p>
                  </a:txBody>
                  <a:tcPr marL="109728" marR="109728" marT="0" marB="0" anchor="ctr"/>
                </a:tc>
                <a:tc>
                  <a:txBody>
                    <a:bodyPr/>
                    <a:lstStyle/>
                    <a:p>
                      <a:pPr algn="ctr"/>
                      <a:r>
                        <a:rPr lang="en-US" sz="2400">
                          <a:latin typeface="Times New Roman" panose="02020603050405020304" pitchFamily="18" charset="0"/>
                          <a:cs typeface="Times New Roman" panose="02020603050405020304" pitchFamily="18" charset="0"/>
                        </a:rPr>
                        <a:t>0</a:t>
                      </a:r>
                      <a:endParaRPr lang="en-US" sz="2400" b="1">
                        <a:latin typeface="Times New Roman" panose="02020603050405020304" pitchFamily="18" charset="0"/>
                        <a:cs typeface="Times New Roman" panose="02020603050405020304" pitchFamily="18" charset="0"/>
                      </a:endParaRPr>
                    </a:p>
                  </a:txBody>
                  <a:tcPr marL="109728" marR="109728" marT="0" marB="0" anchor="ctr"/>
                </a:tc>
                <a:extLst>
                  <a:ext uri="{0D108BD9-81ED-4DB2-BD59-A6C34878D82A}">
                    <a16:rowId xmlns:a16="http://schemas.microsoft.com/office/drawing/2014/main" val="1237000980"/>
                  </a:ext>
                </a:extLst>
              </a:tr>
              <a:tr h="365760">
                <a:tc>
                  <a:txBody>
                    <a:bodyPr/>
                    <a:lstStyle/>
                    <a:p>
                      <a:pPr algn="ctr"/>
                      <a:r>
                        <a:rPr lang="en-US" sz="2400">
                          <a:effectLst/>
                          <a:latin typeface="Times New Roman" panose="02020603050405020304" pitchFamily="18" charset="0"/>
                          <a:cs typeface="Times New Roman" panose="02020603050405020304" pitchFamily="18" charset="0"/>
                        </a:rPr>
                        <a:t>1</a:t>
                      </a:r>
                      <a:endParaRPr lang="en-US" sz="2400" b="1">
                        <a:effectLst/>
                        <a:latin typeface="Times New Roman" panose="02020603050405020304" pitchFamily="18" charset="0"/>
                        <a:cs typeface="Times New Roman" panose="02020603050405020304" pitchFamily="18" charset="0"/>
                      </a:endParaRPr>
                    </a:p>
                  </a:txBody>
                  <a:tcPr marL="109728" marR="109728" marT="0" marB="0" anchor="ctr"/>
                </a:tc>
                <a:tc>
                  <a:txBody>
                    <a:bodyPr/>
                    <a:lstStyle/>
                    <a:p>
                      <a:pPr algn="ctr"/>
                      <a:r>
                        <a:rPr lang="en-US" sz="2400" dirty="0">
                          <a:latin typeface="Times New Roman" panose="02020603050405020304" pitchFamily="18" charset="0"/>
                          <a:cs typeface="Times New Roman" panose="02020603050405020304" pitchFamily="18" charset="0"/>
                        </a:rPr>
                        <a:t>1</a:t>
                      </a:r>
                      <a:endParaRPr lang="en-US" sz="2400" b="1" dirty="0">
                        <a:latin typeface="Times New Roman" panose="02020603050405020304" pitchFamily="18" charset="0"/>
                        <a:cs typeface="Times New Roman" panose="02020603050405020304" pitchFamily="18" charset="0"/>
                      </a:endParaRPr>
                    </a:p>
                  </a:txBody>
                  <a:tcPr marL="109728" marR="109728" marT="0" marB="0" anchor="ctr"/>
                </a:tc>
                <a:tc>
                  <a:txBody>
                    <a:bodyPr/>
                    <a:lstStyle/>
                    <a:p>
                      <a:pPr algn="ctr"/>
                      <a:r>
                        <a:rPr lang="en-US" sz="2400" dirty="0">
                          <a:latin typeface="Times New Roman" panose="02020603050405020304" pitchFamily="18" charset="0"/>
                          <a:cs typeface="Times New Roman" panose="02020603050405020304" pitchFamily="18" charset="0"/>
                        </a:rPr>
                        <a:t>1</a:t>
                      </a:r>
                      <a:endParaRPr lang="en-US" sz="2400" b="1" dirty="0">
                        <a:latin typeface="Times New Roman" panose="02020603050405020304" pitchFamily="18" charset="0"/>
                        <a:cs typeface="Times New Roman" panose="02020603050405020304" pitchFamily="18" charset="0"/>
                      </a:endParaRPr>
                    </a:p>
                  </a:txBody>
                  <a:tcPr marL="109728" marR="109728" marT="0" marB="0" anchor="ctr"/>
                </a:tc>
                <a:extLst>
                  <a:ext uri="{0D108BD9-81ED-4DB2-BD59-A6C34878D82A}">
                    <a16:rowId xmlns:a16="http://schemas.microsoft.com/office/drawing/2014/main" val="267477848"/>
                  </a:ext>
                </a:extLst>
              </a:tr>
            </a:tbl>
          </a:graphicData>
        </a:graphic>
      </p:graphicFrame>
      <p:sp>
        <p:nvSpPr>
          <p:cNvPr id="10" name="Date Placeholder 9"/>
          <p:cNvSpPr>
            <a:spLocks noGrp="1"/>
          </p:cNvSpPr>
          <p:nvPr>
            <p:ph type="dt" sz="half" idx="10"/>
          </p:nvPr>
        </p:nvSpPr>
        <p:spPr/>
        <p:txBody>
          <a:bodyPr/>
          <a:lstStyle/>
          <a:p>
            <a:fld id="{284A80EF-67DE-44AD-8B91-BCC84424CDBB}" type="datetime3">
              <a:rPr lang="en-US" smtClean="0"/>
              <a:t>24 December 2025</a:t>
            </a:fld>
            <a:endParaRPr lang="en-US"/>
          </a:p>
        </p:txBody>
      </p:sp>
      <p:sp>
        <p:nvSpPr>
          <p:cNvPr id="12" name="Slide Number Placeholder 11"/>
          <p:cNvSpPr>
            <a:spLocks noGrp="1"/>
          </p:cNvSpPr>
          <p:nvPr>
            <p:ph type="sldNum" sz="quarter" idx="12"/>
          </p:nvPr>
        </p:nvSpPr>
        <p:spPr/>
        <p:txBody>
          <a:bodyPr/>
          <a:lstStyle/>
          <a:p>
            <a:fld id="{48F63A3B-78C7-47BE-AE5E-E10140E04643}" type="slidenum">
              <a:rPr lang="en-US" smtClean="0"/>
              <a:t>25</a:t>
            </a:fld>
            <a:endParaRPr lang="en-US" dirty="0"/>
          </a:p>
        </p:txBody>
      </p:sp>
    </p:spTree>
    <p:extLst>
      <p:ext uri="{BB962C8B-B14F-4D97-AF65-F5344CB8AC3E}">
        <p14:creationId xmlns:p14="http://schemas.microsoft.com/office/powerpoint/2010/main" val="164075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000"/>
                                        <p:tgtEl>
                                          <p:spTgt spid="6"/>
                                        </p:tgtEl>
                                      </p:cBhvr>
                                    </p:animEffect>
                                    <p:anim calcmode="lin" valueType="num">
                                      <p:cBhvr>
                                        <p:cTn id="12" dur="2000" fill="hold"/>
                                        <p:tgtEl>
                                          <p:spTgt spid="6"/>
                                        </p:tgtEl>
                                        <p:attrNameLst>
                                          <p:attrName>ppt_w</p:attrName>
                                        </p:attrNameLst>
                                      </p:cBhvr>
                                      <p:tavLst>
                                        <p:tav tm="0" fmla="#ppt_w*sin(2.5*pi*$)">
                                          <p:val>
                                            <p:fltVal val="0"/>
                                          </p:val>
                                        </p:tav>
                                        <p:tav tm="100000">
                                          <p:val>
                                            <p:fltVal val="1"/>
                                          </p:val>
                                        </p:tav>
                                      </p:tavLst>
                                    </p:anim>
                                    <p:anim calcmode="lin" valueType="num">
                                      <p:cBhvr>
                                        <p:cTn id="13"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5"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0"/>
                                        <p:tgtEl>
                                          <p:spTgt spid="7"/>
                                        </p:tgtEl>
                                      </p:cBhvr>
                                    </p:animEffect>
                                    <p:anim calcmode="lin" valueType="num">
                                      <p:cBhvr>
                                        <p:cTn id="19" dur="2000" fill="hold"/>
                                        <p:tgtEl>
                                          <p:spTgt spid="7"/>
                                        </p:tgtEl>
                                        <p:attrNameLst>
                                          <p:attrName>ppt_w</p:attrName>
                                        </p:attrNameLst>
                                      </p:cBhvr>
                                      <p:tavLst>
                                        <p:tav tm="0" fmla="#ppt_w*sin(2.5*pi*$)">
                                          <p:val>
                                            <p:fltVal val="0"/>
                                          </p:val>
                                        </p:tav>
                                        <p:tav tm="100000">
                                          <p:val>
                                            <p:fltVal val="1"/>
                                          </p:val>
                                        </p:tav>
                                      </p:tavLst>
                                    </p:anim>
                                    <p:anim calcmode="lin" valueType="num">
                                      <p:cBhvr>
                                        <p:cTn id="20"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9C3AB5-CC35-4440-A0C3-481F01656B96}" type="datetime3">
              <a:rPr lang="en-US" smtClean="0"/>
              <a:t>24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26</a:t>
            </a:fld>
            <a:endParaRPr lang="en-US" dirty="0"/>
          </a:p>
        </p:txBody>
      </p:sp>
      <mc:AlternateContent xmlns:mc="http://schemas.openxmlformats.org/markup-compatibility/2006" xmlns:a14="http://schemas.microsoft.com/office/drawing/2010/main">
        <mc:Choice Requires="a14">
          <p:sp>
            <p:nvSpPr>
              <p:cNvPr id="8" name="TextBox 7"/>
              <p:cNvSpPr txBox="1"/>
              <p:nvPr/>
            </p:nvSpPr>
            <p:spPr>
              <a:xfrm>
                <a:off x="232756" y="1496285"/>
                <a:ext cx="16010314" cy="6333593"/>
              </a:xfrm>
              <a:prstGeom prst="rect">
                <a:avLst/>
              </a:prstGeom>
              <a:noFill/>
            </p:spPr>
            <p:txBody>
              <a:bodyPr wrap="square" rtlCol="0">
                <a:spAutoFit/>
              </a:bodyPr>
              <a:lstStyle/>
              <a:p>
                <a:r>
                  <a:rPr lang="en-US" sz="3600" dirty="0"/>
                  <a:t>The value of </a:t>
                </a:r>
                <a:r>
                  <a:rPr lang="en-US" sz="3600" i="1" dirty="0"/>
                  <a:t>X</a:t>
                </a:r>
                <a:r>
                  <a:rPr lang="en-US" sz="3600" i="1" baseline="-25000" dirty="0"/>
                  <a:t>i</a:t>
                </a:r>
                <a:r>
                  <a:rPr lang="en-US" sz="3600" dirty="0"/>
                  <a:t> is always equal to input </a:t>
                </a:r>
                <a:r>
                  <a:rPr lang="en-US" sz="3600" i="1" dirty="0"/>
                  <a:t>A</a:t>
                </a:r>
                <a:r>
                  <a:rPr lang="en-US" sz="3600" i="1" baseline="-25000" dirty="0"/>
                  <a:t>i</a:t>
                </a:r>
                <a:r>
                  <a:rPr lang="en-US" sz="3600" dirty="0"/>
                  <a:t>. Table 9.3 shows the four logic operations obtained when a third selection variable </a:t>
                </a:r>
                <a:r>
                  <a:rPr lang="en-US" sz="3600" i="1" dirty="0"/>
                  <a:t>s</a:t>
                </a:r>
                <a:r>
                  <a:rPr lang="en-US" sz="3600" baseline="-25000" dirty="0"/>
                  <a:t>2</a:t>
                </a:r>
                <a:r>
                  <a:rPr lang="en-US" sz="3600" dirty="0"/>
                  <a:t> = 1. This selection variable forces </a:t>
                </a:r>
                <a:r>
                  <a:rPr lang="en-US" sz="3600" i="1" dirty="0"/>
                  <a:t>C</a:t>
                </a:r>
                <a:r>
                  <a:rPr lang="en-US" sz="3600" i="1" baseline="-25000" dirty="0"/>
                  <a:t>i</a:t>
                </a:r>
                <a:r>
                  <a:rPr lang="en-US" sz="3600" dirty="0"/>
                  <a:t> to be equal to 0 while </a:t>
                </a:r>
                <a:r>
                  <a:rPr lang="en-US" sz="3600" i="1" dirty="0"/>
                  <a:t>s</a:t>
                </a:r>
                <a:r>
                  <a:rPr lang="en-US" sz="3600" baseline="-25000" dirty="0"/>
                  <a:t>1</a:t>
                </a:r>
                <a:r>
                  <a:rPr lang="en-US" sz="3600" dirty="0"/>
                  <a:t> and </a:t>
                </a:r>
                <a:r>
                  <a:rPr lang="en-US" sz="3600" i="1" dirty="0"/>
                  <a:t>s</a:t>
                </a:r>
                <a:r>
                  <a:rPr lang="en-US" sz="3600" baseline="-25000" dirty="0"/>
                  <a:t>0</a:t>
                </a:r>
                <a:r>
                  <a:rPr lang="en-US" sz="3600" dirty="0"/>
                  <a:t> choose a particular value for </a:t>
                </a:r>
                <a:r>
                  <a:rPr lang="en-US" sz="3600" i="1" dirty="0"/>
                  <a:t>Y</a:t>
                </a:r>
                <a:r>
                  <a:rPr lang="en-US" sz="3600" i="1" baseline="-25000" dirty="0"/>
                  <a:t>i</a:t>
                </a:r>
                <a:r>
                  <a:rPr lang="en-US" sz="3600" dirty="0"/>
                  <a:t>.</a:t>
                </a:r>
              </a:p>
              <a:p>
                <a:r>
                  <a:rPr lang="en-US" sz="3600" dirty="0"/>
                  <a:t>The four logic operations obtained by this configuration are transfer, exclusive OR (XOR), </a:t>
                </a:r>
                <a:r>
                  <a:rPr lang="en-US" sz="3600" b="1" dirty="0">
                    <a:solidFill>
                      <a:srgbClr val="FF0000"/>
                    </a:solidFill>
                  </a:rPr>
                  <a:t>equivalence (XNOR)</a:t>
                </a:r>
                <a:r>
                  <a:rPr lang="en-US" sz="3600" dirty="0"/>
                  <a:t>, and complement. The third entry is the </a:t>
                </a:r>
                <a:r>
                  <a:rPr lang="en-US" sz="3600" b="1" dirty="0">
                    <a:solidFill>
                      <a:srgbClr val="FF0000"/>
                    </a:solidFill>
                  </a:rPr>
                  <a:t>XNOR operation  </a:t>
                </a:r>
                <a:r>
                  <a:rPr lang="en-US" sz="3600" dirty="0"/>
                  <a:t>because of the following-</a:t>
                </a:r>
              </a:p>
              <a:p>
                <a:pPr algn="ct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𝐴</m:t>
                          </m:r>
                        </m:e>
                        <m:sub>
                          <m:r>
                            <a:rPr lang="en-US" sz="3600" b="0" i="1" smtClean="0">
                              <a:latin typeface="Cambria Math" panose="02040503050406030204" pitchFamily="18" charset="0"/>
                            </a:rPr>
                            <m:t>𝑖</m:t>
                          </m:r>
                        </m:sub>
                      </m:sSub>
                      <m:r>
                        <a:rPr lang="en-US" sz="3600" i="1" smtClean="0">
                          <a:latin typeface="Cambria Math" panose="02040503050406030204" pitchFamily="18" charset="0"/>
                          <a:ea typeface="Cambria Math" panose="02040503050406030204" pitchFamily="18" charset="0"/>
                        </a:rPr>
                        <m:t>⨁</m:t>
                      </m:r>
                      <m:sSubSup>
                        <m:sSubSupPr>
                          <m:ctrlPr>
                            <a:rPr lang="en-US" sz="3600" i="1" smtClean="0">
                              <a:latin typeface="Cambria Math" panose="02040503050406030204" pitchFamily="18" charset="0"/>
                              <a:ea typeface="Cambria Math" panose="02040503050406030204" pitchFamily="18" charset="0"/>
                            </a:rPr>
                          </m:ctrlPr>
                        </m:sSubSupPr>
                        <m:e>
                          <m:r>
                            <a:rPr lang="en-US" sz="3600" b="0" i="1" smtClean="0">
                              <a:latin typeface="Cambria Math" panose="02040503050406030204" pitchFamily="18" charset="0"/>
                              <a:ea typeface="Cambria Math" panose="02040503050406030204" pitchFamily="18" charset="0"/>
                            </a:rPr>
                            <m:t>𝐵</m:t>
                          </m:r>
                        </m:e>
                        <m:sub>
                          <m:r>
                            <a:rPr lang="en-US" sz="3600" b="0" i="1" smtClean="0">
                              <a:latin typeface="Cambria Math" panose="02040503050406030204" pitchFamily="18" charset="0"/>
                              <a:ea typeface="Cambria Math" panose="02040503050406030204" pitchFamily="18" charset="0"/>
                            </a:rPr>
                            <m:t>𝑖</m:t>
                          </m:r>
                        </m:sub>
                        <m:sup>
                          <m:r>
                            <a:rPr lang="en-US" sz="3600" b="0" i="1" smtClean="0">
                              <a:latin typeface="Cambria Math" panose="02040503050406030204" pitchFamily="18" charset="0"/>
                              <a:ea typeface="Cambria Math" panose="02040503050406030204" pitchFamily="18" charset="0"/>
                            </a:rPr>
                            <m:t>′</m:t>
                          </m:r>
                        </m:sup>
                      </m:sSubSup>
                      <m:r>
                        <a:rPr lang="en-US" sz="3600" b="0" i="1" smtClean="0">
                          <a:latin typeface="Cambria Math" panose="02040503050406030204" pitchFamily="18" charset="0"/>
                          <a:ea typeface="Cambria Math" panose="02040503050406030204" pitchFamily="18" charset="0"/>
                        </a:rPr>
                        <m:t>=</m:t>
                      </m:r>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𝐴</m:t>
                          </m:r>
                        </m:e>
                        <m:sub>
                          <m:r>
                            <a:rPr lang="en-US" sz="3600" b="0" i="1" smtClean="0">
                              <a:latin typeface="Cambria Math" panose="02040503050406030204" pitchFamily="18" charset="0"/>
                              <a:ea typeface="Cambria Math" panose="02040503050406030204" pitchFamily="18" charset="0"/>
                            </a:rPr>
                            <m:t>𝑖</m:t>
                          </m:r>
                        </m:sub>
                      </m:sSub>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𝐵</m:t>
                          </m:r>
                        </m:e>
                        <m:sub>
                          <m:r>
                            <a:rPr lang="en-US" sz="3600" b="0" i="1" smtClean="0">
                              <a:latin typeface="Cambria Math" panose="02040503050406030204" pitchFamily="18" charset="0"/>
                              <a:ea typeface="Cambria Math" panose="02040503050406030204" pitchFamily="18" charset="0"/>
                            </a:rPr>
                            <m:t>𝑖</m:t>
                          </m:r>
                        </m:sub>
                      </m:sSub>
                      <m:r>
                        <a:rPr lang="en-US" sz="3600" b="0" i="1" smtClean="0">
                          <a:latin typeface="Cambria Math" panose="02040503050406030204" pitchFamily="18" charset="0"/>
                          <a:ea typeface="Cambria Math" panose="02040503050406030204" pitchFamily="18" charset="0"/>
                        </a:rPr>
                        <m:t>+</m:t>
                      </m:r>
                      <m:sSubSup>
                        <m:sSubSupPr>
                          <m:ctrlPr>
                            <a:rPr lang="en-US" sz="3600" b="0" i="1" smtClean="0">
                              <a:latin typeface="Cambria Math" panose="02040503050406030204" pitchFamily="18" charset="0"/>
                              <a:ea typeface="Cambria Math" panose="02040503050406030204" pitchFamily="18" charset="0"/>
                            </a:rPr>
                          </m:ctrlPr>
                        </m:sSubSupPr>
                        <m:e>
                          <m:r>
                            <a:rPr lang="en-US" sz="3600" b="0" i="1" smtClean="0">
                              <a:latin typeface="Cambria Math" panose="02040503050406030204" pitchFamily="18" charset="0"/>
                              <a:ea typeface="Cambria Math" panose="02040503050406030204" pitchFamily="18" charset="0"/>
                            </a:rPr>
                            <m:t>𝐴</m:t>
                          </m:r>
                        </m:e>
                        <m:sub>
                          <m:r>
                            <a:rPr lang="en-US" sz="3600" b="0" i="1" smtClean="0">
                              <a:latin typeface="Cambria Math" panose="02040503050406030204" pitchFamily="18" charset="0"/>
                              <a:ea typeface="Cambria Math" panose="02040503050406030204" pitchFamily="18" charset="0"/>
                            </a:rPr>
                            <m:t>𝑖</m:t>
                          </m:r>
                        </m:sub>
                        <m:sup>
                          <m:r>
                            <a:rPr lang="en-US" sz="3600" b="0" i="1" smtClean="0">
                              <a:latin typeface="Cambria Math" panose="02040503050406030204" pitchFamily="18" charset="0"/>
                              <a:ea typeface="Cambria Math" panose="02040503050406030204" pitchFamily="18" charset="0"/>
                            </a:rPr>
                            <m:t>′</m:t>
                          </m:r>
                        </m:sup>
                      </m:sSubSup>
                      <m:sSubSup>
                        <m:sSubSupPr>
                          <m:ctrlPr>
                            <a:rPr lang="en-US" sz="3600" b="0" i="1" smtClean="0">
                              <a:latin typeface="Cambria Math" panose="02040503050406030204" pitchFamily="18" charset="0"/>
                              <a:ea typeface="Cambria Math" panose="02040503050406030204" pitchFamily="18" charset="0"/>
                            </a:rPr>
                          </m:ctrlPr>
                        </m:sSubSupPr>
                        <m:e>
                          <m:r>
                            <a:rPr lang="en-US" sz="3600" b="0" i="1" smtClean="0">
                              <a:latin typeface="Cambria Math" panose="02040503050406030204" pitchFamily="18" charset="0"/>
                              <a:ea typeface="Cambria Math" panose="02040503050406030204" pitchFamily="18" charset="0"/>
                            </a:rPr>
                            <m:t>𝐵</m:t>
                          </m:r>
                        </m:e>
                        <m:sub>
                          <m:r>
                            <a:rPr lang="en-US" sz="3600" b="0" i="1" smtClean="0">
                              <a:latin typeface="Cambria Math" panose="02040503050406030204" pitchFamily="18" charset="0"/>
                              <a:ea typeface="Cambria Math" panose="02040503050406030204" pitchFamily="18" charset="0"/>
                            </a:rPr>
                            <m:t>𝑖</m:t>
                          </m:r>
                        </m:sub>
                        <m:sup>
                          <m:r>
                            <a:rPr lang="en-US" sz="3600" b="0" i="1" smtClean="0">
                              <a:latin typeface="Cambria Math" panose="02040503050406030204" pitchFamily="18" charset="0"/>
                              <a:ea typeface="Cambria Math" panose="02040503050406030204" pitchFamily="18" charset="0"/>
                            </a:rPr>
                            <m:t>′</m:t>
                          </m:r>
                        </m:sup>
                      </m:sSubSup>
                      <m:r>
                        <a:rPr lang="en-US" sz="3600" b="0" i="1" smtClean="0">
                          <a:latin typeface="Cambria Math" panose="02040503050406030204" pitchFamily="18" charset="0"/>
                          <a:ea typeface="Cambria Math" panose="02040503050406030204" pitchFamily="18" charset="0"/>
                        </a:rPr>
                        <m:t>=</m:t>
                      </m:r>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𝐴</m:t>
                          </m:r>
                        </m:e>
                        <m:sub>
                          <m:r>
                            <a:rPr lang="en-US" sz="3600" b="0" i="1" smtClean="0">
                              <a:latin typeface="Cambria Math" panose="02040503050406030204" pitchFamily="18" charset="0"/>
                              <a:ea typeface="Cambria Math" panose="02040503050406030204" pitchFamily="18" charset="0"/>
                            </a:rPr>
                            <m:t>𝑖</m:t>
                          </m:r>
                        </m:sub>
                      </m:sSub>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𝐵</m:t>
                          </m:r>
                        </m:e>
                        <m:sub>
                          <m:r>
                            <a:rPr lang="en-US" sz="3600" b="0" i="1" smtClean="0">
                              <a:latin typeface="Cambria Math" panose="02040503050406030204" pitchFamily="18" charset="0"/>
                              <a:ea typeface="Cambria Math" panose="02040503050406030204" pitchFamily="18" charset="0"/>
                            </a:rPr>
                            <m:t>𝑖</m:t>
                          </m:r>
                        </m:sub>
                      </m:sSub>
                    </m:oMath>
                  </m:oMathPara>
                </a14:m>
                <a:endParaRPr lang="en-US" sz="3600" dirty="0"/>
              </a:p>
              <a:p>
                <a:pPr algn="just"/>
                <a:endParaRPr lang="en-US" sz="3600" dirty="0"/>
              </a:p>
              <a:p>
                <a:r>
                  <a:rPr lang="en-US" sz="3600" dirty="0"/>
                  <a:t>The last entry in the table is the </a:t>
                </a:r>
                <a:r>
                  <a:rPr lang="en-US" sz="3600" b="1" dirty="0">
                    <a:solidFill>
                      <a:srgbClr val="FF0000"/>
                    </a:solidFill>
                  </a:rPr>
                  <a:t>NOT or complement operation</a:t>
                </a:r>
                <a:r>
                  <a:rPr lang="en-US" sz="3600" dirty="0"/>
                  <a:t> because of the following-</a:t>
                </a:r>
              </a:p>
              <a:p>
                <a:pPr algn="ct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𝐴</m:t>
                          </m:r>
                        </m:e>
                        <m:sub>
                          <m:r>
                            <a:rPr lang="en-US" sz="3600" i="1">
                              <a:latin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1</m:t>
                      </m:r>
                      <m:r>
                        <a:rPr lang="en-US" sz="3600" i="1">
                          <a:latin typeface="Cambria Math" panose="02040503050406030204" pitchFamily="18" charset="0"/>
                          <a:ea typeface="Cambria Math" panose="02040503050406030204" pitchFamily="18" charset="0"/>
                        </a:rPr>
                        <m:t>=</m:t>
                      </m:r>
                      <m:sSub>
                        <m:sSubPr>
                          <m:ctrlPr>
                            <a:rPr lang="en-US" sz="3600" i="1" smtClean="0">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m:rPr>
                          <m:sty m:val="p"/>
                        </m:rPr>
                        <a:rPr lang="en-US" sz="3600" b="0" i="0" smtClean="0">
                          <a:latin typeface="Cambria Math" panose="02040503050406030204" pitchFamily="18" charset="0"/>
                          <a:ea typeface="Cambria Math" panose="02040503050406030204" pitchFamily="18" charset="0"/>
                        </a:rPr>
                        <m:t>AND</m:t>
                      </m:r>
                      <m:r>
                        <a:rPr lang="en-US" sz="3600" b="0" i="1" smtClean="0">
                          <a:latin typeface="Cambria Math" panose="02040503050406030204" pitchFamily="18" charset="0"/>
                          <a:ea typeface="Cambria Math" panose="02040503050406030204" pitchFamily="18" charset="0"/>
                        </a:rPr>
                        <m:t>0</m:t>
                      </m:r>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m:rPr>
                          <m:sty m:val="p"/>
                        </m:rPr>
                        <a:rPr lang="en-US" sz="3600" b="0" i="0" smtClean="0">
                          <a:latin typeface="Cambria Math" panose="02040503050406030204" pitchFamily="18" charset="0"/>
                          <a:ea typeface="Cambria Math" panose="02040503050406030204" pitchFamily="18" charset="0"/>
                        </a:rPr>
                        <m:t>AND</m:t>
                      </m:r>
                      <m:r>
                        <a:rPr lang="en-US" sz="3600" b="0" i="1" smtClean="0">
                          <a:latin typeface="Cambria Math" panose="02040503050406030204" pitchFamily="18" charset="0"/>
                          <a:ea typeface="Cambria Math" panose="02040503050406030204" pitchFamily="18" charset="0"/>
                        </a:rPr>
                        <m:t>1</m:t>
                      </m:r>
                      <m:r>
                        <a:rPr lang="en-US" sz="3600" i="1">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0</m:t>
                      </m:r>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m:oMathPara>
                </a14:m>
                <a:endParaRPr lang="en-US" sz="3600" dirty="0"/>
              </a:p>
            </p:txBody>
          </p:sp>
        </mc:Choice>
        <mc:Fallback xmlns="">
          <p:sp>
            <p:nvSpPr>
              <p:cNvPr id="8" name="TextBox 7"/>
              <p:cNvSpPr txBox="1">
                <a:spLocks noRot="1" noChangeAspect="1" noMove="1" noResize="1" noEditPoints="1" noAdjustHandles="1" noChangeArrowheads="1" noChangeShapeType="1" noTextEdit="1"/>
              </p:cNvSpPr>
              <p:nvPr/>
            </p:nvSpPr>
            <p:spPr>
              <a:xfrm>
                <a:off x="232756" y="1496285"/>
                <a:ext cx="16010314" cy="6333593"/>
              </a:xfrm>
              <a:prstGeom prst="rect">
                <a:avLst/>
              </a:prstGeom>
              <a:blipFill>
                <a:blip r:embed="rId2"/>
                <a:stretch>
                  <a:fillRect l="-1142" t="-1444" r="-1713"/>
                </a:stretch>
              </a:blipFill>
            </p:spPr>
            <p:txBody>
              <a:bodyPr/>
              <a:lstStyle/>
              <a:p>
                <a:r>
                  <a:rPr lang="en-US">
                    <a:noFill/>
                  </a:rPr>
                  <a:t> </a:t>
                </a:r>
              </a:p>
            </p:txBody>
          </p:sp>
        </mc:Fallback>
      </mc:AlternateContent>
      <p:sp>
        <p:nvSpPr>
          <p:cNvPr id="9" name="Title 1">
            <a:extLst>
              <a:ext uri="{FF2B5EF4-FFF2-40B4-BE49-F238E27FC236}">
                <a16:creationId xmlns:a16="http://schemas.microsoft.com/office/drawing/2014/main" id="{629A8BB8-CCAD-4BB1-8B21-CA2876DE0E98}"/>
              </a:ext>
            </a:extLst>
          </p:cNvPr>
          <p:cNvSpPr>
            <a:spLocks noGrp="1"/>
          </p:cNvSpPr>
          <p:nvPr>
            <p:ph type="title"/>
          </p:nvPr>
        </p:nvSpPr>
        <p:spPr>
          <a:xfrm>
            <a:off x="116381" y="615139"/>
            <a:ext cx="16226444" cy="748148"/>
          </a:xfrm>
        </p:spPr>
        <p:txBody>
          <a:bodyPr lIns="0" rIns="0">
            <a:noAutofit/>
          </a:bodyPr>
          <a:lstStyle/>
          <a:p>
            <a:r>
              <a:rPr lang="en-US" sz="4600" b="1" dirty="0">
                <a:solidFill>
                  <a:srgbClr val="0070C0"/>
                </a:solidFill>
              </a:rPr>
              <a:t>Problems of combining the Arithmetic and Logic Circuits in one stage</a:t>
            </a:r>
          </a:p>
        </p:txBody>
      </p:sp>
    </p:spTree>
    <p:extLst>
      <p:ext uri="{BB962C8B-B14F-4D97-AF65-F5344CB8AC3E}">
        <p14:creationId xmlns:p14="http://schemas.microsoft.com/office/powerpoint/2010/main" val="2460155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636CE-150E-4609-8237-19DDA0473EDD}"/>
              </a:ext>
            </a:extLst>
          </p:cNvPr>
          <p:cNvSpPr>
            <a:spLocks noGrp="1"/>
          </p:cNvSpPr>
          <p:nvPr>
            <p:ph type="title"/>
          </p:nvPr>
        </p:nvSpPr>
        <p:spPr>
          <a:xfrm>
            <a:off x="631767" y="438150"/>
            <a:ext cx="13907193" cy="1180411"/>
          </a:xfrm>
        </p:spPr>
        <p:txBody>
          <a:bodyPr>
            <a:normAutofit/>
          </a:bodyPr>
          <a:lstStyle/>
          <a:p>
            <a:r>
              <a:rPr lang="en-US" sz="6000" b="1" dirty="0">
                <a:solidFill>
                  <a:srgbClr val="0070C0"/>
                </a:solidFill>
              </a:rPr>
              <a:t>Design of Arithmetic Logic Unit</a:t>
            </a:r>
          </a:p>
        </p:txBody>
      </p:sp>
      <p:sp>
        <p:nvSpPr>
          <p:cNvPr id="3" name="Rectangle 2"/>
          <p:cNvSpPr/>
          <p:nvPr/>
        </p:nvSpPr>
        <p:spPr>
          <a:xfrm>
            <a:off x="315885" y="1618561"/>
            <a:ext cx="16010312" cy="5351593"/>
          </a:xfrm>
          <a:prstGeom prst="rect">
            <a:avLst/>
          </a:prstGeom>
        </p:spPr>
        <p:txBody>
          <a:bodyPr wrap="square">
            <a:spAutoFit/>
          </a:bodyPr>
          <a:lstStyle/>
          <a:p>
            <a:pPr>
              <a:lnSpc>
                <a:spcPct val="120000"/>
              </a:lnSpc>
            </a:pPr>
            <a:r>
              <a:rPr lang="en-US" sz="4800" dirty="0"/>
              <a:t>The design steps of an ALU are as follows:</a:t>
            </a:r>
          </a:p>
          <a:p>
            <a:pPr marL="411480" indent="-411480">
              <a:lnSpc>
                <a:spcPct val="120000"/>
              </a:lnSpc>
              <a:buFont typeface="+mj-lt"/>
              <a:buAutoNum type="arabicPeriod"/>
            </a:pPr>
            <a:r>
              <a:rPr lang="en-US" sz="4800" dirty="0"/>
              <a:t>Design an arithmetic section independent of the logic section</a:t>
            </a:r>
          </a:p>
          <a:p>
            <a:pPr marL="411480" indent="-411480">
              <a:lnSpc>
                <a:spcPct val="120000"/>
              </a:lnSpc>
              <a:buFont typeface="+mj-lt"/>
              <a:buAutoNum type="arabicPeriod"/>
            </a:pPr>
            <a:r>
              <a:rPr lang="en-US" sz="4800" dirty="0"/>
              <a:t>Determine the logic operations obtained from the arithmetic circuit in step 1, assuming the input carries of all stages are 0.</a:t>
            </a:r>
          </a:p>
          <a:p>
            <a:pPr marL="411480" indent="-411480">
              <a:lnSpc>
                <a:spcPct val="120000"/>
              </a:lnSpc>
              <a:buFont typeface="+mj-lt"/>
              <a:buAutoNum type="arabicPeriod"/>
            </a:pPr>
            <a:r>
              <a:rPr lang="en-US" sz="4800" dirty="0"/>
              <a:t>Modify the arithmetic circuit to obtain the required logic operation</a:t>
            </a:r>
          </a:p>
        </p:txBody>
      </p:sp>
      <p:sp>
        <p:nvSpPr>
          <p:cNvPr id="4" name="Date Placeholder 3"/>
          <p:cNvSpPr>
            <a:spLocks noGrp="1"/>
          </p:cNvSpPr>
          <p:nvPr>
            <p:ph type="dt" sz="half" idx="10"/>
          </p:nvPr>
        </p:nvSpPr>
        <p:spPr/>
        <p:txBody>
          <a:bodyPr/>
          <a:lstStyle/>
          <a:p>
            <a:fld id="{FE6C248A-DF4B-4D34-8B88-9AE0EAA1B084}" type="datetime3">
              <a:rPr lang="en-US" smtClean="0"/>
              <a:t>24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27</a:t>
            </a:fld>
            <a:endParaRPr lang="en-US" dirty="0"/>
          </a:p>
        </p:txBody>
      </p:sp>
    </p:spTree>
    <p:extLst>
      <p:ext uri="{BB962C8B-B14F-4D97-AF65-F5344CB8AC3E}">
        <p14:creationId xmlns:p14="http://schemas.microsoft.com/office/powerpoint/2010/main" val="28944905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B13EE-9066-4270-BF91-8769F7E74896}"/>
              </a:ext>
            </a:extLst>
          </p:cNvPr>
          <p:cNvSpPr>
            <a:spLocks noGrp="1"/>
          </p:cNvSpPr>
          <p:nvPr>
            <p:ph type="title"/>
          </p:nvPr>
        </p:nvSpPr>
        <p:spPr>
          <a:xfrm>
            <a:off x="1720738" y="83128"/>
            <a:ext cx="12618720" cy="731521"/>
          </a:xfrm>
        </p:spPr>
        <p:txBody>
          <a:bodyPr>
            <a:noAutofit/>
          </a:bodyPr>
          <a:lstStyle/>
          <a:p>
            <a:r>
              <a:rPr lang="en-US" sz="4800" b="1" dirty="0">
                <a:solidFill>
                  <a:srgbClr val="0070C0"/>
                </a:solidFill>
              </a:rPr>
              <a:t>Logic Diagram of an Arithmetic Circuit</a:t>
            </a:r>
          </a:p>
        </p:txBody>
      </p:sp>
      <p:pic>
        <p:nvPicPr>
          <p:cNvPr id="5" name="Content Placeholder 3">
            <a:extLst>
              <a:ext uri="{FF2B5EF4-FFF2-40B4-BE49-F238E27FC236}">
                <a16:creationId xmlns:a16="http://schemas.microsoft.com/office/drawing/2014/main" id="{27E109C2-2C1B-4DE7-9CB1-E7209FCC520C}"/>
              </a:ext>
            </a:extLst>
          </p:cNvPr>
          <p:cNvPicPr>
            <a:picLocks noChangeAspect="1"/>
          </p:cNvPicPr>
          <p:nvPr/>
        </p:nvPicPr>
        <p:blipFill rotWithShape="1">
          <a:blip r:embed="rId3">
            <a:duotone>
              <a:prstClr val="black"/>
              <a:schemeClr val="accent6">
                <a:tint val="45000"/>
                <a:satMod val="400000"/>
              </a:schemeClr>
            </a:duotone>
          </a:blip>
          <a:srcRect l="3516" t="3434" r="3180" b="4367"/>
          <a:stretch/>
        </p:blipFill>
        <p:spPr>
          <a:xfrm>
            <a:off x="9543009" y="3371742"/>
            <a:ext cx="6783777" cy="3029057"/>
          </a:xfrm>
          <a:prstGeom prst="rect">
            <a:avLst/>
          </a:prstGeom>
        </p:spPr>
      </p:pic>
      <p:sp>
        <p:nvSpPr>
          <p:cNvPr id="6" name="TextBox 5">
            <a:extLst>
              <a:ext uri="{FF2B5EF4-FFF2-40B4-BE49-F238E27FC236}">
                <a16:creationId xmlns:a16="http://schemas.microsoft.com/office/drawing/2014/main" id="{AF296420-6C5C-4640-9738-9991B81D0F21}"/>
              </a:ext>
            </a:extLst>
          </p:cNvPr>
          <p:cNvSpPr txBox="1"/>
          <p:nvPr/>
        </p:nvSpPr>
        <p:spPr>
          <a:xfrm>
            <a:off x="11728519" y="2765970"/>
            <a:ext cx="2104743" cy="707886"/>
          </a:xfrm>
          <a:prstGeom prst="rect">
            <a:avLst/>
          </a:prstGeom>
          <a:noFill/>
        </p:spPr>
        <p:txBody>
          <a:bodyPr wrap="none" rtlCol="0">
            <a:spAutoFit/>
          </a:bodyPr>
          <a:lstStyle/>
          <a:p>
            <a:r>
              <a:rPr lang="en-US" sz="4000" b="1" dirty="0">
                <a:solidFill>
                  <a:srgbClr val="FF0000"/>
                </a:solidFill>
              </a:rPr>
              <a:t>Table 9-3</a:t>
            </a:r>
          </a:p>
        </p:txBody>
      </p:sp>
      <p:sp>
        <p:nvSpPr>
          <p:cNvPr id="7" name="TextBox 6"/>
          <p:cNvSpPr txBox="1"/>
          <p:nvPr/>
        </p:nvSpPr>
        <p:spPr>
          <a:xfrm>
            <a:off x="14842585" y="4639787"/>
            <a:ext cx="598517" cy="683264"/>
          </a:xfrm>
          <a:prstGeom prst="rect">
            <a:avLst/>
          </a:prstGeom>
          <a:noFill/>
        </p:spPr>
        <p:txBody>
          <a:bodyPr wrap="square" rtlCol="0">
            <a:spAutoFit/>
          </a:bodyPr>
          <a:lstStyle/>
          <a:p>
            <a:r>
              <a:rPr lang="en-US" sz="3840" b="1" dirty="0">
                <a:solidFill>
                  <a:srgbClr val="FF0000"/>
                </a:solidFill>
                <a:latin typeface="Times New Roman" panose="02020603050405020304" pitchFamily="18" charset="0"/>
                <a:cs typeface="Times New Roman" panose="02020603050405020304" pitchFamily="18" charset="0"/>
              </a:rPr>
              <a:t>?</a:t>
            </a:r>
          </a:p>
        </p:txBody>
      </p:sp>
      <p:sp>
        <p:nvSpPr>
          <p:cNvPr id="8" name="TextBox 7"/>
          <p:cNvSpPr txBox="1"/>
          <p:nvPr/>
        </p:nvSpPr>
        <p:spPr>
          <a:xfrm>
            <a:off x="14842586" y="5308039"/>
            <a:ext cx="598517" cy="683264"/>
          </a:xfrm>
          <a:prstGeom prst="rect">
            <a:avLst/>
          </a:prstGeom>
          <a:noFill/>
        </p:spPr>
        <p:txBody>
          <a:bodyPr wrap="square" rtlCol="0">
            <a:spAutoFit/>
          </a:bodyPr>
          <a:lstStyle/>
          <a:p>
            <a:r>
              <a:rPr lang="en-US" sz="3840" b="1" dirty="0">
                <a:solidFill>
                  <a:srgbClr val="FF0000"/>
                </a:solidFill>
                <a:latin typeface="Times New Roman" panose="02020603050405020304" pitchFamily="18" charset="0"/>
                <a:cs typeface="Times New Roman" panose="02020603050405020304" pitchFamily="18" charset="0"/>
              </a:rPr>
              <a:t>?</a:t>
            </a:r>
          </a:p>
        </p:txBody>
      </p:sp>
      <p:sp>
        <p:nvSpPr>
          <p:cNvPr id="9" name="Date Placeholder 8"/>
          <p:cNvSpPr>
            <a:spLocks noGrp="1"/>
          </p:cNvSpPr>
          <p:nvPr>
            <p:ph type="dt" sz="half" idx="10"/>
          </p:nvPr>
        </p:nvSpPr>
        <p:spPr/>
        <p:txBody>
          <a:bodyPr/>
          <a:lstStyle/>
          <a:p>
            <a:fld id="{D431759D-C9EE-45D1-B98F-8CA22F1E396B}" type="datetime3">
              <a:rPr lang="en-US" smtClean="0"/>
              <a:t>24 December 2025</a:t>
            </a:fld>
            <a:endParaRPr lang="en-US"/>
          </a:p>
        </p:txBody>
      </p:sp>
      <p:sp>
        <p:nvSpPr>
          <p:cNvPr id="11" name="Slide Number Placeholder 10"/>
          <p:cNvSpPr>
            <a:spLocks noGrp="1"/>
          </p:cNvSpPr>
          <p:nvPr>
            <p:ph type="sldNum" sz="quarter" idx="12"/>
          </p:nvPr>
        </p:nvSpPr>
        <p:spPr/>
        <p:txBody>
          <a:bodyPr/>
          <a:lstStyle/>
          <a:p>
            <a:fld id="{48F63A3B-78C7-47BE-AE5E-E10140E04643}" type="slidenum">
              <a:rPr lang="en-US" smtClean="0"/>
              <a:t>28</a:t>
            </a:fld>
            <a:endParaRPr lang="en-US" dirty="0"/>
          </a:p>
        </p:txBody>
      </p:sp>
      <p:pic>
        <p:nvPicPr>
          <p:cNvPr id="13" name="Picture 12"/>
          <p:cNvPicPr>
            <a:picLocks noChangeAspect="1"/>
          </p:cNvPicPr>
          <p:nvPr/>
        </p:nvPicPr>
        <p:blipFill rotWithShape="1">
          <a:blip r:embed="rId4">
            <a:duotone>
              <a:schemeClr val="accent5">
                <a:shade val="45000"/>
                <a:satMod val="135000"/>
              </a:schemeClr>
              <a:prstClr val="white"/>
            </a:duotone>
          </a:blip>
          <a:srcRect l="2898" t="3228" r="3686" b="4103"/>
          <a:stretch/>
        </p:blipFill>
        <p:spPr>
          <a:xfrm>
            <a:off x="437266" y="769718"/>
            <a:ext cx="7533106" cy="7220481"/>
          </a:xfrm>
          <a:prstGeom prst="rect">
            <a:avLst/>
          </a:prstGeom>
        </p:spPr>
      </p:pic>
      <p:sp>
        <p:nvSpPr>
          <p:cNvPr id="14" name="TextBox 13">
            <a:extLst>
              <a:ext uri="{FF2B5EF4-FFF2-40B4-BE49-F238E27FC236}">
                <a16:creationId xmlns:a16="http://schemas.microsoft.com/office/drawing/2014/main" id="{439EF05C-417F-4D00-BDBC-DC92E2A9570D}"/>
              </a:ext>
            </a:extLst>
          </p:cNvPr>
          <p:cNvSpPr txBox="1"/>
          <p:nvPr/>
        </p:nvSpPr>
        <p:spPr>
          <a:xfrm>
            <a:off x="8304586" y="7466980"/>
            <a:ext cx="7955280" cy="523220"/>
          </a:xfrm>
          <a:prstGeom prst="rect">
            <a:avLst/>
          </a:prstGeom>
          <a:noFill/>
        </p:spPr>
        <p:txBody>
          <a:bodyPr wrap="square" rtlCol="0">
            <a:spAutoFit/>
          </a:bodyPr>
          <a:lstStyle/>
          <a:p>
            <a:pPr algn="r"/>
            <a:r>
              <a:rPr lang="en-US" sz="2800" dirty="0">
                <a:solidFill>
                  <a:srgbClr val="FF0000"/>
                </a:solidFill>
              </a:rPr>
              <a:t>Figure 9-8 Logic Diagram of a 4-bit Arithmetic Circuit</a:t>
            </a:r>
          </a:p>
        </p:txBody>
      </p:sp>
    </p:spTree>
    <p:extLst>
      <p:ext uri="{BB962C8B-B14F-4D97-AF65-F5344CB8AC3E}">
        <p14:creationId xmlns:p14="http://schemas.microsoft.com/office/powerpoint/2010/main" val="3683123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2AD0BB-D8B0-4DB5-89CA-0E593D796B7B}" type="datetime3">
              <a:rPr lang="en-US" smtClean="0"/>
              <a:t>24 December 2025</a:t>
            </a:fld>
            <a:endParaRPr lang="en-US"/>
          </a:p>
        </p:txBody>
      </p:sp>
      <p:sp>
        <p:nvSpPr>
          <p:cNvPr id="4" name="Slide Number Placeholder 3"/>
          <p:cNvSpPr>
            <a:spLocks noGrp="1"/>
          </p:cNvSpPr>
          <p:nvPr>
            <p:ph type="sldNum" sz="quarter" idx="12"/>
          </p:nvPr>
        </p:nvSpPr>
        <p:spPr/>
        <p:txBody>
          <a:bodyPr/>
          <a:lstStyle/>
          <a:p>
            <a:fld id="{48F63A3B-78C7-47BE-AE5E-E10140E04643}" type="slidenum">
              <a:rPr lang="en-US" smtClean="0"/>
              <a:t>29</a:t>
            </a:fld>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232756" y="1097270"/>
                <a:ext cx="16010314" cy="6740307"/>
              </a:xfrm>
              <a:prstGeom prst="rect">
                <a:avLst/>
              </a:prstGeom>
              <a:noFill/>
            </p:spPr>
            <p:txBody>
              <a:bodyPr wrap="square" rtlCol="0">
                <a:spAutoFit/>
              </a:bodyPr>
              <a:lstStyle/>
              <a:p>
                <a:r>
                  <a:rPr lang="en-US" sz="3600" dirty="0"/>
                  <a:t>The solution to the first design step is shown in Fig. 9.8. The solution to the second design step is presented in Table 9.3. The solution of the third step is shown below.</a:t>
                </a:r>
              </a:p>
              <a:p>
                <a:r>
                  <a:rPr lang="en-US" sz="3600" dirty="0"/>
                  <a:t>From Table 9.3, we see that when </a:t>
                </a:r>
                <a:r>
                  <a:rPr lang="en-US" sz="3600" i="1" dirty="0"/>
                  <a:t>s</a:t>
                </a:r>
                <a:r>
                  <a:rPr lang="en-US" sz="3600" baseline="-25000" dirty="0"/>
                  <a:t>2</a:t>
                </a:r>
                <a:r>
                  <a:rPr lang="en-US" sz="3600" dirty="0"/>
                  <a:t> = 1, the input carry </a:t>
                </a:r>
                <a:r>
                  <a:rPr lang="en-US" sz="3600" i="1" dirty="0"/>
                  <a:t>C</a:t>
                </a:r>
                <a:r>
                  <a:rPr lang="en-US" sz="3600" i="1" baseline="-25000" dirty="0"/>
                  <a:t>i</a:t>
                </a:r>
                <a:r>
                  <a:rPr lang="en-US" sz="3600" dirty="0"/>
                  <a:t> in each stage must be 0. When both </a:t>
                </a:r>
                <a:r>
                  <a:rPr lang="en-US" sz="3600" i="1" dirty="0"/>
                  <a:t>s</a:t>
                </a:r>
                <a:r>
                  <a:rPr lang="en-US" sz="3600" baseline="-25000" dirty="0"/>
                  <a:t>1</a:t>
                </a:r>
                <a:r>
                  <a:rPr lang="en-US" sz="3600" dirty="0"/>
                  <a:t> and </a:t>
                </a:r>
                <a:r>
                  <a:rPr lang="en-US" sz="3600" i="1" dirty="0"/>
                  <a:t>s</a:t>
                </a:r>
                <a:r>
                  <a:rPr lang="en-US" sz="3600" baseline="-25000" dirty="0"/>
                  <a:t>0</a:t>
                </a:r>
                <a:r>
                  <a:rPr lang="en-US" sz="3600" dirty="0"/>
                  <a:t> are equal to 0, each stage generates the output function </a:t>
                </a:r>
                <a:r>
                  <a:rPr lang="en-US" sz="3600" i="1" dirty="0"/>
                  <a:t>F</a:t>
                </a:r>
                <a:r>
                  <a:rPr lang="en-US" sz="3600" i="1" baseline="-25000" dirty="0"/>
                  <a:t>i</a:t>
                </a:r>
                <a:r>
                  <a:rPr lang="en-US" sz="3600" dirty="0"/>
                  <a:t> = </a:t>
                </a:r>
                <a:r>
                  <a:rPr lang="en-US" sz="3600" i="1" dirty="0"/>
                  <a:t>A</a:t>
                </a:r>
                <a:r>
                  <a:rPr lang="en-US" sz="3600" i="1" baseline="-25000" dirty="0"/>
                  <a:t>i</a:t>
                </a:r>
                <a:r>
                  <a:rPr lang="en-US" sz="3600" dirty="0"/>
                  <a:t>. To change the output to an OR operation, we must change the input to each full-adder circuit from </a:t>
                </a:r>
                <a:r>
                  <a:rPr lang="en-US" sz="3600" i="1" dirty="0"/>
                  <a:t>A</a:t>
                </a:r>
                <a:r>
                  <a:rPr lang="en-US" sz="3600" i="1" baseline="-25000" dirty="0"/>
                  <a:t>i </a:t>
                </a:r>
                <a:r>
                  <a:rPr lang="en-US" sz="3600" dirty="0"/>
                  <a:t>to </a:t>
                </a:r>
                <a:r>
                  <a:rPr lang="en-US" sz="3600" i="1" dirty="0"/>
                  <a:t>A</a:t>
                </a:r>
                <a:r>
                  <a:rPr lang="en-US" sz="3600" i="1" baseline="-25000" dirty="0"/>
                  <a:t>i</a:t>
                </a:r>
                <a:r>
                  <a:rPr lang="en-US" sz="3600" dirty="0"/>
                  <a:t> + </a:t>
                </a:r>
                <a:r>
                  <a:rPr lang="en-US" sz="3600" i="1" dirty="0"/>
                  <a:t>B</a:t>
                </a:r>
                <a:r>
                  <a:rPr lang="en-US" sz="3600" i="1" baseline="-25000" dirty="0"/>
                  <a:t>i</a:t>
                </a:r>
                <a:r>
                  <a:rPr lang="en-US" sz="3600" dirty="0"/>
                  <a:t>. This can be accomplished by </a:t>
                </a:r>
                <a:r>
                  <a:rPr lang="en-US" sz="3600" dirty="0" err="1"/>
                  <a:t>ORing</a:t>
                </a:r>
                <a:r>
                  <a:rPr lang="en-US" sz="3600" dirty="0"/>
                  <a:t> </a:t>
                </a:r>
                <a:r>
                  <a:rPr lang="en-US" sz="3600" i="1" dirty="0"/>
                  <a:t>A</a:t>
                </a:r>
                <a:r>
                  <a:rPr lang="en-US" sz="3600" i="1" baseline="-25000" dirty="0"/>
                  <a:t>i</a:t>
                </a:r>
                <a:r>
                  <a:rPr lang="en-US" sz="3600" dirty="0"/>
                  <a:t> and </a:t>
                </a:r>
                <a:r>
                  <a:rPr lang="en-US" sz="3600" i="1" dirty="0"/>
                  <a:t>B</a:t>
                </a:r>
                <a:r>
                  <a:rPr lang="en-US" sz="3600" i="1" baseline="-25000" dirty="0"/>
                  <a:t>i</a:t>
                </a:r>
                <a:r>
                  <a:rPr lang="en-US" sz="3600" dirty="0"/>
                  <a:t> when </a:t>
                </a:r>
                <a:r>
                  <a:rPr lang="en-US" sz="3600" i="1" dirty="0"/>
                  <a:t>s</a:t>
                </a:r>
                <a:r>
                  <a:rPr lang="en-US" sz="3600" baseline="-25000" dirty="0"/>
                  <a:t>2</a:t>
                </a:r>
                <a:r>
                  <a:rPr lang="en-US" sz="3600" i="1" dirty="0"/>
                  <a:t>s</a:t>
                </a:r>
                <a:r>
                  <a:rPr lang="en-US" sz="3600" baseline="-25000" dirty="0"/>
                  <a:t>1</a:t>
                </a:r>
                <a:r>
                  <a:rPr lang="en-US" sz="3600" i="1" dirty="0"/>
                  <a:t>s</a:t>
                </a:r>
                <a:r>
                  <a:rPr lang="en-US" sz="3600" baseline="-25000" dirty="0"/>
                  <a:t>0</a:t>
                </a:r>
                <a:r>
                  <a:rPr lang="en-US" sz="3600" dirty="0"/>
                  <a:t> = 100.</a:t>
                </a:r>
              </a:p>
              <a:p>
                <a:r>
                  <a:rPr lang="en-US" sz="3600" dirty="0"/>
                  <a:t>The other selection variable combinations that gives an </a:t>
                </a:r>
                <a:r>
                  <a:rPr lang="en-US" sz="3600" b="1" dirty="0">
                    <a:solidFill>
                      <a:srgbClr val="FF0000"/>
                    </a:solidFill>
                  </a:rPr>
                  <a:t>undesirable output </a:t>
                </a:r>
                <a:r>
                  <a:rPr lang="en-US" sz="3600" dirty="0"/>
                  <a:t>is </a:t>
                </a:r>
                <a:r>
                  <a:rPr lang="en-US" sz="3600" b="1" i="1" dirty="0">
                    <a:solidFill>
                      <a:srgbClr val="FF0000"/>
                    </a:solidFill>
                  </a:rPr>
                  <a:t>s</a:t>
                </a:r>
                <a:r>
                  <a:rPr lang="en-US" sz="3600" b="1" baseline="-25000" dirty="0">
                    <a:solidFill>
                      <a:srgbClr val="FF0000"/>
                    </a:solidFill>
                  </a:rPr>
                  <a:t>2</a:t>
                </a:r>
                <a:r>
                  <a:rPr lang="en-US" sz="3600" b="1" i="1" dirty="0">
                    <a:solidFill>
                      <a:srgbClr val="FF0000"/>
                    </a:solidFill>
                  </a:rPr>
                  <a:t>s</a:t>
                </a:r>
                <a:r>
                  <a:rPr lang="en-US" sz="3600" b="1" baseline="-25000" dirty="0">
                    <a:solidFill>
                      <a:srgbClr val="FF0000"/>
                    </a:solidFill>
                  </a:rPr>
                  <a:t>1</a:t>
                </a:r>
                <a:r>
                  <a:rPr lang="en-US" sz="3600" b="1" i="1" dirty="0">
                    <a:solidFill>
                      <a:srgbClr val="FF0000"/>
                    </a:solidFill>
                  </a:rPr>
                  <a:t>s</a:t>
                </a:r>
                <a:r>
                  <a:rPr lang="en-US" sz="3600" b="1" baseline="-25000" dirty="0">
                    <a:solidFill>
                      <a:srgbClr val="FF0000"/>
                    </a:solidFill>
                  </a:rPr>
                  <a:t>0</a:t>
                </a:r>
                <a:r>
                  <a:rPr lang="en-US" sz="3600" b="1" dirty="0">
                    <a:solidFill>
                      <a:srgbClr val="FF0000"/>
                    </a:solidFill>
                  </a:rPr>
                  <a:t> = 110</a:t>
                </a:r>
                <a:r>
                  <a:rPr lang="en-US" sz="3600" dirty="0"/>
                  <a:t>. The present unit generates the output, </a:t>
                </a:r>
                <a14:m>
                  <m:oMath xmlns:m="http://schemas.openxmlformats.org/officeDocument/2006/math">
                    <m:sSub>
                      <m:sSubPr>
                        <m:ctrlPr>
                          <a:rPr lang="en-US" sz="3600" i="1">
                            <a:latin typeface="Cambria Math" panose="02040503050406030204" pitchFamily="18" charset="0"/>
                          </a:rPr>
                        </m:ctrlPr>
                      </m:sSubPr>
                      <m:e>
                        <m:r>
                          <a:rPr lang="en-US" sz="3600" b="0" i="1" smtClean="0">
                            <a:latin typeface="Cambria Math" panose="02040503050406030204" pitchFamily="18" charset="0"/>
                          </a:rPr>
                          <m:t>𝐹</m:t>
                        </m:r>
                      </m:e>
                      <m:sub>
                        <m:r>
                          <a:rPr lang="en-US" sz="3600" i="1">
                            <a:latin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m:t>
                        </m:r>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oMath>
                </a14:m>
                <a:r>
                  <a:rPr lang="en-US" sz="3600" dirty="0"/>
                  <a:t> as discussed in the previous slide. However, </a:t>
                </a:r>
                <a:r>
                  <a:rPr lang="en-US" sz="3600" dirty="0">
                    <a:solidFill>
                      <a:srgbClr val="FF0000"/>
                    </a:solidFill>
                  </a:rPr>
                  <a:t>we want to generate the AND operation (i.e., </a:t>
                </a:r>
                <a14:m>
                  <m:oMath xmlns:m="http://schemas.openxmlformats.org/officeDocument/2006/math">
                    <m:sSub>
                      <m:sSubPr>
                        <m:ctrlPr>
                          <a:rPr lang="en-US" sz="3600" i="1">
                            <a:solidFill>
                              <a:srgbClr val="FF0000"/>
                            </a:solidFill>
                            <a:latin typeface="Cambria Math" panose="02040503050406030204" pitchFamily="18" charset="0"/>
                          </a:rPr>
                        </m:ctrlPr>
                      </m:sSubPr>
                      <m:e>
                        <m:r>
                          <a:rPr lang="en-US" sz="3600" i="1">
                            <a:solidFill>
                              <a:srgbClr val="FF0000"/>
                            </a:solidFill>
                            <a:latin typeface="Cambria Math" panose="02040503050406030204" pitchFamily="18" charset="0"/>
                          </a:rPr>
                          <m:t>𝐹</m:t>
                        </m:r>
                      </m:e>
                      <m:sub>
                        <m:r>
                          <a:rPr lang="en-US" sz="3600" i="1">
                            <a:solidFill>
                              <a:srgbClr val="FF0000"/>
                            </a:solidFill>
                            <a:latin typeface="Cambria Math" panose="02040503050406030204" pitchFamily="18" charset="0"/>
                          </a:rPr>
                          <m:t>𝑖</m:t>
                        </m:r>
                      </m:sub>
                    </m:sSub>
                    <m:r>
                      <a:rPr lang="en-US" sz="3600" i="1">
                        <a:solidFill>
                          <a:srgbClr val="FF0000"/>
                        </a:solidFill>
                        <a:latin typeface="Cambria Math" panose="02040503050406030204" pitchFamily="18" charset="0"/>
                        <a:ea typeface="Cambria Math" panose="02040503050406030204" pitchFamily="18" charset="0"/>
                      </a:rPr>
                      <m:t>=</m:t>
                    </m:r>
                    <m:sSub>
                      <m:sSubPr>
                        <m:ctrlPr>
                          <a:rPr lang="en-US" sz="3600" i="1">
                            <a:solidFill>
                              <a:srgbClr val="FF0000"/>
                            </a:solidFill>
                            <a:latin typeface="Cambria Math" panose="02040503050406030204" pitchFamily="18" charset="0"/>
                            <a:ea typeface="Cambria Math" panose="02040503050406030204" pitchFamily="18" charset="0"/>
                          </a:rPr>
                        </m:ctrlPr>
                      </m:sSubPr>
                      <m:e>
                        <m:r>
                          <a:rPr lang="en-US" sz="3600" i="1">
                            <a:solidFill>
                              <a:srgbClr val="FF0000"/>
                            </a:solidFill>
                            <a:latin typeface="Cambria Math" panose="02040503050406030204" pitchFamily="18" charset="0"/>
                            <a:ea typeface="Cambria Math" panose="02040503050406030204" pitchFamily="18" charset="0"/>
                          </a:rPr>
                          <m:t>𝐴</m:t>
                        </m:r>
                      </m:e>
                      <m:sub>
                        <m:r>
                          <a:rPr lang="en-US" sz="3600" i="1">
                            <a:solidFill>
                              <a:srgbClr val="FF0000"/>
                            </a:solidFill>
                            <a:latin typeface="Cambria Math" panose="02040503050406030204" pitchFamily="18" charset="0"/>
                            <a:ea typeface="Cambria Math" panose="02040503050406030204" pitchFamily="18" charset="0"/>
                          </a:rPr>
                          <m:t>𝑖</m:t>
                        </m:r>
                      </m:sub>
                    </m:sSub>
                    <m:sSub>
                      <m:sSubPr>
                        <m:ctrlPr>
                          <a:rPr lang="en-US" sz="3600" i="1" smtClean="0">
                            <a:solidFill>
                              <a:srgbClr val="FF0000"/>
                            </a:solidFill>
                            <a:latin typeface="Cambria Math" panose="02040503050406030204" pitchFamily="18" charset="0"/>
                            <a:ea typeface="Cambria Math" panose="02040503050406030204" pitchFamily="18" charset="0"/>
                          </a:rPr>
                        </m:ctrlPr>
                      </m:sSubPr>
                      <m:e>
                        <m:r>
                          <a:rPr lang="en-US" sz="3600" i="1">
                            <a:solidFill>
                              <a:srgbClr val="FF0000"/>
                            </a:solidFill>
                            <a:latin typeface="Cambria Math" panose="02040503050406030204" pitchFamily="18" charset="0"/>
                            <a:ea typeface="Cambria Math" panose="02040503050406030204" pitchFamily="18" charset="0"/>
                          </a:rPr>
                          <m:t>𝐵</m:t>
                        </m:r>
                      </m:e>
                      <m:sub>
                        <m:r>
                          <a:rPr lang="en-US" sz="3600" i="1">
                            <a:solidFill>
                              <a:srgbClr val="FF0000"/>
                            </a:solidFill>
                            <a:latin typeface="Cambria Math" panose="02040503050406030204" pitchFamily="18" charset="0"/>
                            <a:ea typeface="Cambria Math" panose="02040503050406030204" pitchFamily="18" charset="0"/>
                          </a:rPr>
                          <m:t>𝑖</m:t>
                        </m:r>
                      </m:sub>
                    </m:sSub>
                  </m:oMath>
                </a14:m>
                <a:r>
                  <a:rPr lang="en-US" sz="3600" dirty="0">
                    <a:solidFill>
                      <a:srgbClr val="FF0000"/>
                    </a:solidFill>
                  </a:rPr>
                  <a:t>) </a:t>
                </a:r>
                <a:r>
                  <a:rPr lang="en-US" sz="3600" dirty="0"/>
                  <a:t>for this combination. For this purpose, let us investigate the possibility of </a:t>
                </a:r>
                <a:r>
                  <a:rPr lang="en-US" sz="3600" dirty="0" err="1">
                    <a:solidFill>
                      <a:srgbClr val="FF0000"/>
                    </a:solidFill>
                  </a:rPr>
                  <a:t>ORing</a:t>
                </a:r>
                <a:r>
                  <a:rPr lang="en-US" sz="3600" dirty="0">
                    <a:solidFill>
                      <a:srgbClr val="FF0000"/>
                    </a:solidFill>
                  </a:rPr>
                  <a:t> each input </a:t>
                </a:r>
                <a:r>
                  <a:rPr lang="en-US" sz="3600" i="1" dirty="0">
                    <a:solidFill>
                      <a:srgbClr val="FF0000"/>
                    </a:solidFill>
                  </a:rPr>
                  <a:t>A</a:t>
                </a:r>
                <a:r>
                  <a:rPr lang="en-US" sz="3600" i="1" baseline="-25000" dirty="0">
                    <a:solidFill>
                      <a:srgbClr val="FF0000"/>
                    </a:solidFill>
                  </a:rPr>
                  <a:t>i</a:t>
                </a:r>
                <a:r>
                  <a:rPr lang="en-US" sz="3600" dirty="0">
                    <a:solidFill>
                      <a:srgbClr val="FF0000"/>
                    </a:solidFill>
                  </a:rPr>
                  <a:t> with a Boolean variable </a:t>
                </a:r>
                <a:r>
                  <a:rPr lang="en-US" sz="3600" i="1" dirty="0">
                    <a:solidFill>
                      <a:srgbClr val="FF0000"/>
                    </a:solidFill>
                  </a:rPr>
                  <a:t>K</a:t>
                </a:r>
                <a:r>
                  <a:rPr lang="en-US" sz="3600" i="1" baseline="-25000" dirty="0">
                    <a:solidFill>
                      <a:srgbClr val="FF0000"/>
                    </a:solidFill>
                  </a:rPr>
                  <a:t>i</a:t>
                </a:r>
                <a:r>
                  <a:rPr lang="en-US" sz="3600" dirty="0"/>
                  <a:t>. The function so obtained is used for </a:t>
                </a:r>
                <a:r>
                  <a:rPr lang="en-US" sz="3600" i="1" dirty="0"/>
                  <a:t>X</a:t>
                </a:r>
                <a:r>
                  <a:rPr lang="en-US" sz="3600" i="1" baseline="-25000" dirty="0"/>
                  <a:t>i</a:t>
                </a:r>
                <a:r>
                  <a:rPr lang="en-US" sz="3600" dirty="0"/>
                  <a:t> when </a:t>
                </a:r>
                <a:r>
                  <a:rPr lang="en-US" sz="3600" i="1" dirty="0">
                    <a:solidFill>
                      <a:srgbClr val="FF0000"/>
                    </a:solidFill>
                  </a:rPr>
                  <a:t>s</a:t>
                </a:r>
                <a:r>
                  <a:rPr lang="en-US" sz="3600" baseline="-25000" dirty="0">
                    <a:solidFill>
                      <a:srgbClr val="FF0000"/>
                    </a:solidFill>
                  </a:rPr>
                  <a:t>2</a:t>
                </a:r>
                <a:r>
                  <a:rPr lang="en-US" sz="3600" i="1" dirty="0">
                    <a:solidFill>
                      <a:srgbClr val="FF0000"/>
                    </a:solidFill>
                  </a:rPr>
                  <a:t>s</a:t>
                </a:r>
                <a:r>
                  <a:rPr lang="en-US" sz="3600" baseline="-25000" dirty="0">
                    <a:solidFill>
                      <a:srgbClr val="FF0000"/>
                    </a:solidFill>
                  </a:rPr>
                  <a:t>1</a:t>
                </a:r>
                <a:r>
                  <a:rPr lang="en-US" sz="3600" i="1" dirty="0">
                    <a:solidFill>
                      <a:srgbClr val="FF0000"/>
                    </a:solidFill>
                  </a:rPr>
                  <a:t>s</a:t>
                </a:r>
                <a:r>
                  <a:rPr lang="en-US" sz="3600" baseline="-25000" dirty="0">
                    <a:solidFill>
                      <a:srgbClr val="FF0000"/>
                    </a:solidFill>
                  </a:rPr>
                  <a:t>0</a:t>
                </a:r>
                <a:r>
                  <a:rPr lang="en-US" sz="3600" dirty="0">
                    <a:solidFill>
                      <a:srgbClr val="FF0000"/>
                    </a:solidFill>
                  </a:rPr>
                  <a:t> = 110</a:t>
                </a:r>
                <a:r>
                  <a:rPr lang="en-US" sz="36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232756" y="1097270"/>
                <a:ext cx="16010314" cy="6740307"/>
              </a:xfrm>
              <a:prstGeom prst="rect">
                <a:avLst/>
              </a:prstGeom>
              <a:blipFill>
                <a:blip r:embed="rId2"/>
                <a:stretch>
                  <a:fillRect l="-1142" t="-1447" r="-1599" b="-2441"/>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66DB13EE-9066-4270-BF91-8769F7E74896}"/>
              </a:ext>
            </a:extLst>
          </p:cNvPr>
          <p:cNvSpPr>
            <a:spLocks noGrp="1"/>
          </p:cNvSpPr>
          <p:nvPr>
            <p:ph type="title"/>
          </p:nvPr>
        </p:nvSpPr>
        <p:spPr>
          <a:xfrm>
            <a:off x="1410734" y="289354"/>
            <a:ext cx="12618720" cy="857782"/>
          </a:xfrm>
        </p:spPr>
        <p:txBody>
          <a:bodyPr>
            <a:normAutofit/>
          </a:bodyPr>
          <a:lstStyle/>
          <a:p>
            <a:r>
              <a:rPr lang="en-US" sz="4800" b="1" dirty="0">
                <a:solidFill>
                  <a:srgbClr val="0070C0"/>
                </a:solidFill>
              </a:rPr>
              <a:t>Converting an Arithmetic Circuit to Logic Circuit</a:t>
            </a:r>
          </a:p>
        </p:txBody>
      </p:sp>
    </p:spTree>
    <p:extLst>
      <p:ext uri="{BB962C8B-B14F-4D97-AF65-F5344CB8AC3E}">
        <p14:creationId xmlns:p14="http://schemas.microsoft.com/office/powerpoint/2010/main" val="3978073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E89B80-07A6-44AD-806D-75FC4CC05111}" type="datetime3">
              <a:rPr lang="en-US" smtClean="0"/>
              <a:t>24 December 2025</a:t>
            </a:fld>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t>30</a:t>
            </a:fld>
            <a:endParaRPr lang="en-US" dirty="0"/>
          </a:p>
        </p:txBody>
      </p:sp>
      <p:sp>
        <p:nvSpPr>
          <p:cNvPr id="6" name="Title 1">
            <a:extLst>
              <a:ext uri="{FF2B5EF4-FFF2-40B4-BE49-F238E27FC236}">
                <a16:creationId xmlns:a16="http://schemas.microsoft.com/office/drawing/2014/main" id="{66DB13EE-9066-4270-BF91-8769F7E74896}"/>
              </a:ext>
            </a:extLst>
          </p:cNvPr>
          <p:cNvSpPr>
            <a:spLocks noGrp="1"/>
          </p:cNvSpPr>
          <p:nvPr>
            <p:ph type="title"/>
          </p:nvPr>
        </p:nvSpPr>
        <p:spPr>
          <a:xfrm>
            <a:off x="1072342" y="305995"/>
            <a:ext cx="12618720" cy="857782"/>
          </a:xfrm>
        </p:spPr>
        <p:txBody>
          <a:bodyPr>
            <a:normAutofit/>
          </a:bodyPr>
          <a:lstStyle/>
          <a:p>
            <a:r>
              <a:rPr lang="en-US" sz="4800" b="1" dirty="0">
                <a:solidFill>
                  <a:srgbClr val="0070C0"/>
                </a:solidFill>
              </a:rPr>
              <a:t>Converting an Arithmetic Circuit to Logic Circuit</a:t>
            </a:r>
          </a:p>
        </p:txBody>
      </p:sp>
      <mc:AlternateContent xmlns:mc="http://schemas.openxmlformats.org/markup-compatibility/2006" xmlns:a14="http://schemas.microsoft.com/office/drawing/2010/main">
        <mc:Choice Requires="a14">
          <p:sp>
            <p:nvSpPr>
              <p:cNvPr id="7" name="TextBox 6"/>
              <p:cNvSpPr txBox="1"/>
              <p:nvPr/>
            </p:nvSpPr>
            <p:spPr>
              <a:xfrm>
                <a:off x="232756" y="982801"/>
                <a:ext cx="16010314" cy="6743384"/>
              </a:xfrm>
              <a:prstGeom prst="rect">
                <a:avLst/>
              </a:prstGeom>
              <a:noFill/>
            </p:spPr>
            <p:txBody>
              <a:bodyPr wrap="square" rtlCol="0">
                <a:spAutoFit/>
              </a:bodyPr>
              <a:lstStyle/>
              <a:p>
                <a:r>
                  <a:rPr lang="en-US" sz="3600" dirty="0"/>
                  <a:t>If the value of </a:t>
                </a:r>
                <a:r>
                  <a:rPr lang="en-US" sz="3600" b="1" i="1" dirty="0">
                    <a:solidFill>
                      <a:srgbClr val="FF0000"/>
                    </a:solidFill>
                  </a:rPr>
                  <a:t>K</a:t>
                </a:r>
                <a:r>
                  <a:rPr lang="en-US" sz="3600" b="1" i="1" baseline="-25000" dirty="0">
                    <a:solidFill>
                      <a:srgbClr val="FF0000"/>
                    </a:solidFill>
                  </a:rPr>
                  <a:t>i</a:t>
                </a:r>
                <a:r>
                  <a:rPr lang="en-US" sz="3600" b="1" dirty="0">
                    <a:solidFill>
                      <a:srgbClr val="FF0000"/>
                    </a:solidFill>
                  </a:rPr>
                  <a:t> is </a:t>
                </a:r>
                <a:r>
                  <a:rPr lang="en-US" sz="3600" b="1" dirty="0" err="1">
                    <a:solidFill>
                      <a:srgbClr val="FF0000"/>
                    </a:solidFill>
                  </a:rPr>
                  <a:t>ORed</a:t>
                </a:r>
                <a:r>
                  <a:rPr lang="en-US" sz="3600" b="1" dirty="0">
                    <a:solidFill>
                      <a:srgbClr val="FF0000"/>
                    </a:solidFill>
                  </a:rPr>
                  <a:t> with input </a:t>
                </a:r>
                <a:r>
                  <a:rPr lang="en-US" sz="3600" b="1" i="1" dirty="0">
                    <a:solidFill>
                      <a:srgbClr val="FF0000"/>
                    </a:solidFill>
                  </a:rPr>
                  <a:t>A</a:t>
                </a:r>
                <a:r>
                  <a:rPr lang="en-US" sz="3600" b="1" i="1" baseline="-25000" dirty="0">
                    <a:solidFill>
                      <a:srgbClr val="FF0000"/>
                    </a:solidFill>
                  </a:rPr>
                  <a:t>i</a:t>
                </a:r>
                <a:r>
                  <a:rPr lang="en-US" sz="3600" b="1" dirty="0">
                    <a:solidFill>
                      <a:srgbClr val="FF0000"/>
                    </a:solidFill>
                  </a:rPr>
                  <a:t> </a:t>
                </a:r>
                <a:r>
                  <a:rPr lang="en-US" sz="3600" dirty="0"/>
                  <a:t>then we obtain (remember, when </a:t>
                </a:r>
                <a:r>
                  <a:rPr lang="en-US" sz="3600" i="1" dirty="0">
                    <a:solidFill>
                      <a:srgbClr val="FF0000"/>
                    </a:solidFill>
                  </a:rPr>
                  <a:t>s</a:t>
                </a:r>
                <a:r>
                  <a:rPr lang="en-US" sz="3600" baseline="-25000" dirty="0">
                    <a:solidFill>
                      <a:srgbClr val="FF0000"/>
                    </a:solidFill>
                  </a:rPr>
                  <a:t>2</a:t>
                </a:r>
                <a:r>
                  <a:rPr lang="en-US" sz="3600" i="1" dirty="0">
                    <a:solidFill>
                      <a:srgbClr val="FF0000"/>
                    </a:solidFill>
                  </a:rPr>
                  <a:t>s</a:t>
                </a:r>
                <a:r>
                  <a:rPr lang="en-US" sz="3600" baseline="-25000" dirty="0">
                    <a:solidFill>
                      <a:srgbClr val="FF0000"/>
                    </a:solidFill>
                  </a:rPr>
                  <a:t>1</a:t>
                </a:r>
                <a:r>
                  <a:rPr lang="en-US" sz="3600" i="1" dirty="0">
                    <a:solidFill>
                      <a:srgbClr val="FF0000"/>
                    </a:solidFill>
                  </a:rPr>
                  <a:t>s</a:t>
                </a:r>
                <a:r>
                  <a:rPr lang="en-US" sz="3600" baseline="-25000" dirty="0">
                    <a:solidFill>
                      <a:srgbClr val="FF0000"/>
                    </a:solidFill>
                  </a:rPr>
                  <a:t>0</a:t>
                </a:r>
                <a:r>
                  <a:rPr lang="en-US" sz="3600" dirty="0">
                    <a:solidFill>
                      <a:srgbClr val="FF0000"/>
                    </a:solidFill>
                  </a:rPr>
                  <a:t> = 110 </a:t>
                </a:r>
                <a:r>
                  <a:rPr lang="en-US" sz="3600" dirty="0"/>
                  <a:t>then </a:t>
                </a:r>
                <a14:m>
                  <m:oMath xmlns:m="http://schemas.openxmlformats.org/officeDocument/2006/math">
                    <m:sSub>
                      <m:sSubPr>
                        <m:ctrlPr>
                          <a:rPr lang="en-US" sz="3600" i="1">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𝑋</m:t>
                        </m:r>
                      </m:e>
                      <m:sub>
                        <m:r>
                          <a:rPr lang="en-US" sz="3600" i="1">
                            <a:latin typeface="Cambria Math" panose="02040503050406030204" pitchFamily="18" charset="0"/>
                            <a:ea typeface="Cambria Math" panose="02040503050406030204" pitchFamily="18" charset="0"/>
                          </a:rPr>
                          <m:t>𝑖</m:t>
                        </m:r>
                      </m:sub>
                    </m:sSub>
                    <m:r>
                      <a:rPr lang="en-US" sz="3600" b="0" i="1" smtClean="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oMath>
                </a14:m>
                <a:r>
                  <a:rPr lang="en-US" sz="3600" dirty="0"/>
                  <a:t> and </a:t>
                </a:r>
                <a14:m>
                  <m:oMath xmlns:m="http://schemas.openxmlformats.org/officeDocument/2006/math">
                    <m:sSub>
                      <m:sSubPr>
                        <m:ctrlPr>
                          <a:rPr lang="en-US" sz="3600" i="1">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𝑌</m:t>
                        </m:r>
                      </m:e>
                      <m:sub>
                        <m:r>
                          <a:rPr lang="en-US" sz="3600" i="1">
                            <a:latin typeface="Cambria Math" panose="02040503050406030204" pitchFamily="18" charset="0"/>
                            <a:ea typeface="Cambria Math" panose="02040503050406030204" pitchFamily="18" charset="0"/>
                          </a:rPr>
                          <m:t>𝑖</m:t>
                        </m:r>
                      </m:sub>
                    </m:sSub>
                    <m:r>
                      <a:rPr lang="en-US" sz="3600" b="0" i="1" smtClean="0">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a14:m>
                <a:r>
                  <a:rPr lang="en-US" sz="3600" dirty="0"/>
                  <a:t>),</a:t>
                </a:r>
              </a:p>
              <a:p>
                <a:pPr algn="ctr"/>
                <a14:m>
                  <m:oMathPara xmlns:m="http://schemas.openxmlformats.org/officeDocument/2006/math">
                    <m:oMathParaPr>
                      <m:jc m:val="center"/>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𝐹</m:t>
                          </m:r>
                        </m:e>
                        <m:sub>
                          <m:r>
                            <a:rPr lang="en-US" sz="3600" b="0" i="1" smtClean="0">
                              <a:latin typeface="Cambria Math" panose="02040503050406030204" pitchFamily="18" charset="0"/>
                            </a:rPr>
                            <m:t>𝑖</m:t>
                          </m:r>
                        </m:sub>
                      </m:sSub>
                      <m:r>
                        <a:rPr lang="en-US" sz="3600" b="0" i="1" smtClean="0">
                          <a:latin typeface="Cambria Math" panose="02040503050406030204" pitchFamily="18" charset="0"/>
                        </a:rPr>
                        <m:t>=</m:t>
                      </m:r>
                      <m:sSub>
                        <m:sSubPr>
                          <m:ctrlPr>
                            <a:rPr lang="en-US" sz="3600" i="1">
                              <a:latin typeface="Cambria Math" panose="02040503050406030204" pitchFamily="18" charset="0"/>
                            </a:rPr>
                          </m:ctrlPr>
                        </m:sSubPr>
                        <m:e>
                          <m:r>
                            <a:rPr lang="en-US" sz="3600" b="0" i="1" smtClean="0">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𝑌</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d>
                        <m:dPr>
                          <m:ctrlPr>
                            <a:rPr lang="en-US" sz="3600" i="1" smtClean="0">
                              <a:latin typeface="Cambria Math" panose="02040503050406030204" pitchFamily="18" charset="0"/>
                              <a:ea typeface="Cambria Math" panose="02040503050406030204" pitchFamily="18" charset="0"/>
                            </a:rPr>
                          </m:ctrlPr>
                        </m:d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b="0" i="1" smtClean="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𝐾</m:t>
                              </m:r>
                            </m:e>
                            <m:sub>
                              <m:r>
                                <a:rPr lang="en-US" sz="3600" i="1">
                                  <a:latin typeface="Cambria Math" panose="02040503050406030204" pitchFamily="18" charset="0"/>
                                  <a:ea typeface="Cambria Math" panose="02040503050406030204" pitchFamily="18" charset="0"/>
                                </a:rPr>
                                <m:t>𝑖</m:t>
                              </m:r>
                            </m:sub>
                          </m:sSub>
                        </m:e>
                      </m:d>
                      <m:r>
                        <a:rPr lang="en-US" sz="3600" i="1" smtClean="0">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m:t>
                      </m:r>
                      <m:d>
                        <m:dPr>
                          <m:ctrlPr>
                            <a:rPr lang="en-US" sz="3600" i="1">
                              <a:latin typeface="Cambria Math" panose="02040503050406030204" pitchFamily="18" charset="0"/>
                              <a:ea typeface="Cambria Math" panose="02040503050406030204" pitchFamily="18" charset="0"/>
                            </a:rPr>
                          </m:ctrlPr>
                        </m:d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𝐾</m:t>
                              </m:r>
                            </m:e>
                            <m:sub>
                              <m:r>
                                <a:rPr lang="en-US" sz="3600" i="1">
                                  <a:latin typeface="Cambria Math" panose="02040503050406030204" pitchFamily="18" charset="0"/>
                                  <a:ea typeface="Cambria Math" panose="02040503050406030204" pitchFamily="18" charset="0"/>
                                </a:rPr>
                                <m:t>𝑖</m:t>
                              </m:r>
                            </m:sub>
                          </m:sSub>
                        </m:e>
                      </m:d>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m:t>
                      </m:r>
                      <m:sSup>
                        <m:sSupPr>
                          <m:ctrlPr>
                            <a:rPr lang="en-US" sz="3600" i="1" smtClean="0">
                              <a:latin typeface="Cambria Math" panose="02040503050406030204" pitchFamily="18" charset="0"/>
                              <a:ea typeface="Cambria Math" panose="02040503050406030204" pitchFamily="18" charset="0"/>
                            </a:rPr>
                          </m:ctrlPr>
                        </m:sSupPr>
                        <m:e>
                          <m:d>
                            <m:dPr>
                              <m:ctrlPr>
                                <a:rPr lang="en-US" sz="3600" i="1">
                                  <a:latin typeface="Cambria Math" panose="02040503050406030204" pitchFamily="18" charset="0"/>
                                  <a:ea typeface="Cambria Math" panose="02040503050406030204" pitchFamily="18" charset="0"/>
                                </a:rPr>
                              </m:ctrlPr>
                            </m:d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𝐾</m:t>
                                  </m:r>
                                </m:e>
                                <m:sub>
                                  <m:r>
                                    <a:rPr lang="en-US" sz="3600" i="1">
                                      <a:latin typeface="Cambria Math" panose="02040503050406030204" pitchFamily="18" charset="0"/>
                                      <a:ea typeface="Cambria Math" panose="02040503050406030204" pitchFamily="18" charset="0"/>
                                    </a:rPr>
                                    <m:t>𝑖</m:t>
                                  </m:r>
                                </m:sub>
                              </m:sSub>
                            </m:e>
                          </m:d>
                        </m:e>
                        <m:sup>
                          <m:r>
                            <a:rPr lang="en-US" sz="3600" b="0" i="1" smtClean="0">
                              <a:latin typeface="Cambria Math" panose="02040503050406030204" pitchFamily="18" charset="0"/>
                              <a:ea typeface="Cambria Math" panose="02040503050406030204" pitchFamily="18" charset="0"/>
                            </a:rPr>
                            <m:t>′</m:t>
                          </m:r>
                        </m:sup>
                      </m:sSup>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m:t>
                      </m:r>
                      <m:d>
                        <m:dPr>
                          <m:ctrlPr>
                            <a:rPr lang="en-US" sz="3600" i="1">
                              <a:latin typeface="Cambria Math" panose="02040503050406030204" pitchFamily="18" charset="0"/>
                              <a:ea typeface="Cambria Math" panose="02040503050406030204" pitchFamily="18" charset="0"/>
                            </a:rPr>
                          </m:ctrlPr>
                        </m:d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𝐾</m:t>
                              </m:r>
                            </m:e>
                            <m:sub>
                              <m:r>
                                <a:rPr lang="en-US" sz="3600" i="1">
                                  <a:latin typeface="Cambria Math" panose="02040503050406030204" pitchFamily="18" charset="0"/>
                                  <a:ea typeface="Cambria Math" panose="02040503050406030204" pitchFamily="18" charset="0"/>
                                </a:rPr>
                                <m:t>𝑖</m:t>
                              </m:r>
                            </m:sub>
                          </m:sSub>
                        </m:e>
                      </m:d>
                      <m:sSub>
                        <m:sSubPr>
                          <m:ctrlPr>
                            <a:rPr lang="en-US" sz="360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𝐵</m:t>
                          </m:r>
                        </m:e>
                        <m:sub>
                          <m:r>
                            <a:rPr lang="en-US" sz="3600" b="0" i="1" smtClean="0">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sSubSup>
                            <m:sSubSupPr>
                              <m:ctrlPr>
                                <a:rPr lang="en-US" sz="3600" i="1">
                                  <a:latin typeface="Cambria Math" panose="02040503050406030204" pitchFamily="18" charset="0"/>
                                  <a:ea typeface="Cambria Math" panose="02040503050406030204" pitchFamily="18" charset="0"/>
                                </a:rPr>
                              </m:ctrlPr>
                            </m:sSubSupPr>
                            <m:e>
                              <m:r>
                                <a:rPr lang="en-US" sz="3600" b="0" i="1" smtClean="0">
                                  <a:latin typeface="Cambria Math" panose="02040503050406030204" pitchFamily="18" charset="0"/>
                                  <a:ea typeface="Cambria Math" panose="02040503050406030204" pitchFamily="18" charset="0"/>
                                </a:rPr>
                                <m:t>𝐾</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b="0" i="1" smtClean="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b="0" i="1" smtClean="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𝐾</m:t>
                          </m:r>
                        </m:e>
                        <m:sub>
                          <m:r>
                            <a:rPr lang="en-US" sz="3600" i="1">
                              <a:latin typeface="Cambria Math" panose="02040503050406030204" pitchFamily="18" charset="0"/>
                              <a:ea typeface="Cambria Math" panose="02040503050406030204" pitchFamily="18" charset="0"/>
                            </a:rPr>
                            <m:t>𝑖</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𝐾</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m:oMathPara>
                </a14:m>
                <a:endParaRPr lang="en-US" sz="3600" dirty="0"/>
              </a:p>
              <a:p>
                <a:r>
                  <a:rPr lang="en-US" sz="3600" dirty="0"/>
                  <a:t>Careful inspection of the result reveals that if the variable </a:t>
                </a:r>
                <a14:m>
                  <m:oMath xmlns:m="http://schemas.openxmlformats.org/officeDocument/2006/math">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𝐾</m:t>
                        </m:r>
                      </m:e>
                      <m:sub>
                        <m:r>
                          <a:rPr lang="en-US" sz="3600" i="1">
                            <a:latin typeface="Cambria Math" panose="02040503050406030204" pitchFamily="18" charset="0"/>
                            <a:ea typeface="Cambria Math" panose="02040503050406030204" pitchFamily="18" charset="0"/>
                          </a:rPr>
                          <m:t>𝑖</m:t>
                        </m:r>
                      </m:sub>
                    </m:sSub>
                  </m:oMath>
                </a14:m>
                <a:r>
                  <a:rPr lang="en-US" sz="3600" dirty="0"/>
                  <a:t> is replaced by </a:t>
                </a:r>
                <a14:m>
                  <m:oMath xmlns:m="http://schemas.openxmlformats.org/officeDocument/2006/math">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a14:m>
                <a:r>
                  <a:rPr lang="en-US" sz="3600" dirty="0"/>
                  <a:t> then the second and third terms will be eliminated from the final expression above, because </a:t>
                </a:r>
                <a14:m>
                  <m:oMath xmlns:m="http://schemas.openxmlformats.org/officeDocument/2006/math">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sSubSup>
                      <m:sSubSupPr>
                        <m:ctrlPr>
                          <a:rPr lang="en-US" sz="3600" i="1" smtClean="0">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b="0" i="1" smtClean="0">
                        <a:latin typeface="Cambria Math" panose="02040503050406030204" pitchFamily="18" charset="0"/>
                        <a:ea typeface="Cambria Math" panose="02040503050406030204" pitchFamily="18" charset="0"/>
                      </a:rPr>
                      <m:t>=0</m:t>
                    </m:r>
                  </m:oMath>
                </a14:m>
                <a:r>
                  <a:rPr lang="en-US" sz="3600" dirty="0"/>
                  <a:t> and thus we get the required AND operation between </a:t>
                </a:r>
                <a:r>
                  <a:rPr lang="en-US" sz="3600" i="1" dirty="0"/>
                  <a:t>A</a:t>
                </a:r>
                <a:r>
                  <a:rPr lang="en-US" sz="3600" dirty="0"/>
                  <a:t> and </a:t>
                </a:r>
                <a:r>
                  <a:rPr lang="en-US" sz="3600" i="1" dirty="0"/>
                  <a:t>B</a:t>
                </a:r>
                <a:r>
                  <a:rPr lang="en-US" sz="3600" dirty="0"/>
                  <a:t>.</a:t>
                </a:r>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𝐹</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𝑌</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d>
                        <m:dPr>
                          <m:ctrlPr>
                            <a:rPr lang="en-US" sz="3600" i="1">
                              <a:latin typeface="Cambria Math" panose="02040503050406030204" pitchFamily="18" charset="0"/>
                              <a:ea typeface="Cambria Math" panose="02040503050406030204" pitchFamily="18" charset="0"/>
                            </a:rPr>
                          </m:ctrlPr>
                        </m:d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e>
                      </m:d>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m:t>
                      </m:r>
                      <m:d>
                        <m:dPr>
                          <m:ctrlPr>
                            <a:rPr lang="en-US" sz="3600" i="1">
                              <a:latin typeface="Cambria Math" panose="02040503050406030204" pitchFamily="18" charset="0"/>
                              <a:ea typeface="Cambria Math" panose="02040503050406030204" pitchFamily="18" charset="0"/>
                            </a:rPr>
                          </m:ctrlPr>
                        </m:d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e>
                      </m:d>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m:t>
                      </m:r>
                      <m:sSup>
                        <m:sSupPr>
                          <m:ctrlPr>
                            <a:rPr lang="en-US" sz="3600" i="1">
                              <a:latin typeface="Cambria Math" panose="02040503050406030204" pitchFamily="18" charset="0"/>
                              <a:ea typeface="Cambria Math" panose="02040503050406030204" pitchFamily="18" charset="0"/>
                            </a:rPr>
                          </m:ctrlPr>
                        </m:sSupPr>
                        <m:e>
                          <m:d>
                            <m:dPr>
                              <m:ctrlPr>
                                <a:rPr lang="en-US" sz="3600" i="1">
                                  <a:latin typeface="Cambria Math" panose="02040503050406030204" pitchFamily="18" charset="0"/>
                                  <a:ea typeface="Cambria Math" panose="02040503050406030204" pitchFamily="18" charset="0"/>
                                </a:rPr>
                              </m:ctrlPr>
                            </m:d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e>
                          </m:d>
                        </m:e>
                        <m:sup>
                          <m:r>
                            <a:rPr lang="en-US" sz="3600" i="1">
                              <a:latin typeface="Cambria Math" panose="02040503050406030204" pitchFamily="18" charset="0"/>
                              <a:ea typeface="Cambria Math" panose="02040503050406030204" pitchFamily="18" charset="0"/>
                            </a:rPr>
                            <m:t>′</m:t>
                          </m:r>
                        </m:sup>
                      </m:sSup>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m:t>
                      </m:r>
                      <m:d>
                        <m:dPr>
                          <m:ctrlPr>
                            <a:rPr lang="en-US" sz="3600" i="1">
                              <a:latin typeface="Cambria Math" panose="02040503050406030204" pitchFamily="18" charset="0"/>
                              <a:ea typeface="Cambria Math" panose="02040503050406030204" pitchFamily="18" charset="0"/>
                            </a:rPr>
                          </m:ctrlPr>
                        </m:d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e>
                      </m:d>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sSubSup>
                            <m:sSubSupPr>
                              <m:ctrlPr>
                                <a:rPr lang="en-US" sz="3600" i="1">
                                  <a:latin typeface="Cambria Math" panose="02040503050406030204" pitchFamily="18" charset="0"/>
                                  <a:ea typeface="Cambria Math" panose="02040503050406030204" pitchFamily="18" charset="0"/>
                                </a:rPr>
                              </m:ctrlPr>
                            </m:sSubSupPr>
                            <m:e>
                              <m:r>
                                <a:rPr lang="en-US" sz="3600" b="0" i="1" smtClean="0">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sSubSup>
                            <m:sSubSupPr>
                              <m:ctrlPr>
                                <a:rPr lang="en-US" sz="3600" i="1">
                                  <a:latin typeface="Cambria Math" panose="02040503050406030204" pitchFamily="18" charset="0"/>
                                  <a:ea typeface="Cambria Math" panose="02040503050406030204" pitchFamily="18" charset="0"/>
                                </a:rPr>
                              </m:ctrlPr>
                            </m:sSubSupPr>
                            <m:e>
                              <m:r>
                                <a:rPr lang="en-US" sz="3600" b="0" i="1" smtClean="0">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b="0" i="1" smtClean="0">
                          <a:latin typeface="Cambria Math" panose="02040503050406030204" pitchFamily="18" charset="0"/>
                          <a:ea typeface="Cambria Math" panose="02040503050406030204" pitchFamily="18" charset="0"/>
                        </a:rPr>
                        <m:t>+0+0</m:t>
                      </m:r>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oMath>
                  </m:oMathPara>
                </a14:m>
                <a:endParaRPr lang="en-US" sz="3600" dirty="0"/>
              </a:p>
              <a:p>
                <a:r>
                  <a:rPr lang="en-US" sz="3600" dirty="0"/>
                  <a:t>Therefore, we conclude that to get the required AND operation, we must </a:t>
                </a:r>
                <a:r>
                  <a:rPr lang="en-US" sz="3600" dirty="0">
                    <a:solidFill>
                      <a:srgbClr val="FF0000"/>
                    </a:solidFill>
                  </a:rPr>
                  <a:t>make an OR operation between </a:t>
                </a:r>
                <a14:m>
                  <m:oMath xmlns:m="http://schemas.openxmlformats.org/officeDocument/2006/math">
                    <m:sSub>
                      <m:sSubPr>
                        <m:ctrlPr>
                          <a:rPr lang="en-US" sz="3600" i="1">
                            <a:solidFill>
                              <a:srgbClr val="FF0000"/>
                            </a:solidFill>
                            <a:latin typeface="Cambria Math" panose="02040503050406030204" pitchFamily="18" charset="0"/>
                            <a:ea typeface="Cambria Math" panose="02040503050406030204" pitchFamily="18" charset="0"/>
                          </a:rPr>
                        </m:ctrlPr>
                      </m:sSubPr>
                      <m:e>
                        <m:r>
                          <a:rPr lang="en-US" sz="3600" i="1">
                            <a:solidFill>
                              <a:srgbClr val="FF0000"/>
                            </a:solidFill>
                            <a:latin typeface="Cambria Math" panose="02040503050406030204" pitchFamily="18" charset="0"/>
                            <a:ea typeface="Cambria Math" panose="02040503050406030204" pitchFamily="18" charset="0"/>
                          </a:rPr>
                          <m:t>𝐴</m:t>
                        </m:r>
                      </m:e>
                      <m:sub>
                        <m:r>
                          <a:rPr lang="en-US" sz="3600" i="1">
                            <a:solidFill>
                              <a:srgbClr val="FF0000"/>
                            </a:solidFill>
                            <a:latin typeface="Cambria Math" panose="02040503050406030204" pitchFamily="18" charset="0"/>
                            <a:ea typeface="Cambria Math" panose="02040503050406030204" pitchFamily="18" charset="0"/>
                          </a:rPr>
                          <m:t>𝑖</m:t>
                        </m:r>
                      </m:sub>
                    </m:sSub>
                  </m:oMath>
                </a14:m>
                <a:r>
                  <a:rPr lang="en-US" sz="3600" dirty="0">
                    <a:solidFill>
                      <a:srgbClr val="FF0000"/>
                    </a:solidFill>
                  </a:rPr>
                  <a:t> and </a:t>
                </a:r>
                <a14:m>
                  <m:oMath xmlns:m="http://schemas.openxmlformats.org/officeDocument/2006/math">
                    <m:sSubSup>
                      <m:sSubSupPr>
                        <m:ctrlPr>
                          <a:rPr lang="en-US" sz="3600" i="1">
                            <a:solidFill>
                              <a:srgbClr val="FF0000"/>
                            </a:solidFill>
                            <a:latin typeface="Cambria Math" panose="02040503050406030204" pitchFamily="18" charset="0"/>
                            <a:ea typeface="Cambria Math" panose="02040503050406030204" pitchFamily="18" charset="0"/>
                          </a:rPr>
                        </m:ctrlPr>
                      </m:sSubSupPr>
                      <m:e>
                        <m:r>
                          <a:rPr lang="en-US" sz="3600" i="1">
                            <a:solidFill>
                              <a:srgbClr val="FF0000"/>
                            </a:solidFill>
                            <a:latin typeface="Cambria Math" panose="02040503050406030204" pitchFamily="18" charset="0"/>
                            <a:ea typeface="Cambria Math" panose="02040503050406030204" pitchFamily="18" charset="0"/>
                          </a:rPr>
                          <m:t>𝐵</m:t>
                        </m:r>
                      </m:e>
                      <m:sub>
                        <m:r>
                          <a:rPr lang="en-US" sz="3600" i="1">
                            <a:solidFill>
                              <a:srgbClr val="FF0000"/>
                            </a:solidFill>
                            <a:latin typeface="Cambria Math" panose="02040503050406030204" pitchFamily="18" charset="0"/>
                            <a:ea typeface="Cambria Math" panose="02040503050406030204" pitchFamily="18" charset="0"/>
                          </a:rPr>
                          <m:t>𝑖</m:t>
                        </m:r>
                      </m:sub>
                      <m:sup>
                        <m:r>
                          <a:rPr lang="en-US" sz="3600" i="1">
                            <a:solidFill>
                              <a:srgbClr val="FF0000"/>
                            </a:solidFill>
                            <a:latin typeface="Cambria Math" panose="02040503050406030204" pitchFamily="18" charset="0"/>
                            <a:ea typeface="Cambria Math" panose="02040503050406030204" pitchFamily="18" charset="0"/>
                          </a:rPr>
                          <m:t>′</m:t>
                        </m:r>
                      </m:sup>
                    </m:sSubSup>
                  </m:oMath>
                </a14:m>
                <a:r>
                  <a:rPr lang="en-US" sz="3600" dirty="0">
                    <a:solidFill>
                      <a:srgbClr val="FF0000"/>
                    </a:solidFill>
                  </a:rPr>
                  <a:t> before applying it to the </a:t>
                </a:r>
                <a14:m>
                  <m:oMath xmlns:m="http://schemas.openxmlformats.org/officeDocument/2006/math">
                    <m:sSub>
                      <m:sSubPr>
                        <m:ctrlPr>
                          <a:rPr lang="en-US" sz="3600" i="1">
                            <a:solidFill>
                              <a:srgbClr val="FF0000"/>
                            </a:solidFill>
                            <a:latin typeface="Cambria Math" panose="02040503050406030204" pitchFamily="18" charset="0"/>
                          </a:rPr>
                        </m:ctrlPr>
                      </m:sSubPr>
                      <m:e>
                        <m:r>
                          <a:rPr lang="en-US" sz="3600" i="1">
                            <a:solidFill>
                              <a:srgbClr val="FF0000"/>
                            </a:solidFill>
                            <a:latin typeface="Cambria Math" panose="02040503050406030204" pitchFamily="18" charset="0"/>
                          </a:rPr>
                          <m:t>𝑋</m:t>
                        </m:r>
                      </m:e>
                      <m:sub>
                        <m:r>
                          <a:rPr lang="en-US" sz="3600" i="1">
                            <a:solidFill>
                              <a:srgbClr val="FF0000"/>
                            </a:solidFill>
                            <a:latin typeface="Cambria Math" panose="02040503050406030204" pitchFamily="18" charset="0"/>
                          </a:rPr>
                          <m:t>𝑖</m:t>
                        </m:r>
                      </m:sub>
                    </m:sSub>
                  </m:oMath>
                </a14:m>
                <a:r>
                  <a:rPr lang="en-US" sz="3600" dirty="0">
                    <a:solidFill>
                      <a:srgbClr val="FF0000"/>
                    </a:solidFill>
                  </a:rPr>
                  <a:t> input </a:t>
                </a:r>
                <a:r>
                  <a:rPr lang="en-US" sz="3600" dirty="0"/>
                  <a:t>of the full-adder circuit </a:t>
                </a:r>
                <a:r>
                  <a:rPr lang="en-US" sz="3600" dirty="0">
                    <a:solidFill>
                      <a:srgbClr val="FF0000"/>
                    </a:solidFill>
                  </a:rPr>
                  <a:t>when</a:t>
                </a:r>
                <a:r>
                  <a:rPr lang="en-US" sz="3600" dirty="0"/>
                  <a:t> </a:t>
                </a:r>
                <a:r>
                  <a:rPr lang="en-US" sz="3600" i="1" dirty="0">
                    <a:solidFill>
                      <a:srgbClr val="FF0000"/>
                    </a:solidFill>
                  </a:rPr>
                  <a:t>s</a:t>
                </a:r>
                <a:r>
                  <a:rPr lang="en-US" sz="3600" baseline="-25000" dirty="0">
                    <a:solidFill>
                      <a:srgbClr val="FF0000"/>
                    </a:solidFill>
                  </a:rPr>
                  <a:t>2</a:t>
                </a:r>
                <a:r>
                  <a:rPr lang="en-US" sz="3600" i="1" dirty="0">
                    <a:solidFill>
                      <a:srgbClr val="FF0000"/>
                    </a:solidFill>
                  </a:rPr>
                  <a:t>s</a:t>
                </a:r>
                <a:r>
                  <a:rPr lang="en-US" sz="3600" baseline="-25000" dirty="0">
                    <a:solidFill>
                      <a:srgbClr val="FF0000"/>
                    </a:solidFill>
                  </a:rPr>
                  <a:t>1</a:t>
                </a:r>
                <a:r>
                  <a:rPr lang="en-US" sz="3600" i="1" dirty="0">
                    <a:solidFill>
                      <a:srgbClr val="FF0000"/>
                    </a:solidFill>
                  </a:rPr>
                  <a:t>s</a:t>
                </a:r>
                <a:r>
                  <a:rPr lang="en-US" sz="3600" baseline="-25000" dirty="0">
                    <a:solidFill>
                      <a:srgbClr val="FF0000"/>
                    </a:solidFill>
                  </a:rPr>
                  <a:t>0</a:t>
                </a:r>
                <a:r>
                  <a:rPr lang="en-US" sz="3600" dirty="0">
                    <a:solidFill>
                      <a:srgbClr val="FF0000"/>
                    </a:solidFill>
                  </a:rPr>
                  <a:t> = 110 and </a:t>
                </a:r>
                <a14:m>
                  <m:oMath xmlns:m="http://schemas.openxmlformats.org/officeDocument/2006/math">
                    <m:sSub>
                      <m:sSubPr>
                        <m:ctrlPr>
                          <a:rPr lang="en-US" sz="3600" i="1">
                            <a:solidFill>
                              <a:srgbClr val="FF0000"/>
                            </a:solidFill>
                            <a:latin typeface="Cambria Math" panose="02040503050406030204" pitchFamily="18" charset="0"/>
                          </a:rPr>
                        </m:ctrlPr>
                      </m:sSubPr>
                      <m:e>
                        <m:r>
                          <a:rPr lang="en-US" sz="3600" b="0" i="1" smtClean="0">
                            <a:solidFill>
                              <a:srgbClr val="FF0000"/>
                            </a:solidFill>
                            <a:latin typeface="Cambria Math" panose="02040503050406030204" pitchFamily="18" charset="0"/>
                          </a:rPr>
                          <m:t>𝑌</m:t>
                        </m:r>
                      </m:e>
                      <m:sub>
                        <m:r>
                          <a:rPr lang="en-US" sz="3600" i="1">
                            <a:solidFill>
                              <a:srgbClr val="FF0000"/>
                            </a:solidFill>
                            <a:latin typeface="Cambria Math" panose="02040503050406030204" pitchFamily="18" charset="0"/>
                          </a:rPr>
                          <m:t>𝑖</m:t>
                        </m:r>
                      </m:sub>
                    </m:sSub>
                  </m:oMath>
                </a14:m>
                <a:r>
                  <a:rPr lang="en-US" sz="3600" dirty="0">
                    <a:solidFill>
                      <a:srgbClr val="FF0000"/>
                    </a:solidFill>
                  </a:rPr>
                  <a:t> input </a:t>
                </a:r>
                <a:r>
                  <a:rPr lang="en-US" sz="3600" dirty="0"/>
                  <a:t>of the full-adder circuit will get </a:t>
                </a:r>
                <a14:m>
                  <m:oMath xmlns:m="http://schemas.openxmlformats.org/officeDocument/2006/math">
                    <m:sSubSup>
                      <m:sSubSupPr>
                        <m:ctrlPr>
                          <a:rPr lang="en-US" sz="3600" i="1">
                            <a:solidFill>
                              <a:srgbClr val="FF0000"/>
                            </a:solidFill>
                            <a:latin typeface="Cambria Math" panose="02040503050406030204" pitchFamily="18" charset="0"/>
                            <a:ea typeface="Cambria Math" panose="02040503050406030204" pitchFamily="18" charset="0"/>
                          </a:rPr>
                        </m:ctrlPr>
                      </m:sSubSupPr>
                      <m:e>
                        <m:r>
                          <a:rPr lang="en-US" sz="3600" i="1">
                            <a:solidFill>
                              <a:srgbClr val="FF0000"/>
                            </a:solidFill>
                            <a:latin typeface="Cambria Math" panose="02040503050406030204" pitchFamily="18" charset="0"/>
                            <a:ea typeface="Cambria Math" panose="02040503050406030204" pitchFamily="18" charset="0"/>
                          </a:rPr>
                          <m:t>𝐵</m:t>
                        </m:r>
                      </m:e>
                      <m:sub>
                        <m:r>
                          <a:rPr lang="en-US" sz="3600" i="1">
                            <a:solidFill>
                              <a:srgbClr val="FF0000"/>
                            </a:solidFill>
                            <a:latin typeface="Cambria Math" panose="02040503050406030204" pitchFamily="18" charset="0"/>
                            <a:ea typeface="Cambria Math" panose="02040503050406030204" pitchFamily="18" charset="0"/>
                          </a:rPr>
                          <m:t>𝑖</m:t>
                        </m:r>
                      </m:sub>
                      <m:sup>
                        <m:r>
                          <a:rPr lang="en-US" sz="3600" i="1">
                            <a:solidFill>
                              <a:srgbClr val="FF0000"/>
                            </a:solidFill>
                            <a:latin typeface="Cambria Math" panose="02040503050406030204" pitchFamily="18" charset="0"/>
                            <a:ea typeface="Cambria Math" panose="02040503050406030204" pitchFamily="18" charset="0"/>
                          </a:rPr>
                          <m:t>′</m:t>
                        </m:r>
                      </m:sup>
                    </m:sSubSup>
                  </m:oMath>
                </a14:m>
                <a:r>
                  <a:rPr lang="en-US" sz="3600" dirty="0"/>
                  <a:t>.</a:t>
                </a:r>
              </a:p>
            </p:txBody>
          </p:sp>
        </mc:Choice>
        <mc:Fallback xmlns="">
          <p:sp>
            <p:nvSpPr>
              <p:cNvPr id="7" name="TextBox 6"/>
              <p:cNvSpPr txBox="1">
                <a:spLocks noRot="1" noChangeAspect="1" noMove="1" noResize="1" noEditPoints="1" noAdjustHandles="1" noChangeArrowheads="1" noChangeShapeType="1" noTextEdit="1"/>
              </p:cNvSpPr>
              <p:nvPr/>
            </p:nvSpPr>
            <p:spPr>
              <a:xfrm>
                <a:off x="232756" y="982801"/>
                <a:ext cx="16010314" cy="6743384"/>
              </a:xfrm>
              <a:prstGeom prst="rect">
                <a:avLst/>
              </a:prstGeom>
              <a:blipFill>
                <a:blip r:embed="rId2"/>
                <a:stretch>
                  <a:fillRect l="-1142" t="-1356" r="-1637" b="-2532"/>
                </a:stretch>
              </a:blipFill>
            </p:spPr>
            <p:txBody>
              <a:bodyPr/>
              <a:lstStyle/>
              <a:p>
                <a:r>
                  <a:rPr lang="en-US">
                    <a:noFill/>
                  </a:rPr>
                  <a:t> </a:t>
                </a:r>
              </a:p>
            </p:txBody>
          </p:sp>
        </mc:Fallback>
      </mc:AlternateContent>
    </p:spTree>
    <p:extLst>
      <p:ext uri="{BB962C8B-B14F-4D97-AF65-F5344CB8AC3E}">
        <p14:creationId xmlns:p14="http://schemas.microsoft.com/office/powerpoint/2010/main" val="211724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2FB6D7-3611-4930-BFE6-4A476396FF2F}" type="datetime3">
              <a:rPr lang="en-US" smtClean="0"/>
              <a:t>24 December 2025</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31</a:t>
            </a:fld>
            <a:endParaRPr lang="en-US" dirty="0"/>
          </a:p>
        </p:txBody>
      </p:sp>
      <mc:AlternateContent xmlns:mc="http://schemas.openxmlformats.org/markup-compatibility/2006" xmlns:a14="http://schemas.microsoft.com/office/drawing/2010/main">
        <mc:Choice Requires="a14">
          <p:sp>
            <p:nvSpPr>
              <p:cNvPr id="10" name="TextBox 9"/>
              <p:cNvSpPr txBox="1"/>
              <p:nvPr/>
            </p:nvSpPr>
            <p:spPr>
              <a:xfrm>
                <a:off x="232756" y="982801"/>
                <a:ext cx="16010314" cy="6187463"/>
              </a:xfrm>
              <a:prstGeom prst="rect">
                <a:avLst/>
              </a:prstGeom>
              <a:noFill/>
            </p:spPr>
            <p:txBody>
              <a:bodyPr wrap="square" rtlCol="0">
                <a:spAutoFit/>
              </a:bodyPr>
              <a:lstStyle/>
              <a:p>
                <a:r>
                  <a:rPr lang="en-US" sz="3600" dirty="0"/>
                  <a:t>The final ALU is shown in Fig. 9.13. Only the first two stages are drawn, but the diagram can be easily extended to more stages. The inputs to each full-adder circuit are specified by the Boolean functions:</a:t>
                </a:r>
              </a:p>
              <a:p>
                <a:pPr algn="ctr"/>
                <a14:m>
                  <m:oMathPara xmlns:m="http://schemas.openxmlformats.org/officeDocument/2006/math">
                    <m:oMathParaPr>
                      <m:jc m:val="center"/>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𝑋</m:t>
                          </m:r>
                        </m:e>
                        <m:sub>
                          <m:r>
                            <a:rPr lang="en-US" sz="3600" b="0" i="1" smtClean="0">
                              <a:latin typeface="Cambria Math" panose="02040503050406030204" pitchFamily="18" charset="0"/>
                            </a:rPr>
                            <m:t>𝑖</m:t>
                          </m:r>
                        </m:sub>
                      </m:sSub>
                      <m:r>
                        <a:rPr lang="en-US" sz="3600" b="0" i="1" smtClean="0">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𝑠</m:t>
                          </m:r>
                        </m:e>
                        <m:sub>
                          <m:r>
                            <a:rPr lang="en-US" sz="3600" b="0" i="1" smtClean="0">
                              <a:latin typeface="Cambria Math" panose="02040503050406030204" pitchFamily="18" charset="0"/>
                              <a:ea typeface="Cambria Math" panose="02040503050406030204" pitchFamily="18" charset="0"/>
                            </a:rPr>
                            <m:t>2</m:t>
                          </m:r>
                        </m:sub>
                      </m:sSub>
                      <m:sSubSup>
                        <m:sSubSupPr>
                          <m:ctrlPr>
                            <a:rPr lang="en-US" sz="3600" i="1" smtClean="0">
                              <a:latin typeface="Cambria Math" panose="02040503050406030204" pitchFamily="18" charset="0"/>
                              <a:ea typeface="Cambria Math" panose="02040503050406030204" pitchFamily="18" charset="0"/>
                            </a:rPr>
                          </m:ctrlPr>
                        </m:sSubSupPr>
                        <m:e>
                          <m:r>
                            <a:rPr lang="en-US" sz="3600" b="0" i="1" smtClean="0">
                              <a:latin typeface="Cambria Math" panose="02040503050406030204" pitchFamily="18" charset="0"/>
                              <a:ea typeface="Cambria Math" panose="02040503050406030204" pitchFamily="18" charset="0"/>
                            </a:rPr>
                            <m:t>𝑠</m:t>
                          </m:r>
                        </m:e>
                        <m:sub>
                          <m:r>
                            <a:rPr lang="en-US" sz="3600" b="0" i="1" smtClean="0">
                              <a:latin typeface="Cambria Math" panose="02040503050406030204" pitchFamily="18" charset="0"/>
                              <a:ea typeface="Cambria Math" panose="02040503050406030204" pitchFamily="18" charset="0"/>
                            </a:rPr>
                            <m:t>1</m:t>
                          </m:r>
                        </m:sub>
                        <m:sup>
                          <m:r>
                            <a:rPr lang="en-US" sz="3600" b="0" i="1" smtClean="0">
                              <a:latin typeface="Cambria Math" panose="02040503050406030204" pitchFamily="18" charset="0"/>
                              <a:ea typeface="Cambria Math" panose="02040503050406030204" pitchFamily="18" charset="0"/>
                            </a:rPr>
                            <m:t>′</m:t>
                          </m:r>
                        </m:sup>
                      </m:sSubSup>
                      <m:sSubSup>
                        <m:sSubSupPr>
                          <m:ctrlPr>
                            <a:rPr lang="en-US" sz="3600" i="1" smtClean="0">
                              <a:latin typeface="Cambria Math" panose="02040503050406030204" pitchFamily="18" charset="0"/>
                              <a:ea typeface="Cambria Math" panose="02040503050406030204" pitchFamily="18" charset="0"/>
                            </a:rPr>
                          </m:ctrlPr>
                        </m:sSubSupPr>
                        <m:e>
                          <m:r>
                            <a:rPr lang="en-US" sz="3600" b="0" i="1" smtClean="0">
                              <a:latin typeface="Cambria Math" panose="02040503050406030204" pitchFamily="18" charset="0"/>
                              <a:ea typeface="Cambria Math" panose="02040503050406030204" pitchFamily="18" charset="0"/>
                            </a:rPr>
                            <m:t>𝑠</m:t>
                          </m:r>
                        </m:e>
                        <m:sub>
                          <m:r>
                            <a:rPr lang="en-US" sz="3600" b="0" i="1" smtClean="0">
                              <a:latin typeface="Cambria Math" panose="02040503050406030204" pitchFamily="18" charset="0"/>
                              <a:ea typeface="Cambria Math" panose="02040503050406030204" pitchFamily="18" charset="0"/>
                            </a:rPr>
                            <m:t>0</m:t>
                          </m:r>
                        </m:sub>
                        <m:sup>
                          <m:r>
                            <a:rPr lang="en-US" sz="3600" b="0" i="1" smtClean="0">
                              <a:latin typeface="Cambria Math" panose="02040503050406030204" pitchFamily="18" charset="0"/>
                              <a:ea typeface="Cambria Math" panose="02040503050406030204" pitchFamily="18" charset="0"/>
                            </a:rPr>
                            <m:t>′</m:t>
                          </m:r>
                        </m:sup>
                      </m:sSubSup>
                      <m:sSub>
                        <m:sSubPr>
                          <m:ctrlPr>
                            <a:rPr lang="en-US" sz="360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𝐵</m:t>
                          </m:r>
                        </m:e>
                        <m:sub>
                          <m:r>
                            <a:rPr lang="en-US" sz="3600" b="0" i="1" smtClean="0">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2</m:t>
                              </m:r>
                            </m:sub>
                          </m:sSub>
                          <m:sSub>
                            <m:sSubPr>
                              <m:ctrlPr>
                                <a:rPr lang="en-US" sz="360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𝑠</m:t>
                              </m:r>
                            </m:e>
                            <m:sub>
                              <m:r>
                                <a:rPr lang="en-US" sz="3600" b="0" i="1" smtClean="0">
                                  <a:latin typeface="Cambria Math" panose="02040503050406030204" pitchFamily="18" charset="0"/>
                                  <a:ea typeface="Cambria Math" panose="02040503050406030204" pitchFamily="18" charset="0"/>
                                </a:rPr>
                                <m:t>1</m:t>
                              </m:r>
                            </m:sub>
                          </m:sSub>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m:oMathPara>
                </a14:m>
                <a:endParaRPr lang="en-US" sz="3600" dirty="0"/>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b="0" i="1" smtClean="0">
                              <a:latin typeface="Cambria Math" panose="02040503050406030204" pitchFamily="18" charset="0"/>
                            </a:rPr>
                            <m:t>𝑌</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b="0" i="1" smtClean="0">
                              <a:latin typeface="Cambria Math" panose="02040503050406030204" pitchFamily="18" charset="0"/>
                              <a:ea typeface="Cambria Math" panose="02040503050406030204" pitchFamily="18" charset="0"/>
                            </a:rPr>
                            <m:t>0</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m:oMathPara>
                </a14:m>
                <a:endParaRPr lang="en-US" sz="3600" dirty="0"/>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b="0" i="1" smtClean="0">
                              <a:latin typeface="Cambria Math" panose="02040503050406030204" pitchFamily="18" charset="0"/>
                            </a:rPr>
                            <m:t>𝑍</m:t>
                          </m:r>
                        </m:e>
                        <m:sub>
                          <m:r>
                            <a:rPr lang="en-US" sz="3600" i="1">
                              <a:latin typeface="Cambria Math" panose="02040503050406030204" pitchFamily="18" charset="0"/>
                            </a:rPr>
                            <m:t>𝑖</m:t>
                          </m:r>
                        </m:sub>
                      </m:sSub>
                      <m:r>
                        <a:rPr lang="en-US" sz="3600" i="1">
                          <a:latin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b="0" i="1" smtClean="0">
                              <a:latin typeface="Cambria Math" panose="02040503050406030204" pitchFamily="18" charset="0"/>
                              <a:ea typeface="Cambria Math" panose="02040503050406030204" pitchFamily="18" charset="0"/>
                            </a:rPr>
                            <m:t>2</m:t>
                          </m:r>
                        </m:sub>
                        <m:sup>
                          <m:r>
                            <a:rPr lang="en-US" sz="3600" i="1">
                              <a:latin typeface="Cambria Math" panose="02040503050406030204" pitchFamily="18" charset="0"/>
                              <a:ea typeface="Cambria Math" panose="02040503050406030204" pitchFamily="18" charset="0"/>
                            </a:rPr>
                            <m:t>′</m:t>
                          </m:r>
                        </m:sup>
                      </m:sSubSup>
                      <m:sSub>
                        <m:sSubPr>
                          <m:ctrlPr>
                            <a:rPr lang="en-US" sz="3600" i="1">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𝐶</m:t>
                          </m:r>
                        </m:e>
                        <m:sub>
                          <m:r>
                            <a:rPr lang="en-US" sz="3600" i="1">
                              <a:latin typeface="Cambria Math" panose="02040503050406030204" pitchFamily="18" charset="0"/>
                              <a:ea typeface="Cambria Math" panose="02040503050406030204" pitchFamily="18" charset="0"/>
                            </a:rPr>
                            <m:t>𝑖</m:t>
                          </m:r>
                        </m:sub>
                      </m:sSub>
                    </m:oMath>
                  </m:oMathPara>
                </a14:m>
                <a:endParaRPr lang="en-US" sz="3600" dirty="0"/>
              </a:p>
              <a:p>
                <a:r>
                  <a:rPr lang="en-US" sz="3600" dirty="0">
                    <a:ea typeface="Cambria Math" panose="02040503050406030204" pitchFamily="18" charset="0"/>
                  </a:rPr>
                  <a:t>When </a:t>
                </a:r>
                <a14:m>
                  <m:oMath xmlns:m="http://schemas.openxmlformats.org/officeDocument/2006/math">
                    <m:sSub>
                      <m:sSubPr>
                        <m:ctrlPr>
                          <a:rPr lang="en-US" sz="3600" b="1" i="1" smtClean="0">
                            <a:solidFill>
                              <a:srgbClr val="FF0000"/>
                            </a:solidFill>
                            <a:latin typeface="Cambria Math" panose="02040503050406030204" pitchFamily="18" charset="0"/>
                            <a:ea typeface="Cambria Math" panose="02040503050406030204" pitchFamily="18" charset="0"/>
                          </a:rPr>
                        </m:ctrlPr>
                      </m:sSubPr>
                      <m:e>
                        <m:r>
                          <a:rPr lang="en-US" sz="3600" b="1" i="1" smtClean="0">
                            <a:solidFill>
                              <a:srgbClr val="FF0000"/>
                            </a:solidFill>
                            <a:latin typeface="Cambria Math" panose="02040503050406030204" pitchFamily="18" charset="0"/>
                            <a:ea typeface="Cambria Math" panose="02040503050406030204" pitchFamily="18" charset="0"/>
                          </a:rPr>
                          <m:t>𝒔</m:t>
                        </m:r>
                      </m:e>
                      <m:sub>
                        <m:r>
                          <a:rPr lang="en-US" sz="3600" b="1" i="1" smtClean="0">
                            <a:solidFill>
                              <a:srgbClr val="FF0000"/>
                            </a:solidFill>
                            <a:latin typeface="Cambria Math" panose="02040503050406030204" pitchFamily="18" charset="0"/>
                            <a:ea typeface="Cambria Math" panose="02040503050406030204" pitchFamily="18" charset="0"/>
                          </a:rPr>
                          <m:t>𝟐</m:t>
                        </m:r>
                      </m:sub>
                    </m:sSub>
                    <m:r>
                      <a:rPr lang="en-US" sz="3600" b="1" i="1" smtClean="0">
                        <a:solidFill>
                          <a:srgbClr val="FF0000"/>
                        </a:solidFill>
                        <a:latin typeface="Cambria Math" panose="02040503050406030204" pitchFamily="18" charset="0"/>
                        <a:ea typeface="Cambria Math" panose="02040503050406030204" pitchFamily="18" charset="0"/>
                      </a:rPr>
                      <m:t>=</m:t>
                    </m:r>
                    <m:r>
                      <a:rPr lang="en-US" sz="3600" b="1" i="1" smtClean="0">
                        <a:solidFill>
                          <a:srgbClr val="FF0000"/>
                        </a:solidFill>
                        <a:latin typeface="Cambria Math" panose="02040503050406030204" pitchFamily="18" charset="0"/>
                        <a:ea typeface="Cambria Math" panose="02040503050406030204" pitchFamily="18" charset="0"/>
                      </a:rPr>
                      <m:t>𝟎</m:t>
                    </m:r>
                  </m:oMath>
                </a14:m>
                <a:r>
                  <a:rPr lang="en-US" sz="3600" dirty="0"/>
                  <a:t> then these three function reduce to-</a:t>
                </a:r>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oMath>
                  </m:oMathPara>
                </a14:m>
                <a:endParaRPr lang="en-US" sz="3600" dirty="0"/>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𝑌</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smtClean="0">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m:oMathPara>
                </a14:m>
                <a:endParaRPr lang="en-US" sz="3600" dirty="0"/>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𝑍</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𝐶</m:t>
                          </m:r>
                        </m:e>
                        <m:sub>
                          <m:r>
                            <a:rPr lang="en-US" sz="3600" i="1">
                              <a:latin typeface="Cambria Math" panose="02040503050406030204" pitchFamily="18" charset="0"/>
                              <a:ea typeface="Cambria Math" panose="02040503050406030204" pitchFamily="18" charset="0"/>
                            </a:rPr>
                            <m:t>𝑖</m:t>
                          </m:r>
                        </m:sub>
                      </m:sSub>
                    </m:oMath>
                  </m:oMathPara>
                </a14:m>
                <a:endParaRPr lang="en-US" sz="3600" dirty="0"/>
              </a:p>
              <a:p>
                <a:r>
                  <a:rPr lang="en-US" sz="3600" dirty="0"/>
                  <a:t>These are the </a:t>
                </a:r>
                <a:r>
                  <a:rPr lang="en-US" sz="3600" b="1" dirty="0">
                    <a:solidFill>
                      <a:srgbClr val="FF0000"/>
                    </a:solidFill>
                  </a:rPr>
                  <a:t>functions of the arithmetic circuit </a:t>
                </a:r>
                <a:r>
                  <a:rPr lang="en-US" sz="3600" dirty="0"/>
                  <a:t>of Fig. 9.8</a:t>
                </a:r>
              </a:p>
            </p:txBody>
          </p:sp>
        </mc:Choice>
        <mc:Fallback xmlns="">
          <p:sp>
            <p:nvSpPr>
              <p:cNvPr id="10" name="TextBox 9"/>
              <p:cNvSpPr txBox="1">
                <a:spLocks noRot="1" noChangeAspect="1" noMove="1" noResize="1" noEditPoints="1" noAdjustHandles="1" noChangeArrowheads="1" noChangeShapeType="1" noTextEdit="1"/>
              </p:cNvSpPr>
              <p:nvPr/>
            </p:nvSpPr>
            <p:spPr>
              <a:xfrm>
                <a:off x="232756" y="982801"/>
                <a:ext cx="16010314" cy="6187463"/>
              </a:xfrm>
              <a:prstGeom prst="rect">
                <a:avLst/>
              </a:prstGeom>
              <a:blipFill>
                <a:blip r:embed="rId2"/>
                <a:stretch>
                  <a:fillRect l="-1142" t="-1478" b="-2759"/>
                </a:stretch>
              </a:blipFill>
            </p:spPr>
            <p:txBody>
              <a:bodyPr/>
              <a:lstStyle/>
              <a:p>
                <a:r>
                  <a:rPr lang="en-US">
                    <a:noFill/>
                  </a:rPr>
                  <a:t> </a:t>
                </a:r>
              </a:p>
            </p:txBody>
          </p:sp>
        </mc:Fallback>
      </mc:AlternateContent>
      <p:sp>
        <p:nvSpPr>
          <p:cNvPr id="11" name="Title 1">
            <a:extLst>
              <a:ext uri="{FF2B5EF4-FFF2-40B4-BE49-F238E27FC236}">
                <a16:creationId xmlns:a16="http://schemas.microsoft.com/office/drawing/2014/main" id="{66DB13EE-9066-4270-BF91-8769F7E74896}"/>
              </a:ext>
            </a:extLst>
          </p:cNvPr>
          <p:cNvSpPr>
            <a:spLocks noGrp="1"/>
          </p:cNvSpPr>
          <p:nvPr>
            <p:ph type="title"/>
          </p:nvPr>
        </p:nvSpPr>
        <p:spPr>
          <a:xfrm>
            <a:off x="1072342" y="305995"/>
            <a:ext cx="12618720" cy="857782"/>
          </a:xfrm>
        </p:spPr>
        <p:txBody>
          <a:bodyPr>
            <a:normAutofit/>
          </a:bodyPr>
          <a:lstStyle/>
          <a:p>
            <a:r>
              <a:rPr lang="en-US" sz="4800" b="1" dirty="0">
                <a:solidFill>
                  <a:srgbClr val="0070C0"/>
                </a:solidFill>
              </a:rPr>
              <a:t>Converting an Arithmetic Circuit to Logic Circuit</a:t>
            </a:r>
          </a:p>
        </p:txBody>
      </p:sp>
    </p:spTree>
    <p:extLst>
      <p:ext uri="{BB962C8B-B14F-4D97-AF65-F5344CB8AC3E}">
        <p14:creationId xmlns:p14="http://schemas.microsoft.com/office/powerpoint/2010/main" val="318351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8D335-4654-4C32-8EB3-DD5564AB32D3}" type="datetime3">
              <a:rPr lang="en-US" smtClean="0"/>
              <a:t>24 December 2025</a:t>
            </a:fld>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32</a:t>
            </a:fld>
            <a:endParaRPr lang="en-US" dirty="0"/>
          </a:p>
        </p:txBody>
      </p:sp>
      <mc:AlternateContent xmlns:mc="http://schemas.openxmlformats.org/markup-compatibility/2006" xmlns:a14="http://schemas.microsoft.com/office/drawing/2010/main">
        <mc:Choice Requires="a14">
          <p:sp>
            <p:nvSpPr>
              <p:cNvPr id="10" name="TextBox 9"/>
              <p:cNvSpPr txBox="1"/>
              <p:nvPr/>
            </p:nvSpPr>
            <p:spPr>
              <a:xfrm>
                <a:off x="232756" y="982801"/>
                <a:ext cx="16010314" cy="6957674"/>
              </a:xfrm>
              <a:prstGeom prst="rect">
                <a:avLst/>
              </a:prstGeom>
              <a:noFill/>
            </p:spPr>
            <p:txBody>
              <a:bodyPr wrap="square" rtlCol="0">
                <a:spAutoFit/>
              </a:bodyPr>
              <a:lstStyle/>
              <a:p>
                <a:r>
                  <a:rPr lang="en-US" sz="3600" dirty="0">
                    <a:ea typeface="Cambria Math" panose="02040503050406030204" pitchFamily="18" charset="0"/>
                  </a:rPr>
                  <a:t>When </a:t>
                </a:r>
                <a14:m>
                  <m:oMath xmlns:m="http://schemas.openxmlformats.org/officeDocument/2006/math">
                    <m:sSub>
                      <m:sSubPr>
                        <m:ctrlPr>
                          <a:rPr lang="en-US" sz="3600" b="1" i="1" smtClean="0">
                            <a:solidFill>
                              <a:srgbClr val="FF0000"/>
                            </a:solidFill>
                            <a:latin typeface="Cambria Math" panose="02040503050406030204" pitchFamily="18" charset="0"/>
                            <a:ea typeface="Cambria Math" panose="02040503050406030204" pitchFamily="18" charset="0"/>
                          </a:rPr>
                        </m:ctrlPr>
                      </m:sSubPr>
                      <m:e>
                        <m:r>
                          <a:rPr lang="en-US" sz="3600" b="1" i="1" smtClean="0">
                            <a:solidFill>
                              <a:srgbClr val="FF0000"/>
                            </a:solidFill>
                            <a:latin typeface="Cambria Math" panose="02040503050406030204" pitchFamily="18" charset="0"/>
                            <a:ea typeface="Cambria Math" panose="02040503050406030204" pitchFamily="18" charset="0"/>
                          </a:rPr>
                          <m:t>𝒔</m:t>
                        </m:r>
                      </m:e>
                      <m:sub>
                        <m:r>
                          <a:rPr lang="en-US" sz="3600" b="1" i="1" smtClean="0">
                            <a:solidFill>
                              <a:srgbClr val="FF0000"/>
                            </a:solidFill>
                            <a:latin typeface="Cambria Math" panose="02040503050406030204" pitchFamily="18" charset="0"/>
                            <a:ea typeface="Cambria Math" panose="02040503050406030204" pitchFamily="18" charset="0"/>
                          </a:rPr>
                          <m:t>𝟐</m:t>
                        </m:r>
                      </m:sub>
                    </m:sSub>
                    <m:r>
                      <a:rPr lang="en-US" sz="3600" b="1" i="1" smtClean="0">
                        <a:solidFill>
                          <a:srgbClr val="FF0000"/>
                        </a:solidFill>
                        <a:latin typeface="Cambria Math" panose="02040503050406030204" pitchFamily="18" charset="0"/>
                        <a:ea typeface="Cambria Math" panose="02040503050406030204" pitchFamily="18" charset="0"/>
                      </a:rPr>
                      <m:t>=</m:t>
                    </m:r>
                    <m:r>
                      <a:rPr lang="en-US" sz="3600" b="1" i="1" smtClean="0">
                        <a:solidFill>
                          <a:srgbClr val="FF0000"/>
                        </a:solidFill>
                        <a:latin typeface="Cambria Math" panose="02040503050406030204" pitchFamily="18" charset="0"/>
                        <a:ea typeface="Cambria Math" panose="02040503050406030204" pitchFamily="18" charset="0"/>
                      </a:rPr>
                      <m:t>𝟏</m:t>
                    </m:r>
                  </m:oMath>
                </a14:m>
                <a:r>
                  <a:rPr lang="en-US" sz="3600" dirty="0"/>
                  <a:t> then these three function reduce to-</a:t>
                </a:r>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up>
                          <m:r>
                            <a:rPr lang="en-US" sz="3600" i="1">
                              <a:latin typeface="Cambria Math" panose="02040503050406030204" pitchFamily="18" charset="0"/>
                              <a:ea typeface="Cambria Math" panose="02040503050406030204" pitchFamily="18" charset="0"/>
                            </a:rPr>
                            <m:t>′</m:t>
                          </m:r>
                        </m:sup>
                      </m:sSubSup>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m:oMathPara>
                </a14:m>
                <a:endParaRPr lang="en-US" sz="3600" dirty="0"/>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𝑌</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m:oMathPara>
                </a14:m>
                <a:endParaRPr lang="en-US" sz="3600" dirty="0"/>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𝑍</m:t>
                          </m:r>
                        </m:e>
                        <m:sub>
                          <m:r>
                            <a:rPr lang="en-US" sz="3600" i="1">
                              <a:latin typeface="Cambria Math" panose="02040503050406030204" pitchFamily="18" charset="0"/>
                            </a:rPr>
                            <m:t>𝑖</m:t>
                          </m:r>
                        </m:sub>
                      </m:sSub>
                      <m:r>
                        <a:rPr lang="en-US" sz="3600" i="1">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0</m:t>
                      </m:r>
                    </m:oMath>
                  </m:oMathPara>
                </a14:m>
                <a:endParaRPr lang="en-US" sz="3600" dirty="0"/>
              </a:p>
              <a:p>
                <a:r>
                  <a:rPr lang="en-US" sz="3600" dirty="0"/>
                  <a:t>These are the </a:t>
                </a:r>
                <a:r>
                  <a:rPr lang="en-US" sz="3600" b="1" dirty="0">
                    <a:solidFill>
                      <a:srgbClr val="FF0000"/>
                    </a:solidFill>
                  </a:rPr>
                  <a:t>functions of the logic circuit </a:t>
                </a:r>
                <a:r>
                  <a:rPr lang="en-US" sz="3600" dirty="0"/>
                  <a:t>of Fig. 9.8.</a:t>
                </a:r>
              </a:p>
              <a:p>
                <a:endParaRPr lang="en-US" sz="2400" dirty="0"/>
              </a:p>
              <a:p>
                <a:r>
                  <a:rPr lang="en-US" sz="3600" dirty="0"/>
                  <a:t>When </a:t>
                </a:r>
                <a:r>
                  <a:rPr lang="en-US" sz="3600" i="1" dirty="0">
                    <a:solidFill>
                      <a:srgbClr val="FF0000"/>
                    </a:solidFill>
                  </a:rPr>
                  <a:t>s</a:t>
                </a:r>
                <a:r>
                  <a:rPr lang="en-US" sz="3600" baseline="-25000" dirty="0">
                    <a:solidFill>
                      <a:srgbClr val="FF0000"/>
                    </a:solidFill>
                  </a:rPr>
                  <a:t>2</a:t>
                </a:r>
                <a:r>
                  <a:rPr lang="en-US" sz="3600" i="1" dirty="0">
                    <a:solidFill>
                      <a:srgbClr val="FF0000"/>
                    </a:solidFill>
                  </a:rPr>
                  <a:t>s</a:t>
                </a:r>
                <a:r>
                  <a:rPr lang="en-US" sz="3600" baseline="-25000" dirty="0">
                    <a:solidFill>
                      <a:srgbClr val="FF0000"/>
                    </a:solidFill>
                  </a:rPr>
                  <a:t>1</a:t>
                </a:r>
                <a:r>
                  <a:rPr lang="en-US" sz="3600" i="1" dirty="0">
                    <a:solidFill>
                      <a:srgbClr val="FF0000"/>
                    </a:solidFill>
                  </a:rPr>
                  <a:t>s</a:t>
                </a:r>
                <a:r>
                  <a:rPr lang="en-US" sz="3600" baseline="-25000" dirty="0">
                    <a:solidFill>
                      <a:srgbClr val="FF0000"/>
                    </a:solidFill>
                  </a:rPr>
                  <a:t>0</a:t>
                </a:r>
                <a:r>
                  <a:rPr lang="en-US" sz="3600" dirty="0">
                    <a:solidFill>
                      <a:srgbClr val="FF0000"/>
                    </a:solidFill>
                  </a:rPr>
                  <a:t> = 100,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up>
                        <m:r>
                          <a:rPr lang="en-US" sz="3600" i="1">
                            <a:latin typeface="Cambria Math" panose="02040503050406030204" pitchFamily="18" charset="0"/>
                            <a:ea typeface="Cambria Math" panose="02040503050406030204" pitchFamily="18" charset="0"/>
                          </a:rPr>
                          <m:t>′</m:t>
                        </m:r>
                      </m:sup>
                    </m:sSubSup>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b="0" i="1" smtClean="0">
                        <a:latin typeface="Cambria Math" panose="02040503050406030204" pitchFamily="18" charset="0"/>
                        <a:ea typeface="Cambria Math" panose="02040503050406030204" pitchFamily="18" charset="0"/>
                      </a:rPr>
                      <m:t>+</m:t>
                    </m:r>
                    <m:r>
                      <a:rPr lang="en-US" sz="3600" i="1">
                        <a:latin typeface="Cambria Math" panose="02040503050406030204" pitchFamily="18" charset="0"/>
                        <a:ea typeface="Cambria Math" panose="02040503050406030204" pitchFamily="18" charset="0"/>
                      </a:rPr>
                      <m:t>0</m:t>
                    </m:r>
                    <m:r>
                      <a:rPr lang="en-US" sz="360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oMath>
                </a14:m>
                <a:r>
                  <a:rPr lang="en-US" sz="3600" dirty="0"/>
                  <a:t> and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𝑌</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b="0" i="1" smtClean="0">
                        <a:latin typeface="Cambria Math" panose="02040503050406030204" pitchFamily="18" charset="0"/>
                        <a:ea typeface="Cambria Math" panose="02040503050406030204" pitchFamily="18" charset="0"/>
                      </a:rPr>
                      <m:t>=0+0=0. </m:t>
                    </m:r>
                  </m:oMath>
                </a14:m>
                <a:r>
                  <a:rPr lang="en-US" sz="3600" dirty="0"/>
                  <a:t>Hence, we can get the </a:t>
                </a:r>
                <a:r>
                  <a:rPr lang="en-US" sz="3600" dirty="0">
                    <a:solidFill>
                      <a:srgbClr val="FF0000"/>
                    </a:solidFill>
                  </a:rPr>
                  <a:t>OR operation </a:t>
                </a:r>
                <a:r>
                  <a:rPr lang="en-US" sz="3600" dirty="0"/>
                  <a:t>at the output,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𝐹</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smtClean="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𝑌</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rPr>
                      <m:t>=</m:t>
                    </m:r>
                    <m:d>
                      <m:dPr>
                        <m:ctrlPr>
                          <a:rPr lang="en-US" sz="3600" i="1" smtClean="0">
                            <a:latin typeface="Cambria Math" panose="02040503050406030204" pitchFamily="18" charset="0"/>
                          </a:rPr>
                        </m:ctrlPr>
                      </m:dPr>
                      <m:e>
                        <m:sSub>
                          <m:sSubPr>
                            <m:ctrlPr>
                              <a:rPr lang="en-US" sz="3600" i="1">
                                <a:latin typeface="Cambria Math" panose="02040503050406030204" pitchFamily="18" charset="0"/>
                              </a:rPr>
                            </m:ctrlPr>
                          </m:sSubPr>
                          <m:e>
                            <m:r>
                              <a:rPr lang="en-US" sz="3600" i="1">
                                <a:latin typeface="Cambria Math" panose="02040503050406030204" pitchFamily="18" charset="0"/>
                              </a:rPr>
                              <m:t>𝐴</m:t>
                            </m:r>
                          </m:e>
                          <m:sub>
                            <m:r>
                              <a:rPr lang="en-US" sz="3600" i="1">
                                <a:latin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e>
                    </m:d>
                    <m:r>
                      <a:rPr lang="en-US" sz="360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0=</m:t>
                    </m:r>
                    <m:sSub>
                      <m:sSubPr>
                        <m:ctrlPr>
                          <a:rPr lang="en-US" sz="3600" i="1">
                            <a:latin typeface="Cambria Math" panose="02040503050406030204" pitchFamily="18" charset="0"/>
                          </a:rPr>
                        </m:ctrlPr>
                      </m:sSubPr>
                      <m:e>
                        <m:r>
                          <a:rPr lang="en-US" sz="3600" i="1">
                            <a:latin typeface="Cambria Math" panose="02040503050406030204" pitchFamily="18" charset="0"/>
                          </a:rPr>
                          <m:t>𝐴</m:t>
                        </m:r>
                      </m:e>
                      <m:sub>
                        <m:r>
                          <a:rPr lang="en-US" sz="3600" i="1">
                            <a:latin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oMath>
                </a14:m>
                <a:r>
                  <a:rPr lang="en-US" sz="3600" dirty="0"/>
                  <a:t>. </a:t>
                </a:r>
              </a:p>
              <a:p>
                <a:endParaRPr lang="en-US" sz="2400" dirty="0"/>
              </a:p>
              <a:p>
                <a:r>
                  <a:rPr lang="en-US" sz="3600" dirty="0"/>
                  <a:t>When </a:t>
                </a:r>
                <a:r>
                  <a:rPr lang="en-US" sz="3600" i="1" dirty="0">
                    <a:solidFill>
                      <a:srgbClr val="FF0000"/>
                    </a:solidFill>
                  </a:rPr>
                  <a:t>s</a:t>
                </a:r>
                <a:r>
                  <a:rPr lang="en-US" sz="3600" baseline="-25000" dirty="0">
                    <a:solidFill>
                      <a:srgbClr val="FF0000"/>
                    </a:solidFill>
                  </a:rPr>
                  <a:t>2</a:t>
                </a:r>
                <a:r>
                  <a:rPr lang="en-US" sz="3600" i="1" dirty="0">
                    <a:solidFill>
                      <a:srgbClr val="FF0000"/>
                    </a:solidFill>
                  </a:rPr>
                  <a:t>s</a:t>
                </a:r>
                <a:r>
                  <a:rPr lang="en-US" sz="3600" baseline="-25000" dirty="0">
                    <a:solidFill>
                      <a:srgbClr val="FF0000"/>
                    </a:solidFill>
                  </a:rPr>
                  <a:t>1</a:t>
                </a:r>
                <a:r>
                  <a:rPr lang="en-US" sz="3600" i="1" dirty="0">
                    <a:solidFill>
                      <a:srgbClr val="FF0000"/>
                    </a:solidFill>
                  </a:rPr>
                  <a:t>s</a:t>
                </a:r>
                <a:r>
                  <a:rPr lang="en-US" sz="3600" baseline="-25000" dirty="0">
                    <a:solidFill>
                      <a:srgbClr val="FF0000"/>
                    </a:solidFill>
                  </a:rPr>
                  <a:t>0</a:t>
                </a:r>
                <a:r>
                  <a:rPr lang="en-US" sz="3600" dirty="0">
                    <a:solidFill>
                      <a:srgbClr val="FF0000"/>
                    </a:solidFill>
                  </a:rPr>
                  <a:t> = 101,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up>
                        <m:r>
                          <a:rPr lang="en-US" sz="3600" i="1">
                            <a:latin typeface="Cambria Math" panose="02040503050406030204" pitchFamily="18" charset="0"/>
                            <a:ea typeface="Cambria Math" panose="02040503050406030204" pitchFamily="18" charset="0"/>
                          </a:rPr>
                          <m:t>′</m:t>
                        </m:r>
                      </m:sup>
                    </m:sSubSup>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0</m:t>
                    </m:r>
                    <m:r>
                      <a:rPr lang="en-US" sz="3600" i="1">
                        <a:latin typeface="Cambria Math" panose="02040503050406030204" pitchFamily="18" charset="0"/>
                        <a:ea typeface="Cambria Math" panose="02040503050406030204" pitchFamily="18" charset="0"/>
                      </a:rPr>
                      <m:t>+0</m:t>
                    </m:r>
                    <m:r>
                      <a:rPr lang="en-US" sz="360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oMath>
                </a14:m>
                <a:r>
                  <a:rPr lang="en-US" sz="3600" dirty="0"/>
                  <a:t> and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𝑌</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0</m:t>
                    </m:r>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 </m:t>
                    </m:r>
                  </m:oMath>
                </a14:m>
                <a:r>
                  <a:rPr lang="en-US" sz="3600" dirty="0"/>
                  <a:t>Hence, we can get the required </a:t>
                </a:r>
                <a:r>
                  <a:rPr lang="en-US" sz="3600" dirty="0">
                    <a:solidFill>
                      <a:srgbClr val="FF0000"/>
                    </a:solidFill>
                  </a:rPr>
                  <a:t>XOR operation </a:t>
                </a:r>
                <a:r>
                  <a:rPr lang="en-US" sz="3600" dirty="0"/>
                  <a:t>at the output,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𝐹</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𝑌</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b="0" i="1" smtClean="0">
                            <a:latin typeface="Cambria Math" panose="02040503050406030204" pitchFamily="18" charset="0"/>
                          </a:rPr>
                          <m:t>𝐴</m:t>
                        </m:r>
                      </m:e>
                      <m:sub>
                        <m:r>
                          <a:rPr lang="en-US" sz="3600" i="1">
                            <a:latin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oMath>
                </a14:m>
                <a:r>
                  <a:rPr lang="en-US" sz="3600" dirty="0"/>
                  <a:t>.</a:t>
                </a:r>
              </a:p>
            </p:txBody>
          </p:sp>
        </mc:Choice>
        <mc:Fallback xmlns="">
          <p:sp>
            <p:nvSpPr>
              <p:cNvPr id="10" name="TextBox 9"/>
              <p:cNvSpPr txBox="1">
                <a:spLocks noRot="1" noChangeAspect="1" noMove="1" noResize="1" noEditPoints="1" noAdjustHandles="1" noChangeArrowheads="1" noChangeShapeType="1" noTextEdit="1"/>
              </p:cNvSpPr>
              <p:nvPr/>
            </p:nvSpPr>
            <p:spPr>
              <a:xfrm>
                <a:off x="232756" y="982801"/>
                <a:ext cx="16010314" cy="6957674"/>
              </a:xfrm>
              <a:prstGeom prst="rect">
                <a:avLst/>
              </a:prstGeom>
              <a:blipFill>
                <a:blip r:embed="rId2"/>
                <a:stretch>
                  <a:fillRect l="-1142" t="-1313" b="-1926"/>
                </a:stretch>
              </a:blipFill>
            </p:spPr>
            <p:txBody>
              <a:bodyPr/>
              <a:lstStyle/>
              <a:p>
                <a:r>
                  <a:rPr lang="en-US">
                    <a:noFill/>
                  </a:rPr>
                  <a:t> </a:t>
                </a:r>
              </a:p>
            </p:txBody>
          </p:sp>
        </mc:Fallback>
      </mc:AlternateContent>
      <p:sp>
        <p:nvSpPr>
          <p:cNvPr id="11" name="Title 1">
            <a:extLst>
              <a:ext uri="{FF2B5EF4-FFF2-40B4-BE49-F238E27FC236}">
                <a16:creationId xmlns:a16="http://schemas.microsoft.com/office/drawing/2014/main" id="{66DB13EE-9066-4270-BF91-8769F7E74896}"/>
              </a:ext>
            </a:extLst>
          </p:cNvPr>
          <p:cNvSpPr>
            <a:spLocks noGrp="1"/>
          </p:cNvSpPr>
          <p:nvPr>
            <p:ph type="title"/>
          </p:nvPr>
        </p:nvSpPr>
        <p:spPr>
          <a:xfrm>
            <a:off x="1072342" y="305995"/>
            <a:ext cx="12618720" cy="857782"/>
          </a:xfrm>
        </p:spPr>
        <p:txBody>
          <a:bodyPr>
            <a:normAutofit/>
          </a:bodyPr>
          <a:lstStyle/>
          <a:p>
            <a:r>
              <a:rPr lang="en-US" sz="4800" b="1" dirty="0">
                <a:solidFill>
                  <a:srgbClr val="0070C0"/>
                </a:solidFill>
              </a:rPr>
              <a:t>Converting an Arithmetic Circuit to Logic Circuit</a:t>
            </a:r>
          </a:p>
        </p:txBody>
      </p:sp>
    </p:spTree>
    <p:extLst>
      <p:ext uri="{BB962C8B-B14F-4D97-AF65-F5344CB8AC3E}">
        <p14:creationId xmlns:p14="http://schemas.microsoft.com/office/powerpoint/2010/main" val="26751089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741278-3322-4326-B266-7EAC4CA483E1}" type="datetime3">
              <a:rPr lang="en-US" smtClean="0"/>
              <a:t>24 December 2025</a:t>
            </a:fld>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33</a:t>
            </a:fld>
            <a:endParaRPr lang="en-US" dirty="0"/>
          </a:p>
        </p:txBody>
      </p:sp>
      <mc:AlternateContent xmlns:mc="http://schemas.openxmlformats.org/markup-compatibility/2006" xmlns:a14="http://schemas.microsoft.com/office/drawing/2010/main">
        <mc:Choice Requires="a14">
          <p:sp>
            <p:nvSpPr>
              <p:cNvPr id="10" name="TextBox 9"/>
              <p:cNvSpPr txBox="1"/>
              <p:nvPr/>
            </p:nvSpPr>
            <p:spPr>
              <a:xfrm>
                <a:off x="232756" y="1016051"/>
                <a:ext cx="14909089" cy="6928050"/>
              </a:xfrm>
              <a:prstGeom prst="rect">
                <a:avLst/>
              </a:prstGeom>
              <a:noFill/>
            </p:spPr>
            <p:txBody>
              <a:bodyPr wrap="square" rtlCol="0">
                <a:spAutoFit/>
              </a:bodyPr>
              <a:lstStyle/>
              <a:p>
                <a:r>
                  <a:rPr lang="en-US" sz="3600" dirty="0">
                    <a:ea typeface="Cambria Math" panose="02040503050406030204" pitchFamily="18" charset="0"/>
                  </a:rPr>
                  <a:t>When </a:t>
                </a:r>
                <a14:m>
                  <m:oMath xmlns:m="http://schemas.openxmlformats.org/officeDocument/2006/math">
                    <m:sSub>
                      <m:sSubPr>
                        <m:ctrlPr>
                          <a:rPr lang="en-US" sz="3600" b="1" i="1" smtClean="0">
                            <a:solidFill>
                              <a:srgbClr val="FF0000"/>
                            </a:solidFill>
                            <a:latin typeface="Cambria Math" panose="02040503050406030204" pitchFamily="18" charset="0"/>
                            <a:ea typeface="Cambria Math" panose="02040503050406030204" pitchFamily="18" charset="0"/>
                          </a:rPr>
                        </m:ctrlPr>
                      </m:sSubPr>
                      <m:e>
                        <m:r>
                          <a:rPr lang="en-US" sz="3600" b="1" i="1" smtClean="0">
                            <a:solidFill>
                              <a:srgbClr val="FF0000"/>
                            </a:solidFill>
                            <a:latin typeface="Cambria Math" panose="02040503050406030204" pitchFamily="18" charset="0"/>
                            <a:ea typeface="Cambria Math" panose="02040503050406030204" pitchFamily="18" charset="0"/>
                          </a:rPr>
                          <m:t>𝒔</m:t>
                        </m:r>
                      </m:e>
                      <m:sub>
                        <m:r>
                          <a:rPr lang="en-US" sz="3600" b="1" i="1" smtClean="0">
                            <a:solidFill>
                              <a:srgbClr val="FF0000"/>
                            </a:solidFill>
                            <a:latin typeface="Cambria Math" panose="02040503050406030204" pitchFamily="18" charset="0"/>
                            <a:ea typeface="Cambria Math" panose="02040503050406030204" pitchFamily="18" charset="0"/>
                          </a:rPr>
                          <m:t>𝟐</m:t>
                        </m:r>
                      </m:sub>
                    </m:sSub>
                    <m:r>
                      <a:rPr lang="en-US" sz="3600" b="1" i="1" smtClean="0">
                        <a:solidFill>
                          <a:srgbClr val="FF0000"/>
                        </a:solidFill>
                        <a:latin typeface="Cambria Math" panose="02040503050406030204" pitchFamily="18" charset="0"/>
                        <a:ea typeface="Cambria Math" panose="02040503050406030204" pitchFamily="18" charset="0"/>
                      </a:rPr>
                      <m:t>=</m:t>
                    </m:r>
                    <m:r>
                      <a:rPr lang="en-US" sz="3600" b="1" i="1" smtClean="0">
                        <a:solidFill>
                          <a:srgbClr val="FF0000"/>
                        </a:solidFill>
                        <a:latin typeface="Cambria Math" panose="02040503050406030204" pitchFamily="18" charset="0"/>
                        <a:ea typeface="Cambria Math" panose="02040503050406030204" pitchFamily="18" charset="0"/>
                      </a:rPr>
                      <m:t>𝟏</m:t>
                    </m:r>
                  </m:oMath>
                </a14:m>
                <a:r>
                  <a:rPr lang="en-US" sz="3600" dirty="0"/>
                  <a:t> then these three function reduce to-</a:t>
                </a:r>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up>
                          <m:r>
                            <a:rPr lang="en-US" sz="3600" i="1">
                              <a:latin typeface="Cambria Math" panose="02040503050406030204" pitchFamily="18" charset="0"/>
                              <a:ea typeface="Cambria Math" panose="02040503050406030204" pitchFamily="18" charset="0"/>
                            </a:rPr>
                            <m:t>′</m:t>
                          </m:r>
                        </m:sup>
                      </m:sSubSup>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m:oMathPara>
                </a14:m>
                <a:endParaRPr lang="en-US" sz="3600" dirty="0"/>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𝑌</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m:oMathPara>
                </a14:m>
                <a:endParaRPr lang="en-US" sz="3600" dirty="0"/>
              </a:p>
              <a:p>
                <a:pPr algn="ctr"/>
                <a14:m>
                  <m:oMathPara xmlns:m="http://schemas.openxmlformats.org/officeDocument/2006/math">
                    <m:oMathParaPr>
                      <m:jc m:val="center"/>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𝑍</m:t>
                          </m:r>
                        </m:e>
                        <m:sub>
                          <m:r>
                            <a:rPr lang="en-US" sz="3600" i="1">
                              <a:latin typeface="Cambria Math" panose="02040503050406030204" pitchFamily="18" charset="0"/>
                            </a:rPr>
                            <m:t>𝑖</m:t>
                          </m:r>
                        </m:sub>
                      </m:sSub>
                      <m:r>
                        <a:rPr lang="en-US" sz="3600" i="1">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0</m:t>
                      </m:r>
                    </m:oMath>
                  </m:oMathPara>
                </a14:m>
                <a:endParaRPr lang="en-US" sz="3600" dirty="0"/>
              </a:p>
              <a:p>
                <a:r>
                  <a:rPr lang="en-US" sz="3600" dirty="0"/>
                  <a:t>These are the </a:t>
                </a:r>
                <a:r>
                  <a:rPr lang="en-US" sz="3600" b="1" dirty="0">
                    <a:solidFill>
                      <a:srgbClr val="FF0000"/>
                    </a:solidFill>
                  </a:rPr>
                  <a:t>functions of the logic circuit </a:t>
                </a:r>
                <a:r>
                  <a:rPr lang="en-US" sz="3600" dirty="0"/>
                  <a:t>of Fig. 9.8.</a:t>
                </a:r>
              </a:p>
              <a:p>
                <a:endParaRPr lang="en-US" sz="2400" dirty="0"/>
              </a:p>
              <a:p>
                <a:r>
                  <a:rPr lang="en-US" sz="3600" dirty="0"/>
                  <a:t>When </a:t>
                </a:r>
                <a:r>
                  <a:rPr lang="en-US" sz="3600" i="1" dirty="0">
                    <a:solidFill>
                      <a:srgbClr val="FF0000"/>
                    </a:solidFill>
                  </a:rPr>
                  <a:t>s</a:t>
                </a:r>
                <a:r>
                  <a:rPr lang="en-US" sz="3600" baseline="-25000" dirty="0">
                    <a:solidFill>
                      <a:srgbClr val="FF0000"/>
                    </a:solidFill>
                  </a:rPr>
                  <a:t>2</a:t>
                </a:r>
                <a:r>
                  <a:rPr lang="en-US" sz="3600" i="1" dirty="0">
                    <a:solidFill>
                      <a:srgbClr val="FF0000"/>
                    </a:solidFill>
                  </a:rPr>
                  <a:t>s</a:t>
                </a:r>
                <a:r>
                  <a:rPr lang="en-US" sz="3600" baseline="-25000" dirty="0">
                    <a:solidFill>
                      <a:srgbClr val="FF0000"/>
                    </a:solidFill>
                  </a:rPr>
                  <a:t>1</a:t>
                </a:r>
                <a:r>
                  <a:rPr lang="en-US" sz="3600" i="1" dirty="0">
                    <a:solidFill>
                      <a:srgbClr val="FF0000"/>
                    </a:solidFill>
                  </a:rPr>
                  <a:t>s</a:t>
                </a:r>
                <a:r>
                  <a:rPr lang="en-US" sz="3600" baseline="-25000" dirty="0">
                    <a:solidFill>
                      <a:srgbClr val="FF0000"/>
                    </a:solidFill>
                  </a:rPr>
                  <a:t>0</a:t>
                </a:r>
                <a:r>
                  <a:rPr lang="en-US" sz="3600" dirty="0">
                    <a:solidFill>
                      <a:srgbClr val="FF0000"/>
                    </a:solidFill>
                  </a:rPr>
                  <a:t> = 110,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up>
                        <m:r>
                          <a:rPr lang="en-US" sz="3600" i="1">
                            <a:latin typeface="Cambria Math" panose="02040503050406030204" pitchFamily="18" charset="0"/>
                            <a:ea typeface="Cambria Math" panose="02040503050406030204" pitchFamily="18" charset="0"/>
                          </a:rPr>
                          <m:t>′</m:t>
                        </m:r>
                      </m:sup>
                    </m:sSubSup>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0+</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a14:m>
                <a:r>
                  <a:rPr lang="en-US" sz="3600" dirty="0"/>
                  <a:t>and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𝑌</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b="0" i="1" smtClean="0">
                        <a:latin typeface="Cambria Math" panose="02040503050406030204" pitchFamily="18" charset="0"/>
                        <a:ea typeface="Cambria Math" panose="02040503050406030204" pitchFamily="18" charset="0"/>
                      </a:rPr>
                      <m:t>=0+</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b="0" i="1" smtClean="0">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b="0" i="1" smtClean="0">
                        <a:latin typeface="Cambria Math" panose="02040503050406030204" pitchFamily="18" charset="0"/>
                        <a:ea typeface="Cambria Math" panose="02040503050406030204" pitchFamily="18" charset="0"/>
                      </a:rPr>
                      <m:t>. </m:t>
                    </m:r>
                  </m:oMath>
                </a14:m>
                <a:r>
                  <a:rPr lang="en-US" sz="3600" dirty="0"/>
                  <a:t>Hence, we can get the required </a:t>
                </a:r>
                <a:r>
                  <a:rPr lang="en-US" sz="3600" dirty="0">
                    <a:solidFill>
                      <a:srgbClr val="FF0000"/>
                    </a:solidFill>
                  </a:rPr>
                  <a:t>AND operation </a:t>
                </a:r>
                <a:r>
                  <a:rPr lang="en-US" sz="3600" dirty="0"/>
                  <a:t>at the output,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𝐹</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smtClean="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𝑌</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rPr>
                      <m:t>=</m:t>
                    </m:r>
                    <m:d>
                      <m:dPr>
                        <m:ctrlPr>
                          <a:rPr lang="en-US" sz="3600" i="1" smtClean="0">
                            <a:latin typeface="Cambria Math" panose="02040503050406030204" pitchFamily="18" charset="0"/>
                          </a:rPr>
                        </m:ctrlPr>
                      </m:d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e>
                    </m:d>
                    <m:r>
                      <a:rPr lang="en-US" sz="3600" i="1" smtClean="0">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b="0" i="1" smtClean="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rPr>
                        </m:ctrlPr>
                      </m:sSubPr>
                      <m:e>
                        <m:r>
                          <a:rPr lang="en-US" sz="3600" b="0" i="1" smtClean="0">
                            <a:latin typeface="Cambria Math" panose="02040503050406030204" pitchFamily="18" charset="0"/>
                          </a:rPr>
                          <m:t>𝐴</m:t>
                        </m:r>
                      </m:e>
                      <m:sub>
                        <m:r>
                          <a:rPr lang="en-US" sz="3600" i="1">
                            <a:latin typeface="Cambria Math" panose="02040503050406030204" pitchFamily="18" charset="0"/>
                          </a:rPr>
                          <m:t>𝑖</m:t>
                        </m:r>
                      </m:sub>
                    </m:sSub>
                    <m:sSub>
                      <m:sSubPr>
                        <m:ctrlPr>
                          <a:rPr lang="en-US" sz="3600" i="1">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oMath>
                </a14:m>
                <a:r>
                  <a:rPr lang="en-US" sz="3600" dirty="0"/>
                  <a:t>. </a:t>
                </a:r>
              </a:p>
              <a:p>
                <a:endParaRPr lang="en-US" sz="2400" dirty="0"/>
              </a:p>
              <a:p>
                <a:r>
                  <a:rPr lang="en-US" sz="3600" dirty="0"/>
                  <a:t>When </a:t>
                </a:r>
                <a:r>
                  <a:rPr lang="en-US" sz="3600" i="1" dirty="0">
                    <a:solidFill>
                      <a:srgbClr val="FF0000"/>
                    </a:solidFill>
                  </a:rPr>
                  <a:t>s</a:t>
                </a:r>
                <a:r>
                  <a:rPr lang="en-US" sz="3600" baseline="-25000" dirty="0">
                    <a:solidFill>
                      <a:srgbClr val="FF0000"/>
                    </a:solidFill>
                  </a:rPr>
                  <a:t>2</a:t>
                </a:r>
                <a:r>
                  <a:rPr lang="en-US" sz="3600" i="1" dirty="0">
                    <a:solidFill>
                      <a:srgbClr val="FF0000"/>
                    </a:solidFill>
                  </a:rPr>
                  <a:t>s</a:t>
                </a:r>
                <a:r>
                  <a:rPr lang="en-US" sz="3600" baseline="-25000" dirty="0">
                    <a:solidFill>
                      <a:srgbClr val="FF0000"/>
                    </a:solidFill>
                  </a:rPr>
                  <a:t>1</a:t>
                </a:r>
                <a:r>
                  <a:rPr lang="en-US" sz="3600" i="1" dirty="0">
                    <a:solidFill>
                      <a:srgbClr val="FF0000"/>
                    </a:solidFill>
                  </a:rPr>
                  <a:t>s</a:t>
                </a:r>
                <a:r>
                  <a:rPr lang="en-US" sz="3600" baseline="-25000" dirty="0">
                    <a:solidFill>
                      <a:srgbClr val="FF0000"/>
                    </a:solidFill>
                  </a:rPr>
                  <a:t>0</a:t>
                </a:r>
                <a:r>
                  <a:rPr lang="en-US" sz="3600" dirty="0">
                    <a:solidFill>
                      <a:srgbClr val="FF0000"/>
                    </a:solidFill>
                  </a:rPr>
                  <a:t> = 111,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up>
                        <m:r>
                          <a:rPr lang="en-US" sz="3600" i="1">
                            <a:latin typeface="Cambria Math" panose="02040503050406030204" pitchFamily="18" charset="0"/>
                            <a:ea typeface="Cambria Math" panose="02040503050406030204" pitchFamily="18" charset="0"/>
                          </a:rPr>
                          <m:t>′</m:t>
                        </m:r>
                      </m:sup>
                    </m:sSubSup>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1</m:t>
                            </m:r>
                          </m:sub>
                        </m:sSub>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𝑠</m:t>
                            </m:r>
                          </m:e>
                          <m:sub>
                            <m:r>
                              <a:rPr lang="en-US" sz="3600" i="1">
                                <a:latin typeface="Cambria Math" panose="02040503050406030204" pitchFamily="18" charset="0"/>
                                <a:ea typeface="Cambria Math" panose="02040503050406030204" pitchFamily="18" charset="0"/>
                              </a:rPr>
                              <m:t>0</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0</m:t>
                    </m:r>
                    <m:r>
                      <a:rPr lang="en-US" sz="3600" i="1">
                        <a:latin typeface="Cambria Math" panose="02040503050406030204" pitchFamily="18" charset="0"/>
                        <a:ea typeface="Cambria Math" panose="02040503050406030204" pitchFamily="18" charset="0"/>
                      </a:rPr>
                      <m:t>+0</m:t>
                    </m:r>
                    <m:r>
                      <a:rPr lang="en-US" sz="360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oMath>
                </a14:m>
                <a:r>
                  <a:rPr lang="en-US" sz="3600" dirty="0"/>
                  <a:t> and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𝑌</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i="1">
                            <a:latin typeface="Cambria Math" panose="02040503050406030204" pitchFamily="18" charset="0"/>
                            <a:ea typeface="Cambria Math" panose="02040503050406030204" pitchFamily="18" charset="0"/>
                          </a:rPr>
                          <m:t>𝐵</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r>
                      <a:rPr lang="en-US" sz="3600" i="1">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1</m:t>
                    </m:r>
                    <m:r>
                      <a:rPr lang="en-US" sz="3600" i="1">
                        <a:latin typeface="Cambria Math" panose="02040503050406030204" pitchFamily="18" charset="0"/>
                        <a:ea typeface="Cambria Math" panose="02040503050406030204" pitchFamily="18" charset="0"/>
                      </a:rPr>
                      <m:t>. </m:t>
                    </m:r>
                  </m:oMath>
                </a14:m>
                <a:r>
                  <a:rPr lang="en-US" sz="3600" dirty="0"/>
                  <a:t>Hence, we can get the required </a:t>
                </a:r>
                <a:r>
                  <a:rPr lang="en-US" sz="3600" dirty="0">
                    <a:solidFill>
                      <a:srgbClr val="FF0000"/>
                    </a:solidFill>
                  </a:rPr>
                  <a:t>NOT operation </a:t>
                </a:r>
                <a:r>
                  <a:rPr lang="en-US" sz="3600" dirty="0"/>
                  <a:t>at the output,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𝐹</m:t>
                        </m:r>
                      </m:e>
                      <m:sub>
                        <m:r>
                          <a:rPr lang="en-US" sz="3600" i="1">
                            <a:latin typeface="Cambria Math" panose="02040503050406030204" pitchFamily="18" charset="0"/>
                          </a:rPr>
                          <m:t>𝑖</m:t>
                        </m:r>
                      </m:sub>
                    </m:sSub>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sub>
                    </m:sSub>
                    <m:r>
                      <a:rPr lang="en-US" sz="3600" i="1">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𝑌</m:t>
                        </m:r>
                      </m:e>
                      <m:sub>
                        <m:r>
                          <a:rPr lang="en-US" sz="3600" i="1">
                            <a:latin typeface="Cambria Math" panose="02040503050406030204" pitchFamily="18" charset="0"/>
                            <a:ea typeface="Cambria Math" panose="02040503050406030204" pitchFamily="18" charset="0"/>
                          </a:rPr>
                          <m:t>𝑖</m:t>
                        </m:r>
                      </m:sub>
                    </m:sSub>
                    <m:r>
                      <a:rPr lang="en-US" sz="3600" b="0" i="1" smtClean="0">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Sub>
                    <m:nary>
                      <m:naryPr>
                        <m:chr m:val="⨁"/>
                        <m:limLoc m:val="undOvr"/>
                        <m:subHide m:val="on"/>
                        <m:supHide m:val="on"/>
                        <m:ctrlPr>
                          <a:rPr lang="en-US" sz="3600" i="1" smtClean="0">
                            <a:latin typeface="Cambria Math" panose="02040503050406030204" pitchFamily="18" charset="0"/>
                            <a:ea typeface="Cambria Math" panose="02040503050406030204" pitchFamily="18" charset="0"/>
                          </a:rPr>
                        </m:ctrlPr>
                      </m:naryPr>
                      <m:sub/>
                      <m:sup/>
                      <m:e>
                        <m:r>
                          <a:rPr lang="en-US" sz="3600" b="0" i="1" smtClean="0">
                            <a:latin typeface="Cambria Math" panose="02040503050406030204" pitchFamily="18" charset="0"/>
                            <a:ea typeface="Cambria Math" panose="02040503050406030204" pitchFamily="18" charset="0"/>
                          </a:rPr>
                          <m:t>1</m:t>
                        </m:r>
                      </m:e>
                    </m:nary>
                    <m:r>
                      <a:rPr lang="en-US" sz="3600" b="0" i="1" smtClean="0">
                        <a:latin typeface="Cambria Math" panose="02040503050406030204" pitchFamily="18" charset="0"/>
                        <a:ea typeface="Cambria Math" panose="02040503050406030204" pitchFamily="18" charset="0"/>
                      </a:rPr>
                      <m:t>=</m:t>
                    </m:r>
                    <m:sSubSup>
                      <m:sSubSupPr>
                        <m:ctrlPr>
                          <a:rPr lang="en-US" sz="3600" i="1">
                            <a:latin typeface="Cambria Math" panose="02040503050406030204" pitchFamily="18" charset="0"/>
                            <a:ea typeface="Cambria Math" panose="02040503050406030204" pitchFamily="18" charset="0"/>
                          </a:rPr>
                        </m:ctrlPr>
                      </m:sSubSupPr>
                      <m:e>
                        <m:r>
                          <a:rPr lang="en-US" sz="3600" b="0" i="1" smtClean="0">
                            <a:latin typeface="Cambria Math" panose="02040503050406030204" pitchFamily="18" charset="0"/>
                            <a:ea typeface="Cambria Math" panose="02040503050406030204" pitchFamily="18" charset="0"/>
                          </a:rPr>
                          <m:t>𝐴</m:t>
                        </m:r>
                      </m:e>
                      <m:sub>
                        <m:r>
                          <a:rPr lang="en-US" sz="3600" i="1">
                            <a:latin typeface="Cambria Math" panose="02040503050406030204" pitchFamily="18" charset="0"/>
                            <a:ea typeface="Cambria Math" panose="02040503050406030204" pitchFamily="18" charset="0"/>
                          </a:rPr>
                          <m:t>𝑖</m:t>
                        </m:r>
                      </m:sub>
                      <m:sup>
                        <m:r>
                          <a:rPr lang="en-US" sz="3600" i="1">
                            <a:latin typeface="Cambria Math" panose="02040503050406030204" pitchFamily="18" charset="0"/>
                            <a:ea typeface="Cambria Math" panose="02040503050406030204" pitchFamily="18" charset="0"/>
                          </a:rPr>
                          <m:t>′</m:t>
                        </m:r>
                      </m:sup>
                    </m:sSubSup>
                  </m:oMath>
                </a14:m>
                <a:r>
                  <a:rPr lang="en-US" sz="3600" dirty="0"/>
                  <a:t>.</a:t>
                </a:r>
              </a:p>
            </p:txBody>
          </p:sp>
        </mc:Choice>
        <mc:Fallback xmlns="">
          <p:sp>
            <p:nvSpPr>
              <p:cNvPr id="10" name="TextBox 9"/>
              <p:cNvSpPr txBox="1">
                <a:spLocks noRot="1" noChangeAspect="1" noMove="1" noResize="1" noEditPoints="1" noAdjustHandles="1" noChangeArrowheads="1" noChangeShapeType="1" noTextEdit="1"/>
              </p:cNvSpPr>
              <p:nvPr/>
            </p:nvSpPr>
            <p:spPr>
              <a:xfrm>
                <a:off x="232756" y="1016051"/>
                <a:ext cx="14909089" cy="6928050"/>
              </a:xfrm>
              <a:prstGeom prst="rect">
                <a:avLst/>
              </a:prstGeom>
              <a:blipFill>
                <a:blip r:embed="rId2"/>
                <a:stretch>
                  <a:fillRect l="-1226" t="-1408" b="-2465"/>
                </a:stretch>
              </a:blipFill>
            </p:spPr>
            <p:txBody>
              <a:bodyPr/>
              <a:lstStyle/>
              <a:p>
                <a:r>
                  <a:rPr lang="en-US">
                    <a:noFill/>
                  </a:rPr>
                  <a:t> </a:t>
                </a:r>
              </a:p>
            </p:txBody>
          </p:sp>
        </mc:Fallback>
      </mc:AlternateContent>
      <p:sp>
        <p:nvSpPr>
          <p:cNvPr id="11" name="Title 1">
            <a:extLst>
              <a:ext uri="{FF2B5EF4-FFF2-40B4-BE49-F238E27FC236}">
                <a16:creationId xmlns:a16="http://schemas.microsoft.com/office/drawing/2014/main" id="{66DB13EE-9066-4270-BF91-8769F7E74896}"/>
              </a:ext>
            </a:extLst>
          </p:cNvPr>
          <p:cNvSpPr>
            <a:spLocks noGrp="1"/>
          </p:cNvSpPr>
          <p:nvPr>
            <p:ph type="title"/>
          </p:nvPr>
        </p:nvSpPr>
        <p:spPr>
          <a:xfrm>
            <a:off x="1072342" y="305995"/>
            <a:ext cx="12618720" cy="857782"/>
          </a:xfrm>
        </p:spPr>
        <p:txBody>
          <a:bodyPr>
            <a:normAutofit/>
          </a:bodyPr>
          <a:lstStyle/>
          <a:p>
            <a:r>
              <a:rPr lang="en-US" sz="4800" b="1" dirty="0">
                <a:solidFill>
                  <a:srgbClr val="0070C0"/>
                </a:solidFill>
              </a:rPr>
              <a:t>Converting an Arithmetic Circuit to Logic Circuit</a:t>
            </a:r>
          </a:p>
        </p:txBody>
      </p:sp>
    </p:spTree>
    <p:extLst>
      <p:ext uri="{BB962C8B-B14F-4D97-AF65-F5344CB8AC3E}">
        <p14:creationId xmlns:p14="http://schemas.microsoft.com/office/powerpoint/2010/main" val="30753578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61BBCE5-E02E-4932-B9D1-14D6AB1BEF01}"/>
              </a:ext>
            </a:extLst>
          </p:cNvPr>
          <p:cNvSpPr>
            <a:spLocks noGrp="1"/>
          </p:cNvSpPr>
          <p:nvPr>
            <p:ph type="title"/>
          </p:nvPr>
        </p:nvSpPr>
        <p:spPr>
          <a:xfrm>
            <a:off x="7315201" y="1030777"/>
            <a:ext cx="8711734" cy="1397504"/>
          </a:xfrm>
        </p:spPr>
        <p:txBody>
          <a:bodyPr>
            <a:normAutofit/>
          </a:bodyPr>
          <a:lstStyle/>
          <a:p>
            <a:r>
              <a:rPr lang="en-US" sz="4400" dirty="0">
                <a:solidFill>
                  <a:srgbClr val="0070C0"/>
                </a:solidFill>
              </a:rPr>
              <a:t>Logic Diagram of ALU (Only the </a:t>
            </a:r>
            <a:r>
              <a:rPr lang="en-US" sz="4400" b="1" dirty="0">
                <a:solidFill>
                  <a:srgbClr val="FF0000"/>
                </a:solidFill>
              </a:rPr>
              <a:t>first two stages </a:t>
            </a:r>
            <a:r>
              <a:rPr lang="en-US" sz="4400" dirty="0">
                <a:solidFill>
                  <a:srgbClr val="0070C0"/>
                </a:solidFill>
              </a:rPr>
              <a:t>are drawn)</a:t>
            </a:r>
          </a:p>
        </p:txBody>
      </p:sp>
      <p:sp>
        <p:nvSpPr>
          <p:cNvPr id="3" name="Date Placeholder 2"/>
          <p:cNvSpPr>
            <a:spLocks noGrp="1"/>
          </p:cNvSpPr>
          <p:nvPr>
            <p:ph type="dt" sz="half" idx="10"/>
          </p:nvPr>
        </p:nvSpPr>
        <p:spPr/>
        <p:txBody>
          <a:bodyPr/>
          <a:lstStyle/>
          <a:p>
            <a:fld id="{DE46F3C4-39A8-4632-B40D-2C7581424C2E}" type="datetime3">
              <a:rPr lang="en-US" smtClean="0"/>
              <a:t>24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34</a:t>
            </a:fld>
            <a:endParaRPr lang="en-US" dirty="0"/>
          </a:p>
        </p:txBody>
      </p:sp>
      <p:sp>
        <p:nvSpPr>
          <p:cNvPr id="8" name="Title 1">
            <a:extLst>
              <a:ext uri="{FF2B5EF4-FFF2-40B4-BE49-F238E27FC236}">
                <a16:creationId xmlns:a16="http://schemas.microsoft.com/office/drawing/2014/main" id="{66DB13EE-9066-4270-BF91-8769F7E74896}"/>
              </a:ext>
            </a:extLst>
          </p:cNvPr>
          <p:cNvSpPr txBox="1">
            <a:spLocks/>
          </p:cNvSpPr>
          <p:nvPr/>
        </p:nvSpPr>
        <p:spPr>
          <a:xfrm>
            <a:off x="1371596" y="172995"/>
            <a:ext cx="12618720" cy="857782"/>
          </a:xfrm>
          <a:prstGeom prst="rect">
            <a:avLst/>
          </a:prstGeom>
        </p:spPr>
        <p:txBody>
          <a:bodyPr vert="horz" lIns="91440" tIns="45720" rIns="91440" bIns="45720" rtlCol="0" anchor="ctr">
            <a:norm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4800" b="1" dirty="0">
                <a:solidFill>
                  <a:srgbClr val="0070C0"/>
                </a:solidFill>
              </a:rPr>
              <a:t>Converting an Arithmetic Circuit to Logic Circuit</a:t>
            </a:r>
          </a:p>
        </p:txBody>
      </p:sp>
      <p:pic>
        <p:nvPicPr>
          <p:cNvPr id="9" name="Content Placeholder 3">
            <a:extLst>
              <a:ext uri="{FF2B5EF4-FFF2-40B4-BE49-F238E27FC236}">
                <a16:creationId xmlns:a16="http://schemas.microsoft.com/office/drawing/2014/main" id="{27E109C2-2C1B-4DE7-9CB1-E7209FCC520C}"/>
              </a:ext>
            </a:extLst>
          </p:cNvPr>
          <p:cNvPicPr>
            <a:picLocks noChangeAspect="1"/>
          </p:cNvPicPr>
          <p:nvPr/>
        </p:nvPicPr>
        <p:blipFill rotWithShape="1">
          <a:blip r:embed="rId2">
            <a:duotone>
              <a:prstClr val="black"/>
              <a:schemeClr val="accent6">
                <a:tint val="45000"/>
                <a:satMod val="400000"/>
              </a:schemeClr>
            </a:duotone>
          </a:blip>
          <a:srcRect l="3516" t="9615" r="3180" b="10034"/>
          <a:stretch/>
        </p:blipFill>
        <p:spPr>
          <a:xfrm>
            <a:off x="7467600" y="3870264"/>
            <a:ext cx="8841973" cy="2949636"/>
          </a:xfrm>
          <a:prstGeom prst="rect">
            <a:avLst/>
          </a:prstGeom>
        </p:spPr>
      </p:pic>
      <p:sp>
        <p:nvSpPr>
          <p:cNvPr id="10" name="TextBox 9">
            <a:extLst>
              <a:ext uri="{FF2B5EF4-FFF2-40B4-BE49-F238E27FC236}">
                <a16:creationId xmlns:a16="http://schemas.microsoft.com/office/drawing/2014/main" id="{AF296420-6C5C-4640-9738-9991B81D0F21}"/>
              </a:ext>
            </a:extLst>
          </p:cNvPr>
          <p:cNvSpPr txBox="1"/>
          <p:nvPr/>
        </p:nvSpPr>
        <p:spPr>
          <a:xfrm>
            <a:off x="9525000" y="3077255"/>
            <a:ext cx="4465316" cy="707886"/>
          </a:xfrm>
          <a:prstGeom prst="rect">
            <a:avLst/>
          </a:prstGeom>
          <a:noFill/>
        </p:spPr>
        <p:txBody>
          <a:bodyPr wrap="square" rtlCol="0">
            <a:spAutoFit/>
          </a:bodyPr>
          <a:lstStyle/>
          <a:p>
            <a:pPr algn="ctr"/>
            <a:r>
              <a:rPr lang="en-US" sz="4000" b="1" dirty="0">
                <a:solidFill>
                  <a:srgbClr val="FF0000"/>
                </a:solidFill>
              </a:rPr>
              <a:t>Table 9-3</a:t>
            </a:r>
          </a:p>
        </p:txBody>
      </p:sp>
      <p:sp>
        <p:nvSpPr>
          <p:cNvPr id="11" name="TextBox 10"/>
          <p:cNvSpPr txBox="1"/>
          <p:nvPr/>
        </p:nvSpPr>
        <p:spPr>
          <a:xfrm>
            <a:off x="14465301" y="5073662"/>
            <a:ext cx="1075386" cy="646331"/>
          </a:xfrm>
          <a:prstGeom prst="rect">
            <a:avLst/>
          </a:prstGeom>
          <a:noFill/>
        </p:spPr>
        <p:txBody>
          <a:bodyPr wrap="square" rtlCol="0">
            <a:spAutoFit/>
          </a:bodyPr>
          <a:lstStyle/>
          <a:p>
            <a:r>
              <a:rPr lang="en-US" sz="3600" b="1" dirty="0">
                <a:solidFill>
                  <a:srgbClr val="FF0000"/>
                </a:solidFill>
                <a:latin typeface="Times New Roman" panose="02020603050405020304" pitchFamily="18" charset="0"/>
                <a:cs typeface="Times New Roman" panose="02020603050405020304" pitchFamily="18" charset="0"/>
              </a:rPr>
              <a:t>?</a:t>
            </a:r>
          </a:p>
        </p:txBody>
      </p:sp>
      <p:sp>
        <p:nvSpPr>
          <p:cNvPr id="12" name="TextBox 11"/>
          <p:cNvSpPr txBox="1"/>
          <p:nvPr/>
        </p:nvSpPr>
        <p:spPr>
          <a:xfrm>
            <a:off x="14465301" y="5902369"/>
            <a:ext cx="1075385" cy="646331"/>
          </a:xfrm>
          <a:prstGeom prst="rect">
            <a:avLst/>
          </a:prstGeom>
          <a:noFill/>
        </p:spPr>
        <p:txBody>
          <a:bodyPr wrap="square" rtlCol="0">
            <a:spAutoFit/>
          </a:bodyPr>
          <a:lstStyle/>
          <a:p>
            <a:r>
              <a:rPr lang="en-US" sz="3600" b="1" dirty="0">
                <a:solidFill>
                  <a:srgbClr val="FF0000"/>
                </a:solidFill>
                <a:latin typeface="Times New Roman" panose="02020603050405020304" pitchFamily="18" charset="0"/>
                <a:cs typeface="Times New Roman" panose="02020603050405020304" pitchFamily="18" charset="0"/>
              </a:rPr>
              <a:t>?</a:t>
            </a:r>
          </a:p>
        </p:txBody>
      </p:sp>
      <p:pic>
        <p:nvPicPr>
          <p:cNvPr id="13" name="Picture 12"/>
          <p:cNvPicPr>
            <a:picLocks noChangeAspect="1"/>
          </p:cNvPicPr>
          <p:nvPr/>
        </p:nvPicPr>
        <p:blipFill rotWithShape="1">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contrast="-40000"/>
                    </a14:imgEffect>
                  </a14:imgLayer>
                </a14:imgProps>
              </a:ext>
            </a:extLst>
          </a:blip>
          <a:srcRect l="1833" t="2672" r="1901" b="5177"/>
          <a:stretch/>
        </p:blipFill>
        <p:spPr>
          <a:xfrm>
            <a:off x="698270" y="897775"/>
            <a:ext cx="6616930" cy="7128138"/>
          </a:xfrm>
          <a:prstGeom prst="rect">
            <a:avLst/>
          </a:prstGeom>
        </p:spPr>
      </p:pic>
      <p:sp>
        <p:nvSpPr>
          <p:cNvPr id="2" name="TextBox 1"/>
          <p:cNvSpPr txBox="1"/>
          <p:nvPr/>
        </p:nvSpPr>
        <p:spPr>
          <a:xfrm>
            <a:off x="317500" y="7420198"/>
            <a:ext cx="5540861" cy="523220"/>
          </a:xfrm>
          <a:prstGeom prst="rect">
            <a:avLst/>
          </a:prstGeom>
          <a:noFill/>
        </p:spPr>
        <p:txBody>
          <a:bodyPr wrap="square" rtlCol="0">
            <a:spAutoFit/>
          </a:bodyPr>
          <a:lstStyle/>
          <a:p>
            <a:r>
              <a:rPr lang="en-US" sz="2800" dirty="0">
                <a:solidFill>
                  <a:srgbClr val="FF0000"/>
                </a:solidFill>
              </a:rPr>
              <a:t>Figure 9.13: Logic diagram of ALU</a:t>
            </a:r>
          </a:p>
        </p:txBody>
      </p:sp>
    </p:spTree>
    <p:extLst>
      <p:ext uri="{BB962C8B-B14F-4D97-AF65-F5344CB8AC3E}">
        <p14:creationId xmlns:p14="http://schemas.microsoft.com/office/powerpoint/2010/main" val="2472159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circle(in)">
                                      <p:cBhvr>
                                        <p:cTn id="35" dur="20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circle(in)">
                                      <p:cBhvr>
                                        <p:cTn id="4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F2B36D3-EBB7-456F-B967-74E86B2BA5D1}"/>
              </a:ext>
            </a:extLst>
          </p:cNvPr>
          <p:cNvPicPr>
            <a:picLocks noGrp="1" noChangeAspect="1"/>
          </p:cNvPicPr>
          <p:nvPr>
            <p:ph idx="1"/>
          </p:nvPr>
        </p:nvPicPr>
        <p:blipFill rotWithShape="1">
          <a:blip r:embed="rId2">
            <a:duotone>
              <a:schemeClr val="accent4">
                <a:shade val="45000"/>
                <a:satMod val="135000"/>
              </a:schemeClr>
              <a:prstClr val="white"/>
            </a:duotone>
            <a:lum bright="-20000" contrast="40000"/>
          </a:blip>
          <a:srcRect l="3090" t="4173" r="6615" b="2013"/>
          <a:stretch/>
        </p:blipFill>
        <p:spPr>
          <a:xfrm>
            <a:off x="6035040" y="1463028"/>
            <a:ext cx="10309752" cy="6459264"/>
          </a:xfrm>
          <a:prstGeom prst="rect">
            <a:avLst/>
          </a:prstGeom>
        </p:spPr>
      </p:pic>
      <p:sp>
        <p:nvSpPr>
          <p:cNvPr id="2" name="Date Placeholder 1"/>
          <p:cNvSpPr>
            <a:spLocks noGrp="1"/>
          </p:cNvSpPr>
          <p:nvPr>
            <p:ph type="dt" sz="half" idx="10"/>
          </p:nvPr>
        </p:nvSpPr>
        <p:spPr/>
        <p:txBody>
          <a:bodyPr/>
          <a:lstStyle/>
          <a:p>
            <a:fld id="{B5F84ABD-8FA6-48CC-8A06-3E204632FFA2}" type="datetime3">
              <a:rPr lang="en-US" smtClean="0"/>
              <a:t>24 December 2025</a:t>
            </a:fld>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35</a:t>
            </a:fld>
            <a:endParaRPr lang="en-US" dirty="0"/>
          </a:p>
        </p:txBody>
      </p:sp>
      <p:sp>
        <p:nvSpPr>
          <p:cNvPr id="9" name="TextBox 8"/>
          <p:cNvSpPr txBox="1"/>
          <p:nvPr/>
        </p:nvSpPr>
        <p:spPr>
          <a:xfrm>
            <a:off x="199506" y="1132426"/>
            <a:ext cx="5835534" cy="6494085"/>
          </a:xfrm>
          <a:prstGeom prst="rect">
            <a:avLst/>
          </a:prstGeom>
          <a:noFill/>
        </p:spPr>
        <p:txBody>
          <a:bodyPr wrap="square" rtlCol="0">
            <a:spAutoFit/>
          </a:bodyPr>
          <a:lstStyle/>
          <a:p>
            <a:r>
              <a:rPr lang="en-US" sz="3200" dirty="0">
                <a:ea typeface="Cambria Math" panose="02040503050406030204" pitchFamily="18" charset="0"/>
              </a:rPr>
              <a:t>The </a:t>
            </a:r>
            <a:r>
              <a:rPr lang="en-US" sz="3200" dirty="0">
                <a:solidFill>
                  <a:srgbClr val="FF0000"/>
                </a:solidFill>
                <a:ea typeface="Cambria Math" panose="02040503050406030204" pitchFamily="18" charset="0"/>
              </a:rPr>
              <a:t>12 operations </a:t>
            </a:r>
            <a:r>
              <a:rPr lang="en-US" sz="3200" dirty="0">
                <a:ea typeface="Cambria Math" panose="02040503050406030204" pitchFamily="18" charset="0"/>
              </a:rPr>
              <a:t>(8 arithmetic and 4 logical) generated in the ALU are </a:t>
            </a:r>
            <a:r>
              <a:rPr lang="en-US" sz="3200" dirty="0">
                <a:solidFill>
                  <a:srgbClr val="FF0000"/>
                </a:solidFill>
                <a:ea typeface="Cambria Math" panose="02040503050406030204" pitchFamily="18" charset="0"/>
              </a:rPr>
              <a:t>summarized in Table 9.4</a:t>
            </a:r>
            <a:r>
              <a:rPr lang="en-US" sz="3200" dirty="0">
                <a:ea typeface="Cambria Math" panose="02040503050406030204" pitchFamily="18" charset="0"/>
              </a:rPr>
              <a:t>. The function is selected through </a:t>
            </a:r>
            <a:r>
              <a:rPr lang="en-US" sz="3200" i="1" dirty="0">
                <a:ea typeface="Cambria Math" panose="02040503050406030204" pitchFamily="18" charset="0"/>
              </a:rPr>
              <a:t>s</a:t>
            </a:r>
            <a:r>
              <a:rPr lang="en-US" sz="3200" baseline="-25000" dirty="0">
                <a:ea typeface="Cambria Math" panose="02040503050406030204" pitchFamily="18" charset="0"/>
              </a:rPr>
              <a:t>2</a:t>
            </a:r>
            <a:r>
              <a:rPr lang="en-US" sz="3200" dirty="0">
                <a:ea typeface="Cambria Math" panose="02040503050406030204" pitchFamily="18" charset="0"/>
              </a:rPr>
              <a:t>, </a:t>
            </a:r>
            <a:r>
              <a:rPr lang="en-US" sz="3200" i="1" dirty="0">
                <a:ea typeface="Cambria Math" panose="02040503050406030204" pitchFamily="18" charset="0"/>
              </a:rPr>
              <a:t>s</a:t>
            </a:r>
            <a:r>
              <a:rPr lang="en-US" sz="3200" baseline="-25000" dirty="0">
                <a:ea typeface="Cambria Math" panose="02040503050406030204" pitchFamily="18" charset="0"/>
              </a:rPr>
              <a:t>1</a:t>
            </a:r>
            <a:r>
              <a:rPr lang="en-US" sz="3200" dirty="0">
                <a:ea typeface="Cambria Math" panose="02040503050406030204" pitchFamily="18" charset="0"/>
              </a:rPr>
              <a:t>, </a:t>
            </a:r>
            <a:r>
              <a:rPr lang="en-US" sz="3200" i="1" dirty="0">
                <a:ea typeface="Cambria Math" panose="02040503050406030204" pitchFamily="18" charset="0"/>
              </a:rPr>
              <a:t>s</a:t>
            </a:r>
            <a:r>
              <a:rPr lang="en-US" sz="3200" baseline="-25000" dirty="0">
                <a:ea typeface="Cambria Math" panose="02040503050406030204" pitchFamily="18" charset="0"/>
              </a:rPr>
              <a:t>0</a:t>
            </a:r>
            <a:r>
              <a:rPr lang="en-US" sz="3200" dirty="0">
                <a:ea typeface="Cambria Math" panose="02040503050406030204" pitchFamily="18" charset="0"/>
              </a:rPr>
              <a:t>, and </a:t>
            </a:r>
            <a:r>
              <a:rPr lang="en-US" sz="3200" i="1" dirty="0" err="1">
                <a:ea typeface="Cambria Math" panose="02040503050406030204" pitchFamily="18" charset="0"/>
              </a:rPr>
              <a:t>C</a:t>
            </a:r>
            <a:r>
              <a:rPr lang="en-US" sz="3200" i="1" baseline="-25000" dirty="0" err="1">
                <a:ea typeface="Cambria Math" panose="02040503050406030204" pitchFamily="18" charset="0"/>
              </a:rPr>
              <a:t>in</a:t>
            </a:r>
            <a:r>
              <a:rPr lang="en-US" sz="3200" dirty="0">
                <a:ea typeface="Cambria Math" panose="02040503050406030204" pitchFamily="18" charset="0"/>
              </a:rPr>
              <a:t>.</a:t>
            </a:r>
          </a:p>
          <a:p>
            <a:endParaRPr lang="en-US" sz="2400" dirty="0">
              <a:ea typeface="Cambria Math" panose="02040503050406030204" pitchFamily="18" charset="0"/>
            </a:endParaRPr>
          </a:p>
          <a:p>
            <a:r>
              <a:rPr lang="en-US" sz="3200" dirty="0">
                <a:ea typeface="Cambria Math" panose="02040503050406030204" pitchFamily="18" charset="0"/>
              </a:rPr>
              <a:t>The arithmetic operations are identical to the ones listed for the arithmetic circuit. The value of </a:t>
            </a:r>
            <a:r>
              <a:rPr lang="en-US" sz="3200" i="1" dirty="0" err="1">
                <a:ea typeface="Cambria Math" panose="02040503050406030204" pitchFamily="18" charset="0"/>
              </a:rPr>
              <a:t>C</a:t>
            </a:r>
            <a:r>
              <a:rPr lang="en-US" sz="3200" i="1" baseline="-25000" dirty="0" err="1">
                <a:ea typeface="Cambria Math" panose="02040503050406030204" pitchFamily="18" charset="0"/>
              </a:rPr>
              <a:t>in</a:t>
            </a:r>
            <a:r>
              <a:rPr lang="en-US" sz="3200" dirty="0">
                <a:ea typeface="Cambria Math" panose="02040503050406030204" pitchFamily="18" charset="0"/>
              </a:rPr>
              <a:t> for the four logic functions has no effect on the operations of the unit and those entries are marked as don’t cares (</a:t>
            </a:r>
            <a:r>
              <a:rPr lang="en-US" sz="3200" i="1" dirty="0" err="1">
                <a:ea typeface="Cambria Math" panose="02040503050406030204" pitchFamily="18" charset="0"/>
              </a:rPr>
              <a:t>X</a:t>
            </a:r>
            <a:r>
              <a:rPr lang="en-US" sz="3200" dirty="0" err="1">
                <a:ea typeface="Cambria Math" panose="02040503050406030204" pitchFamily="18" charset="0"/>
              </a:rPr>
              <a:t>s</a:t>
            </a:r>
            <a:r>
              <a:rPr lang="en-US" sz="3200" dirty="0">
                <a:ea typeface="Cambria Math" panose="02040503050406030204" pitchFamily="18" charset="0"/>
              </a:rPr>
              <a:t>).</a:t>
            </a:r>
            <a:endParaRPr lang="en-US" sz="3200" dirty="0"/>
          </a:p>
        </p:txBody>
      </p:sp>
      <p:sp>
        <p:nvSpPr>
          <p:cNvPr id="10" name="Title 1">
            <a:extLst>
              <a:ext uri="{FF2B5EF4-FFF2-40B4-BE49-F238E27FC236}">
                <a16:creationId xmlns:a16="http://schemas.microsoft.com/office/drawing/2014/main" id="{66DB13EE-9066-4270-BF91-8769F7E74896}"/>
              </a:ext>
            </a:extLst>
          </p:cNvPr>
          <p:cNvSpPr>
            <a:spLocks noGrp="1"/>
          </p:cNvSpPr>
          <p:nvPr>
            <p:ph type="title"/>
          </p:nvPr>
        </p:nvSpPr>
        <p:spPr>
          <a:xfrm>
            <a:off x="1072342" y="305995"/>
            <a:ext cx="12618720" cy="857782"/>
          </a:xfrm>
        </p:spPr>
        <p:txBody>
          <a:bodyPr>
            <a:normAutofit/>
          </a:bodyPr>
          <a:lstStyle/>
          <a:p>
            <a:r>
              <a:rPr lang="en-US" sz="4800" b="1" dirty="0">
                <a:solidFill>
                  <a:srgbClr val="0070C0"/>
                </a:solidFill>
              </a:rPr>
              <a:t>Converting an Arithmetic Circuit to Logic Circuit</a:t>
            </a:r>
          </a:p>
        </p:txBody>
      </p:sp>
      <p:sp>
        <p:nvSpPr>
          <p:cNvPr id="6" name="Rectangle 5"/>
          <p:cNvSpPr/>
          <p:nvPr/>
        </p:nvSpPr>
        <p:spPr>
          <a:xfrm>
            <a:off x="9770716" y="1016051"/>
            <a:ext cx="1896994" cy="646331"/>
          </a:xfrm>
          <a:prstGeom prst="rect">
            <a:avLst/>
          </a:prstGeom>
        </p:spPr>
        <p:txBody>
          <a:bodyPr wrap="none">
            <a:spAutoFit/>
          </a:bodyPr>
          <a:lstStyle/>
          <a:p>
            <a:r>
              <a:rPr lang="en-US" sz="3600" b="1" dirty="0">
                <a:solidFill>
                  <a:srgbClr val="FF0000"/>
                </a:solidFill>
                <a:ea typeface="Cambria Math" panose="02040503050406030204" pitchFamily="18" charset="0"/>
              </a:rPr>
              <a:t>Table 9.4</a:t>
            </a:r>
            <a:endParaRPr lang="en-US" sz="3600" b="1" dirty="0"/>
          </a:p>
        </p:txBody>
      </p:sp>
      <p:sp>
        <p:nvSpPr>
          <p:cNvPr id="7" name="Rectangle 6">
            <a:extLst>
              <a:ext uri="{FF2B5EF4-FFF2-40B4-BE49-F238E27FC236}">
                <a16:creationId xmlns:a16="http://schemas.microsoft.com/office/drawing/2014/main" id="{AEF085D6-298D-5839-A368-192E54C9D4A9}"/>
              </a:ext>
            </a:extLst>
          </p:cNvPr>
          <p:cNvSpPr/>
          <p:nvPr/>
        </p:nvSpPr>
        <p:spPr>
          <a:xfrm>
            <a:off x="6146800" y="2819400"/>
            <a:ext cx="3746500" cy="3314700"/>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160"/>
          </a:p>
        </p:txBody>
      </p:sp>
      <p:sp>
        <p:nvSpPr>
          <p:cNvPr id="8" name="Rectangle 7">
            <a:extLst>
              <a:ext uri="{FF2B5EF4-FFF2-40B4-BE49-F238E27FC236}">
                <a16:creationId xmlns:a16="http://schemas.microsoft.com/office/drawing/2014/main" id="{3500708D-07FB-A845-A3C4-3501D073F2E1}"/>
              </a:ext>
            </a:extLst>
          </p:cNvPr>
          <p:cNvSpPr/>
          <p:nvPr/>
        </p:nvSpPr>
        <p:spPr>
          <a:xfrm>
            <a:off x="6146800" y="6134100"/>
            <a:ext cx="3746500" cy="1790700"/>
          </a:xfrm>
          <a:prstGeom prst="rect">
            <a:avLst/>
          </a:prstGeom>
          <a:noFill/>
          <a:ln w="381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160"/>
          </a:p>
        </p:txBody>
      </p:sp>
    </p:spTree>
    <p:extLst>
      <p:ext uri="{BB962C8B-B14F-4D97-AF65-F5344CB8AC3E}">
        <p14:creationId xmlns:p14="http://schemas.microsoft.com/office/powerpoint/2010/main" val="4106766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heel(1)">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737361" y="140754"/>
            <a:ext cx="10351317" cy="1065929"/>
          </a:xfrm>
        </p:spPr>
        <p:txBody>
          <a:bodyPr>
            <a:normAutofit fontScale="90000"/>
          </a:bodyPr>
          <a:lstStyle/>
          <a:p>
            <a:r>
              <a:rPr lang="en-US" sz="5400" b="1" dirty="0">
                <a:solidFill>
                  <a:srgbClr val="0070C0"/>
                </a:solidFill>
              </a:rPr>
              <a:t>Design of Arithmetic Logic Circuit</a:t>
            </a:r>
            <a:br>
              <a:rPr lang="en-US" sz="5400" b="1" dirty="0">
                <a:solidFill>
                  <a:srgbClr val="0070C0"/>
                </a:solidFill>
              </a:rPr>
            </a:br>
            <a:r>
              <a:rPr lang="en-US" sz="4000" b="1" dirty="0">
                <a:solidFill>
                  <a:srgbClr val="FF0000"/>
                </a:solidFill>
              </a:rPr>
              <a:t>[Supplement Starts] </a:t>
            </a:r>
          </a:p>
        </p:txBody>
      </p:sp>
      <p:sp>
        <p:nvSpPr>
          <p:cNvPr id="3" name="TextBox 2"/>
          <p:cNvSpPr txBox="1"/>
          <p:nvPr/>
        </p:nvSpPr>
        <p:spPr>
          <a:xfrm>
            <a:off x="230061" y="1197239"/>
            <a:ext cx="14520517" cy="707886"/>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CA" sz="4000" dirty="0"/>
              <a:t>Design a 2-bit ALU for the operations listed below in the Table:</a:t>
            </a:r>
          </a:p>
        </p:txBody>
      </p:sp>
      <p:graphicFrame>
        <p:nvGraphicFramePr>
          <p:cNvPr id="4" name="Table 3"/>
          <p:cNvGraphicFramePr>
            <a:graphicFrameLocks noGrp="1"/>
          </p:cNvGraphicFramePr>
          <p:nvPr>
            <p:extLst>
              <p:ext uri="{D42A27DB-BD31-4B8C-83A1-F6EECF244321}">
                <p14:modId xmlns:p14="http://schemas.microsoft.com/office/powerpoint/2010/main" val="3132114579"/>
              </p:ext>
            </p:extLst>
          </p:nvPr>
        </p:nvGraphicFramePr>
        <p:xfrm>
          <a:off x="329339" y="1905126"/>
          <a:ext cx="15813978" cy="5943596"/>
        </p:xfrm>
        <a:graphic>
          <a:graphicData uri="http://schemas.openxmlformats.org/drawingml/2006/table">
            <a:tbl>
              <a:tblPr firstRow="1" firstCol="1" bandRow="1">
                <a:tableStyleId>{5C22544A-7EE6-4342-B048-85BDC9FD1C3A}</a:tableStyleId>
              </a:tblPr>
              <a:tblGrid>
                <a:gridCol w="1406575">
                  <a:extLst>
                    <a:ext uri="{9D8B030D-6E8A-4147-A177-3AD203B41FA5}">
                      <a16:colId xmlns:a16="http://schemas.microsoft.com/office/drawing/2014/main" val="3939505422"/>
                    </a:ext>
                  </a:extLst>
                </a:gridCol>
                <a:gridCol w="1786811">
                  <a:extLst>
                    <a:ext uri="{9D8B030D-6E8A-4147-A177-3AD203B41FA5}">
                      <a16:colId xmlns:a16="http://schemas.microsoft.com/office/drawing/2014/main" val="2005552645"/>
                    </a:ext>
                  </a:extLst>
                </a:gridCol>
                <a:gridCol w="1786811">
                  <a:extLst>
                    <a:ext uri="{9D8B030D-6E8A-4147-A177-3AD203B41FA5}">
                      <a16:colId xmlns:a16="http://schemas.microsoft.com/office/drawing/2014/main" val="1334445692"/>
                    </a:ext>
                  </a:extLst>
                </a:gridCol>
                <a:gridCol w="2460898">
                  <a:extLst>
                    <a:ext uri="{9D8B030D-6E8A-4147-A177-3AD203B41FA5}">
                      <a16:colId xmlns:a16="http://schemas.microsoft.com/office/drawing/2014/main" val="3311776632"/>
                    </a:ext>
                  </a:extLst>
                </a:gridCol>
                <a:gridCol w="2460898">
                  <a:extLst>
                    <a:ext uri="{9D8B030D-6E8A-4147-A177-3AD203B41FA5}">
                      <a16:colId xmlns:a16="http://schemas.microsoft.com/office/drawing/2014/main" val="314354436"/>
                    </a:ext>
                  </a:extLst>
                </a:gridCol>
                <a:gridCol w="1703743">
                  <a:extLst>
                    <a:ext uri="{9D8B030D-6E8A-4147-A177-3AD203B41FA5}">
                      <a16:colId xmlns:a16="http://schemas.microsoft.com/office/drawing/2014/main" val="1023598678"/>
                    </a:ext>
                  </a:extLst>
                </a:gridCol>
                <a:gridCol w="4208242">
                  <a:extLst>
                    <a:ext uri="{9D8B030D-6E8A-4147-A177-3AD203B41FA5}">
                      <a16:colId xmlns:a16="http://schemas.microsoft.com/office/drawing/2014/main" val="466637812"/>
                    </a:ext>
                  </a:extLst>
                </a:gridCol>
              </a:tblGrid>
              <a:tr h="476777">
                <a:tc rowSpan="2">
                  <a:txBody>
                    <a:bodyPr/>
                    <a:lstStyle/>
                    <a:p>
                      <a:pPr algn="ctr">
                        <a:lnSpc>
                          <a:spcPct val="100000"/>
                        </a:lnSpc>
                        <a:spcAft>
                          <a:spcPts val="0"/>
                        </a:spcAft>
                      </a:pPr>
                      <a:r>
                        <a:rPr lang="en-CA" sz="2800" dirty="0">
                          <a:effectLst/>
                        </a:rPr>
                        <a:t>Binary Code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800" dirty="0">
                          <a:effectLst/>
                        </a:rPr>
                        <a:t>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800" dirty="0">
                          <a:effectLst/>
                        </a:rPr>
                        <a:t>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gridSpan="4">
                  <a:txBody>
                    <a:bodyPr/>
                    <a:lstStyle/>
                    <a:p>
                      <a:pPr marL="156845" algn="ctr">
                        <a:lnSpc>
                          <a:spcPct val="100000"/>
                        </a:lnSpc>
                        <a:spcAft>
                          <a:spcPts val="0"/>
                        </a:spcAft>
                      </a:pPr>
                      <a:r>
                        <a:rPr lang="en-CA" sz="2800" dirty="0">
                          <a:effectLst/>
                        </a:rPr>
                        <a:t>Function of selection variables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1165911601"/>
                  </a:ext>
                </a:extLst>
              </a:tr>
              <a:tr h="572659">
                <a:tc vMerge="1">
                  <a:txBody>
                    <a:bodyPr/>
                    <a:lstStyle/>
                    <a:p>
                      <a:endParaRPr lang="en-CA"/>
                    </a:p>
                  </a:txBody>
                  <a:tcPr/>
                </a:tc>
                <a:tc>
                  <a:txBody>
                    <a:bodyPr/>
                    <a:lstStyle/>
                    <a:p>
                      <a:pPr marR="38100" algn="ctr">
                        <a:lnSpc>
                          <a:spcPct val="100000"/>
                        </a:lnSpc>
                        <a:spcAft>
                          <a:spcPts val="0"/>
                        </a:spcAft>
                      </a:pPr>
                      <a:r>
                        <a:rPr lang="en-CA" sz="2800" dirty="0">
                          <a:effectLst/>
                        </a:rPr>
                        <a:t>B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8735" algn="ctr">
                        <a:lnSpc>
                          <a:spcPct val="100000"/>
                        </a:lnSpc>
                        <a:spcAft>
                          <a:spcPts val="0"/>
                        </a:spcAft>
                      </a:pPr>
                      <a:r>
                        <a:rPr lang="en-CA" sz="2800" dirty="0">
                          <a:effectLst/>
                        </a:rPr>
                        <a:t>A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800" dirty="0">
                          <a:effectLst/>
                        </a:rPr>
                        <a:t>F with </a:t>
                      </a:r>
                      <a:r>
                        <a:rPr lang="en-CA" sz="2800" dirty="0" err="1">
                          <a:effectLst/>
                        </a:rPr>
                        <a:t>C</a:t>
                      </a:r>
                      <a:r>
                        <a:rPr lang="en-CA" sz="2800" baseline="-25000" dirty="0" err="1">
                          <a:effectLst/>
                        </a:rPr>
                        <a:t>in</a:t>
                      </a:r>
                      <a:r>
                        <a:rPr lang="en-CA" sz="2800" dirty="0">
                          <a:effectLst/>
                        </a:rPr>
                        <a:t> = 0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800" dirty="0">
                          <a:effectLst/>
                        </a:rPr>
                        <a:t>F with </a:t>
                      </a:r>
                      <a:r>
                        <a:rPr lang="en-CA" sz="2800" dirty="0" err="1">
                          <a:effectLst/>
                        </a:rPr>
                        <a:t>C</a:t>
                      </a:r>
                      <a:r>
                        <a:rPr lang="en-CA" sz="2800" baseline="-25000" dirty="0" err="1">
                          <a:effectLst/>
                        </a:rPr>
                        <a:t>in</a:t>
                      </a:r>
                      <a:r>
                        <a:rPr lang="en-CA" sz="2800" dirty="0">
                          <a:effectLst/>
                        </a:rPr>
                        <a:t> = 1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195" algn="ctr">
                        <a:lnSpc>
                          <a:spcPct val="100000"/>
                        </a:lnSpc>
                        <a:spcAft>
                          <a:spcPts val="0"/>
                        </a:spcAft>
                      </a:pPr>
                      <a:r>
                        <a:rPr lang="en-CA" sz="2800">
                          <a:effectLst/>
                        </a:rPr>
                        <a:t>D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39370" algn="ctr">
                        <a:lnSpc>
                          <a:spcPct val="100000"/>
                        </a:lnSpc>
                        <a:spcAft>
                          <a:spcPts val="0"/>
                        </a:spcAft>
                      </a:pPr>
                      <a:r>
                        <a:rPr lang="en-CA" sz="2800" dirty="0">
                          <a:effectLst/>
                        </a:rPr>
                        <a:t>H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3190523013"/>
                  </a:ext>
                </a:extLst>
              </a:tr>
              <a:tr h="611770">
                <a:tc>
                  <a:txBody>
                    <a:bodyPr/>
                    <a:lstStyle/>
                    <a:p>
                      <a:pPr marR="34925" algn="ctr">
                        <a:lnSpc>
                          <a:spcPct val="100000"/>
                        </a:lnSpc>
                        <a:spcAft>
                          <a:spcPts val="0"/>
                        </a:spcAft>
                      </a:pPr>
                      <a:r>
                        <a:rPr lang="en-CA" sz="2800" dirty="0">
                          <a:effectLst/>
                        </a:rPr>
                        <a:t>0 0 0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800" dirty="0">
                          <a:effectLst/>
                        </a:rPr>
                        <a:t>Input Data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algn="ctr">
                        <a:lnSpc>
                          <a:spcPct val="100000"/>
                        </a:lnSpc>
                        <a:spcAft>
                          <a:spcPts val="0"/>
                        </a:spcAft>
                      </a:pPr>
                      <a:r>
                        <a:rPr lang="en-CA" sz="2800" dirty="0">
                          <a:effectLst/>
                        </a:rPr>
                        <a:t>Input Data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7465" algn="ctr">
                        <a:lnSpc>
                          <a:spcPct val="100000"/>
                        </a:lnSpc>
                        <a:spcAft>
                          <a:spcPts val="0"/>
                        </a:spcAft>
                      </a:pPr>
                      <a:r>
                        <a:rPr lang="en-CA" sz="2800" dirty="0">
                          <a:effectLst/>
                        </a:rPr>
                        <a:t>A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195" algn="ctr">
                        <a:lnSpc>
                          <a:spcPct val="100000"/>
                        </a:lnSpc>
                        <a:spcAft>
                          <a:spcPts val="0"/>
                        </a:spcAft>
                      </a:pPr>
                      <a:r>
                        <a:rPr lang="en-CA" sz="2800" dirty="0">
                          <a:effectLst/>
                        </a:rPr>
                        <a:t>A+1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31750" algn="ctr">
                        <a:lnSpc>
                          <a:spcPct val="100000"/>
                        </a:lnSpc>
                        <a:spcAft>
                          <a:spcPts val="0"/>
                        </a:spcAft>
                      </a:pPr>
                      <a:r>
                        <a:rPr lang="en-CA" sz="2800" dirty="0">
                          <a:effectLst/>
                        </a:rPr>
                        <a:t>None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3655" algn="ctr">
                        <a:lnSpc>
                          <a:spcPct val="100000"/>
                        </a:lnSpc>
                        <a:spcAft>
                          <a:spcPts val="0"/>
                        </a:spcAft>
                      </a:pPr>
                      <a:r>
                        <a:rPr lang="en-CA" sz="2800" dirty="0">
                          <a:effectLst/>
                        </a:rPr>
                        <a:t>Circulate-Left with Carry</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1497859172"/>
                  </a:ext>
                </a:extLst>
              </a:tr>
              <a:tr h="611770">
                <a:tc>
                  <a:txBody>
                    <a:bodyPr/>
                    <a:lstStyle/>
                    <a:p>
                      <a:pPr marR="34925" algn="ctr">
                        <a:lnSpc>
                          <a:spcPct val="100000"/>
                        </a:lnSpc>
                        <a:spcAft>
                          <a:spcPts val="0"/>
                        </a:spcAft>
                      </a:pPr>
                      <a:r>
                        <a:rPr lang="en-CA" sz="2800">
                          <a:effectLst/>
                        </a:rPr>
                        <a:t>0 0 1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800">
                          <a:effectLst/>
                        </a:rPr>
                        <a:t>R1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800" dirty="0">
                          <a:effectLst/>
                        </a:rPr>
                        <a:t>R1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7465" algn="ctr">
                        <a:lnSpc>
                          <a:spcPct val="100000"/>
                        </a:lnSpc>
                        <a:spcAft>
                          <a:spcPts val="0"/>
                        </a:spcAft>
                      </a:pPr>
                      <a:r>
                        <a:rPr lang="en-CA" sz="2800" dirty="0">
                          <a:effectLst/>
                        </a:rPr>
                        <a:t>A+B</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10795" algn="ctr">
                        <a:lnSpc>
                          <a:spcPct val="100000"/>
                        </a:lnSpc>
                        <a:spcAft>
                          <a:spcPts val="0"/>
                        </a:spcAft>
                      </a:pPr>
                      <a:r>
                        <a:rPr lang="en-CA" sz="2800" dirty="0">
                          <a:effectLst/>
                        </a:rPr>
                        <a:t>A+B+1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800">
                          <a:effectLst/>
                        </a:rPr>
                        <a:t>R1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1270" marR="13970" algn="ctr">
                        <a:lnSpc>
                          <a:spcPct val="100000"/>
                        </a:lnSpc>
                        <a:spcAft>
                          <a:spcPts val="0"/>
                        </a:spcAft>
                      </a:pPr>
                      <a:r>
                        <a:rPr lang="en-CA" sz="2800" dirty="0">
                          <a:effectLst/>
                        </a:rPr>
                        <a:t>Circulate-Right with Carry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1649116545"/>
                  </a:ext>
                </a:extLst>
              </a:tr>
              <a:tr h="611770">
                <a:tc>
                  <a:txBody>
                    <a:bodyPr/>
                    <a:lstStyle/>
                    <a:p>
                      <a:pPr marR="34925" algn="ctr">
                        <a:lnSpc>
                          <a:spcPct val="100000"/>
                        </a:lnSpc>
                        <a:spcAft>
                          <a:spcPts val="0"/>
                        </a:spcAft>
                      </a:pPr>
                      <a:r>
                        <a:rPr lang="en-CA" sz="2800">
                          <a:effectLst/>
                        </a:rPr>
                        <a:t>0 1 0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800">
                          <a:effectLst/>
                        </a:rPr>
                        <a:t>R2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800" dirty="0">
                          <a:effectLst/>
                        </a:rPr>
                        <a:t>R2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57785" algn="ctr">
                        <a:lnSpc>
                          <a:spcPct val="100000"/>
                        </a:lnSpc>
                        <a:spcAft>
                          <a:spcPts val="0"/>
                        </a:spcAft>
                      </a:pPr>
                      <a:r>
                        <a:rPr lang="en-CA" sz="2800" dirty="0">
                          <a:effectLst/>
                        </a:rPr>
                        <a:t>A+B`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7465" algn="ctr">
                        <a:lnSpc>
                          <a:spcPct val="100000"/>
                        </a:lnSpc>
                        <a:spcAft>
                          <a:spcPts val="0"/>
                        </a:spcAft>
                      </a:pPr>
                      <a:r>
                        <a:rPr lang="en-CA" sz="2800" dirty="0">
                          <a:effectLst/>
                        </a:rPr>
                        <a:t>A+B`+1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800" dirty="0">
                          <a:effectLst/>
                        </a:rPr>
                        <a:t>R2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3655" algn="ctr">
                        <a:lnSpc>
                          <a:spcPct val="100000"/>
                        </a:lnSpc>
                        <a:spcAft>
                          <a:spcPts val="0"/>
                        </a:spcAft>
                      </a:pPr>
                      <a:r>
                        <a:rPr lang="en-CA" sz="2800" dirty="0">
                          <a:effectLst/>
                        </a:rPr>
                        <a:t>No shift</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535047974"/>
                  </a:ext>
                </a:extLst>
              </a:tr>
              <a:tr h="611770">
                <a:tc>
                  <a:txBody>
                    <a:bodyPr/>
                    <a:lstStyle/>
                    <a:p>
                      <a:pPr marR="34925" algn="ctr">
                        <a:lnSpc>
                          <a:spcPct val="100000"/>
                        </a:lnSpc>
                        <a:spcAft>
                          <a:spcPts val="0"/>
                        </a:spcAft>
                      </a:pPr>
                      <a:r>
                        <a:rPr lang="en-CA" sz="2800">
                          <a:effectLst/>
                        </a:rPr>
                        <a:t>0 1 1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800">
                          <a:effectLst/>
                        </a:rPr>
                        <a:t>R3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800" dirty="0">
                          <a:effectLst/>
                        </a:rPr>
                        <a:t>R3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800" dirty="0">
                          <a:effectLst/>
                        </a:rPr>
                        <a:t>A-1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5560" algn="ctr">
                        <a:lnSpc>
                          <a:spcPct val="100000"/>
                        </a:lnSpc>
                        <a:spcAft>
                          <a:spcPts val="0"/>
                        </a:spcAft>
                      </a:pPr>
                      <a:r>
                        <a:rPr lang="en-CA" sz="2800" dirty="0">
                          <a:effectLst/>
                        </a:rPr>
                        <a:t>A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800" dirty="0">
                          <a:effectLst/>
                        </a:rPr>
                        <a:t>R3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195" algn="ctr">
                        <a:lnSpc>
                          <a:spcPct val="100000"/>
                        </a:lnSpc>
                        <a:spcAft>
                          <a:spcPts val="0"/>
                        </a:spcAft>
                      </a:pPr>
                      <a:r>
                        <a:rPr lang="en-CA" sz="2800">
                          <a:effectLst/>
                        </a:rPr>
                        <a:t>0’s to the output Bus</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15944642"/>
                  </a:ext>
                </a:extLst>
              </a:tr>
              <a:tr h="611770">
                <a:tc>
                  <a:txBody>
                    <a:bodyPr/>
                    <a:lstStyle/>
                    <a:p>
                      <a:pPr marR="34925" algn="ctr">
                        <a:lnSpc>
                          <a:spcPct val="100000"/>
                        </a:lnSpc>
                        <a:spcAft>
                          <a:spcPts val="0"/>
                        </a:spcAft>
                      </a:pPr>
                      <a:r>
                        <a:rPr lang="en-CA" sz="2800">
                          <a:effectLst/>
                        </a:rPr>
                        <a:t>1 0 0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800" dirty="0">
                          <a:effectLst/>
                        </a:rPr>
                        <a:t>R4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800" dirty="0">
                          <a:effectLst/>
                        </a:rPr>
                        <a:t>R4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45720" algn="ctr">
                        <a:lnSpc>
                          <a:spcPct val="100000"/>
                        </a:lnSpc>
                        <a:spcAft>
                          <a:spcPts val="0"/>
                        </a:spcAft>
                      </a:pPr>
                      <a:r>
                        <a:rPr lang="en-CA" sz="2800" dirty="0">
                          <a:effectLst/>
                        </a:rPr>
                        <a:t>A OR B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45720" algn="ctr">
                        <a:lnSpc>
                          <a:spcPct val="100000"/>
                        </a:lnSpc>
                        <a:spcAft>
                          <a:spcPts val="0"/>
                        </a:spcAft>
                      </a:pPr>
                      <a:r>
                        <a:rPr lang="en-CA" sz="2800" dirty="0">
                          <a:effectLst/>
                        </a:rPr>
                        <a:t>A OR B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800" dirty="0">
                          <a:effectLst/>
                        </a:rPr>
                        <a:t>R4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195" algn="ctr">
                        <a:lnSpc>
                          <a:spcPct val="100000"/>
                        </a:lnSpc>
                        <a:spcAft>
                          <a:spcPts val="0"/>
                        </a:spcAft>
                      </a:pPr>
                      <a:r>
                        <a:rPr lang="en-CA" sz="2800" dirty="0">
                          <a:effectLst/>
                        </a:rPr>
                        <a:t>-</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1423811077"/>
                  </a:ext>
                </a:extLst>
              </a:tr>
              <a:tr h="611770">
                <a:tc>
                  <a:txBody>
                    <a:bodyPr/>
                    <a:lstStyle/>
                    <a:p>
                      <a:pPr marR="34925" algn="ctr">
                        <a:lnSpc>
                          <a:spcPct val="100000"/>
                        </a:lnSpc>
                        <a:spcAft>
                          <a:spcPts val="0"/>
                        </a:spcAft>
                      </a:pPr>
                      <a:r>
                        <a:rPr lang="en-CA" sz="2800">
                          <a:effectLst/>
                        </a:rPr>
                        <a:t>1 0 1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800">
                          <a:effectLst/>
                        </a:rPr>
                        <a:t>R5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800" dirty="0">
                          <a:effectLst/>
                        </a:rPr>
                        <a:t>R5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31750" algn="ctr">
                        <a:lnSpc>
                          <a:spcPct val="100000"/>
                        </a:lnSpc>
                        <a:spcAft>
                          <a:spcPts val="0"/>
                        </a:spcAft>
                      </a:pPr>
                      <a:r>
                        <a:rPr lang="en-CA" sz="2800" dirty="0">
                          <a:effectLst/>
                        </a:rPr>
                        <a:t>A XOR B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0" marR="38100" indent="0" algn="ctr" defTabSz="457200" rtl="0" eaLnBrk="1" fontAlgn="auto" latinLnBrk="0" hangingPunct="1">
                        <a:lnSpc>
                          <a:spcPct val="100000"/>
                        </a:lnSpc>
                        <a:spcBef>
                          <a:spcPts val="0"/>
                        </a:spcBef>
                        <a:spcAft>
                          <a:spcPts val="0"/>
                        </a:spcAft>
                        <a:buClrTx/>
                        <a:buSzTx/>
                        <a:buFontTx/>
                        <a:buNone/>
                        <a:tabLst/>
                        <a:defRPr/>
                      </a:pPr>
                      <a:r>
                        <a:rPr lang="en-CA" sz="2800" dirty="0">
                          <a:effectLst/>
                        </a:rPr>
                        <a:t>A XOR B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800" dirty="0">
                          <a:effectLst/>
                        </a:rPr>
                        <a:t>R5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1270" algn="ctr">
                        <a:lnSpc>
                          <a:spcPct val="100000"/>
                        </a:lnSpc>
                        <a:spcAft>
                          <a:spcPts val="0"/>
                        </a:spcAft>
                      </a:pPr>
                      <a:r>
                        <a:rPr lang="en-CA" sz="2800" dirty="0">
                          <a:effectLst/>
                        </a:rPr>
                        <a:t>Shift Left with I</a:t>
                      </a:r>
                      <a:r>
                        <a:rPr lang="en-CA" sz="2800" baseline="-25000" dirty="0">
                          <a:effectLst/>
                        </a:rPr>
                        <a:t>L</a:t>
                      </a:r>
                      <a:r>
                        <a:rPr lang="en-CA" sz="2800" dirty="0">
                          <a:effectLst/>
                        </a:rPr>
                        <a:t>=0</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3235350611"/>
                  </a:ext>
                </a:extLst>
              </a:tr>
              <a:tr h="611770">
                <a:tc>
                  <a:txBody>
                    <a:bodyPr/>
                    <a:lstStyle/>
                    <a:p>
                      <a:pPr marR="34925" algn="ctr">
                        <a:lnSpc>
                          <a:spcPct val="100000"/>
                        </a:lnSpc>
                        <a:spcAft>
                          <a:spcPts val="0"/>
                        </a:spcAft>
                      </a:pPr>
                      <a:r>
                        <a:rPr lang="en-CA" sz="2800">
                          <a:effectLst/>
                        </a:rPr>
                        <a:t>1 1 0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800">
                          <a:effectLst/>
                        </a:rPr>
                        <a:t>R6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800" dirty="0">
                          <a:effectLst/>
                        </a:rPr>
                        <a:t>R6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50165" algn="ctr">
                        <a:lnSpc>
                          <a:spcPct val="100000"/>
                        </a:lnSpc>
                        <a:spcAft>
                          <a:spcPts val="0"/>
                        </a:spcAft>
                      </a:pPr>
                      <a:r>
                        <a:rPr lang="en-CA" sz="2800" dirty="0">
                          <a:effectLst/>
                        </a:rPr>
                        <a:t>A AND B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0" marR="38100" indent="0" algn="ctr" defTabSz="457200" rtl="0" eaLnBrk="1" fontAlgn="auto" latinLnBrk="0" hangingPunct="1">
                        <a:lnSpc>
                          <a:spcPct val="100000"/>
                        </a:lnSpc>
                        <a:spcBef>
                          <a:spcPts val="0"/>
                        </a:spcBef>
                        <a:spcAft>
                          <a:spcPts val="0"/>
                        </a:spcAft>
                        <a:buClrTx/>
                        <a:buSzTx/>
                        <a:buFontTx/>
                        <a:buNone/>
                        <a:tabLst/>
                        <a:defRPr/>
                      </a:pPr>
                      <a:r>
                        <a:rPr lang="en-CA" sz="2800" dirty="0">
                          <a:effectLst/>
                        </a:rPr>
                        <a:t>A AND B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800" dirty="0">
                          <a:effectLst/>
                        </a:rPr>
                        <a:t>R6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1270" marR="13970" algn="ctr">
                        <a:lnSpc>
                          <a:spcPct val="100000"/>
                        </a:lnSpc>
                        <a:spcAft>
                          <a:spcPts val="0"/>
                        </a:spcAft>
                      </a:pPr>
                      <a:r>
                        <a:rPr lang="en-CA" sz="2800" dirty="0">
                          <a:effectLst/>
                        </a:rPr>
                        <a:t>Shift Right with I</a:t>
                      </a:r>
                      <a:r>
                        <a:rPr lang="en-CA" sz="2800" baseline="-25000" dirty="0">
                          <a:effectLst/>
                        </a:rPr>
                        <a:t>R</a:t>
                      </a:r>
                      <a:r>
                        <a:rPr lang="en-CA" sz="2800" dirty="0">
                          <a:effectLst/>
                        </a:rPr>
                        <a:t>=0</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1386241963"/>
                  </a:ext>
                </a:extLst>
              </a:tr>
              <a:tr h="611770">
                <a:tc>
                  <a:txBody>
                    <a:bodyPr/>
                    <a:lstStyle/>
                    <a:p>
                      <a:pPr marR="34925" algn="ctr">
                        <a:lnSpc>
                          <a:spcPct val="100000"/>
                        </a:lnSpc>
                        <a:spcAft>
                          <a:spcPts val="0"/>
                        </a:spcAft>
                      </a:pPr>
                      <a:r>
                        <a:rPr lang="en-CA" sz="2800">
                          <a:effectLst/>
                        </a:rPr>
                        <a:t>1 1 1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40005" algn="ctr">
                        <a:lnSpc>
                          <a:spcPct val="100000"/>
                        </a:lnSpc>
                        <a:spcAft>
                          <a:spcPts val="0"/>
                        </a:spcAft>
                      </a:pPr>
                      <a:r>
                        <a:rPr lang="en-CA" sz="2800" dirty="0">
                          <a:effectLst/>
                        </a:rPr>
                        <a:t>R7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9370" algn="ctr">
                        <a:lnSpc>
                          <a:spcPct val="100000"/>
                        </a:lnSpc>
                        <a:spcAft>
                          <a:spcPts val="0"/>
                        </a:spcAft>
                      </a:pPr>
                      <a:r>
                        <a:rPr lang="en-CA" sz="2800" dirty="0">
                          <a:effectLst/>
                        </a:rPr>
                        <a:t>R7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L="31750" algn="ctr">
                        <a:lnSpc>
                          <a:spcPct val="100000"/>
                        </a:lnSpc>
                        <a:spcAft>
                          <a:spcPts val="0"/>
                        </a:spcAft>
                      </a:pPr>
                      <a:r>
                        <a:rPr lang="en-CA" sz="2800" dirty="0">
                          <a:effectLst/>
                        </a:rPr>
                        <a:t>A′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8100" algn="ctr">
                        <a:lnSpc>
                          <a:spcPct val="100000"/>
                        </a:lnSpc>
                        <a:spcAft>
                          <a:spcPts val="0"/>
                        </a:spcAft>
                      </a:pPr>
                      <a:r>
                        <a:rPr lang="en-CA" sz="2800" dirty="0">
                          <a:effectLst/>
                        </a:rPr>
                        <a:t>A′ </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6830" algn="ctr">
                        <a:lnSpc>
                          <a:spcPct val="100000"/>
                        </a:lnSpc>
                        <a:spcAft>
                          <a:spcPts val="0"/>
                        </a:spcAft>
                      </a:pPr>
                      <a:r>
                        <a:rPr lang="en-CA" sz="2800">
                          <a:effectLst/>
                        </a:rPr>
                        <a:t>R7 </a:t>
                      </a:r>
                      <a:endParaRPr lang="en-CA" sz="2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tc>
                  <a:txBody>
                    <a:bodyPr/>
                    <a:lstStyle/>
                    <a:p>
                      <a:pPr marR="34925" algn="ctr">
                        <a:lnSpc>
                          <a:spcPct val="100000"/>
                        </a:lnSpc>
                        <a:spcAft>
                          <a:spcPts val="0"/>
                        </a:spcAft>
                      </a:pPr>
                      <a:r>
                        <a:rPr lang="en-CA" sz="2800" dirty="0">
                          <a:effectLst/>
                        </a:rPr>
                        <a:t>1’s to the output Bus</a:t>
                      </a:r>
                      <a:endParaRPr lang="en-CA"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82296" marR="36576" marT="9144" marB="0" anchor="ctr"/>
                </a:tc>
                <a:extLst>
                  <a:ext uri="{0D108BD9-81ED-4DB2-BD59-A6C34878D82A}">
                    <a16:rowId xmlns:a16="http://schemas.microsoft.com/office/drawing/2014/main" val="2366638424"/>
                  </a:ext>
                </a:extLst>
              </a:tr>
            </a:tbl>
          </a:graphicData>
        </a:graphic>
      </p:graphicFrame>
      <p:sp>
        <p:nvSpPr>
          <p:cNvPr id="5" name="Date Placeholder 4"/>
          <p:cNvSpPr>
            <a:spLocks noGrp="1"/>
          </p:cNvSpPr>
          <p:nvPr>
            <p:ph type="dt" sz="half" idx="10"/>
          </p:nvPr>
        </p:nvSpPr>
        <p:spPr/>
        <p:txBody>
          <a:bodyPr/>
          <a:lstStyle/>
          <a:p>
            <a:fld id="{46F03F24-7E87-468A-9970-21C3BC48953A}" type="datetime3">
              <a:rPr lang="en-US" smtClean="0"/>
              <a:t>24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36</a:t>
            </a:fld>
            <a:endParaRPr lang="en-US" dirty="0"/>
          </a:p>
        </p:txBody>
      </p:sp>
    </p:spTree>
    <p:extLst>
      <p:ext uri="{BB962C8B-B14F-4D97-AF65-F5344CB8AC3E}">
        <p14:creationId xmlns:p14="http://schemas.microsoft.com/office/powerpoint/2010/main" val="8492521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737361" y="140754"/>
            <a:ext cx="11832335" cy="1065929"/>
          </a:xfrm>
        </p:spPr>
        <p:txBody>
          <a:bodyPr>
            <a:normAutofit/>
          </a:bodyPr>
          <a:lstStyle/>
          <a:p>
            <a:r>
              <a:rPr lang="en-US" sz="5400" b="1" dirty="0">
                <a:solidFill>
                  <a:srgbClr val="0070C0"/>
                </a:solidFill>
              </a:rPr>
              <a:t>Design of Arithmetic Logic Circuit </a:t>
            </a:r>
          </a:p>
        </p:txBody>
      </p:sp>
      <p:pic>
        <p:nvPicPr>
          <p:cNvPr id="5" name="Picture 4"/>
          <p:cNvPicPr>
            <a:picLocks noChangeAspect="1"/>
          </p:cNvPicPr>
          <p:nvPr/>
        </p:nvPicPr>
        <p:blipFill>
          <a:blip r:embed="rId2"/>
          <a:stretch>
            <a:fillRect/>
          </a:stretch>
        </p:blipFill>
        <p:spPr>
          <a:xfrm>
            <a:off x="1051675" y="1684404"/>
            <a:ext cx="10354262" cy="5988799"/>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2342143180"/>
              </p:ext>
            </p:extLst>
          </p:nvPr>
        </p:nvGraphicFramePr>
        <p:xfrm>
          <a:off x="12932229" y="3010627"/>
          <a:ext cx="3310840" cy="4895952"/>
        </p:xfrm>
        <a:graphic>
          <a:graphicData uri="http://schemas.openxmlformats.org/drawingml/2006/table">
            <a:tbl>
              <a:tblPr firstRow="1" bandRow="1">
                <a:tableStyleId>{5C22544A-7EE6-4342-B048-85BDC9FD1C3A}</a:tableStyleId>
              </a:tblPr>
              <a:tblGrid>
                <a:gridCol w="1476906">
                  <a:extLst>
                    <a:ext uri="{9D8B030D-6E8A-4147-A177-3AD203B41FA5}">
                      <a16:colId xmlns:a16="http://schemas.microsoft.com/office/drawing/2014/main" val="363725021"/>
                    </a:ext>
                  </a:extLst>
                </a:gridCol>
                <a:gridCol w="988080">
                  <a:extLst>
                    <a:ext uri="{9D8B030D-6E8A-4147-A177-3AD203B41FA5}">
                      <a16:colId xmlns:a16="http://schemas.microsoft.com/office/drawing/2014/main" val="3643352939"/>
                    </a:ext>
                  </a:extLst>
                </a:gridCol>
                <a:gridCol w="845854">
                  <a:extLst>
                    <a:ext uri="{9D8B030D-6E8A-4147-A177-3AD203B41FA5}">
                      <a16:colId xmlns:a16="http://schemas.microsoft.com/office/drawing/2014/main" val="3882864041"/>
                    </a:ext>
                  </a:extLst>
                </a:gridCol>
              </a:tblGrid>
              <a:tr h="402336">
                <a:tc>
                  <a:txBody>
                    <a:bodyPr/>
                    <a:lstStyle/>
                    <a:p>
                      <a:pPr algn="ctr"/>
                      <a:r>
                        <a:rPr lang="en-CA" sz="1900" b="1" i="1" dirty="0"/>
                        <a:t>X</a:t>
                      </a:r>
                      <a:r>
                        <a:rPr lang="en-CA" sz="1900" b="1" i="1" baseline="-25000" dirty="0"/>
                        <a:t>i</a:t>
                      </a:r>
                    </a:p>
                  </a:txBody>
                  <a:tcPr marL="109728" marR="109728" marT="54864" marB="54864"/>
                </a:tc>
                <a:tc>
                  <a:txBody>
                    <a:bodyPr/>
                    <a:lstStyle/>
                    <a:p>
                      <a:pPr algn="ctr"/>
                      <a:r>
                        <a:rPr lang="en-CA" sz="1900" b="1" i="1" dirty="0"/>
                        <a:t>Y</a:t>
                      </a:r>
                      <a:r>
                        <a:rPr lang="en-CA" sz="1900" b="1" i="1" baseline="-25000" dirty="0"/>
                        <a:t>i</a:t>
                      </a:r>
                    </a:p>
                  </a:txBody>
                  <a:tcPr marL="109728" marR="109728" marT="54864" marB="54864"/>
                </a:tc>
                <a:tc>
                  <a:txBody>
                    <a:bodyPr/>
                    <a:lstStyle/>
                    <a:p>
                      <a:pPr algn="ctr"/>
                      <a:r>
                        <a:rPr lang="en-CA" sz="1900" b="1" i="1" dirty="0" err="1"/>
                        <a:t>Z</a:t>
                      </a:r>
                      <a:r>
                        <a:rPr lang="en-CA" sz="1900" b="1" i="1" baseline="-25000" dirty="0" err="1"/>
                        <a:t>i</a:t>
                      </a:r>
                      <a:endParaRPr lang="en-CA" sz="1900" b="1" i="1" baseline="-25000" dirty="0"/>
                    </a:p>
                  </a:txBody>
                  <a:tcPr marL="109728" marR="109728" marT="54864" marB="54864"/>
                </a:tc>
                <a:extLst>
                  <a:ext uri="{0D108BD9-81ED-4DB2-BD59-A6C34878D82A}">
                    <a16:rowId xmlns:a16="http://schemas.microsoft.com/office/drawing/2014/main" val="2461190251"/>
                  </a:ext>
                </a:extLst>
              </a:tr>
              <a:tr h="374468">
                <a:tc>
                  <a:txBody>
                    <a:bodyPr/>
                    <a:lstStyle/>
                    <a:p>
                      <a:pPr algn="ctr"/>
                      <a:r>
                        <a:rPr lang="en-CA" sz="1700" b="1" dirty="0"/>
                        <a:t>A</a:t>
                      </a:r>
                    </a:p>
                  </a:txBody>
                  <a:tcPr marL="109728" marR="109728" marT="54864" marB="54864"/>
                </a:tc>
                <a:tc>
                  <a:txBody>
                    <a:bodyPr/>
                    <a:lstStyle/>
                    <a:p>
                      <a:pPr algn="ctr"/>
                      <a:r>
                        <a:rPr lang="en-CA" sz="1700" b="1" dirty="0"/>
                        <a:t>0</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2506957345"/>
                  </a:ext>
                </a:extLst>
              </a:tr>
              <a:tr h="374468">
                <a:tc>
                  <a:txBody>
                    <a:bodyPr/>
                    <a:lstStyle/>
                    <a:p>
                      <a:pPr algn="ctr"/>
                      <a:r>
                        <a:rPr lang="en-CA" sz="1700" b="1" dirty="0"/>
                        <a:t>A</a:t>
                      </a:r>
                    </a:p>
                  </a:txBody>
                  <a:tcPr marL="109728" marR="109728" marT="54864" marB="54864"/>
                </a:tc>
                <a:tc>
                  <a:txBody>
                    <a:bodyPr/>
                    <a:lstStyle/>
                    <a:p>
                      <a:pPr algn="ctr"/>
                      <a:r>
                        <a:rPr lang="en-CA" sz="1700" b="1" dirty="0"/>
                        <a:t>0</a:t>
                      </a:r>
                    </a:p>
                  </a:txBody>
                  <a:tcPr marL="109728" marR="109728" marT="54864" marB="54864"/>
                </a:tc>
                <a:tc>
                  <a:txBody>
                    <a:bodyPr/>
                    <a:lstStyle/>
                    <a:p>
                      <a:pPr algn="ctr"/>
                      <a:r>
                        <a:rPr lang="en-CA" sz="1700" b="1" dirty="0"/>
                        <a:t>1</a:t>
                      </a:r>
                    </a:p>
                  </a:txBody>
                  <a:tcPr marL="109728" marR="109728" marT="54864" marB="54864"/>
                </a:tc>
                <a:extLst>
                  <a:ext uri="{0D108BD9-81ED-4DB2-BD59-A6C34878D82A}">
                    <a16:rowId xmlns:a16="http://schemas.microsoft.com/office/drawing/2014/main" val="1576458030"/>
                  </a:ext>
                </a:extLst>
              </a:tr>
              <a:tr h="374468">
                <a:tc>
                  <a:txBody>
                    <a:bodyPr/>
                    <a:lstStyle/>
                    <a:p>
                      <a:pPr algn="ctr"/>
                      <a:r>
                        <a:rPr lang="en-CA" sz="1700" b="1" dirty="0"/>
                        <a:t>A</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1429301131"/>
                  </a:ext>
                </a:extLst>
              </a:tr>
              <a:tr h="374468">
                <a:tc>
                  <a:txBody>
                    <a:bodyPr/>
                    <a:lstStyle/>
                    <a:p>
                      <a:pPr algn="ctr"/>
                      <a:r>
                        <a:rPr lang="en-CA" sz="1700" b="1" dirty="0"/>
                        <a:t>A</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1</a:t>
                      </a:r>
                    </a:p>
                  </a:txBody>
                  <a:tcPr marL="109728" marR="109728" marT="54864" marB="54864"/>
                </a:tc>
                <a:extLst>
                  <a:ext uri="{0D108BD9-81ED-4DB2-BD59-A6C34878D82A}">
                    <a16:rowId xmlns:a16="http://schemas.microsoft.com/office/drawing/2014/main" val="2970210664"/>
                  </a:ext>
                </a:extLst>
              </a:tr>
              <a:tr h="374468">
                <a:tc>
                  <a:txBody>
                    <a:bodyPr/>
                    <a:lstStyle/>
                    <a:p>
                      <a:pPr algn="ctr"/>
                      <a:r>
                        <a:rPr lang="en-CA" sz="1700" b="1" dirty="0"/>
                        <a:t>A</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2945117105"/>
                  </a:ext>
                </a:extLst>
              </a:tr>
              <a:tr h="374468">
                <a:tc>
                  <a:txBody>
                    <a:bodyPr/>
                    <a:lstStyle/>
                    <a:p>
                      <a:pPr algn="ctr"/>
                      <a:r>
                        <a:rPr lang="en-CA" sz="1700" b="1" dirty="0"/>
                        <a:t>A</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1</a:t>
                      </a:r>
                    </a:p>
                  </a:txBody>
                  <a:tcPr marL="109728" marR="109728" marT="54864" marB="54864"/>
                </a:tc>
                <a:extLst>
                  <a:ext uri="{0D108BD9-81ED-4DB2-BD59-A6C34878D82A}">
                    <a16:rowId xmlns:a16="http://schemas.microsoft.com/office/drawing/2014/main" val="2739360721"/>
                  </a:ext>
                </a:extLst>
              </a:tr>
              <a:tr h="374468">
                <a:tc>
                  <a:txBody>
                    <a:bodyPr/>
                    <a:lstStyle/>
                    <a:p>
                      <a:pPr algn="ctr"/>
                      <a:r>
                        <a:rPr lang="en-CA" sz="1700" b="1" dirty="0"/>
                        <a:t>A</a:t>
                      </a:r>
                    </a:p>
                  </a:txBody>
                  <a:tcPr marL="109728" marR="109728" marT="54864" marB="54864"/>
                </a:tc>
                <a:tc>
                  <a:txBody>
                    <a:bodyPr/>
                    <a:lstStyle/>
                    <a:p>
                      <a:pPr algn="ctr"/>
                      <a:r>
                        <a:rPr lang="en-CA" sz="1700" b="1" dirty="0"/>
                        <a:t>1</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2442397496"/>
                  </a:ext>
                </a:extLst>
              </a:tr>
              <a:tr h="374468">
                <a:tc>
                  <a:txBody>
                    <a:bodyPr/>
                    <a:lstStyle/>
                    <a:p>
                      <a:pPr algn="ctr"/>
                      <a:r>
                        <a:rPr lang="en-CA" sz="1700" b="1" dirty="0"/>
                        <a:t>A</a:t>
                      </a:r>
                    </a:p>
                  </a:txBody>
                  <a:tcPr marL="109728" marR="109728" marT="54864" marB="54864"/>
                </a:tc>
                <a:tc>
                  <a:txBody>
                    <a:bodyPr/>
                    <a:lstStyle/>
                    <a:p>
                      <a:pPr algn="ctr"/>
                      <a:r>
                        <a:rPr lang="en-CA" sz="1700" b="1" dirty="0"/>
                        <a:t>1</a:t>
                      </a:r>
                    </a:p>
                  </a:txBody>
                  <a:tcPr marL="109728" marR="109728" marT="54864" marB="54864"/>
                </a:tc>
                <a:tc>
                  <a:txBody>
                    <a:bodyPr/>
                    <a:lstStyle/>
                    <a:p>
                      <a:pPr algn="ctr"/>
                      <a:r>
                        <a:rPr lang="en-CA" sz="1700" b="1" dirty="0"/>
                        <a:t>1</a:t>
                      </a:r>
                    </a:p>
                  </a:txBody>
                  <a:tcPr marL="109728" marR="109728" marT="54864" marB="54864"/>
                </a:tc>
                <a:extLst>
                  <a:ext uri="{0D108BD9-81ED-4DB2-BD59-A6C34878D82A}">
                    <a16:rowId xmlns:a16="http://schemas.microsoft.com/office/drawing/2014/main" val="3338541310"/>
                  </a:ext>
                </a:extLst>
              </a:tr>
              <a:tr h="374468">
                <a:tc>
                  <a:txBody>
                    <a:bodyPr/>
                    <a:lstStyle/>
                    <a:p>
                      <a:pPr algn="ctr"/>
                      <a:r>
                        <a:rPr lang="en-CA" sz="1700" b="1" dirty="0"/>
                        <a:t>A+B</a:t>
                      </a:r>
                    </a:p>
                  </a:txBody>
                  <a:tcPr marL="109728" marR="109728" marT="54864" marB="54864"/>
                </a:tc>
                <a:tc>
                  <a:txBody>
                    <a:bodyPr/>
                    <a:lstStyle/>
                    <a:p>
                      <a:pPr algn="ctr"/>
                      <a:r>
                        <a:rPr lang="en-CA" sz="1700" b="1" dirty="0"/>
                        <a:t>0</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537525403"/>
                  </a:ext>
                </a:extLst>
              </a:tr>
              <a:tr h="374468">
                <a:tc>
                  <a:txBody>
                    <a:bodyPr/>
                    <a:lstStyle/>
                    <a:p>
                      <a:pPr algn="ctr"/>
                      <a:r>
                        <a:rPr lang="en-CA" sz="1700" b="1" dirty="0"/>
                        <a:t>A</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526545539"/>
                  </a:ext>
                </a:extLst>
              </a:tr>
              <a:tr h="374468">
                <a:tc>
                  <a:txBody>
                    <a:bodyPr/>
                    <a:lstStyle/>
                    <a:p>
                      <a:pPr algn="ctr"/>
                      <a:r>
                        <a:rPr lang="en-CA" sz="1700" b="1" dirty="0"/>
                        <a:t>A+B’</a:t>
                      </a:r>
                    </a:p>
                  </a:txBody>
                  <a:tcPr marL="109728" marR="109728" marT="54864" marB="54864"/>
                </a:tc>
                <a:tc>
                  <a:txBody>
                    <a:bodyPr/>
                    <a:lstStyle/>
                    <a:p>
                      <a:pPr algn="ctr"/>
                      <a:r>
                        <a:rPr lang="en-CA" sz="1700" b="1" dirty="0"/>
                        <a:t>B’</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4124765585"/>
                  </a:ext>
                </a:extLst>
              </a:tr>
              <a:tr h="374468">
                <a:tc>
                  <a:txBody>
                    <a:bodyPr/>
                    <a:lstStyle/>
                    <a:p>
                      <a:pPr algn="ctr"/>
                      <a:r>
                        <a:rPr lang="en-CA" sz="1700" b="1" dirty="0"/>
                        <a:t>A</a:t>
                      </a:r>
                    </a:p>
                  </a:txBody>
                  <a:tcPr marL="109728" marR="109728" marT="54864" marB="54864"/>
                </a:tc>
                <a:tc>
                  <a:txBody>
                    <a:bodyPr/>
                    <a:lstStyle/>
                    <a:p>
                      <a:pPr algn="ctr"/>
                      <a:r>
                        <a:rPr lang="en-CA" sz="1700" b="1" dirty="0"/>
                        <a:t>1</a:t>
                      </a:r>
                    </a:p>
                  </a:txBody>
                  <a:tcPr marL="109728" marR="109728" marT="54864" marB="54864"/>
                </a:tc>
                <a:tc>
                  <a:txBody>
                    <a:bodyPr/>
                    <a:lstStyle/>
                    <a:p>
                      <a:pPr algn="ctr"/>
                      <a:r>
                        <a:rPr lang="en-CA" sz="1700" b="1" dirty="0"/>
                        <a:t>0</a:t>
                      </a:r>
                    </a:p>
                  </a:txBody>
                  <a:tcPr marL="109728" marR="109728" marT="54864" marB="54864"/>
                </a:tc>
                <a:extLst>
                  <a:ext uri="{0D108BD9-81ED-4DB2-BD59-A6C34878D82A}">
                    <a16:rowId xmlns:a16="http://schemas.microsoft.com/office/drawing/2014/main" val="3894543157"/>
                  </a:ext>
                </a:extLst>
              </a:tr>
            </a:tbl>
          </a:graphicData>
        </a:graphic>
      </p:graphicFrame>
      <p:cxnSp>
        <p:nvCxnSpPr>
          <p:cNvPr id="8" name="Straight Arrow Connector 7"/>
          <p:cNvCxnSpPr/>
          <p:nvPr/>
        </p:nvCxnSpPr>
        <p:spPr>
          <a:xfrm flipV="1">
            <a:off x="10690643" y="3608715"/>
            <a:ext cx="2539420" cy="153006"/>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p:cNvCxnSpPr/>
          <p:nvPr/>
        </p:nvCxnSpPr>
        <p:spPr>
          <a:xfrm flipV="1">
            <a:off x="10690644" y="3974474"/>
            <a:ext cx="2508068" cy="126949"/>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0" name="Straight Arrow Connector 9"/>
          <p:cNvCxnSpPr/>
          <p:nvPr/>
        </p:nvCxnSpPr>
        <p:spPr>
          <a:xfrm flipV="1">
            <a:off x="10361457" y="4350413"/>
            <a:ext cx="2837254" cy="90840"/>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1" name="Straight Arrow Connector 10"/>
          <p:cNvCxnSpPr/>
          <p:nvPr/>
        </p:nvCxnSpPr>
        <p:spPr>
          <a:xfrm flipV="1">
            <a:off x="11045952" y="4698909"/>
            <a:ext cx="2152759" cy="94052"/>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2" name="Straight Arrow Connector 11"/>
          <p:cNvCxnSpPr/>
          <p:nvPr/>
        </p:nvCxnSpPr>
        <p:spPr>
          <a:xfrm flipV="1">
            <a:off x="11709547" y="5141457"/>
            <a:ext cx="1520516" cy="11723"/>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3" name="Straight Arrow Connector 12"/>
          <p:cNvCxnSpPr/>
          <p:nvPr/>
        </p:nvCxnSpPr>
        <p:spPr>
          <a:xfrm>
            <a:off x="10690643" y="5459330"/>
            <a:ext cx="2523744" cy="19536"/>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p:cNvCxnSpPr/>
          <p:nvPr/>
        </p:nvCxnSpPr>
        <p:spPr>
          <a:xfrm>
            <a:off x="10690644" y="5764753"/>
            <a:ext cx="2508068" cy="116143"/>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5" name="Straight Arrow Connector 14"/>
          <p:cNvCxnSpPr/>
          <p:nvPr/>
        </p:nvCxnSpPr>
        <p:spPr>
          <a:xfrm>
            <a:off x="10468573" y="6152369"/>
            <a:ext cx="2745814" cy="110682"/>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p:cNvCxnSpPr/>
          <p:nvPr/>
        </p:nvCxnSpPr>
        <p:spPr>
          <a:xfrm>
            <a:off x="9891196" y="6492957"/>
            <a:ext cx="3307516" cy="63655"/>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7" name="Straight Arrow Connector 16"/>
          <p:cNvCxnSpPr/>
          <p:nvPr/>
        </p:nvCxnSpPr>
        <p:spPr>
          <a:xfrm>
            <a:off x="9969573" y="6786517"/>
            <a:ext cx="3229139" cy="157711"/>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8" name="Straight Arrow Connector 17"/>
          <p:cNvCxnSpPr/>
          <p:nvPr/>
        </p:nvCxnSpPr>
        <p:spPr>
          <a:xfrm>
            <a:off x="9891196" y="7179909"/>
            <a:ext cx="3338867" cy="112504"/>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9" name="Straight Arrow Connector 18"/>
          <p:cNvCxnSpPr/>
          <p:nvPr/>
        </p:nvCxnSpPr>
        <p:spPr>
          <a:xfrm>
            <a:off x="11098204" y="7658171"/>
            <a:ext cx="2215460" cy="95723"/>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sp>
        <p:nvSpPr>
          <p:cNvPr id="3" name="Date Placeholder 2"/>
          <p:cNvSpPr>
            <a:spLocks noGrp="1"/>
          </p:cNvSpPr>
          <p:nvPr>
            <p:ph type="dt" sz="half" idx="10"/>
          </p:nvPr>
        </p:nvSpPr>
        <p:spPr/>
        <p:txBody>
          <a:bodyPr/>
          <a:lstStyle/>
          <a:p>
            <a:fld id="{34A0CD35-3E38-4F57-97CB-85C53940B165}" type="datetime3">
              <a:rPr lang="en-US" smtClean="0"/>
              <a:t>24 December 2025</a:t>
            </a:fld>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pPr/>
              <a:t>37</a:t>
            </a:fld>
            <a:endParaRPr lang="en-US" dirty="0"/>
          </a:p>
        </p:txBody>
      </p:sp>
      <p:sp>
        <p:nvSpPr>
          <p:cNvPr id="20" name="Rectangle 19"/>
          <p:cNvSpPr/>
          <p:nvPr/>
        </p:nvSpPr>
        <p:spPr>
          <a:xfrm>
            <a:off x="13313664" y="6427730"/>
            <a:ext cx="718219" cy="1478849"/>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400"/>
          </a:p>
        </p:txBody>
      </p:sp>
    </p:spTree>
    <p:extLst>
      <p:ext uri="{BB962C8B-B14F-4D97-AF65-F5344CB8AC3E}">
        <p14:creationId xmlns:p14="http://schemas.microsoft.com/office/powerpoint/2010/main" val="142628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1" presetClass="entr" presetSubtype="1"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heel(1)">
                                      <p:cBhvr>
                                        <p:cTn id="55"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471357" y="140755"/>
            <a:ext cx="11832335" cy="922892"/>
          </a:xfrm>
        </p:spPr>
        <p:txBody>
          <a:bodyPr>
            <a:normAutofit/>
          </a:bodyPr>
          <a:lstStyle/>
          <a:p>
            <a:r>
              <a:rPr lang="en-US" sz="4800" b="1" dirty="0">
                <a:solidFill>
                  <a:srgbClr val="0070C0"/>
                </a:solidFill>
              </a:rPr>
              <a:t>Design of Arithmetic Logic Circuit (K-maps)</a:t>
            </a:r>
            <a:endParaRPr lang="en-US" b="1" u="sng" dirty="0">
              <a:solidFill>
                <a:schemeClr val="bg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935652617"/>
              </p:ext>
            </p:extLst>
          </p:nvPr>
        </p:nvGraphicFramePr>
        <p:xfrm>
          <a:off x="704904" y="3676538"/>
          <a:ext cx="4204860" cy="3474720"/>
        </p:xfrm>
        <a:graphic>
          <a:graphicData uri="http://schemas.openxmlformats.org/drawingml/2006/table">
            <a:tbl>
              <a:tblPr firstRow="1" bandRow="1">
                <a:tableStyleId>{5C22544A-7EE6-4342-B048-85BDC9FD1C3A}</a:tableStyleId>
              </a:tblPr>
              <a:tblGrid>
                <a:gridCol w="1401620">
                  <a:extLst>
                    <a:ext uri="{9D8B030D-6E8A-4147-A177-3AD203B41FA5}">
                      <a16:colId xmlns:a16="http://schemas.microsoft.com/office/drawing/2014/main" val="1278249800"/>
                    </a:ext>
                  </a:extLst>
                </a:gridCol>
                <a:gridCol w="1401620">
                  <a:extLst>
                    <a:ext uri="{9D8B030D-6E8A-4147-A177-3AD203B41FA5}">
                      <a16:colId xmlns:a16="http://schemas.microsoft.com/office/drawing/2014/main" val="1452373893"/>
                    </a:ext>
                  </a:extLst>
                </a:gridCol>
                <a:gridCol w="1401620">
                  <a:extLst>
                    <a:ext uri="{9D8B030D-6E8A-4147-A177-3AD203B41FA5}">
                      <a16:colId xmlns:a16="http://schemas.microsoft.com/office/drawing/2014/main" val="2516731280"/>
                    </a:ext>
                  </a:extLst>
                </a:gridCol>
              </a:tblGrid>
              <a:tr h="899770">
                <a:tc>
                  <a:txBody>
                    <a:bodyPr/>
                    <a:lstStyle/>
                    <a:p>
                      <a:pPr algn="r"/>
                      <a:r>
                        <a:rPr lang="en-CA" sz="3200" dirty="0"/>
                        <a:t>      </a:t>
                      </a:r>
                      <a:r>
                        <a:rPr lang="en-CA" sz="3200" i="1" dirty="0"/>
                        <a:t>S</a:t>
                      </a:r>
                      <a:r>
                        <a:rPr lang="en-CA" sz="3200" baseline="-25000" dirty="0"/>
                        <a:t>0</a:t>
                      </a:r>
                    </a:p>
                    <a:p>
                      <a:pPr algn="l"/>
                      <a:r>
                        <a:rPr lang="en-CA" sz="3200" i="1" dirty="0"/>
                        <a:t>S</a:t>
                      </a:r>
                      <a:r>
                        <a:rPr lang="en-CA" sz="3200" baseline="-25000" dirty="0"/>
                        <a:t>2</a:t>
                      </a:r>
                      <a:r>
                        <a:rPr lang="en-CA" sz="3200" i="1" dirty="0"/>
                        <a:t>S</a:t>
                      </a:r>
                      <a:r>
                        <a:rPr lang="en-CA" sz="3200" baseline="-25000" dirty="0"/>
                        <a:t>1</a:t>
                      </a:r>
                    </a:p>
                  </a:txBody>
                  <a:tcPr marL="109728" marR="109728" marT="54864" marB="54864">
                    <a:lnTlToBr w="12700" cap="flat" cmpd="sng" algn="ctr">
                      <a:solidFill>
                        <a:schemeClr val="tx1"/>
                      </a:solidFill>
                      <a:prstDash val="solid"/>
                      <a:round/>
                      <a:headEnd type="none" w="med" len="med"/>
                      <a:tailEnd type="none" w="med" len="med"/>
                    </a:lnTlToBr>
                  </a:tcPr>
                </a:tc>
                <a:tc>
                  <a:txBody>
                    <a:bodyPr/>
                    <a:lstStyle/>
                    <a:p>
                      <a:pPr algn="ctr"/>
                      <a:r>
                        <a:rPr lang="en-CA" sz="3200" dirty="0"/>
                        <a:t>0</a:t>
                      </a:r>
                    </a:p>
                  </a:txBody>
                  <a:tcPr marL="109728" marR="109728" marT="54864" marB="54864" anchor="ctr"/>
                </a:tc>
                <a:tc>
                  <a:txBody>
                    <a:bodyPr/>
                    <a:lstStyle/>
                    <a:p>
                      <a:pPr algn="ctr"/>
                      <a:r>
                        <a:rPr lang="en-CA" sz="3200" dirty="0"/>
                        <a:t>1</a:t>
                      </a:r>
                    </a:p>
                  </a:txBody>
                  <a:tcPr marL="109728" marR="109728" marT="54864" marB="54864" anchor="ctr"/>
                </a:tc>
                <a:extLst>
                  <a:ext uri="{0D108BD9-81ED-4DB2-BD59-A6C34878D82A}">
                    <a16:rowId xmlns:a16="http://schemas.microsoft.com/office/drawing/2014/main" val="3451745046"/>
                  </a:ext>
                </a:extLst>
              </a:tr>
              <a:tr h="504749">
                <a:tc>
                  <a:txBody>
                    <a:bodyPr/>
                    <a:lstStyle/>
                    <a:p>
                      <a:pPr algn="ctr"/>
                      <a:r>
                        <a:rPr lang="en-CA" sz="3200" dirty="0"/>
                        <a:t>00</a:t>
                      </a:r>
                    </a:p>
                  </a:txBody>
                  <a:tcPr marL="109728" marR="109728" marT="54864" marB="54864" anchor="ctr"/>
                </a:tc>
                <a:tc>
                  <a:txBody>
                    <a:bodyPr/>
                    <a:lstStyle/>
                    <a:p>
                      <a:pPr algn="ctr"/>
                      <a:r>
                        <a:rPr lang="en-CA" sz="3200" i="1" dirty="0"/>
                        <a:t>A</a:t>
                      </a:r>
                    </a:p>
                  </a:txBody>
                  <a:tcPr marL="109728" marR="109728" marT="54864" marB="54864" anchor="ctr"/>
                </a:tc>
                <a:tc>
                  <a:txBody>
                    <a:bodyPr/>
                    <a:lstStyle/>
                    <a:p>
                      <a:pPr algn="ctr"/>
                      <a:r>
                        <a:rPr lang="en-CA" sz="3200" i="1" dirty="0"/>
                        <a:t>A</a:t>
                      </a:r>
                    </a:p>
                  </a:txBody>
                  <a:tcPr marL="109728" marR="109728" marT="54864" marB="54864" anchor="ctr"/>
                </a:tc>
                <a:extLst>
                  <a:ext uri="{0D108BD9-81ED-4DB2-BD59-A6C34878D82A}">
                    <a16:rowId xmlns:a16="http://schemas.microsoft.com/office/drawing/2014/main" val="4269534048"/>
                  </a:ext>
                </a:extLst>
              </a:tr>
              <a:tr h="504749">
                <a:tc>
                  <a:txBody>
                    <a:bodyPr/>
                    <a:lstStyle/>
                    <a:p>
                      <a:pPr algn="ctr"/>
                      <a:r>
                        <a:rPr lang="en-CA" sz="3200" dirty="0"/>
                        <a:t>01</a:t>
                      </a:r>
                    </a:p>
                  </a:txBody>
                  <a:tcPr marL="109728" marR="109728" marT="54864" marB="54864" anchor="ctr"/>
                </a:tc>
                <a:tc>
                  <a:txBody>
                    <a:bodyPr/>
                    <a:lstStyle/>
                    <a:p>
                      <a:pPr algn="ctr"/>
                      <a:r>
                        <a:rPr lang="en-CA" sz="3200" i="1" dirty="0"/>
                        <a:t>A</a:t>
                      </a:r>
                    </a:p>
                  </a:txBody>
                  <a:tcPr marL="109728" marR="109728" marT="54864" marB="54864" anchor="ctr"/>
                </a:tc>
                <a:tc>
                  <a:txBody>
                    <a:bodyPr/>
                    <a:lstStyle/>
                    <a:p>
                      <a:pPr algn="ctr"/>
                      <a:r>
                        <a:rPr lang="en-CA" sz="3200" i="1" dirty="0"/>
                        <a:t>A</a:t>
                      </a:r>
                    </a:p>
                  </a:txBody>
                  <a:tcPr marL="109728" marR="109728" marT="54864" marB="54864" anchor="ctr"/>
                </a:tc>
                <a:extLst>
                  <a:ext uri="{0D108BD9-81ED-4DB2-BD59-A6C34878D82A}">
                    <a16:rowId xmlns:a16="http://schemas.microsoft.com/office/drawing/2014/main" val="140848850"/>
                  </a:ext>
                </a:extLst>
              </a:tr>
              <a:tr h="504749">
                <a:tc>
                  <a:txBody>
                    <a:bodyPr/>
                    <a:lstStyle/>
                    <a:p>
                      <a:pPr algn="ctr"/>
                      <a:r>
                        <a:rPr lang="en-CA" sz="3200" dirty="0"/>
                        <a:t>11</a:t>
                      </a:r>
                    </a:p>
                  </a:txBody>
                  <a:tcPr marL="109728" marR="109728" marT="54864" marB="54864" anchor="ctr"/>
                </a:tc>
                <a:tc>
                  <a:txBody>
                    <a:bodyPr/>
                    <a:lstStyle/>
                    <a:p>
                      <a:pPr algn="ctr"/>
                      <a:r>
                        <a:rPr lang="en-CA" sz="3200" i="1" dirty="0"/>
                        <a:t>A</a:t>
                      </a:r>
                      <a:r>
                        <a:rPr lang="en-CA" sz="3200" i="0" dirty="0"/>
                        <a:t>+</a:t>
                      </a:r>
                      <a:r>
                        <a:rPr lang="en-CA" sz="3200" i="1" dirty="0"/>
                        <a:t>B’</a:t>
                      </a:r>
                    </a:p>
                  </a:txBody>
                  <a:tcPr marL="109728" marR="109728" marT="54864" marB="54864" anchor="ctr"/>
                </a:tc>
                <a:tc>
                  <a:txBody>
                    <a:bodyPr/>
                    <a:lstStyle/>
                    <a:p>
                      <a:pPr algn="ctr"/>
                      <a:r>
                        <a:rPr lang="en-CA" sz="3200" i="1" dirty="0"/>
                        <a:t>A</a:t>
                      </a:r>
                    </a:p>
                  </a:txBody>
                  <a:tcPr marL="109728" marR="109728" marT="54864" marB="54864" anchor="ctr"/>
                </a:tc>
                <a:extLst>
                  <a:ext uri="{0D108BD9-81ED-4DB2-BD59-A6C34878D82A}">
                    <a16:rowId xmlns:a16="http://schemas.microsoft.com/office/drawing/2014/main" val="3640278167"/>
                  </a:ext>
                </a:extLst>
              </a:tr>
              <a:tr h="504749">
                <a:tc>
                  <a:txBody>
                    <a:bodyPr/>
                    <a:lstStyle/>
                    <a:p>
                      <a:pPr algn="ctr"/>
                      <a:r>
                        <a:rPr lang="en-CA" sz="3200" dirty="0"/>
                        <a:t>10</a:t>
                      </a:r>
                    </a:p>
                  </a:txBody>
                  <a:tcPr marL="109728" marR="109728" marT="54864" marB="54864" anchor="ctr"/>
                </a:tc>
                <a:tc>
                  <a:txBody>
                    <a:bodyPr/>
                    <a:lstStyle/>
                    <a:p>
                      <a:pPr algn="ctr"/>
                      <a:r>
                        <a:rPr lang="en-CA" sz="3200" i="1" dirty="0"/>
                        <a:t>A</a:t>
                      </a:r>
                      <a:r>
                        <a:rPr lang="en-CA" sz="3200" i="0" dirty="0"/>
                        <a:t>+</a:t>
                      </a:r>
                      <a:r>
                        <a:rPr lang="en-CA" sz="3200" i="1" dirty="0"/>
                        <a:t>B</a:t>
                      </a:r>
                    </a:p>
                  </a:txBody>
                  <a:tcPr marL="109728" marR="109728" marT="54864" marB="54864" anchor="ctr"/>
                </a:tc>
                <a:tc>
                  <a:txBody>
                    <a:bodyPr/>
                    <a:lstStyle/>
                    <a:p>
                      <a:pPr algn="ctr"/>
                      <a:r>
                        <a:rPr lang="en-CA" sz="3200" i="1" dirty="0"/>
                        <a:t>A</a:t>
                      </a:r>
                    </a:p>
                  </a:txBody>
                  <a:tcPr marL="109728" marR="109728" marT="54864" marB="54864" anchor="ctr"/>
                </a:tc>
                <a:extLst>
                  <a:ext uri="{0D108BD9-81ED-4DB2-BD59-A6C34878D82A}">
                    <a16:rowId xmlns:a16="http://schemas.microsoft.com/office/drawing/2014/main" val="266696010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78457413"/>
              </p:ext>
            </p:extLst>
          </p:nvPr>
        </p:nvGraphicFramePr>
        <p:xfrm>
          <a:off x="5772360" y="4018491"/>
          <a:ext cx="4348038" cy="3474720"/>
        </p:xfrm>
        <a:graphic>
          <a:graphicData uri="http://schemas.openxmlformats.org/drawingml/2006/table">
            <a:tbl>
              <a:tblPr firstRow="1" bandRow="1">
                <a:tableStyleId>{5C22544A-7EE6-4342-B048-85BDC9FD1C3A}</a:tableStyleId>
              </a:tblPr>
              <a:tblGrid>
                <a:gridCol w="1449346">
                  <a:extLst>
                    <a:ext uri="{9D8B030D-6E8A-4147-A177-3AD203B41FA5}">
                      <a16:colId xmlns:a16="http://schemas.microsoft.com/office/drawing/2014/main" val="1278249800"/>
                    </a:ext>
                  </a:extLst>
                </a:gridCol>
                <a:gridCol w="1449346">
                  <a:extLst>
                    <a:ext uri="{9D8B030D-6E8A-4147-A177-3AD203B41FA5}">
                      <a16:colId xmlns:a16="http://schemas.microsoft.com/office/drawing/2014/main" val="1452373893"/>
                    </a:ext>
                  </a:extLst>
                </a:gridCol>
                <a:gridCol w="1449346">
                  <a:extLst>
                    <a:ext uri="{9D8B030D-6E8A-4147-A177-3AD203B41FA5}">
                      <a16:colId xmlns:a16="http://schemas.microsoft.com/office/drawing/2014/main" val="724531165"/>
                    </a:ext>
                  </a:extLst>
                </a:gridCol>
              </a:tblGrid>
              <a:tr h="899770">
                <a:tc>
                  <a:txBody>
                    <a:bodyPr/>
                    <a:lstStyle/>
                    <a:p>
                      <a:pPr algn="r"/>
                      <a:r>
                        <a:rPr lang="en-CA" sz="3200" baseline="0" dirty="0"/>
                        <a:t>         </a:t>
                      </a:r>
                      <a:r>
                        <a:rPr lang="en-CA" sz="3200" i="1" dirty="0"/>
                        <a:t>S</a:t>
                      </a:r>
                      <a:r>
                        <a:rPr lang="en-CA" sz="3200" baseline="-25000" dirty="0"/>
                        <a:t>0</a:t>
                      </a:r>
                    </a:p>
                    <a:p>
                      <a:pPr algn="l"/>
                      <a:r>
                        <a:rPr lang="en-CA" sz="3200" i="1" dirty="0"/>
                        <a:t>S</a:t>
                      </a:r>
                      <a:r>
                        <a:rPr lang="en-CA" sz="3200" baseline="-25000" dirty="0"/>
                        <a:t>2</a:t>
                      </a:r>
                      <a:r>
                        <a:rPr lang="en-CA" sz="3200" i="1" dirty="0"/>
                        <a:t>S</a:t>
                      </a:r>
                      <a:r>
                        <a:rPr lang="en-CA" sz="3200" baseline="-25000" dirty="0"/>
                        <a:t>1</a:t>
                      </a:r>
                    </a:p>
                  </a:txBody>
                  <a:tcPr marL="109728" marR="109728" marT="54864" marB="54864">
                    <a:lnTlToBr w="12700" cap="flat" cmpd="sng" algn="ctr">
                      <a:solidFill>
                        <a:schemeClr val="tx1"/>
                      </a:solidFill>
                      <a:prstDash val="solid"/>
                      <a:round/>
                      <a:headEnd type="none" w="med" len="med"/>
                      <a:tailEnd type="none" w="med" len="med"/>
                    </a:lnTlToBr>
                  </a:tcPr>
                </a:tc>
                <a:tc>
                  <a:txBody>
                    <a:bodyPr/>
                    <a:lstStyle/>
                    <a:p>
                      <a:pPr algn="ctr"/>
                      <a:r>
                        <a:rPr lang="en-CA" sz="3200" dirty="0"/>
                        <a:t>0</a:t>
                      </a:r>
                    </a:p>
                  </a:txBody>
                  <a:tcPr marL="109728" marR="109728" marT="54864" marB="54864" anchor="ctr"/>
                </a:tc>
                <a:tc>
                  <a:txBody>
                    <a:bodyPr/>
                    <a:lstStyle/>
                    <a:p>
                      <a:pPr algn="ctr"/>
                      <a:r>
                        <a:rPr lang="en-CA" sz="3200" dirty="0"/>
                        <a:t>1</a:t>
                      </a:r>
                    </a:p>
                  </a:txBody>
                  <a:tcPr marL="109728" marR="109728" marT="54864" marB="54864" anchor="ctr"/>
                </a:tc>
                <a:extLst>
                  <a:ext uri="{0D108BD9-81ED-4DB2-BD59-A6C34878D82A}">
                    <a16:rowId xmlns:a16="http://schemas.microsoft.com/office/drawing/2014/main" val="3451745046"/>
                  </a:ext>
                </a:extLst>
              </a:tr>
              <a:tr h="504749">
                <a:tc>
                  <a:txBody>
                    <a:bodyPr/>
                    <a:lstStyle/>
                    <a:p>
                      <a:pPr algn="ctr"/>
                      <a:r>
                        <a:rPr lang="en-CA" sz="3200" dirty="0"/>
                        <a:t>00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B</a:t>
                      </a:r>
                    </a:p>
                  </a:txBody>
                  <a:tcPr marL="109728" marR="109728" marT="54864" marB="54864" anchor="ctr"/>
                </a:tc>
                <a:extLst>
                  <a:ext uri="{0D108BD9-81ED-4DB2-BD59-A6C34878D82A}">
                    <a16:rowId xmlns:a16="http://schemas.microsoft.com/office/drawing/2014/main" val="4269534048"/>
                  </a:ext>
                </a:extLst>
              </a:tr>
              <a:tr h="504749">
                <a:tc>
                  <a:txBody>
                    <a:bodyPr/>
                    <a:lstStyle/>
                    <a:p>
                      <a:pPr algn="ctr"/>
                      <a:r>
                        <a:rPr lang="en-CA" sz="3200" dirty="0"/>
                        <a:t>01</a:t>
                      </a:r>
                    </a:p>
                  </a:txBody>
                  <a:tcPr marL="109728" marR="109728" marT="54864" marB="54864" anchor="ctr"/>
                </a:tc>
                <a:tc>
                  <a:txBody>
                    <a:bodyPr/>
                    <a:lstStyle/>
                    <a:p>
                      <a:pPr algn="ctr"/>
                      <a:r>
                        <a:rPr lang="en-CA" sz="3200" dirty="0"/>
                        <a:t>B’</a:t>
                      </a:r>
                    </a:p>
                  </a:txBody>
                  <a:tcPr marL="109728" marR="109728" marT="54864" marB="54864" anchor="ctr"/>
                </a:tc>
                <a:tc>
                  <a:txBody>
                    <a:bodyPr/>
                    <a:lstStyle/>
                    <a:p>
                      <a:pPr algn="ctr"/>
                      <a:r>
                        <a:rPr lang="en-CA" sz="3200" dirty="0"/>
                        <a:t>1</a:t>
                      </a:r>
                    </a:p>
                  </a:txBody>
                  <a:tcPr marL="109728" marR="109728" marT="54864" marB="54864" anchor="ctr"/>
                </a:tc>
                <a:extLst>
                  <a:ext uri="{0D108BD9-81ED-4DB2-BD59-A6C34878D82A}">
                    <a16:rowId xmlns:a16="http://schemas.microsoft.com/office/drawing/2014/main" val="140848850"/>
                  </a:ext>
                </a:extLst>
              </a:tr>
              <a:tr h="504749">
                <a:tc>
                  <a:txBody>
                    <a:bodyPr/>
                    <a:lstStyle/>
                    <a:p>
                      <a:pPr algn="ctr"/>
                      <a:r>
                        <a:rPr lang="en-CA" sz="3200" dirty="0"/>
                        <a:t>11</a:t>
                      </a:r>
                    </a:p>
                  </a:txBody>
                  <a:tcPr marL="109728" marR="109728" marT="54864" marB="54864" anchor="ctr"/>
                </a:tc>
                <a:tc>
                  <a:txBody>
                    <a:bodyPr/>
                    <a:lstStyle/>
                    <a:p>
                      <a:pPr algn="ctr"/>
                      <a:r>
                        <a:rPr lang="en-CA" sz="3200" dirty="0"/>
                        <a:t>B’</a:t>
                      </a:r>
                    </a:p>
                  </a:txBody>
                  <a:tcPr marL="109728" marR="109728" marT="54864" marB="54864" anchor="ctr"/>
                </a:tc>
                <a:tc>
                  <a:txBody>
                    <a:bodyPr/>
                    <a:lstStyle/>
                    <a:p>
                      <a:pPr algn="ctr"/>
                      <a:r>
                        <a:rPr lang="en-CA" sz="3200" dirty="0"/>
                        <a:t>1</a:t>
                      </a:r>
                    </a:p>
                  </a:txBody>
                  <a:tcPr marL="109728" marR="109728" marT="54864" marB="54864" anchor="ctr"/>
                </a:tc>
                <a:extLst>
                  <a:ext uri="{0D108BD9-81ED-4DB2-BD59-A6C34878D82A}">
                    <a16:rowId xmlns:a16="http://schemas.microsoft.com/office/drawing/2014/main" val="3640278167"/>
                  </a:ext>
                </a:extLst>
              </a:tr>
              <a:tr h="504749">
                <a:tc>
                  <a:txBody>
                    <a:bodyPr/>
                    <a:lstStyle/>
                    <a:p>
                      <a:pPr algn="ctr"/>
                      <a:r>
                        <a:rPr lang="en-CA" sz="3200" dirty="0"/>
                        <a:t>10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B</a:t>
                      </a:r>
                    </a:p>
                  </a:txBody>
                  <a:tcPr marL="109728" marR="109728" marT="54864" marB="54864" anchor="ctr"/>
                </a:tc>
                <a:extLst>
                  <a:ext uri="{0D108BD9-81ED-4DB2-BD59-A6C34878D82A}">
                    <a16:rowId xmlns:a16="http://schemas.microsoft.com/office/drawing/2014/main" val="2666960108"/>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681049034"/>
              </p:ext>
            </p:extLst>
          </p:nvPr>
        </p:nvGraphicFramePr>
        <p:xfrm>
          <a:off x="10412045" y="4016946"/>
          <a:ext cx="5814400" cy="3474720"/>
        </p:xfrm>
        <a:graphic>
          <a:graphicData uri="http://schemas.openxmlformats.org/drawingml/2006/table">
            <a:tbl>
              <a:tblPr firstRow="1" bandRow="1">
                <a:tableStyleId>{5C22544A-7EE6-4342-B048-85BDC9FD1C3A}</a:tableStyleId>
              </a:tblPr>
              <a:tblGrid>
                <a:gridCol w="1701860">
                  <a:extLst>
                    <a:ext uri="{9D8B030D-6E8A-4147-A177-3AD203B41FA5}">
                      <a16:colId xmlns:a16="http://schemas.microsoft.com/office/drawing/2014/main" val="1278249800"/>
                    </a:ext>
                  </a:extLst>
                </a:gridCol>
                <a:gridCol w="1028135">
                  <a:extLst>
                    <a:ext uri="{9D8B030D-6E8A-4147-A177-3AD203B41FA5}">
                      <a16:colId xmlns:a16="http://schemas.microsoft.com/office/drawing/2014/main" val="1452373893"/>
                    </a:ext>
                  </a:extLst>
                </a:gridCol>
                <a:gridCol w="1028135">
                  <a:extLst>
                    <a:ext uri="{9D8B030D-6E8A-4147-A177-3AD203B41FA5}">
                      <a16:colId xmlns:a16="http://schemas.microsoft.com/office/drawing/2014/main" val="724531165"/>
                    </a:ext>
                  </a:extLst>
                </a:gridCol>
                <a:gridCol w="1028135">
                  <a:extLst>
                    <a:ext uri="{9D8B030D-6E8A-4147-A177-3AD203B41FA5}">
                      <a16:colId xmlns:a16="http://schemas.microsoft.com/office/drawing/2014/main" val="1076094095"/>
                    </a:ext>
                  </a:extLst>
                </a:gridCol>
                <a:gridCol w="1028135">
                  <a:extLst>
                    <a:ext uri="{9D8B030D-6E8A-4147-A177-3AD203B41FA5}">
                      <a16:colId xmlns:a16="http://schemas.microsoft.com/office/drawing/2014/main" val="2516731280"/>
                    </a:ext>
                  </a:extLst>
                </a:gridCol>
              </a:tblGrid>
              <a:tr h="1053818">
                <a:tc>
                  <a:txBody>
                    <a:bodyPr/>
                    <a:lstStyle/>
                    <a:p>
                      <a:pPr algn="r"/>
                      <a:r>
                        <a:rPr lang="en-CA" sz="3200" baseline="0" dirty="0"/>
                        <a:t>     </a:t>
                      </a:r>
                      <a:r>
                        <a:rPr lang="en-CA" sz="3200" i="1" dirty="0"/>
                        <a:t>S</a:t>
                      </a:r>
                      <a:r>
                        <a:rPr lang="en-CA" sz="3200" baseline="-25000" dirty="0"/>
                        <a:t>0</a:t>
                      </a:r>
                      <a:r>
                        <a:rPr lang="en-CA" sz="3200" i="1" dirty="0"/>
                        <a:t>C</a:t>
                      </a:r>
                      <a:r>
                        <a:rPr lang="en-CA" sz="3200" i="1" baseline="-25000" dirty="0"/>
                        <a:t>in</a:t>
                      </a:r>
                    </a:p>
                    <a:p>
                      <a:pPr algn="l"/>
                      <a:r>
                        <a:rPr lang="en-CA" sz="3200" i="1" dirty="0"/>
                        <a:t>S</a:t>
                      </a:r>
                      <a:r>
                        <a:rPr lang="en-CA" sz="3200" baseline="-25000" dirty="0"/>
                        <a:t>2</a:t>
                      </a:r>
                      <a:r>
                        <a:rPr lang="en-CA" sz="3200" i="1" dirty="0"/>
                        <a:t>S</a:t>
                      </a:r>
                      <a:r>
                        <a:rPr lang="en-CA" sz="3200" baseline="-25000" dirty="0"/>
                        <a:t>1</a:t>
                      </a:r>
                    </a:p>
                  </a:txBody>
                  <a:tcPr marL="109728" marR="109728" marT="54864" marB="54864">
                    <a:lnTlToBr w="12700" cap="flat" cmpd="sng" algn="ctr">
                      <a:solidFill>
                        <a:schemeClr val="tx1"/>
                      </a:solidFill>
                      <a:prstDash val="solid"/>
                      <a:round/>
                      <a:headEnd type="none" w="med" len="med"/>
                      <a:tailEnd type="none" w="med" len="med"/>
                    </a:lnTlToBr>
                  </a:tcPr>
                </a:tc>
                <a:tc>
                  <a:txBody>
                    <a:bodyPr/>
                    <a:lstStyle/>
                    <a:p>
                      <a:pPr algn="ctr"/>
                      <a:r>
                        <a:rPr lang="en-CA" sz="3200" dirty="0"/>
                        <a:t>00</a:t>
                      </a:r>
                    </a:p>
                  </a:txBody>
                  <a:tcPr marL="109728" marR="109728" marT="54864" marB="54864" anchor="ctr"/>
                </a:tc>
                <a:tc>
                  <a:txBody>
                    <a:bodyPr/>
                    <a:lstStyle/>
                    <a:p>
                      <a:pPr algn="ctr"/>
                      <a:r>
                        <a:rPr lang="en-CA" sz="3200" dirty="0"/>
                        <a:t>01</a:t>
                      </a:r>
                    </a:p>
                  </a:txBody>
                  <a:tcPr marL="109728" marR="109728" marT="54864" marB="54864" anchor="ctr"/>
                </a:tc>
                <a:tc>
                  <a:txBody>
                    <a:bodyPr/>
                    <a:lstStyle/>
                    <a:p>
                      <a:pPr algn="ctr"/>
                      <a:r>
                        <a:rPr lang="en-CA" sz="3200" dirty="0"/>
                        <a:t>11</a:t>
                      </a:r>
                    </a:p>
                  </a:txBody>
                  <a:tcPr marL="109728" marR="109728" marT="54864" marB="54864" anchor="ctr"/>
                </a:tc>
                <a:tc>
                  <a:txBody>
                    <a:bodyPr/>
                    <a:lstStyle/>
                    <a:p>
                      <a:pPr algn="ctr"/>
                      <a:r>
                        <a:rPr lang="en-CA" sz="3200" dirty="0"/>
                        <a:t>10</a:t>
                      </a:r>
                    </a:p>
                  </a:txBody>
                  <a:tcPr marL="109728" marR="109728" marT="54864" marB="54864" anchor="ctr"/>
                </a:tc>
                <a:extLst>
                  <a:ext uri="{0D108BD9-81ED-4DB2-BD59-A6C34878D82A}">
                    <a16:rowId xmlns:a16="http://schemas.microsoft.com/office/drawing/2014/main" val="3451745046"/>
                  </a:ext>
                </a:extLst>
              </a:tr>
              <a:tr h="504749">
                <a:tc>
                  <a:txBody>
                    <a:bodyPr/>
                    <a:lstStyle/>
                    <a:p>
                      <a:pPr algn="ctr"/>
                      <a:r>
                        <a:rPr lang="en-CA" sz="3200" dirty="0"/>
                        <a:t>00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1</a:t>
                      </a:r>
                    </a:p>
                  </a:txBody>
                  <a:tcPr marL="109728" marR="109728" marT="54864" marB="54864" anchor="ctr"/>
                </a:tc>
                <a:tc>
                  <a:txBody>
                    <a:bodyPr/>
                    <a:lstStyle/>
                    <a:p>
                      <a:pPr algn="ctr"/>
                      <a:r>
                        <a:rPr lang="en-CA" sz="3200" dirty="0"/>
                        <a:t>1</a:t>
                      </a:r>
                    </a:p>
                  </a:txBody>
                  <a:tcPr marL="109728" marR="109728" marT="54864" marB="54864" anchor="ctr"/>
                </a:tc>
                <a:tc>
                  <a:txBody>
                    <a:bodyPr/>
                    <a:lstStyle/>
                    <a:p>
                      <a:pPr algn="ctr"/>
                      <a:r>
                        <a:rPr lang="en-CA" sz="3200" dirty="0"/>
                        <a:t>0</a:t>
                      </a:r>
                    </a:p>
                  </a:txBody>
                  <a:tcPr marL="109728" marR="109728" marT="54864" marB="54864" anchor="ctr"/>
                </a:tc>
                <a:extLst>
                  <a:ext uri="{0D108BD9-81ED-4DB2-BD59-A6C34878D82A}">
                    <a16:rowId xmlns:a16="http://schemas.microsoft.com/office/drawing/2014/main" val="1534337162"/>
                  </a:ext>
                </a:extLst>
              </a:tr>
              <a:tr h="504749">
                <a:tc>
                  <a:txBody>
                    <a:bodyPr/>
                    <a:lstStyle/>
                    <a:p>
                      <a:pPr algn="ctr"/>
                      <a:r>
                        <a:rPr lang="en-CA" sz="3200" dirty="0"/>
                        <a:t>01</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1</a:t>
                      </a:r>
                    </a:p>
                  </a:txBody>
                  <a:tcPr marL="109728" marR="109728" marT="54864" marB="54864" anchor="ctr"/>
                </a:tc>
                <a:tc>
                  <a:txBody>
                    <a:bodyPr/>
                    <a:lstStyle/>
                    <a:p>
                      <a:pPr algn="ctr"/>
                      <a:r>
                        <a:rPr lang="en-CA" sz="3200" dirty="0"/>
                        <a:t>1</a:t>
                      </a:r>
                    </a:p>
                  </a:txBody>
                  <a:tcPr marL="109728" marR="109728" marT="54864" marB="54864" anchor="ctr"/>
                </a:tc>
                <a:tc>
                  <a:txBody>
                    <a:bodyPr/>
                    <a:lstStyle/>
                    <a:p>
                      <a:pPr algn="ctr"/>
                      <a:r>
                        <a:rPr lang="en-CA" sz="3200" dirty="0"/>
                        <a:t>0</a:t>
                      </a:r>
                    </a:p>
                  </a:txBody>
                  <a:tcPr marL="109728" marR="109728" marT="54864" marB="54864" anchor="ctr"/>
                </a:tc>
                <a:extLst>
                  <a:ext uri="{0D108BD9-81ED-4DB2-BD59-A6C34878D82A}">
                    <a16:rowId xmlns:a16="http://schemas.microsoft.com/office/drawing/2014/main" val="4269534048"/>
                  </a:ext>
                </a:extLst>
              </a:tr>
              <a:tr h="504749">
                <a:tc>
                  <a:txBody>
                    <a:bodyPr/>
                    <a:lstStyle/>
                    <a:p>
                      <a:pPr algn="ctr"/>
                      <a:r>
                        <a:rPr lang="en-CA" sz="3200" dirty="0"/>
                        <a:t>11</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extLst>
                  <a:ext uri="{0D108BD9-81ED-4DB2-BD59-A6C34878D82A}">
                    <a16:rowId xmlns:a16="http://schemas.microsoft.com/office/drawing/2014/main" val="140848850"/>
                  </a:ext>
                </a:extLst>
              </a:tr>
              <a:tr h="504749">
                <a:tc>
                  <a:txBody>
                    <a:bodyPr/>
                    <a:lstStyle/>
                    <a:p>
                      <a:pPr algn="ctr"/>
                      <a:r>
                        <a:rPr lang="en-CA" sz="3200" dirty="0"/>
                        <a:t>10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tc>
                  <a:txBody>
                    <a:bodyPr/>
                    <a:lstStyle/>
                    <a:p>
                      <a:pPr algn="ctr"/>
                      <a:r>
                        <a:rPr lang="en-CA" sz="3200" dirty="0"/>
                        <a:t>0</a:t>
                      </a:r>
                    </a:p>
                  </a:txBody>
                  <a:tcPr marL="109728" marR="109728" marT="54864" marB="54864" anchor="ctr"/>
                </a:tc>
                <a:extLst>
                  <a:ext uri="{0D108BD9-81ED-4DB2-BD59-A6C34878D82A}">
                    <a16:rowId xmlns:a16="http://schemas.microsoft.com/office/drawing/2014/main" val="3640278167"/>
                  </a:ext>
                </a:extLst>
              </a:tr>
            </a:tbl>
          </a:graphicData>
        </a:graphic>
      </p:graphicFrame>
      <mc:AlternateContent xmlns:mc="http://schemas.openxmlformats.org/markup-compatibility/2006" xmlns:a14="http://schemas.microsoft.com/office/drawing/2010/main">
        <mc:Choice Requires="a14">
          <p:sp>
            <p:nvSpPr>
              <p:cNvPr id="8" name="TextBox 7"/>
              <p:cNvSpPr txBox="1"/>
              <p:nvPr/>
            </p:nvSpPr>
            <p:spPr>
              <a:xfrm>
                <a:off x="301497" y="7339266"/>
                <a:ext cx="5547481" cy="5850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𝑋</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smtClean="0">
                              <a:solidFill>
                                <a:srgbClr val="FF0000"/>
                              </a:solidFill>
                              <a:latin typeface="Cambria Math" panose="02040503050406030204" pitchFamily="18" charset="0"/>
                              <a:ea typeface="Cambria Math" panose="02040503050406030204" pitchFamily="18" charset="0"/>
                            </a:rPr>
                          </m:ctrlPr>
                        </m:sSubPr>
                        <m:e>
                          <m:r>
                            <a:rPr lang="en-US" sz="3200" i="1">
                              <a:solidFill>
                                <a:srgbClr val="FF0000"/>
                              </a:solidFill>
                              <a:latin typeface="Cambria Math" panose="02040503050406030204" pitchFamily="18" charset="0"/>
                              <a:ea typeface="Cambria Math" panose="02040503050406030204" pitchFamily="18" charset="0"/>
                            </a:rPr>
                            <m:t>𝐴</m:t>
                          </m:r>
                        </m:e>
                        <m:sub>
                          <m:r>
                            <a:rPr lang="en-US" sz="3200" i="1">
                              <a:solidFill>
                                <a:srgbClr val="FF0000"/>
                              </a:solidFill>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
                        <m:sSubPr>
                          <m:ctrlPr>
                            <a:rPr lang="en-US" sz="3200" i="1" smtClean="0">
                              <a:solidFill>
                                <a:srgbClr val="7030A0"/>
                              </a:solidFill>
                              <a:latin typeface="Cambria Math" panose="02040503050406030204" pitchFamily="18" charset="0"/>
                              <a:ea typeface="Cambria Math" panose="02040503050406030204" pitchFamily="18" charset="0"/>
                            </a:rPr>
                          </m:ctrlPr>
                        </m:sSubPr>
                        <m:e>
                          <m:r>
                            <a:rPr lang="en-US" sz="3200" i="1">
                              <a:solidFill>
                                <a:srgbClr val="7030A0"/>
                              </a:solidFill>
                              <a:latin typeface="Cambria Math" panose="02040503050406030204" pitchFamily="18" charset="0"/>
                              <a:ea typeface="Cambria Math" panose="02040503050406030204" pitchFamily="18" charset="0"/>
                            </a:rPr>
                            <m:t>𝑠</m:t>
                          </m:r>
                        </m:e>
                        <m:sub>
                          <m:r>
                            <a:rPr lang="en-US" sz="3200" i="1">
                              <a:solidFill>
                                <a:srgbClr val="7030A0"/>
                              </a:solidFill>
                              <a:latin typeface="Cambria Math" panose="02040503050406030204" pitchFamily="18" charset="0"/>
                              <a:ea typeface="Cambria Math" panose="02040503050406030204" pitchFamily="18" charset="0"/>
                            </a:rPr>
                            <m:t>2</m:t>
                          </m:r>
                        </m:sub>
                      </m:sSub>
                      <m:sSubSup>
                        <m:sSubSupPr>
                          <m:ctrlPr>
                            <a:rPr lang="en-US" sz="3200" i="1">
                              <a:solidFill>
                                <a:srgbClr val="7030A0"/>
                              </a:solidFill>
                              <a:latin typeface="Cambria Math" panose="02040503050406030204" pitchFamily="18" charset="0"/>
                              <a:ea typeface="Cambria Math" panose="02040503050406030204" pitchFamily="18" charset="0"/>
                            </a:rPr>
                          </m:ctrlPr>
                        </m:sSubSupPr>
                        <m:e>
                          <m:r>
                            <a:rPr lang="en-US" sz="3200" i="1">
                              <a:solidFill>
                                <a:srgbClr val="7030A0"/>
                              </a:solidFill>
                              <a:latin typeface="Cambria Math" panose="02040503050406030204" pitchFamily="18" charset="0"/>
                              <a:ea typeface="Cambria Math" panose="02040503050406030204" pitchFamily="18" charset="0"/>
                            </a:rPr>
                            <m:t>𝑠</m:t>
                          </m:r>
                        </m:e>
                        <m:sub>
                          <m:r>
                            <a:rPr lang="en-US" sz="3200" i="1">
                              <a:solidFill>
                                <a:srgbClr val="7030A0"/>
                              </a:solidFill>
                              <a:latin typeface="Cambria Math" panose="02040503050406030204" pitchFamily="18" charset="0"/>
                              <a:ea typeface="Cambria Math" panose="02040503050406030204" pitchFamily="18" charset="0"/>
                            </a:rPr>
                            <m:t>1</m:t>
                          </m:r>
                        </m:sub>
                        <m:sup>
                          <m:r>
                            <a:rPr lang="en-US" sz="3200" i="1">
                              <a:solidFill>
                                <a:srgbClr val="7030A0"/>
                              </a:solidFill>
                              <a:latin typeface="Cambria Math" panose="02040503050406030204" pitchFamily="18" charset="0"/>
                              <a:ea typeface="Cambria Math" panose="02040503050406030204" pitchFamily="18" charset="0"/>
                            </a:rPr>
                            <m:t>′</m:t>
                          </m:r>
                        </m:sup>
                      </m:sSubSup>
                      <m:sSubSup>
                        <m:sSubSupPr>
                          <m:ctrlPr>
                            <a:rPr lang="en-US" sz="3200" i="1">
                              <a:solidFill>
                                <a:srgbClr val="7030A0"/>
                              </a:solidFill>
                              <a:latin typeface="Cambria Math" panose="02040503050406030204" pitchFamily="18" charset="0"/>
                              <a:ea typeface="Cambria Math" panose="02040503050406030204" pitchFamily="18" charset="0"/>
                            </a:rPr>
                          </m:ctrlPr>
                        </m:sSubSupPr>
                        <m:e>
                          <m:r>
                            <a:rPr lang="en-US" sz="3200" i="1">
                              <a:solidFill>
                                <a:srgbClr val="7030A0"/>
                              </a:solidFill>
                              <a:latin typeface="Cambria Math" panose="02040503050406030204" pitchFamily="18" charset="0"/>
                              <a:ea typeface="Cambria Math" panose="02040503050406030204" pitchFamily="18" charset="0"/>
                            </a:rPr>
                            <m:t>𝑠</m:t>
                          </m:r>
                        </m:e>
                        <m:sub>
                          <m:r>
                            <a:rPr lang="en-US" sz="3200" i="1">
                              <a:solidFill>
                                <a:srgbClr val="7030A0"/>
                              </a:solidFill>
                              <a:latin typeface="Cambria Math" panose="02040503050406030204" pitchFamily="18" charset="0"/>
                              <a:ea typeface="Cambria Math" panose="02040503050406030204" pitchFamily="18" charset="0"/>
                            </a:rPr>
                            <m:t>0</m:t>
                          </m:r>
                        </m:sub>
                        <m:sup>
                          <m:r>
                            <a:rPr lang="en-US" sz="3200" i="1">
                              <a:solidFill>
                                <a:srgbClr val="7030A0"/>
                              </a:solidFill>
                              <a:latin typeface="Cambria Math" panose="02040503050406030204" pitchFamily="18" charset="0"/>
                              <a:ea typeface="Cambria Math" panose="02040503050406030204" pitchFamily="18" charset="0"/>
                            </a:rPr>
                            <m:t>′</m:t>
                          </m:r>
                        </m:sup>
                      </m:sSubSup>
                      <m:sSub>
                        <m:sSubPr>
                          <m:ctrlPr>
                            <a:rPr lang="en-US" sz="3200" i="1">
                              <a:solidFill>
                                <a:srgbClr val="7030A0"/>
                              </a:solidFill>
                              <a:latin typeface="Cambria Math" panose="02040503050406030204" pitchFamily="18" charset="0"/>
                              <a:ea typeface="Cambria Math" panose="02040503050406030204" pitchFamily="18" charset="0"/>
                            </a:rPr>
                          </m:ctrlPr>
                        </m:sSubPr>
                        <m:e>
                          <m:r>
                            <a:rPr lang="en-US" sz="3200" i="1">
                              <a:solidFill>
                                <a:srgbClr val="7030A0"/>
                              </a:solidFill>
                              <a:latin typeface="Cambria Math" panose="02040503050406030204" pitchFamily="18" charset="0"/>
                              <a:ea typeface="Cambria Math" panose="02040503050406030204" pitchFamily="18" charset="0"/>
                            </a:rPr>
                            <m:t>𝐵</m:t>
                          </m:r>
                        </m:e>
                        <m:sub>
                          <m:r>
                            <a:rPr lang="en-US" sz="3200" i="1">
                              <a:solidFill>
                                <a:srgbClr val="7030A0"/>
                              </a:solidFill>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smtClean="0">
                              <a:solidFill>
                                <a:srgbClr val="00B050"/>
                              </a:solidFill>
                              <a:latin typeface="Cambria Math" panose="02040503050406030204" pitchFamily="18" charset="0"/>
                              <a:ea typeface="Cambria Math" panose="02040503050406030204" pitchFamily="18" charset="0"/>
                            </a:rPr>
                          </m:ctrlPr>
                        </m:sSubSupPr>
                        <m:e>
                          <m:sSub>
                            <m:sSubPr>
                              <m:ctrlPr>
                                <a:rPr lang="en-US" sz="3200" i="1">
                                  <a:solidFill>
                                    <a:srgbClr val="00B050"/>
                                  </a:solidFill>
                                  <a:latin typeface="Cambria Math" panose="02040503050406030204" pitchFamily="18" charset="0"/>
                                  <a:ea typeface="Cambria Math" panose="02040503050406030204" pitchFamily="18" charset="0"/>
                                </a:rPr>
                              </m:ctrlPr>
                            </m:sSubPr>
                            <m:e>
                              <m:r>
                                <a:rPr lang="en-US" sz="3200" i="1">
                                  <a:solidFill>
                                    <a:srgbClr val="00B050"/>
                                  </a:solidFill>
                                  <a:latin typeface="Cambria Math" panose="02040503050406030204" pitchFamily="18" charset="0"/>
                                  <a:ea typeface="Cambria Math" panose="02040503050406030204" pitchFamily="18" charset="0"/>
                                </a:rPr>
                                <m:t>𝑠</m:t>
                              </m:r>
                            </m:e>
                            <m:sub>
                              <m:r>
                                <a:rPr lang="en-US" sz="3200" i="1">
                                  <a:solidFill>
                                    <a:srgbClr val="00B050"/>
                                  </a:solidFill>
                                  <a:latin typeface="Cambria Math" panose="02040503050406030204" pitchFamily="18" charset="0"/>
                                  <a:ea typeface="Cambria Math" panose="02040503050406030204" pitchFamily="18" charset="0"/>
                                </a:rPr>
                                <m:t>2</m:t>
                              </m:r>
                            </m:sub>
                          </m:sSub>
                          <m:sSub>
                            <m:sSubPr>
                              <m:ctrlPr>
                                <a:rPr lang="en-US" sz="3200" i="1">
                                  <a:solidFill>
                                    <a:srgbClr val="00B050"/>
                                  </a:solidFill>
                                  <a:latin typeface="Cambria Math" panose="02040503050406030204" pitchFamily="18" charset="0"/>
                                  <a:ea typeface="Cambria Math" panose="02040503050406030204" pitchFamily="18" charset="0"/>
                                </a:rPr>
                              </m:ctrlPr>
                            </m:sSubPr>
                            <m:e>
                              <m:r>
                                <a:rPr lang="en-US" sz="3200" i="1">
                                  <a:solidFill>
                                    <a:srgbClr val="00B050"/>
                                  </a:solidFill>
                                  <a:latin typeface="Cambria Math" panose="02040503050406030204" pitchFamily="18" charset="0"/>
                                  <a:ea typeface="Cambria Math" panose="02040503050406030204" pitchFamily="18" charset="0"/>
                                </a:rPr>
                                <m:t>𝑠</m:t>
                              </m:r>
                            </m:e>
                            <m:sub>
                              <m:r>
                                <a:rPr lang="en-US" sz="3200" i="1">
                                  <a:solidFill>
                                    <a:srgbClr val="00B050"/>
                                  </a:solidFill>
                                  <a:latin typeface="Cambria Math" panose="02040503050406030204" pitchFamily="18" charset="0"/>
                                  <a:ea typeface="Cambria Math" panose="02040503050406030204" pitchFamily="18" charset="0"/>
                                </a:rPr>
                                <m:t>1</m:t>
                              </m:r>
                            </m:sub>
                          </m:sSub>
                          <m:sSubSup>
                            <m:sSubSupPr>
                              <m:ctrlPr>
                                <a:rPr lang="en-US" sz="3200" i="1">
                                  <a:solidFill>
                                    <a:srgbClr val="00B050"/>
                                  </a:solidFill>
                                  <a:latin typeface="Cambria Math" panose="02040503050406030204" pitchFamily="18" charset="0"/>
                                  <a:ea typeface="Cambria Math" panose="02040503050406030204" pitchFamily="18" charset="0"/>
                                </a:rPr>
                              </m:ctrlPr>
                            </m:sSubSupPr>
                            <m:e>
                              <m:r>
                                <a:rPr lang="en-US" sz="3200" i="1">
                                  <a:solidFill>
                                    <a:srgbClr val="00B050"/>
                                  </a:solidFill>
                                  <a:latin typeface="Cambria Math" panose="02040503050406030204" pitchFamily="18" charset="0"/>
                                  <a:ea typeface="Cambria Math" panose="02040503050406030204" pitchFamily="18" charset="0"/>
                                </a:rPr>
                                <m:t>𝑠</m:t>
                              </m:r>
                            </m:e>
                            <m:sub>
                              <m:r>
                                <a:rPr lang="en-US" sz="3200" i="1">
                                  <a:solidFill>
                                    <a:srgbClr val="00B050"/>
                                  </a:solidFill>
                                  <a:latin typeface="Cambria Math" panose="02040503050406030204" pitchFamily="18" charset="0"/>
                                  <a:ea typeface="Cambria Math" panose="02040503050406030204" pitchFamily="18" charset="0"/>
                                </a:rPr>
                                <m:t>0</m:t>
                              </m:r>
                            </m:sub>
                            <m:sup>
                              <m:r>
                                <a:rPr lang="en-US" sz="3200" i="1">
                                  <a:solidFill>
                                    <a:srgbClr val="00B050"/>
                                  </a:solidFill>
                                  <a:latin typeface="Cambria Math" panose="02040503050406030204" pitchFamily="18" charset="0"/>
                                  <a:ea typeface="Cambria Math" panose="02040503050406030204" pitchFamily="18" charset="0"/>
                                </a:rPr>
                                <m:t>′</m:t>
                              </m:r>
                            </m:sup>
                          </m:sSubSup>
                          <m:r>
                            <a:rPr lang="en-US" sz="3200" i="1">
                              <a:solidFill>
                                <a:srgbClr val="00B050"/>
                              </a:solidFill>
                              <a:latin typeface="Cambria Math" panose="02040503050406030204" pitchFamily="18" charset="0"/>
                              <a:ea typeface="Cambria Math" panose="02040503050406030204" pitchFamily="18" charset="0"/>
                            </a:rPr>
                            <m:t>𝐵</m:t>
                          </m:r>
                        </m:e>
                        <m:sub>
                          <m:r>
                            <a:rPr lang="en-US" sz="3200" i="1">
                              <a:solidFill>
                                <a:srgbClr val="00B050"/>
                              </a:solidFill>
                              <a:latin typeface="Cambria Math" panose="02040503050406030204" pitchFamily="18" charset="0"/>
                              <a:ea typeface="Cambria Math" panose="02040503050406030204" pitchFamily="18" charset="0"/>
                            </a:rPr>
                            <m:t>𝑖</m:t>
                          </m:r>
                        </m:sub>
                        <m:sup>
                          <m:r>
                            <a:rPr lang="en-US" sz="3200" i="1">
                              <a:solidFill>
                                <a:srgbClr val="00B050"/>
                              </a:solidFill>
                              <a:latin typeface="Cambria Math" panose="02040503050406030204" pitchFamily="18" charset="0"/>
                              <a:ea typeface="Cambria Math" panose="02040503050406030204" pitchFamily="18" charset="0"/>
                            </a:rPr>
                            <m:t>′</m:t>
                          </m:r>
                        </m:sup>
                      </m:sSubSup>
                    </m:oMath>
                  </m:oMathPara>
                </a14:m>
                <a:endParaRPr lang="en-CA" sz="2880" b="1" dirty="0">
                  <a:solidFill>
                    <a:srgbClr val="0070C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301497" y="7339266"/>
                <a:ext cx="5547481" cy="5850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660674" y="7395287"/>
                <a:ext cx="3131370" cy="5850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𝑌</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smtClean="0">
                              <a:solidFill>
                                <a:srgbClr val="00B050"/>
                              </a:solidFill>
                              <a:latin typeface="Cambria Math" panose="02040503050406030204" pitchFamily="18" charset="0"/>
                              <a:ea typeface="Cambria Math" panose="02040503050406030204" pitchFamily="18" charset="0"/>
                            </a:rPr>
                          </m:ctrlPr>
                        </m:sSubPr>
                        <m:e>
                          <m:r>
                            <a:rPr lang="en-US" sz="3200" i="1">
                              <a:solidFill>
                                <a:srgbClr val="00B050"/>
                              </a:solidFill>
                              <a:latin typeface="Cambria Math" panose="02040503050406030204" pitchFamily="18" charset="0"/>
                              <a:ea typeface="Cambria Math" panose="02040503050406030204" pitchFamily="18" charset="0"/>
                            </a:rPr>
                            <m:t>𝑠</m:t>
                          </m:r>
                        </m:e>
                        <m:sub>
                          <m:r>
                            <a:rPr lang="en-US" sz="3200" i="1">
                              <a:solidFill>
                                <a:srgbClr val="00B050"/>
                              </a:solidFill>
                              <a:latin typeface="Cambria Math" panose="02040503050406030204" pitchFamily="18" charset="0"/>
                              <a:ea typeface="Cambria Math" panose="02040503050406030204" pitchFamily="18" charset="0"/>
                            </a:rPr>
                            <m:t>0</m:t>
                          </m:r>
                        </m:sub>
                      </m:sSub>
                      <m:sSub>
                        <m:sSubPr>
                          <m:ctrlPr>
                            <a:rPr lang="en-US" sz="3200" i="1">
                              <a:solidFill>
                                <a:srgbClr val="00B050"/>
                              </a:solidFill>
                              <a:latin typeface="Cambria Math" panose="02040503050406030204" pitchFamily="18" charset="0"/>
                              <a:ea typeface="Cambria Math" panose="02040503050406030204" pitchFamily="18" charset="0"/>
                            </a:rPr>
                          </m:ctrlPr>
                        </m:sSubPr>
                        <m:e>
                          <m:r>
                            <a:rPr lang="en-US" sz="3200" i="1">
                              <a:solidFill>
                                <a:srgbClr val="00B050"/>
                              </a:solidFill>
                              <a:latin typeface="Cambria Math" panose="02040503050406030204" pitchFamily="18" charset="0"/>
                              <a:ea typeface="Cambria Math" panose="02040503050406030204" pitchFamily="18" charset="0"/>
                            </a:rPr>
                            <m:t>𝐵</m:t>
                          </m:r>
                        </m:e>
                        <m:sub>
                          <m:r>
                            <a:rPr lang="en-US" sz="3200" i="1">
                              <a:solidFill>
                                <a:srgbClr val="00B050"/>
                              </a:solidFill>
                              <a:latin typeface="Cambria Math" panose="02040503050406030204" pitchFamily="18" charset="0"/>
                              <a:ea typeface="Cambria Math" panose="02040503050406030204" pitchFamily="18" charset="0"/>
                            </a:rPr>
                            <m:t>𝑖</m:t>
                          </m:r>
                        </m:sub>
                      </m:sSub>
                      <m:r>
                        <a:rPr lang="en-US" sz="3200" i="1">
                          <a:latin typeface="Cambria Math" panose="02040503050406030204" pitchFamily="18" charset="0"/>
                          <a:ea typeface="Cambria Math" panose="02040503050406030204" pitchFamily="18" charset="0"/>
                        </a:rPr>
                        <m:t>+</m:t>
                      </m:r>
                      <m:sSubSup>
                        <m:sSubSupPr>
                          <m:ctrlPr>
                            <a:rPr lang="en-US" sz="3200" i="1" smtClean="0">
                              <a:solidFill>
                                <a:srgbClr val="FF0000"/>
                              </a:solidFill>
                              <a:latin typeface="Cambria Math" panose="02040503050406030204" pitchFamily="18" charset="0"/>
                              <a:ea typeface="Cambria Math" panose="02040503050406030204" pitchFamily="18" charset="0"/>
                            </a:rPr>
                          </m:ctrlPr>
                        </m:sSubSupPr>
                        <m:e>
                          <m:sSub>
                            <m:sSubPr>
                              <m:ctrlPr>
                                <a:rPr lang="en-US" sz="3200" i="1">
                                  <a:solidFill>
                                    <a:srgbClr val="FF0000"/>
                                  </a:solidFill>
                                  <a:latin typeface="Cambria Math" panose="02040503050406030204" pitchFamily="18" charset="0"/>
                                  <a:ea typeface="Cambria Math" panose="02040503050406030204" pitchFamily="18" charset="0"/>
                                </a:rPr>
                              </m:ctrlPr>
                            </m:sSubPr>
                            <m:e>
                              <m:r>
                                <a:rPr lang="en-US" sz="3200" i="1">
                                  <a:solidFill>
                                    <a:srgbClr val="FF0000"/>
                                  </a:solidFill>
                                  <a:latin typeface="Cambria Math" panose="02040503050406030204" pitchFamily="18" charset="0"/>
                                  <a:ea typeface="Cambria Math" panose="02040503050406030204" pitchFamily="18" charset="0"/>
                                </a:rPr>
                                <m:t>𝑠</m:t>
                              </m:r>
                            </m:e>
                            <m:sub>
                              <m:r>
                                <a:rPr lang="en-US" sz="3200" i="1">
                                  <a:solidFill>
                                    <a:srgbClr val="FF0000"/>
                                  </a:solidFill>
                                  <a:latin typeface="Cambria Math" panose="02040503050406030204" pitchFamily="18" charset="0"/>
                                  <a:ea typeface="Cambria Math" panose="02040503050406030204" pitchFamily="18" charset="0"/>
                                </a:rPr>
                                <m:t>1</m:t>
                              </m:r>
                            </m:sub>
                          </m:sSub>
                          <m:r>
                            <a:rPr lang="en-US" sz="3200" i="1">
                              <a:solidFill>
                                <a:srgbClr val="FF0000"/>
                              </a:solidFill>
                              <a:latin typeface="Cambria Math" panose="02040503050406030204" pitchFamily="18" charset="0"/>
                              <a:ea typeface="Cambria Math" panose="02040503050406030204" pitchFamily="18" charset="0"/>
                            </a:rPr>
                            <m:t>𝐵</m:t>
                          </m:r>
                        </m:e>
                        <m:sub>
                          <m:r>
                            <a:rPr lang="en-US" sz="3200" i="1">
                              <a:solidFill>
                                <a:srgbClr val="FF0000"/>
                              </a:solidFill>
                              <a:latin typeface="Cambria Math" panose="02040503050406030204" pitchFamily="18" charset="0"/>
                              <a:ea typeface="Cambria Math" panose="02040503050406030204" pitchFamily="18" charset="0"/>
                            </a:rPr>
                            <m:t>𝑖</m:t>
                          </m:r>
                        </m:sub>
                        <m:sup>
                          <m:r>
                            <a:rPr lang="en-US" sz="3200" i="1">
                              <a:solidFill>
                                <a:srgbClr val="FF0000"/>
                              </a:solidFill>
                              <a:latin typeface="Cambria Math" panose="02040503050406030204" pitchFamily="18" charset="0"/>
                              <a:ea typeface="Cambria Math" panose="02040503050406030204" pitchFamily="18" charset="0"/>
                            </a:rPr>
                            <m:t>′</m:t>
                          </m:r>
                        </m:sup>
                      </m:sSubSup>
                    </m:oMath>
                  </m:oMathPara>
                </a14:m>
                <a:endParaRPr lang="en-CA" sz="2880" b="1"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6660674" y="7395287"/>
                <a:ext cx="3131370" cy="58509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2633658" y="7413676"/>
                <a:ext cx="2089098"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FF0000"/>
                              </a:solidFill>
                              <a:latin typeface="Cambria Math" panose="02040503050406030204" pitchFamily="18" charset="0"/>
                            </a:rPr>
                          </m:ctrlPr>
                        </m:sSubPr>
                        <m:e>
                          <m:r>
                            <a:rPr lang="en-US" sz="3200" i="1">
                              <a:solidFill>
                                <a:srgbClr val="FF0000"/>
                              </a:solidFill>
                              <a:latin typeface="Cambria Math" panose="02040503050406030204" pitchFamily="18" charset="0"/>
                            </a:rPr>
                            <m:t>𝑍</m:t>
                          </m:r>
                        </m:e>
                        <m:sub>
                          <m:r>
                            <a:rPr lang="en-US" sz="3200" i="1">
                              <a:solidFill>
                                <a:srgbClr val="FF0000"/>
                              </a:solidFill>
                              <a:latin typeface="Cambria Math" panose="02040503050406030204" pitchFamily="18" charset="0"/>
                            </a:rPr>
                            <m:t>𝑖</m:t>
                          </m:r>
                        </m:sub>
                      </m:sSub>
                      <m:r>
                        <a:rPr lang="en-US" sz="3200" i="1">
                          <a:solidFill>
                            <a:srgbClr val="FF0000"/>
                          </a:solidFill>
                          <a:latin typeface="Cambria Math" panose="02040503050406030204" pitchFamily="18" charset="0"/>
                        </a:rPr>
                        <m:t>=</m:t>
                      </m:r>
                      <m:sSubSup>
                        <m:sSubSupPr>
                          <m:ctrlPr>
                            <a:rPr lang="en-US" sz="3200" i="1">
                              <a:solidFill>
                                <a:srgbClr val="FF0000"/>
                              </a:solidFill>
                              <a:latin typeface="Cambria Math" panose="02040503050406030204" pitchFamily="18" charset="0"/>
                              <a:ea typeface="Cambria Math" panose="02040503050406030204" pitchFamily="18" charset="0"/>
                            </a:rPr>
                          </m:ctrlPr>
                        </m:sSubSupPr>
                        <m:e>
                          <m:r>
                            <a:rPr lang="en-US" sz="3200" i="1">
                              <a:solidFill>
                                <a:srgbClr val="FF0000"/>
                              </a:solidFill>
                              <a:latin typeface="Cambria Math" panose="02040503050406030204" pitchFamily="18" charset="0"/>
                              <a:ea typeface="Cambria Math" panose="02040503050406030204" pitchFamily="18" charset="0"/>
                            </a:rPr>
                            <m:t>𝑠</m:t>
                          </m:r>
                        </m:e>
                        <m:sub>
                          <m:r>
                            <a:rPr lang="en-US" sz="3200" i="1">
                              <a:solidFill>
                                <a:srgbClr val="FF0000"/>
                              </a:solidFill>
                              <a:latin typeface="Cambria Math" panose="02040503050406030204" pitchFamily="18" charset="0"/>
                              <a:ea typeface="Cambria Math" panose="02040503050406030204" pitchFamily="18" charset="0"/>
                            </a:rPr>
                            <m:t>2</m:t>
                          </m:r>
                        </m:sub>
                        <m:sup>
                          <m:r>
                            <a:rPr lang="en-US" sz="3200" i="1">
                              <a:solidFill>
                                <a:srgbClr val="FF0000"/>
                              </a:solidFill>
                              <a:latin typeface="Cambria Math" panose="02040503050406030204" pitchFamily="18" charset="0"/>
                              <a:ea typeface="Cambria Math" panose="02040503050406030204" pitchFamily="18" charset="0"/>
                            </a:rPr>
                            <m:t>′</m:t>
                          </m:r>
                        </m:sup>
                      </m:sSubSup>
                      <m:sSub>
                        <m:sSubPr>
                          <m:ctrlPr>
                            <a:rPr lang="en-US" sz="3200" i="1">
                              <a:solidFill>
                                <a:srgbClr val="FF0000"/>
                              </a:solidFill>
                              <a:latin typeface="Cambria Math" panose="02040503050406030204" pitchFamily="18" charset="0"/>
                              <a:ea typeface="Cambria Math" panose="02040503050406030204" pitchFamily="18" charset="0"/>
                            </a:rPr>
                          </m:ctrlPr>
                        </m:sSubPr>
                        <m:e>
                          <m:r>
                            <a:rPr lang="en-US" sz="3200" i="1">
                              <a:solidFill>
                                <a:srgbClr val="FF0000"/>
                              </a:solidFill>
                              <a:latin typeface="Cambria Math" panose="02040503050406030204" pitchFamily="18" charset="0"/>
                              <a:ea typeface="Cambria Math" panose="02040503050406030204" pitchFamily="18" charset="0"/>
                            </a:rPr>
                            <m:t>𝐶</m:t>
                          </m:r>
                        </m:e>
                        <m:sub>
                          <m:r>
                            <a:rPr lang="en-US" sz="3200" i="1">
                              <a:solidFill>
                                <a:srgbClr val="FF0000"/>
                              </a:solidFill>
                              <a:latin typeface="Cambria Math" panose="02040503050406030204" pitchFamily="18" charset="0"/>
                              <a:ea typeface="Cambria Math" panose="02040503050406030204" pitchFamily="18" charset="0"/>
                            </a:rPr>
                            <m:t>𝑖</m:t>
                          </m:r>
                          <m:r>
                            <a:rPr lang="en-US" sz="3200" b="0" i="1" smtClean="0">
                              <a:solidFill>
                                <a:srgbClr val="FF0000"/>
                              </a:solidFill>
                              <a:latin typeface="Cambria Math" panose="02040503050406030204" pitchFamily="18" charset="0"/>
                              <a:ea typeface="Cambria Math" panose="02040503050406030204" pitchFamily="18" charset="0"/>
                            </a:rPr>
                            <m:t>𝑛</m:t>
                          </m:r>
                        </m:sub>
                      </m:sSub>
                    </m:oMath>
                  </m:oMathPara>
                </a14:m>
                <a:endParaRPr lang="en-CA" sz="2880" b="1" dirty="0">
                  <a:solidFill>
                    <a:srgbClr val="FF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2633658" y="7413676"/>
                <a:ext cx="2089098" cy="584775"/>
              </a:xfrm>
              <a:prstGeom prst="rect">
                <a:avLst/>
              </a:prstGeom>
              <a:blipFill>
                <a:blip r:embed="rId4"/>
                <a:stretch>
                  <a:fillRect/>
                </a:stretch>
              </a:blipFill>
            </p:spPr>
            <p:txBody>
              <a:bodyPr/>
              <a:lstStyle/>
              <a:p>
                <a:r>
                  <a:rPr lang="en-US">
                    <a:noFill/>
                  </a:rPr>
                  <a:t> </a:t>
                </a:r>
              </a:p>
            </p:txBody>
          </p:sp>
        </mc:Fallback>
      </mc:AlternateContent>
      <p:sp>
        <p:nvSpPr>
          <p:cNvPr id="17" name="Rectangle 16"/>
          <p:cNvSpPr/>
          <p:nvPr/>
        </p:nvSpPr>
        <p:spPr>
          <a:xfrm>
            <a:off x="7539160" y="5750866"/>
            <a:ext cx="2386236" cy="1076488"/>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160"/>
          </a:p>
        </p:txBody>
      </p:sp>
      <p:sp>
        <p:nvSpPr>
          <p:cNvPr id="18" name="Rectangle 17"/>
          <p:cNvSpPr/>
          <p:nvPr/>
        </p:nvSpPr>
        <p:spPr>
          <a:xfrm>
            <a:off x="9034272" y="5154159"/>
            <a:ext cx="700169" cy="229634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160"/>
          </a:p>
        </p:txBody>
      </p:sp>
      <p:sp>
        <p:nvSpPr>
          <p:cNvPr id="19" name="Rectangle 18"/>
          <p:cNvSpPr/>
          <p:nvPr/>
        </p:nvSpPr>
        <p:spPr>
          <a:xfrm>
            <a:off x="13382310" y="5162826"/>
            <a:ext cx="1497472" cy="1104970"/>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160"/>
          </a:p>
        </p:txBody>
      </p:sp>
      <p:sp>
        <p:nvSpPr>
          <p:cNvPr id="20" name="Rectangle 19"/>
          <p:cNvSpPr/>
          <p:nvPr/>
        </p:nvSpPr>
        <p:spPr>
          <a:xfrm>
            <a:off x="2257847" y="4803692"/>
            <a:ext cx="2326735" cy="2314315"/>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160"/>
          </a:p>
        </p:txBody>
      </p:sp>
      <p:sp>
        <p:nvSpPr>
          <p:cNvPr id="21" name="Rectangle 20"/>
          <p:cNvSpPr/>
          <p:nvPr/>
        </p:nvSpPr>
        <p:spPr>
          <a:xfrm>
            <a:off x="2261033" y="5982679"/>
            <a:ext cx="1082040" cy="5288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160"/>
          </a:p>
        </p:txBody>
      </p:sp>
      <p:sp>
        <p:nvSpPr>
          <p:cNvPr id="22" name="Rectangle 21"/>
          <p:cNvSpPr/>
          <p:nvPr/>
        </p:nvSpPr>
        <p:spPr>
          <a:xfrm>
            <a:off x="2257847" y="6612071"/>
            <a:ext cx="1085226" cy="505936"/>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160"/>
          </a:p>
        </p:txBody>
      </p:sp>
      <p:sp>
        <p:nvSpPr>
          <p:cNvPr id="3" name="Date Placeholder 2"/>
          <p:cNvSpPr>
            <a:spLocks noGrp="1"/>
          </p:cNvSpPr>
          <p:nvPr>
            <p:ph type="dt" sz="half" idx="10"/>
          </p:nvPr>
        </p:nvSpPr>
        <p:spPr/>
        <p:txBody>
          <a:bodyPr/>
          <a:lstStyle/>
          <a:p>
            <a:fld id="{334E97DD-D169-41D3-9F0E-B3ABDB027331}" type="datetime3">
              <a:rPr lang="en-US" smtClean="0"/>
              <a:t>24 December 2025</a:t>
            </a:fld>
            <a:endParaRPr lang="en-US"/>
          </a:p>
        </p:txBody>
      </p:sp>
      <p:sp>
        <p:nvSpPr>
          <p:cNvPr id="11" name="Slide Number Placeholder 10"/>
          <p:cNvSpPr>
            <a:spLocks noGrp="1"/>
          </p:cNvSpPr>
          <p:nvPr>
            <p:ph type="sldNum" sz="quarter" idx="12"/>
          </p:nvPr>
        </p:nvSpPr>
        <p:spPr/>
        <p:txBody>
          <a:bodyPr/>
          <a:lstStyle/>
          <a:p>
            <a:fld id="{48F63A3B-78C7-47BE-AE5E-E10140E04643}" type="slidenum">
              <a:rPr lang="en-US" smtClean="0"/>
              <a:pPr/>
              <a:t>38</a:t>
            </a:fld>
            <a:endParaRPr lang="en-US" dirty="0"/>
          </a:p>
        </p:txBody>
      </p:sp>
      <p:sp>
        <p:nvSpPr>
          <p:cNvPr id="23" name="TextBox 22"/>
          <p:cNvSpPr txBox="1"/>
          <p:nvPr/>
        </p:nvSpPr>
        <p:spPr>
          <a:xfrm>
            <a:off x="300052" y="994639"/>
            <a:ext cx="5118389" cy="2677656"/>
          </a:xfrm>
          <a:prstGeom prst="rect">
            <a:avLst/>
          </a:prstGeom>
          <a:noFill/>
        </p:spPr>
        <p:txBody>
          <a:bodyPr wrap="square" rtlCol="0">
            <a:spAutoFit/>
          </a:bodyPr>
          <a:lstStyle/>
          <a:p>
            <a:r>
              <a:rPr lang="en-US" sz="2800" dirty="0"/>
              <a:t>For an arithmetic circuit, we don’t need to change </a:t>
            </a:r>
            <a:r>
              <a:rPr lang="en-US" sz="2800" i="1" dirty="0"/>
              <a:t>A</a:t>
            </a:r>
            <a:r>
              <a:rPr lang="en-US" sz="2800" dirty="0"/>
              <a:t> for </a:t>
            </a:r>
            <a:r>
              <a:rPr lang="en-US" sz="2800" i="1" dirty="0"/>
              <a:t>X</a:t>
            </a:r>
            <a:r>
              <a:rPr lang="en-US" sz="2800" dirty="0"/>
              <a:t>, but for a logic circuit, we need to change </a:t>
            </a:r>
            <a:r>
              <a:rPr lang="en-US" sz="2800" i="1" dirty="0"/>
              <a:t>A</a:t>
            </a:r>
            <a:r>
              <a:rPr lang="en-US" sz="2800" dirty="0"/>
              <a:t> and we don’t need </a:t>
            </a:r>
            <a:r>
              <a:rPr lang="en-US" sz="2800" i="1" dirty="0" err="1"/>
              <a:t>C</a:t>
            </a:r>
            <a:r>
              <a:rPr lang="en-US" sz="2800" i="1" baseline="-25000" dirty="0" err="1"/>
              <a:t>in</a:t>
            </a:r>
            <a:r>
              <a:rPr lang="en-US" sz="2800" dirty="0"/>
              <a:t>. So, we need to use only three variables (</a:t>
            </a:r>
            <a:r>
              <a:rPr lang="en-US" sz="2800" i="1" dirty="0"/>
              <a:t>s</a:t>
            </a:r>
            <a:r>
              <a:rPr lang="en-US" sz="2800" baseline="-25000" dirty="0"/>
              <a:t>2</a:t>
            </a:r>
            <a:r>
              <a:rPr lang="en-US" sz="2800" dirty="0"/>
              <a:t>, </a:t>
            </a:r>
            <a:r>
              <a:rPr lang="en-US" sz="2800" i="1" dirty="0"/>
              <a:t>s</a:t>
            </a:r>
            <a:r>
              <a:rPr lang="en-US" sz="2800" baseline="-25000" dirty="0"/>
              <a:t>1</a:t>
            </a:r>
            <a:r>
              <a:rPr lang="en-US" sz="2800" dirty="0"/>
              <a:t>, and </a:t>
            </a:r>
            <a:r>
              <a:rPr lang="en-US" sz="2800" i="1" dirty="0"/>
              <a:t>s</a:t>
            </a:r>
            <a:r>
              <a:rPr lang="en-US" sz="2800" baseline="-25000" dirty="0"/>
              <a:t>0</a:t>
            </a:r>
            <a:r>
              <a:rPr lang="en-US" sz="2800" dirty="0"/>
              <a:t>) in the K-map.</a:t>
            </a:r>
          </a:p>
        </p:txBody>
      </p:sp>
      <p:sp>
        <p:nvSpPr>
          <p:cNvPr id="25" name="TextBox 24"/>
          <p:cNvSpPr txBox="1"/>
          <p:nvPr/>
        </p:nvSpPr>
        <p:spPr>
          <a:xfrm>
            <a:off x="5480713" y="958354"/>
            <a:ext cx="4882123" cy="3108543"/>
          </a:xfrm>
          <a:prstGeom prst="rect">
            <a:avLst/>
          </a:prstGeom>
          <a:noFill/>
        </p:spPr>
        <p:txBody>
          <a:bodyPr wrap="square" rtlCol="0">
            <a:spAutoFit/>
          </a:bodyPr>
          <a:lstStyle/>
          <a:p>
            <a:r>
              <a:rPr lang="en-US" sz="2800" dirty="0"/>
              <a:t>For both arithmetic and logic circuits, we need to change </a:t>
            </a:r>
            <a:r>
              <a:rPr lang="en-US" sz="2800" i="1" dirty="0"/>
              <a:t>B</a:t>
            </a:r>
            <a:r>
              <a:rPr lang="en-US" sz="2800" dirty="0"/>
              <a:t> for </a:t>
            </a:r>
            <a:r>
              <a:rPr lang="en-US" sz="2800" i="1" dirty="0"/>
              <a:t>Y</a:t>
            </a:r>
            <a:r>
              <a:rPr lang="en-US" sz="2800" dirty="0"/>
              <a:t> for the same combination of </a:t>
            </a:r>
            <a:r>
              <a:rPr lang="en-US" sz="2800" i="1" dirty="0"/>
              <a:t>s</a:t>
            </a:r>
            <a:r>
              <a:rPr lang="en-US" sz="2800" baseline="-25000" dirty="0"/>
              <a:t>2</a:t>
            </a:r>
            <a:r>
              <a:rPr lang="en-US" sz="2800" dirty="0"/>
              <a:t>, </a:t>
            </a:r>
            <a:r>
              <a:rPr lang="en-US" sz="2800" i="1" dirty="0"/>
              <a:t>s</a:t>
            </a:r>
            <a:r>
              <a:rPr lang="en-US" sz="2800" baseline="-25000" dirty="0"/>
              <a:t>1</a:t>
            </a:r>
            <a:r>
              <a:rPr lang="en-US" sz="2800" dirty="0"/>
              <a:t>, and </a:t>
            </a:r>
            <a:r>
              <a:rPr lang="en-US" sz="2800" i="1" dirty="0"/>
              <a:t>s</a:t>
            </a:r>
            <a:r>
              <a:rPr lang="en-US" sz="2800" baseline="-25000" dirty="0"/>
              <a:t>0</a:t>
            </a:r>
            <a:r>
              <a:rPr lang="en-US" sz="2800" dirty="0"/>
              <a:t>, but for a logic circuit, we don’t need </a:t>
            </a:r>
            <a:r>
              <a:rPr lang="en-US" sz="2800" i="1" dirty="0" err="1"/>
              <a:t>C</a:t>
            </a:r>
            <a:r>
              <a:rPr lang="en-US" sz="2800" i="1" baseline="-25000" dirty="0" err="1"/>
              <a:t>in</a:t>
            </a:r>
            <a:r>
              <a:rPr lang="en-US" sz="2800" dirty="0"/>
              <a:t>. So, we need to use only 3 variables (</a:t>
            </a:r>
            <a:r>
              <a:rPr lang="en-US" sz="2800" i="1" dirty="0"/>
              <a:t>s</a:t>
            </a:r>
            <a:r>
              <a:rPr lang="en-US" sz="2800" baseline="-25000" dirty="0"/>
              <a:t>2</a:t>
            </a:r>
            <a:r>
              <a:rPr lang="en-US" sz="2800" dirty="0"/>
              <a:t>, </a:t>
            </a:r>
            <a:r>
              <a:rPr lang="en-US" sz="2800" i="1" dirty="0"/>
              <a:t>s</a:t>
            </a:r>
            <a:r>
              <a:rPr lang="en-US" sz="2800" baseline="-25000" dirty="0"/>
              <a:t>1</a:t>
            </a:r>
            <a:r>
              <a:rPr lang="en-US" sz="2800" dirty="0"/>
              <a:t>, and </a:t>
            </a:r>
            <a:r>
              <a:rPr lang="en-US" sz="2800" i="1" dirty="0"/>
              <a:t>s</a:t>
            </a:r>
            <a:r>
              <a:rPr lang="en-US" sz="2800" baseline="-25000" dirty="0"/>
              <a:t>0</a:t>
            </a:r>
            <a:r>
              <a:rPr lang="en-US" sz="2800" dirty="0"/>
              <a:t>) in the K-map.</a:t>
            </a:r>
          </a:p>
        </p:txBody>
      </p:sp>
      <p:sp>
        <p:nvSpPr>
          <p:cNvPr id="27" name="TextBox 26"/>
          <p:cNvSpPr txBox="1"/>
          <p:nvPr/>
        </p:nvSpPr>
        <p:spPr>
          <a:xfrm>
            <a:off x="10412045" y="958353"/>
            <a:ext cx="5814400" cy="3108543"/>
          </a:xfrm>
          <a:prstGeom prst="rect">
            <a:avLst/>
          </a:prstGeom>
          <a:noFill/>
        </p:spPr>
        <p:txBody>
          <a:bodyPr wrap="square" rtlCol="0">
            <a:spAutoFit/>
          </a:bodyPr>
          <a:lstStyle/>
          <a:p>
            <a:r>
              <a:rPr lang="en-US" sz="2800" dirty="0"/>
              <a:t>For the arithmetic circuit, we need </a:t>
            </a:r>
            <a:r>
              <a:rPr lang="en-US" sz="2800" i="1" dirty="0" err="1"/>
              <a:t>C</a:t>
            </a:r>
            <a:r>
              <a:rPr lang="en-US" sz="2800" i="1" baseline="-25000" dirty="0" err="1"/>
              <a:t>in</a:t>
            </a:r>
            <a:r>
              <a:rPr lang="en-US" sz="2800" i="1" baseline="-25000" dirty="0"/>
              <a:t> </a:t>
            </a:r>
            <a:r>
              <a:rPr lang="en-US" sz="2800" dirty="0"/>
              <a:t>for all combinations of </a:t>
            </a:r>
            <a:r>
              <a:rPr lang="en-US" sz="2800" i="1" dirty="0"/>
              <a:t>s</a:t>
            </a:r>
            <a:r>
              <a:rPr lang="en-US" sz="2800" baseline="-25000" dirty="0"/>
              <a:t>2</a:t>
            </a:r>
            <a:r>
              <a:rPr lang="en-US" sz="2800" dirty="0"/>
              <a:t>, </a:t>
            </a:r>
            <a:r>
              <a:rPr lang="en-US" sz="2800" i="1" dirty="0"/>
              <a:t>s</a:t>
            </a:r>
            <a:r>
              <a:rPr lang="en-US" sz="2800" baseline="-25000" dirty="0"/>
              <a:t>1</a:t>
            </a:r>
            <a:r>
              <a:rPr lang="en-US" sz="2800" dirty="0"/>
              <a:t>, and </a:t>
            </a:r>
            <a:r>
              <a:rPr lang="en-US" sz="2800" i="1" dirty="0"/>
              <a:t>s</a:t>
            </a:r>
            <a:r>
              <a:rPr lang="en-US" sz="2800" baseline="-25000" dirty="0"/>
              <a:t>0</a:t>
            </a:r>
            <a:r>
              <a:rPr lang="en-US" sz="2800" dirty="0"/>
              <a:t>, but for a logic circuit, we don’t need </a:t>
            </a:r>
            <a:r>
              <a:rPr lang="en-US" sz="2800" i="1" dirty="0" err="1"/>
              <a:t>C</a:t>
            </a:r>
            <a:r>
              <a:rPr lang="en-US" sz="2800" i="1" baseline="-25000" dirty="0" err="1"/>
              <a:t>in</a:t>
            </a:r>
            <a:r>
              <a:rPr lang="en-US" sz="2800" dirty="0"/>
              <a:t>. So, we need to use all 4 variables (</a:t>
            </a:r>
            <a:r>
              <a:rPr lang="en-US" sz="2800" i="1" dirty="0"/>
              <a:t>s</a:t>
            </a:r>
            <a:r>
              <a:rPr lang="en-US" sz="2800" baseline="-25000" dirty="0"/>
              <a:t>2</a:t>
            </a:r>
            <a:r>
              <a:rPr lang="en-US" sz="2800" dirty="0"/>
              <a:t>, </a:t>
            </a:r>
            <a:r>
              <a:rPr lang="en-US" sz="2800" i="1" dirty="0"/>
              <a:t>s</a:t>
            </a:r>
            <a:r>
              <a:rPr lang="en-US" sz="2800" baseline="-25000" dirty="0"/>
              <a:t>1</a:t>
            </a:r>
            <a:r>
              <a:rPr lang="en-US" sz="2800" dirty="0"/>
              <a:t>, </a:t>
            </a:r>
            <a:r>
              <a:rPr lang="en-US" sz="2800" i="1" dirty="0"/>
              <a:t>s</a:t>
            </a:r>
            <a:r>
              <a:rPr lang="en-US" sz="2800" baseline="-25000" dirty="0"/>
              <a:t>0</a:t>
            </a:r>
            <a:r>
              <a:rPr lang="en-US" sz="2800" dirty="0"/>
              <a:t>, and </a:t>
            </a:r>
            <a:r>
              <a:rPr lang="en-US" sz="2800" i="1" dirty="0" err="1"/>
              <a:t>C</a:t>
            </a:r>
            <a:r>
              <a:rPr lang="en-US" sz="2800" i="1" baseline="-25000" dirty="0" err="1"/>
              <a:t>in</a:t>
            </a:r>
            <a:r>
              <a:rPr lang="en-US" sz="2800" dirty="0"/>
              <a:t>) in the K-map to force </a:t>
            </a:r>
            <a:r>
              <a:rPr lang="en-US" sz="2800" i="1" dirty="0" err="1"/>
              <a:t>C</a:t>
            </a:r>
            <a:r>
              <a:rPr lang="en-US" sz="2800" i="1" baseline="-25000" dirty="0" err="1"/>
              <a:t>in</a:t>
            </a:r>
            <a:r>
              <a:rPr lang="en-US" sz="2800" dirty="0"/>
              <a:t> to zero for </a:t>
            </a:r>
            <a:r>
              <a:rPr lang="en-US" sz="2800" i="1" dirty="0"/>
              <a:t>Z</a:t>
            </a:r>
            <a:r>
              <a:rPr lang="en-US" sz="2800" dirty="0"/>
              <a:t> for the same combination of </a:t>
            </a:r>
            <a:r>
              <a:rPr lang="en-US" sz="2800" i="1" dirty="0"/>
              <a:t>s</a:t>
            </a:r>
            <a:r>
              <a:rPr lang="en-US" sz="2800" baseline="-25000" dirty="0"/>
              <a:t>2</a:t>
            </a:r>
            <a:r>
              <a:rPr lang="en-US" sz="2800" dirty="0"/>
              <a:t>, </a:t>
            </a:r>
            <a:r>
              <a:rPr lang="en-US" sz="2800" i="1" dirty="0"/>
              <a:t>s</a:t>
            </a:r>
            <a:r>
              <a:rPr lang="en-US" sz="2800" baseline="-25000" dirty="0"/>
              <a:t>1</a:t>
            </a:r>
            <a:r>
              <a:rPr lang="en-US" sz="2800" dirty="0"/>
              <a:t>, and </a:t>
            </a:r>
            <a:r>
              <a:rPr lang="en-US" sz="2800" i="1" dirty="0"/>
              <a:t>s</a:t>
            </a:r>
            <a:r>
              <a:rPr lang="en-US" sz="2800" baseline="-25000" dirty="0"/>
              <a:t>0</a:t>
            </a:r>
            <a:r>
              <a:rPr lang="en-US" sz="2800" dirty="0"/>
              <a:t>.</a:t>
            </a:r>
          </a:p>
        </p:txBody>
      </p:sp>
    </p:spTree>
    <p:extLst>
      <p:ext uri="{BB962C8B-B14F-4D97-AF65-F5344CB8AC3E}">
        <p14:creationId xmlns:p14="http://schemas.microsoft.com/office/powerpoint/2010/main" val="365697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heel(1)">
                                      <p:cBhvr>
                                        <p:cTn id="18" dur="20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heel(1)">
                                      <p:cBhvr>
                                        <p:cTn id="23" dur="20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heel(1)">
                                      <p:cBhvr>
                                        <p:cTn id="28" dur="20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ppt_x"/>
                                          </p:val>
                                        </p:tav>
                                        <p:tav tm="100000">
                                          <p:val>
                                            <p:strVal val="#ppt_x"/>
                                          </p:val>
                                        </p:tav>
                                      </p:tavLst>
                                    </p:anim>
                                    <p:anim calcmode="lin" valueType="num">
                                      <p:cBhvr additive="base">
                                        <p:cTn id="4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heel(1)">
                                      <p:cBhvr>
                                        <p:cTn id="49" dur="20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heel(1)">
                                      <p:cBhvr>
                                        <p:cTn id="54" dur="20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additive="base">
                                        <p:cTn id="59" dur="500" fill="hold"/>
                                        <p:tgtEl>
                                          <p:spTgt spid="9"/>
                                        </p:tgtEl>
                                        <p:attrNameLst>
                                          <p:attrName>ppt_x</p:attrName>
                                        </p:attrNameLst>
                                      </p:cBhvr>
                                      <p:tavLst>
                                        <p:tav tm="0">
                                          <p:val>
                                            <p:strVal val="#ppt_x"/>
                                          </p:val>
                                        </p:tav>
                                        <p:tav tm="100000">
                                          <p:val>
                                            <p:strVal val="#ppt_x"/>
                                          </p:val>
                                        </p:tav>
                                      </p:tavLst>
                                    </p:anim>
                                    <p:anim calcmode="lin" valueType="num">
                                      <p:cBhvr additive="base">
                                        <p:cTn id="6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 calcmode="lin" valueType="num">
                                      <p:cBhvr additive="base">
                                        <p:cTn id="65" dur="500" fill="hold"/>
                                        <p:tgtEl>
                                          <p:spTgt spid="27"/>
                                        </p:tgtEl>
                                        <p:attrNameLst>
                                          <p:attrName>ppt_x</p:attrName>
                                        </p:attrNameLst>
                                      </p:cBhvr>
                                      <p:tavLst>
                                        <p:tav tm="0">
                                          <p:val>
                                            <p:strVal val="#ppt_x"/>
                                          </p:val>
                                        </p:tav>
                                        <p:tav tm="100000">
                                          <p:val>
                                            <p:strVal val="#ppt_x"/>
                                          </p:val>
                                        </p:tav>
                                      </p:tavLst>
                                    </p:anim>
                                    <p:anim calcmode="lin" valueType="num">
                                      <p:cBhvr additive="base">
                                        <p:cTn id="6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1" presetClass="entr" presetSubtype="1"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wheel(1)">
                                      <p:cBhvr>
                                        <p:cTn id="75" dur="2000"/>
                                        <p:tgtEl>
                                          <p:spTgt spid="19"/>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 fill="hold"/>
                                        <p:tgtEl>
                                          <p:spTgt spid="10"/>
                                        </p:tgtEl>
                                        <p:attrNameLst>
                                          <p:attrName>ppt_x</p:attrName>
                                        </p:attrNameLst>
                                      </p:cBhvr>
                                      <p:tavLst>
                                        <p:tav tm="0">
                                          <p:val>
                                            <p:strVal val="#ppt_x"/>
                                          </p:val>
                                        </p:tav>
                                        <p:tav tm="100000">
                                          <p:val>
                                            <p:strVal val="#ppt_x"/>
                                          </p:val>
                                        </p:tav>
                                      </p:tavLst>
                                    </p:anim>
                                    <p:anim calcmode="lin" valueType="num">
                                      <p:cBhvr additive="base">
                                        <p:cTn id="8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7" grpId="0" animBg="1"/>
      <p:bldP spid="18" grpId="0" animBg="1"/>
      <p:bldP spid="19" grpId="0" animBg="1"/>
      <p:bldP spid="20" grpId="0" animBg="1"/>
      <p:bldP spid="21" grpId="0" animBg="1"/>
      <p:bldP spid="22" grpId="0" animBg="1"/>
      <p:bldP spid="23" grpId="0"/>
      <p:bldP spid="25" grpId="0"/>
      <p:bldP spid="2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Picture 61">
            <a:extLst>
              <a:ext uri="{FF2B5EF4-FFF2-40B4-BE49-F238E27FC236}">
                <a16:creationId xmlns:a16="http://schemas.microsoft.com/office/drawing/2014/main" id="{FE2E12A7-52B6-60F4-BF13-FD1622456474}"/>
              </a:ext>
            </a:extLst>
          </p:cNvPr>
          <p:cNvPicPr>
            <a:picLocks noChangeAspect="1"/>
          </p:cNvPicPr>
          <p:nvPr/>
        </p:nvPicPr>
        <p:blipFill rotWithShape="1">
          <a:blip r:embed="rId2">
            <a:duotone>
              <a:schemeClr val="accent5">
                <a:shade val="45000"/>
                <a:satMod val="135000"/>
              </a:schemeClr>
              <a:prstClr val="white"/>
            </a:duotone>
          </a:blip>
          <a:srcRect l="2045" t="2588" r="1747" b="5156"/>
          <a:stretch/>
        </p:blipFill>
        <p:spPr>
          <a:xfrm>
            <a:off x="8698715" y="499217"/>
            <a:ext cx="7400651" cy="7518100"/>
          </a:xfrm>
          <a:prstGeom prst="rect">
            <a:avLst/>
          </a:prstGeom>
        </p:spPr>
      </p:pic>
      <p:pic>
        <p:nvPicPr>
          <p:cNvPr id="5" name="Picture 4"/>
          <p:cNvPicPr>
            <a:picLocks noChangeAspect="1"/>
          </p:cNvPicPr>
          <p:nvPr/>
        </p:nvPicPr>
        <p:blipFill rotWithShape="1">
          <a:blip r:embed="rId2">
            <a:duotone>
              <a:schemeClr val="accent5">
                <a:shade val="45000"/>
                <a:satMod val="135000"/>
              </a:schemeClr>
              <a:prstClr val="white"/>
            </a:duotone>
          </a:blip>
          <a:srcRect l="2045" t="2588" r="1747" b="5156"/>
          <a:stretch/>
        </p:blipFill>
        <p:spPr>
          <a:xfrm>
            <a:off x="826096" y="533946"/>
            <a:ext cx="7701750" cy="7518100"/>
          </a:xfrm>
          <a:prstGeom prst="rect">
            <a:avLst/>
          </a:prstGeom>
        </p:spPr>
      </p:pic>
      <p:sp>
        <p:nvSpPr>
          <p:cNvPr id="2" name="Title 1">
            <a:extLst>
              <a:ext uri="{FF2B5EF4-FFF2-40B4-BE49-F238E27FC236}">
                <a16:creationId xmlns:a16="http://schemas.microsoft.com/office/drawing/2014/main" id="{0659A64C-EA0D-4DC2-A8C5-C88EFBF64979}"/>
              </a:ext>
            </a:extLst>
          </p:cNvPr>
          <p:cNvSpPr>
            <a:spLocks noGrp="1"/>
          </p:cNvSpPr>
          <p:nvPr>
            <p:ph type="title"/>
          </p:nvPr>
        </p:nvSpPr>
        <p:spPr>
          <a:xfrm>
            <a:off x="1854201" y="63499"/>
            <a:ext cx="6146799" cy="544747"/>
          </a:xfrm>
        </p:spPr>
        <p:txBody>
          <a:bodyPr>
            <a:noAutofit/>
          </a:bodyPr>
          <a:lstStyle/>
          <a:p>
            <a:r>
              <a:rPr lang="en-US" sz="4400" b="1" dirty="0">
                <a:solidFill>
                  <a:srgbClr val="0070C0"/>
                </a:solidFill>
              </a:rPr>
              <a:t>Design of an ALU Circuit </a:t>
            </a:r>
          </a:p>
        </p:txBody>
      </p:sp>
      <p:sp>
        <p:nvSpPr>
          <p:cNvPr id="3" name="Date Placeholder 2"/>
          <p:cNvSpPr>
            <a:spLocks noGrp="1"/>
          </p:cNvSpPr>
          <p:nvPr>
            <p:ph type="dt" sz="half" idx="10"/>
          </p:nvPr>
        </p:nvSpPr>
        <p:spPr/>
        <p:txBody>
          <a:bodyPr/>
          <a:lstStyle/>
          <a:p>
            <a:fld id="{47B8311C-F0B6-4219-AE89-D9A3F3E20F45}" type="datetime3">
              <a:rPr lang="en-US" smtClean="0"/>
              <a:t>24 December 2025</a:t>
            </a:fld>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pPr/>
              <a:t>39</a:t>
            </a:fld>
            <a:endParaRPr lang="en-US" dirty="0"/>
          </a:p>
        </p:txBody>
      </p:sp>
      <p:sp>
        <p:nvSpPr>
          <p:cNvPr id="7" name="TextBox 6"/>
          <p:cNvSpPr txBox="1"/>
          <p:nvPr/>
        </p:nvSpPr>
        <p:spPr>
          <a:xfrm>
            <a:off x="186291" y="7469882"/>
            <a:ext cx="7978299" cy="461665"/>
          </a:xfrm>
          <a:prstGeom prst="rect">
            <a:avLst/>
          </a:prstGeom>
          <a:noFill/>
        </p:spPr>
        <p:txBody>
          <a:bodyPr wrap="square" rtlCol="0">
            <a:spAutoFit/>
          </a:bodyPr>
          <a:lstStyle/>
          <a:p>
            <a:r>
              <a:rPr lang="en-US" sz="2400" dirty="0">
                <a:solidFill>
                  <a:srgbClr val="FF0000"/>
                </a:solidFill>
              </a:rPr>
              <a:t>Figure 9.13: Logic diagram of an arithmetic logic circuit</a:t>
            </a:r>
          </a:p>
        </p:txBody>
      </p:sp>
      <p:sp>
        <p:nvSpPr>
          <p:cNvPr id="10" name="Rectangle 9">
            <a:extLst>
              <a:ext uri="{FF2B5EF4-FFF2-40B4-BE49-F238E27FC236}">
                <a16:creationId xmlns:a16="http://schemas.microsoft.com/office/drawing/2014/main" id="{F31B3F57-52FE-8C97-7D56-DBD04E5DA96C}"/>
              </a:ext>
            </a:extLst>
          </p:cNvPr>
          <p:cNvSpPr/>
          <p:nvPr/>
        </p:nvSpPr>
        <p:spPr>
          <a:xfrm>
            <a:off x="8835980" y="8514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11" name="Rectangle 10">
            <a:extLst>
              <a:ext uri="{FF2B5EF4-FFF2-40B4-BE49-F238E27FC236}">
                <a16:creationId xmlns:a16="http://schemas.microsoft.com/office/drawing/2014/main" id="{3DD7ECC8-9A2C-B764-E260-C6E916C0CB75}"/>
              </a:ext>
            </a:extLst>
          </p:cNvPr>
          <p:cNvSpPr/>
          <p:nvPr/>
        </p:nvSpPr>
        <p:spPr>
          <a:xfrm>
            <a:off x="8835980" y="12894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12" name="Rectangle 11">
            <a:extLst>
              <a:ext uri="{FF2B5EF4-FFF2-40B4-BE49-F238E27FC236}">
                <a16:creationId xmlns:a16="http://schemas.microsoft.com/office/drawing/2014/main" id="{7FA3405B-4E03-8703-1214-562D6020D357}"/>
              </a:ext>
            </a:extLst>
          </p:cNvPr>
          <p:cNvSpPr/>
          <p:nvPr/>
        </p:nvSpPr>
        <p:spPr>
          <a:xfrm>
            <a:off x="8835980" y="10735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13" name="Rectangle 12">
            <a:extLst>
              <a:ext uri="{FF2B5EF4-FFF2-40B4-BE49-F238E27FC236}">
                <a16:creationId xmlns:a16="http://schemas.microsoft.com/office/drawing/2014/main" id="{3E7CF9C3-DA20-119A-CDAE-BA9F0B9322AE}"/>
              </a:ext>
            </a:extLst>
          </p:cNvPr>
          <p:cNvSpPr/>
          <p:nvPr/>
        </p:nvSpPr>
        <p:spPr>
          <a:xfrm>
            <a:off x="8835980" y="3688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15" name="Rectangle 14">
            <a:extLst>
              <a:ext uri="{FF2B5EF4-FFF2-40B4-BE49-F238E27FC236}">
                <a16:creationId xmlns:a16="http://schemas.microsoft.com/office/drawing/2014/main" id="{6B38C4FB-4C3C-90BB-B342-EB65A8D58631}"/>
              </a:ext>
            </a:extLst>
          </p:cNvPr>
          <p:cNvSpPr/>
          <p:nvPr/>
        </p:nvSpPr>
        <p:spPr>
          <a:xfrm>
            <a:off x="8835980" y="30166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16" name="Rectangle 15">
            <a:extLst>
              <a:ext uri="{FF2B5EF4-FFF2-40B4-BE49-F238E27FC236}">
                <a16:creationId xmlns:a16="http://schemas.microsoft.com/office/drawing/2014/main" id="{97BB6EE4-6050-E11A-EC84-19A456A13E43}"/>
              </a:ext>
            </a:extLst>
          </p:cNvPr>
          <p:cNvSpPr/>
          <p:nvPr/>
        </p:nvSpPr>
        <p:spPr>
          <a:xfrm>
            <a:off x="8835980" y="32517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19" name="Rectangle 18">
            <a:extLst>
              <a:ext uri="{FF2B5EF4-FFF2-40B4-BE49-F238E27FC236}">
                <a16:creationId xmlns:a16="http://schemas.microsoft.com/office/drawing/2014/main" id="{A9A02CF1-027F-CCD0-44F7-414168500FE2}"/>
              </a:ext>
            </a:extLst>
          </p:cNvPr>
          <p:cNvSpPr/>
          <p:nvPr/>
        </p:nvSpPr>
        <p:spPr>
          <a:xfrm>
            <a:off x="8835980" y="59122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20" name="Rectangle 19">
            <a:extLst>
              <a:ext uri="{FF2B5EF4-FFF2-40B4-BE49-F238E27FC236}">
                <a16:creationId xmlns:a16="http://schemas.microsoft.com/office/drawing/2014/main" id="{52C8A46F-14C2-5D95-05C0-F9A3B9750DA0}"/>
              </a:ext>
            </a:extLst>
          </p:cNvPr>
          <p:cNvSpPr/>
          <p:nvPr/>
        </p:nvSpPr>
        <p:spPr>
          <a:xfrm>
            <a:off x="8835980" y="61219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21" name="Rectangle 20">
            <a:extLst>
              <a:ext uri="{FF2B5EF4-FFF2-40B4-BE49-F238E27FC236}">
                <a16:creationId xmlns:a16="http://schemas.microsoft.com/office/drawing/2014/main" id="{ECE90FA9-7C18-B3F1-36BC-A0476D977549}"/>
              </a:ext>
            </a:extLst>
          </p:cNvPr>
          <p:cNvSpPr/>
          <p:nvPr/>
        </p:nvSpPr>
        <p:spPr>
          <a:xfrm>
            <a:off x="11278432" y="8195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22" name="Rectangle 21">
            <a:extLst>
              <a:ext uri="{FF2B5EF4-FFF2-40B4-BE49-F238E27FC236}">
                <a16:creationId xmlns:a16="http://schemas.microsoft.com/office/drawing/2014/main" id="{D758343A-057E-5FB7-8943-4C8E3F383E3E}"/>
              </a:ext>
            </a:extLst>
          </p:cNvPr>
          <p:cNvSpPr/>
          <p:nvPr/>
        </p:nvSpPr>
        <p:spPr>
          <a:xfrm>
            <a:off x="11162622" y="1064773"/>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23" name="Rectangle 22">
            <a:extLst>
              <a:ext uri="{FF2B5EF4-FFF2-40B4-BE49-F238E27FC236}">
                <a16:creationId xmlns:a16="http://schemas.microsoft.com/office/drawing/2014/main" id="{C0032ACD-8B40-1EEF-2B05-E4D6B839C1C5}"/>
              </a:ext>
            </a:extLst>
          </p:cNvPr>
          <p:cNvSpPr/>
          <p:nvPr/>
        </p:nvSpPr>
        <p:spPr>
          <a:xfrm>
            <a:off x="11257626" y="2116859"/>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24" name="Rectangle 23">
            <a:extLst>
              <a:ext uri="{FF2B5EF4-FFF2-40B4-BE49-F238E27FC236}">
                <a16:creationId xmlns:a16="http://schemas.microsoft.com/office/drawing/2014/main" id="{3C5276F5-2D29-2300-1B0F-B9AA694718CC}"/>
              </a:ext>
            </a:extLst>
          </p:cNvPr>
          <p:cNvSpPr/>
          <p:nvPr/>
        </p:nvSpPr>
        <p:spPr>
          <a:xfrm>
            <a:off x="10900455" y="1321277"/>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25" name="Rectangle 24">
            <a:extLst>
              <a:ext uri="{FF2B5EF4-FFF2-40B4-BE49-F238E27FC236}">
                <a16:creationId xmlns:a16="http://schemas.microsoft.com/office/drawing/2014/main" id="{567B4DE9-4137-6C88-D38C-FEC7AB70986F}"/>
              </a:ext>
            </a:extLst>
          </p:cNvPr>
          <p:cNvSpPr/>
          <p:nvPr/>
        </p:nvSpPr>
        <p:spPr>
          <a:xfrm>
            <a:off x="11433130" y="32198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26" name="Rectangle 25">
            <a:extLst>
              <a:ext uri="{FF2B5EF4-FFF2-40B4-BE49-F238E27FC236}">
                <a16:creationId xmlns:a16="http://schemas.microsoft.com/office/drawing/2014/main" id="{91050E9A-594F-514F-DFCF-552866C9B93B}"/>
              </a:ext>
            </a:extLst>
          </p:cNvPr>
          <p:cNvSpPr/>
          <p:nvPr/>
        </p:nvSpPr>
        <p:spPr>
          <a:xfrm>
            <a:off x="11433130" y="34422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27" name="Rectangle 26">
            <a:extLst>
              <a:ext uri="{FF2B5EF4-FFF2-40B4-BE49-F238E27FC236}">
                <a16:creationId xmlns:a16="http://schemas.microsoft.com/office/drawing/2014/main" id="{9BA56AC3-6F9A-089D-035F-73E599F750EC}"/>
              </a:ext>
            </a:extLst>
          </p:cNvPr>
          <p:cNvSpPr/>
          <p:nvPr/>
        </p:nvSpPr>
        <p:spPr>
          <a:xfrm>
            <a:off x="11433130" y="39183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28" name="Rectangle 27">
            <a:extLst>
              <a:ext uri="{FF2B5EF4-FFF2-40B4-BE49-F238E27FC236}">
                <a16:creationId xmlns:a16="http://schemas.microsoft.com/office/drawing/2014/main" id="{81C6E04D-7A6D-8D62-A0DF-BF8CA0FB72D6}"/>
              </a:ext>
            </a:extLst>
          </p:cNvPr>
          <p:cNvSpPr/>
          <p:nvPr/>
        </p:nvSpPr>
        <p:spPr>
          <a:xfrm>
            <a:off x="11433130" y="41534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29" name="Rectangle 28">
            <a:extLst>
              <a:ext uri="{FF2B5EF4-FFF2-40B4-BE49-F238E27FC236}">
                <a16:creationId xmlns:a16="http://schemas.microsoft.com/office/drawing/2014/main" id="{C2AF41A5-1B11-8CA8-5545-9EB913D8E4E0}"/>
              </a:ext>
            </a:extLst>
          </p:cNvPr>
          <p:cNvSpPr/>
          <p:nvPr/>
        </p:nvSpPr>
        <p:spPr>
          <a:xfrm>
            <a:off x="11433130" y="26102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31" name="Rectangle 30">
            <a:extLst>
              <a:ext uri="{FF2B5EF4-FFF2-40B4-BE49-F238E27FC236}">
                <a16:creationId xmlns:a16="http://schemas.microsoft.com/office/drawing/2014/main" id="{5CEE7B62-DB65-E122-58BD-A1F532A82C4F}"/>
              </a:ext>
            </a:extLst>
          </p:cNvPr>
          <p:cNvSpPr/>
          <p:nvPr/>
        </p:nvSpPr>
        <p:spPr>
          <a:xfrm>
            <a:off x="11433130" y="54677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33" name="Rectangle 32">
            <a:extLst>
              <a:ext uri="{FF2B5EF4-FFF2-40B4-BE49-F238E27FC236}">
                <a16:creationId xmlns:a16="http://schemas.microsoft.com/office/drawing/2014/main" id="{5EF88807-2A9F-B729-608F-44E17BF09AD8}"/>
              </a:ext>
            </a:extLst>
          </p:cNvPr>
          <p:cNvSpPr/>
          <p:nvPr/>
        </p:nvSpPr>
        <p:spPr>
          <a:xfrm>
            <a:off x="11433130" y="58995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4" name="Rectangle 33">
            <a:extLst>
              <a:ext uri="{FF2B5EF4-FFF2-40B4-BE49-F238E27FC236}">
                <a16:creationId xmlns:a16="http://schemas.microsoft.com/office/drawing/2014/main" id="{FCF33538-6A85-412F-CC66-D11D23C29276}"/>
              </a:ext>
            </a:extLst>
          </p:cNvPr>
          <p:cNvSpPr/>
          <p:nvPr/>
        </p:nvSpPr>
        <p:spPr>
          <a:xfrm>
            <a:off x="11433130" y="61219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5" name="Rectangle 34">
            <a:extLst>
              <a:ext uri="{FF2B5EF4-FFF2-40B4-BE49-F238E27FC236}">
                <a16:creationId xmlns:a16="http://schemas.microsoft.com/office/drawing/2014/main" id="{DBD52912-1CE3-FCA3-0DAA-1032032F19F2}"/>
              </a:ext>
            </a:extLst>
          </p:cNvPr>
          <p:cNvSpPr/>
          <p:nvPr/>
        </p:nvSpPr>
        <p:spPr>
          <a:xfrm>
            <a:off x="11433130" y="67758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36" name="Rectangle 35">
            <a:extLst>
              <a:ext uri="{FF2B5EF4-FFF2-40B4-BE49-F238E27FC236}">
                <a16:creationId xmlns:a16="http://schemas.microsoft.com/office/drawing/2014/main" id="{90C19940-D653-D1DE-C560-3187F9ED4F6B}"/>
              </a:ext>
            </a:extLst>
          </p:cNvPr>
          <p:cNvSpPr/>
          <p:nvPr/>
        </p:nvSpPr>
        <p:spPr>
          <a:xfrm>
            <a:off x="11433130" y="70109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7" name="Rectangle 36">
            <a:extLst>
              <a:ext uri="{FF2B5EF4-FFF2-40B4-BE49-F238E27FC236}">
                <a16:creationId xmlns:a16="http://schemas.microsoft.com/office/drawing/2014/main" id="{3F439446-24BE-C968-A73B-A6629B782F89}"/>
              </a:ext>
            </a:extLst>
          </p:cNvPr>
          <p:cNvSpPr/>
          <p:nvPr/>
        </p:nvSpPr>
        <p:spPr>
          <a:xfrm>
            <a:off x="12228073" y="10735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8" name="Rectangle 37">
            <a:extLst>
              <a:ext uri="{FF2B5EF4-FFF2-40B4-BE49-F238E27FC236}">
                <a16:creationId xmlns:a16="http://schemas.microsoft.com/office/drawing/2014/main" id="{C850A579-53C9-090D-D5AF-28ECE943A204}"/>
              </a:ext>
            </a:extLst>
          </p:cNvPr>
          <p:cNvSpPr/>
          <p:nvPr/>
        </p:nvSpPr>
        <p:spPr>
          <a:xfrm>
            <a:off x="13212694" y="3334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39" name="Rectangle 38">
            <a:extLst>
              <a:ext uri="{FF2B5EF4-FFF2-40B4-BE49-F238E27FC236}">
                <a16:creationId xmlns:a16="http://schemas.microsoft.com/office/drawing/2014/main" id="{4DFA9A09-068D-81E6-50BB-98FAEE5A16B2}"/>
              </a:ext>
            </a:extLst>
          </p:cNvPr>
          <p:cNvSpPr/>
          <p:nvPr/>
        </p:nvSpPr>
        <p:spPr>
          <a:xfrm>
            <a:off x="12473624" y="501513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0" name="Rectangle 39">
            <a:extLst>
              <a:ext uri="{FF2B5EF4-FFF2-40B4-BE49-F238E27FC236}">
                <a16:creationId xmlns:a16="http://schemas.microsoft.com/office/drawing/2014/main" id="{B2F79B71-E518-9C07-7468-205E6842CBED}"/>
              </a:ext>
            </a:extLst>
          </p:cNvPr>
          <p:cNvSpPr/>
          <p:nvPr/>
        </p:nvSpPr>
        <p:spPr>
          <a:xfrm>
            <a:off x="13212694" y="6655532"/>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1" name="Rectangle 40">
            <a:extLst>
              <a:ext uri="{FF2B5EF4-FFF2-40B4-BE49-F238E27FC236}">
                <a16:creationId xmlns:a16="http://schemas.microsoft.com/office/drawing/2014/main" id="{B8B2D521-8D6F-4718-1047-0172B7ECF63B}"/>
              </a:ext>
            </a:extLst>
          </p:cNvPr>
          <p:cNvSpPr/>
          <p:nvPr/>
        </p:nvSpPr>
        <p:spPr>
          <a:xfrm>
            <a:off x="12413596" y="2089798"/>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2" name="Rectangle 41">
            <a:extLst>
              <a:ext uri="{FF2B5EF4-FFF2-40B4-BE49-F238E27FC236}">
                <a16:creationId xmlns:a16="http://schemas.microsoft.com/office/drawing/2014/main" id="{C5696A38-91B7-5E95-18CD-4AC4DA0A0835}"/>
              </a:ext>
            </a:extLst>
          </p:cNvPr>
          <p:cNvSpPr/>
          <p:nvPr/>
        </p:nvSpPr>
        <p:spPr>
          <a:xfrm>
            <a:off x="13212694" y="30166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3" name="Rectangle 42">
            <a:extLst>
              <a:ext uri="{FF2B5EF4-FFF2-40B4-BE49-F238E27FC236}">
                <a16:creationId xmlns:a16="http://schemas.microsoft.com/office/drawing/2014/main" id="{9EE82078-DA87-D719-3D54-DE5A02EF228B}"/>
              </a:ext>
            </a:extLst>
          </p:cNvPr>
          <p:cNvSpPr/>
          <p:nvPr/>
        </p:nvSpPr>
        <p:spPr>
          <a:xfrm>
            <a:off x="12479049" y="5239671"/>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44" name="Rectangle 43">
            <a:extLst>
              <a:ext uri="{FF2B5EF4-FFF2-40B4-BE49-F238E27FC236}">
                <a16:creationId xmlns:a16="http://schemas.microsoft.com/office/drawing/2014/main" id="{A087882E-CF9F-F034-1156-E6F0F1C541F8}"/>
              </a:ext>
            </a:extLst>
          </p:cNvPr>
          <p:cNvSpPr/>
          <p:nvPr/>
        </p:nvSpPr>
        <p:spPr>
          <a:xfrm>
            <a:off x="14135132" y="4113327"/>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45" name="Rectangle 44">
            <a:extLst>
              <a:ext uri="{FF2B5EF4-FFF2-40B4-BE49-F238E27FC236}">
                <a16:creationId xmlns:a16="http://schemas.microsoft.com/office/drawing/2014/main" id="{47D41A1C-4B2E-5D21-4E3B-DD0B58FE6249}"/>
              </a:ext>
            </a:extLst>
          </p:cNvPr>
          <p:cNvSpPr/>
          <p:nvPr/>
        </p:nvSpPr>
        <p:spPr>
          <a:xfrm>
            <a:off x="14493829" y="14418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46" name="Rectangle 45">
            <a:extLst>
              <a:ext uri="{FF2B5EF4-FFF2-40B4-BE49-F238E27FC236}">
                <a16:creationId xmlns:a16="http://schemas.microsoft.com/office/drawing/2014/main" id="{C273BBBD-75E5-250D-A0CB-F004CF717B71}"/>
              </a:ext>
            </a:extLst>
          </p:cNvPr>
          <p:cNvSpPr/>
          <p:nvPr/>
        </p:nvSpPr>
        <p:spPr>
          <a:xfrm>
            <a:off x="13212694" y="2496198"/>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47" name="Rectangle 46">
            <a:extLst>
              <a:ext uri="{FF2B5EF4-FFF2-40B4-BE49-F238E27FC236}">
                <a16:creationId xmlns:a16="http://schemas.microsoft.com/office/drawing/2014/main" id="{FA69876E-442C-3032-AF69-BAFFB5D161E5}"/>
              </a:ext>
            </a:extLst>
          </p:cNvPr>
          <p:cNvSpPr/>
          <p:nvPr/>
        </p:nvSpPr>
        <p:spPr>
          <a:xfrm>
            <a:off x="13212694" y="6154890"/>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48" name="Rectangle 47">
            <a:extLst>
              <a:ext uri="{FF2B5EF4-FFF2-40B4-BE49-F238E27FC236}">
                <a16:creationId xmlns:a16="http://schemas.microsoft.com/office/drawing/2014/main" id="{15CAC24D-E8DF-1208-3717-378FA4393AB5}"/>
              </a:ext>
            </a:extLst>
          </p:cNvPr>
          <p:cNvSpPr/>
          <p:nvPr/>
        </p:nvSpPr>
        <p:spPr>
          <a:xfrm>
            <a:off x="15141845" y="7097252"/>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49" name="Rectangle 48">
            <a:extLst>
              <a:ext uri="{FF2B5EF4-FFF2-40B4-BE49-F238E27FC236}">
                <a16:creationId xmlns:a16="http://schemas.microsoft.com/office/drawing/2014/main" id="{99788082-097F-CFC8-12F2-534ED5ABC738}"/>
              </a:ext>
            </a:extLst>
          </p:cNvPr>
          <p:cNvSpPr/>
          <p:nvPr/>
        </p:nvSpPr>
        <p:spPr>
          <a:xfrm>
            <a:off x="13212694" y="223088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0" name="Rectangle 49">
            <a:extLst>
              <a:ext uri="{FF2B5EF4-FFF2-40B4-BE49-F238E27FC236}">
                <a16:creationId xmlns:a16="http://schemas.microsoft.com/office/drawing/2014/main" id="{1F1ADD3A-1907-5F00-5E12-FF265914D673}"/>
              </a:ext>
            </a:extLst>
          </p:cNvPr>
          <p:cNvSpPr/>
          <p:nvPr/>
        </p:nvSpPr>
        <p:spPr>
          <a:xfrm>
            <a:off x="14135132" y="3531623"/>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1" name="Rectangle 50">
            <a:extLst>
              <a:ext uri="{FF2B5EF4-FFF2-40B4-BE49-F238E27FC236}">
                <a16:creationId xmlns:a16="http://schemas.microsoft.com/office/drawing/2014/main" id="{CFBD6CA1-6464-C9B8-55BD-AFDD5302D7E4}"/>
              </a:ext>
            </a:extLst>
          </p:cNvPr>
          <p:cNvSpPr/>
          <p:nvPr/>
        </p:nvSpPr>
        <p:spPr>
          <a:xfrm>
            <a:off x="14135132" y="5280879"/>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2" name="Rectangle 51">
            <a:extLst>
              <a:ext uri="{FF2B5EF4-FFF2-40B4-BE49-F238E27FC236}">
                <a16:creationId xmlns:a16="http://schemas.microsoft.com/office/drawing/2014/main" id="{C0D15E15-3C3E-D55F-76E1-8572A7A64646}"/>
              </a:ext>
            </a:extLst>
          </p:cNvPr>
          <p:cNvSpPr/>
          <p:nvPr/>
        </p:nvSpPr>
        <p:spPr>
          <a:xfrm>
            <a:off x="14135132" y="695819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3" name="Rectangle 52">
            <a:extLst>
              <a:ext uri="{FF2B5EF4-FFF2-40B4-BE49-F238E27FC236}">
                <a16:creationId xmlns:a16="http://schemas.microsoft.com/office/drawing/2014/main" id="{E9D5119C-F99C-2F10-65B5-F8CBFBDCBBF0}"/>
              </a:ext>
            </a:extLst>
          </p:cNvPr>
          <p:cNvSpPr/>
          <p:nvPr/>
        </p:nvSpPr>
        <p:spPr>
          <a:xfrm>
            <a:off x="15135180" y="14672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4" name="Rectangle 53">
            <a:extLst>
              <a:ext uri="{FF2B5EF4-FFF2-40B4-BE49-F238E27FC236}">
                <a16:creationId xmlns:a16="http://schemas.microsoft.com/office/drawing/2014/main" id="{FA8F01C1-2FE3-00FC-0FAF-38BFFFD60A13}"/>
              </a:ext>
            </a:extLst>
          </p:cNvPr>
          <p:cNvSpPr/>
          <p:nvPr/>
        </p:nvSpPr>
        <p:spPr>
          <a:xfrm>
            <a:off x="14887529" y="20641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5" name="Rectangle 54">
            <a:extLst>
              <a:ext uri="{FF2B5EF4-FFF2-40B4-BE49-F238E27FC236}">
                <a16:creationId xmlns:a16="http://schemas.microsoft.com/office/drawing/2014/main" id="{69ED976F-5260-6AAD-54B8-298A7E494A10}"/>
              </a:ext>
            </a:extLst>
          </p:cNvPr>
          <p:cNvSpPr/>
          <p:nvPr/>
        </p:nvSpPr>
        <p:spPr>
          <a:xfrm>
            <a:off x="15338779" y="3093644"/>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56" name="Rectangle 55">
            <a:extLst>
              <a:ext uri="{FF2B5EF4-FFF2-40B4-BE49-F238E27FC236}">
                <a16:creationId xmlns:a16="http://schemas.microsoft.com/office/drawing/2014/main" id="{906FFB02-5614-EB51-73CA-58BA421DA617}"/>
              </a:ext>
            </a:extLst>
          </p:cNvPr>
          <p:cNvSpPr/>
          <p:nvPr/>
        </p:nvSpPr>
        <p:spPr>
          <a:xfrm>
            <a:off x="14868099" y="4884344"/>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7" name="Rectangle 56">
            <a:extLst>
              <a:ext uri="{FF2B5EF4-FFF2-40B4-BE49-F238E27FC236}">
                <a16:creationId xmlns:a16="http://schemas.microsoft.com/office/drawing/2014/main" id="{9314E661-3B4F-4330-7405-7F5D9F4AF89D}"/>
              </a:ext>
            </a:extLst>
          </p:cNvPr>
          <p:cNvSpPr/>
          <p:nvPr/>
        </p:nvSpPr>
        <p:spPr>
          <a:xfrm>
            <a:off x="15338779" y="5773880"/>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8" name="Rectangle 57">
            <a:extLst>
              <a:ext uri="{FF2B5EF4-FFF2-40B4-BE49-F238E27FC236}">
                <a16:creationId xmlns:a16="http://schemas.microsoft.com/office/drawing/2014/main" id="{31107DF2-608F-8905-A279-E31A1A77C5CC}"/>
              </a:ext>
            </a:extLst>
          </p:cNvPr>
          <p:cNvSpPr/>
          <p:nvPr/>
        </p:nvSpPr>
        <p:spPr>
          <a:xfrm>
            <a:off x="14135132" y="2474481"/>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59" name="Rectangle 58">
            <a:extLst>
              <a:ext uri="{FF2B5EF4-FFF2-40B4-BE49-F238E27FC236}">
                <a16:creationId xmlns:a16="http://schemas.microsoft.com/office/drawing/2014/main" id="{34F97E1D-B790-747F-D699-857001D905E8}"/>
              </a:ext>
            </a:extLst>
          </p:cNvPr>
          <p:cNvSpPr/>
          <p:nvPr/>
        </p:nvSpPr>
        <p:spPr>
          <a:xfrm>
            <a:off x="15141529" y="42612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60" name="Rectangle 59">
            <a:extLst>
              <a:ext uri="{FF2B5EF4-FFF2-40B4-BE49-F238E27FC236}">
                <a16:creationId xmlns:a16="http://schemas.microsoft.com/office/drawing/2014/main" id="{4B9A37C2-C92C-80CF-EB9E-6DF9B7200A75}"/>
              </a:ext>
            </a:extLst>
          </p:cNvPr>
          <p:cNvSpPr/>
          <p:nvPr/>
        </p:nvSpPr>
        <p:spPr>
          <a:xfrm>
            <a:off x="9605909" y="617533"/>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61" name="Rectangle 60">
            <a:extLst>
              <a:ext uri="{FF2B5EF4-FFF2-40B4-BE49-F238E27FC236}">
                <a16:creationId xmlns:a16="http://schemas.microsoft.com/office/drawing/2014/main" id="{37800BA8-E49C-51B0-9A56-2E31E59D0C4E}"/>
              </a:ext>
            </a:extLst>
          </p:cNvPr>
          <p:cNvSpPr/>
          <p:nvPr/>
        </p:nvSpPr>
        <p:spPr>
          <a:xfrm>
            <a:off x="15141529" y="7653480"/>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63" name="Rectangle 62">
            <a:extLst>
              <a:ext uri="{FF2B5EF4-FFF2-40B4-BE49-F238E27FC236}">
                <a16:creationId xmlns:a16="http://schemas.microsoft.com/office/drawing/2014/main" id="{9BEC3E03-A417-0C72-D03F-98674E86E59A}"/>
              </a:ext>
            </a:extLst>
          </p:cNvPr>
          <p:cNvSpPr/>
          <p:nvPr/>
        </p:nvSpPr>
        <p:spPr>
          <a:xfrm>
            <a:off x="11433130" y="62932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64" name="Rectangle 63">
            <a:extLst>
              <a:ext uri="{FF2B5EF4-FFF2-40B4-BE49-F238E27FC236}">
                <a16:creationId xmlns:a16="http://schemas.microsoft.com/office/drawing/2014/main" id="{D304485E-BA2E-636C-EEAE-9FBBAA35A0B4}"/>
              </a:ext>
            </a:extLst>
          </p:cNvPr>
          <p:cNvSpPr/>
          <p:nvPr/>
        </p:nvSpPr>
        <p:spPr>
          <a:xfrm>
            <a:off x="11433130" y="6553746"/>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65" name="Rectangle 64">
            <a:extLst>
              <a:ext uri="{FF2B5EF4-FFF2-40B4-BE49-F238E27FC236}">
                <a16:creationId xmlns:a16="http://schemas.microsoft.com/office/drawing/2014/main" id="{9CF08D14-D01D-F32F-043C-39BCA0337A63}"/>
              </a:ext>
            </a:extLst>
          </p:cNvPr>
          <p:cNvSpPr/>
          <p:nvPr/>
        </p:nvSpPr>
        <p:spPr>
          <a:xfrm>
            <a:off x="11433130" y="3689725"/>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66" name="Rectangle 65">
            <a:extLst>
              <a:ext uri="{FF2B5EF4-FFF2-40B4-BE49-F238E27FC236}">
                <a16:creationId xmlns:a16="http://schemas.microsoft.com/office/drawing/2014/main" id="{F899BEB5-0927-79F6-603D-C249215E1DFA}"/>
              </a:ext>
            </a:extLst>
          </p:cNvPr>
          <p:cNvSpPr/>
          <p:nvPr/>
        </p:nvSpPr>
        <p:spPr>
          <a:xfrm>
            <a:off x="13212694" y="3804298"/>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67" name="Rectangle 66">
            <a:extLst>
              <a:ext uri="{FF2B5EF4-FFF2-40B4-BE49-F238E27FC236}">
                <a16:creationId xmlns:a16="http://schemas.microsoft.com/office/drawing/2014/main" id="{F571C5A7-CC91-B197-3603-87B2F9234B99}"/>
              </a:ext>
            </a:extLst>
          </p:cNvPr>
          <p:cNvSpPr/>
          <p:nvPr/>
        </p:nvSpPr>
        <p:spPr>
          <a:xfrm>
            <a:off x="13212694" y="5112398"/>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68" name="Rectangle 67">
            <a:extLst>
              <a:ext uri="{FF2B5EF4-FFF2-40B4-BE49-F238E27FC236}">
                <a16:creationId xmlns:a16="http://schemas.microsoft.com/office/drawing/2014/main" id="{8E97595B-E6F7-7493-4758-4066C3F79E9D}"/>
              </a:ext>
            </a:extLst>
          </p:cNvPr>
          <p:cNvSpPr/>
          <p:nvPr/>
        </p:nvSpPr>
        <p:spPr>
          <a:xfrm>
            <a:off x="13212694" y="5508933"/>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0</a:t>
            </a:r>
          </a:p>
        </p:txBody>
      </p:sp>
      <p:sp>
        <p:nvSpPr>
          <p:cNvPr id="69" name="Rectangle 68">
            <a:extLst>
              <a:ext uri="{FF2B5EF4-FFF2-40B4-BE49-F238E27FC236}">
                <a16:creationId xmlns:a16="http://schemas.microsoft.com/office/drawing/2014/main" id="{AAD0B5C6-2FBD-9298-5F66-8E8B101C25D8}"/>
              </a:ext>
            </a:extLst>
          </p:cNvPr>
          <p:cNvSpPr/>
          <p:nvPr/>
        </p:nvSpPr>
        <p:spPr>
          <a:xfrm>
            <a:off x="13212694" y="5930558"/>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70" name="Rectangle 69">
            <a:extLst>
              <a:ext uri="{FF2B5EF4-FFF2-40B4-BE49-F238E27FC236}">
                <a16:creationId xmlns:a16="http://schemas.microsoft.com/office/drawing/2014/main" id="{E1DD9D1D-1393-00CF-48CE-5D5E83688787}"/>
              </a:ext>
            </a:extLst>
          </p:cNvPr>
          <p:cNvSpPr/>
          <p:nvPr/>
        </p:nvSpPr>
        <p:spPr>
          <a:xfrm>
            <a:off x="14135132" y="6355184"/>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71" name="Rectangle 70">
            <a:extLst>
              <a:ext uri="{FF2B5EF4-FFF2-40B4-BE49-F238E27FC236}">
                <a16:creationId xmlns:a16="http://schemas.microsoft.com/office/drawing/2014/main" id="{F1DB7101-83B1-B725-FD53-7C0D26E03875}"/>
              </a:ext>
            </a:extLst>
          </p:cNvPr>
          <p:cNvSpPr/>
          <p:nvPr/>
        </p:nvSpPr>
        <p:spPr>
          <a:xfrm>
            <a:off x="12413596" y="2354739"/>
            <a:ext cx="461795" cy="228054"/>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rgbClr val="FF0000"/>
                </a:solidFill>
              </a:rPr>
              <a:t>1</a:t>
            </a:r>
          </a:p>
        </p:txBody>
      </p:sp>
      <p:sp>
        <p:nvSpPr>
          <p:cNvPr id="72" name="Rectangle 71">
            <a:extLst>
              <a:ext uri="{FF2B5EF4-FFF2-40B4-BE49-F238E27FC236}">
                <a16:creationId xmlns:a16="http://schemas.microsoft.com/office/drawing/2014/main" id="{A70661F7-005B-0330-672E-55096722BEEF}"/>
              </a:ext>
            </a:extLst>
          </p:cNvPr>
          <p:cNvSpPr/>
          <p:nvPr/>
        </p:nvSpPr>
        <p:spPr>
          <a:xfrm>
            <a:off x="7623220" y="836719"/>
            <a:ext cx="1212759" cy="275152"/>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CA" sz="1600" b="1" dirty="0">
                <a:solidFill>
                  <a:srgbClr val="FF0000"/>
                </a:solidFill>
              </a:rPr>
              <a:t>Arithmetic</a:t>
            </a:r>
          </a:p>
        </p:txBody>
      </p:sp>
      <p:sp>
        <p:nvSpPr>
          <p:cNvPr id="73" name="Rectangle 72">
            <a:extLst>
              <a:ext uri="{FF2B5EF4-FFF2-40B4-BE49-F238E27FC236}">
                <a16:creationId xmlns:a16="http://schemas.microsoft.com/office/drawing/2014/main" id="{4C570E98-9710-3920-DDB3-99399DB33FB1}"/>
              </a:ext>
            </a:extLst>
          </p:cNvPr>
          <p:cNvSpPr/>
          <p:nvPr/>
        </p:nvSpPr>
        <p:spPr>
          <a:xfrm>
            <a:off x="7554973" y="1217200"/>
            <a:ext cx="1000058" cy="344832"/>
          </a:xfrm>
          <a:prstGeom prst="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CA" sz="1600" b="1" dirty="0">
                <a:solidFill>
                  <a:srgbClr val="FF0000"/>
                </a:solidFill>
              </a:rPr>
              <a:t>Addition</a:t>
            </a:r>
          </a:p>
        </p:txBody>
      </p:sp>
      <p:sp>
        <p:nvSpPr>
          <p:cNvPr id="74" name="Right Brace 73">
            <a:extLst>
              <a:ext uri="{FF2B5EF4-FFF2-40B4-BE49-F238E27FC236}">
                <a16:creationId xmlns:a16="http://schemas.microsoft.com/office/drawing/2014/main" id="{4A926148-7656-7FFE-F3BF-FA76F6EE2225}"/>
              </a:ext>
            </a:extLst>
          </p:cNvPr>
          <p:cNvSpPr/>
          <p:nvPr/>
        </p:nvSpPr>
        <p:spPr>
          <a:xfrm flipH="1">
            <a:off x="8540545" y="1204499"/>
            <a:ext cx="268250" cy="452679"/>
          </a:xfrm>
          <a:prstGeom prst="rightBrace">
            <a:avLst>
              <a:gd name="adj1" fmla="val 11809"/>
              <a:gd name="adj2" fmla="val 47619"/>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94412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heel(1)">
                                      <p:cBhvr>
                                        <p:cTn id="12" dur="2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wheel(1)">
                                      <p:cBhvr>
                                        <p:cTn id="17" dur="2000"/>
                                        <p:tgtEl>
                                          <p:spTgt spid="72"/>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heel(1)">
                                      <p:cBhvr>
                                        <p:cTn id="22" dur="20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heel(1)">
                                      <p:cBhvr>
                                        <p:cTn id="27" dur="2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circle(in)">
                                      <p:cBhvr>
                                        <p:cTn id="32" dur="2000"/>
                                        <p:tgtEl>
                                          <p:spTgt spid="74"/>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73"/>
                                        </p:tgtEl>
                                        <p:attrNameLst>
                                          <p:attrName>style.visibility</p:attrName>
                                        </p:attrNameLst>
                                      </p:cBhvr>
                                      <p:to>
                                        <p:strVal val="visible"/>
                                      </p:to>
                                    </p:set>
                                    <p:animEffect transition="in" filter="wheel(1)">
                                      <p:cBhvr>
                                        <p:cTn id="37" dur="2000"/>
                                        <p:tgtEl>
                                          <p:spTgt spid="73"/>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heel(1)">
                                      <p:cBhvr>
                                        <p:cTn id="42" dur="20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21" presetClass="entr" presetSubtype="1"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heel(1)">
                                      <p:cBhvr>
                                        <p:cTn id="47" dur="20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heel(1)">
                                      <p:cBhvr>
                                        <p:cTn id="52" dur="20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21" presetClass="entr" presetSubtype="1"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heel(1)">
                                      <p:cBhvr>
                                        <p:cTn id="57" dur="20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1" fill="hold" grpId="0" nodeType="clickEffect">
                                  <p:stCondLst>
                                    <p:cond delay="0"/>
                                  </p:stCondLst>
                                  <p:childTnLst>
                                    <p:set>
                                      <p:cBhvr>
                                        <p:cTn id="61" dur="1" fill="hold">
                                          <p:stCondLst>
                                            <p:cond delay="0"/>
                                          </p:stCondLst>
                                        </p:cTn>
                                        <p:tgtEl>
                                          <p:spTgt spid="60"/>
                                        </p:tgtEl>
                                        <p:attrNameLst>
                                          <p:attrName>style.visibility</p:attrName>
                                        </p:attrNameLst>
                                      </p:cBhvr>
                                      <p:to>
                                        <p:strVal val="visible"/>
                                      </p:to>
                                    </p:set>
                                    <p:animEffect transition="in" filter="wheel(1)">
                                      <p:cBhvr>
                                        <p:cTn id="62" dur="2000"/>
                                        <p:tgtEl>
                                          <p:spTgt spid="60"/>
                                        </p:tgtEl>
                                      </p:cBhvr>
                                    </p:animEffect>
                                  </p:childTnLst>
                                </p:cTn>
                              </p:par>
                            </p:childTnLst>
                          </p:cTn>
                        </p:par>
                      </p:childTnLst>
                    </p:cTn>
                  </p:par>
                  <p:par>
                    <p:cTn id="63" fill="hold">
                      <p:stCondLst>
                        <p:cond delay="indefinite"/>
                      </p:stCondLst>
                      <p:childTnLst>
                        <p:par>
                          <p:cTn id="64" fill="hold">
                            <p:stCondLst>
                              <p:cond delay="0"/>
                            </p:stCondLst>
                            <p:childTnLst>
                              <p:par>
                                <p:cTn id="65" presetID="21" presetClass="entr" presetSubtype="1"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heel(1)">
                                      <p:cBhvr>
                                        <p:cTn id="67" dur="20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21" presetClass="entr" presetSubtype="1"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heel(1)">
                                      <p:cBhvr>
                                        <p:cTn id="72" dur="20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1"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heel(1)">
                                      <p:cBhvr>
                                        <p:cTn id="77" dur="2000"/>
                                        <p:tgtEl>
                                          <p:spTgt spid="24"/>
                                        </p:tgtEl>
                                      </p:cBhvr>
                                    </p:animEffect>
                                  </p:childTnLst>
                                </p:cTn>
                              </p:par>
                            </p:childTnLst>
                          </p:cTn>
                        </p:par>
                      </p:childTnLst>
                    </p:cTn>
                  </p:par>
                  <p:par>
                    <p:cTn id="78" fill="hold">
                      <p:stCondLst>
                        <p:cond delay="indefinite"/>
                      </p:stCondLst>
                      <p:childTnLst>
                        <p:par>
                          <p:cTn id="79" fill="hold">
                            <p:stCondLst>
                              <p:cond delay="0"/>
                            </p:stCondLst>
                            <p:childTnLst>
                              <p:par>
                                <p:cTn id="80" presetID="21" presetClass="entr" presetSubtype="1" fill="hold" grpId="0"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wheel(1)">
                                      <p:cBhvr>
                                        <p:cTn id="82" dur="2000"/>
                                        <p:tgtEl>
                                          <p:spTgt spid="23"/>
                                        </p:tgtEl>
                                      </p:cBhvr>
                                    </p:animEffect>
                                  </p:childTnLst>
                                </p:cTn>
                              </p:par>
                            </p:childTnLst>
                          </p:cTn>
                        </p:par>
                      </p:childTnLst>
                    </p:cTn>
                  </p:par>
                  <p:par>
                    <p:cTn id="83" fill="hold">
                      <p:stCondLst>
                        <p:cond delay="indefinite"/>
                      </p:stCondLst>
                      <p:childTnLst>
                        <p:par>
                          <p:cTn id="84" fill="hold">
                            <p:stCondLst>
                              <p:cond delay="0"/>
                            </p:stCondLst>
                            <p:childTnLst>
                              <p:par>
                                <p:cTn id="85" presetID="21" presetClass="entr" presetSubtype="1"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heel(1)">
                                      <p:cBhvr>
                                        <p:cTn id="87" dur="200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21" presetClass="entr" presetSubtype="1"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wheel(1)">
                                      <p:cBhvr>
                                        <p:cTn id="92" dur="2000"/>
                                        <p:tgtEl>
                                          <p:spTgt spid="25"/>
                                        </p:tgtEl>
                                      </p:cBhvr>
                                    </p:animEffect>
                                  </p:childTnLst>
                                </p:cTn>
                              </p:par>
                            </p:childTnLst>
                          </p:cTn>
                        </p:par>
                      </p:childTnLst>
                    </p:cTn>
                  </p:par>
                  <p:par>
                    <p:cTn id="93" fill="hold">
                      <p:stCondLst>
                        <p:cond delay="indefinite"/>
                      </p:stCondLst>
                      <p:childTnLst>
                        <p:par>
                          <p:cTn id="94" fill="hold">
                            <p:stCondLst>
                              <p:cond delay="0"/>
                            </p:stCondLst>
                            <p:childTnLst>
                              <p:par>
                                <p:cTn id="95" presetID="21" presetClass="entr" presetSubtype="1"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wheel(1)">
                                      <p:cBhvr>
                                        <p:cTn id="97" dur="2000"/>
                                        <p:tgtEl>
                                          <p:spTgt spid="26"/>
                                        </p:tgtEl>
                                      </p:cBhvr>
                                    </p:animEffect>
                                  </p:childTnLst>
                                </p:cTn>
                              </p:par>
                            </p:childTnLst>
                          </p:cTn>
                        </p:par>
                      </p:childTnLst>
                    </p:cTn>
                  </p:par>
                  <p:par>
                    <p:cTn id="98" fill="hold">
                      <p:stCondLst>
                        <p:cond delay="indefinite"/>
                      </p:stCondLst>
                      <p:childTnLst>
                        <p:par>
                          <p:cTn id="99" fill="hold">
                            <p:stCondLst>
                              <p:cond delay="0"/>
                            </p:stCondLst>
                            <p:childTnLst>
                              <p:par>
                                <p:cTn id="100" presetID="21" presetClass="entr" presetSubtype="1" fill="hold" grpId="0" nodeType="clickEffect">
                                  <p:stCondLst>
                                    <p:cond delay="0"/>
                                  </p:stCondLst>
                                  <p:childTnLst>
                                    <p:set>
                                      <p:cBhvr>
                                        <p:cTn id="101" dur="1" fill="hold">
                                          <p:stCondLst>
                                            <p:cond delay="0"/>
                                          </p:stCondLst>
                                        </p:cTn>
                                        <p:tgtEl>
                                          <p:spTgt spid="65"/>
                                        </p:tgtEl>
                                        <p:attrNameLst>
                                          <p:attrName>style.visibility</p:attrName>
                                        </p:attrNameLst>
                                      </p:cBhvr>
                                      <p:to>
                                        <p:strVal val="visible"/>
                                      </p:to>
                                    </p:set>
                                    <p:animEffect transition="in" filter="wheel(1)">
                                      <p:cBhvr>
                                        <p:cTn id="102" dur="2000"/>
                                        <p:tgtEl>
                                          <p:spTgt spid="65"/>
                                        </p:tgtEl>
                                      </p:cBhvr>
                                    </p:animEffect>
                                  </p:childTnLst>
                                </p:cTn>
                              </p:par>
                            </p:childTnLst>
                          </p:cTn>
                        </p:par>
                      </p:childTnLst>
                    </p:cTn>
                  </p:par>
                  <p:par>
                    <p:cTn id="103" fill="hold">
                      <p:stCondLst>
                        <p:cond delay="indefinite"/>
                      </p:stCondLst>
                      <p:childTnLst>
                        <p:par>
                          <p:cTn id="104" fill="hold">
                            <p:stCondLst>
                              <p:cond delay="0"/>
                            </p:stCondLst>
                            <p:childTnLst>
                              <p:par>
                                <p:cTn id="105" presetID="21" presetClass="entr" presetSubtype="1" fill="hold" grpId="0" nodeType="click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wheel(1)">
                                      <p:cBhvr>
                                        <p:cTn id="107" dur="2000"/>
                                        <p:tgtEl>
                                          <p:spTgt spid="27"/>
                                        </p:tgtEl>
                                      </p:cBhvr>
                                    </p:animEffect>
                                  </p:childTnLst>
                                </p:cTn>
                              </p:par>
                            </p:childTnLst>
                          </p:cTn>
                        </p:par>
                      </p:childTnLst>
                    </p:cTn>
                  </p:par>
                  <p:par>
                    <p:cTn id="108" fill="hold">
                      <p:stCondLst>
                        <p:cond delay="indefinite"/>
                      </p:stCondLst>
                      <p:childTnLst>
                        <p:par>
                          <p:cTn id="109" fill="hold">
                            <p:stCondLst>
                              <p:cond delay="0"/>
                            </p:stCondLst>
                            <p:childTnLst>
                              <p:par>
                                <p:cTn id="110" presetID="21" presetClass="entr" presetSubtype="1" fill="hold" grpId="0" nodeType="clickEffect">
                                  <p:stCondLst>
                                    <p:cond delay="0"/>
                                  </p:stCondLst>
                                  <p:childTnLst>
                                    <p:set>
                                      <p:cBhvr>
                                        <p:cTn id="111" dur="1" fill="hold">
                                          <p:stCondLst>
                                            <p:cond delay="0"/>
                                          </p:stCondLst>
                                        </p:cTn>
                                        <p:tgtEl>
                                          <p:spTgt spid="28"/>
                                        </p:tgtEl>
                                        <p:attrNameLst>
                                          <p:attrName>style.visibility</p:attrName>
                                        </p:attrNameLst>
                                      </p:cBhvr>
                                      <p:to>
                                        <p:strVal val="visible"/>
                                      </p:to>
                                    </p:set>
                                    <p:animEffect transition="in" filter="wheel(1)">
                                      <p:cBhvr>
                                        <p:cTn id="112" dur="2000"/>
                                        <p:tgtEl>
                                          <p:spTgt spid="28"/>
                                        </p:tgtEl>
                                      </p:cBhvr>
                                    </p:animEffect>
                                  </p:childTnLst>
                                </p:cTn>
                              </p:par>
                            </p:childTnLst>
                          </p:cTn>
                        </p:par>
                      </p:childTnLst>
                    </p:cTn>
                  </p:par>
                  <p:par>
                    <p:cTn id="113" fill="hold">
                      <p:stCondLst>
                        <p:cond delay="indefinite"/>
                      </p:stCondLst>
                      <p:childTnLst>
                        <p:par>
                          <p:cTn id="114" fill="hold">
                            <p:stCondLst>
                              <p:cond delay="0"/>
                            </p:stCondLst>
                            <p:childTnLst>
                              <p:par>
                                <p:cTn id="115" presetID="21" presetClass="entr" presetSubtype="1" fill="hold" grpId="0" nodeType="clickEffect">
                                  <p:stCondLst>
                                    <p:cond delay="0"/>
                                  </p:stCondLst>
                                  <p:childTnLst>
                                    <p:set>
                                      <p:cBhvr>
                                        <p:cTn id="116" dur="1" fill="hold">
                                          <p:stCondLst>
                                            <p:cond delay="0"/>
                                          </p:stCondLst>
                                        </p:cTn>
                                        <p:tgtEl>
                                          <p:spTgt spid="29"/>
                                        </p:tgtEl>
                                        <p:attrNameLst>
                                          <p:attrName>style.visibility</p:attrName>
                                        </p:attrNameLst>
                                      </p:cBhvr>
                                      <p:to>
                                        <p:strVal val="visible"/>
                                      </p:to>
                                    </p:set>
                                    <p:animEffect transition="in" filter="wheel(1)">
                                      <p:cBhvr>
                                        <p:cTn id="117" dur="2000"/>
                                        <p:tgtEl>
                                          <p:spTgt spid="29"/>
                                        </p:tgtEl>
                                      </p:cBhvr>
                                    </p:animEffect>
                                  </p:childTnLst>
                                </p:cTn>
                              </p:par>
                            </p:childTnLst>
                          </p:cTn>
                        </p:par>
                      </p:childTnLst>
                    </p:cTn>
                  </p:par>
                  <p:par>
                    <p:cTn id="118" fill="hold">
                      <p:stCondLst>
                        <p:cond delay="indefinite"/>
                      </p:stCondLst>
                      <p:childTnLst>
                        <p:par>
                          <p:cTn id="119" fill="hold">
                            <p:stCondLst>
                              <p:cond delay="0"/>
                            </p:stCondLst>
                            <p:childTnLst>
                              <p:par>
                                <p:cTn id="120" presetID="21" presetClass="entr" presetSubtype="1" fill="hold" grpId="0" nodeType="click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wheel(1)">
                                      <p:cBhvr>
                                        <p:cTn id="122" dur="2000"/>
                                        <p:tgtEl>
                                          <p:spTgt spid="33"/>
                                        </p:tgtEl>
                                      </p:cBhvr>
                                    </p:animEffect>
                                  </p:childTnLst>
                                </p:cTn>
                              </p:par>
                            </p:childTnLst>
                          </p:cTn>
                        </p:par>
                      </p:childTnLst>
                    </p:cTn>
                  </p:par>
                  <p:par>
                    <p:cTn id="123" fill="hold">
                      <p:stCondLst>
                        <p:cond delay="indefinite"/>
                      </p:stCondLst>
                      <p:childTnLst>
                        <p:par>
                          <p:cTn id="124" fill="hold">
                            <p:stCondLst>
                              <p:cond delay="0"/>
                            </p:stCondLst>
                            <p:childTnLst>
                              <p:par>
                                <p:cTn id="125" presetID="21" presetClass="entr" presetSubtype="1" fill="hold" grpId="0" nodeType="clickEffect">
                                  <p:stCondLst>
                                    <p:cond delay="0"/>
                                  </p:stCondLst>
                                  <p:childTnLst>
                                    <p:set>
                                      <p:cBhvr>
                                        <p:cTn id="126" dur="1" fill="hold">
                                          <p:stCondLst>
                                            <p:cond delay="0"/>
                                          </p:stCondLst>
                                        </p:cTn>
                                        <p:tgtEl>
                                          <p:spTgt spid="34"/>
                                        </p:tgtEl>
                                        <p:attrNameLst>
                                          <p:attrName>style.visibility</p:attrName>
                                        </p:attrNameLst>
                                      </p:cBhvr>
                                      <p:to>
                                        <p:strVal val="visible"/>
                                      </p:to>
                                    </p:set>
                                    <p:animEffect transition="in" filter="wheel(1)">
                                      <p:cBhvr>
                                        <p:cTn id="127" dur="2000"/>
                                        <p:tgtEl>
                                          <p:spTgt spid="34"/>
                                        </p:tgtEl>
                                      </p:cBhvr>
                                    </p:animEffect>
                                  </p:childTnLst>
                                </p:cTn>
                              </p:par>
                            </p:childTnLst>
                          </p:cTn>
                        </p:par>
                      </p:childTnLst>
                    </p:cTn>
                  </p:par>
                  <p:par>
                    <p:cTn id="128" fill="hold">
                      <p:stCondLst>
                        <p:cond delay="indefinite"/>
                      </p:stCondLst>
                      <p:childTnLst>
                        <p:par>
                          <p:cTn id="129" fill="hold">
                            <p:stCondLst>
                              <p:cond delay="0"/>
                            </p:stCondLst>
                            <p:childTnLst>
                              <p:par>
                                <p:cTn id="130" presetID="21" presetClass="entr" presetSubtype="1" fill="hold" grpId="0" nodeType="clickEffect">
                                  <p:stCondLst>
                                    <p:cond delay="0"/>
                                  </p:stCondLst>
                                  <p:childTnLst>
                                    <p:set>
                                      <p:cBhvr>
                                        <p:cTn id="131" dur="1" fill="hold">
                                          <p:stCondLst>
                                            <p:cond delay="0"/>
                                          </p:stCondLst>
                                        </p:cTn>
                                        <p:tgtEl>
                                          <p:spTgt spid="63"/>
                                        </p:tgtEl>
                                        <p:attrNameLst>
                                          <p:attrName>style.visibility</p:attrName>
                                        </p:attrNameLst>
                                      </p:cBhvr>
                                      <p:to>
                                        <p:strVal val="visible"/>
                                      </p:to>
                                    </p:set>
                                    <p:animEffect transition="in" filter="wheel(1)">
                                      <p:cBhvr>
                                        <p:cTn id="132" dur="2000"/>
                                        <p:tgtEl>
                                          <p:spTgt spid="63"/>
                                        </p:tgtEl>
                                      </p:cBhvr>
                                    </p:animEffect>
                                  </p:childTnLst>
                                </p:cTn>
                              </p:par>
                            </p:childTnLst>
                          </p:cTn>
                        </p:par>
                      </p:childTnLst>
                    </p:cTn>
                  </p:par>
                  <p:par>
                    <p:cTn id="133" fill="hold">
                      <p:stCondLst>
                        <p:cond delay="indefinite"/>
                      </p:stCondLst>
                      <p:childTnLst>
                        <p:par>
                          <p:cTn id="134" fill="hold">
                            <p:stCondLst>
                              <p:cond delay="0"/>
                            </p:stCondLst>
                            <p:childTnLst>
                              <p:par>
                                <p:cTn id="135" presetID="21" presetClass="entr" presetSubtype="1" fill="hold" grpId="0" nodeType="clickEffect">
                                  <p:stCondLst>
                                    <p:cond delay="0"/>
                                  </p:stCondLst>
                                  <p:childTnLst>
                                    <p:set>
                                      <p:cBhvr>
                                        <p:cTn id="136" dur="1" fill="hold">
                                          <p:stCondLst>
                                            <p:cond delay="0"/>
                                          </p:stCondLst>
                                        </p:cTn>
                                        <p:tgtEl>
                                          <p:spTgt spid="64"/>
                                        </p:tgtEl>
                                        <p:attrNameLst>
                                          <p:attrName>style.visibility</p:attrName>
                                        </p:attrNameLst>
                                      </p:cBhvr>
                                      <p:to>
                                        <p:strVal val="visible"/>
                                      </p:to>
                                    </p:set>
                                    <p:animEffect transition="in" filter="wheel(1)">
                                      <p:cBhvr>
                                        <p:cTn id="137" dur="2000"/>
                                        <p:tgtEl>
                                          <p:spTgt spid="64"/>
                                        </p:tgtEl>
                                      </p:cBhvr>
                                    </p:animEffect>
                                  </p:childTnLst>
                                </p:cTn>
                              </p:par>
                            </p:childTnLst>
                          </p:cTn>
                        </p:par>
                      </p:childTnLst>
                    </p:cTn>
                  </p:par>
                  <p:par>
                    <p:cTn id="138" fill="hold">
                      <p:stCondLst>
                        <p:cond delay="indefinite"/>
                      </p:stCondLst>
                      <p:childTnLst>
                        <p:par>
                          <p:cTn id="139" fill="hold">
                            <p:stCondLst>
                              <p:cond delay="0"/>
                            </p:stCondLst>
                            <p:childTnLst>
                              <p:par>
                                <p:cTn id="140" presetID="21" presetClass="entr" presetSubtype="1" fill="hold" grpId="0" nodeType="clickEffect">
                                  <p:stCondLst>
                                    <p:cond delay="0"/>
                                  </p:stCondLst>
                                  <p:childTnLst>
                                    <p:set>
                                      <p:cBhvr>
                                        <p:cTn id="141" dur="1" fill="hold">
                                          <p:stCondLst>
                                            <p:cond delay="0"/>
                                          </p:stCondLst>
                                        </p:cTn>
                                        <p:tgtEl>
                                          <p:spTgt spid="35"/>
                                        </p:tgtEl>
                                        <p:attrNameLst>
                                          <p:attrName>style.visibility</p:attrName>
                                        </p:attrNameLst>
                                      </p:cBhvr>
                                      <p:to>
                                        <p:strVal val="visible"/>
                                      </p:to>
                                    </p:set>
                                    <p:animEffect transition="in" filter="wheel(1)">
                                      <p:cBhvr>
                                        <p:cTn id="142" dur="2000"/>
                                        <p:tgtEl>
                                          <p:spTgt spid="35"/>
                                        </p:tgtEl>
                                      </p:cBhvr>
                                    </p:animEffect>
                                  </p:childTnLst>
                                </p:cTn>
                              </p:par>
                            </p:childTnLst>
                          </p:cTn>
                        </p:par>
                      </p:childTnLst>
                    </p:cTn>
                  </p:par>
                  <p:par>
                    <p:cTn id="143" fill="hold">
                      <p:stCondLst>
                        <p:cond delay="indefinite"/>
                      </p:stCondLst>
                      <p:childTnLst>
                        <p:par>
                          <p:cTn id="144" fill="hold">
                            <p:stCondLst>
                              <p:cond delay="0"/>
                            </p:stCondLst>
                            <p:childTnLst>
                              <p:par>
                                <p:cTn id="145" presetID="21" presetClass="entr" presetSubtype="1" fill="hold" grpId="0" nodeType="click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wheel(1)">
                                      <p:cBhvr>
                                        <p:cTn id="147" dur="2000"/>
                                        <p:tgtEl>
                                          <p:spTgt spid="36"/>
                                        </p:tgtEl>
                                      </p:cBhvr>
                                    </p:animEffect>
                                  </p:childTnLst>
                                </p:cTn>
                              </p:par>
                            </p:childTnLst>
                          </p:cTn>
                        </p:par>
                      </p:childTnLst>
                    </p:cTn>
                  </p:par>
                  <p:par>
                    <p:cTn id="148" fill="hold">
                      <p:stCondLst>
                        <p:cond delay="indefinite"/>
                      </p:stCondLst>
                      <p:childTnLst>
                        <p:par>
                          <p:cTn id="149" fill="hold">
                            <p:stCondLst>
                              <p:cond delay="0"/>
                            </p:stCondLst>
                            <p:childTnLst>
                              <p:par>
                                <p:cTn id="150" presetID="21" presetClass="entr" presetSubtype="1" fill="hold" grpId="0" nodeType="clickEffect">
                                  <p:stCondLst>
                                    <p:cond delay="0"/>
                                  </p:stCondLst>
                                  <p:childTnLst>
                                    <p:set>
                                      <p:cBhvr>
                                        <p:cTn id="151" dur="1" fill="hold">
                                          <p:stCondLst>
                                            <p:cond delay="0"/>
                                          </p:stCondLst>
                                        </p:cTn>
                                        <p:tgtEl>
                                          <p:spTgt spid="37"/>
                                        </p:tgtEl>
                                        <p:attrNameLst>
                                          <p:attrName>style.visibility</p:attrName>
                                        </p:attrNameLst>
                                      </p:cBhvr>
                                      <p:to>
                                        <p:strVal val="visible"/>
                                      </p:to>
                                    </p:set>
                                    <p:animEffect transition="in" filter="wheel(1)">
                                      <p:cBhvr>
                                        <p:cTn id="152" dur="2000"/>
                                        <p:tgtEl>
                                          <p:spTgt spid="37"/>
                                        </p:tgtEl>
                                      </p:cBhvr>
                                    </p:animEffect>
                                  </p:childTnLst>
                                </p:cTn>
                              </p:par>
                            </p:childTnLst>
                          </p:cTn>
                        </p:par>
                      </p:childTnLst>
                    </p:cTn>
                  </p:par>
                  <p:par>
                    <p:cTn id="153" fill="hold">
                      <p:stCondLst>
                        <p:cond delay="indefinite"/>
                      </p:stCondLst>
                      <p:childTnLst>
                        <p:par>
                          <p:cTn id="154" fill="hold">
                            <p:stCondLst>
                              <p:cond delay="0"/>
                            </p:stCondLst>
                            <p:childTnLst>
                              <p:par>
                                <p:cTn id="155" presetID="21" presetClass="entr" presetSubtype="1" fill="hold" grpId="0" nodeType="clickEffect">
                                  <p:stCondLst>
                                    <p:cond delay="0"/>
                                  </p:stCondLst>
                                  <p:childTnLst>
                                    <p:set>
                                      <p:cBhvr>
                                        <p:cTn id="156" dur="1" fill="hold">
                                          <p:stCondLst>
                                            <p:cond delay="0"/>
                                          </p:stCondLst>
                                        </p:cTn>
                                        <p:tgtEl>
                                          <p:spTgt spid="41"/>
                                        </p:tgtEl>
                                        <p:attrNameLst>
                                          <p:attrName>style.visibility</p:attrName>
                                        </p:attrNameLst>
                                      </p:cBhvr>
                                      <p:to>
                                        <p:strVal val="visible"/>
                                      </p:to>
                                    </p:set>
                                    <p:animEffect transition="in" filter="wheel(1)">
                                      <p:cBhvr>
                                        <p:cTn id="157" dur="2000"/>
                                        <p:tgtEl>
                                          <p:spTgt spid="41"/>
                                        </p:tgtEl>
                                      </p:cBhvr>
                                    </p:animEffect>
                                  </p:childTnLst>
                                </p:cTn>
                              </p:par>
                            </p:childTnLst>
                          </p:cTn>
                        </p:par>
                      </p:childTnLst>
                    </p:cTn>
                  </p:par>
                  <p:par>
                    <p:cTn id="158" fill="hold">
                      <p:stCondLst>
                        <p:cond delay="indefinite"/>
                      </p:stCondLst>
                      <p:childTnLst>
                        <p:par>
                          <p:cTn id="159" fill="hold">
                            <p:stCondLst>
                              <p:cond delay="0"/>
                            </p:stCondLst>
                            <p:childTnLst>
                              <p:par>
                                <p:cTn id="160" presetID="21" presetClass="entr" presetSubtype="1" fill="hold" grpId="0" nodeType="clickEffect">
                                  <p:stCondLst>
                                    <p:cond delay="0"/>
                                  </p:stCondLst>
                                  <p:childTnLst>
                                    <p:set>
                                      <p:cBhvr>
                                        <p:cTn id="161" dur="1" fill="hold">
                                          <p:stCondLst>
                                            <p:cond delay="0"/>
                                          </p:stCondLst>
                                        </p:cTn>
                                        <p:tgtEl>
                                          <p:spTgt spid="71"/>
                                        </p:tgtEl>
                                        <p:attrNameLst>
                                          <p:attrName>style.visibility</p:attrName>
                                        </p:attrNameLst>
                                      </p:cBhvr>
                                      <p:to>
                                        <p:strVal val="visible"/>
                                      </p:to>
                                    </p:set>
                                    <p:animEffect transition="in" filter="wheel(1)">
                                      <p:cBhvr>
                                        <p:cTn id="162" dur="2000"/>
                                        <p:tgtEl>
                                          <p:spTgt spid="71"/>
                                        </p:tgtEl>
                                      </p:cBhvr>
                                    </p:animEffect>
                                  </p:childTnLst>
                                </p:cTn>
                              </p:par>
                            </p:childTnLst>
                          </p:cTn>
                        </p:par>
                      </p:childTnLst>
                    </p:cTn>
                  </p:par>
                  <p:par>
                    <p:cTn id="163" fill="hold">
                      <p:stCondLst>
                        <p:cond delay="indefinite"/>
                      </p:stCondLst>
                      <p:childTnLst>
                        <p:par>
                          <p:cTn id="164" fill="hold">
                            <p:stCondLst>
                              <p:cond delay="0"/>
                            </p:stCondLst>
                            <p:childTnLst>
                              <p:par>
                                <p:cTn id="165" presetID="21" presetClass="entr" presetSubtype="1" fill="hold" grpId="0" nodeType="clickEffect">
                                  <p:stCondLst>
                                    <p:cond delay="0"/>
                                  </p:stCondLst>
                                  <p:childTnLst>
                                    <p:set>
                                      <p:cBhvr>
                                        <p:cTn id="166" dur="1" fill="hold">
                                          <p:stCondLst>
                                            <p:cond delay="0"/>
                                          </p:stCondLst>
                                        </p:cTn>
                                        <p:tgtEl>
                                          <p:spTgt spid="39"/>
                                        </p:tgtEl>
                                        <p:attrNameLst>
                                          <p:attrName>style.visibility</p:attrName>
                                        </p:attrNameLst>
                                      </p:cBhvr>
                                      <p:to>
                                        <p:strVal val="visible"/>
                                      </p:to>
                                    </p:set>
                                    <p:animEffect transition="in" filter="wheel(1)">
                                      <p:cBhvr>
                                        <p:cTn id="167" dur="2000"/>
                                        <p:tgtEl>
                                          <p:spTgt spid="39"/>
                                        </p:tgtEl>
                                      </p:cBhvr>
                                    </p:animEffect>
                                  </p:childTnLst>
                                </p:cTn>
                              </p:par>
                            </p:childTnLst>
                          </p:cTn>
                        </p:par>
                      </p:childTnLst>
                    </p:cTn>
                  </p:par>
                  <p:par>
                    <p:cTn id="168" fill="hold">
                      <p:stCondLst>
                        <p:cond delay="indefinite"/>
                      </p:stCondLst>
                      <p:childTnLst>
                        <p:par>
                          <p:cTn id="169" fill="hold">
                            <p:stCondLst>
                              <p:cond delay="0"/>
                            </p:stCondLst>
                            <p:childTnLst>
                              <p:par>
                                <p:cTn id="170" presetID="21" presetClass="entr" presetSubtype="1" fill="hold" grpId="0" nodeType="click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wheel(1)">
                                      <p:cBhvr>
                                        <p:cTn id="172" dur="2000"/>
                                        <p:tgtEl>
                                          <p:spTgt spid="43"/>
                                        </p:tgtEl>
                                      </p:cBhvr>
                                    </p:animEffect>
                                  </p:childTnLst>
                                </p:cTn>
                              </p:par>
                            </p:childTnLst>
                          </p:cTn>
                        </p:par>
                      </p:childTnLst>
                    </p:cTn>
                  </p:par>
                  <p:par>
                    <p:cTn id="173" fill="hold">
                      <p:stCondLst>
                        <p:cond delay="indefinite"/>
                      </p:stCondLst>
                      <p:childTnLst>
                        <p:par>
                          <p:cTn id="174" fill="hold">
                            <p:stCondLst>
                              <p:cond delay="0"/>
                            </p:stCondLst>
                            <p:childTnLst>
                              <p:par>
                                <p:cTn id="175" presetID="21" presetClass="entr" presetSubtype="1" fill="hold" grpId="0" nodeType="clickEffect">
                                  <p:stCondLst>
                                    <p:cond delay="0"/>
                                  </p:stCondLst>
                                  <p:childTnLst>
                                    <p:set>
                                      <p:cBhvr>
                                        <p:cTn id="176" dur="1" fill="hold">
                                          <p:stCondLst>
                                            <p:cond delay="0"/>
                                          </p:stCondLst>
                                        </p:cTn>
                                        <p:tgtEl>
                                          <p:spTgt spid="44"/>
                                        </p:tgtEl>
                                        <p:attrNameLst>
                                          <p:attrName>style.visibility</p:attrName>
                                        </p:attrNameLst>
                                      </p:cBhvr>
                                      <p:to>
                                        <p:strVal val="visible"/>
                                      </p:to>
                                    </p:set>
                                    <p:animEffect transition="in" filter="wheel(1)">
                                      <p:cBhvr>
                                        <p:cTn id="177" dur="2000"/>
                                        <p:tgtEl>
                                          <p:spTgt spid="44"/>
                                        </p:tgtEl>
                                      </p:cBhvr>
                                    </p:animEffect>
                                  </p:childTnLst>
                                </p:cTn>
                              </p:par>
                            </p:childTnLst>
                          </p:cTn>
                        </p:par>
                      </p:childTnLst>
                    </p:cTn>
                  </p:par>
                  <p:par>
                    <p:cTn id="178" fill="hold">
                      <p:stCondLst>
                        <p:cond delay="indefinite"/>
                      </p:stCondLst>
                      <p:childTnLst>
                        <p:par>
                          <p:cTn id="179" fill="hold">
                            <p:stCondLst>
                              <p:cond delay="0"/>
                            </p:stCondLst>
                            <p:childTnLst>
                              <p:par>
                                <p:cTn id="180" presetID="21" presetClass="entr" presetSubtype="1" fill="hold" grpId="0" nodeType="clickEffect">
                                  <p:stCondLst>
                                    <p:cond delay="0"/>
                                  </p:stCondLst>
                                  <p:childTnLst>
                                    <p:set>
                                      <p:cBhvr>
                                        <p:cTn id="181" dur="1" fill="hold">
                                          <p:stCondLst>
                                            <p:cond delay="0"/>
                                          </p:stCondLst>
                                        </p:cTn>
                                        <p:tgtEl>
                                          <p:spTgt spid="52"/>
                                        </p:tgtEl>
                                        <p:attrNameLst>
                                          <p:attrName>style.visibility</p:attrName>
                                        </p:attrNameLst>
                                      </p:cBhvr>
                                      <p:to>
                                        <p:strVal val="visible"/>
                                      </p:to>
                                    </p:set>
                                    <p:animEffect transition="in" filter="wheel(1)">
                                      <p:cBhvr>
                                        <p:cTn id="182" dur="2000"/>
                                        <p:tgtEl>
                                          <p:spTgt spid="52"/>
                                        </p:tgtEl>
                                      </p:cBhvr>
                                    </p:animEffect>
                                  </p:childTnLst>
                                </p:cTn>
                              </p:par>
                            </p:childTnLst>
                          </p:cTn>
                        </p:par>
                      </p:childTnLst>
                    </p:cTn>
                  </p:par>
                  <p:par>
                    <p:cTn id="183" fill="hold">
                      <p:stCondLst>
                        <p:cond delay="indefinite"/>
                      </p:stCondLst>
                      <p:childTnLst>
                        <p:par>
                          <p:cTn id="184" fill="hold">
                            <p:stCondLst>
                              <p:cond delay="0"/>
                            </p:stCondLst>
                            <p:childTnLst>
                              <p:par>
                                <p:cTn id="185" presetID="21" presetClass="entr" presetSubtype="1" fill="hold" grpId="0" nodeType="clickEffect">
                                  <p:stCondLst>
                                    <p:cond delay="0"/>
                                  </p:stCondLst>
                                  <p:childTnLst>
                                    <p:set>
                                      <p:cBhvr>
                                        <p:cTn id="186" dur="1" fill="hold">
                                          <p:stCondLst>
                                            <p:cond delay="0"/>
                                          </p:stCondLst>
                                        </p:cTn>
                                        <p:tgtEl>
                                          <p:spTgt spid="45"/>
                                        </p:tgtEl>
                                        <p:attrNameLst>
                                          <p:attrName>style.visibility</p:attrName>
                                        </p:attrNameLst>
                                      </p:cBhvr>
                                      <p:to>
                                        <p:strVal val="visible"/>
                                      </p:to>
                                    </p:set>
                                    <p:animEffect transition="in" filter="wheel(1)">
                                      <p:cBhvr>
                                        <p:cTn id="187" dur="2000"/>
                                        <p:tgtEl>
                                          <p:spTgt spid="45"/>
                                        </p:tgtEl>
                                      </p:cBhvr>
                                    </p:animEffect>
                                  </p:childTnLst>
                                </p:cTn>
                              </p:par>
                            </p:childTnLst>
                          </p:cTn>
                        </p:par>
                      </p:childTnLst>
                    </p:cTn>
                  </p:par>
                  <p:par>
                    <p:cTn id="188" fill="hold">
                      <p:stCondLst>
                        <p:cond delay="indefinite"/>
                      </p:stCondLst>
                      <p:childTnLst>
                        <p:par>
                          <p:cTn id="189" fill="hold">
                            <p:stCondLst>
                              <p:cond delay="0"/>
                            </p:stCondLst>
                            <p:childTnLst>
                              <p:par>
                                <p:cTn id="190" presetID="21" presetClass="entr" presetSubtype="1" fill="hold" grpId="0" nodeType="clickEffect">
                                  <p:stCondLst>
                                    <p:cond delay="0"/>
                                  </p:stCondLst>
                                  <p:childTnLst>
                                    <p:set>
                                      <p:cBhvr>
                                        <p:cTn id="191" dur="1" fill="hold">
                                          <p:stCondLst>
                                            <p:cond delay="0"/>
                                          </p:stCondLst>
                                        </p:cTn>
                                        <p:tgtEl>
                                          <p:spTgt spid="53"/>
                                        </p:tgtEl>
                                        <p:attrNameLst>
                                          <p:attrName>style.visibility</p:attrName>
                                        </p:attrNameLst>
                                      </p:cBhvr>
                                      <p:to>
                                        <p:strVal val="visible"/>
                                      </p:to>
                                    </p:set>
                                    <p:animEffect transition="in" filter="wheel(1)">
                                      <p:cBhvr>
                                        <p:cTn id="192" dur="2000"/>
                                        <p:tgtEl>
                                          <p:spTgt spid="53"/>
                                        </p:tgtEl>
                                      </p:cBhvr>
                                    </p:animEffect>
                                  </p:childTnLst>
                                </p:cTn>
                              </p:par>
                            </p:childTnLst>
                          </p:cTn>
                        </p:par>
                      </p:childTnLst>
                    </p:cTn>
                  </p:par>
                  <p:par>
                    <p:cTn id="193" fill="hold">
                      <p:stCondLst>
                        <p:cond delay="indefinite"/>
                      </p:stCondLst>
                      <p:childTnLst>
                        <p:par>
                          <p:cTn id="194" fill="hold">
                            <p:stCondLst>
                              <p:cond delay="0"/>
                            </p:stCondLst>
                            <p:childTnLst>
                              <p:par>
                                <p:cTn id="195" presetID="21" presetClass="entr" presetSubtype="1" fill="hold" grpId="0" nodeType="clickEffect">
                                  <p:stCondLst>
                                    <p:cond delay="0"/>
                                  </p:stCondLst>
                                  <p:childTnLst>
                                    <p:set>
                                      <p:cBhvr>
                                        <p:cTn id="196" dur="1" fill="hold">
                                          <p:stCondLst>
                                            <p:cond delay="0"/>
                                          </p:stCondLst>
                                        </p:cTn>
                                        <p:tgtEl>
                                          <p:spTgt spid="54"/>
                                        </p:tgtEl>
                                        <p:attrNameLst>
                                          <p:attrName>style.visibility</p:attrName>
                                        </p:attrNameLst>
                                      </p:cBhvr>
                                      <p:to>
                                        <p:strVal val="visible"/>
                                      </p:to>
                                    </p:set>
                                    <p:animEffect transition="in" filter="wheel(1)">
                                      <p:cBhvr>
                                        <p:cTn id="197" dur="2000"/>
                                        <p:tgtEl>
                                          <p:spTgt spid="54"/>
                                        </p:tgtEl>
                                      </p:cBhvr>
                                    </p:animEffect>
                                  </p:childTnLst>
                                </p:cTn>
                              </p:par>
                            </p:childTnLst>
                          </p:cTn>
                        </p:par>
                      </p:childTnLst>
                    </p:cTn>
                  </p:par>
                  <p:par>
                    <p:cTn id="198" fill="hold">
                      <p:stCondLst>
                        <p:cond delay="indefinite"/>
                      </p:stCondLst>
                      <p:childTnLst>
                        <p:par>
                          <p:cTn id="199" fill="hold">
                            <p:stCondLst>
                              <p:cond delay="0"/>
                            </p:stCondLst>
                            <p:childTnLst>
                              <p:par>
                                <p:cTn id="200" presetID="21" presetClass="entr" presetSubtype="1" fill="hold" grpId="0" nodeType="clickEffect">
                                  <p:stCondLst>
                                    <p:cond delay="0"/>
                                  </p:stCondLst>
                                  <p:childTnLst>
                                    <p:set>
                                      <p:cBhvr>
                                        <p:cTn id="201" dur="1" fill="hold">
                                          <p:stCondLst>
                                            <p:cond delay="0"/>
                                          </p:stCondLst>
                                        </p:cTn>
                                        <p:tgtEl>
                                          <p:spTgt spid="49"/>
                                        </p:tgtEl>
                                        <p:attrNameLst>
                                          <p:attrName>style.visibility</p:attrName>
                                        </p:attrNameLst>
                                      </p:cBhvr>
                                      <p:to>
                                        <p:strVal val="visible"/>
                                      </p:to>
                                    </p:set>
                                    <p:animEffect transition="in" filter="wheel(1)">
                                      <p:cBhvr>
                                        <p:cTn id="202" dur="2000"/>
                                        <p:tgtEl>
                                          <p:spTgt spid="49"/>
                                        </p:tgtEl>
                                      </p:cBhvr>
                                    </p:animEffect>
                                  </p:childTnLst>
                                </p:cTn>
                              </p:par>
                            </p:childTnLst>
                          </p:cTn>
                        </p:par>
                      </p:childTnLst>
                    </p:cTn>
                  </p:par>
                  <p:par>
                    <p:cTn id="203" fill="hold">
                      <p:stCondLst>
                        <p:cond delay="indefinite"/>
                      </p:stCondLst>
                      <p:childTnLst>
                        <p:par>
                          <p:cTn id="204" fill="hold">
                            <p:stCondLst>
                              <p:cond delay="0"/>
                            </p:stCondLst>
                            <p:childTnLst>
                              <p:par>
                                <p:cTn id="205" presetID="21" presetClass="entr" presetSubtype="1" fill="hold" grpId="0" nodeType="clickEffect">
                                  <p:stCondLst>
                                    <p:cond delay="0"/>
                                  </p:stCondLst>
                                  <p:childTnLst>
                                    <p:set>
                                      <p:cBhvr>
                                        <p:cTn id="206" dur="1" fill="hold">
                                          <p:stCondLst>
                                            <p:cond delay="0"/>
                                          </p:stCondLst>
                                        </p:cTn>
                                        <p:tgtEl>
                                          <p:spTgt spid="46"/>
                                        </p:tgtEl>
                                        <p:attrNameLst>
                                          <p:attrName>style.visibility</p:attrName>
                                        </p:attrNameLst>
                                      </p:cBhvr>
                                      <p:to>
                                        <p:strVal val="visible"/>
                                      </p:to>
                                    </p:set>
                                    <p:animEffect transition="in" filter="wheel(1)">
                                      <p:cBhvr>
                                        <p:cTn id="207" dur="2000"/>
                                        <p:tgtEl>
                                          <p:spTgt spid="46"/>
                                        </p:tgtEl>
                                      </p:cBhvr>
                                    </p:animEffect>
                                  </p:childTnLst>
                                </p:cTn>
                              </p:par>
                            </p:childTnLst>
                          </p:cTn>
                        </p:par>
                      </p:childTnLst>
                    </p:cTn>
                  </p:par>
                  <p:par>
                    <p:cTn id="208" fill="hold">
                      <p:stCondLst>
                        <p:cond delay="indefinite"/>
                      </p:stCondLst>
                      <p:childTnLst>
                        <p:par>
                          <p:cTn id="209" fill="hold">
                            <p:stCondLst>
                              <p:cond delay="0"/>
                            </p:stCondLst>
                            <p:childTnLst>
                              <p:par>
                                <p:cTn id="210" presetID="21" presetClass="entr" presetSubtype="1" fill="hold" grpId="0" nodeType="clickEffect">
                                  <p:stCondLst>
                                    <p:cond delay="0"/>
                                  </p:stCondLst>
                                  <p:childTnLst>
                                    <p:set>
                                      <p:cBhvr>
                                        <p:cTn id="211" dur="1" fill="hold">
                                          <p:stCondLst>
                                            <p:cond delay="0"/>
                                          </p:stCondLst>
                                        </p:cTn>
                                        <p:tgtEl>
                                          <p:spTgt spid="42"/>
                                        </p:tgtEl>
                                        <p:attrNameLst>
                                          <p:attrName>style.visibility</p:attrName>
                                        </p:attrNameLst>
                                      </p:cBhvr>
                                      <p:to>
                                        <p:strVal val="visible"/>
                                      </p:to>
                                    </p:set>
                                    <p:animEffect transition="in" filter="wheel(1)">
                                      <p:cBhvr>
                                        <p:cTn id="212" dur="2000"/>
                                        <p:tgtEl>
                                          <p:spTgt spid="42"/>
                                        </p:tgtEl>
                                      </p:cBhvr>
                                    </p:animEffect>
                                  </p:childTnLst>
                                </p:cTn>
                              </p:par>
                            </p:childTnLst>
                          </p:cTn>
                        </p:par>
                      </p:childTnLst>
                    </p:cTn>
                  </p:par>
                  <p:par>
                    <p:cTn id="213" fill="hold">
                      <p:stCondLst>
                        <p:cond delay="indefinite"/>
                      </p:stCondLst>
                      <p:childTnLst>
                        <p:par>
                          <p:cTn id="214" fill="hold">
                            <p:stCondLst>
                              <p:cond delay="0"/>
                            </p:stCondLst>
                            <p:childTnLst>
                              <p:par>
                                <p:cTn id="215" presetID="21" presetClass="entr" presetSubtype="1" fill="hold" grpId="0" nodeType="clickEffect">
                                  <p:stCondLst>
                                    <p:cond delay="0"/>
                                  </p:stCondLst>
                                  <p:childTnLst>
                                    <p:set>
                                      <p:cBhvr>
                                        <p:cTn id="216" dur="1" fill="hold">
                                          <p:stCondLst>
                                            <p:cond delay="0"/>
                                          </p:stCondLst>
                                        </p:cTn>
                                        <p:tgtEl>
                                          <p:spTgt spid="38"/>
                                        </p:tgtEl>
                                        <p:attrNameLst>
                                          <p:attrName>style.visibility</p:attrName>
                                        </p:attrNameLst>
                                      </p:cBhvr>
                                      <p:to>
                                        <p:strVal val="visible"/>
                                      </p:to>
                                    </p:set>
                                    <p:animEffect transition="in" filter="wheel(1)">
                                      <p:cBhvr>
                                        <p:cTn id="217" dur="2000"/>
                                        <p:tgtEl>
                                          <p:spTgt spid="38"/>
                                        </p:tgtEl>
                                      </p:cBhvr>
                                    </p:animEffect>
                                  </p:childTnLst>
                                </p:cTn>
                              </p:par>
                            </p:childTnLst>
                          </p:cTn>
                        </p:par>
                      </p:childTnLst>
                    </p:cTn>
                  </p:par>
                  <p:par>
                    <p:cTn id="218" fill="hold">
                      <p:stCondLst>
                        <p:cond delay="indefinite"/>
                      </p:stCondLst>
                      <p:childTnLst>
                        <p:par>
                          <p:cTn id="219" fill="hold">
                            <p:stCondLst>
                              <p:cond delay="0"/>
                            </p:stCondLst>
                            <p:childTnLst>
                              <p:par>
                                <p:cTn id="220" presetID="21" presetClass="entr" presetSubtype="1" fill="hold" grpId="0" nodeType="clickEffect">
                                  <p:stCondLst>
                                    <p:cond delay="0"/>
                                  </p:stCondLst>
                                  <p:childTnLst>
                                    <p:set>
                                      <p:cBhvr>
                                        <p:cTn id="221" dur="1" fill="hold">
                                          <p:stCondLst>
                                            <p:cond delay="0"/>
                                          </p:stCondLst>
                                        </p:cTn>
                                        <p:tgtEl>
                                          <p:spTgt spid="66"/>
                                        </p:tgtEl>
                                        <p:attrNameLst>
                                          <p:attrName>style.visibility</p:attrName>
                                        </p:attrNameLst>
                                      </p:cBhvr>
                                      <p:to>
                                        <p:strVal val="visible"/>
                                      </p:to>
                                    </p:set>
                                    <p:animEffect transition="in" filter="wheel(1)">
                                      <p:cBhvr>
                                        <p:cTn id="222" dur="2000"/>
                                        <p:tgtEl>
                                          <p:spTgt spid="66"/>
                                        </p:tgtEl>
                                      </p:cBhvr>
                                    </p:animEffect>
                                  </p:childTnLst>
                                </p:cTn>
                              </p:par>
                            </p:childTnLst>
                          </p:cTn>
                        </p:par>
                      </p:childTnLst>
                    </p:cTn>
                  </p:par>
                  <p:par>
                    <p:cTn id="223" fill="hold">
                      <p:stCondLst>
                        <p:cond delay="indefinite"/>
                      </p:stCondLst>
                      <p:childTnLst>
                        <p:par>
                          <p:cTn id="224" fill="hold">
                            <p:stCondLst>
                              <p:cond delay="0"/>
                            </p:stCondLst>
                            <p:childTnLst>
                              <p:par>
                                <p:cTn id="225" presetID="21" presetClass="entr" presetSubtype="1" fill="hold" grpId="0" nodeType="clickEffect">
                                  <p:stCondLst>
                                    <p:cond delay="0"/>
                                  </p:stCondLst>
                                  <p:childTnLst>
                                    <p:set>
                                      <p:cBhvr>
                                        <p:cTn id="226" dur="1" fill="hold">
                                          <p:stCondLst>
                                            <p:cond delay="0"/>
                                          </p:stCondLst>
                                        </p:cTn>
                                        <p:tgtEl>
                                          <p:spTgt spid="67"/>
                                        </p:tgtEl>
                                        <p:attrNameLst>
                                          <p:attrName>style.visibility</p:attrName>
                                        </p:attrNameLst>
                                      </p:cBhvr>
                                      <p:to>
                                        <p:strVal val="visible"/>
                                      </p:to>
                                    </p:set>
                                    <p:animEffect transition="in" filter="wheel(1)">
                                      <p:cBhvr>
                                        <p:cTn id="227" dur="2000"/>
                                        <p:tgtEl>
                                          <p:spTgt spid="67"/>
                                        </p:tgtEl>
                                      </p:cBhvr>
                                    </p:animEffect>
                                  </p:childTnLst>
                                </p:cTn>
                              </p:par>
                            </p:childTnLst>
                          </p:cTn>
                        </p:par>
                      </p:childTnLst>
                    </p:cTn>
                  </p:par>
                  <p:par>
                    <p:cTn id="228" fill="hold">
                      <p:stCondLst>
                        <p:cond delay="indefinite"/>
                      </p:stCondLst>
                      <p:childTnLst>
                        <p:par>
                          <p:cTn id="229" fill="hold">
                            <p:stCondLst>
                              <p:cond delay="0"/>
                            </p:stCondLst>
                            <p:childTnLst>
                              <p:par>
                                <p:cTn id="230" presetID="21" presetClass="entr" presetSubtype="1" fill="hold" grpId="0" nodeType="clickEffect">
                                  <p:stCondLst>
                                    <p:cond delay="0"/>
                                  </p:stCondLst>
                                  <p:childTnLst>
                                    <p:set>
                                      <p:cBhvr>
                                        <p:cTn id="231" dur="1" fill="hold">
                                          <p:stCondLst>
                                            <p:cond delay="0"/>
                                          </p:stCondLst>
                                        </p:cTn>
                                        <p:tgtEl>
                                          <p:spTgt spid="68"/>
                                        </p:tgtEl>
                                        <p:attrNameLst>
                                          <p:attrName>style.visibility</p:attrName>
                                        </p:attrNameLst>
                                      </p:cBhvr>
                                      <p:to>
                                        <p:strVal val="visible"/>
                                      </p:to>
                                    </p:set>
                                    <p:animEffect transition="in" filter="wheel(1)">
                                      <p:cBhvr>
                                        <p:cTn id="232" dur="2000"/>
                                        <p:tgtEl>
                                          <p:spTgt spid="68"/>
                                        </p:tgtEl>
                                      </p:cBhvr>
                                    </p:animEffect>
                                  </p:childTnLst>
                                </p:cTn>
                              </p:par>
                            </p:childTnLst>
                          </p:cTn>
                        </p:par>
                      </p:childTnLst>
                    </p:cTn>
                  </p:par>
                  <p:par>
                    <p:cTn id="233" fill="hold">
                      <p:stCondLst>
                        <p:cond delay="indefinite"/>
                      </p:stCondLst>
                      <p:childTnLst>
                        <p:par>
                          <p:cTn id="234" fill="hold">
                            <p:stCondLst>
                              <p:cond delay="0"/>
                            </p:stCondLst>
                            <p:childTnLst>
                              <p:par>
                                <p:cTn id="235" presetID="21" presetClass="entr" presetSubtype="1" fill="hold" grpId="0" nodeType="clickEffect">
                                  <p:stCondLst>
                                    <p:cond delay="0"/>
                                  </p:stCondLst>
                                  <p:childTnLst>
                                    <p:set>
                                      <p:cBhvr>
                                        <p:cTn id="236" dur="1" fill="hold">
                                          <p:stCondLst>
                                            <p:cond delay="0"/>
                                          </p:stCondLst>
                                        </p:cTn>
                                        <p:tgtEl>
                                          <p:spTgt spid="69"/>
                                        </p:tgtEl>
                                        <p:attrNameLst>
                                          <p:attrName>style.visibility</p:attrName>
                                        </p:attrNameLst>
                                      </p:cBhvr>
                                      <p:to>
                                        <p:strVal val="visible"/>
                                      </p:to>
                                    </p:set>
                                    <p:animEffect transition="in" filter="wheel(1)">
                                      <p:cBhvr>
                                        <p:cTn id="237" dur="2000"/>
                                        <p:tgtEl>
                                          <p:spTgt spid="69"/>
                                        </p:tgtEl>
                                      </p:cBhvr>
                                    </p:animEffect>
                                  </p:childTnLst>
                                </p:cTn>
                              </p:par>
                            </p:childTnLst>
                          </p:cTn>
                        </p:par>
                      </p:childTnLst>
                    </p:cTn>
                  </p:par>
                  <p:par>
                    <p:cTn id="238" fill="hold">
                      <p:stCondLst>
                        <p:cond delay="indefinite"/>
                      </p:stCondLst>
                      <p:childTnLst>
                        <p:par>
                          <p:cTn id="239" fill="hold">
                            <p:stCondLst>
                              <p:cond delay="0"/>
                            </p:stCondLst>
                            <p:childTnLst>
                              <p:par>
                                <p:cTn id="240" presetID="21" presetClass="entr" presetSubtype="1" fill="hold" grpId="0" nodeType="clickEffect">
                                  <p:stCondLst>
                                    <p:cond delay="0"/>
                                  </p:stCondLst>
                                  <p:childTnLst>
                                    <p:set>
                                      <p:cBhvr>
                                        <p:cTn id="241" dur="1" fill="hold">
                                          <p:stCondLst>
                                            <p:cond delay="0"/>
                                          </p:stCondLst>
                                        </p:cTn>
                                        <p:tgtEl>
                                          <p:spTgt spid="47"/>
                                        </p:tgtEl>
                                        <p:attrNameLst>
                                          <p:attrName>style.visibility</p:attrName>
                                        </p:attrNameLst>
                                      </p:cBhvr>
                                      <p:to>
                                        <p:strVal val="visible"/>
                                      </p:to>
                                    </p:set>
                                    <p:animEffect transition="in" filter="wheel(1)">
                                      <p:cBhvr>
                                        <p:cTn id="242" dur="2000"/>
                                        <p:tgtEl>
                                          <p:spTgt spid="47"/>
                                        </p:tgtEl>
                                      </p:cBhvr>
                                    </p:animEffect>
                                  </p:childTnLst>
                                </p:cTn>
                              </p:par>
                            </p:childTnLst>
                          </p:cTn>
                        </p:par>
                      </p:childTnLst>
                    </p:cTn>
                  </p:par>
                  <p:par>
                    <p:cTn id="243" fill="hold">
                      <p:stCondLst>
                        <p:cond delay="indefinite"/>
                      </p:stCondLst>
                      <p:childTnLst>
                        <p:par>
                          <p:cTn id="244" fill="hold">
                            <p:stCondLst>
                              <p:cond delay="0"/>
                            </p:stCondLst>
                            <p:childTnLst>
                              <p:par>
                                <p:cTn id="245" presetID="21" presetClass="entr" presetSubtype="1" fill="hold" grpId="0" nodeType="clickEffect">
                                  <p:stCondLst>
                                    <p:cond delay="0"/>
                                  </p:stCondLst>
                                  <p:childTnLst>
                                    <p:set>
                                      <p:cBhvr>
                                        <p:cTn id="246" dur="1" fill="hold">
                                          <p:stCondLst>
                                            <p:cond delay="0"/>
                                          </p:stCondLst>
                                        </p:cTn>
                                        <p:tgtEl>
                                          <p:spTgt spid="40"/>
                                        </p:tgtEl>
                                        <p:attrNameLst>
                                          <p:attrName>style.visibility</p:attrName>
                                        </p:attrNameLst>
                                      </p:cBhvr>
                                      <p:to>
                                        <p:strVal val="visible"/>
                                      </p:to>
                                    </p:set>
                                    <p:animEffect transition="in" filter="wheel(1)">
                                      <p:cBhvr>
                                        <p:cTn id="247" dur="2000"/>
                                        <p:tgtEl>
                                          <p:spTgt spid="40"/>
                                        </p:tgtEl>
                                      </p:cBhvr>
                                    </p:animEffect>
                                  </p:childTnLst>
                                </p:cTn>
                              </p:par>
                            </p:childTnLst>
                          </p:cTn>
                        </p:par>
                      </p:childTnLst>
                    </p:cTn>
                  </p:par>
                  <p:par>
                    <p:cTn id="248" fill="hold">
                      <p:stCondLst>
                        <p:cond delay="indefinite"/>
                      </p:stCondLst>
                      <p:childTnLst>
                        <p:par>
                          <p:cTn id="249" fill="hold">
                            <p:stCondLst>
                              <p:cond delay="0"/>
                            </p:stCondLst>
                            <p:childTnLst>
                              <p:par>
                                <p:cTn id="250" presetID="21" presetClass="entr" presetSubtype="1" fill="hold" grpId="0" nodeType="clickEffect">
                                  <p:stCondLst>
                                    <p:cond delay="0"/>
                                  </p:stCondLst>
                                  <p:childTnLst>
                                    <p:set>
                                      <p:cBhvr>
                                        <p:cTn id="251" dur="1" fill="hold">
                                          <p:stCondLst>
                                            <p:cond delay="0"/>
                                          </p:stCondLst>
                                        </p:cTn>
                                        <p:tgtEl>
                                          <p:spTgt spid="58"/>
                                        </p:tgtEl>
                                        <p:attrNameLst>
                                          <p:attrName>style.visibility</p:attrName>
                                        </p:attrNameLst>
                                      </p:cBhvr>
                                      <p:to>
                                        <p:strVal val="visible"/>
                                      </p:to>
                                    </p:set>
                                    <p:animEffect transition="in" filter="wheel(1)">
                                      <p:cBhvr>
                                        <p:cTn id="252" dur="2000"/>
                                        <p:tgtEl>
                                          <p:spTgt spid="58"/>
                                        </p:tgtEl>
                                      </p:cBhvr>
                                    </p:animEffect>
                                  </p:childTnLst>
                                </p:cTn>
                              </p:par>
                            </p:childTnLst>
                          </p:cTn>
                        </p:par>
                      </p:childTnLst>
                    </p:cTn>
                  </p:par>
                  <p:par>
                    <p:cTn id="253" fill="hold">
                      <p:stCondLst>
                        <p:cond delay="indefinite"/>
                      </p:stCondLst>
                      <p:childTnLst>
                        <p:par>
                          <p:cTn id="254" fill="hold">
                            <p:stCondLst>
                              <p:cond delay="0"/>
                            </p:stCondLst>
                            <p:childTnLst>
                              <p:par>
                                <p:cTn id="255" presetID="21" presetClass="entr" presetSubtype="1" fill="hold" grpId="0" nodeType="clickEffect">
                                  <p:stCondLst>
                                    <p:cond delay="0"/>
                                  </p:stCondLst>
                                  <p:childTnLst>
                                    <p:set>
                                      <p:cBhvr>
                                        <p:cTn id="256" dur="1" fill="hold">
                                          <p:stCondLst>
                                            <p:cond delay="0"/>
                                          </p:stCondLst>
                                        </p:cTn>
                                        <p:tgtEl>
                                          <p:spTgt spid="50"/>
                                        </p:tgtEl>
                                        <p:attrNameLst>
                                          <p:attrName>style.visibility</p:attrName>
                                        </p:attrNameLst>
                                      </p:cBhvr>
                                      <p:to>
                                        <p:strVal val="visible"/>
                                      </p:to>
                                    </p:set>
                                    <p:animEffect transition="in" filter="wheel(1)">
                                      <p:cBhvr>
                                        <p:cTn id="257" dur="2000"/>
                                        <p:tgtEl>
                                          <p:spTgt spid="50"/>
                                        </p:tgtEl>
                                      </p:cBhvr>
                                    </p:animEffect>
                                  </p:childTnLst>
                                </p:cTn>
                              </p:par>
                            </p:childTnLst>
                          </p:cTn>
                        </p:par>
                      </p:childTnLst>
                    </p:cTn>
                  </p:par>
                  <p:par>
                    <p:cTn id="258" fill="hold">
                      <p:stCondLst>
                        <p:cond delay="indefinite"/>
                      </p:stCondLst>
                      <p:childTnLst>
                        <p:par>
                          <p:cTn id="259" fill="hold">
                            <p:stCondLst>
                              <p:cond delay="0"/>
                            </p:stCondLst>
                            <p:childTnLst>
                              <p:par>
                                <p:cTn id="260" presetID="21" presetClass="entr" presetSubtype="1" fill="hold" grpId="0" nodeType="clickEffect">
                                  <p:stCondLst>
                                    <p:cond delay="0"/>
                                  </p:stCondLst>
                                  <p:childTnLst>
                                    <p:set>
                                      <p:cBhvr>
                                        <p:cTn id="261" dur="1" fill="hold">
                                          <p:stCondLst>
                                            <p:cond delay="0"/>
                                          </p:stCondLst>
                                        </p:cTn>
                                        <p:tgtEl>
                                          <p:spTgt spid="51"/>
                                        </p:tgtEl>
                                        <p:attrNameLst>
                                          <p:attrName>style.visibility</p:attrName>
                                        </p:attrNameLst>
                                      </p:cBhvr>
                                      <p:to>
                                        <p:strVal val="visible"/>
                                      </p:to>
                                    </p:set>
                                    <p:animEffect transition="in" filter="wheel(1)">
                                      <p:cBhvr>
                                        <p:cTn id="262" dur="2000"/>
                                        <p:tgtEl>
                                          <p:spTgt spid="51"/>
                                        </p:tgtEl>
                                      </p:cBhvr>
                                    </p:animEffect>
                                  </p:childTnLst>
                                </p:cTn>
                              </p:par>
                            </p:childTnLst>
                          </p:cTn>
                        </p:par>
                      </p:childTnLst>
                    </p:cTn>
                  </p:par>
                  <p:par>
                    <p:cTn id="263" fill="hold">
                      <p:stCondLst>
                        <p:cond delay="indefinite"/>
                      </p:stCondLst>
                      <p:childTnLst>
                        <p:par>
                          <p:cTn id="264" fill="hold">
                            <p:stCondLst>
                              <p:cond delay="0"/>
                            </p:stCondLst>
                            <p:childTnLst>
                              <p:par>
                                <p:cTn id="265" presetID="21" presetClass="entr" presetSubtype="1" fill="hold" grpId="0" nodeType="clickEffect">
                                  <p:stCondLst>
                                    <p:cond delay="0"/>
                                  </p:stCondLst>
                                  <p:childTnLst>
                                    <p:set>
                                      <p:cBhvr>
                                        <p:cTn id="266" dur="1" fill="hold">
                                          <p:stCondLst>
                                            <p:cond delay="0"/>
                                          </p:stCondLst>
                                        </p:cTn>
                                        <p:tgtEl>
                                          <p:spTgt spid="70"/>
                                        </p:tgtEl>
                                        <p:attrNameLst>
                                          <p:attrName>style.visibility</p:attrName>
                                        </p:attrNameLst>
                                      </p:cBhvr>
                                      <p:to>
                                        <p:strVal val="visible"/>
                                      </p:to>
                                    </p:set>
                                    <p:animEffect transition="in" filter="wheel(1)">
                                      <p:cBhvr>
                                        <p:cTn id="267" dur="2000"/>
                                        <p:tgtEl>
                                          <p:spTgt spid="70"/>
                                        </p:tgtEl>
                                      </p:cBhvr>
                                    </p:animEffect>
                                  </p:childTnLst>
                                </p:cTn>
                              </p:par>
                            </p:childTnLst>
                          </p:cTn>
                        </p:par>
                      </p:childTnLst>
                    </p:cTn>
                  </p:par>
                  <p:par>
                    <p:cTn id="268" fill="hold">
                      <p:stCondLst>
                        <p:cond delay="indefinite"/>
                      </p:stCondLst>
                      <p:childTnLst>
                        <p:par>
                          <p:cTn id="269" fill="hold">
                            <p:stCondLst>
                              <p:cond delay="0"/>
                            </p:stCondLst>
                            <p:childTnLst>
                              <p:par>
                                <p:cTn id="270" presetID="21" presetClass="entr" presetSubtype="1" fill="hold" grpId="0" nodeType="clickEffect">
                                  <p:stCondLst>
                                    <p:cond delay="0"/>
                                  </p:stCondLst>
                                  <p:childTnLst>
                                    <p:set>
                                      <p:cBhvr>
                                        <p:cTn id="271" dur="1" fill="hold">
                                          <p:stCondLst>
                                            <p:cond delay="0"/>
                                          </p:stCondLst>
                                        </p:cTn>
                                        <p:tgtEl>
                                          <p:spTgt spid="55"/>
                                        </p:tgtEl>
                                        <p:attrNameLst>
                                          <p:attrName>style.visibility</p:attrName>
                                        </p:attrNameLst>
                                      </p:cBhvr>
                                      <p:to>
                                        <p:strVal val="visible"/>
                                      </p:to>
                                    </p:set>
                                    <p:animEffect transition="in" filter="wheel(1)">
                                      <p:cBhvr>
                                        <p:cTn id="272" dur="2000"/>
                                        <p:tgtEl>
                                          <p:spTgt spid="55"/>
                                        </p:tgtEl>
                                      </p:cBhvr>
                                    </p:animEffect>
                                  </p:childTnLst>
                                </p:cTn>
                              </p:par>
                            </p:childTnLst>
                          </p:cTn>
                        </p:par>
                      </p:childTnLst>
                    </p:cTn>
                  </p:par>
                  <p:par>
                    <p:cTn id="273" fill="hold">
                      <p:stCondLst>
                        <p:cond delay="indefinite"/>
                      </p:stCondLst>
                      <p:childTnLst>
                        <p:par>
                          <p:cTn id="274" fill="hold">
                            <p:stCondLst>
                              <p:cond delay="0"/>
                            </p:stCondLst>
                            <p:childTnLst>
                              <p:par>
                                <p:cTn id="275" presetID="21" presetClass="entr" presetSubtype="1" fill="hold" grpId="0" nodeType="clickEffect">
                                  <p:stCondLst>
                                    <p:cond delay="0"/>
                                  </p:stCondLst>
                                  <p:childTnLst>
                                    <p:set>
                                      <p:cBhvr>
                                        <p:cTn id="276" dur="1" fill="hold">
                                          <p:stCondLst>
                                            <p:cond delay="0"/>
                                          </p:stCondLst>
                                        </p:cTn>
                                        <p:tgtEl>
                                          <p:spTgt spid="59"/>
                                        </p:tgtEl>
                                        <p:attrNameLst>
                                          <p:attrName>style.visibility</p:attrName>
                                        </p:attrNameLst>
                                      </p:cBhvr>
                                      <p:to>
                                        <p:strVal val="visible"/>
                                      </p:to>
                                    </p:set>
                                    <p:animEffect transition="in" filter="wheel(1)">
                                      <p:cBhvr>
                                        <p:cTn id="277" dur="2000"/>
                                        <p:tgtEl>
                                          <p:spTgt spid="59"/>
                                        </p:tgtEl>
                                      </p:cBhvr>
                                    </p:animEffect>
                                  </p:childTnLst>
                                </p:cTn>
                              </p:par>
                            </p:childTnLst>
                          </p:cTn>
                        </p:par>
                      </p:childTnLst>
                    </p:cTn>
                  </p:par>
                  <p:par>
                    <p:cTn id="278" fill="hold">
                      <p:stCondLst>
                        <p:cond delay="indefinite"/>
                      </p:stCondLst>
                      <p:childTnLst>
                        <p:par>
                          <p:cTn id="279" fill="hold">
                            <p:stCondLst>
                              <p:cond delay="0"/>
                            </p:stCondLst>
                            <p:childTnLst>
                              <p:par>
                                <p:cTn id="280" presetID="21" presetClass="entr" presetSubtype="1" fill="hold" grpId="0" nodeType="clickEffect">
                                  <p:stCondLst>
                                    <p:cond delay="0"/>
                                  </p:stCondLst>
                                  <p:childTnLst>
                                    <p:set>
                                      <p:cBhvr>
                                        <p:cTn id="281" dur="1" fill="hold">
                                          <p:stCondLst>
                                            <p:cond delay="0"/>
                                          </p:stCondLst>
                                        </p:cTn>
                                        <p:tgtEl>
                                          <p:spTgt spid="56"/>
                                        </p:tgtEl>
                                        <p:attrNameLst>
                                          <p:attrName>style.visibility</p:attrName>
                                        </p:attrNameLst>
                                      </p:cBhvr>
                                      <p:to>
                                        <p:strVal val="visible"/>
                                      </p:to>
                                    </p:set>
                                    <p:animEffect transition="in" filter="wheel(1)">
                                      <p:cBhvr>
                                        <p:cTn id="282" dur="2000"/>
                                        <p:tgtEl>
                                          <p:spTgt spid="56"/>
                                        </p:tgtEl>
                                      </p:cBhvr>
                                    </p:animEffect>
                                  </p:childTnLst>
                                </p:cTn>
                              </p:par>
                            </p:childTnLst>
                          </p:cTn>
                        </p:par>
                      </p:childTnLst>
                    </p:cTn>
                  </p:par>
                  <p:par>
                    <p:cTn id="283" fill="hold">
                      <p:stCondLst>
                        <p:cond delay="indefinite"/>
                      </p:stCondLst>
                      <p:childTnLst>
                        <p:par>
                          <p:cTn id="284" fill="hold">
                            <p:stCondLst>
                              <p:cond delay="0"/>
                            </p:stCondLst>
                            <p:childTnLst>
                              <p:par>
                                <p:cTn id="285" presetID="21" presetClass="entr" presetSubtype="1" fill="hold" grpId="0" nodeType="clickEffect">
                                  <p:stCondLst>
                                    <p:cond delay="0"/>
                                  </p:stCondLst>
                                  <p:childTnLst>
                                    <p:set>
                                      <p:cBhvr>
                                        <p:cTn id="286" dur="1" fill="hold">
                                          <p:stCondLst>
                                            <p:cond delay="0"/>
                                          </p:stCondLst>
                                        </p:cTn>
                                        <p:tgtEl>
                                          <p:spTgt spid="57"/>
                                        </p:tgtEl>
                                        <p:attrNameLst>
                                          <p:attrName>style.visibility</p:attrName>
                                        </p:attrNameLst>
                                      </p:cBhvr>
                                      <p:to>
                                        <p:strVal val="visible"/>
                                      </p:to>
                                    </p:set>
                                    <p:animEffect transition="in" filter="wheel(1)">
                                      <p:cBhvr>
                                        <p:cTn id="287" dur="2000"/>
                                        <p:tgtEl>
                                          <p:spTgt spid="57"/>
                                        </p:tgtEl>
                                      </p:cBhvr>
                                    </p:animEffect>
                                  </p:childTnLst>
                                </p:cTn>
                              </p:par>
                            </p:childTnLst>
                          </p:cTn>
                        </p:par>
                      </p:childTnLst>
                    </p:cTn>
                  </p:par>
                  <p:par>
                    <p:cTn id="288" fill="hold">
                      <p:stCondLst>
                        <p:cond delay="indefinite"/>
                      </p:stCondLst>
                      <p:childTnLst>
                        <p:par>
                          <p:cTn id="289" fill="hold">
                            <p:stCondLst>
                              <p:cond delay="0"/>
                            </p:stCondLst>
                            <p:childTnLst>
                              <p:par>
                                <p:cTn id="290" presetID="21" presetClass="entr" presetSubtype="1" fill="hold" grpId="0" nodeType="clickEffect">
                                  <p:stCondLst>
                                    <p:cond delay="0"/>
                                  </p:stCondLst>
                                  <p:childTnLst>
                                    <p:set>
                                      <p:cBhvr>
                                        <p:cTn id="291" dur="1" fill="hold">
                                          <p:stCondLst>
                                            <p:cond delay="0"/>
                                          </p:stCondLst>
                                        </p:cTn>
                                        <p:tgtEl>
                                          <p:spTgt spid="48"/>
                                        </p:tgtEl>
                                        <p:attrNameLst>
                                          <p:attrName>style.visibility</p:attrName>
                                        </p:attrNameLst>
                                      </p:cBhvr>
                                      <p:to>
                                        <p:strVal val="visible"/>
                                      </p:to>
                                    </p:set>
                                    <p:animEffect transition="in" filter="wheel(1)">
                                      <p:cBhvr>
                                        <p:cTn id="292" dur="2000"/>
                                        <p:tgtEl>
                                          <p:spTgt spid="48"/>
                                        </p:tgtEl>
                                      </p:cBhvr>
                                    </p:animEffect>
                                  </p:childTnLst>
                                </p:cTn>
                              </p:par>
                            </p:childTnLst>
                          </p:cTn>
                        </p:par>
                      </p:childTnLst>
                    </p:cTn>
                  </p:par>
                  <p:par>
                    <p:cTn id="293" fill="hold">
                      <p:stCondLst>
                        <p:cond delay="indefinite"/>
                      </p:stCondLst>
                      <p:childTnLst>
                        <p:par>
                          <p:cTn id="294" fill="hold">
                            <p:stCondLst>
                              <p:cond delay="0"/>
                            </p:stCondLst>
                            <p:childTnLst>
                              <p:par>
                                <p:cTn id="295" presetID="21" presetClass="entr" presetSubtype="1" fill="hold" grpId="0" nodeType="clickEffect">
                                  <p:stCondLst>
                                    <p:cond delay="0"/>
                                  </p:stCondLst>
                                  <p:childTnLst>
                                    <p:set>
                                      <p:cBhvr>
                                        <p:cTn id="296" dur="1" fill="hold">
                                          <p:stCondLst>
                                            <p:cond delay="0"/>
                                          </p:stCondLst>
                                        </p:cTn>
                                        <p:tgtEl>
                                          <p:spTgt spid="61"/>
                                        </p:tgtEl>
                                        <p:attrNameLst>
                                          <p:attrName>style.visibility</p:attrName>
                                        </p:attrNameLst>
                                      </p:cBhvr>
                                      <p:to>
                                        <p:strVal val="visible"/>
                                      </p:to>
                                    </p:set>
                                    <p:animEffect transition="in" filter="wheel(1)">
                                      <p:cBhvr>
                                        <p:cTn id="297" dur="2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5" grpId="0" animBg="1"/>
      <p:bldP spid="16"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1"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1410734" y="459817"/>
            <a:ext cx="13142422" cy="1191665"/>
          </a:xfrm>
        </p:spPr>
        <p:txBody>
          <a:bodyPr>
            <a:normAutofit/>
          </a:bodyPr>
          <a:lstStyle/>
          <a:p>
            <a:r>
              <a:rPr lang="en-US" sz="7200" b="1" dirty="0">
                <a:solidFill>
                  <a:srgbClr val="0070C0"/>
                </a:solidFill>
              </a:rPr>
              <a:t>Thanks for attending….</a:t>
            </a:r>
          </a:p>
        </p:txBody>
      </p:sp>
      <p:grpSp>
        <p:nvGrpSpPr>
          <p:cNvPr id="5" name="Group 6"/>
          <p:cNvGrpSpPr>
            <a:grpSpLocks/>
          </p:cNvGrpSpPr>
          <p:nvPr/>
        </p:nvGrpSpPr>
        <p:grpSpPr bwMode="auto">
          <a:xfrm>
            <a:off x="7398324" y="1197030"/>
            <a:ext cx="7015943" cy="6350923"/>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00"/>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520" kern="10" dirty="0">
                  <a:ln w="9525">
                    <a:solidFill>
                      <a:schemeClr val="accent5">
                        <a:lumMod val="75000"/>
                      </a:schemeClr>
                    </a:solidFill>
                    <a:round/>
                    <a:headEnd/>
                    <a:tailEnd/>
                  </a:ln>
                  <a:solidFill>
                    <a:srgbClr val="00B050"/>
                  </a:solidFill>
                  <a:latin typeface="Arial Black"/>
                </a:rPr>
                <a:t>?</a:t>
              </a:r>
            </a:p>
          </p:txBody>
        </p:sp>
      </p:grpSp>
      <p:sp>
        <p:nvSpPr>
          <p:cNvPr id="3" name="Date Placeholder 2"/>
          <p:cNvSpPr>
            <a:spLocks noGrp="1"/>
          </p:cNvSpPr>
          <p:nvPr>
            <p:ph type="dt" sz="half" idx="10"/>
          </p:nvPr>
        </p:nvSpPr>
        <p:spPr/>
        <p:txBody>
          <a:bodyPr/>
          <a:lstStyle/>
          <a:p>
            <a:fld id="{2A4D9F75-2E19-4EAC-A280-B185770FAACD}" type="datetime3">
              <a:rPr lang="en-US" smtClean="0"/>
              <a:t>24 December 2025</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40</a:t>
            </a:fld>
            <a:endParaRPr lang="en-US" dirty="0"/>
          </a:p>
        </p:txBody>
      </p:sp>
    </p:spTree>
    <p:extLst>
      <p:ext uri="{BB962C8B-B14F-4D97-AF65-F5344CB8AC3E}">
        <p14:creationId xmlns:p14="http://schemas.microsoft.com/office/powerpoint/2010/main" val="4787532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9" ma:contentTypeDescription="Create a new document." ma:contentTypeScope="" ma:versionID="20527a1f5442c6bf5a990be0ad4f6701">
  <xsd:schema xmlns:xsd="http://www.w3.org/2001/XMLSchema" xmlns:xs="http://www.w3.org/2001/XMLSchema" xmlns:p="http://schemas.microsoft.com/office/2006/metadata/properties" xmlns:ns2="f05aa4fc-6785-42fa-879e-4fefad1725f6" targetNamespace="http://schemas.microsoft.com/office/2006/metadata/properties" ma:root="true" ma:fieldsID="e3de2bbdc668caace9de9a704c17ecd5" ns2:_="">
    <xsd:import namespace="f05aa4fc-6785-42fa-879e-4fefad1725f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5aa4fc-6785-42fa-879e-4fefad1725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A4027F-3D24-4D53-BFC9-3C8233FBA003}">
  <ds:schemaRefs>
    <ds:schemaRef ds:uri="http://schemas.microsoft.com/sharepoint/v3/contenttype/forms"/>
  </ds:schemaRefs>
</ds:datastoreItem>
</file>

<file path=customXml/itemProps2.xml><?xml version="1.0" encoding="utf-8"?>
<ds:datastoreItem xmlns:ds="http://schemas.openxmlformats.org/officeDocument/2006/customXml" ds:itemID="{B5129C82-F178-4287-9D4C-6097486300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5aa4fc-6785-42fa-879e-4fefad1725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358E20A-3CCF-4936-A030-6C75490658A6}">
  <ds:schemaRefs>
    <ds:schemaRef ds:uri="http://purl.org/dc/elements/1.1/"/>
    <ds:schemaRef ds:uri="http://purl.org/dc/dcmitype/"/>
    <ds:schemaRef ds:uri="http://schemas.openxmlformats.org/package/2006/metadata/core-properties"/>
    <ds:schemaRef ds:uri="http://purl.org/dc/terms/"/>
    <ds:schemaRef ds:uri="f05aa4fc-6785-42fa-879e-4fefad1725f6"/>
    <ds:schemaRef ds:uri="http://www.w3.org/XML/1998/namespace"/>
    <ds:schemaRef ds:uri="http://schemas.microsoft.com/office/2006/documentManagement/types"/>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10113</TotalTime>
  <Words>4383</Words>
  <Application>Microsoft Office PowerPoint</Application>
  <PresentationFormat>Custom</PresentationFormat>
  <Paragraphs>711</Paragraphs>
  <Slides>40</Slides>
  <Notes>11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51" baseType="lpstr">
      <vt:lpstr>Arial</vt:lpstr>
      <vt:lpstr>Arial Black</vt:lpstr>
      <vt:lpstr>Calibri</vt:lpstr>
      <vt:lpstr>Calibri Light</vt:lpstr>
      <vt:lpstr>Cambria Math</vt:lpstr>
      <vt:lpstr>Segoe UI</vt:lpstr>
      <vt:lpstr>times new roman</vt:lpstr>
      <vt:lpstr>times new roman</vt:lpstr>
      <vt:lpstr>Wingdings</vt:lpstr>
      <vt:lpstr>Office Theme</vt:lpstr>
      <vt:lpstr>Visio</vt:lpstr>
      <vt:lpstr>Lecture # 3 (Final) Processor Logic Design (1st Part) ALU Design</vt:lpstr>
      <vt:lpstr>Introduction</vt:lpstr>
      <vt:lpstr>Bus Organization</vt:lpstr>
      <vt:lpstr>Bus Organization</vt:lpstr>
      <vt:lpstr>Bus Organization</vt:lpstr>
      <vt:lpstr>Bus Organization</vt:lpstr>
      <vt:lpstr>Scratchpad Memory</vt:lpstr>
      <vt:lpstr>Scratchpad Memory</vt:lpstr>
      <vt:lpstr>Scratchpad Memory</vt:lpstr>
      <vt:lpstr>Processor Unit with 2-Port Memory</vt:lpstr>
      <vt:lpstr>Processor Unit with 2-Port Memory</vt:lpstr>
      <vt:lpstr>Arithmetic Logic Unit (ALU)</vt:lpstr>
      <vt:lpstr>Arithmetic Logic Unit (ALU)</vt:lpstr>
      <vt:lpstr>Design of Arithmetic Circuit</vt:lpstr>
      <vt:lpstr>Operations obtained by controlling one set of inputs to a parallel adder</vt:lpstr>
      <vt:lpstr>Operations obtained by controlling one set of inputs to a parallel adder</vt:lpstr>
      <vt:lpstr>PowerPoint Presentation</vt:lpstr>
      <vt:lpstr>Function Table for Arithmetic Circuit</vt:lpstr>
      <vt:lpstr>Functions of Arithmetic Circuit</vt:lpstr>
      <vt:lpstr>True/Complement, One/Zero Circuit</vt:lpstr>
      <vt:lpstr>Logic Diagram of an Arithmetic Circuit</vt:lpstr>
      <vt:lpstr>Exercise (Homework) </vt:lpstr>
      <vt:lpstr>Design of a Logic Circuit</vt:lpstr>
      <vt:lpstr>Combining Logic and Arithmetic Circuits</vt:lpstr>
      <vt:lpstr>Logic Operations in One Stage of Arithmetic Circuit</vt:lpstr>
      <vt:lpstr>Problems of combining the Arithmetic and Logic Circuits in one stage</vt:lpstr>
      <vt:lpstr>Design of Arithmetic Logic Unit</vt:lpstr>
      <vt:lpstr>Logic Diagram of an Arithmetic Circuit</vt:lpstr>
      <vt:lpstr>Converting an Arithmetic Circuit to Logic Circuit</vt:lpstr>
      <vt:lpstr>Converting an Arithmetic Circuit to Logic Circuit</vt:lpstr>
      <vt:lpstr>Converting an Arithmetic Circuit to Logic Circuit</vt:lpstr>
      <vt:lpstr>Converting an Arithmetic Circuit to Logic Circuit</vt:lpstr>
      <vt:lpstr>Converting an Arithmetic Circuit to Logic Circuit</vt:lpstr>
      <vt:lpstr>Logic Diagram of ALU (Only the first two stages are drawn)</vt:lpstr>
      <vt:lpstr>Converting an Arithmetic Circuit to Logic Circuit</vt:lpstr>
      <vt:lpstr>Design of Arithmetic Logic Circuit [Supplement Starts] </vt:lpstr>
      <vt:lpstr>Design of Arithmetic Logic Circuit </vt:lpstr>
      <vt:lpstr>Design of Arithmetic Logic Circuit (K-maps)</vt:lpstr>
      <vt:lpstr>Design of an ALU Circuit </vt:lpstr>
      <vt:lpstr>Thanks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Jahid Hasan</dc:creator>
  <cp:lastModifiedBy>Debraj Das</cp:lastModifiedBy>
  <cp:revision>401</cp:revision>
  <dcterms:created xsi:type="dcterms:W3CDTF">2017-01-20T15:00:05Z</dcterms:created>
  <dcterms:modified xsi:type="dcterms:W3CDTF">2025-12-24T02:44:14Z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