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315" r:id="rId2"/>
    <p:sldId id="284" r:id="rId3"/>
    <p:sldId id="256" r:id="rId4"/>
    <p:sldId id="283" r:id="rId5"/>
    <p:sldId id="282" r:id="rId6"/>
    <p:sldId id="286" r:id="rId7"/>
    <p:sldId id="285" r:id="rId8"/>
    <p:sldId id="304" r:id="rId9"/>
    <p:sldId id="305" r:id="rId10"/>
    <p:sldId id="287" r:id="rId11"/>
    <p:sldId id="306" r:id="rId12"/>
    <p:sldId id="307" r:id="rId13"/>
    <p:sldId id="308" r:id="rId14"/>
    <p:sldId id="288" r:id="rId15"/>
    <p:sldId id="289" r:id="rId16"/>
    <p:sldId id="290" r:id="rId17"/>
    <p:sldId id="291" r:id="rId18"/>
    <p:sldId id="292" r:id="rId19"/>
    <p:sldId id="294" r:id="rId20"/>
    <p:sldId id="295" r:id="rId21"/>
    <p:sldId id="296" r:id="rId22"/>
    <p:sldId id="299" r:id="rId23"/>
    <p:sldId id="300" r:id="rId24"/>
    <p:sldId id="297" r:id="rId25"/>
    <p:sldId id="310" r:id="rId26"/>
    <p:sldId id="311" r:id="rId27"/>
    <p:sldId id="314" r:id="rId28"/>
    <p:sldId id="312" r:id="rId29"/>
    <p:sldId id="313" r:id="rId30"/>
    <p:sldId id="301" r:id="rId31"/>
    <p:sldId id="302"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9" d="100"/>
          <a:sy n="59" d="100"/>
        </p:scale>
        <p:origin x="1500" y="76"/>
      </p:cViewPr>
      <p:guideLst>
        <p:guide orient="horz" pos="2160"/>
        <p:guide pos="289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2C7731-EF96-431C-9A2B-5A2B5C27486C}" type="doc">
      <dgm:prSet loTypeId="urn:microsoft.com/office/officeart/2005/8/layout/hierarchy2" loCatId="hierarchy" qsTypeId="urn:microsoft.com/office/officeart/2005/8/quickstyle/simple1" qsCatId="simple" csTypeId="urn:microsoft.com/office/officeart/2005/8/colors/colorful1" csCatId="colorful" phldr="1"/>
      <dgm:spPr/>
      <dgm:t>
        <a:bodyPr/>
        <a:lstStyle/>
        <a:p>
          <a:endParaRPr lang="en-US"/>
        </a:p>
      </dgm:t>
    </dgm:pt>
    <dgm:pt modelId="{48139149-FCD2-4C99-A377-5E75910C5E38}">
      <dgm:prSet phldrT="[Text]"/>
      <dgm:spPr/>
      <dgm:t>
        <a:bodyPr/>
        <a:lstStyle/>
        <a:p>
          <a:r>
            <a:rPr lang="en-US" dirty="0"/>
            <a:t>Regression</a:t>
          </a:r>
        </a:p>
      </dgm:t>
    </dgm:pt>
    <dgm:pt modelId="{598BCC70-CAEA-4055-86BD-CB23AC949EBA}" type="parTrans" cxnId="{358D3371-29B3-4C7C-B4AB-85AF7549DD19}">
      <dgm:prSet/>
      <dgm:spPr/>
      <dgm:t>
        <a:bodyPr/>
        <a:lstStyle/>
        <a:p>
          <a:endParaRPr lang="en-US"/>
        </a:p>
      </dgm:t>
    </dgm:pt>
    <dgm:pt modelId="{093C1733-9013-4366-BDF6-C0A9B86B0099}" type="sibTrans" cxnId="{358D3371-29B3-4C7C-B4AB-85AF7549DD19}">
      <dgm:prSet/>
      <dgm:spPr/>
      <dgm:t>
        <a:bodyPr/>
        <a:lstStyle/>
        <a:p>
          <a:endParaRPr lang="en-US"/>
        </a:p>
      </dgm:t>
    </dgm:pt>
    <dgm:pt modelId="{188CA757-4812-4F53-9A43-D591834C12BB}">
      <dgm:prSet phldrT="[Text]"/>
      <dgm:spPr/>
      <dgm:t>
        <a:bodyPr/>
        <a:lstStyle/>
        <a:p>
          <a:r>
            <a:rPr lang="en-US" dirty="0"/>
            <a:t>Simple Linear Regression</a:t>
          </a:r>
        </a:p>
      </dgm:t>
    </dgm:pt>
    <dgm:pt modelId="{583776C5-3B5B-47F4-9DE4-D0EE88E6796E}" type="parTrans" cxnId="{2074C9FF-4D29-44BC-8657-AFAAD8CE669B}">
      <dgm:prSet/>
      <dgm:spPr/>
      <dgm:t>
        <a:bodyPr/>
        <a:lstStyle/>
        <a:p>
          <a:endParaRPr lang="en-US"/>
        </a:p>
      </dgm:t>
    </dgm:pt>
    <dgm:pt modelId="{DF842286-3319-46BA-9C44-FF34A5E569E6}" type="sibTrans" cxnId="{2074C9FF-4D29-44BC-8657-AFAAD8CE669B}">
      <dgm:prSet/>
      <dgm:spPr/>
      <dgm:t>
        <a:bodyPr/>
        <a:lstStyle/>
        <a:p>
          <a:endParaRPr lang="en-US"/>
        </a:p>
      </dgm:t>
    </dgm:pt>
    <dgm:pt modelId="{ACDB8419-F72D-4D56-823F-EE127DE8369A}">
      <dgm:prSet phldrT="[Text]"/>
      <dgm:spPr/>
      <dgm:t>
        <a:bodyPr/>
        <a:lstStyle/>
        <a:p>
          <a:r>
            <a:rPr lang="en-US" dirty="0"/>
            <a:t>Multiple Linear Regression</a:t>
          </a:r>
        </a:p>
      </dgm:t>
    </dgm:pt>
    <dgm:pt modelId="{0E16568A-C09C-4845-9997-4C0D0812D14C}" type="parTrans" cxnId="{468958CE-B0EB-4CDF-A873-B11498027500}">
      <dgm:prSet/>
      <dgm:spPr/>
      <dgm:t>
        <a:bodyPr/>
        <a:lstStyle/>
        <a:p>
          <a:endParaRPr lang="en-US"/>
        </a:p>
      </dgm:t>
    </dgm:pt>
    <dgm:pt modelId="{41627BDC-5B90-4584-BE45-A5CC0F36954F}" type="sibTrans" cxnId="{468958CE-B0EB-4CDF-A873-B11498027500}">
      <dgm:prSet/>
      <dgm:spPr/>
      <dgm:t>
        <a:bodyPr/>
        <a:lstStyle/>
        <a:p>
          <a:endParaRPr lang="en-US"/>
        </a:p>
      </dgm:t>
    </dgm:pt>
    <dgm:pt modelId="{42BA4462-497A-44E6-BFBC-91F9143678A1}">
      <dgm:prSet phldrT="[Text]"/>
      <dgm:spPr/>
      <dgm:t>
        <a:bodyPr/>
        <a:lstStyle/>
        <a:p>
          <a:r>
            <a:rPr lang="en-US" dirty="0"/>
            <a:t>Polynomial Linear Regression</a:t>
          </a:r>
        </a:p>
      </dgm:t>
    </dgm:pt>
    <dgm:pt modelId="{1DF0CA54-9256-4753-83AA-C2FB0B855B02}" type="parTrans" cxnId="{F1554E10-2ED0-4187-8E03-5F83A1569931}">
      <dgm:prSet/>
      <dgm:spPr/>
      <dgm:t>
        <a:bodyPr/>
        <a:lstStyle/>
        <a:p>
          <a:endParaRPr lang="en-US"/>
        </a:p>
      </dgm:t>
    </dgm:pt>
    <dgm:pt modelId="{F88EF244-084D-4CF5-9EC7-A0B6AB399436}" type="sibTrans" cxnId="{F1554E10-2ED0-4187-8E03-5F83A1569931}">
      <dgm:prSet/>
      <dgm:spPr/>
      <dgm:t>
        <a:bodyPr/>
        <a:lstStyle/>
        <a:p>
          <a:endParaRPr lang="en-US"/>
        </a:p>
      </dgm:t>
    </dgm:pt>
    <dgm:pt modelId="{4B7C7CB7-60CC-4EAB-B4F9-F9EE8256E75C}">
      <dgm:prSet phldrT="[Text]"/>
      <dgm:spPr/>
      <dgm:t>
        <a:bodyPr/>
        <a:lstStyle/>
        <a:p>
          <a:r>
            <a:rPr lang="en-US" dirty="0"/>
            <a:t>Logistic Regression</a:t>
          </a:r>
        </a:p>
      </dgm:t>
    </dgm:pt>
    <dgm:pt modelId="{6BD4DB4C-C237-4579-B1E0-09870ED657CB}" type="parTrans" cxnId="{1F20FC5C-9FB9-40F2-B4AC-B90526664AAA}">
      <dgm:prSet/>
      <dgm:spPr/>
      <dgm:t>
        <a:bodyPr/>
        <a:lstStyle/>
        <a:p>
          <a:endParaRPr lang="en-US"/>
        </a:p>
      </dgm:t>
    </dgm:pt>
    <dgm:pt modelId="{7B5D386E-404E-44AD-BA47-D6DBB91EAAB5}" type="sibTrans" cxnId="{1F20FC5C-9FB9-40F2-B4AC-B90526664AAA}">
      <dgm:prSet/>
      <dgm:spPr/>
      <dgm:t>
        <a:bodyPr/>
        <a:lstStyle/>
        <a:p>
          <a:endParaRPr lang="en-US"/>
        </a:p>
      </dgm:t>
    </dgm:pt>
    <dgm:pt modelId="{54C77EF0-A51A-4ECC-AEB4-0B08B7A48C57}" type="pres">
      <dgm:prSet presAssocID="{512C7731-EF96-431C-9A2B-5A2B5C27486C}" presName="diagram" presStyleCnt="0">
        <dgm:presLayoutVars>
          <dgm:chPref val="1"/>
          <dgm:dir/>
          <dgm:animOne val="branch"/>
          <dgm:animLvl val="lvl"/>
          <dgm:resizeHandles val="exact"/>
        </dgm:presLayoutVars>
      </dgm:prSet>
      <dgm:spPr/>
    </dgm:pt>
    <dgm:pt modelId="{4E496190-2305-44E7-9D32-1F692BDEA3B1}" type="pres">
      <dgm:prSet presAssocID="{48139149-FCD2-4C99-A377-5E75910C5E38}" presName="root1" presStyleCnt="0"/>
      <dgm:spPr/>
    </dgm:pt>
    <dgm:pt modelId="{7FEFC30E-5184-4376-BBDC-8D937C2CD2ED}" type="pres">
      <dgm:prSet presAssocID="{48139149-FCD2-4C99-A377-5E75910C5E38}" presName="LevelOneTextNode" presStyleLbl="node0" presStyleIdx="0" presStyleCnt="1">
        <dgm:presLayoutVars>
          <dgm:chPref val="3"/>
        </dgm:presLayoutVars>
      </dgm:prSet>
      <dgm:spPr/>
    </dgm:pt>
    <dgm:pt modelId="{7CB66052-06DA-4C9D-BBFA-6BC0519398EB}" type="pres">
      <dgm:prSet presAssocID="{48139149-FCD2-4C99-A377-5E75910C5E38}" presName="level2hierChild" presStyleCnt="0"/>
      <dgm:spPr/>
    </dgm:pt>
    <dgm:pt modelId="{EBEE38A3-F8B4-4050-8A23-F76A6DE7D2E7}" type="pres">
      <dgm:prSet presAssocID="{583776C5-3B5B-47F4-9DE4-D0EE88E6796E}" presName="conn2-1" presStyleLbl="parChTrans1D2" presStyleIdx="0" presStyleCnt="4"/>
      <dgm:spPr/>
    </dgm:pt>
    <dgm:pt modelId="{F3E39215-FEE1-4BA0-8B76-9585E82E83C2}" type="pres">
      <dgm:prSet presAssocID="{583776C5-3B5B-47F4-9DE4-D0EE88E6796E}" presName="connTx" presStyleLbl="parChTrans1D2" presStyleIdx="0" presStyleCnt="4"/>
      <dgm:spPr/>
    </dgm:pt>
    <dgm:pt modelId="{98FEF5BA-DC53-40D9-96AB-D46676AA4D03}" type="pres">
      <dgm:prSet presAssocID="{188CA757-4812-4F53-9A43-D591834C12BB}" presName="root2" presStyleCnt="0"/>
      <dgm:spPr/>
    </dgm:pt>
    <dgm:pt modelId="{05F6B4E7-7CEA-42AE-A964-2E536B7B2951}" type="pres">
      <dgm:prSet presAssocID="{188CA757-4812-4F53-9A43-D591834C12BB}" presName="LevelTwoTextNode" presStyleLbl="node2" presStyleIdx="0" presStyleCnt="4">
        <dgm:presLayoutVars>
          <dgm:chPref val="3"/>
        </dgm:presLayoutVars>
      </dgm:prSet>
      <dgm:spPr/>
    </dgm:pt>
    <dgm:pt modelId="{7BBD5B22-5BCD-4963-B97F-71EFE3030561}" type="pres">
      <dgm:prSet presAssocID="{188CA757-4812-4F53-9A43-D591834C12BB}" presName="level3hierChild" presStyleCnt="0"/>
      <dgm:spPr/>
    </dgm:pt>
    <dgm:pt modelId="{C5428A79-9BAE-45DD-8E5D-E78E6D5AF526}" type="pres">
      <dgm:prSet presAssocID="{0E16568A-C09C-4845-9997-4C0D0812D14C}" presName="conn2-1" presStyleLbl="parChTrans1D2" presStyleIdx="1" presStyleCnt="4"/>
      <dgm:spPr/>
    </dgm:pt>
    <dgm:pt modelId="{BC2D1310-2C3E-4B29-82E7-0C147B7EF1F5}" type="pres">
      <dgm:prSet presAssocID="{0E16568A-C09C-4845-9997-4C0D0812D14C}" presName="connTx" presStyleLbl="parChTrans1D2" presStyleIdx="1" presStyleCnt="4"/>
      <dgm:spPr/>
    </dgm:pt>
    <dgm:pt modelId="{FB6265BD-2DF9-4552-85D1-F232D725C3F0}" type="pres">
      <dgm:prSet presAssocID="{ACDB8419-F72D-4D56-823F-EE127DE8369A}" presName="root2" presStyleCnt="0"/>
      <dgm:spPr/>
    </dgm:pt>
    <dgm:pt modelId="{B0AC9987-FCA5-4EDB-BD70-3AEF1E7A23E6}" type="pres">
      <dgm:prSet presAssocID="{ACDB8419-F72D-4D56-823F-EE127DE8369A}" presName="LevelTwoTextNode" presStyleLbl="node2" presStyleIdx="1" presStyleCnt="4">
        <dgm:presLayoutVars>
          <dgm:chPref val="3"/>
        </dgm:presLayoutVars>
      </dgm:prSet>
      <dgm:spPr/>
    </dgm:pt>
    <dgm:pt modelId="{7BA00248-9316-4BE6-9F90-30F36AEA8C25}" type="pres">
      <dgm:prSet presAssocID="{ACDB8419-F72D-4D56-823F-EE127DE8369A}" presName="level3hierChild" presStyleCnt="0"/>
      <dgm:spPr/>
    </dgm:pt>
    <dgm:pt modelId="{6D962B72-FD22-409D-94AD-A65F696B646D}" type="pres">
      <dgm:prSet presAssocID="{1DF0CA54-9256-4753-83AA-C2FB0B855B02}" presName="conn2-1" presStyleLbl="parChTrans1D2" presStyleIdx="2" presStyleCnt="4"/>
      <dgm:spPr/>
    </dgm:pt>
    <dgm:pt modelId="{0AC572A0-4B51-4B9B-A9D8-FA7905CD7660}" type="pres">
      <dgm:prSet presAssocID="{1DF0CA54-9256-4753-83AA-C2FB0B855B02}" presName="connTx" presStyleLbl="parChTrans1D2" presStyleIdx="2" presStyleCnt="4"/>
      <dgm:spPr/>
    </dgm:pt>
    <dgm:pt modelId="{AD8E9E4E-439E-4E59-9E9D-23E75CE36348}" type="pres">
      <dgm:prSet presAssocID="{42BA4462-497A-44E6-BFBC-91F9143678A1}" presName="root2" presStyleCnt="0"/>
      <dgm:spPr/>
    </dgm:pt>
    <dgm:pt modelId="{F02E9A5C-E0CB-4F58-8BFE-71C498113C0A}" type="pres">
      <dgm:prSet presAssocID="{42BA4462-497A-44E6-BFBC-91F9143678A1}" presName="LevelTwoTextNode" presStyleLbl="node2" presStyleIdx="2" presStyleCnt="4">
        <dgm:presLayoutVars>
          <dgm:chPref val="3"/>
        </dgm:presLayoutVars>
      </dgm:prSet>
      <dgm:spPr/>
    </dgm:pt>
    <dgm:pt modelId="{69C84B7C-0E2C-4D2F-B890-FA7916201933}" type="pres">
      <dgm:prSet presAssocID="{42BA4462-497A-44E6-BFBC-91F9143678A1}" presName="level3hierChild" presStyleCnt="0"/>
      <dgm:spPr/>
    </dgm:pt>
    <dgm:pt modelId="{42979DDD-42F2-4C6D-AE56-AD53316392D7}" type="pres">
      <dgm:prSet presAssocID="{6BD4DB4C-C237-4579-B1E0-09870ED657CB}" presName="conn2-1" presStyleLbl="parChTrans1D2" presStyleIdx="3" presStyleCnt="4"/>
      <dgm:spPr/>
    </dgm:pt>
    <dgm:pt modelId="{1705F1F9-80B5-4EF7-A414-F4085138E422}" type="pres">
      <dgm:prSet presAssocID="{6BD4DB4C-C237-4579-B1E0-09870ED657CB}" presName="connTx" presStyleLbl="parChTrans1D2" presStyleIdx="3" presStyleCnt="4"/>
      <dgm:spPr/>
    </dgm:pt>
    <dgm:pt modelId="{1C2E440B-4A0C-4750-8D59-D030DE9E7A8B}" type="pres">
      <dgm:prSet presAssocID="{4B7C7CB7-60CC-4EAB-B4F9-F9EE8256E75C}" presName="root2" presStyleCnt="0"/>
      <dgm:spPr/>
    </dgm:pt>
    <dgm:pt modelId="{D259C0A9-7A9C-443D-A747-379D0D6AB928}" type="pres">
      <dgm:prSet presAssocID="{4B7C7CB7-60CC-4EAB-B4F9-F9EE8256E75C}" presName="LevelTwoTextNode" presStyleLbl="node2" presStyleIdx="3" presStyleCnt="4">
        <dgm:presLayoutVars>
          <dgm:chPref val="3"/>
        </dgm:presLayoutVars>
      </dgm:prSet>
      <dgm:spPr/>
    </dgm:pt>
    <dgm:pt modelId="{A6A5FD92-A25E-48D2-8E63-0CBC9358888D}" type="pres">
      <dgm:prSet presAssocID="{4B7C7CB7-60CC-4EAB-B4F9-F9EE8256E75C}" presName="level3hierChild" presStyleCnt="0"/>
      <dgm:spPr/>
    </dgm:pt>
  </dgm:ptLst>
  <dgm:cxnLst>
    <dgm:cxn modelId="{F1554E10-2ED0-4187-8E03-5F83A1569931}" srcId="{48139149-FCD2-4C99-A377-5E75910C5E38}" destId="{42BA4462-497A-44E6-BFBC-91F9143678A1}" srcOrd="2" destOrd="0" parTransId="{1DF0CA54-9256-4753-83AA-C2FB0B855B02}" sibTransId="{F88EF244-084D-4CF5-9EC7-A0B6AB399436}"/>
    <dgm:cxn modelId="{FA7EC42B-A3FE-481E-B6C0-8E9913175519}" type="presOf" srcId="{48139149-FCD2-4C99-A377-5E75910C5E38}" destId="{7FEFC30E-5184-4376-BBDC-8D937C2CD2ED}" srcOrd="0" destOrd="0" presId="urn:microsoft.com/office/officeart/2005/8/layout/hierarchy2"/>
    <dgm:cxn modelId="{A19ECA33-7DD7-4AAA-8EB0-93573D9A2A03}" type="presOf" srcId="{6BD4DB4C-C237-4579-B1E0-09870ED657CB}" destId="{1705F1F9-80B5-4EF7-A414-F4085138E422}" srcOrd="1" destOrd="0" presId="urn:microsoft.com/office/officeart/2005/8/layout/hierarchy2"/>
    <dgm:cxn modelId="{1F20FC5C-9FB9-40F2-B4AC-B90526664AAA}" srcId="{48139149-FCD2-4C99-A377-5E75910C5E38}" destId="{4B7C7CB7-60CC-4EAB-B4F9-F9EE8256E75C}" srcOrd="3" destOrd="0" parTransId="{6BD4DB4C-C237-4579-B1E0-09870ED657CB}" sibTransId="{7B5D386E-404E-44AD-BA47-D6DBB91EAAB5}"/>
    <dgm:cxn modelId="{BE8EF15E-07CC-4E95-B288-ABF62322704D}" type="presOf" srcId="{4B7C7CB7-60CC-4EAB-B4F9-F9EE8256E75C}" destId="{D259C0A9-7A9C-443D-A747-379D0D6AB928}" srcOrd="0" destOrd="0" presId="urn:microsoft.com/office/officeart/2005/8/layout/hierarchy2"/>
    <dgm:cxn modelId="{EFCE6B64-162D-4D6B-9C9E-7FFEB98738BC}" type="presOf" srcId="{0E16568A-C09C-4845-9997-4C0D0812D14C}" destId="{C5428A79-9BAE-45DD-8E5D-E78E6D5AF526}" srcOrd="0" destOrd="0" presId="urn:microsoft.com/office/officeart/2005/8/layout/hierarchy2"/>
    <dgm:cxn modelId="{785FBC66-70A3-42D1-B84E-9A5551EF7F28}" type="presOf" srcId="{0E16568A-C09C-4845-9997-4C0D0812D14C}" destId="{BC2D1310-2C3E-4B29-82E7-0C147B7EF1F5}" srcOrd="1" destOrd="0" presId="urn:microsoft.com/office/officeart/2005/8/layout/hierarchy2"/>
    <dgm:cxn modelId="{EAB7D666-682A-4E27-AD6B-1EA0FD567F5A}" type="presOf" srcId="{583776C5-3B5B-47F4-9DE4-D0EE88E6796E}" destId="{EBEE38A3-F8B4-4050-8A23-F76A6DE7D2E7}" srcOrd="0" destOrd="0" presId="urn:microsoft.com/office/officeart/2005/8/layout/hierarchy2"/>
    <dgm:cxn modelId="{358D3371-29B3-4C7C-B4AB-85AF7549DD19}" srcId="{512C7731-EF96-431C-9A2B-5A2B5C27486C}" destId="{48139149-FCD2-4C99-A377-5E75910C5E38}" srcOrd="0" destOrd="0" parTransId="{598BCC70-CAEA-4055-86BD-CB23AC949EBA}" sibTransId="{093C1733-9013-4366-BDF6-C0A9B86B0099}"/>
    <dgm:cxn modelId="{11FF0E72-59EE-4996-B02F-E1ABF0131EE7}" type="presOf" srcId="{42BA4462-497A-44E6-BFBC-91F9143678A1}" destId="{F02E9A5C-E0CB-4F58-8BFE-71C498113C0A}" srcOrd="0" destOrd="0" presId="urn:microsoft.com/office/officeart/2005/8/layout/hierarchy2"/>
    <dgm:cxn modelId="{84BC3856-0907-41B7-A63D-B37F112213EE}" type="presOf" srcId="{1DF0CA54-9256-4753-83AA-C2FB0B855B02}" destId="{0AC572A0-4B51-4B9B-A9D8-FA7905CD7660}" srcOrd="1" destOrd="0" presId="urn:microsoft.com/office/officeart/2005/8/layout/hierarchy2"/>
    <dgm:cxn modelId="{E3993E80-A08C-4284-A400-29B5CC8A2660}" type="presOf" srcId="{583776C5-3B5B-47F4-9DE4-D0EE88E6796E}" destId="{F3E39215-FEE1-4BA0-8B76-9585E82E83C2}" srcOrd="1" destOrd="0" presId="urn:microsoft.com/office/officeart/2005/8/layout/hierarchy2"/>
    <dgm:cxn modelId="{DC32AF93-DEAB-45E8-97B7-1BD65808C713}" type="presOf" srcId="{ACDB8419-F72D-4D56-823F-EE127DE8369A}" destId="{B0AC9987-FCA5-4EDB-BD70-3AEF1E7A23E6}" srcOrd="0" destOrd="0" presId="urn:microsoft.com/office/officeart/2005/8/layout/hierarchy2"/>
    <dgm:cxn modelId="{8E6D2795-7A78-4792-A995-9A7624846D98}" type="presOf" srcId="{512C7731-EF96-431C-9A2B-5A2B5C27486C}" destId="{54C77EF0-A51A-4ECC-AEB4-0B08B7A48C57}" srcOrd="0" destOrd="0" presId="urn:microsoft.com/office/officeart/2005/8/layout/hierarchy2"/>
    <dgm:cxn modelId="{468958CE-B0EB-4CDF-A873-B11498027500}" srcId="{48139149-FCD2-4C99-A377-5E75910C5E38}" destId="{ACDB8419-F72D-4D56-823F-EE127DE8369A}" srcOrd="1" destOrd="0" parTransId="{0E16568A-C09C-4845-9997-4C0D0812D14C}" sibTransId="{41627BDC-5B90-4584-BE45-A5CC0F36954F}"/>
    <dgm:cxn modelId="{A24D32DE-B8CA-4994-A5CA-2B3A32924FF7}" type="presOf" srcId="{1DF0CA54-9256-4753-83AA-C2FB0B855B02}" destId="{6D962B72-FD22-409D-94AD-A65F696B646D}" srcOrd="0" destOrd="0" presId="urn:microsoft.com/office/officeart/2005/8/layout/hierarchy2"/>
    <dgm:cxn modelId="{572A35E5-EC7A-4BA7-ADBC-8E703434E5AD}" type="presOf" srcId="{188CA757-4812-4F53-9A43-D591834C12BB}" destId="{05F6B4E7-7CEA-42AE-A964-2E536B7B2951}" srcOrd="0" destOrd="0" presId="urn:microsoft.com/office/officeart/2005/8/layout/hierarchy2"/>
    <dgm:cxn modelId="{A229A7FD-EF09-42EB-8DEB-65DA539B52FB}" type="presOf" srcId="{6BD4DB4C-C237-4579-B1E0-09870ED657CB}" destId="{42979DDD-42F2-4C6D-AE56-AD53316392D7}" srcOrd="0" destOrd="0" presId="urn:microsoft.com/office/officeart/2005/8/layout/hierarchy2"/>
    <dgm:cxn modelId="{2074C9FF-4D29-44BC-8657-AFAAD8CE669B}" srcId="{48139149-FCD2-4C99-A377-5E75910C5E38}" destId="{188CA757-4812-4F53-9A43-D591834C12BB}" srcOrd="0" destOrd="0" parTransId="{583776C5-3B5B-47F4-9DE4-D0EE88E6796E}" sibTransId="{DF842286-3319-46BA-9C44-FF34A5E569E6}"/>
    <dgm:cxn modelId="{EF1E8B9A-D129-4C5B-BC7B-280F380ECEB9}" type="presParOf" srcId="{54C77EF0-A51A-4ECC-AEB4-0B08B7A48C57}" destId="{4E496190-2305-44E7-9D32-1F692BDEA3B1}" srcOrd="0" destOrd="0" presId="urn:microsoft.com/office/officeart/2005/8/layout/hierarchy2"/>
    <dgm:cxn modelId="{1943E988-B579-4954-A32F-AE43E340B8A7}" type="presParOf" srcId="{4E496190-2305-44E7-9D32-1F692BDEA3B1}" destId="{7FEFC30E-5184-4376-BBDC-8D937C2CD2ED}" srcOrd="0" destOrd="0" presId="urn:microsoft.com/office/officeart/2005/8/layout/hierarchy2"/>
    <dgm:cxn modelId="{4EA36F00-9628-4317-A16B-CCF8788774BB}" type="presParOf" srcId="{4E496190-2305-44E7-9D32-1F692BDEA3B1}" destId="{7CB66052-06DA-4C9D-BBFA-6BC0519398EB}" srcOrd="1" destOrd="0" presId="urn:microsoft.com/office/officeart/2005/8/layout/hierarchy2"/>
    <dgm:cxn modelId="{99DAEBEE-FF37-44E8-8020-3FB0C020E3D2}" type="presParOf" srcId="{7CB66052-06DA-4C9D-BBFA-6BC0519398EB}" destId="{EBEE38A3-F8B4-4050-8A23-F76A6DE7D2E7}" srcOrd="0" destOrd="0" presId="urn:microsoft.com/office/officeart/2005/8/layout/hierarchy2"/>
    <dgm:cxn modelId="{CA0396D3-1939-439C-B152-C3891199B79A}" type="presParOf" srcId="{EBEE38A3-F8B4-4050-8A23-F76A6DE7D2E7}" destId="{F3E39215-FEE1-4BA0-8B76-9585E82E83C2}" srcOrd="0" destOrd="0" presId="urn:microsoft.com/office/officeart/2005/8/layout/hierarchy2"/>
    <dgm:cxn modelId="{2268A82B-0247-40F5-A6F9-EF84DF7F30ED}" type="presParOf" srcId="{7CB66052-06DA-4C9D-BBFA-6BC0519398EB}" destId="{98FEF5BA-DC53-40D9-96AB-D46676AA4D03}" srcOrd="1" destOrd="0" presId="urn:microsoft.com/office/officeart/2005/8/layout/hierarchy2"/>
    <dgm:cxn modelId="{25389876-BC72-40C9-B454-251629E21475}" type="presParOf" srcId="{98FEF5BA-DC53-40D9-96AB-D46676AA4D03}" destId="{05F6B4E7-7CEA-42AE-A964-2E536B7B2951}" srcOrd="0" destOrd="0" presId="urn:microsoft.com/office/officeart/2005/8/layout/hierarchy2"/>
    <dgm:cxn modelId="{F8DDF989-7567-4117-AA63-84DECC8ECB66}" type="presParOf" srcId="{98FEF5BA-DC53-40D9-96AB-D46676AA4D03}" destId="{7BBD5B22-5BCD-4963-B97F-71EFE3030561}" srcOrd="1" destOrd="0" presId="urn:microsoft.com/office/officeart/2005/8/layout/hierarchy2"/>
    <dgm:cxn modelId="{E8387C80-F8F5-4B0A-B4EE-5A3593DE6C56}" type="presParOf" srcId="{7CB66052-06DA-4C9D-BBFA-6BC0519398EB}" destId="{C5428A79-9BAE-45DD-8E5D-E78E6D5AF526}" srcOrd="2" destOrd="0" presId="urn:microsoft.com/office/officeart/2005/8/layout/hierarchy2"/>
    <dgm:cxn modelId="{3A5BE082-C7A5-492D-A19A-F51FD0B0D986}" type="presParOf" srcId="{C5428A79-9BAE-45DD-8E5D-E78E6D5AF526}" destId="{BC2D1310-2C3E-4B29-82E7-0C147B7EF1F5}" srcOrd="0" destOrd="0" presId="urn:microsoft.com/office/officeart/2005/8/layout/hierarchy2"/>
    <dgm:cxn modelId="{BE64E907-573A-4AB2-A57A-7005A1175BE4}" type="presParOf" srcId="{7CB66052-06DA-4C9D-BBFA-6BC0519398EB}" destId="{FB6265BD-2DF9-4552-85D1-F232D725C3F0}" srcOrd="3" destOrd="0" presId="urn:microsoft.com/office/officeart/2005/8/layout/hierarchy2"/>
    <dgm:cxn modelId="{290EBF0F-DAA0-4E54-93A7-5B8E617F17B7}" type="presParOf" srcId="{FB6265BD-2DF9-4552-85D1-F232D725C3F0}" destId="{B0AC9987-FCA5-4EDB-BD70-3AEF1E7A23E6}" srcOrd="0" destOrd="0" presId="urn:microsoft.com/office/officeart/2005/8/layout/hierarchy2"/>
    <dgm:cxn modelId="{0DBE75C5-E360-4AD3-ADA9-3B3AC0A492E1}" type="presParOf" srcId="{FB6265BD-2DF9-4552-85D1-F232D725C3F0}" destId="{7BA00248-9316-4BE6-9F90-30F36AEA8C25}" srcOrd="1" destOrd="0" presId="urn:microsoft.com/office/officeart/2005/8/layout/hierarchy2"/>
    <dgm:cxn modelId="{814B1331-5C44-4631-8D8F-1CAE168BF703}" type="presParOf" srcId="{7CB66052-06DA-4C9D-BBFA-6BC0519398EB}" destId="{6D962B72-FD22-409D-94AD-A65F696B646D}" srcOrd="4" destOrd="0" presId="urn:microsoft.com/office/officeart/2005/8/layout/hierarchy2"/>
    <dgm:cxn modelId="{AACAA31C-BD1E-447D-A0CB-1E26EBCA383E}" type="presParOf" srcId="{6D962B72-FD22-409D-94AD-A65F696B646D}" destId="{0AC572A0-4B51-4B9B-A9D8-FA7905CD7660}" srcOrd="0" destOrd="0" presId="urn:microsoft.com/office/officeart/2005/8/layout/hierarchy2"/>
    <dgm:cxn modelId="{1C39446E-405F-4284-95F7-7D55EB137985}" type="presParOf" srcId="{7CB66052-06DA-4C9D-BBFA-6BC0519398EB}" destId="{AD8E9E4E-439E-4E59-9E9D-23E75CE36348}" srcOrd="5" destOrd="0" presId="urn:microsoft.com/office/officeart/2005/8/layout/hierarchy2"/>
    <dgm:cxn modelId="{C916C4A1-2879-438A-B4BF-D929B7164C6B}" type="presParOf" srcId="{AD8E9E4E-439E-4E59-9E9D-23E75CE36348}" destId="{F02E9A5C-E0CB-4F58-8BFE-71C498113C0A}" srcOrd="0" destOrd="0" presId="urn:microsoft.com/office/officeart/2005/8/layout/hierarchy2"/>
    <dgm:cxn modelId="{D847F7E5-4F2D-4221-9077-136B8DB12C59}" type="presParOf" srcId="{AD8E9E4E-439E-4E59-9E9D-23E75CE36348}" destId="{69C84B7C-0E2C-4D2F-B890-FA7916201933}" srcOrd="1" destOrd="0" presId="urn:microsoft.com/office/officeart/2005/8/layout/hierarchy2"/>
    <dgm:cxn modelId="{7BCA003A-37A3-48BA-83FC-2F825DF64362}" type="presParOf" srcId="{7CB66052-06DA-4C9D-BBFA-6BC0519398EB}" destId="{42979DDD-42F2-4C6D-AE56-AD53316392D7}" srcOrd="6" destOrd="0" presId="urn:microsoft.com/office/officeart/2005/8/layout/hierarchy2"/>
    <dgm:cxn modelId="{1BB971C7-787D-443B-9D29-34C2BF072A42}" type="presParOf" srcId="{42979DDD-42F2-4C6D-AE56-AD53316392D7}" destId="{1705F1F9-80B5-4EF7-A414-F4085138E422}" srcOrd="0" destOrd="0" presId="urn:microsoft.com/office/officeart/2005/8/layout/hierarchy2"/>
    <dgm:cxn modelId="{3FCFB9E2-9183-4287-985A-738AE4A9E66E}" type="presParOf" srcId="{7CB66052-06DA-4C9D-BBFA-6BC0519398EB}" destId="{1C2E440B-4A0C-4750-8D59-D030DE9E7A8B}" srcOrd="7" destOrd="0" presId="urn:microsoft.com/office/officeart/2005/8/layout/hierarchy2"/>
    <dgm:cxn modelId="{4C9C6E92-8492-419C-B721-553B594C0CD8}" type="presParOf" srcId="{1C2E440B-4A0C-4750-8D59-D030DE9E7A8B}" destId="{D259C0A9-7A9C-443D-A747-379D0D6AB928}" srcOrd="0" destOrd="0" presId="urn:microsoft.com/office/officeart/2005/8/layout/hierarchy2"/>
    <dgm:cxn modelId="{DC79B3B1-E92A-4CA4-B5FC-6CB8A3BCA444}" type="presParOf" srcId="{1C2E440B-4A0C-4750-8D59-D030DE9E7A8B}" destId="{A6A5FD92-A25E-48D2-8E63-0CBC9358888D}"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FC30E-5184-4376-BBDC-8D937C2CD2ED}">
      <dsp:nvSpPr>
        <dsp:cNvPr id="0" name=""/>
        <dsp:cNvSpPr/>
      </dsp:nvSpPr>
      <dsp:spPr>
        <a:xfrm>
          <a:off x="857250" y="1575593"/>
          <a:ext cx="1825625" cy="91281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Regression</a:t>
          </a:r>
        </a:p>
      </dsp:txBody>
      <dsp:txXfrm>
        <a:off x="883985" y="1602328"/>
        <a:ext cx="1772155" cy="859342"/>
      </dsp:txXfrm>
    </dsp:sp>
    <dsp:sp modelId="{EBEE38A3-F8B4-4050-8A23-F76A6DE7D2E7}">
      <dsp:nvSpPr>
        <dsp:cNvPr id="0" name=""/>
        <dsp:cNvSpPr/>
      </dsp:nvSpPr>
      <dsp:spPr>
        <a:xfrm rot="17692822">
          <a:off x="2180152" y="1224484"/>
          <a:ext cx="1735694" cy="40429"/>
        </a:xfrm>
        <a:custGeom>
          <a:avLst/>
          <a:gdLst/>
          <a:ahLst/>
          <a:cxnLst/>
          <a:rect l="0" t="0" r="0" b="0"/>
          <a:pathLst>
            <a:path>
              <a:moveTo>
                <a:pt x="0" y="20214"/>
              </a:moveTo>
              <a:lnTo>
                <a:pt x="1735694"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3004607" y="1201306"/>
        <a:ext cx="86784" cy="86784"/>
      </dsp:txXfrm>
    </dsp:sp>
    <dsp:sp modelId="{05F6B4E7-7CEA-42AE-A964-2E536B7B2951}">
      <dsp:nvSpPr>
        <dsp:cNvPr id="0" name=""/>
        <dsp:cNvSpPr/>
      </dsp:nvSpPr>
      <dsp:spPr>
        <a:xfrm>
          <a:off x="3413125" y="992"/>
          <a:ext cx="1825625" cy="91281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Simple Linear Regression</a:t>
          </a:r>
        </a:p>
      </dsp:txBody>
      <dsp:txXfrm>
        <a:off x="3439860" y="27727"/>
        <a:ext cx="1772155" cy="859342"/>
      </dsp:txXfrm>
    </dsp:sp>
    <dsp:sp modelId="{C5428A79-9BAE-45DD-8E5D-E78E6D5AF526}">
      <dsp:nvSpPr>
        <dsp:cNvPr id="0" name=""/>
        <dsp:cNvSpPr/>
      </dsp:nvSpPr>
      <dsp:spPr>
        <a:xfrm rot="19457599">
          <a:off x="2598347" y="1749351"/>
          <a:ext cx="899305" cy="40429"/>
        </a:xfrm>
        <a:custGeom>
          <a:avLst/>
          <a:gdLst/>
          <a:ahLst/>
          <a:cxnLst/>
          <a:rect l="0" t="0" r="0" b="0"/>
          <a:pathLst>
            <a:path>
              <a:moveTo>
                <a:pt x="0" y="20214"/>
              </a:moveTo>
              <a:lnTo>
                <a:pt x="899305"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25517" y="1747083"/>
        <a:ext cx="44965" cy="44965"/>
      </dsp:txXfrm>
    </dsp:sp>
    <dsp:sp modelId="{B0AC9987-FCA5-4EDB-BD70-3AEF1E7A23E6}">
      <dsp:nvSpPr>
        <dsp:cNvPr id="0" name=""/>
        <dsp:cNvSpPr/>
      </dsp:nvSpPr>
      <dsp:spPr>
        <a:xfrm>
          <a:off x="3413125" y="1050726"/>
          <a:ext cx="1825625" cy="91281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Multiple Linear Regression</a:t>
          </a:r>
        </a:p>
      </dsp:txBody>
      <dsp:txXfrm>
        <a:off x="3439860" y="1077461"/>
        <a:ext cx="1772155" cy="859342"/>
      </dsp:txXfrm>
    </dsp:sp>
    <dsp:sp modelId="{6D962B72-FD22-409D-94AD-A65F696B646D}">
      <dsp:nvSpPr>
        <dsp:cNvPr id="0" name=""/>
        <dsp:cNvSpPr/>
      </dsp:nvSpPr>
      <dsp:spPr>
        <a:xfrm rot="2142401">
          <a:off x="2598347" y="2274218"/>
          <a:ext cx="899305" cy="40429"/>
        </a:xfrm>
        <a:custGeom>
          <a:avLst/>
          <a:gdLst/>
          <a:ahLst/>
          <a:cxnLst/>
          <a:rect l="0" t="0" r="0" b="0"/>
          <a:pathLst>
            <a:path>
              <a:moveTo>
                <a:pt x="0" y="20214"/>
              </a:moveTo>
              <a:lnTo>
                <a:pt x="899305"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25517" y="2271950"/>
        <a:ext cx="44965" cy="44965"/>
      </dsp:txXfrm>
    </dsp:sp>
    <dsp:sp modelId="{F02E9A5C-E0CB-4F58-8BFE-71C498113C0A}">
      <dsp:nvSpPr>
        <dsp:cNvPr id="0" name=""/>
        <dsp:cNvSpPr/>
      </dsp:nvSpPr>
      <dsp:spPr>
        <a:xfrm>
          <a:off x="3413125" y="2100460"/>
          <a:ext cx="1825625" cy="91281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Polynomial Linear Regression</a:t>
          </a:r>
        </a:p>
      </dsp:txBody>
      <dsp:txXfrm>
        <a:off x="3439860" y="2127195"/>
        <a:ext cx="1772155" cy="859342"/>
      </dsp:txXfrm>
    </dsp:sp>
    <dsp:sp modelId="{42979DDD-42F2-4C6D-AE56-AD53316392D7}">
      <dsp:nvSpPr>
        <dsp:cNvPr id="0" name=""/>
        <dsp:cNvSpPr/>
      </dsp:nvSpPr>
      <dsp:spPr>
        <a:xfrm rot="3907178">
          <a:off x="2180152" y="2799085"/>
          <a:ext cx="1735694" cy="40429"/>
        </a:xfrm>
        <a:custGeom>
          <a:avLst/>
          <a:gdLst/>
          <a:ahLst/>
          <a:cxnLst/>
          <a:rect l="0" t="0" r="0" b="0"/>
          <a:pathLst>
            <a:path>
              <a:moveTo>
                <a:pt x="0" y="20214"/>
              </a:moveTo>
              <a:lnTo>
                <a:pt x="1735694" y="20214"/>
              </a:lnTo>
            </a:path>
          </a:pathLst>
        </a:custGeom>
        <a:noFill/>
        <a:ln w="2540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3004607" y="2775908"/>
        <a:ext cx="86784" cy="86784"/>
      </dsp:txXfrm>
    </dsp:sp>
    <dsp:sp modelId="{D259C0A9-7A9C-443D-A747-379D0D6AB928}">
      <dsp:nvSpPr>
        <dsp:cNvPr id="0" name=""/>
        <dsp:cNvSpPr/>
      </dsp:nvSpPr>
      <dsp:spPr>
        <a:xfrm>
          <a:off x="3413125" y="3150195"/>
          <a:ext cx="1825625" cy="91281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Logistic Regression</a:t>
          </a:r>
        </a:p>
      </dsp:txBody>
      <dsp:txXfrm>
        <a:off x="3439860" y="3176930"/>
        <a:ext cx="1772155" cy="85934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7/22/2025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t>25</a:t>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t>26</a:t>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t>27</a:t>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t>28</a:t>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a:t>
            </a:r>
            <a:r>
              <a:rPr lang="en-US" baseline="0" dirty="0"/>
              <a:t> The process in the previous slide can be performed as a matrix operation at once.</a:t>
            </a:r>
            <a:endParaRPr lang="en-US" dirty="0"/>
          </a:p>
        </p:txBody>
      </p:sp>
      <p:sp>
        <p:nvSpPr>
          <p:cNvPr id="4" name="Slide Number Placeholder 3"/>
          <p:cNvSpPr>
            <a:spLocks noGrp="1"/>
          </p:cNvSpPr>
          <p:nvPr>
            <p:ph type="sldNum" sz="quarter" idx="10"/>
          </p:nvPr>
        </p:nvSpPr>
        <p:spPr/>
        <p:txBody>
          <a:bodyPr/>
          <a:lstStyle/>
          <a:p>
            <a:pPr>
              <a:defRPr/>
            </a:pPr>
            <a:fld id="{F181B4D0-36FE-4031-9D1D-D544BBB82FFD}" type="slidenum">
              <a:rPr lang="tr-TR" smtClean="0">
                <a:solidFill>
                  <a:prstClr val="black"/>
                </a:solidFill>
              </a:rPr>
              <a:t>29</a:t>
            </a:fld>
            <a:endParaRPr lang="tr-TR">
              <a:solidFill>
                <a:prstClr val="black"/>
              </a:solidFill>
            </a:endParaRPr>
          </a:p>
        </p:txBody>
      </p:sp>
      <p:sp>
        <p:nvSpPr>
          <p:cNvPr id="5" name="Header Placeholder 4"/>
          <p:cNvSpPr>
            <a:spLocks noGrp="1"/>
          </p:cNvSpPr>
          <p:nvPr>
            <p:ph type="hdr" sz="quarter"/>
          </p:nvPr>
        </p:nvSpPr>
        <p:spPr/>
        <p:txBody>
          <a:bodyPr/>
          <a:lstStyle/>
          <a:p>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E2C4CB-14E1-43EC-9E25-77CFC75FDBE0}"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
        <p:nvSpPr>
          <p:cNvPr id="7" name="Rectangle 6">
            <a:extLst>
              <a:ext uri="{FF2B5EF4-FFF2-40B4-BE49-F238E27FC236}">
                <a16:creationId xmlns:a16="http://schemas.microsoft.com/office/drawing/2014/main" id="{BA1DD71E-E580-5C39-F899-B80F656445C2}"/>
              </a:ext>
            </a:extLst>
          </p:cNvPr>
          <p:cNvSpPr/>
          <p:nvPr userDrawn="1"/>
        </p:nvSpPr>
        <p:spPr>
          <a:xfrm>
            <a:off x="0" y="0"/>
            <a:ext cx="9144000"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B5FF32A-4725-3A10-8CDD-7BF208BFE758}"/>
              </a:ext>
            </a:extLst>
          </p:cNvPr>
          <p:cNvPicPr>
            <a:picLocks noChangeAspect="1"/>
          </p:cNvPicPr>
          <p:nvPr userDrawn="1"/>
        </p:nvPicPr>
        <p:blipFill>
          <a:blip r:embed="rId2"/>
          <a:stretch>
            <a:fillRect/>
          </a:stretch>
        </p:blipFill>
        <p:spPr>
          <a:xfrm>
            <a:off x="0" y="0"/>
            <a:ext cx="1143000" cy="1143000"/>
          </a:xfrm>
          <a:prstGeom prst="rect">
            <a:avLst/>
          </a:prstGeom>
          <a:effectLst>
            <a:outerShdw blurRad="50800" dist="38100" algn="l" rotWithShape="0">
              <a:prstClr val="black">
                <a:alpha val="40000"/>
              </a:prstClr>
            </a:outerShdw>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
        <p:nvSpPr>
          <p:cNvPr id="7" name="Rectangle 6">
            <a:extLst>
              <a:ext uri="{FF2B5EF4-FFF2-40B4-BE49-F238E27FC236}">
                <a16:creationId xmlns:a16="http://schemas.microsoft.com/office/drawing/2014/main" id="{B692F434-1572-C6A7-39DD-81AECC04DC7D}"/>
              </a:ext>
            </a:extLst>
          </p:cNvPr>
          <p:cNvSpPr/>
          <p:nvPr userDrawn="1"/>
        </p:nvSpPr>
        <p:spPr>
          <a:xfrm>
            <a:off x="0" y="0"/>
            <a:ext cx="9144000"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5A414F9-C879-2436-864D-7F2ACD81B5C8}"/>
              </a:ext>
            </a:extLst>
          </p:cNvPr>
          <p:cNvPicPr>
            <a:picLocks noChangeAspect="1"/>
          </p:cNvPicPr>
          <p:nvPr userDrawn="1"/>
        </p:nvPicPr>
        <p:blipFill>
          <a:blip r:embed="rId2"/>
          <a:stretch>
            <a:fillRect/>
          </a:stretch>
        </p:blipFill>
        <p:spPr>
          <a:xfrm>
            <a:off x="0" y="0"/>
            <a:ext cx="1143000" cy="1143000"/>
          </a:xfrm>
          <a:prstGeom prst="rect">
            <a:avLst/>
          </a:prstGeom>
          <a:effectLst>
            <a:outerShdw blurRad="50800" dist="38100" algn="l" rotWithShape="0">
              <a:prstClr val="black">
                <a:alpha val="40000"/>
              </a:prstClr>
            </a:outerShdw>
          </a:effec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2C4CB-14E1-43EC-9E25-77CFC75FDBE0}"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
        <p:nvSpPr>
          <p:cNvPr id="7" name="Rectangle 6">
            <a:extLst>
              <a:ext uri="{FF2B5EF4-FFF2-40B4-BE49-F238E27FC236}">
                <a16:creationId xmlns:a16="http://schemas.microsoft.com/office/drawing/2014/main" id="{2D861EC2-E24C-C2A0-FCBF-9D481A3B29CB}"/>
              </a:ext>
            </a:extLst>
          </p:cNvPr>
          <p:cNvSpPr/>
          <p:nvPr userDrawn="1"/>
        </p:nvSpPr>
        <p:spPr>
          <a:xfrm>
            <a:off x="0" y="0"/>
            <a:ext cx="9144000"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5816F63-96E3-2C96-5C4D-4E0E2A99FCFB}"/>
              </a:ext>
            </a:extLst>
          </p:cNvPr>
          <p:cNvPicPr>
            <a:picLocks noChangeAspect="1"/>
          </p:cNvPicPr>
          <p:nvPr userDrawn="1"/>
        </p:nvPicPr>
        <p:blipFill>
          <a:blip r:embed="rId2"/>
          <a:stretch>
            <a:fillRect/>
          </a:stretch>
        </p:blipFill>
        <p:spPr>
          <a:xfrm>
            <a:off x="0" y="0"/>
            <a:ext cx="1143000" cy="1143000"/>
          </a:xfrm>
          <a:prstGeom prst="rect">
            <a:avLst/>
          </a:prstGeom>
          <a:effectLst>
            <a:outerShdw blurRad="50800" dist="38100" algn="l" rotWithShape="0">
              <a:prstClr val="black">
                <a:alpha val="40000"/>
              </a:prstClr>
            </a:outerShdw>
          </a:effec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E2C4CB-14E1-43EC-9E25-77CFC75FDBE0}"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
        <p:nvSpPr>
          <p:cNvPr id="8" name="Rectangle 7">
            <a:extLst>
              <a:ext uri="{FF2B5EF4-FFF2-40B4-BE49-F238E27FC236}">
                <a16:creationId xmlns:a16="http://schemas.microsoft.com/office/drawing/2014/main" id="{B7A4463F-1329-64EE-7A05-FA29130E84F2}"/>
              </a:ext>
            </a:extLst>
          </p:cNvPr>
          <p:cNvSpPr/>
          <p:nvPr userDrawn="1"/>
        </p:nvSpPr>
        <p:spPr>
          <a:xfrm>
            <a:off x="0" y="0"/>
            <a:ext cx="9144000"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83F4869-145E-5930-3E99-9B513EC64B5B}"/>
              </a:ext>
            </a:extLst>
          </p:cNvPr>
          <p:cNvPicPr>
            <a:picLocks noChangeAspect="1"/>
          </p:cNvPicPr>
          <p:nvPr userDrawn="1"/>
        </p:nvPicPr>
        <p:blipFill>
          <a:blip r:embed="rId2"/>
          <a:stretch>
            <a:fillRect/>
          </a:stretch>
        </p:blipFill>
        <p:spPr>
          <a:xfrm>
            <a:off x="0" y="0"/>
            <a:ext cx="1143000" cy="1143000"/>
          </a:xfrm>
          <a:prstGeom prst="rect">
            <a:avLst/>
          </a:prstGeom>
          <a:effectLst>
            <a:outerShdw blurRad="50800" dist="38100" algn="l" rotWithShape="0">
              <a:prstClr val="black">
                <a:alpha val="40000"/>
              </a:prstClr>
            </a:outerShdw>
          </a:effec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E2C4CB-14E1-43EC-9E25-77CFC75FDBE0}" type="datetimeFigureOut">
              <a:rPr lang="en-US" smtClean="0"/>
              <a:t>7/22/2025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F02EF3-4937-48F5-B6FA-9356B5FF0260}" type="slidenum">
              <a:rPr lang="en-US" smtClean="0"/>
              <a:t>‹#›</a:t>
            </a:fld>
            <a:endParaRPr lang="en-US"/>
          </a:p>
        </p:txBody>
      </p:sp>
      <p:sp>
        <p:nvSpPr>
          <p:cNvPr id="10" name="Rectangle 9">
            <a:extLst>
              <a:ext uri="{FF2B5EF4-FFF2-40B4-BE49-F238E27FC236}">
                <a16:creationId xmlns:a16="http://schemas.microsoft.com/office/drawing/2014/main" id="{9BCACEE7-DEB7-2DEA-36D5-FBF22253F9D2}"/>
              </a:ext>
            </a:extLst>
          </p:cNvPr>
          <p:cNvSpPr/>
          <p:nvPr userDrawn="1"/>
        </p:nvSpPr>
        <p:spPr>
          <a:xfrm>
            <a:off x="0" y="0"/>
            <a:ext cx="9144000"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FD56C1A5-2E44-4D32-F095-FBA7E1140A92}"/>
              </a:ext>
            </a:extLst>
          </p:cNvPr>
          <p:cNvPicPr>
            <a:picLocks noChangeAspect="1"/>
          </p:cNvPicPr>
          <p:nvPr userDrawn="1"/>
        </p:nvPicPr>
        <p:blipFill>
          <a:blip r:embed="rId2"/>
          <a:stretch>
            <a:fillRect/>
          </a:stretch>
        </p:blipFill>
        <p:spPr>
          <a:xfrm>
            <a:off x="0" y="0"/>
            <a:ext cx="1143000" cy="1143000"/>
          </a:xfrm>
          <a:prstGeom prst="rect">
            <a:avLst/>
          </a:prstGeom>
          <a:effectLst>
            <a:outerShdw blurRad="50800" dist="38100" algn="l" rotWithShape="0">
              <a:prstClr val="black">
                <a:alpha val="40000"/>
              </a:prst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E2C4CB-14E1-43EC-9E25-77CFC75FDBE0}" type="datetimeFigureOut">
              <a:rPr lang="en-US" smtClean="0"/>
              <a:t>7/22/2025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F02EF3-4937-48F5-B6FA-9356B5FF0260}" type="slidenum">
              <a:rPr lang="en-US" smtClean="0"/>
              <a:t>‹#›</a:t>
            </a:fld>
            <a:endParaRPr lang="en-US"/>
          </a:p>
        </p:txBody>
      </p:sp>
      <p:sp>
        <p:nvSpPr>
          <p:cNvPr id="6" name="Rectangle 5">
            <a:extLst>
              <a:ext uri="{FF2B5EF4-FFF2-40B4-BE49-F238E27FC236}">
                <a16:creationId xmlns:a16="http://schemas.microsoft.com/office/drawing/2014/main" id="{FE3661CD-232F-1B65-87B6-D08EA21681DD}"/>
              </a:ext>
            </a:extLst>
          </p:cNvPr>
          <p:cNvSpPr/>
          <p:nvPr userDrawn="1"/>
        </p:nvSpPr>
        <p:spPr>
          <a:xfrm>
            <a:off x="0" y="0"/>
            <a:ext cx="9144000"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6EE6129-01C9-31E2-5E73-0E5B9E2A6329}"/>
              </a:ext>
            </a:extLst>
          </p:cNvPr>
          <p:cNvPicPr>
            <a:picLocks noChangeAspect="1"/>
          </p:cNvPicPr>
          <p:nvPr userDrawn="1"/>
        </p:nvPicPr>
        <p:blipFill>
          <a:blip r:embed="rId2"/>
          <a:stretch>
            <a:fillRect/>
          </a:stretch>
        </p:blipFill>
        <p:spPr>
          <a:xfrm>
            <a:off x="0" y="0"/>
            <a:ext cx="1143000" cy="1143000"/>
          </a:xfrm>
          <a:prstGeom prst="rect">
            <a:avLst/>
          </a:prstGeom>
          <a:effectLst>
            <a:outerShdw blurRad="50800" dist="38100" algn="l" rotWithShape="0">
              <a:prstClr val="black">
                <a:alpha val="40000"/>
              </a:prst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2C4CB-14E1-43EC-9E25-77CFC75FDBE0}" type="datetimeFigureOut">
              <a:rPr lang="en-US" smtClean="0"/>
              <a:t>7/22/2025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F02EF3-4937-48F5-B6FA-9356B5FF0260}" type="slidenum">
              <a:rPr lang="en-US" smtClean="0"/>
              <a:t>‹#›</a:t>
            </a:fld>
            <a:endParaRPr lang="en-US"/>
          </a:p>
        </p:txBody>
      </p:sp>
      <p:sp>
        <p:nvSpPr>
          <p:cNvPr id="5" name="Rectangle 4">
            <a:extLst>
              <a:ext uri="{FF2B5EF4-FFF2-40B4-BE49-F238E27FC236}">
                <a16:creationId xmlns:a16="http://schemas.microsoft.com/office/drawing/2014/main" id="{4A7590A7-F9BD-EAB1-B8D9-DF1E000ED01C}"/>
              </a:ext>
            </a:extLst>
          </p:cNvPr>
          <p:cNvSpPr/>
          <p:nvPr userDrawn="1"/>
        </p:nvSpPr>
        <p:spPr>
          <a:xfrm>
            <a:off x="0" y="0"/>
            <a:ext cx="9144000"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1C5C7766-A93A-1198-3D28-E5A7656D4383}"/>
              </a:ext>
            </a:extLst>
          </p:cNvPr>
          <p:cNvPicPr>
            <a:picLocks noChangeAspect="1"/>
          </p:cNvPicPr>
          <p:nvPr userDrawn="1"/>
        </p:nvPicPr>
        <p:blipFill>
          <a:blip r:embed="rId2"/>
          <a:stretch>
            <a:fillRect/>
          </a:stretch>
        </p:blipFill>
        <p:spPr>
          <a:xfrm>
            <a:off x="0" y="0"/>
            <a:ext cx="1143000" cy="1143000"/>
          </a:xfrm>
          <a:prstGeom prst="rect">
            <a:avLst/>
          </a:prstGeom>
          <a:effectLst>
            <a:outerShdw blurRad="50800" dist="38100" algn="l" rotWithShape="0">
              <a:prstClr val="black">
                <a:alpha val="40000"/>
              </a:prstClr>
            </a:outerShdw>
          </a:effec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
        <p:nvSpPr>
          <p:cNvPr id="8" name="Rectangle 7">
            <a:extLst>
              <a:ext uri="{FF2B5EF4-FFF2-40B4-BE49-F238E27FC236}">
                <a16:creationId xmlns:a16="http://schemas.microsoft.com/office/drawing/2014/main" id="{0A9BF909-776A-1540-64AD-4F2BE7203BE9}"/>
              </a:ext>
            </a:extLst>
          </p:cNvPr>
          <p:cNvSpPr/>
          <p:nvPr userDrawn="1"/>
        </p:nvSpPr>
        <p:spPr>
          <a:xfrm>
            <a:off x="0" y="0"/>
            <a:ext cx="9144000"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DF09272-3849-83F7-1B3A-68EC32D25238}"/>
              </a:ext>
            </a:extLst>
          </p:cNvPr>
          <p:cNvPicPr>
            <a:picLocks noChangeAspect="1"/>
          </p:cNvPicPr>
          <p:nvPr userDrawn="1"/>
        </p:nvPicPr>
        <p:blipFill>
          <a:blip r:embed="rId2"/>
          <a:stretch>
            <a:fillRect/>
          </a:stretch>
        </p:blipFill>
        <p:spPr>
          <a:xfrm>
            <a:off x="0" y="0"/>
            <a:ext cx="1143000" cy="1143000"/>
          </a:xfrm>
          <a:prstGeom prst="rect">
            <a:avLst/>
          </a:prstGeom>
          <a:effectLst>
            <a:outerShdw blurRad="50800" dist="38100" algn="l" rotWithShape="0">
              <a:prstClr val="black">
                <a:alpha val="40000"/>
              </a:prstClr>
            </a:outerShdw>
          </a:effec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2C4CB-14E1-43EC-9E25-77CFC75FDBE0}" type="datetimeFigureOut">
              <a:rPr lang="en-US" smtClean="0"/>
              <a:t>7/22/2025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t>‹#›</a:t>
            </a:fld>
            <a:endParaRPr lang="en-US"/>
          </a:p>
        </p:txBody>
      </p:sp>
      <p:sp>
        <p:nvSpPr>
          <p:cNvPr id="8" name="Rectangle 7">
            <a:extLst>
              <a:ext uri="{FF2B5EF4-FFF2-40B4-BE49-F238E27FC236}">
                <a16:creationId xmlns:a16="http://schemas.microsoft.com/office/drawing/2014/main" id="{3B3DB307-E075-8D44-9D14-5B3471EF866E}"/>
              </a:ext>
            </a:extLst>
          </p:cNvPr>
          <p:cNvSpPr/>
          <p:nvPr userDrawn="1"/>
        </p:nvSpPr>
        <p:spPr>
          <a:xfrm>
            <a:off x="0" y="0"/>
            <a:ext cx="9144000"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CC7040F5-3C5E-29F0-1609-793AB4A13A02}"/>
              </a:ext>
            </a:extLst>
          </p:cNvPr>
          <p:cNvPicPr>
            <a:picLocks noChangeAspect="1"/>
          </p:cNvPicPr>
          <p:nvPr userDrawn="1"/>
        </p:nvPicPr>
        <p:blipFill>
          <a:blip r:embed="rId2"/>
          <a:stretch>
            <a:fillRect/>
          </a:stretch>
        </p:blipFill>
        <p:spPr>
          <a:xfrm>
            <a:off x="0" y="0"/>
            <a:ext cx="1143000" cy="1143000"/>
          </a:xfrm>
          <a:prstGeom prst="rect">
            <a:avLst/>
          </a:prstGeom>
          <a:effectLst>
            <a:outerShdw blurRad="50800" dist="38100" algn="l" rotWithShape="0">
              <a:prstClr val="black">
                <a:alpha val="40000"/>
              </a:prstClr>
            </a:outerShdw>
          </a:effec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
        <p:nvSpPr>
          <p:cNvPr id="7" name="Rectangle 6">
            <a:extLst>
              <a:ext uri="{FF2B5EF4-FFF2-40B4-BE49-F238E27FC236}">
                <a16:creationId xmlns:a16="http://schemas.microsoft.com/office/drawing/2014/main" id="{879CA8FB-F3A2-4F71-68E5-FB0E9F2AED40}"/>
              </a:ext>
            </a:extLst>
          </p:cNvPr>
          <p:cNvSpPr/>
          <p:nvPr userDrawn="1"/>
        </p:nvSpPr>
        <p:spPr>
          <a:xfrm>
            <a:off x="0" y="0"/>
            <a:ext cx="9144000"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DB0F3F6-9B38-6D51-2E86-9B039D2FB4EE}"/>
              </a:ext>
            </a:extLst>
          </p:cNvPr>
          <p:cNvPicPr>
            <a:picLocks noChangeAspect="1"/>
          </p:cNvPicPr>
          <p:nvPr userDrawn="1"/>
        </p:nvPicPr>
        <p:blipFill>
          <a:blip r:embed="rId2"/>
          <a:stretch>
            <a:fillRect/>
          </a:stretch>
        </p:blipFill>
        <p:spPr>
          <a:xfrm>
            <a:off x="0" y="0"/>
            <a:ext cx="1143000" cy="1143000"/>
          </a:xfrm>
          <a:prstGeom prst="rect">
            <a:avLst/>
          </a:prstGeom>
          <a:effectLst>
            <a:outerShdw blurRad="50800" dist="38100" algn="l" rotWithShape="0">
              <a:prstClr val="black">
                <a:alpha val="40000"/>
              </a:prstClr>
            </a:outerShdw>
          </a:effectLst>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E2C4CB-14E1-43EC-9E25-77CFC75FDBE0}" type="datetimeFigureOut">
              <a:rPr lang="en-US" smtClean="0"/>
              <a:t>7/22/2025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t>‹#›</a:t>
            </a:fld>
            <a:endParaRPr lang="en-US"/>
          </a:p>
        </p:txBody>
      </p:sp>
      <p:sp>
        <p:nvSpPr>
          <p:cNvPr id="7" name="Rectangle 6">
            <a:extLst>
              <a:ext uri="{FF2B5EF4-FFF2-40B4-BE49-F238E27FC236}">
                <a16:creationId xmlns:a16="http://schemas.microsoft.com/office/drawing/2014/main" id="{9D177C5B-5BD0-035A-D30C-23EDE5AE70F1}"/>
              </a:ext>
            </a:extLst>
          </p:cNvPr>
          <p:cNvSpPr/>
          <p:nvPr userDrawn="1"/>
        </p:nvSpPr>
        <p:spPr>
          <a:xfrm>
            <a:off x="0" y="0"/>
            <a:ext cx="9144000" cy="609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1A02057-6789-0C64-2FC6-2E19E8607A89}"/>
              </a:ext>
            </a:extLst>
          </p:cNvPr>
          <p:cNvPicPr>
            <a:picLocks noChangeAspect="1"/>
          </p:cNvPicPr>
          <p:nvPr userDrawn="1"/>
        </p:nvPicPr>
        <p:blipFill>
          <a:blip r:embed="rId2"/>
          <a:stretch>
            <a:fillRect/>
          </a:stretch>
        </p:blipFill>
        <p:spPr>
          <a:xfrm>
            <a:off x="0" y="0"/>
            <a:ext cx="1143000" cy="1143000"/>
          </a:xfrm>
          <a:prstGeom prst="rect">
            <a:avLst/>
          </a:prstGeom>
          <a:effectLst>
            <a:outerShdw blurRad="50800" dist="38100" algn="l" rotWithShape="0">
              <a:prstClr val="black">
                <a:alpha val="40000"/>
              </a:prstClr>
            </a:outerShdw>
          </a:effec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2C4CB-14E1-43EC-9E25-77CFC75FDBE0}" type="datetimeFigureOut">
              <a:rPr lang="en-US" smtClean="0"/>
              <a:t>7/22/2025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2EF3-4937-48F5-B6FA-9356B5FF026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hyperlink" Target="https://colab.research.google.com/drive/1Q0XGUHv5tpbl5IixjuJAEGQIPhNDaIjc?usp=sharing"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DC5085D-9546-E93E-CFB2-4F034A11F2E3}"/>
              </a:ext>
            </a:extLst>
          </p:cNvPr>
          <p:cNvSpPr>
            <a:spLocks noGrp="1"/>
          </p:cNvSpPr>
          <p:nvPr>
            <p:ph type="ctrTitle"/>
          </p:nvPr>
        </p:nvSpPr>
        <p:spPr>
          <a:xfrm>
            <a:off x="628649" y="1093788"/>
            <a:ext cx="7879841" cy="2967208"/>
          </a:xfrm>
        </p:spPr>
        <p:txBody>
          <a:bodyPr>
            <a:normAutofit/>
          </a:bodyPr>
          <a:lstStyle/>
          <a:p>
            <a:pPr algn="l"/>
            <a:r>
              <a:rPr lang="en-US" sz="7000"/>
              <a:t>Supervised Learning</a:t>
            </a:r>
          </a:p>
        </p:txBody>
      </p:sp>
      <p:sp>
        <p:nvSpPr>
          <p:cNvPr id="41" name="Rectangle 4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4331166"/>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2" name="Rectangle 41">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03304" y="2842186"/>
            <a:ext cx="54864" cy="296008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236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143000" y="190095"/>
            <a:ext cx="2514600" cy="1158875"/>
          </a:xfrm>
        </p:spPr>
        <p:txBody>
          <a:bodyPr anchor="ctr">
            <a:normAutofit/>
          </a:bodyPr>
          <a:lstStyle/>
          <a:p>
            <a:pPr algn="l"/>
            <a:r>
              <a:rPr lang="en-US" sz="3500" dirty="0">
                <a:latin typeface="Times New Roman" panose="02020603050405020304" pitchFamily="18" charset="0"/>
                <a:cs typeface="Times New Roman" panose="02020603050405020304" pitchFamily="18" charset="0"/>
              </a:rPr>
              <a:t>Regression</a:t>
            </a:r>
          </a:p>
        </p:txBody>
      </p:sp>
      <p:sp>
        <p:nvSpPr>
          <p:cNvPr id="3" name="Subtitle 2"/>
          <p:cNvSpPr>
            <a:spLocks noGrp="1"/>
          </p:cNvSpPr>
          <p:nvPr>
            <p:ph type="subTitle" idx="4294967295"/>
          </p:nvPr>
        </p:nvSpPr>
        <p:spPr>
          <a:xfrm>
            <a:off x="1127760" y="1066800"/>
            <a:ext cx="6172200" cy="823722"/>
          </a:xfrm>
        </p:spPr>
        <p:txBody>
          <a:bodyPr anchor="ctr">
            <a:normAutofit/>
          </a:bodyPr>
          <a:lstStyle/>
          <a:p>
            <a:pPr marL="0" indent="0" algn="l">
              <a:lnSpc>
                <a:spcPct val="90000"/>
              </a:lnSpc>
              <a:buNone/>
            </a:pPr>
            <a:r>
              <a:rPr lang="en-US" sz="1600" dirty="0">
                <a:solidFill>
                  <a:schemeClr val="tx1"/>
                </a:solidFill>
                <a:latin typeface="Times New Roman" panose="02020603050405020304" pitchFamily="18" charset="0"/>
                <a:cs typeface="Times New Roman" panose="02020603050405020304" pitchFamily="18" charset="0"/>
              </a:rPr>
              <a:t>A typical task is to predict a target numeric value, such as the price of a car, given a set of features (mileage, age, brand, etc.). This sort of task is called </a:t>
            </a:r>
            <a:r>
              <a:rPr lang="en-US" sz="1600" b="1" dirty="0">
                <a:solidFill>
                  <a:schemeClr val="tx1"/>
                </a:solidFill>
                <a:latin typeface="Times New Roman" panose="02020603050405020304" pitchFamily="18" charset="0"/>
                <a:cs typeface="Times New Roman" panose="02020603050405020304" pitchFamily="18" charset="0"/>
              </a:rPr>
              <a:t>regression</a:t>
            </a:r>
            <a:r>
              <a:rPr lang="en-US" sz="1600" dirty="0">
                <a:solidFill>
                  <a:schemeClr val="tx1"/>
                </a:solidFill>
                <a:latin typeface="Times New Roman" panose="02020603050405020304" pitchFamily="18" charset="0"/>
                <a:cs typeface="Times New Roman" panose="02020603050405020304" pitchFamily="18" charset="0"/>
              </a:rPr>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51943" y="1966293"/>
            <a:ext cx="8440112" cy="445216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990600" y="491648"/>
            <a:ext cx="2971800" cy="652346"/>
          </a:xfrm>
        </p:spPr>
        <p:txBody>
          <a:bodyPr anchor="ctr">
            <a:normAutofit/>
          </a:bodyPr>
          <a:lstStyle/>
          <a:p>
            <a:pPr algn="l"/>
            <a:r>
              <a:rPr lang="en-US" sz="3500" dirty="0">
                <a:latin typeface="Times New Roman" panose="02020603050405020304" pitchFamily="18" charset="0"/>
                <a:cs typeface="Times New Roman" panose="02020603050405020304" pitchFamily="18" charset="0"/>
              </a:rPr>
              <a:t>Classification</a:t>
            </a:r>
          </a:p>
        </p:txBody>
      </p:sp>
      <p:sp>
        <p:nvSpPr>
          <p:cNvPr id="3" name="Subtitle 2"/>
          <p:cNvSpPr>
            <a:spLocks noGrp="1"/>
          </p:cNvSpPr>
          <p:nvPr>
            <p:ph type="subTitle" idx="4294967295"/>
          </p:nvPr>
        </p:nvSpPr>
        <p:spPr>
          <a:xfrm>
            <a:off x="993648" y="685800"/>
            <a:ext cx="7616952" cy="1450975"/>
          </a:xfrm>
        </p:spPr>
        <p:txBody>
          <a:bodyPr anchor="ctr">
            <a:normAutofit/>
          </a:bodyPr>
          <a:lstStyle/>
          <a:p>
            <a:pPr marL="0" indent="0" algn="l">
              <a:lnSpc>
                <a:spcPct val="90000"/>
              </a:lnSpc>
              <a:buNone/>
            </a:pPr>
            <a:r>
              <a:rPr lang="en-US" sz="1400" dirty="0">
                <a:solidFill>
                  <a:schemeClr val="tx1"/>
                </a:solidFill>
                <a:latin typeface="Times New Roman" panose="02020603050405020304" pitchFamily="18" charset="0"/>
                <a:cs typeface="Times New Roman" panose="02020603050405020304" pitchFamily="18" charset="0"/>
              </a:rPr>
              <a:t>Another typical supervised learning task is </a:t>
            </a:r>
            <a:r>
              <a:rPr lang="en-US" sz="1400" b="1" dirty="0">
                <a:solidFill>
                  <a:schemeClr val="tx1"/>
                </a:solidFill>
                <a:latin typeface="Times New Roman" panose="02020603050405020304" pitchFamily="18" charset="0"/>
                <a:cs typeface="Times New Roman" panose="02020603050405020304" pitchFamily="18" charset="0"/>
              </a:rPr>
              <a:t>classification</a:t>
            </a:r>
            <a:r>
              <a:rPr lang="en-US" sz="1400" dirty="0">
                <a:solidFill>
                  <a:schemeClr val="tx1"/>
                </a:solidFill>
                <a:latin typeface="Times New Roman" panose="02020603050405020304" pitchFamily="18" charset="0"/>
                <a:cs typeface="Times New Roman" panose="02020603050405020304" pitchFamily="18" charset="0"/>
              </a:rPr>
              <a:t>. The spam filter is a good example of this: it is trained with many example emails along with their class (spam or ham), and it must learn how to classify new emails.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4168" y="2344567"/>
            <a:ext cx="8495662" cy="369561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457200"/>
            <a:ext cx="3124200" cy="708025"/>
          </a:xfrm>
        </p:spPr>
        <p:txBody>
          <a:bodyPr>
            <a:normAutofit/>
          </a:bodyPr>
          <a:lstStyle/>
          <a:p>
            <a:r>
              <a:rPr lang="en-US" sz="3200" dirty="0">
                <a:latin typeface="Times New Roman" panose="02020603050405020304" pitchFamily="18" charset="0"/>
                <a:cs typeface="Times New Roman" panose="02020603050405020304" pitchFamily="18" charset="0"/>
              </a:rPr>
              <a:t>Regression</a:t>
            </a:r>
          </a:p>
        </p:txBody>
      </p:sp>
      <p:graphicFrame>
        <p:nvGraphicFramePr>
          <p:cNvPr id="4" name="Diagram 3">
            <a:extLst>
              <a:ext uri="{FF2B5EF4-FFF2-40B4-BE49-F238E27FC236}">
                <a16:creationId xmlns:a16="http://schemas.microsoft.com/office/drawing/2014/main" id="{83EB6CD4-9C04-7DE2-2DDC-19C1E2042649}"/>
              </a:ext>
            </a:extLst>
          </p:cNvPr>
          <p:cNvGraphicFramePr/>
          <p:nvPr>
            <p:extLst>
              <p:ext uri="{D42A27DB-BD31-4B8C-83A1-F6EECF244321}">
                <p14:modId xmlns:p14="http://schemas.microsoft.com/office/powerpoint/2010/main" val="1148029508"/>
              </p:ext>
            </p:extLst>
          </p:nvPr>
        </p:nvGraphicFramePr>
        <p:xfrm>
          <a:off x="1578864" y="18288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408801"/>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Linear regression </a:t>
            </a:r>
            <a:r>
              <a:rPr lang="en-US" sz="1800" dirty="0">
                <a:solidFill>
                  <a:schemeClr val="tx1"/>
                </a:solidFill>
                <a:latin typeface="Times New Roman" panose="02020603050405020304" pitchFamily="18" charset="0"/>
                <a:cs typeface="Times New Roman" panose="02020603050405020304" pitchFamily="18" charset="0"/>
              </a:rPr>
              <a:t>is a </a:t>
            </a:r>
            <a:r>
              <a:rPr lang="en-US" sz="1800" b="1" dirty="0">
                <a:solidFill>
                  <a:schemeClr val="tx1"/>
                </a:solidFill>
                <a:latin typeface="Times New Roman" panose="02020603050405020304" pitchFamily="18" charset="0"/>
                <a:cs typeface="Times New Roman" panose="02020603050405020304" pitchFamily="18" charset="0"/>
              </a:rPr>
              <a:t>supervised</a:t>
            </a:r>
            <a:r>
              <a:rPr lang="en-US" sz="1800" dirty="0">
                <a:solidFill>
                  <a:schemeClr val="tx1"/>
                </a:solidFill>
                <a:latin typeface="Times New Roman" panose="02020603050405020304" pitchFamily="18" charset="0"/>
                <a:cs typeface="Times New Roman" panose="02020603050405020304" pitchFamily="18" charset="0"/>
              </a:rPr>
              <a:t> machine learning algorithm that models the linear relationship between a </a:t>
            </a:r>
            <a:r>
              <a:rPr lang="en-US" sz="1800" b="1" dirty="0">
                <a:solidFill>
                  <a:schemeClr val="tx1"/>
                </a:solidFill>
                <a:latin typeface="Times New Roman" panose="02020603050405020304" pitchFamily="18" charset="0"/>
                <a:cs typeface="Times New Roman" panose="02020603050405020304" pitchFamily="18" charset="0"/>
              </a:rPr>
              <a:t>dependent</a:t>
            </a:r>
            <a:r>
              <a:rPr lang="en-US" sz="1800" dirty="0">
                <a:solidFill>
                  <a:schemeClr val="tx1"/>
                </a:solidFill>
                <a:latin typeface="Times New Roman" panose="02020603050405020304" pitchFamily="18" charset="0"/>
                <a:cs typeface="Times New Roman" panose="02020603050405020304" pitchFamily="18" charset="0"/>
              </a:rPr>
              <a:t> variable and one or more </a:t>
            </a:r>
            <a:r>
              <a:rPr lang="en-US" sz="1800" b="1" dirty="0">
                <a:solidFill>
                  <a:schemeClr val="tx1"/>
                </a:solidFill>
                <a:latin typeface="Times New Roman" panose="02020603050405020304" pitchFamily="18" charset="0"/>
                <a:cs typeface="Times New Roman" panose="02020603050405020304" pitchFamily="18" charset="0"/>
              </a:rPr>
              <a:t>independent</a:t>
            </a:r>
            <a:r>
              <a:rPr lang="en-US" sz="1800" dirty="0">
                <a:solidFill>
                  <a:schemeClr val="tx1"/>
                </a:solidFill>
                <a:latin typeface="Times New Roman" panose="02020603050405020304" pitchFamily="18" charset="0"/>
                <a:cs typeface="Times New Roman" panose="02020603050405020304" pitchFamily="18" charset="0"/>
              </a:rPr>
              <a:t> variables by fitting a straight line to the observed data.</a:t>
            </a:r>
          </a:p>
          <a:p>
            <a:pPr algn="just"/>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3074" name="Picture 2" descr="Linear Regression in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945" y="2506795"/>
            <a:ext cx="3810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647945" y="6172200"/>
            <a:ext cx="4572000" cy="276999"/>
          </a:xfrm>
          <a:prstGeom prst="rect">
            <a:avLst/>
          </a:prstGeom>
        </p:spPr>
        <p:txBody>
          <a:bodyPr>
            <a:spAutoFit/>
          </a:bodyPr>
          <a:lstStyle/>
          <a:p>
            <a:r>
              <a:rPr lang="en-US" sz="1200" dirty="0">
                <a:solidFill>
                  <a:schemeClr val="bg1">
                    <a:lumMod val="75000"/>
                  </a:schemeClr>
                </a:solidFill>
              </a:rPr>
              <a:t>https://www.javatpoint.com/linear-regression-in-machine-learning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434975"/>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When there is a single independent variable, it is referred to as S</a:t>
            </a:r>
            <a:r>
              <a:rPr lang="en-US" sz="1800" b="1" dirty="0">
                <a:solidFill>
                  <a:schemeClr val="tx1"/>
                </a:solidFill>
                <a:latin typeface="Times New Roman" panose="02020603050405020304" pitchFamily="18" charset="0"/>
                <a:cs typeface="Times New Roman" panose="02020603050405020304" pitchFamily="18" charset="0"/>
              </a:rPr>
              <a:t>imple Linear Regression</a:t>
            </a:r>
            <a:r>
              <a:rPr lang="en-US" sz="1800" dirty="0">
                <a:solidFill>
                  <a:schemeClr val="tx1"/>
                </a:solidFill>
                <a:latin typeface="Times New Roman" panose="02020603050405020304" pitchFamily="18" charset="0"/>
                <a:cs typeface="Times New Roman" panose="02020603050405020304" pitchFamily="18" charset="0"/>
              </a:rPr>
              <a:t>, whereas with multiple independent variables, it is called M</a:t>
            </a:r>
            <a:r>
              <a:rPr lang="en-US" sz="1800" b="1" dirty="0">
                <a:solidFill>
                  <a:schemeClr val="tx1"/>
                </a:solidFill>
                <a:latin typeface="Times New Roman" panose="02020603050405020304" pitchFamily="18" charset="0"/>
                <a:cs typeface="Times New Roman" panose="02020603050405020304" pitchFamily="18" charset="0"/>
              </a:rPr>
              <a:t>ultiple Linear Regression</a:t>
            </a:r>
            <a:r>
              <a:rPr lang="en-US" sz="1800" dirty="0">
                <a:solidFill>
                  <a:schemeClr val="tx1"/>
                </a:solidFill>
                <a:latin typeface="Times New Roman" panose="02020603050405020304" pitchFamily="18" charset="0"/>
                <a:cs typeface="Times New Roman" panose="02020603050405020304" pitchFamily="18" charset="0"/>
              </a:rPr>
              <a:t>.</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Polynomial Linear Regression is a form of regression where the relationship between the independent variable(s) and the dependent variable is modeled as a </a:t>
            </a:r>
            <a:r>
              <a:rPr lang="en-US" sz="1800" b="1" dirty="0">
                <a:solidFill>
                  <a:schemeClr val="tx1"/>
                </a:solidFill>
                <a:latin typeface="Times New Roman" panose="02020603050405020304" pitchFamily="18" charset="0"/>
                <a:cs typeface="Times New Roman" panose="02020603050405020304" pitchFamily="18" charset="0"/>
              </a:rPr>
              <a:t>polynomial</a:t>
            </a:r>
            <a:r>
              <a:rPr lang="en-US" sz="1800" dirty="0">
                <a:solidFill>
                  <a:schemeClr val="tx1"/>
                </a:solidFill>
                <a:latin typeface="Times New Roman" panose="02020603050405020304" pitchFamily="18" charset="0"/>
                <a:cs typeface="Times New Roman" panose="02020603050405020304" pitchFamily="18" charset="0"/>
              </a:rPr>
              <a:t>, but it is still considered a type of linear regression because the model is linear in terms of the coefficients.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434975"/>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Simple 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This is the most basic form of linear regression, involving a single independent variable and a single dependent variable. The equation for simple linear regression is: </a:t>
                </a:r>
                <a14:m>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𝒚</m:t>
                    </m:r>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𝒙</m:t>
                    </m:r>
                  </m:oMath>
                </a14:m>
                <a:endParaRPr lang="en-US" sz="1800" b="1"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where</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y is the dependent variable</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x is the independent variable</a:t>
                </a: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oMath>
                </a14:m>
                <a:r>
                  <a:rPr lang="en-US" sz="1800" dirty="0">
                    <a:solidFill>
                      <a:schemeClr val="tx1"/>
                    </a:solidFill>
                    <a:latin typeface="Times New Roman" panose="02020603050405020304" pitchFamily="18" charset="0"/>
                    <a:cs typeface="Times New Roman" panose="02020603050405020304" pitchFamily="18" charset="0"/>
                  </a:rPr>
                  <a:t> is the intercept</a:t>
                </a: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 is the slope</a:t>
                </a: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533400"/>
            <a:ext cx="8229600" cy="563562"/>
          </a:xfrm>
        </p:spPr>
        <p:txBody>
          <a:bodyPr>
            <a:normAutofit fontScale="90000"/>
          </a:bodyPr>
          <a:lstStyle/>
          <a:p>
            <a:r>
              <a:rPr lang="en-US" dirty="0"/>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75000" lnSpcReduction="20000"/>
              </a:bodyPr>
              <a:lstStyle/>
              <a:p>
                <a:pPr marL="0" indent="0" algn="just">
                  <a:buNone/>
                </a:pPr>
                <a:r>
                  <a:rPr lang="en-US" dirty="0"/>
                  <a:t>Suppose we are analyzing the relationship between the number of hours a student studies (x) and their exam score (y) using a simple linear regression. After running the regression, we get the following equation: y=5x+50</a:t>
                </a:r>
              </a:p>
              <a:p>
                <a:pPr marL="0" indent="0" algn="just">
                  <a:buNone/>
                </a:pPr>
                <a:r>
                  <a:rPr lang="en-US" dirty="0"/>
                  <a:t>In this equation:</a:t>
                </a:r>
              </a:p>
              <a:p>
                <a:pPr marL="0" indent="0" algn="just">
                  <a:buNone/>
                </a:pPr>
                <a:r>
                  <a:rPr lang="en-US" dirty="0"/>
                  <a:t>𝑦is the predicted exam score,</a:t>
                </a:r>
              </a:p>
              <a:p>
                <a:pPr marL="0" indent="0" algn="just">
                  <a:buNone/>
                </a:pPr>
                <a:r>
                  <a:rPr lang="en-US" dirty="0"/>
                  <a:t>𝑥is the number of hours studied,</a:t>
                </a:r>
              </a:p>
              <a:p>
                <a:pPr marL="0" indent="0" algn="just">
                  <a:buNone/>
                </a:pPr>
                <a:r>
                  <a:rPr lang="en-US" dirty="0"/>
                  <a:t>The slope </a:t>
                </a:r>
                <a14:m>
                  <m:oMath xmlns:m="http://schemas.openxmlformats.org/officeDocument/2006/math">
                    <m:sSub>
                      <m:sSubPr>
                        <m:ctrlPr>
                          <a:rPr lang="en-US" sz="3200" b="1" i="1" smtClean="0">
                            <a:solidFill>
                              <a:schemeClr val="tx1"/>
                            </a:solidFill>
                            <a:latin typeface="Cambria Math" panose="02040503050406030204" pitchFamily="18" charset="0"/>
                            <a:cs typeface="Times New Roman" panose="02020603050405020304" pitchFamily="18" charset="0"/>
                          </a:rPr>
                        </m:ctrlPr>
                      </m:sSubPr>
                      <m:e>
                        <m:r>
                          <a:rPr lang="en-US" sz="3200" b="1" i="1">
                            <a:solidFill>
                              <a:schemeClr val="tx1"/>
                            </a:solidFill>
                            <a:latin typeface="Cambria Math" panose="02040503050406030204"/>
                            <a:cs typeface="Times New Roman" panose="02020603050405020304" pitchFamily="18" charset="0"/>
                          </a:rPr>
                          <m:t>𝒃</m:t>
                        </m:r>
                      </m:e>
                      <m:sub>
                        <m:r>
                          <a:rPr lang="en-US" sz="3200" b="1" i="1" smtClean="0">
                            <a:solidFill>
                              <a:schemeClr val="tx1"/>
                            </a:solidFill>
                            <a:latin typeface="Cambria Math" panose="02040503050406030204"/>
                            <a:cs typeface="Times New Roman" panose="02020603050405020304" pitchFamily="18" charset="0"/>
                          </a:rPr>
                          <m:t>𝟏</m:t>
                        </m:r>
                      </m:sub>
                    </m:sSub>
                  </m:oMath>
                </a14:m>
                <a:r>
                  <a:rPr lang="en-US" dirty="0"/>
                  <a:t> = 5</a:t>
                </a:r>
              </a:p>
              <a:p>
                <a:pPr marL="0" indent="0" algn="just">
                  <a:buNone/>
                </a:pPr>
                <a14:m>
                  <m:oMath xmlns:m="http://schemas.openxmlformats.org/officeDocument/2006/math">
                    <m:sSub>
                      <m:sSubPr>
                        <m:ctrlPr>
                          <a:rPr lang="en-US" sz="3200" b="1" i="1" smtClean="0">
                            <a:solidFill>
                              <a:schemeClr val="tx1"/>
                            </a:solidFill>
                            <a:latin typeface="Cambria Math" panose="02040503050406030204" pitchFamily="18" charset="0"/>
                            <a:cs typeface="Times New Roman" panose="02020603050405020304" pitchFamily="18" charset="0"/>
                          </a:rPr>
                        </m:ctrlPr>
                      </m:sSubPr>
                      <m:e>
                        <m:r>
                          <a:rPr lang="en-US" sz="3200" b="1" i="1">
                            <a:solidFill>
                              <a:schemeClr val="tx1"/>
                            </a:solidFill>
                            <a:latin typeface="Cambria Math" panose="02040503050406030204"/>
                            <a:cs typeface="Times New Roman" panose="02020603050405020304" pitchFamily="18" charset="0"/>
                          </a:rPr>
                          <m:t>𝒃</m:t>
                        </m:r>
                      </m:e>
                      <m:sub>
                        <m:r>
                          <a:rPr lang="en-US" sz="3200" b="1" i="1" smtClean="0">
                            <a:solidFill>
                              <a:schemeClr val="tx1"/>
                            </a:solidFill>
                            <a:latin typeface="Cambria Math" panose="02040503050406030204"/>
                            <a:cs typeface="Times New Roman" panose="02020603050405020304" pitchFamily="18" charset="0"/>
                          </a:rPr>
                          <m:t>𝟏</m:t>
                        </m:r>
                      </m:sub>
                    </m:sSub>
                    <m:r>
                      <a:rPr lang="en-US" sz="3200" b="1" i="1" smtClean="0">
                        <a:solidFill>
                          <a:schemeClr val="tx1"/>
                        </a:solidFill>
                        <a:latin typeface="Cambria Math" panose="02040503050406030204" pitchFamily="18" charset="0"/>
                        <a:cs typeface="Times New Roman" panose="02020603050405020304" pitchFamily="18" charset="0"/>
                      </a:rPr>
                      <m:t> </m:t>
                    </m:r>
                  </m:oMath>
                </a14:m>
                <a:r>
                  <a:rPr lang="en-US" dirty="0"/>
                  <a:t>=5 indicates that for each additional hour of studying, the exam score is expected to increase by 5 points.</a:t>
                </a:r>
              </a:p>
              <a:p>
                <a:pPr marL="0" indent="0" algn="just">
                  <a:buNone/>
                </a:pPr>
                <a:r>
                  <a:rPr lang="en-US" dirty="0"/>
                  <a:t>The intercept </a:t>
                </a:r>
                <a14:m>
                  <m:oMath xmlns:m="http://schemas.openxmlformats.org/officeDocument/2006/math">
                    <m:sSub>
                      <m:sSubPr>
                        <m:ctrlPr>
                          <a:rPr lang="en-US" sz="3200" b="1" i="1" smtClean="0">
                            <a:solidFill>
                              <a:schemeClr val="tx1"/>
                            </a:solidFill>
                            <a:latin typeface="Cambria Math" panose="02040503050406030204" pitchFamily="18" charset="0"/>
                            <a:cs typeface="Times New Roman" panose="02020603050405020304" pitchFamily="18" charset="0"/>
                          </a:rPr>
                        </m:ctrlPr>
                      </m:sSubPr>
                      <m:e>
                        <m:r>
                          <a:rPr lang="en-US" sz="3200" b="1" i="1">
                            <a:solidFill>
                              <a:schemeClr val="tx1"/>
                            </a:solidFill>
                            <a:latin typeface="Cambria Math" panose="02040503050406030204"/>
                            <a:cs typeface="Times New Roman" panose="02020603050405020304" pitchFamily="18" charset="0"/>
                          </a:rPr>
                          <m:t>𝒃</m:t>
                        </m:r>
                      </m:e>
                      <m:sub>
                        <m:r>
                          <a:rPr lang="en-US" sz="3200" b="1" i="1">
                            <a:solidFill>
                              <a:schemeClr val="tx1"/>
                            </a:solidFill>
                            <a:latin typeface="Cambria Math" panose="02040503050406030204"/>
                            <a:cs typeface="Times New Roman" panose="02020603050405020304" pitchFamily="18" charset="0"/>
                          </a:rPr>
                          <m:t>𝟎</m:t>
                        </m:r>
                      </m:sub>
                    </m:sSub>
                  </m:oMath>
                </a14:m>
                <a:r>
                  <a:rPr lang="en-US" sz="3200" dirty="0">
                    <a:solidFill>
                      <a:schemeClr val="tx1"/>
                    </a:solidFill>
                    <a:latin typeface="Times New Roman" panose="02020603050405020304" pitchFamily="18" charset="0"/>
                    <a:cs typeface="Times New Roman" panose="02020603050405020304" pitchFamily="18" charset="0"/>
                  </a:rPr>
                  <a:t> </a:t>
                </a:r>
                <a:r>
                  <a:rPr lang="en-US" dirty="0"/>
                  <a:t>= 50</a:t>
                </a:r>
              </a:p>
              <a:p>
                <a:pPr marL="0" indent="0" algn="just">
                  <a:buNone/>
                </a:pPr>
                <a14:m>
                  <m:oMath xmlns:m="http://schemas.openxmlformats.org/officeDocument/2006/math">
                    <m:sSub>
                      <m:sSubPr>
                        <m:ctrlPr>
                          <a:rPr lang="en-US" sz="3200" b="1" i="1" smtClean="0">
                            <a:solidFill>
                              <a:schemeClr val="tx1"/>
                            </a:solidFill>
                            <a:latin typeface="Cambria Math" panose="02040503050406030204" pitchFamily="18" charset="0"/>
                            <a:cs typeface="Times New Roman" panose="02020603050405020304" pitchFamily="18" charset="0"/>
                          </a:rPr>
                        </m:ctrlPr>
                      </m:sSubPr>
                      <m:e>
                        <m:r>
                          <a:rPr lang="en-US" sz="3200" b="1" i="1">
                            <a:solidFill>
                              <a:schemeClr val="tx1"/>
                            </a:solidFill>
                            <a:latin typeface="Cambria Math" panose="02040503050406030204"/>
                            <a:cs typeface="Times New Roman" panose="02020603050405020304" pitchFamily="18" charset="0"/>
                          </a:rPr>
                          <m:t>𝒃</m:t>
                        </m:r>
                      </m:e>
                      <m:sub>
                        <m:r>
                          <a:rPr lang="en-US" sz="3200" b="1" i="1">
                            <a:solidFill>
                              <a:schemeClr val="tx1"/>
                            </a:solidFill>
                            <a:latin typeface="Cambria Math" panose="02040503050406030204"/>
                            <a:cs typeface="Times New Roman" panose="02020603050405020304" pitchFamily="18" charset="0"/>
                          </a:rPr>
                          <m:t>𝟎</m:t>
                        </m:r>
                      </m:sub>
                    </m:sSub>
                  </m:oMath>
                </a14:m>
                <a:r>
                  <a:rPr lang="en-US" sz="3200" dirty="0">
                    <a:solidFill>
                      <a:schemeClr val="tx1"/>
                    </a:solidFill>
                    <a:latin typeface="Times New Roman" panose="02020603050405020304" pitchFamily="18" charset="0"/>
                    <a:cs typeface="Times New Roman" panose="02020603050405020304" pitchFamily="18" charset="0"/>
                  </a:rPr>
                  <a:t> </a:t>
                </a:r>
                <a:r>
                  <a:rPr lang="en-US" dirty="0"/>
                  <a:t>=50 suggests that if a student studies 0 hours, the predicted exam score would be 50 points.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111" t="-2561" r="-1111" b="-539"/>
                </a:stretch>
              </a:blipFill>
            </p:spPr>
            <p:txBody>
              <a:bodyPr/>
              <a:lstStyle/>
              <a:p>
                <a:r>
                  <a:rPr 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buNone/>
            </a:pPr>
            <a:r>
              <a:rPr lang="en-US" b="1"/>
              <a:t>Example calculation using the slope:</a:t>
            </a:r>
            <a:endParaRPr lang="en-US"/>
          </a:p>
          <a:p>
            <a:pPr marL="0" indent="0" algn="just">
              <a:buNone/>
            </a:pPr>
            <a:endParaRPr lang="en-US"/>
          </a:p>
          <a:p>
            <a:pPr marL="0" indent="0" algn="just">
              <a:buNone/>
            </a:pPr>
            <a:r>
              <a:rPr lang="en-US"/>
              <a:t>If a student studies 4 hours (𝑥= 4 ),</a:t>
            </a:r>
          </a:p>
          <a:p>
            <a:pPr marL="0" indent="0" algn="just">
              <a:buNone/>
            </a:pPr>
            <a:r>
              <a:rPr lang="en-US"/>
              <a:t>the predicted score is: y=5(4)+50=20+50=70</a:t>
            </a:r>
          </a:p>
          <a:p>
            <a:pPr marL="0" indent="0" algn="just">
              <a:buNone/>
            </a:pPr>
            <a:endParaRPr lang="en-US"/>
          </a:p>
          <a:p>
            <a:pPr marL="0" indent="0" algn="just">
              <a:buNone/>
            </a:pPr>
            <a:r>
              <a:rPr lang="en-US"/>
              <a:t>Thus, according to this regression model, studying for an extra hour would raise a student’s expected exam score by 5 points.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434975"/>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Multiple 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This involves multiple independent variables and a single dependent variable. The equation for simple linear regression is: </a:t>
                </a:r>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centerGroup"/>
                    </m:oMathParaPr>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𝒚</m:t>
                      </m:r>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𝟏</m:t>
                          </m:r>
                        </m:sub>
                      </m:s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𝟑</m:t>
                          </m:r>
                        </m:sub>
                      </m:s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𝟑</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𝒃</m:t>
                          </m:r>
                        </m:e>
                        <m:sub>
                          <m:r>
                            <a:rPr lang="en-US" sz="1800" b="1" i="1" smtClean="0">
                              <a:solidFill>
                                <a:schemeClr val="tx1"/>
                              </a:solidFill>
                              <a:latin typeface="Cambria Math" panose="02040503050406030204"/>
                              <a:cs typeface="Times New Roman" panose="02020603050405020304" pitchFamily="18" charset="0"/>
                            </a:rPr>
                            <m:t>𝒏</m:t>
                          </m:r>
                        </m:sub>
                      </m:s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𝒏</m:t>
                          </m:r>
                        </m:sub>
                      </m:sSub>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where</a:t>
                </a:r>
              </a:p>
              <a:p>
                <a:pPr marL="285750" indent="-285750" algn="just">
                  <a:buFont typeface="Wingdings" panose="05000000000000000000" pitchFamily="2" charset="2"/>
                  <a:buChar char="§"/>
                </a:pPr>
                <a:r>
                  <a:rPr lang="en-US" sz="1800" dirty="0">
                    <a:solidFill>
                      <a:schemeClr val="tx1"/>
                    </a:solidFill>
                    <a:latin typeface="Times New Roman" panose="02020603050405020304" pitchFamily="18" charset="0"/>
                    <a:cs typeface="Times New Roman" panose="02020603050405020304" pitchFamily="18" charset="0"/>
                  </a:rPr>
                  <a:t>y is the dependent variable</a:t>
                </a: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𝟐</m:t>
                        </m:r>
                      </m:sub>
                    </m:sSub>
                    <m:r>
                      <a:rPr lang="en-US" sz="1800" b="1" i="1" smtClean="0">
                        <a:solidFill>
                          <a:schemeClr val="tx1"/>
                        </a:solidFill>
                        <a:latin typeface="Cambria Math" panose="02040503050406030204"/>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𝒏</m:t>
                        </m:r>
                      </m:sub>
                    </m:sSub>
                    <m:r>
                      <a:rPr lang="en-US" sz="1800" b="1" i="1" smtClean="0">
                        <a:solidFill>
                          <a:schemeClr val="tx1"/>
                        </a:solidFill>
                        <a:latin typeface="Cambria Math" panose="02040503050406030204"/>
                        <a:cs typeface="Times New Roman" panose="02020603050405020304" pitchFamily="18" charset="0"/>
                      </a:rPr>
                      <m:t> </m:t>
                    </m:r>
                  </m:oMath>
                </a14:m>
                <a:r>
                  <a:rPr lang="en-US" sz="1800" dirty="0">
                    <a:solidFill>
                      <a:schemeClr val="tx1"/>
                    </a:solidFill>
                    <a:latin typeface="Times New Roman" panose="02020603050405020304" pitchFamily="18" charset="0"/>
                    <a:cs typeface="Times New Roman" panose="02020603050405020304" pitchFamily="18" charset="0"/>
                  </a:rPr>
                  <a:t>are the independent variables</a:t>
                </a: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𝟎</m:t>
                        </m:r>
                      </m:sub>
                    </m:sSub>
                  </m:oMath>
                </a14:m>
                <a:r>
                  <a:rPr lang="en-US" sz="1800" dirty="0">
                    <a:solidFill>
                      <a:schemeClr val="tx1"/>
                    </a:solidFill>
                    <a:latin typeface="Times New Roman" panose="02020603050405020304" pitchFamily="18" charset="0"/>
                    <a:cs typeface="Times New Roman" panose="02020603050405020304" pitchFamily="18" charset="0"/>
                  </a:rPr>
                  <a:t> is the intercept</a:t>
                </a:r>
              </a:p>
              <a:p>
                <a:pPr marL="285750" indent="-285750" algn="just">
                  <a:buFont typeface="Wingdings" panose="05000000000000000000" pitchFamily="2" charset="2"/>
                  <a:buChar char="§"/>
                </a:pP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𝒃</m:t>
                        </m:r>
                      </m:e>
                      <m:sub>
                        <m:r>
                          <a:rPr lang="en-US" sz="1800" b="1" i="1">
                            <a:solidFill>
                              <a:schemeClr val="tx1"/>
                            </a:solidFill>
                            <a:latin typeface="Cambria Math" panose="02040503050406030204"/>
                            <a:cs typeface="Times New Roman" panose="02020603050405020304" pitchFamily="18" charset="0"/>
                          </a:rPr>
                          <m:t>𝒏</m:t>
                        </m:r>
                      </m:sub>
                    </m:sSub>
                    <m:r>
                      <a:rPr lang="en-US" sz="1800" b="1" i="1" smtClean="0">
                        <a:solidFill>
                          <a:schemeClr val="tx1"/>
                        </a:solidFill>
                        <a:latin typeface="Cambria Math" panose="02040503050406030204"/>
                        <a:cs typeface="Times New Roman" panose="02020603050405020304" pitchFamily="18" charset="0"/>
                      </a:rPr>
                      <m:t> </m:t>
                    </m:r>
                  </m:oMath>
                </a14:m>
                <a:r>
                  <a:rPr lang="en-US" sz="1800" dirty="0">
                    <a:solidFill>
                      <a:schemeClr val="tx1"/>
                    </a:solidFill>
                    <a:latin typeface="Times New Roman" panose="02020603050405020304" pitchFamily="18" charset="0"/>
                    <a:cs typeface="Times New Roman" panose="02020603050405020304" pitchFamily="18" charset="0"/>
                  </a:rPr>
                  <a:t> are the slopes</a:t>
                </a: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609600"/>
            <a:ext cx="3886200" cy="457199"/>
          </a:xfrm>
        </p:spPr>
        <p:txBody>
          <a:bodyPr>
            <a:normAutofit fontScale="90000"/>
          </a:bodyPr>
          <a:lstStyle/>
          <a:p>
            <a:r>
              <a:rPr lang="en-US" dirty="0"/>
              <a:t>Example</a:t>
            </a:r>
          </a:p>
        </p:txBody>
      </p:sp>
      <p:sp>
        <p:nvSpPr>
          <p:cNvPr id="3" name="Content Placeholder 2"/>
          <p:cNvSpPr>
            <a:spLocks noGrp="1"/>
          </p:cNvSpPr>
          <p:nvPr>
            <p:ph idx="1"/>
          </p:nvPr>
        </p:nvSpPr>
        <p:spPr/>
        <p:txBody>
          <a:bodyPr>
            <a:normAutofit fontScale="75000" lnSpcReduction="20000"/>
          </a:bodyPr>
          <a:lstStyle/>
          <a:p>
            <a:pPr marL="0" indent="0">
              <a:buNone/>
            </a:pPr>
            <a:r>
              <a:rPr lang="en-US"/>
              <a:t>Scenario</a:t>
            </a:r>
          </a:p>
          <a:p>
            <a:pPr marL="0" indent="0">
              <a:buNone/>
            </a:pPr>
            <a:r>
              <a:rPr lang="en-US"/>
              <a:t>Imagine we want to predict a person’s monthly salary (y) based on their years of education (x1) and years of work experience (x2). The multiple regression model would look like this:</a:t>
            </a:r>
          </a:p>
          <a:p>
            <a:pPr marL="0" indent="0">
              <a:buNone/>
            </a:pPr>
            <a:r>
              <a:rPr lang="en-US"/>
              <a:t>y=b0+b1x1+b2x2</a:t>
            </a:r>
          </a:p>
          <a:p>
            <a:pPr marL="0" indent="0">
              <a:buNone/>
            </a:pPr>
            <a:r>
              <a:rPr lang="en-US"/>
              <a:t>Where:</a:t>
            </a:r>
          </a:p>
          <a:p>
            <a:pPr marL="0" indent="0">
              <a:buNone/>
            </a:pPr>
            <a:r>
              <a:rPr lang="en-US"/>
              <a:t>Y is the monthly salary (dependent variable),</a:t>
            </a:r>
          </a:p>
          <a:p>
            <a:pPr marL="0" indent="0">
              <a:buNone/>
            </a:pPr>
            <a:r>
              <a:rPr lang="en-US"/>
              <a:t>X</a:t>
            </a:r>
            <a:r>
              <a:rPr lang="en-US" baseline="-25000"/>
              <a:t>1​</a:t>
            </a:r>
            <a:r>
              <a:rPr lang="en-US"/>
              <a:t> is the number of years of education,</a:t>
            </a:r>
          </a:p>
          <a:p>
            <a:pPr marL="0" indent="0">
              <a:buNone/>
            </a:pPr>
            <a:r>
              <a:rPr lang="en-US"/>
              <a:t>x</a:t>
            </a:r>
            <a:r>
              <a:rPr lang="en-US" baseline="-25000"/>
              <a:t>2</a:t>
            </a:r>
            <a:r>
              <a:rPr lang="en-US"/>
              <a:t> is the number of years of work experience,</a:t>
            </a:r>
          </a:p>
          <a:p>
            <a:pPr marL="0" indent="0">
              <a:buNone/>
            </a:pPr>
            <a:r>
              <a:rPr lang="en-US"/>
              <a:t>b</a:t>
            </a:r>
            <a:r>
              <a:rPr lang="en-US" baseline="-25000"/>
              <a:t>0</a:t>
            </a:r>
            <a:r>
              <a:rPr lang="en-US"/>
              <a:t> is the intercept (baseline salary if x1 and x2 are zero),</a:t>
            </a:r>
          </a:p>
          <a:p>
            <a:pPr marL="0" indent="0">
              <a:buNone/>
            </a:pPr>
            <a:r>
              <a:rPr lang="en-US"/>
              <a:t>b</a:t>
            </a:r>
            <a:r>
              <a:rPr lang="en-US" baseline="-25000"/>
              <a:t>1​</a:t>
            </a:r>
            <a:r>
              <a:rPr lang="en-US"/>
              <a:t> and b</a:t>
            </a:r>
            <a:r>
              <a:rPr lang="en-US" baseline="-25000"/>
              <a:t>2</a:t>
            </a:r>
            <a:r>
              <a:rPr lang="en-US"/>
              <a:t> are the coefficients showing how much salary changes with each additional year of education and experience, respectively.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marL="0" indent="0" algn="just">
              <a:buNone/>
            </a:pPr>
            <a:r>
              <a:rPr lang="en-US"/>
              <a:t>Example Model Output</a:t>
            </a:r>
          </a:p>
          <a:p>
            <a:pPr marL="0" indent="0" algn="just">
              <a:buNone/>
            </a:pPr>
            <a:r>
              <a:rPr lang="en-US"/>
              <a:t>Let’s say we use data to fit this model, and the result is:</a:t>
            </a:r>
          </a:p>
          <a:p>
            <a:pPr marL="0" indent="0" algn="just">
              <a:buNone/>
            </a:pPr>
            <a:r>
              <a:rPr lang="en-US"/>
              <a:t>y=2000+1500x</a:t>
            </a:r>
            <a:r>
              <a:rPr lang="en-US" baseline="-25000"/>
              <a:t>1</a:t>
            </a:r>
            <a:r>
              <a:rPr lang="en-US"/>
              <a:t>+800x</a:t>
            </a:r>
            <a:r>
              <a:rPr lang="en-US" baseline="-25000"/>
              <a:t>2</a:t>
            </a:r>
            <a:endParaRPr lang="en-US"/>
          </a:p>
          <a:p>
            <a:pPr marL="0" indent="0" algn="just">
              <a:buNone/>
            </a:pPr>
            <a:r>
              <a:rPr lang="en-US"/>
              <a:t>Interpretation:</a:t>
            </a:r>
          </a:p>
          <a:p>
            <a:pPr marL="0" indent="0" algn="just">
              <a:buNone/>
            </a:pPr>
            <a:r>
              <a:rPr lang="en-US"/>
              <a:t>Intercept (2000): A baseline salary of $2,000 for someone with zero years of education and experience.</a:t>
            </a:r>
          </a:p>
          <a:p>
            <a:pPr marL="0" indent="0" algn="just">
              <a:buNone/>
            </a:pPr>
            <a:r>
              <a:rPr lang="en-US"/>
              <a:t>Coefficient for x</a:t>
            </a:r>
            <a:r>
              <a:rPr lang="en-US" baseline="-25000"/>
              <a:t>1</a:t>
            </a:r>
            <a:r>
              <a:rPr lang="en-US"/>
              <a:t> (1500): Each additional year of education increases the predicted salary by $1,500.</a:t>
            </a:r>
          </a:p>
          <a:p>
            <a:pPr marL="0" indent="0" algn="just">
              <a:buNone/>
            </a:pPr>
            <a:r>
              <a:rPr lang="en-US"/>
              <a:t>Coefficient for x</a:t>
            </a:r>
            <a:r>
              <a:rPr lang="en-US" baseline="-25000"/>
              <a:t>2</a:t>
            </a:r>
            <a:r>
              <a:rPr lang="en-US"/>
              <a:t> (800): Each additional year of work experience increases the predicted salary by $800.</a:t>
            </a:r>
          </a:p>
        </p:txBody>
      </p:sp>
      <p:sp>
        <p:nvSpPr>
          <p:cNvPr id="6" name="Title 1">
            <a:extLst>
              <a:ext uri="{FF2B5EF4-FFF2-40B4-BE49-F238E27FC236}">
                <a16:creationId xmlns:a16="http://schemas.microsoft.com/office/drawing/2014/main" id="{68432EBE-4BB7-EFBA-011C-058F057F68FA}"/>
              </a:ext>
            </a:extLst>
          </p:cNvPr>
          <p:cNvSpPr>
            <a:spLocks noGrp="1"/>
          </p:cNvSpPr>
          <p:nvPr>
            <p:ph type="title"/>
          </p:nvPr>
        </p:nvSpPr>
        <p:spPr>
          <a:xfrm>
            <a:off x="152400" y="609600"/>
            <a:ext cx="3886200" cy="457199"/>
          </a:xfrm>
        </p:spPr>
        <p:txBody>
          <a:bodyPr>
            <a:normAutofit fontScale="90000"/>
          </a:bodyPr>
          <a:lstStyle/>
          <a:p>
            <a:r>
              <a:rPr lang="en-US" dirty="0"/>
              <a:t>Example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buNone/>
            </a:pPr>
            <a:r>
              <a:rPr lang="en-US"/>
              <a:t>Using the Model</a:t>
            </a:r>
          </a:p>
          <a:p>
            <a:pPr marL="0" indent="0" algn="just">
              <a:buNone/>
            </a:pPr>
            <a:r>
              <a:rPr lang="en-US"/>
              <a:t>If a person has 16 years of education and 5 years of work experience, we can predict their salary as follows:</a:t>
            </a:r>
          </a:p>
          <a:p>
            <a:pPr marL="0" indent="0" algn="just">
              <a:buNone/>
            </a:pPr>
            <a:r>
              <a:rPr lang="en-US"/>
              <a:t>y=2000+1500(16)+800(5)=2000+24000+4000=30,000</a:t>
            </a:r>
          </a:p>
          <a:p>
            <a:pPr marL="0" indent="0" algn="just">
              <a:buNone/>
            </a:pPr>
            <a:r>
              <a:rPr lang="en-US"/>
              <a:t>So, based on this model, their predicted monthly salary would be $30,000</a:t>
            </a:r>
          </a:p>
        </p:txBody>
      </p:sp>
      <p:sp>
        <p:nvSpPr>
          <p:cNvPr id="6" name="Title 1">
            <a:extLst>
              <a:ext uri="{FF2B5EF4-FFF2-40B4-BE49-F238E27FC236}">
                <a16:creationId xmlns:a16="http://schemas.microsoft.com/office/drawing/2014/main" id="{5A636553-C16A-2209-E98E-F183FB7980E1}"/>
              </a:ext>
            </a:extLst>
          </p:cNvPr>
          <p:cNvSpPr>
            <a:spLocks noGrp="1"/>
          </p:cNvSpPr>
          <p:nvPr>
            <p:ph type="title"/>
          </p:nvPr>
        </p:nvSpPr>
        <p:spPr>
          <a:xfrm>
            <a:off x="152400" y="609600"/>
            <a:ext cx="3886200" cy="457199"/>
          </a:xfrm>
        </p:spPr>
        <p:txBody>
          <a:bodyPr>
            <a:normAutofit fontScale="90000"/>
          </a:bodyPr>
          <a:lstStyle/>
          <a:p>
            <a:r>
              <a:rPr lang="en-US" dirty="0"/>
              <a:t>Example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428879"/>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The objective of the algorithm is to determine the </a:t>
            </a:r>
            <a:r>
              <a:rPr lang="en-US" sz="1800" b="1" dirty="0">
                <a:solidFill>
                  <a:schemeClr val="tx1"/>
                </a:solidFill>
                <a:latin typeface="Times New Roman" panose="02020603050405020304" pitchFamily="18" charset="0"/>
                <a:cs typeface="Times New Roman" panose="02020603050405020304" pitchFamily="18" charset="0"/>
              </a:rPr>
              <a:t>best-fit line equation </a:t>
            </a:r>
            <a:r>
              <a:rPr lang="en-US" sz="1800" dirty="0">
                <a:solidFill>
                  <a:schemeClr val="tx1"/>
                </a:solidFill>
                <a:latin typeface="Times New Roman" panose="02020603050405020304" pitchFamily="18" charset="0"/>
                <a:cs typeface="Times New Roman" panose="02020603050405020304" pitchFamily="18" charset="0"/>
              </a:rPr>
              <a:t>that can predict values based on the independent variables.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regression, a dataset with </a:t>
            </a:r>
            <a:r>
              <a:rPr lang="en-US" sz="1800" b="1" dirty="0">
                <a:solidFill>
                  <a:schemeClr val="tx1"/>
                </a:solidFill>
                <a:latin typeface="Times New Roman" panose="02020603050405020304" pitchFamily="18" charset="0"/>
                <a:cs typeface="Times New Roman" panose="02020603050405020304" pitchFamily="18" charset="0"/>
              </a:rPr>
              <a:t>X</a:t>
            </a:r>
            <a:r>
              <a:rPr lang="en-US" sz="1800" dirty="0">
                <a:solidFill>
                  <a:schemeClr val="tx1"/>
                </a:solidFill>
                <a:latin typeface="Times New Roman" panose="02020603050405020304" pitchFamily="18" charset="0"/>
                <a:cs typeface="Times New Roman" panose="02020603050405020304" pitchFamily="18" charset="0"/>
              </a:rPr>
              <a:t> and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values is provided, and these values are used to </a:t>
            </a:r>
            <a:r>
              <a:rPr lang="en-US" sz="1800" b="1" dirty="0">
                <a:solidFill>
                  <a:schemeClr val="tx1"/>
                </a:solidFill>
                <a:latin typeface="Times New Roman" panose="02020603050405020304" pitchFamily="18" charset="0"/>
                <a:cs typeface="Times New Roman" panose="02020603050405020304" pitchFamily="18" charset="0"/>
              </a:rPr>
              <a:t>train</a:t>
            </a:r>
            <a:r>
              <a:rPr lang="en-US" sz="1800" dirty="0">
                <a:solidFill>
                  <a:schemeClr val="tx1"/>
                </a:solidFill>
                <a:latin typeface="Times New Roman" panose="02020603050405020304" pitchFamily="18" charset="0"/>
                <a:cs typeface="Times New Roman" panose="02020603050405020304" pitchFamily="18" charset="0"/>
              </a:rPr>
              <a:t> a function. Once trained, this function can be applied to predict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for an </a:t>
            </a:r>
            <a:r>
              <a:rPr lang="en-US" sz="1800" b="1" dirty="0">
                <a:solidFill>
                  <a:schemeClr val="tx1"/>
                </a:solidFill>
                <a:latin typeface="Times New Roman" panose="02020603050405020304" pitchFamily="18" charset="0"/>
                <a:cs typeface="Times New Roman" panose="02020603050405020304" pitchFamily="18" charset="0"/>
              </a:rPr>
              <a:t>unknown X</a:t>
            </a:r>
            <a:r>
              <a:rPr lang="en-US" sz="1800" dirty="0">
                <a:solidFill>
                  <a:schemeClr val="tx1"/>
                </a:solidFill>
                <a:latin typeface="Times New Roman" panose="02020603050405020304" pitchFamily="18" charset="0"/>
                <a:cs typeface="Times New Roman" panose="02020603050405020304" pitchFamily="18" charset="0"/>
              </a:rPr>
              <a:t>.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regression, the goal is to estimate the value of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meaning a function is needed that predicts the continuous </a:t>
            </a:r>
            <a:r>
              <a:rPr lang="en-US" sz="1800" b="1" dirty="0">
                <a:solidFill>
                  <a:schemeClr val="tx1"/>
                </a:solidFill>
                <a:latin typeface="Times New Roman" panose="02020603050405020304" pitchFamily="18" charset="0"/>
                <a:cs typeface="Times New Roman" panose="02020603050405020304" pitchFamily="18" charset="0"/>
              </a:rPr>
              <a:t>Y</a:t>
            </a:r>
            <a:r>
              <a:rPr lang="en-US" sz="1800" dirty="0">
                <a:solidFill>
                  <a:schemeClr val="tx1"/>
                </a:solidFill>
                <a:latin typeface="Times New Roman" panose="02020603050405020304" pitchFamily="18" charset="0"/>
                <a:cs typeface="Times New Roman" panose="02020603050405020304" pitchFamily="18" charset="0"/>
              </a:rPr>
              <a:t> value given </a:t>
            </a:r>
            <a:r>
              <a:rPr lang="en-US" sz="1800" b="1" dirty="0">
                <a:solidFill>
                  <a:schemeClr val="tx1"/>
                </a:solidFill>
                <a:latin typeface="Times New Roman" panose="02020603050405020304" pitchFamily="18" charset="0"/>
                <a:cs typeface="Times New Roman" panose="02020603050405020304" pitchFamily="18" charset="0"/>
              </a:rPr>
              <a:t>X</a:t>
            </a:r>
            <a:r>
              <a:rPr lang="en-US" sz="1800" dirty="0">
                <a:solidFill>
                  <a:schemeClr val="tx1"/>
                </a:solidFill>
                <a:latin typeface="Times New Roman" panose="02020603050405020304" pitchFamily="18" charset="0"/>
                <a:cs typeface="Times New Roman" panose="02020603050405020304" pitchFamily="18" charset="0"/>
              </a:rPr>
              <a:t> as the independent variable(s).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434975"/>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W</a:t>
            </a:r>
            <a:r>
              <a:rPr lang="en-US" sz="1800" b="1" dirty="0">
                <a:solidFill>
                  <a:schemeClr val="tx1"/>
                </a:solidFill>
                <a:latin typeface="Times New Roman" panose="02020603050405020304" pitchFamily="18" charset="0"/>
                <a:cs typeface="Times New Roman" panose="02020603050405020304" pitchFamily="18" charset="0"/>
              </a:rPr>
              <a:t>hat is the best Fit Line?</a:t>
            </a:r>
          </a:p>
          <a:p>
            <a:pPr algn="just"/>
            <a:r>
              <a:rPr lang="en-US" sz="1800" dirty="0">
                <a:solidFill>
                  <a:schemeClr val="tx1"/>
                </a:solidFill>
                <a:latin typeface="Times New Roman" panose="02020603050405020304" pitchFamily="18" charset="0"/>
                <a:cs typeface="Times New Roman" panose="02020603050405020304" pitchFamily="18" charset="0"/>
              </a:rPr>
              <a:t>The main goal of using linear regression is to find the best-fit line, which </a:t>
            </a:r>
            <a:r>
              <a:rPr lang="en-US" sz="1800" b="1" dirty="0">
                <a:solidFill>
                  <a:schemeClr val="tx1"/>
                </a:solidFill>
                <a:latin typeface="Times New Roman" panose="02020603050405020304" pitchFamily="18" charset="0"/>
                <a:cs typeface="Times New Roman" panose="02020603050405020304" pitchFamily="18" charset="0"/>
              </a:rPr>
              <a:t>minimizes the error </a:t>
            </a:r>
            <a:r>
              <a:rPr lang="en-US" sz="1800" dirty="0">
                <a:solidFill>
                  <a:schemeClr val="tx1"/>
                </a:solidFill>
                <a:latin typeface="Times New Roman" panose="02020603050405020304" pitchFamily="18" charset="0"/>
                <a:cs typeface="Times New Roman" panose="02020603050405020304" pitchFamily="18" charset="0"/>
              </a:rPr>
              <a:t>between the predicted and actual values. The best-fit line will have the least amount of error. </a:t>
            </a:r>
          </a:p>
          <a:p>
            <a:pPr algn="just"/>
            <a:r>
              <a:rPr lang="en-US" sz="1800" dirty="0">
                <a:solidFill>
                  <a:schemeClr val="tx1"/>
                </a:solidFill>
                <a:latin typeface="Times New Roman" panose="02020603050405020304" pitchFamily="18" charset="0"/>
                <a:cs typeface="Times New Roman" panose="02020603050405020304" pitchFamily="18" charset="0"/>
              </a:rPr>
              <a:t>The equation of the best-fit line represents the relationship between the dependent and independent variables, with the slope indicating how much the dependent variable changes in response to a unit change in the independent variable(s).</a:t>
            </a:r>
          </a:p>
        </p:txBody>
      </p:sp>
      <p:pic>
        <p:nvPicPr>
          <p:cNvPr id="4098" name="Picture 2" descr="Linear Regression in Machine lear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429000"/>
            <a:ext cx="4982774" cy="3124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590800" y="6399311"/>
            <a:ext cx="4572000" cy="307777"/>
          </a:xfrm>
          <a:prstGeom prst="rect">
            <a:avLst/>
          </a:prstGeom>
        </p:spPr>
        <p:txBody>
          <a:bodyPr>
            <a:spAutoFit/>
          </a:bodyPr>
          <a:lstStyle/>
          <a:p>
            <a:r>
              <a:rPr lang="en-US" sz="1400" dirty="0">
                <a:solidFill>
                  <a:schemeClr val="bg1">
                    <a:lumMod val="75000"/>
                  </a:schemeClr>
                </a:solidFill>
              </a:rPr>
              <a:t>https://www.geeksforgeeks.org/ml-linear-regression/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401447"/>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Error and Cost Function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Let </a:t>
                </a:r>
                <a14:m>
                  <m:oMath xmlns:m="http://schemas.openxmlformats.org/officeDocument/2006/math">
                    <m:acc>
                      <m:accPr>
                        <m:chr m:val="̂"/>
                        <m:ctrlPr>
                          <a:rPr lang="en-US" sz="1800" b="1" i="1" smtClean="0">
                            <a:solidFill>
                              <a:schemeClr val="tx1"/>
                            </a:solidFill>
                            <a:latin typeface="Cambria Math" panose="02040503050406030204" pitchFamily="18" charset="0"/>
                            <a:cs typeface="Times New Roman" panose="02020603050405020304" pitchFamily="18" charset="0"/>
                          </a:rPr>
                        </m:ctrlPr>
                      </m:accPr>
                      <m:e>
                        <m:sSub>
                          <m:sSubPr>
                            <m:ctrlPr>
                              <a:rPr lang="en-US" sz="1800" b="1" i="1" smtClean="0">
                                <a:solidFill>
                                  <a:schemeClr val="tx1"/>
                                </a:solidFill>
                                <a:latin typeface="Cambria Math" panose="02040503050406030204" pitchFamily="18" charset="0"/>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𝒚</m:t>
                            </m:r>
                          </m:e>
                          <m:sub>
                            <m:r>
                              <a:rPr lang="en-US" sz="1800" b="1" i="1" smtClean="0">
                                <a:solidFill>
                                  <a:schemeClr val="tx1"/>
                                </a:solidFill>
                                <a:latin typeface="Cambria Math" panose="02040503050406030204"/>
                                <a:cs typeface="Times New Roman" panose="02020603050405020304" pitchFamily="18" charset="0"/>
                              </a:rPr>
                              <m:t>𝒊</m:t>
                            </m:r>
                          </m:sub>
                        </m:sSub>
                      </m:e>
                    </m:acc>
                    <m:r>
                      <a:rPr lang="en-US" sz="1800" b="1" i="1" smtClean="0">
                        <a:solidFill>
                          <a:schemeClr val="tx1"/>
                        </a:solidFill>
                        <a:latin typeface="Cambria Math" panose="02040503050406030204"/>
                        <a:cs typeface="Times New Roman" panose="02020603050405020304" pitchFamily="18" charset="0"/>
                      </a:rPr>
                      <m:t>=</m:t>
                    </m:r>
                    <m:sSub>
                      <m:sSubPr>
                        <m:ctrlPr>
                          <a:rPr lang="en-US" sz="1800" b="1" i="1" smtClean="0">
                            <a:solidFill>
                              <a:schemeClr val="tx1"/>
                            </a:solidFill>
                            <a:latin typeface="Cambria Math" panose="02040503050406030204" pitchFamily="18" charset="0"/>
                            <a:cs typeface="Times New Roman" panose="02020603050405020304" pitchFamily="18" charset="0"/>
                          </a:rPr>
                        </m:ctrlPr>
                      </m:sSubPr>
                      <m:e>
                        <m:r>
                          <a:rPr lang="en-US" sz="1800" b="1" i="1" smtClean="0">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sSub>
                      <m:sSubPr>
                        <m:ctrlPr>
                          <a:rPr lang="en-US" sz="1800" b="1" i="1" smtClean="0">
                            <a:solidFill>
                              <a:schemeClr val="tx1"/>
                            </a:solidFill>
                            <a:latin typeface="Cambria Math" panose="02040503050406030204" pitchFamily="18" charset="0"/>
                            <a:cs typeface="Times New Roman" panose="02020603050405020304" pitchFamily="18" charset="0"/>
                          </a:rPr>
                        </m:ctrlPr>
                      </m:sSubPr>
                      <m:e>
                        <m:r>
                          <a:rPr lang="en-US" sz="1800" b="1" i="1" smtClean="0">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cs typeface="Times New Roman" panose="02020603050405020304" pitchFamily="18" charset="0"/>
                          </a:rPr>
                          <m:t>𝟐</m:t>
                        </m:r>
                      </m:sub>
                    </m:sSub>
                    <m:sSub>
                      <m:sSubPr>
                        <m:ctrlPr>
                          <a:rPr lang="en-US" sz="1800" b="1" i="1" smtClean="0">
                            <a:solidFill>
                              <a:schemeClr val="tx1"/>
                            </a:solidFill>
                            <a:latin typeface="Cambria Math" panose="02040503050406030204" pitchFamily="18" charset="0"/>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𝒙</m:t>
                        </m:r>
                      </m:e>
                      <m:sub>
                        <m:r>
                          <a:rPr lang="en-US" sz="1800" b="1" i="1" smtClean="0">
                            <a:solidFill>
                              <a:schemeClr val="tx1"/>
                            </a:solidFill>
                            <a:latin typeface="Cambria Math" panose="02040503050406030204"/>
                            <a:cs typeface="Times New Roman" panose="02020603050405020304" pitchFamily="18" charset="0"/>
                          </a:rPr>
                          <m:t>𝒊</m:t>
                        </m:r>
                      </m:sub>
                    </m:sSub>
                  </m:oMath>
                </a14:m>
                <a:r>
                  <a:rPr lang="en-US" sz="1800" b="1"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be the prediction for input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sz="1800" b="1" i="1" smtClean="0">
                            <a:solidFill>
                              <a:schemeClr val="tx1"/>
                            </a:solidFill>
                            <a:latin typeface="Cambria Math" panose="02040503050406030204" pitchFamily="18" charset="0"/>
                            <a:cs typeface="Times New Roman" panose="02020603050405020304" pitchFamily="18" charset="0"/>
                          </a:rPr>
                        </m:ctrlPr>
                      </m:sSubPr>
                      <m:e>
                        <m:r>
                          <a:rPr lang="en-US" sz="1800" b="1" i="1" smtClean="0">
                            <a:solidFill>
                              <a:schemeClr val="tx1"/>
                            </a:solidFill>
                            <a:latin typeface="Cambria Math" panose="02040503050406030204"/>
                            <a:cs typeface="Times New Roman" panose="02020603050405020304" pitchFamily="18" charset="0"/>
                          </a:rPr>
                          <m:t>𝒚</m:t>
                        </m:r>
                      </m:e>
                      <m:sub>
                        <m:r>
                          <a:rPr lang="en-US" sz="1800" b="1" i="1" smtClean="0">
                            <a:solidFill>
                              <a:schemeClr val="tx1"/>
                            </a:solidFill>
                            <a:latin typeface="Cambria Math" panose="02040503050406030204"/>
                            <a:cs typeface="Times New Roman" panose="02020603050405020304" pitchFamily="18" charset="0"/>
                          </a:rPr>
                          <m:t>𝒊</m:t>
                        </m:r>
                      </m:sub>
                    </m:sSub>
                    <m:r>
                      <a:rPr lang="en-US" sz="1800" b="0" i="1" smtClean="0">
                        <a:solidFill>
                          <a:schemeClr val="tx1"/>
                        </a:solidFill>
                        <a:latin typeface="Cambria Math" panose="02040503050406030204"/>
                        <a:cs typeface="Times New Roman" panose="02020603050405020304" pitchFamily="18" charset="0"/>
                      </a:rPr>
                      <m:t> </m:t>
                    </m:r>
                  </m:oMath>
                </a14:m>
                <a:r>
                  <a:rPr lang="en-US" sz="1800" dirty="0">
                    <a:solidFill>
                      <a:schemeClr val="tx1"/>
                    </a:solidFill>
                    <a:latin typeface="Times New Roman" panose="02020603050405020304" pitchFamily="18" charset="0"/>
                    <a:cs typeface="Times New Roman" panose="02020603050405020304" pitchFamily="18" charset="0"/>
                  </a:rPr>
                  <a:t>be the correct value for input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So, the error would be </a:t>
                </a:r>
                <a14:m>
                  <m:oMath xmlns:m="http://schemas.openxmlformats.org/officeDocument/2006/math">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smtClean="0">
                        <a:solidFill>
                          <a:schemeClr val="tx1"/>
                        </a:solidFill>
                        <a:latin typeface="Cambria Math" panose="02040503050406030204"/>
                        <a:cs typeface="Times New Roman" panose="02020603050405020304" pitchFamily="18" charset="0"/>
                      </a:rPr>
                      <m:t>−</m:t>
                    </m:r>
                  </m:oMath>
                </a14:m>
                <a:r>
                  <a:rPr lang="en-US" sz="1800" b="1" dirty="0">
                    <a:solidFill>
                      <a:schemeClr val="tx1"/>
                    </a:solidFill>
                    <a:cs typeface="Times New Roman" panose="02020603050405020304" pitchFamily="18" charset="0"/>
                  </a:rPr>
                  <a:t>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a:solidFill>
                      <a:schemeClr val="tx1"/>
                    </a:solidFill>
                    <a:latin typeface="Times New Roman" panose="02020603050405020304" pitchFamily="18" charset="0"/>
                    <a:cs typeface="Times New Roman" panose="02020603050405020304" pitchFamily="18" charset="0"/>
                  </a:rPr>
                  <a:t>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objective the best line would be to minimize the Mean Squared Error (MSE) cost function,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1800" b="1" i="0" smtClean="0">
                        <a:solidFill>
                          <a:schemeClr val="tx1"/>
                        </a:solidFill>
                        <a:latin typeface="Cambria Math" panose="02040503050406030204"/>
                        <a:cs typeface="Times New Roman" panose="02020603050405020304" pitchFamily="18" charset="0"/>
                      </a:rPr>
                      <m:t>𝐉</m:t>
                    </m:r>
                    <m:r>
                      <a:rPr lang="en-US" sz="1800" b="0" i="0" smtClean="0">
                        <a:solidFill>
                          <a:schemeClr val="tx1"/>
                        </a:solidFill>
                        <a:latin typeface="Cambria Math" panose="02040503050406030204"/>
                        <a:cs typeface="Times New Roman" panose="02020603050405020304" pitchFamily="18" charset="0"/>
                      </a:rPr>
                      <m:t>=</m:t>
                    </m:r>
                    <m:f>
                      <m:fPr>
                        <m:ctrlPr>
                          <a:rPr lang="en-US" sz="1800" b="1" i="1" smtClean="0">
                            <a:solidFill>
                              <a:schemeClr val="tx1"/>
                            </a:solidFill>
                            <a:latin typeface="Cambria Math" panose="02040503050406030204" pitchFamily="18" charset="0"/>
                            <a:cs typeface="Times New Roman" panose="02020603050405020304" pitchFamily="18" charset="0"/>
                          </a:rPr>
                        </m:ctrlPr>
                      </m:fPr>
                      <m:num>
                        <m:r>
                          <a:rPr lang="en-US" sz="1800" b="1" i="1" smtClean="0">
                            <a:solidFill>
                              <a:schemeClr val="tx1"/>
                            </a:solidFill>
                            <a:latin typeface="Cambria Math" panose="02040503050406030204"/>
                            <a:cs typeface="Times New Roman" panose="02020603050405020304" pitchFamily="18" charset="0"/>
                          </a:rPr>
                          <m:t>𝟏</m:t>
                        </m:r>
                      </m:num>
                      <m:den>
                        <m:r>
                          <a:rPr lang="en-US" sz="1800" b="1" i="1" smtClean="0">
                            <a:solidFill>
                              <a:schemeClr val="tx1"/>
                            </a:solidFill>
                            <a:latin typeface="Cambria Math" panose="02040503050406030204"/>
                            <a:cs typeface="Times New Roman" panose="02020603050405020304" pitchFamily="18" charset="0"/>
                          </a:rPr>
                          <m:t>𝒏</m:t>
                        </m:r>
                      </m:den>
                    </m:f>
                    <m:nary>
                      <m:naryPr>
                        <m:chr m:val="∑"/>
                        <m:ctrlPr>
                          <a:rPr lang="en-US" sz="1800" b="1" i="1" smtClean="0">
                            <a:solidFill>
                              <a:schemeClr val="tx1"/>
                            </a:solidFill>
                            <a:latin typeface="Cambria Math" panose="02040503050406030204" pitchFamily="18" charset="0"/>
                            <a:cs typeface="Times New Roman" panose="02020603050405020304" pitchFamily="18" charset="0"/>
                          </a:rPr>
                        </m:ctrlPr>
                      </m:naryPr>
                      <m:sub>
                        <m:r>
                          <m:rPr>
                            <m:brk m:alnAt="23"/>
                          </m:rPr>
                          <a:rPr lang="en-US" sz="1800" b="1" i="1" smtClean="0">
                            <a:solidFill>
                              <a:schemeClr val="tx1"/>
                            </a:solidFill>
                            <a:latin typeface="Cambria Math" panose="02040503050406030204"/>
                            <a:cs typeface="Times New Roman" panose="02020603050405020304" pitchFamily="18" charset="0"/>
                          </a:rPr>
                          <m:t>𝒊</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m:t>
                        </m:r>
                      </m:sub>
                      <m:sup>
                        <m:r>
                          <a:rPr lang="en-US" sz="1800" b="1" i="1" smtClean="0">
                            <a:solidFill>
                              <a:schemeClr val="tx1"/>
                            </a:solidFill>
                            <a:latin typeface="Cambria Math" panose="02040503050406030204"/>
                            <a:cs typeface="Times New Roman" panose="02020603050405020304" pitchFamily="18" charset="0"/>
                          </a:rPr>
                          <m:t>𝒏</m:t>
                        </m:r>
                      </m:sup>
                      <m:e>
                        <m:sSup>
                          <m:sSupPr>
                            <m:ctrlPr>
                              <a:rPr lang="en-US" sz="1800" b="1" i="1" smtClean="0">
                                <a:solidFill>
                                  <a:schemeClr val="tx1"/>
                                </a:solidFill>
                                <a:latin typeface="Cambria Math" panose="02040503050406030204" pitchFamily="18" charset="0"/>
                                <a:cs typeface="Times New Roman" panose="02020603050405020304" pitchFamily="18" charset="0"/>
                              </a:rPr>
                            </m:ctrlPr>
                          </m:sSupPr>
                          <m:e>
                            <m:r>
                              <a:rPr lang="en-US" sz="1800" b="1" i="1" smtClean="0">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e>
                          <m:sup>
                            <m:r>
                              <a:rPr lang="en-US" sz="1800" b="1" i="1" smtClean="0">
                                <a:solidFill>
                                  <a:schemeClr val="tx1"/>
                                </a:solidFill>
                                <a:latin typeface="Cambria Math" panose="02040503050406030204"/>
                                <a:cs typeface="Times New Roman" panose="02020603050405020304" pitchFamily="18" charset="0"/>
                              </a:rPr>
                              <m:t>𝟐</m:t>
                            </m:r>
                          </m:sup>
                        </m:sSup>
                      </m:e>
                    </m:nary>
                  </m:oMath>
                </a14:m>
                <a:endParaRPr lang="en-US" sz="1800" b="1" dirty="0">
                  <a:solidFill>
                    <a:schemeClr val="tx1"/>
                  </a:solidFill>
                  <a:latin typeface="Times New Roman" panose="02020603050405020304" pitchFamily="18" charset="0"/>
                  <a:cs typeface="Times New Roman" panose="02020603050405020304" pitchFamily="18" charset="0"/>
                </a:endParaRPr>
              </a:p>
              <a:p>
                <a:pPr algn="just"/>
                <a:endParaRPr lang="en-US" sz="1800"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343400"/>
              </a:xfrm>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434975"/>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Gradient Descent for Linear Regression</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 linear regression model can be </a:t>
                </a:r>
                <a:r>
                  <a:rPr lang="en-US" sz="1800" b="1" dirty="0">
                    <a:solidFill>
                      <a:schemeClr val="tx1"/>
                    </a:solidFill>
                    <a:latin typeface="Times New Roman" panose="02020603050405020304" pitchFamily="18" charset="0"/>
                    <a:cs typeface="Times New Roman" panose="02020603050405020304" pitchFamily="18" charset="0"/>
                  </a:rPr>
                  <a:t>trained</a:t>
                </a:r>
                <a:r>
                  <a:rPr lang="en-US" sz="1800" dirty="0">
                    <a:solidFill>
                      <a:schemeClr val="tx1"/>
                    </a:solidFill>
                    <a:latin typeface="Times New Roman" panose="02020603050405020304" pitchFamily="18" charset="0"/>
                    <a:cs typeface="Times New Roman" panose="02020603050405020304" pitchFamily="18" charset="0"/>
                  </a:rPr>
                  <a:t> using the </a:t>
                </a:r>
                <a:r>
                  <a:rPr lang="en-US" sz="1800" b="1" dirty="0">
                    <a:solidFill>
                      <a:schemeClr val="tx1"/>
                    </a:solidFill>
                    <a:latin typeface="Times New Roman" panose="02020603050405020304" pitchFamily="18" charset="0"/>
                    <a:cs typeface="Times New Roman" panose="02020603050405020304" pitchFamily="18" charset="0"/>
                  </a:rPr>
                  <a:t>gradient descent </a:t>
                </a:r>
                <a:r>
                  <a:rPr lang="en-US" sz="1800" dirty="0">
                    <a:solidFill>
                      <a:schemeClr val="tx1"/>
                    </a:solidFill>
                    <a:latin typeface="Times New Roman" panose="02020603050405020304" pitchFamily="18" charset="0"/>
                    <a:cs typeface="Times New Roman" panose="02020603050405020304" pitchFamily="18" charset="0"/>
                  </a:rPr>
                  <a:t>optimization algorithm, which iteratively adjusts the model's parameters to minimize the mean squared error (MSE) on the training dataset.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To update the values of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 and reduce the cost function (by minimizing the MSE), the model applies Gradient Descent.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process begins with random values for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smtClean="0">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 and these values are progressively updated to achieve the lowest possible cost, ultimately resulting in the best-fit line.</a:t>
                </a: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343400"/>
              </a:xfrm>
              <a:blipFill>
                <a:blip r:embed="rId2"/>
                <a:stretch>
                  <a:fillRect l="-735" t="-701" r="-653"/>
                </a:stretch>
              </a:blipFill>
            </p:spPr>
            <p:txBody>
              <a:bodyPr/>
              <a:lstStyle/>
              <a:p>
                <a:r>
                  <a:rPr 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4572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fontScale="92500" lnSpcReduction="1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Gradient Descent for Linear Regression</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 gradient is essentially a derivative that describes how slight changes in the inputs of a function affect its outputs.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If we differentiate the cost function </a:t>
                </a:r>
                <a:r>
                  <a:rPr lang="en-US" sz="1800" b="1" dirty="0">
                    <a:solidFill>
                      <a:schemeClr val="tx1"/>
                    </a:solidFill>
                    <a:latin typeface="Times New Roman" panose="02020603050405020304" pitchFamily="18" charset="0"/>
                    <a:cs typeface="Times New Roman" panose="02020603050405020304" pitchFamily="18" charset="0"/>
                  </a:rPr>
                  <a:t>J</a:t>
                </a:r>
                <a:r>
                  <a:rPr lang="en-US" sz="1800" dirty="0">
                    <a:solidFill>
                      <a:schemeClr val="tx1"/>
                    </a:solidFill>
                    <a:latin typeface="Times New Roman" panose="02020603050405020304" pitchFamily="18" charset="0"/>
                    <a:cs typeface="Times New Roman" panose="02020603050405020304" pitchFamily="18" charset="0"/>
                  </a:rPr>
                  <a:t> with respect to ​</a:t>
                </a:r>
                <a:r>
                  <a:rPr lang="en-US" sz="1800" b="1" dirty="0">
                    <a:solidFill>
                      <a:schemeClr val="tx1"/>
                    </a:solidFill>
                    <a:cs typeface="Times New Roman" panose="02020603050405020304" pitchFamily="18" charset="0"/>
                  </a:rPr>
                  <a:t>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 </a:t>
                </a:r>
              </a:p>
              <a:p>
                <a:pPr algn="l"/>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pitchFamily="18" charset="0"/>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sub>
                      </m:sSub>
                      <m:r>
                        <a:rPr lang="en-US" sz="1800" b="0" i="1" smtClean="0">
                          <a:solidFill>
                            <a:schemeClr val="tx1"/>
                          </a:solidFill>
                          <a:latin typeface="Cambria Math" panose="02040503050406030204"/>
                          <a:cs typeface="Times New Roman" panose="02020603050405020304" pitchFamily="18" charset="0"/>
                        </a:rPr>
                        <m:t>=</m:t>
                      </m:r>
                      <m:f>
                        <m:fPr>
                          <m:ctrlPr>
                            <a:rPr lang="en-US" sz="1800" b="1" i="1" smtClean="0">
                              <a:solidFill>
                                <a:schemeClr val="tx1"/>
                              </a:solidFill>
                              <a:latin typeface="Cambria Math" panose="02040503050406030204" pitchFamily="18" charset="0"/>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den>
                      </m:f>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pitchFamily="18" charset="0"/>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oMath>
                  </m:oMathPara>
                </a14:m>
                <a:endParaRPr lang="en-US" sz="1800" b="1" i="1" dirty="0">
                  <a:solidFill>
                    <a:schemeClr val="tx1"/>
                  </a:solidFill>
                  <a:latin typeface="Cambria Math" panose="02040503050406030204"/>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smtClean="0">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den>
                      </m:f>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den>
                            </m:f>
                            <m:r>
                              <a:rPr lang="en-US" sz="1800" b="1" i="1" smtClean="0">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e>
                    </m:nary>
                  </m:oMath>
                </a14:m>
                <a:r>
                  <a:rPr lang="en-US" sz="1800" dirty="0">
                    <a:solidFill>
                      <a:schemeClr val="tx1"/>
                    </a:solidFill>
                    <a:latin typeface="Times New Roman" panose="02020603050405020304" pitchFamily="18" charset="0"/>
                    <a:cs typeface="Times New Roman" panose="02020603050405020304" pitchFamily="18" charset="0"/>
                  </a:rPr>
                  <a:t> </a:t>
                </a:r>
                <a:endParaRPr lang="en-US" sz="1800" i="1" dirty="0">
                  <a:solidFill>
                    <a:schemeClr val="tx1"/>
                  </a:solidFill>
                  <a:latin typeface="Cambria Math" panose="02040503050406030204"/>
                  <a:cs typeface="Times New Roman" panose="02020603050405020304" pitchFamily="18" charset="0"/>
                </a:endParaRPr>
              </a:p>
              <a:p>
                <a:pPr algn="just"/>
                <a14:m>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 (</m:t>
                        </m:r>
                        <m:r>
                          <a:rPr lang="en-US" sz="1800" b="1" i="1">
                            <a:solidFill>
                              <a:schemeClr val="tx1"/>
                            </a:solidFill>
                            <a:latin typeface="Cambria Math" panose="02040503050406030204"/>
                            <a:cs typeface="Times New Roman" panose="02020603050405020304" pitchFamily="18" charset="0"/>
                          </a:rPr>
                          <m:t>𝟏</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e>
                    </m:nary>
                    <m:r>
                      <a:rPr lang="en-US" sz="1800" b="1" i="1">
                        <a:solidFill>
                          <a:schemeClr val="tx1"/>
                        </a:solidFill>
                        <a:latin typeface="Cambria Math" panose="02040503050406030204"/>
                        <a:cs typeface="Times New Roman" panose="02020603050405020304" pitchFamily="18" charset="0"/>
                      </a:rPr>
                      <m:t>)</m:t>
                    </m:r>
                  </m:oMath>
                </a14:m>
                <a:r>
                  <a:rPr lang="en-US" sz="1800" dirty="0">
                    <a:solidFill>
                      <a:schemeClr val="tx1"/>
                    </a:solidFill>
                    <a:latin typeface="Times New Roman" panose="02020603050405020304" pitchFamily="18" charset="0"/>
                    <a:cs typeface="Times New Roman" panose="02020603050405020304" pitchFamily="18" charset="0"/>
                  </a:rPr>
                  <a:t> </a:t>
                </a:r>
                <a:endParaRPr lang="en-US" sz="1800"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b="-7930"/>
                </a:stretch>
              </a:blipFill>
            </p:spPr>
            <p:txBody>
              <a:bodyPr/>
              <a:lstStyle/>
              <a:p>
                <a:r>
                  <a:rPr lang="en-US"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4572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Gradient Descent for Linear Regression</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If we differentiate the cost function </a:t>
                </a:r>
                <a:r>
                  <a:rPr lang="en-US" sz="1800" b="1" dirty="0">
                    <a:solidFill>
                      <a:schemeClr val="tx1"/>
                    </a:solidFill>
                    <a:latin typeface="Times New Roman" panose="02020603050405020304" pitchFamily="18" charset="0"/>
                    <a:cs typeface="Times New Roman" panose="02020603050405020304" pitchFamily="18" charset="0"/>
                  </a:rPr>
                  <a:t>J</a:t>
                </a:r>
                <a:r>
                  <a:rPr lang="en-US" sz="1800" dirty="0">
                    <a:solidFill>
                      <a:schemeClr val="tx1"/>
                    </a:solidFill>
                    <a:latin typeface="Times New Roman" panose="02020603050405020304" pitchFamily="18" charset="0"/>
                    <a:cs typeface="Times New Roman" panose="02020603050405020304" pitchFamily="18" charset="0"/>
                  </a:rPr>
                  <a:t> with respect to ​</a:t>
                </a:r>
                <a:r>
                  <a:rPr lang="en-US" sz="1800" b="1" dirty="0">
                    <a:solidFill>
                      <a:schemeClr val="tx1"/>
                    </a:solidFill>
                    <a:cs typeface="Times New Roman" panose="02020603050405020304" pitchFamily="18" charset="0"/>
                  </a:rPr>
                  <a:t>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 </a:t>
                </a:r>
              </a:p>
              <a:p>
                <a:pPr algn="l"/>
                <a14:m>
                  <m:oMathPara xmlns:m="http://schemas.openxmlformats.org/officeDocument/2006/math">
                    <m:oMathParaPr>
                      <m:jc m:val="left"/>
                    </m:oMathParaPr>
                    <m:oMath xmlns:m="http://schemas.openxmlformats.org/officeDocument/2006/math">
                      <m:sSub>
                        <m:sSubPr>
                          <m:ctrlPr>
                            <a:rPr lang="en-US" sz="1800" i="1" smtClean="0">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pitchFamily="18" charset="0"/>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b="0" i="1" smtClean="0">
                          <a:solidFill>
                            <a:schemeClr val="tx1"/>
                          </a:solidFill>
                          <a:latin typeface="Cambria Math" panose="02040503050406030204"/>
                          <a:cs typeface="Times New Roman" panose="02020603050405020304" pitchFamily="18" charset="0"/>
                        </a:rPr>
                        <m:t>=</m:t>
                      </m:r>
                      <m:f>
                        <m:fPr>
                          <m:ctrlPr>
                            <a:rPr lang="en-US" sz="1800" b="1" i="1" smtClean="0">
                              <a:solidFill>
                                <a:schemeClr val="tx1"/>
                              </a:solidFill>
                              <a:latin typeface="Cambria Math" panose="02040503050406030204" pitchFamily="18" charset="0"/>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den>
                      </m:f>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pitchFamily="18" charset="0"/>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oMath>
                  </m:oMathPara>
                </a14:m>
                <a:endParaRPr lang="en-US" sz="1800" b="1" i="1" dirty="0">
                  <a:solidFill>
                    <a:schemeClr val="tx1"/>
                  </a:solidFill>
                  <a:latin typeface="Cambria Math" panose="02040503050406030204"/>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smtClean="0">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den>
                      </m:f>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i="1" dirty="0">
                                    <a:solidFill>
                                      <a:schemeClr val="tx1"/>
                                    </a:solidFill>
                                    <a:latin typeface="Cambria Math" panose="02040503050406030204"/>
                                    <a:ea typeface="Cambria Math" panose="02040503050406030204"/>
                                    <a:cs typeface="Times New Roman" panose="02020603050405020304" pitchFamily="18" charset="0"/>
                                  </a:rPr>
                                  <m:t>𝜕</m:t>
                                </m:r>
                              </m:num>
                              <m:den>
                                <m:r>
                                  <a:rPr lang="en-US" sz="1800" i="1" dirty="0">
                                    <a:solidFill>
                                      <a:schemeClr val="tx1"/>
                                    </a:solidFill>
                                    <a:latin typeface="Cambria Math" panose="02040503050406030204"/>
                                    <a:ea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den>
                            </m:f>
                            <m:r>
                              <a:rPr lang="en-US" sz="1800" b="1" i="1" smtClean="0">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e>
                    </m:nary>
                  </m:oMath>
                </a14:m>
                <a:r>
                  <a:rPr lang="en-US" sz="1800" dirty="0">
                    <a:solidFill>
                      <a:schemeClr val="tx1"/>
                    </a:solidFill>
                    <a:latin typeface="Times New Roman" panose="02020603050405020304" pitchFamily="18" charset="0"/>
                    <a:cs typeface="Times New Roman" panose="02020603050405020304" pitchFamily="18" charset="0"/>
                  </a:rPr>
                  <a:t> </a:t>
                </a:r>
                <a:endParaRPr lang="en-US" sz="1800" i="1" dirty="0">
                  <a:solidFill>
                    <a:schemeClr val="tx1"/>
                  </a:solidFill>
                  <a:latin typeface="Cambria Math" panose="02040503050406030204"/>
                  <a:cs typeface="Times New Roman" panose="02020603050405020304" pitchFamily="18" charset="0"/>
                </a:endParaRPr>
              </a:p>
              <a:p>
                <a:pPr algn="just"/>
                <a14:m>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𝟐</m:t>
                        </m:r>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 (</m:t>
                        </m:r>
                        <m:r>
                          <a:rPr lang="en-US" sz="1800" b="1" i="1" smtClean="0">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e>
                    </m:nary>
                    <m:r>
                      <a:rPr lang="en-US" sz="1800" b="1" i="1">
                        <a:solidFill>
                          <a:schemeClr val="tx1"/>
                        </a:solidFill>
                        <a:latin typeface="Cambria Math" panose="02040503050406030204"/>
                        <a:cs typeface="Times New Roman" panose="02020603050405020304" pitchFamily="18" charset="0"/>
                      </a:rPr>
                      <m:t>)</m:t>
                    </m:r>
                  </m:oMath>
                </a14:m>
                <a:r>
                  <a:rPr lang="en-US" sz="1800" dirty="0">
                    <a:solidFill>
                      <a:schemeClr val="tx1"/>
                    </a:solidFill>
                    <a:latin typeface="Times New Roman" panose="02020603050405020304" pitchFamily="18" charset="0"/>
                    <a:cs typeface="Times New Roman" panose="02020603050405020304" pitchFamily="18" charset="0"/>
                  </a:rPr>
                  <a:t>  </a:t>
                </a:r>
                <a:endParaRPr lang="en-US" sz="1800"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b="-6914"/>
                </a:stretch>
              </a:blipFill>
            </p:spPr>
            <p:txBody>
              <a:bodyPr/>
              <a:lstStyle/>
              <a:p>
                <a:r>
                  <a:rPr lang="en-US"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430404"/>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mc:Choice xmlns:a14="http://schemas.microsoft.com/office/drawing/2010/main" Requires="a14">
          <p:sp>
            <p:nvSpPr>
              <p:cNvPr id="3" name="Subtitle 2"/>
              <p:cNvSpPr>
                <a:spLocks noGrp="1"/>
              </p:cNvSpPr>
              <p:nvPr>
                <p:ph type="subTitle" idx="1"/>
              </p:nvPr>
            </p:nvSpPr>
            <p:spPr>
              <a:xfrm>
                <a:off x="685800" y="1371600"/>
                <a:ext cx="7467600" cy="4876800"/>
              </a:xfrm>
            </p:spPr>
            <p:txBody>
              <a:bodyPr>
                <a:normAutofit lnSpcReduction="1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Update θ</a:t>
                </a:r>
                <a:r>
                  <a:rPr lang="en-US" sz="1800" b="1" baseline="-25000" dirty="0">
                    <a:solidFill>
                      <a:schemeClr val="tx1"/>
                    </a:solidFill>
                    <a:latin typeface="Times New Roman" panose="02020603050405020304" pitchFamily="18" charset="0"/>
                    <a:cs typeface="Times New Roman" panose="02020603050405020304" pitchFamily="18" charset="0"/>
                  </a:rPr>
                  <a:t>1 </a:t>
                </a:r>
                <a:r>
                  <a:rPr lang="en-US" sz="1800" b="1" dirty="0">
                    <a:solidFill>
                      <a:schemeClr val="tx1"/>
                    </a:solidFill>
                    <a:latin typeface="Times New Roman" panose="02020603050405020304" pitchFamily="18" charset="0"/>
                    <a:cs typeface="Times New Roman" panose="02020603050405020304" pitchFamily="18" charset="0"/>
                  </a:rPr>
                  <a:t>and θ</a:t>
                </a:r>
                <a:r>
                  <a:rPr lang="en-US" sz="1800" b="1" baseline="-25000" dirty="0">
                    <a:solidFill>
                      <a:schemeClr val="tx1"/>
                    </a:solidFill>
                    <a:latin typeface="Times New Roman" panose="02020603050405020304" pitchFamily="18" charset="0"/>
                    <a:cs typeface="Times New Roman" panose="02020603050405020304" pitchFamily="18" charset="0"/>
                  </a:rPr>
                  <a:t>2 </a:t>
                </a:r>
                <a:r>
                  <a:rPr lang="en-US" sz="1800" b="1" dirty="0">
                    <a:solidFill>
                      <a:schemeClr val="tx1"/>
                    </a:solidFill>
                    <a:latin typeface="Times New Roman" panose="02020603050405020304" pitchFamily="18" charset="0"/>
                    <a:cs typeface="Times New Roman" panose="02020603050405020304" pitchFamily="18" charset="0"/>
                  </a:rPr>
                  <a:t>values in order to reduce the Cost function</a:t>
                </a: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goal of linear regression is to determine the coefficients of a linear equation that best fits the training data. This is achieved by adjusting the coefficients in the direction of the negative gradient of the Mean Squared Error with respect to those coefficients. </a:t>
                </a:r>
              </a:p>
              <a:p>
                <a:pPr algn="just"/>
                <a:r>
                  <a:rPr lang="en-US" sz="1800" dirty="0">
                    <a:solidFill>
                      <a:schemeClr val="tx1"/>
                    </a:solidFill>
                    <a:latin typeface="Times New Roman" panose="02020603050405020304" pitchFamily="18" charset="0"/>
                    <a:cs typeface="Times New Roman" panose="02020603050405020304" pitchFamily="18" charset="0"/>
                  </a:rPr>
                  <a:t>The respective intercept and coefficient of </a:t>
                </a:r>
                <a:r>
                  <a:rPr lang="en-US" sz="1800" b="1" dirty="0">
                    <a:solidFill>
                      <a:schemeClr val="tx1"/>
                    </a:solidFill>
                    <a:latin typeface="Times New Roman" panose="02020603050405020304" pitchFamily="18" charset="0"/>
                    <a:cs typeface="Times New Roman" panose="02020603050405020304" pitchFamily="18" charset="0"/>
                  </a:rPr>
                  <a:t>X</a:t>
                </a:r>
                <a:r>
                  <a:rPr lang="en-US" sz="1800" dirty="0">
                    <a:solidFill>
                      <a:schemeClr val="tx1"/>
                    </a:solidFill>
                    <a:latin typeface="Times New Roman" panose="02020603050405020304" pitchFamily="18" charset="0"/>
                    <a:cs typeface="Times New Roman" panose="02020603050405020304" pitchFamily="18" charset="0"/>
                  </a:rPr>
                  <a:t> will be adjusted by a factor of </a:t>
                </a:r>
                <a:r>
                  <a:rPr lang="en-US" sz="1800" b="1" dirty="0">
                    <a:solidFill>
                      <a:schemeClr val="tx1"/>
                    </a:solidFill>
                    <a:latin typeface="Times New Roman" panose="02020603050405020304" pitchFamily="18" charset="0"/>
                    <a:cs typeface="Times New Roman" panose="02020603050405020304" pitchFamily="18" charset="0"/>
                  </a:rPr>
                  <a:t>α</a:t>
                </a:r>
                <a:r>
                  <a:rPr lang="en-US" sz="1800" dirty="0">
                    <a:solidFill>
                      <a:schemeClr val="tx1"/>
                    </a:solidFill>
                    <a:latin typeface="Times New Roman" panose="02020603050405020304" pitchFamily="18" charset="0"/>
                    <a:cs typeface="Times New Roman" panose="02020603050405020304" pitchFamily="18" charset="0"/>
                  </a:rPr>
                  <a:t>, where α represents the learning rate.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ea typeface="Cambria Math" panose="02040503050406030204"/>
                        <a:cs typeface="Times New Roman" panose="02020603050405020304" pitchFamily="18" charset="0"/>
                      </a:rPr>
                      <m:t>𝜶</m:t>
                    </m:r>
                    <m:r>
                      <a:rPr lang="en-US" sz="1800" b="1" i="1" smtClean="0">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pitchFamily="18" charset="0"/>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sub>
                    </m:sSub>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d>
                          <m:dPr>
                            <m:ctrlPr>
                              <a:rPr lang="en-US" sz="1800" b="1" i="1">
                                <a:solidFill>
                                  <a:schemeClr val="tx1"/>
                                </a:solidFill>
                                <a:latin typeface="Cambria Math" panose="02040503050406030204" pitchFamily="18" charset="0"/>
                                <a:cs typeface="Times New Roman" panose="02020603050405020304" pitchFamily="18" charset="0"/>
                              </a:rPr>
                            </m:ctrlPr>
                          </m:dPr>
                          <m:e>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d>
                      </m:e>
                    </m:nary>
                    <m:r>
                      <a:rPr lang="en-US" sz="1800" b="1" i="1" smtClean="0">
                        <a:solidFill>
                          <a:schemeClr val="tx1"/>
                        </a:solidFill>
                        <a:latin typeface="Cambria Math" panose="02040503050406030204"/>
                        <a:cs typeface="Times New Roman" panose="02020603050405020304" pitchFamily="18" charset="0"/>
                      </a:rPr>
                      <m:t> </m:t>
                    </m:r>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pitchFamily="18" charset="0"/>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d>
                          <m:dPr>
                            <m:ctrlPr>
                              <a:rPr lang="en-US" sz="1800" b="1" i="1">
                                <a:solidFill>
                                  <a:schemeClr val="tx1"/>
                                </a:solidFill>
                                <a:latin typeface="Cambria Math" panose="02040503050406030204" pitchFamily="18" charset="0"/>
                                <a:cs typeface="Times New Roman" panose="02020603050405020304" pitchFamily="18" charset="0"/>
                              </a:rPr>
                            </m:ctrlPr>
                          </m:dPr>
                          <m:e>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d>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e>
                    </m:nary>
                    <m:r>
                      <a:rPr lang="en-US" sz="1800" b="1" i="1">
                        <a:solidFill>
                          <a:schemeClr val="tx1"/>
                        </a:solidFill>
                        <a:latin typeface="Cambria Math" panose="02040503050406030204"/>
                        <a:cs typeface="Times New Roman" panose="02020603050405020304" pitchFamily="18" charset="0"/>
                      </a:rPr>
                      <m:t> </m:t>
                    </m:r>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rgbClr val="00B050"/>
                    </a:solidFill>
                    <a:latin typeface="Times New Roman" panose="02020603050405020304" pitchFamily="18" charset="0"/>
                    <a:cs typeface="Times New Roman" panose="02020603050405020304" pitchFamily="18" charset="0"/>
                  </a:rPr>
                  <a:t>Repeat until convergence</a:t>
                </a: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876800"/>
              </a:xfrm>
              <a:blipFill>
                <a:blip r:embed="rId2"/>
                <a:stretch>
                  <a:fillRect l="-735" t="-1125" r="-653"/>
                </a:stretch>
              </a:blipFill>
            </p:spPr>
            <p:txBody>
              <a:bodyPr/>
              <a:lstStyle/>
              <a:p>
                <a:r>
                  <a:rPr lang="en-US">
                    <a:noFill/>
                  </a:rPr>
                  <a:t> </a:t>
                </a:r>
              </a:p>
            </p:txBody>
          </p:sp>
        </mc:Fallback>
      </mc:AlternateContent>
      <p:sp>
        <p:nvSpPr>
          <p:cNvPr id="4" name="AutoShape 2" descr="Gradient Descent -Geeksforgeek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5" name="AutoShape 4" descr="Gradient Descent -Geeksforgeek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6" descr="Gradient Descent -Geeksforgeeks"/>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3200400"/>
            <a:ext cx="4421464" cy="310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4040464" y="6305550"/>
            <a:ext cx="4572000" cy="276999"/>
          </a:xfrm>
          <a:prstGeom prst="rect">
            <a:avLst/>
          </a:prstGeom>
        </p:spPr>
        <p:txBody>
          <a:bodyPr>
            <a:spAutoFit/>
          </a:bodyPr>
          <a:lstStyle/>
          <a:p>
            <a:r>
              <a:rPr lang="en-US" sz="1200" dirty="0">
                <a:solidFill>
                  <a:schemeClr val="bg1">
                    <a:lumMod val="75000"/>
                  </a:schemeClr>
                </a:solidFill>
              </a:rPr>
              <a:t>https://www.geeksforgeeks.org/ml-linear-regression/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4572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09600" y="1295400"/>
                <a:ext cx="7467600" cy="4876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Numerical Example</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b="1" dirty="0">
                  <a:solidFill>
                    <a:schemeClr val="tx1"/>
                  </a:solidFill>
                  <a:latin typeface="Times New Roman" panose="02020603050405020304" pitchFamily="18" charset="0"/>
                  <a:cs typeface="Times New Roman" panose="02020603050405020304" pitchFamily="18" charset="0"/>
                </a:endParaRP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r>
                  <a:rPr lang="en-US" sz="1800" dirty="0">
                    <a:solidFill>
                      <a:schemeClr val="tx1"/>
                    </a:solidFill>
                    <a:latin typeface="Times New Roman" panose="02020603050405020304" pitchFamily="18" charset="0"/>
                    <a:cs typeface="Times New Roman" panose="02020603050405020304" pitchFamily="18" charset="0"/>
                  </a:rPr>
                  <a:t>Let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=300,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=10</a:t>
                </a:r>
              </a:p>
              <a:p>
                <a:pPr algn="l"/>
                <a:r>
                  <a:rPr lang="en-US" sz="1800" dirty="0">
                    <a:solidFill>
                      <a:schemeClr val="tx1"/>
                    </a:solidFill>
                    <a:latin typeface="Times New Roman" panose="02020603050405020304" pitchFamily="18" charset="0"/>
                    <a:cs typeface="Times New Roman" panose="02020603050405020304" pitchFamily="18" charset="0"/>
                  </a:rPr>
                  <a:t>Learning rate, </a:t>
                </a:r>
                <a14:m>
                  <m:oMath xmlns:m="http://schemas.openxmlformats.org/officeDocument/2006/math">
                    <m:r>
                      <a:rPr lang="en-US" sz="1800" i="1" smtClean="0">
                        <a:solidFill>
                          <a:schemeClr val="tx1"/>
                        </a:solidFill>
                        <a:latin typeface="Cambria Math" panose="02040503050406030204"/>
                        <a:ea typeface="Cambria Math" panose="02040503050406030204"/>
                        <a:cs typeface="Times New Roman" panose="02020603050405020304" pitchFamily="18" charset="0"/>
                      </a:rPr>
                      <m:t>𝛼</m:t>
                    </m:r>
                    <m:r>
                      <a:rPr lang="en-US" sz="1800" b="0" i="1" smtClean="0">
                        <a:solidFill>
                          <a:schemeClr val="tx1"/>
                        </a:solidFill>
                        <a:latin typeface="Cambria Math" panose="02040503050406030204"/>
                        <a:ea typeface="Cambria Math" panose="02040503050406030204"/>
                        <a:cs typeface="Times New Roman" panose="02020603050405020304" pitchFamily="18" charset="0"/>
                      </a:rPr>
                      <m:t>=0.0001</m:t>
                    </m:r>
                  </m:oMath>
                </a14:m>
                <a:endParaRPr lang="en-US" sz="1800" b="0" dirty="0">
                  <a:solidFill>
                    <a:schemeClr val="tx1"/>
                  </a:solidFill>
                  <a:latin typeface="Times New Roman" panose="02020603050405020304" pitchFamily="18" charset="0"/>
                  <a:ea typeface="Cambria Math" panose="02040503050406030204"/>
                  <a:cs typeface="Times New Roman" panose="02020603050405020304" pitchFamily="18" charset="0"/>
                </a:endParaRP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r>
                        <a:rPr lang="en-US" sz="1800" b="1">
                          <a:solidFill>
                            <a:schemeClr val="tx1"/>
                          </a:solidFill>
                          <a:latin typeface="Cambria Math" panose="02040503050406030204"/>
                          <a:cs typeface="Times New Roman" panose="02020603050405020304" pitchFamily="18" charset="0"/>
                        </a:rPr>
                        <m:t>𝐉</m:t>
                      </m:r>
                      <m:r>
                        <a:rPr lang="en-US" sz="180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pitchFamily="18" charset="0"/>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r>
                        <a:rPr lang="en-US" sz="1800" b="0"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pitchFamily="18" charset="0"/>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sup>
                              <m:r>
                                <a:rPr lang="en-US" sz="1800" b="1" i="1">
                                  <a:solidFill>
                                    <a:schemeClr val="tx1"/>
                                  </a:solidFill>
                                  <a:latin typeface="Cambria Math" panose="02040503050406030204"/>
                                  <a:cs typeface="Times New Roman" panose="02020603050405020304" pitchFamily="18" charset="0"/>
                                </a:rPr>
                                <m:t>𝟐</m:t>
                              </m:r>
                            </m:sup>
                          </m:sSup>
                        </m:e>
                      </m:nary>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l"/>
                <a14:m>
                  <m:oMath xmlns:m="http://schemas.openxmlformats.org/officeDocument/2006/math">
                    <m:r>
                      <a:rPr lang="en-US" sz="1800" b="0" i="1" smtClean="0">
                        <a:solidFill>
                          <a:schemeClr val="tx1"/>
                        </a:solidFill>
                        <a:latin typeface="Cambria Math" panose="02040503050406030204"/>
                        <a:cs typeface="Times New Roman" panose="02020603050405020304" pitchFamily="18" charset="0"/>
                      </a:rPr>
                      <m:t>=</m:t>
                    </m:r>
                    <m:f>
                      <m:fPr>
                        <m:ctrlPr>
                          <a:rPr lang="en-US" sz="1800" b="0" i="1" smtClean="0">
                            <a:solidFill>
                              <a:schemeClr val="tx1"/>
                            </a:solidFill>
                            <a:latin typeface="Cambria Math" panose="02040503050406030204" pitchFamily="18" charset="0"/>
                            <a:cs typeface="Times New Roman" panose="02020603050405020304" pitchFamily="18" charset="0"/>
                          </a:rPr>
                        </m:ctrlPr>
                      </m:fPr>
                      <m:num>
                        <m:r>
                          <a:rPr lang="en-US" sz="1800" b="0" i="1" smtClean="0">
                            <a:solidFill>
                              <a:schemeClr val="tx1"/>
                            </a:solidFill>
                            <a:latin typeface="Cambria Math" panose="02040503050406030204"/>
                            <a:cs typeface="Times New Roman" panose="02020603050405020304" pitchFamily="18" charset="0"/>
                          </a:rPr>
                          <m:t>1</m:t>
                        </m:r>
                      </m:num>
                      <m:den>
                        <m:r>
                          <a:rPr lang="en-US" sz="1800" b="0" i="1" smtClean="0">
                            <a:solidFill>
                              <a:schemeClr val="tx1"/>
                            </a:solidFill>
                            <a:latin typeface="Cambria Math" panose="02040503050406030204"/>
                            <a:cs typeface="Times New Roman" panose="02020603050405020304" pitchFamily="18" charset="0"/>
                          </a:rPr>
                          <m:t>7</m:t>
                        </m:r>
                      </m:den>
                    </m:f>
                    <m:r>
                      <a:rPr lang="en-US" sz="1800" b="0" i="1" smtClean="0">
                        <a:solidFill>
                          <a:schemeClr val="tx1"/>
                        </a:solidFill>
                        <a:latin typeface="Cambria Math" panose="02040503050406030204"/>
                        <a:cs typeface="Times New Roman" panose="02020603050405020304" pitchFamily="18" charset="0"/>
                      </a:rPr>
                      <m:t>[</m:t>
                    </m:r>
                    <m:sSup>
                      <m:sSupPr>
                        <m:ctrlPr>
                          <a:rPr lang="en-US" sz="1800" b="0" i="1" smtClean="0">
                            <a:solidFill>
                              <a:schemeClr val="tx1"/>
                            </a:solidFill>
                            <a:latin typeface="Cambria Math" panose="02040503050406030204" pitchFamily="18" charset="0"/>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(30</m:t>
                        </m:r>
                        <m:r>
                          <a:rPr lang="en-US" sz="1800" b="0" i="1" smtClean="0">
                            <a:solidFill>
                              <a:schemeClr val="tx1"/>
                            </a:solidFill>
                            <a:latin typeface="Cambria Math" panose="02040503050406030204" pitchFamily="18" charset="0"/>
                            <a:cs typeface="Times New Roman" panose="02020603050405020304" pitchFamily="18" charset="0"/>
                          </a:rPr>
                          <m:t>0+</m:t>
                        </m:r>
                        <m:r>
                          <a:rPr lang="en-US" sz="1800" i="1">
                            <a:solidFill>
                              <a:schemeClr val="tx1"/>
                            </a:solidFill>
                            <a:latin typeface="Cambria Math" panose="02040503050406030204"/>
                            <a:cs typeface="Times New Roman" panose="02020603050405020304" pitchFamily="18" charset="0"/>
                          </a:rPr>
                          <m:t>10∗30−800)</m:t>
                        </m:r>
                      </m:e>
                      <m:sup>
                        <m:r>
                          <a:rPr lang="en-US" sz="1800" b="0" i="1" smtClean="0">
                            <a:solidFill>
                              <a:schemeClr val="tx1"/>
                            </a:solidFill>
                            <a:latin typeface="Cambria Math" panose="02040503050406030204"/>
                            <a:cs typeface="Times New Roman" panose="02020603050405020304" pitchFamily="18" charset="0"/>
                          </a:rPr>
                          <m:t>2</m:t>
                        </m:r>
                      </m:sup>
                    </m:sSup>
                  </m:oMath>
                </a14:m>
                <a:r>
                  <a:rPr lang="en-US" sz="18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p>
                      <m:sSupPr>
                        <m:ctrlPr>
                          <a:rPr lang="en-US" sz="1800" i="1">
                            <a:solidFill>
                              <a:schemeClr val="tx1"/>
                            </a:solidFill>
                            <a:latin typeface="Cambria Math" panose="02040503050406030204" pitchFamily="18" charset="0"/>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(300</m:t>
                        </m:r>
                        <m:r>
                          <a:rPr lang="en-US" sz="1800" b="0" i="1" smtClean="0">
                            <a:solidFill>
                              <a:schemeClr val="tx1"/>
                            </a:solidFill>
                            <a:latin typeface="Cambria Math" panose="02040503050406030204" pitchFamily="18" charset="0"/>
                            <a:cs typeface="Times New Roman" panose="02020603050405020304" pitchFamily="18" charset="0"/>
                          </a:rPr>
                          <m:t>+</m:t>
                        </m:r>
                        <m:r>
                          <a:rPr lang="en-US" sz="1800" i="1">
                            <a:solidFill>
                              <a:schemeClr val="tx1"/>
                            </a:solidFill>
                            <a:latin typeface="Cambria Math" panose="02040503050406030204"/>
                            <a:cs typeface="Times New Roman" panose="02020603050405020304" pitchFamily="18" charset="0"/>
                          </a:rPr>
                          <m:t>10∗3</m:t>
                        </m:r>
                        <m:r>
                          <a:rPr lang="en-US" sz="1800" b="0" i="1" smtClean="0">
                            <a:solidFill>
                              <a:schemeClr val="tx1"/>
                            </a:solidFill>
                            <a:latin typeface="Cambria Math" panose="02040503050406030204"/>
                            <a:cs typeface="Times New Roman" panose="02020603050405020304" pitchFamily="18" charset="0"/>
                          </a:rPr>
                          <m:t>7</m:t>
                        </m:r>
                        <m:r>
                          <a:rPr lang="en-US" sz="1800" i="1">
                            <a:solidFill>
                              <a:schemeClr val="tx1"/>
                            </a:solidFill>
                            <a:latin typeface="Cambria Math" panose="02040503050406030204"/>
                            <a:cs typeface="Times New Roman" panose="02020603050405020304" pitchFamily="18" charset="0"/>
                          </a:rPr>
                          <m:t>−</m:t>
                        </m:r>
                        <m:r>
                          <a:rPr lang="en-US" sz="1800" b="0" i="1" smtClean="0">
                            <a:solidFill>
                              <a:schemeClr val="tx1"/>
                            </a:solidFill>
                            <a:latin typeface="Cambria Math" panose="02040503050406030204"/>
                            <a:cs typeface="Times New Roman" panose="02020603050405020304" pitchFamily="18" charset="0"/>
                          </a:rPr>
                          <m:t>95</m:t>
                        </m:r>
                        <m:r>
                          <a:rPr lang="en-US" sz="1800" i="1">
                            <a:solidFill>
                              <a:schemeClr val="tx1"/>
                            </a:solidFill>
                            <a:latin typeface="Cambria Math" panose="02040503050406030204"/>
                            <a:cs typeface="Times New Roman" panose="02020603050405020304" pitchFamily="18" charset="0"/>
                          </a:rPr>
                          <m:t>0)</m:t>
                        </m:r>
                      </m:e>
                      <m:sup>
                        <m:r>
                          <a:rPr lang="en-US" sz="1800" i="1">
                            <a:solidFill>
                              <a:schemeClr val="tx1"/>
                            </a:solidFill>
                            <a:latin typeface="Cambria Math" panose="02040503050406030204"/>
                            <a:cs typeface="Times New Roman" panose="02020603050405020304" pitchFamily="18" charset="0"/>
                          </a:rPr>
                          <m:t>2</m:t>
                        </m:r>
                      </m:sup>
                    </m:sSup>
                  </m:oMath>
                </a14:m>
                <a:r>
                  <a:rPr lang="en-US" sz="1800" dirty="0">
                    <a:solidFill>
                      <a:schemeClr val="tx1"/>
                    </a:solidFill>
                    <a:latin typeface="Times New Roman" panose="02020603050405020304" pitchFamily="18" charset="0"/>
                    <a:cs typeface="Times New Roman" panose="02020603050405020304" pitchFamily="18" charset="0"/>
                  </a:rPr>
                  <a:t>+…..</a:t>
                </a:r>
              </a:p>
              <a:p>
                <a:pPr algn="l"/>
                <a14:m>
                  <m:oMathPara xmlns:m="http://schemas.openxmlformats.org/officeDocument/2006/math">
                    <m:oMathParaPr>
                      <m:jc m:val="left"/>
                    </m:oMathParaPr>
                    <m:oMath xmlns:m="http://schemas.openxmlformats.org/officeDocument/2006/math">
                      <m:r>
                        <a:rPr lang="en-US" sz="1800" i="1" dirty="0" smtClean="0">
                          <a:solidFill>
                            <a:schemeClr val="tx1"/>
                          </a:solidFill>
                          <a:latin typeface="Cambria Math" panose="02040503050406030204"/>
                          <a:cs typeface="Times New Roman" panose="02020603050405020304" pitchFamily="18" charset="0"/>
                        </a:rPr>
                        <m:t>=74485.714</m:t>
                      </m:r>
                    </m:oMath>
                  </m:oMathPara>
                </a14:m>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09600" y="1295400"/>
                <a:ext cx="7467600" cy="4876800"/>
              </a:xfrm>
              <a:blipFill>
                <a:blip r:embed="rId2"/>
                <a:stretch>
                  <a:fillRect l="-653" t="-750"/>
                </a:stretch>
              </a:blipFill>
            </p:spPr>
            <p:txBody>
              <a:bodyPr/>
              <a:lstStyle/>
              <a:p>
                <a:r>
                  <a:rPr lang="en-US">
                    <a:noFill/>
                  </a:rPr>
                  <a:t> </a:t>
                </a:r>
              </a:p>
            </p:txBody>
          </p:sp>
        </mc:Fallback>
      </mc:AlternateContent>
      <p:graphicFrame>
        <p:nvGraphicFramePr>
          <p:cNvPr id="4" name="Table 3"/>
          <p:cNvGraphicFramePr>
            <a:graphicFrameLocks noGrp="1"/>
          </p:cNvGraphicFramePr>
          <p:nvPr/>
        </p:nvGraphicFramePr>
        <p:xfrm>
          <a:off x="6705600" y="1219200"/>
          <a:ext cx="2010537" cy="2961640"/>
        </p:xfrm>
        <a:graphic>
          <a:graphicData uri="http://schemas.openxmlformats.org/drawingml/2006/table">
            <a:tbl>
              <a:tblPr firstRow="1" bandRow="1">
                <a:tableStyleId>{5C22544A-7EE6-4342-B048-85BDC9FD1C3A}</a:tableStyleId>
              </a:tblPr>
              <a:tblGrid>
                <a:gridCol w="893191">
                  <a:extLst>
                    <a:ext uri="{9D8B030D-6E8A-4147-A177-3AD203B41FA5}">
                      <a16:colId xmlns:a16="http://schemas.microsoft.com/office/drawing/2014/main" val="20000"/>
                    </a:ext>
                  </a:extLst>
                </a:gridCol>
                <a:gridCol w="1117346">
                  <a:extLst>
                    <a:ext uri="{9D8B030D-6E8A-4147-A177-3AD203B41FA5}">
                      <a16:colId xmlns:a16="http://schemas.microsoft.com/office/drawing/2014/main" val="20001"/>
                    </a:ext>
                  </a:extLst>
                </a:gridCol>
              </a:tblGrid>
              <a:tr h="142240">
                <a:tc>
                  <a:txBody>
                    <a:bodyPr/>
                    <a:lstStyle/>
                    <a:p>
                      <a:r>
                        <a:rPr lang="en-US" dirty="0"/>
                        <a:t>Age (x)</a:t>
                      </a:r>
                    </a:p>
                  </a:txBody>
                  <a:tcPr/>
                </a:tc>
                <a:tc>
                  <a:txBody>
                    <a:bodyPr/>
                    <a:lstStyle/>
                    <a:p>
                      <a:r>
                        <a:rPr lang="en-US" dirty="0"/>
                        <a:t>Salary (y)</a:t>
                      </a:r>
                    </a:p>
                  </a:txBody>
                  <a:tcPr/>
                </a:tc>
                <a:extLst>
                  <a:ext uri="{0D108BD9-81ED-4DB2-BD59-A6C34878D82A}">
                    <a16:rowId xmlns:a16="http://schemas.microsoft.com/office/drawing/2014/main" val="10000"/>
                  </a:ext>
                </a:extLst>
              </a:tr>
              <a:tr h="370840">
                <a:tc>
                  <a:txBody>
                    <a:bodyPr/>
                    <a:lstStyle/>
                    <a:p>
                      <a:r>
                        <a:rPr lang="en-US" dirty="0"/>
                        <a:t>30</a:t>
                      </a:r>
                    </a:p>
                  </a:txBody>
                  <a:tcPr/>
                </a:tc>
                <a:tc>
                  <a:txBody>
                    <a:bodyPr/>
                    <a:lstStyle/>
                    <a:p>
                      <a:r>
                        <a:rPr lang="en-US" dirty="0"/>
                        <a:t>800</a:t>
                      </a:r>
                    </a:p>
                  </a:txBody>
                  <a:tcPr/>
                </a:tc>
                <a:extLst>
                  <a:ext uri="{0D108BD9-81ED-4DB2-BD59-A6C34878D82A}">
                    <a16:rowId xmlns:a16="http://schemas.microsoft.com/office/drawing/2014/main" val="10001"/>
                  </a:ext>
                </a:extLst>
              </a:tr>
              <a:tr h="370840">
                <a:tc>
                  <a:txBody>
                    <a:bodyPr/>
                    <a:lstStyle/>
                    <a:p>
                      <a:r>
                        <a:rPr lang="en-US" dirty="0"/>
                        <a:t>37</a:t>
                      </a:r>
                    </a:p>
                  </a:txBody>
                  <a:tcPr/>
                </a:tc>
                <a:tc>
                  <a:txBody>
                    <a:bodyPr/>
                    <a:lstStyle/>
                    <a:p>
                      <a:r>
                        <a:rPr lang="en-US" dirty="0"/>
                        <a:t>950</a:t>
                      </a:r>
                    </a:p>
                  </a:txBody>
                  <a:tcPr/>
                </a:tc>
                <a:extLst>
                  <a:ext uri="{0D108BD9-81ED-4DB2-BD59-A6C34878D82A}">
                    <a16:rowId xmlns:a16="http://schemas.microsoft.com/office/drawing/2014/main" val="10002"/>
                  </a:ext>
                </a:extLst>
              </a:tr>
              <a:tr h="370840">
                <a:tc>
                  <a:txBody>
                    <a:bodyPr/>
                    <a:lstStyle/>
                    <a:p>
                      <a:r>
                        <a:rPr lang="en-US" dirty="0"/>
                        <a:t>25</a:t>
                      </a:r>
                    </a:p>
                  </a:txBody>
                  <a:tcPr/>
                </a:tc>
                <a:tc>
                  <a:txBody>
                    <a:bodyPr/>
                    <a:lstStyle/>
                    <a:p>
                      <a:r>
                        <a:rPr lang="en-US" dirty="0"/>
                        <a:t>600</a:t>
                      </a:r>
                    </a:p>
                  </a:txBody>
                  <a:tcPr/>
                </a:tc>
                <a:extLst>
                  <a:ext uri="{0D108BD9-81ED-4DB2-BD59-A6C34878D82A}">
                    <a16:rowId xmlns:a16="http://schemas.microsoft.com/office/drawing/2014/main" val="10003"/>
                  </a:ext>
                </a:extLst>
              </a:tr>
              <a:tr h="370840">
                <a:tc>
                  <a:txBody>
                    <a:bodyPr/>
                    <a:lstStyle/>
                    <a:p>
                      <a:r>
                        <a:rPr lang="en-US" dirty="0"/>
                        <a:t>43</a:t>
                      </a:r>
                    </a:p>
                  </a:txBody>
                  <a:tcPr/>
                </a:tc>
                <a:tc>
                  <a:txBody>
                    <a:bodyPr/>
                    <a:lstStyle/>
                    <a:p>
                      <a:r>
                        <a:rPr lang="en-US" dirty="0"/>
                        <a:t>1050</a:t>
                      </a:r>
                    </a:p>
                  </a:txBody>
                  <a:tcPr/>
                </a:tc>
                <a:extLst>
                  <a:ext uri="{0D108BD9-81ED-4DB2-BD59-A6C34878D82A}">
                    <a16:rowId xmlns:a16="http://schemas.microsoft.com/office/drawing/2014/main" val="10004"/>
                  </a:ext>
                </a:extLst>
              </a:tr>
              <a:tr h="370840">
                <a:tc>
                  <a:txBody>
                    <a:bodyPr/>
                    <a:lstStyle/>
                    <a:p>
                      <a:r>
                        <a:rPr lang="en-US" dirty="0"/>
                        <a:t>50</a:t>
                      </a:r>
                    </a:p>
                  </a:txBody>
                  <a:tcPr/>
                </a:tc>
                <a:tc>
                  <a:txBody>
                    <a:bodyPr/>
                    <a:lstStyle/>
                    <a:p>
                      <a:r>
                        <a:rPr lang="en-US" dirty="0"/>
                        <a:t>1200</a:t>
                      </a:r>
                    </a:p>
                  </a:txBody>
                  <a:tcPr/>
                </a:tc>
                <a:extLst>
                  <a:ext uri="{0D108BD9-81ED-4DB2-BD59-A6C34878D82A}">
                    <a16:rowId xmlns:a16="http://schemas.microsoft.com/office/drawing/2014/main" val="10005"/>
                  </a:ext>
                </a:extLst>
              </a:tr>
              <a:tr h="370840">
                <a:tc>
                  <a:txBody>
                    <a:bodyPr/>
                    <a:lstStyle/>
                    <a:p>
                      <a:r>
                        <a:rPr lang="en-US" dirty="0"/>
                        <a:t>29</a:t>
                      </a:r>
                    </a:p>
                  </a:txBody>
                  <a:tcPr/>
                </a:tc>
                <a:tc>
                  <a:txBody>
                    <a:bodyPr/>
                    <a:lstStyle/>
                    <a:p>
                      <a:r>
                        <a:rPr lang="en-US" dirty="0"/>
                        <a:t>740</a:t>
                      </a:r>
                    </a:p>
                  </a:txBody>
                  <a:tcPr/>
                </a:tc>
                <a:extLst>
                  <a:ext uri="{0D108BD9-81ED-4DB2-BD59-A6C34878D82A}">
                    <a16:rowId xmlns:a16="http://schemas.microsoft.com/office/drawing/2014/main" val="10006"/>
                  </a:ext>
                </a:extLst>
              </a:tr>
              <a:tr h="370840">
                <a:tc>
                  <a:txBody>
                    <a:bodyPr/>
                    <a:lstStyle/>
                    <a:p>
                      <a:r>
                        <a:rPr lang="en-US" dirty="0"/>
                        <a:t>46</a:t>
                      </a:r>
                    </a:p>
                  </a:txBody>
                  <a:tcPr/>
                </a:tc>
                <a:tc>
                  <a:txBody>
                    <a:bodyPr/>
                    <a:lstStyle/>
                    <a:p>
                      <a:r>
                        <a:rPr lang="en-US" dirty="0"/>
                        <a:t>1100</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4572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Numerical Example: Learning (updating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b="1"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b="1" dirty="0">
                    <a:solidFill>
                      <a:schemeClr val="tx1"/>
                    </a:solidFill>
                    <a:latin typeface="Times New Roman" panose="02020603050405020304" pitchFamily="18" charset="0"/>
                    <a:cs typeface="Times New Roman" panose="02020603050405020304" pitchFamily="18" charset="0"/>
                  </a:rPr>
                  <a:t>) </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b="1" i="1" dirty="0">
                  <a:solidFill>
                    <a:schemeClr val="tx1"/>
                  </a:solidFill>
                  <a:latin typeface="Times New Roman" panose="02020603050405020304" pitchFamily="18" charset="0"/>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sSub>
                        <m:sSubPr>
                          <m:ctrlPr>
                            <a:rPr lang="en-US" sz="1800" i="1">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pitchFamily="18" charset="0"/>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𝟐𝟎𝟑𝟖𝟖</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𝟓𝟕𝟒𝟏𝟐</m:t>
                      </m:r>
                    </m:oMath>
                  </m:oMathPara>
                </a14:m>
                <a:endParaRPr lang="en-US" sz="1800" b="1" i="1" dirty="0">
                  <a:solidFill>
                    <a:schemeClr val="tx1"/>
                  </a:solidFill>
                  <a:latin typeface="Cambria Math" panose="02040503050406030204"/>
                  <a:cs typeface="Times New Roman" panose="02020603050405020304" pitchFamily="18" charset="0"/>
                </a:endParaRPr>
              </a:p>
              <a:p>
                <a:pPr algn="just"/>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sSub>
                        <m:sSubPr>
                          <m:ctrlPr>
                            <a:rPr lang="en-US" sz="1800" i="1">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pitchFamily="18" charset="0"/>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𝟏</m:t>
                              </m:r>
                            </m:sub>
                          </m:sSub>
                        </m:sub>
                      </m:sSub>
                      <m:r>
                        <a:rPr lang="en-US" sz="1800"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oMath>
                  </m:oMathPara>
                </a14:m>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𝟐</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𝟏𝟎</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r>
                            <a:rPr lang="en-US" sz="1800" b="1" i="1">
                              <a:solidFill>
                                <a:schemeClr val="tx1"/>
                              </a:solidFill>
                              <a:latin typeface="Cambria Math" panose="02040503050406030204"/>
                              <a:cs typeface="Times New Roman" panose="02020603050405020304" pitchFamily="18" charset="0"/>
                            </a:rPr>
                            <m:t>)</m:t>
                          </m:r>
                        </m:e>
                      </m:nary>
                    </m:oMath>
                  </m:oMathPara>
                </a14:m>
                <a:endParaRPr lang="en-US" sz="1800" b="1" i="1" dirty="0">
                  <a:solidFill>
                    <a:schemeClr val="tx1"/>
                  </a:solidFill>
                  <a:latin typeface="Cambria Math" panose="02040503050406030204"/>
                  <a:cs typeface="Times New Roman" panose="02020603050405020304" pitchFamily="18" charset="0"/>
                </a:endParaRPr>
              </a:p>
              <a:p>
                <a:pPr algn="just"/>
                <a14:m>
                  <m:oMathPara xmlns:m="http://schemas.openxmlformats.org/officeDocument/2006/math">
                    <m:oMathParaPr>
                      <m:jc m:val="left"/>
                    </m:oMathParaPr>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𝟒𝟗𝟕</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𝟏𝟒𝟏𝟐</m:t>
                      </m:r>
                    </m:oMath>
                  </m:oMathPara>
                </a14:m>
                <a:endParaRPr lang="en-US" sz="1800" b="1" i="1" dirty="0">
                  <a:solidFill>
                    <a:schemeClr val="tx1"/>
                  </a:solidFill>
                  <a:latin typeface="Cambria Math" panose="02040503050406030204"/>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a:stretch>
              </a:blipFill>
            </p:spPr>
            <p:txBody>
              <a:bodyPr/>
              <a:lstStyle/>
              <a:p>
                <a:r>
                  <a:rPr lang="en-US" altLang="en-US">
                    <a:noFill/>
                  </a:rPr>
                  <a:t> </a:t>
                </a:r>
              </a:p>
            </p:txBody>
          </p:sp>
        </mc:Fallback>
      </mc:AlternateContent>
      <p:graphicFrame>
        <p:nvGraphicFramePr>
          <p:cNvPr id="4" name="Table 3"/>
          <p:cNvGraphicFramePr>
            <a:graphicFrameLocks noGrp="1"/>
          </p:cNvGraphicFramePr>
          <p:nvPr/>
        </p:nvGraphicFramePr>
        <p:xfrm>
          <a:off x="6705600" y="1219200"/>
          <a:ext cx="2010537" cy="2961640"/>
        </p:xfrm>
        <a:graphic>
          <a:graphicData uri="http://schemas.openxmlformats.org/drawingml/2006/table">
            <a:tbl>
              <a:tblPr firstRow="1" bandRow="1">
                <a:tableStyleId>{5C22544A-7EE6-4342-B048-85BDC9FD1C3A}</a:tableStyleId>
              </a:tblPr>
              <a:tblGrid>
                <a:gridCol w="893191">
                  <a:extLst>
                    <a:ext uri="{9D8B030D-6E8A-4147-A177-3AD203B41FA5}">
                      <a16:colId xmlns:a16="http://schemas.microsoft.com/office/drawing/2014/main" val="20000"/>
                    </a:ext>
                  </a:extLst>
                </a:gridCol>
                <a:gridCol w="1117346">
                  <a:extLst>
                    <a:ext uri="{9D8B030D-6E8A-4147-A177-3AD203B41FA5}">
                      <a16:colId xmlns:a16="http://schemas.microsoft.com/office/drawing/2014/main" val="20001"/>
                    </a:ext>
                  </a:extLst>
                </a:gridCol>
              </a:tblGrid>
              <a:tr h="142240">
                <a:tc>
                  <a:txBody>
                    <a:bodyPr/>
                    <a:lstStyle/>
                    <a:p>
                      <a:r>
                        <a:rPr lang="en-US" dirty="0"/>
                        <a:t>Age (x)</a:t>
                      </a:r>
                    </a:p>
                  </a:txBody>
                  <a:tcPr/>
                </a:tc>
                <a:tc>
                  <a:txBody>
                    <a:bodyPr/>
                    <a:lstStyle/>
                    <a:p>
                      <a:r>
                        <a:rPr lang="en-US" dirty="0"/>
                        <a:t>Salary (y)</a:t>
                      </a:r>
                    </a:p>
                  </a:txBody>
                  <a:tcPr/>
                </a:tc>
                <a:extLst>
                  <a:ext uri="{0D108BD9-81ED-4DB2-BD59-A6C34878D82A}">
                    <a16:rowId xmlns:a16="http://schemas.microsoft.com/office/drawing/2014/main" val="10000"/>
                  </a:ext>
                </a:extLst>
              </a:tr>
              <a:tr h="370840">
                <a:tc>
                  <a:txBody>
                    <a:bodyPr/>
                    <a:lstStyle/>
                    <a:p>
                      <a:r>
                        <a:rPr lang="en-US" dirty="0"/>
                        <a:t>30</a:t>
                      </a:r>
                    </a:p>
                  </a:txBody>
                  <a:tcPr/>
                </a:tc>
                <a:tc>
                  <a:txBody>
                    <a:bodyPr/>
                    <a:lstStyle/>
                    <a:p>
                      <a:r>
                        <a:rPr lang="en-US" dirty="0"/>
                        <a:t>800</a:t>
                      </a:r>
                    </a:p>
                  </a:txBody>
                  <a:tcPr/>
                </a:tc>
                <a:extLst>
                  <a:ext uri="{0D108BD9-81ED-4DB2-BD59-A6C34878D82A}">
                    <a16:rowId xmlns:a16="http://schemas.microsoft.com/office/drawing/2014/main" val="10001"/>
                  </a:ext>
                </a:extLst>
              </a:tr>
              <a:tr h="370840">
                <a:tc>
                  <a:txBody>
                    <a:bodyPr/>
                    <a:lstStyle/>
                    <a:p>
                      <a:r>
                        <a:rPr lang="en-US" dirty="0"/>
                        <a:t>37</a:t>
                      </a:r>
                    </a:p>
                  </a:txBody>
                  <a:tcPr/>
                </a:tc>
                <a:tc>
                  <a:txBody>
                    <a:bodyPr/>
                    <a:lstStyle/>
                    <a:p>
                      <a:r>
                        <a:rPr lang="en-US" dirty="0"/>
                        <a:t>950</a:t>
                      </a:r>
                    </a:p>
                  </a:txBody>
                  <a:tcPr/>
                </a:tc>
                <a:extLst>
                  <a:ext uri="{0D108BD9-81ED-4DB2-BD59-A6C34878D82A}">
                    <a16:rowId xmlns:a16="http://schemas.microsoft.com/office/drawing/2014/main" val="10002"/>
                  </a:ext>
                </a:extLst>
              </a:tr>
              <a:tr h="370840">
                <a:tc>
                  <a:txBody>
                    <a:bodyPr/>
                    <a:lstStyle/>
                    <a:p>
                      <a:r>
                        <a:rPr lang="en-US" dirty="0"/>
                        <a:t>25</a:t>
                      </a:r>
                    </a:p>
                  </a:txBody>
                  <a:tcPr/>
                </a:tc>
                <a:tc>
                  <a:txBody>
                    <a:bodyPr/>
                    <a:lstStyle/>
                    <a:p>
                      <a:r>
                        <a:rPr lang="en-US" dirty="0"/>
                        <a:t>600</a:t>
                      </a:r>
                    </a:p>
                  </a:txBody>
                  <a:tcPr/>
                </a:tc>
                <a:extLst>
                  <a:ext uri="{0D108BD9-81ED-4DB2-BD59-A6C34878D82A}">
                    <a16:rowId xmlns:a16="http://schemas.microsoft.com/office/drawing/2014/main" val="10003"/>
                  </a:ext>
                </a:extLst>
              </a:tr>
              <a:tr h="370840">
                <a:tc>
                  <a:txBody>
                    <a:bodyPr/>
                    <a:lstStyle/>
                    <a:p>
                      <a:r>
                        <a:rPr lang="en-US" dirty="0"/>
                        <a:t>43</a:t>
                      </a:r>
                    </a:p>
                  </a:txBody>
                  <a:tcPr/>
                </a:tc>
                <a:tc>
                  <a:txBody>
                    <a:bodyPr/>
                    <a:lstStyle/>
                    <a:p>
                      <a:r>
                        <a:rPr lang="en-US" dirty="0"/>
                        <a:t>1050</a:t>
                      </a:r>
                    </a:p>
                  </a:txBody>
                  <a:tcPr/>
                </a:tc>
                <a:extLst>
                  <a:ext uri="{0D108BD9-81ED-4DB2-BD59-A6C34878D82A}">
                    <a16:rowId xmlns:a16="http://schemas.microsoft.com/office/drawing/2014/main" val="10004"/>
                  </a:ext>
                </a:extLst>
              </a:tr>
              <a:tr h="370840">
                <a:tc>
                  <a:txBody>
                    <a:bodyPr/>
                    <a:lstStyle/>
                    <a:p>
                      <a:r>
                        <a:rPr lang="en-US" dirty="0"/>
                        <a:t>50</a:t>
                      </a:r>
                    </a:p>
                  </a:txBody>
                  <a:tcPr/>
                </a:tc>
                <a:tc>
                  <a:txBody>
                    <a:bodyPr/>
                    <a:lstStyle/>
                    <a:p>
                      <a:r>
                        <a:rPr lang="en-US" dirty="0"/>
                        <a:t>1200</a:t>
                      </a:r>
                    </a:p>
                  </a:txBody>
                  <a:tcPr/>
                </a:tc>
                <a:extLst>
                  <a:ext uri="{0D108BD9-81ED-4DB2-BD59-A6C34878D82A}">
                    <a16:rowId xmlns:a16="http://schemas.microsoft.com/office/drawing/2014/main" val="10005"/>
                  </a:ext>
                </a:extLst>
              </a:tr>
              <a:tr h="370840">
                <a:tc>
                  <a:txBody>
                    <a:bodyPr/>
                    <a:lstStyle/>
                    <a:p>
                      <a:r>
                        <a:rPr lang="en-US" dirty="0"/>
                        <a:t>29</a:t>
                      </a:r>
                    </a:p>
                  </a:txBody>
                  <a:tcPr/>
                </a:tc>
                <a:tc>
                  <a:txBody>
                    <a:bodyPr/>
                    <a:lstStyle/>
                    <a:p>
                      <a:r>
                        <a:rPr lang="en-US" dirty="0"/>
                        <a:t>740</a:t>
                      </a:r>
                    </a:p>
                  </a:txBody>
                  <a:tcPr/>
                </a:tc>
                <a:extLst>
                  <a:ext uri="{0D108BD9-81ED-4DB2-BD59-A6C34878D82A}">
                    <a16:rowId xmlns:a16="http://schemas.microsoft.com/office/drawing/2014/main" val="10006"/>
                  </a:ext>
                </a:extLst>
              </a:tr>
              <a:tr h="370840">
                <a:tc>
                  <a:txBody>
                    <a:bodyPr/>
                    <a:lstStyle/>
                    <a:p>
                      <a:r>
                        <a:rPr lang="en-US" dirty="0"/>
                        <a:t>46</a:t>
                      </a:r>
                    </a:p>
                  </a:txBody>
                  <a:tcPr/>
                </a:tc>
                <a:tc>
                  <a:txBody>
                    <a:bodyPr/>
                    <a:lstStyle/>
                    <a:p>
                      <a:r>
                        <a:rPr lang="en-US" dirty="0"/>
                        <a:t>1100</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44196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fontScale="92500" lnSpcReduction="1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Numerical Example: Learning (updating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b="1"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b="1" dirty="0">
                    <a:solidFill>
                      <a:schemeClr val="tx1"/>
                    </a:solidFill>
                    <a:latin typeface="Times New Roman" panose="02020603050405020304" pitchFamily="18" charset="0"/>
                    <a:cs typeface="Times New Roman" panose="02020603050405020304" pitchFamily="18" charset="0"/>
                  </a:rPr>
                  <a:t>) </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b="1" i="1"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oMath>
                </a14:m>
                <a:r>
                  <a:rPr lang="en-US" sz="1800" dirty="0">
                    <a:solidFill>
                      <a:schemeClr val="tx1"/>
                    </a:solidFill>
                    <a:latin typeface="Times New Roman" panose="02020603050405020304" pitchFamily="18" charset="0"/>
                    <a:cs typeface="Times New Roman" panose="02020603050405020304" pitchFamily="18" charset="0"/>
                  </a:rPr>
                  <a:t>(new)=</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pitchFamily="18" charset="0"/>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sub>
                    </m:sSub>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𝟎𝟎𝟎𝟏</m:t>
                    </m:r>
                    <m:r>
                      <a:rPr lang="en-US" sz="1800" b="1" i="1">
                        <a:solidFill>
                          <a:schemeClr val="tx1"/>
                        </a:solidFill>
                        <a:latin typeface="Cambria Math" panose="02040503050406030204"/>
                        <a:cs typeface="Times New Roman" panose="02020603050405020304" pitchFamily="18" charset="0"/>
                      </a:rPr>
                      <m:t>∗</m:t>
                    </m:r>
                  </m:oMath>
                </a14:m>
                <a:r>
                  <a:rPr lang="en-US" sz="1800" b="1" i="1" dirty="0">
                    <a:solidFill>
                      <a:schemeClr val="tx1"/>
                    </a:solidFill>
                    <a:latin typeface="Cambria Math" panose="02040503050406030204"/>
                    <a:cs typeface="Times New Roman" panose="02020603050405020304" pitchFamily="18" charset="0"/>
                  </a:rPr>
                  <a:t>(</a:t>
                </a:r>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𝟒𝟗𝟕</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𝟏𝟒𝟏𝟐</m:t>
                    </m:r>
                  </m:oMath>
                </a14:m>
                <a:r>
                  <a:rPr lang="en-US" sz="1800" b="1" i="1" dirty="0">
                    <a:solidFill>
                      <a:schemeClr val="tx1"/>
                    </a:solidFill>
                    <a:latin typeface="Cambria Math" panose="02040503050406030204"/>
                    <a:cs typeface="Times New Roman" panose="02020603050405020304" pitchFamily="18" charset="0"/>
                  </a:rPr>
                  <a:t>)</a:t>
                </a:r>
              </a:p>
              <a:p>
                <a:pPr algn="just"/>
                <a14:m>
                  <m:oMathPara xmlns:m="http://schemas.openxmlformats.org/officeDocument/2006/math">
                    <m:oMathParaPr>
                      <m:jc m:val="left"/>
                    </m:oMathParaPr>
                    <m:oMath xmlns:m="http://schemas.openxmlformats.org/officeDocument/2006/math">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𝟑𝟎𝟎</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𝟎𝟒𝟗𝟕</m:t>
                      </m:r>
                    </m:oMath>
                  </m:oMathPara>
                </a14:m>
                <a:endParaRPr lang="en-US" sz="1800" b="1" i="1" dirty="0">
                  <a:solidFill>
                    <a:schemeClr val="tx1"/>
                  </a:solidFill>
                  <a:latin typeface="Cambria Math" panose="02040503050406030204"/>
                  <a:cs typeface="Times New Roman" panose="02020603050405020304" pitchFamily="18" charset="0"/>
                </a:endParaRPr>
              </a:p>
              <a:p>
                <a:pPr algn="just"/>
                <a:endParaRPr lang="en-US" sz="1800" b="1" i="1" dirty="0">
                  <a:solidFill>
                    <a:schemeClr val="tx1"/>
                  </a:solidFill>
                  <a:latin typeface="Cambria Math" panose="02040503050406030204"/>
                  <a:cs typeface="Times New Roman" panose="02020603050405020304" pitchFamily="18" charset="0"/>
                </a:endParaRPr>
              </a:p>
              <a:p>
                <a:pPr algn="just"/>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oMath>
                </a14:m>
                <a:r>
                  <a:rPr lang="en-US" sz="1800" dirty="0">
                    <a:solidFill>
                      <a:schemeClr val="tx1"/>
                    </a:solidFill>
                    <a:latin typeface="Times New Roman" panose="02020603050405020304" pitchFamily="18" charset="0"/>
                    <a:cs typeface="Times New Roman" panose="02020603050405020304" pitchFamily="18" charset="0"/>
                  </a:rPr>
                  <a:t>(new)=</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𝜶</m:t>
                    </m:r>
                    <m:r>
                      <a:rPr lang="en-US" sz="1800" b="1" i="1">
                        <a:solidFill>
                          <a:schemeClr val="tx1"/>
                        </a:solidFill>
                        <a:latin typeface="Cambria Math" panose="02040503050406030204"/>
                        <a:ea typeface="Cambria Math" panose="02040503050406030204"/>
                        <a:cs typeface="Times New Roman" panose="02020603050405020304" pitchFamily="18" charset="0"/>
                      </a:rPr>
                      <m:t>( </m:t>
                    </m:r>
                    <m:sSub>
                      <m:sSubPr>
                        <m:ctrlPr>
                          <a:rPr lang="en-US" sz="1800" i="1">
                            <a:solidFill>
                              <a:schemeClr val="tx1"/>
                            </a:solidFill>
                            <a:latin typeface="Cambria Math" panose="02040503050406030204" pitchFamily="18" charset="0"/>
                            <a:cs typeface="Times New Roman" panose="02020603050405020304" pitchFamily="18" charset="0"/>
                          </a:rPr>
                        </m:ctrlPr>
                      </m:sSubPr>
                      <m:e>
                        <m:sSup>
                          <m:sSupPr>
                            <m:ctrlPr>
                              <a:rPr lang="en-US" sz="1800" i="1">
                                <a:solidFill>
                                  <a:schemeClr val="tx1"/>
                                </a:solidFill>
                                <a:latin typeface="Cambria Math" panose="02040503050406030204" pitchFamily="18" charset="0"/>
                                <a:cs typeface="Times New Roman" panose="02020603050405020304" pitchFamily="18" charset="0"/>
                              </a:rPr>
                            </m:ctrlPr>
                          </m:sSupPr>
                          <m:e>
                            <m:r>
                              <a:rPr lang="en-US" sz="1800" i="1">
                                <a:solidFill>
                                  <a:schemeClr val="tx1"/>
                                </a:solidFill>
                                <a:latin typeface="Cambria Math" panose="02040503050406030204"/>
                                <a:cs typeface="Times New Roman" panose="02020603050405020304" pitchFamily="18" charset="0"/>
                              </a:rPr>
                              <m:t>𝐽</m:t>
                            </m:r>
                          </m:e>
                          <m:sup>
                            <m:r>
                              <a:rPr lang="en-US" sz="1800" i="1">
                                <a:solidFill>
                                  <a:schemeClr val="tx1"/>
                                </a:solidFill>
                                <a:latin typeface="Cambria Math" panose="02040503050406030204"/>
                                <a:cs typeface="Times New Roman" panose="02020603050405020304" pitchFamily="18" charset="0"/>
                              </a:rPr>
                              <m:t>′</m:t>
                            </m:r>
                          </m:sup>
                        </m:sSup>
                      </m:e>
                      <m: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smtClean="0">
                                <a:solidFill>
                                  <a:schemeClr val="tx1"/>
                                </a:solidFill>
                                <a:latin typeface="Cambria Math" panose="02040503050406030204"/>
                                <a:ea typeface="Cambria Math" panose="02040503050406030204"/>
                                <a:cs typeface="Times New Roman" panose="02020603050405020304" pitchFamily="18" charset="0"/>
                              </a:rPr>
                              <m:t>𝟐</m:t>
                            </m:r>
                          </m:sub>
                        </m:sSub>
                      </m:sub>
                    </m:sSub>
                    <m:r>
                      <a:rPr lang="en-US" sz="1800" b="1" i="1">
                        <a:solidFill>
                          <a:schemeClr val="tx1"/>
                        </a:solidFill>
                        <a:latin typeface="Cambria Math" panose="02040503050406030204"/>
                        <a:ea typeface="Cambria Math" panose="02040503050406030204"/>
                        <a:cs typeface="Times New Roman" panose="02020603050405020304" pitchFamily="18" charset="0"/>
                      </a:rPr>
                      <m:t>)</m:t>
                    </m:r>
                  </m:oMath>
                </a14:m>
                <a:endParaRPr lang="en-US" sz="1800" dirty="0">
                  <a:solidFill>
                    <a:schemeClr val="tx1"/>
                  </a:solidFill>
                  <a:latin typeface="Times New Roman" panose="02020603050405020304" pitchFamily="18" charset="0"/>
                  <a:cs typeface="Times New Roman" panose="02020603050405020304" pitchFamily="18" charset="0"/>
                </a:endParaRPr>
              </a:p>
              <a:p>
                <a:pPr algn="just"/>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𝟎𝟎𝟎𝟏</m:t>
                    </m:r>
                    <m:r>
                      <a:rPr lang="en-US" sz="1800" b="1" i="1">
                        <a:solidFill>
                          <a:schemeClr val="tx1"/>
                        </a:solidFill>
                        <a:latin typeface="Cambria Math" panose="02040503050406030204"/>
                        <a:cs typeface="Times New Roman" panose="02020603050405020304" pitchFamily="18" charset="0"/>
                      </a:rPr>
                      <m:t>∗</m:t>
                    </m:r>
                  </m:oMath>
                </a14:m>
                <a:r>
                  <a:rPr lang="en-US" sz="1800" b="1" i="1" dirty="0">
                    <a:solidFill>
                      <a:schemeClr val="tx1"/>
                    </a:solidFill>
                    <a:latin typeface="Cambria Math" panose="02040503050406030204"/>
                    <a:cs typeface="Times New Roman" panose="02020603050405020304" pitchFamily="18" charset="0"/>
                  </a:rPr>
                  <a:t>(</a:t>
                </a:r>
                <a14:m>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𝟐𝟎𝟑𝟖𝟖</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𝟓𝟕𝟒𝟏𝟐</m:t>
                    </m:r>
                  </m:oMath>
                </a14:m>
                <a:r>
                  <a:rPr lang="en-US" sz="1800" b="1" i="1" dirty="0">
                    <a:solidFill>
                      <a:schemeClr val="tx1"/>
                    </a:solidFill>
                    <a:latin typeface="Cambria Math" panose="02040503050406030204"/>
                    <a:cs typeface="Times New Roman" panose="02020603050405020304" pitchFamily="18" charset="0"/>
                  </a:rPr>
                  <a:t>)</a:t>
                </a:r>
              </a:p>
              <a:p>
                <a:pPr algn="just"/>
                <a14:m>
                  <m:oMathPara xmlns:m="http://schemas.openxmlformats.org/officeDocument/2006/math">
                    <m:oMathParaPr>
                      <m:jc m:val="left"/>
                    </m:oMathParaPr>
                    <m:oMath xmlns:m="http://schemas.openxmlformats.org/officeDocument/2006/math">
                      <m:r>
                        <a:rPr lang="en-US" sz="1800" b="1" i="1">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𝟏𝟐</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𝟎𝟑</m:t>
                      </m:r>
                    </m:oMath>
                  </m:oMathPara>
                </a14:m>
                <a:endParaRPr lang="en-US" sz="1800" b="1" i="1" dirty="0">
                  <a:solidFill>
                    <a:schemeClr val="tx1"/>
                  </a:solidFill>
                  <a:latin typeface="Cambria Math" panose="02040503050406030204"/>
                  <a:cs typeface="Times New Roman" panose="02020603050405020304" pitchFamily="18" charset="0"/>
                </a:endParaRPr>
              </a:p>
              <a:p>
                <a:pPr algn="just"/>
                <a:endParaRPr lang="en-US" sz="1800" b="1" i="1" dirty="0">
                  <a:solidFill>
                    <a:schemeClr val="tx1"/>
                  </a:solidFill>
                  <a:latin typeface="Cambria Math" panose="02040503050406030204"/>
                  <a:cs typeface="Times New Roman" panose="02020603050405020304" pitchFamily="18" charset="0"/>
                </a:endParaRPr>
              </a:p>
              <a:p>
                <a:pPr algn="just"/>
                <a:r>
                  <a:rPr lang="en-US" sz="1800" b="1" dirty="0">
                    <a:solidFill>
                      <a:schemeClr val="tx1"/>
                    </a:solidFill>
                    <a:latin typeface="Cambria Math" panose="02040503050406030204"/>
                    <a:cs typeface="Times New Roman" panose="02020603050405020304" pitchFamily="18" charset="0"/>
                  </a:rPr>
                  <a:t>Updated equation be</a:t>
                </a:r>
              </a:p>
              <a:p>
                <a:pPr algn="just"/>
                <a:endParaRPr lang="en-US" sz="1800" b="1" dirty="0">
                  <a:solidFill>
                    <a:schemeClr val="tx1"/>
                  </a:solidFill>
                  <a:latin typeface="Cambria Math" panose="02040503050406030204"/>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𝟑𝟎𝟎</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𝟎𝟒𝟗𝟕</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𝟏𝟐</m:t>
                      </m:r>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𝟎𝟑</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m:oMathPara>
                </a14:m>
                <a:endParaRPr lang="en-US" sz="1800" dirty="0">
                  <a:solidFill>
                    <a:schemeClr val="tx1"/>
                  </a:solidFill>
                  <a:latin typeface="Times New Roman" panose="02020603050405020304" pitchFamily="18" charset="0"/>
                  <a:cs typeface="Times New Roman" panose="02020603050405020304" pitchFamily="18" charset="0"/>
                </a:endParaRP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14:m>
                  <m:oMathPara xmlns:m="http://schemas.openxmlformats.org/officeDocument/2006/math">
                    <m:oMathParaPr>
                      <m:jc m:val="left"/>
                    </m:oMathParaPr>
                    <m:oMath xmlns:m="http://schemas.openxmlformats.org/officeDocument/2006/math">
                      <m:r>
                        <a:rPr lang="en-US" sz="1800" b="1">
                          <a:solidFill>
                            <a:schemeClr val="tx1"/>
                          </a:solidFill>
                          <a:latin typeface="Cambria Math" panose="02040503050406030204"/>
                          <a:cs typeface="Times New Roman" panose="02020603050405020304" pitchFamily="18" charset="0"/>
                        </a:rPr>
                        <m:t>𝐉</m:t>
                      </m:r>
                      <m:r>
                        <a:rPr lang="en-US" sz="1800" b="1" i="0" smtClean="0">
                          <a:solidFill>
                            <a:schemeClr val="tx1"/>
                          </a:solidFill>
                          <a:latin typeface="Cambria Math" panose="02040503050406030204"/>
                          <a:cs typeface="Times New Roman" panose="02020603050405020304" pitchFamily="18" charset="0"/>
                        </a:rPr>
                        <m:t>(</m:t>
                      </m:r>
                      <m:r>
                        <a:rPr lang="en-US" sz="1800" b="1" i="0" smtClean="0">
                          <a:solidFill>
                            <a:schemeClr val="tx1"/>
                          </a:solidFill>
                          <a:latin typeface="Cambria Math" panose="02040503050406030204"/>
                          <a:cs typeface="Times New Roman" panose="02020603050405020304" pitchFamily="18" charset="0"/>
                        </a:rPr>
                        <m:t>𝐧𝐞𝐰</m:t>
                      </m:r>
                      <m:r>
                        <a:rPr lang="en-US" sz="1800" b="1" i="0" smtClean="0">
                          <a:solidFill>
                            <a:schemeClr val="tx1"/>
                          </a:solidFill>
                          <a:latin typeface="Cambria Math" panose="02040503050406030204"/>
                          <a:cs typeface="Times New Roman" panose="02020603050405020304" pitchFamily="18" charset="0"/>
                        </a:rPr>
                        <m:t>)</m:t>
                      </m:r>
                      <m:r>
                        <a:rPr lang="en-US" sz="1800">
                          <a:solidFill>
                            <a:schemeClr val="tx1"/>
                          </a:solidFill>
                          <a:latin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𝒏</m:t>
                          </m:r>
                        </m:den>
                      </m:f>
                      <m:nary>
                        <m:naryPr>
                          <m:chr m:val="∑"/>
                          <m:ctrlPr>
                            <a:rPr lang="en-US" sz="1800" b="1" i="1">
                              <a:solidFill>
                                <a:schemeClr val="tx1"/>
                              </a:solidFill>
                              <a:latin typeface="Cambria Math" panose="02040503050406030204" pitchFamily="18" charset="0"/>
                              <a:cs typeface="Times New Roman" panose="02020603050405020304" pitchFamily="18" charset="0"/>
                            </a:rPr>
                          </m:ctrlPr>
                        </m:naryPr>
                        <m:sub>
                          <m:r>
                            <m:rPr>
                              <m:brk m:alnAt="23"/>
                            </m:rPr>
                            <a:rPr lang="en-US" sz="1800" b="1" i="1">
                              <a:solidFill>
                                <a:schemeClr val="tx1"/>
                              </a:solidFill>
                              <a:latin typeface="Cambria Math" panose="02040503050406030204"/>
                              <a:cs typeface="Times New Roman" panose="02020603050405020304" pitchFamily="18" charset="0"/>
                            </a:rPr>
                            <m:t>𝒊</m:t>
                          </m:r>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𝟏</m:t>
                          </m:r>
                        </m:sub>
                        <m:sup>
                          <m:r>
                            <a:rPr lang="en-US" sz="1800" b="1" i="1">
                              <a:solidFill>
                                <a:schemeClr val="tx1"/>
                              </a:solidFill>
                              <a:latin typeface="Cambria Math" panose="02040503050406030204"/>
                              <a:cs typeface="Times New Roman" panose="02020603050405020304" pitchFamily="18" charset="0"/>
                            </a:rPr>
                            <m:t>𝒏</m:t>
                          </m:r>
                        </m:sup>
                        <m:e>
                          <m:sSup>
                            <m:sSupPr>
                              <m:ctrlPr>
                                <a:rPr lang="en-US" sz="1800" b="1" i="1">
                                  <a:solidFill>
                                    <a:schemeClr val="tx1"/>
                                  </a:solidFill>
                                  <a:latin typeface="Cambria Math" panose="02040503050406030204" pitchFamily="18" charset="0"/>
                                  <a:cs typeface="Times New Roman" panose="02020603050405020304" pitchFamily="18" charset="0"/>
                                </a:rPr>
                              </m:ctrlPr>
                            </m:sSupPr>
                            <m:e>
                              <m:d>
                                <m:dPr>
                                  <m:ctrlPr>
                                    <a:rPr lang="en-US" sz="1800" b="1" i="1">
                                      <a:solidFill>
                                        <a:schemeClr val="tx1"/>
                                      </a:solidFill>
                                      <a:latin typeface="Cambria Math" panose="02040503050406030204" pitchFamily="18" charset="0"/>
                                      <a:cs typeface="Times New Roman" panose="02020603050405020304" pitchFamily="18" charset="0"/>
                                    </a:rPr>
                                  </m:ctrlPr>
                                </m:dPr>
                                <m:e>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r>
                                    <m:rPr>
                                      <m:nor/>
                                    </m:rPr>
                                    <a:rPr lang="en-US" sz="1800" b="1" dirty="0">
                                      <a:solidFill>
                                        <a:schemeClr val="tx1"/>
                                      </a:solidFill>
                                      <a:latin typeface="Cambria Math" panose="02040503050406030204" charset="0"/>
                                      <a:cs typeface="Times New Roman" panose="02020603050405020304" pitchFamily="18" charset="0"/>
                                    </a:rPr>
                                    <m:t> </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d>
                            </m:e>
                            <m:sup>
                              <m:r>
                                <a:rPr lang="en-US" sz="1800" b="1" i="1">
                                  <a:solidFill>
                                    <a:schemeClr val="tx1"/>
                                  </a:solidFill>
                                  <a:latin typeface="Cambria Math" panose="02040503050406030204"/>
                                  <a:cs typeface="Times New Roman" panose="02020603050405020304" pitchFamily="18" charset="0"/>
                                </a:rPr>
                                <m:t>𝟐</m:t>
                              </m:r>
                            </m:sup>
                          </m:sSup>
                        </m:e>
                      </m:nary>
                      <m:r>
                        <a:rPr lang="en-US" sz="1800" i="1">
                          <a:solidFill>
                            <a:schemeClr val="tx1"/>
                          </a:solidFill>
                          <a:latin typeface="Cambria Math" panose="02040503050406030204"/>
                          <a:cs typeface="Times New Roman" panose="02020603050405020304" pitchFamily="18" charset="0"/>
                        </a:rPr>
                        <m:t>=</m:t>
                      </m:r>
                      <m:r>
                        <a:rPr lang="en-US" sz="1800" b="0" i="1" smtClean="0">
                          <a:solidFill>
                            <a:schemeClr val="tx1"/>
                          </a:solidFill>
                          <a:latin typeface="Cambria Math" panose="02040503050406030204"/>
                          <a:cs typeface="Times New Roman" panose="02020603050405020304" pitchFamily="18" charset="0"/>
                        </a:rPr>
                        <m:t>39084.8289</m:t>
                      </m:r>
                    </m:oMath>
                  </m:oMathPara>
                </a14:m>
                <a:endParaRPr lang="en-US" sz="1800" b="1" i="1" dirty="0">
                  <a:solidFill>
                    <a:schemeClr val="tx1"/>
                  </a:solidFill>
                  <a:latin typeface="Cambria Math" panose="02040503050406030204"/>
                  <a:cs typeface="Times New Roman" panose="02020603050405020304" pitchFamily="18" charset="0"/>
                </a:endParaRPr>
              </a:p>
              <a:p>
                <a:pPr algn="just"/>
                <a:endParaRPr lang="en-US" sz="1800" b="1" i="1" dirty="0">
                  <a:solidFill>
                    <a:schemeClr val="tx1"/>
                  </a:solidFill>
                  <a:latin typeface="Cambria Math" panose="02040503050406030204"/>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a:stretch>
              </a:blipFill>
            </p:spPr>
            <p:txBody>
              <a:bodyPr/>
              <a:lstStyle/>
              <a:p>
                <a:r>
                  <a:rPr lang="en-US" altLang="en-US">
                    <a:noFill/>
                  </a:rPr>
                  <a:t> </a:t>
                </a:r>
              </a:p>
            </p:txBody>
          </p:sp>
        </mc:Fallback>
      </mc:AlternateContent>
      <p:graphicFrame>
        <p:nvGraphicFramePr>
          <p:cNvPr id="4" name="Table 3"/>
          <p:cNvGraphicFramePr>
            <a:graphicFrameLocks noGrp="1"/>
          </p:cNvGraphicFramePr>
          <p:nvPr/>
        </p:nvGraphicFramePr>
        <p:xfrm>
          <a:off x="6705600" y="1219200"/>
          <a:ext cx="2010537" cy="2961640"/>
        </p:xfrm>
        <a:graphic>
          <a:graphicData uri="http://schemas.openxmlformats.org/drawingml/2006/table">
            <a:tbl>
              <a:tblPr firstRow="1" bandRow="1">
                <a:tableStyleId>{5C22544A-7EE6-4342-B048-85BDC9FD1C3A}</a:tableStyleId>
              </a:tblPr>
              <a:tblGrid>
                <a:gridCol w="893191">
                  <a:extLst>
                    <a:ext uri="{9D8B030D-6E8A-4147-A177-3AD203B41FA5}">
                      <a16:colId xmlns:a16="http://schemas.microsoft.com/office/drawing/2014/main" val="20000"/>
                    </a:ext>
                  </a:extLst>
                </a:gridCol>
                <a:gridCol w="1117346">
                  <a:extLst>
                    <a:ext uri="{9D8B030D-6E8A-4147-A177-3AD203B41FA5}">
                      <a16:colId xmlns:a16="http://schemas.microsoft.com/office/drawing/2014/main" val="20001"/>
                    </a:ext>
                  </a:extLst>
                </a:gridCol>
              </a:tblGrid>
              <a:tr h="142240">
                <a:tc>
                  <a:txBody>
                    <a:bodyPr/>
                    <a:lstStyle/>
                    <a:p>
                      <a:r>
                        <a:rPr lang="en-US" dirty="0"/>
                        <a:t>Age (x)</a:t>
                      </a:r>
                    </a:p>
                  </a:txBody>
                  <a:tcPr/>
                </a:tc>
                <a:tc>
                  <a:txBody>
                    <a:bodyPr/>
                    <a:lstStyle/>
                    <a:p>
                      <a:r>
                        <a:rPr lang="en-US" dirty="0"/>
                        <a:t>Salary (y)</a:t>
                      </a:r>
                    </a:p>
                  </a:txBody>
                  <a:tcPr/>
                </a:tc>
                <a:extLst>
                  <a:ext uri="{0D108BD9-81ED-4DB2-BD59-A6C34878D82A}">
                    <a16:rowId xmlns:a16="http://schemas.microsoft.com/office/drawing/2014/main" val="10000"/>
                  </a:ext>
                </a:extLst>
              </a:tr>
              <a:tr h="370840">
                <a:tc>
                  <a:txBody>
                    <a:bodyPr/>
                    <a:lstStyle/>
                    <a:p>
                      <a:r>
                        <a:rPr lang="en-US" dirty="0"/>
                        <a:t>30</a:t>
                      </a:r>
                    </a:p>
                  </a:txBody>
                  <a:tcPr/>
                </a:tc>
                <a:tc>
                  <a:txBody>
                    <a:bodyPr/>
                    <a:lstStyle/>
                    <a:p>
                      <a:r>
                        <a:rPr lang="en-US" dirty="0"/>
                        <a:t>800</a:t>
                      </a:r>
                    </a:p>
                  </a:txBody>
                  <a:tcPr/>
                </a:tc>
                <a:extLst>
                  <a:ext uri="{0D108BD9-81ED-4DB2-BD59-A6C34878D82A}">
                    <a16:rowId xmlns:a16="http://schemas.microsoft.com/office/drawing/2014/main" val="10001"/>
                  </a:ext>
                </a:extLst>
              </a:tr>
              <a:tr h="370840">
                <a:tc>
                  <a:txBody>
                    <a:bodyPr/>
                    <a:lstStyle/>
                    <a:p>
                      <a:r>
                        <a:rPr lang="en-US" dirty="0"/>
                        <a:t>37</a:t>
                      </a:r>
                    </a:p>
                  </a:txBody>
                  <a:tcPr/>
                </a:tc>
                <a:tc>
                  <a:txBody>
                    <a:bodyPr/>
                    <a:lstStyle/>
                    <a:p>
                      <a:r>
                        <a:rPr lang="en-US" dirty="0"/>
                        <a:t>950</a:t>
                      </a:r>
                    </a:p>
                  </a:txBody>
                  <a:tcPr/>
                </a:tc>
                <a:extLst>
                  <a:ext uri="{0D108BD9-81ED-4DB2-BD59-A6C34878D82A}">
                    <a16:rowId xmlns:a16="http://schemas.microsoft.com/office/drawing/2014/main" val="10002"/>
                  </a:ext>
                </a:extLst>
              </a:tr>
              <a:tr h="370840">
                <a:tc>
                  <a:txBody>
                    <a:bodyPr/>
                    <a:lstStyle/>
                    <a:p>
                      <a:r>
                        <a:rPr lang="en-US" dirty="0"/>
                        <a:t>25</a:t>
                      </a:r>
                    </a:p>
                  </a:txBody>
                  <a:tcPr/>
                </a:tc>
                <a:tc>
                  <a:txBody>
                    <a:bodyPr/>
                    <a:lstStyle/>
                    <a:p>
                      <a:r>
                        <a:rPr lang="en-US" dirty="0"/>
                        <a:t>600</a:t>
                      </a:r>
                    </a:p>
                  </a:txBody>
                  <a:tcPr/>
                </a:tc>
                <a:extLst>
                  <a:ext uri="{0D108BD9-81ED-4DB2-BD59-A6C34878D82A}">
                    <a16:rowId xmlns:a16="http://schemas.microsoft.com/office/drawing/2014/main" val="10003"/>
                  </a:ext>
                </a:extLst>
              </a:tr>
              <a:tr h="370840">
                <a:tc>
                  <a:txBody>
                    <a:bodyPr/>
                    <a:lstStyle/>
                    <a:p>
                      <a:r>
                        <a:rPr lang="en-US" dirty="0"/>
                        <a:t>43</a:t>
                      </a:r>
                    </a:p>
                  </a:txBody>
                  <a:tcPr/>
                </a:tc>
                <a:tc>
                  <a:txBody>
                    <a:bodyPr/>
                    <a:lstStyle/>
                    <a:p>
                      <a:r>
                        <a:rPr lang="en-US" dirty="0"/>
                        <a:t>1050</a:t>
                      </a:r>
                    </a:p>
                  </a:txBody>
                  <a:tcPr/>
                </a:tc>
                <a:extLst>
                  <a:ext uri="{0D108BD9-81ED-4DB2-BD59-A6C34878D82A}">
                    <a16:rowId xmlns:a16="http://schemas.microsoft.com/office/drawing/2014/main" val="10004"/>
                  </a:ext>
                </a:extLst>
              </a:tr>
              <a:tr h="370840">
                <a:tc>
                  <a:txBody>
                    <a:bodyPr/>
                    <a:lstStyle/>
                    <a:p>
                      <a:r>
                        <a:rPr lang="en-US" dirty="0"/>
                        <a:t>50</a:t>
                      </a:r>
                    </a:p>
                  </a:txBody>
                  <a:tcPr/>
                </a:tc>
                <a:tc>
                  <a:txBody>
                    <a:bodyPr/>
                    <a:lstStyle/>
                    <a:p>
                      <a:r>
                        <a:rPr lang="en-US" dirty="0"/>
                        <a:t>1200</a:t>
                      </a:r>
                    </a:p>
                  </a:txBody>
                  <a:tcPr/>
                </a:tc>
                <a:extLst>
                  <a:ext uri="{0D108BD9-81ED-4DB2-BD59-A6C34878D82A}">
                    <a16:rowId xmlns:a16="http://schemas.microsoft.com/office/drawing/2014/main" val="10005"/>
                  </a:ext>
                </a:extLst>
              </a:tr>
              <a:tr h="370840">
                <a:tc>
                  <a:txBody>
                    <a:bodyPr/>
                    <a:lstStyle/>
                    <a:p>
                      <a:r>
                        <a:rPr lang="en-US" dirty="0"/>
                        <a:t>29</a:t>
                      </a:r>
                    </a:p>
                  </a:txBody>
                  <a:tcPr/>
                </a:tc>
                <a:tc>
                  <a:txBody>
                    <a:bodyPr/>
                    <a:lstStyle/>
                    <a:p>
                      <a:r>
                        <a:rPr lang="en-US" dirty="0"/>
                        <a:t>740</a:t>
                      </a:r>
                    </a:p>
                  </a:txBody>
                  <a:tcPr/>
                </a:tc>
                <a:extLst>
                  <a:ext uri="{0D108BD9-81ED-4DB2-BD59-A6C34878D82A}">
                    <a16:rowId xmlns:a16="http://schemas.microsoft.com/office/drawing/2014/main" val="10006"/>
                  </a:ext>
                </a:extLst>
              </a:tr>
              <a:tr h="370840">
                <a:tc>
                  <a:txBody>
                    <a:bodyPr/>
                    <a:lstStyle/>
                    <a:p>
                      <a:r>
                        <a:rPr lang="en-US" dirty="0"/>
                        <a:t>46</a:t>
                      </a:r>
                    </a:p>
                  </a:txBody>
                  <a:tcPr/>
                </a:tc>
                <a:tc>
                  <a:txBody>
                    <a:bodyPr/>
                    <a:lstStyle/>
                    <a:p>
                      <a:r>
                        <a:rPr lang="en-US" dirty="0"/>
                        <a:t>1100</a:t>
                      </a:r>
                    </a:p>
                  </a:txBody>
                  <a:tcPr/>
                </a:tc>
                <a:extLst>
                  <a:ext uri="{0D108BD9-81ED-4DB2-BD59-A6C34878D82A}">
                    <a16:rowId xmlns:a16="http://schemas.microsoft.com/office/drawing/2014/main" val="10007"/>
                  </a:ext>
                </a:extLst>
              </a:tr>
            </a:tbl>
          </a:graphicData>
        </a:graphic>
      </p:graphicFrame>
      <p:sp>
        <p:nvSpPr>
          <p:cNvPr id="5" name="Cloud 4"/>
          <p:cNvSpPr/>
          <p:nvPr/>
        </p:nvSpPr>
        <p:spPr>
          <a:xfrm>
            <a:off x="4724400" y="4495800"/>
            <a:ext cx="3962400" cy="1981200"/>
          </a:xfrm>
          <a:prstGeom prst="cloud">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rgbClr val="FF0000"/>
                </a:solidFill>
              </a:rPr>
              <a:t>Repeat until convergence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4572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Linear Regression</a:t>
            </a:r>
          </a:p>
        </p:txBody>
      </p:sp>
      <p:sp>
        <p:nvSpPr>
          <p:cNvPr id="3" name="Subtitle 2"/>
          <p:cNvSpPr>
            <a:spLocks noGrp="1"/>
          </p:cNvSpPr>
          <p:nvPr>
            <p:ph type="subTitle" idx="1"/>
          </p:nvPr>
        </p:nvSpPr>
        <p:spPr>
          <a:xfrm>
            <a:off x="685800" y="1371600"/>
            <a:ext cx="7467600" cy="48768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Example with code</a:t>
            </a: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Python Notebook</a:t>
            </a:r>
          </a:p>
          <a:p>
            <a:pPr algn="just"/>
            <a:r>
              <a:rPr lang="en-US" sz="1800" dirty="0">
                <a:solidFill>
                  <a:schemeClr val="tx1"/>
                </a:solidFill>
                <a:latin typeface="Times New Roman" panose="02020603050405020304" pitchFamily="18" charset="0"/>
                <a:cs typeface="Times New Roman" panose="02020603050405020304" pitchFamily="18" charset="0"/>
                <a:hlinkClick r:id="rId2"/>
              </a:rPr>
              <a:t>https://colab.research.google.com/drive/1Q0XGUHv5tpbl5IixjuJAEGQIPhNDaIjc?usp=sharing</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p:txBody>
          <a:bodyPr>
            <a:normAutofit/>
          </a:bodyPr>
          <a:lstStyle/>
          <a:p>
            <a:pPr eaLnBrk="1" hangingPunct="1"/>
            <a:r>
              <a:rPr lang="en-US" sz="3600" dirty="0"/>
              <a:t>Some Linear Algebra - The Solution!</a:t>
            </a:r>
            <a:endParaRPr lang="tr-TR" sz="3600"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p>
        </p:txBody>
      </p:sp>
      <p:pic>
        <p:nvPicPr>
          <p:cNvPr id="7" name="Picture 6" descr="ex6-ch2.jpg"/>
          <p:cNvPicPr>
            <a:picLocks noChangeAspect="1"/>
          </p:cNvPicPr>
          <p:nvPr/>
        </p:nvPicPr>
        <p:blipFill rotWithShape="1">
          <a:blip r:embed="rId3" cstate="print"/>
          <a:srcRect t="42654"/>
          <a:stretch>
            <a:fillRect/>
          </a:stretch>
        </p:blipFill>
        <p:spPr>
          <a:xfrm>
            <a:off x="380159" y="2147184"/>
            <a:ext cx="8431999" cy="300039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252192" y="500042"/>
            <a:ext cx="8715436" cy="631844"/>
          </a:xfrm>
        </p:spPr>
        <p:txBody>
          <a:bodyPr>
            <a:normAutofit/>
          </a:bodyPr>
          <a:lstStyle/>
          <a:p>
            <a:pPr eaLnBrk="1" hangingPunct="1"/>
            <a:r>
              <a:rPr lang="en-US" sz="2800" dirty="0"/>
              <a:t>Example of Linear Regression - Data Matrices</a:t>
            </a:r>
            <a:endParaRPr lang="tr-TR" sz="2800"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p>
        </p:txBody>
      </p:sp>
      <p:pic>
        <p:nvPicPr>
          <p:cNvPr id="6" name="Picture 5" descr="ex07-ch2.jpg"/>
          <p:cNvPicPr>
            <a:picLocks noChangeAspect="1"/>
          </p:cNvPicPr>
          <p:nvPr/>
        </p:nvPicPr>
        <p:blipFill>
          <a:blip r:embed="rId3" cstate="print"/>
          <a:stretch>
            <a:fillRect/>
          </a:stretch>
        </p:blipFill>
        <p:spPr>
          <a:xfrm>
            <a:off x="142844" y="2740371"/>
            <a:ext cx="3291931" cy="2260265"/>
          </a:xfrm>
          <a:prstGeom prst="rect">
            <a:avLst/>
          </a:prstGeom>
          <a:ln>
            <a:solidFill>
              <a:schemeClr val="tx1"/>
            </a:solidFill>
          </a:ln>
        </p:spPr>
      </p:pic>
      <p:pic>
        <p:nvPicPr>
          <p:cNvPr id="8" name="Picture 7" descr="ex08-ch2.jpg"/>
          <p:cNvPicPr>
            <a:picLocks noChangeAspect="1"/>
          </p:cNvPicPr>
          <p:nvPr/>
        </p:nvPicPr>
        <p:blipFill>
          <a:blip r:embed="rId4" cstate="print"/>
          <a:stretch>
            <a:fillRect/>
          </a:stretch>
        </p:blipFill>
        <p:spPr>
          <a:xfrm>
            <a:off x="3457608" y="2000240"/>
            <a:ext cx="5543548" cy="370561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838200" y="514188"/>
            <a:ext cx="7772400" cy="703282"/>
          </a:xfrm>
        </p:spPr>
        <p:txBody>
          <a:bodyPr>
            <a:normAutofit fontScale="90000"/>
          </a:bodyPr>
          <a:lstStyle/>
          <a:p>
            <a:pPr eaLnBrk="1" hangingPunct="1"/>
            <a:r>
              <a:rPr lang="en-US" b="1" i="1" dirty="0"/>
              <a:t>X</a:t>
            </a:r>
            <a:r>
              <a:rPr lang="en-US" b="1" i="1" baseline="30000" dirty="0"/>
              <a:t>T</a:t>
            </a:r>
            <a:r>
              <a:rPr lang="en-US" b="1" i="1" dirty="0"/>
              <a:t>X</a:t>
            </a:r>
            <a:endParaRPr lang="tr-TR" b="1" i="1"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p>
        </p:txBody>
      </p:sp>
      <p:pic>
        <p:nvPicPr>
          <p:cNvPr id="10" name="Picture 9" descr="ex09-ch2.jpg"/>
          <p:cNvPicPr>
            <a:picLocks noChangeAspect="1"/>
          </p:cNvPicPr>
          <p:nvPr/>
        </p:nvPicPr>
        <p:blipFill>
          <a:blip r:embed="rId3" cstate="print"/>
          <a:stretch>
            <a:fillRect/>
          </a:stretch>
        </p:blipFill>
        <p:spPr>
          <a:xfrm>
            <a:off x="142844" y="1571612"/>
            <a:ext cx="8885990" cy="407196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914400" y="503622"/>
            <a:ext cx="7772400" cy="703282"/>
          </a:xfrm>
        </p:spPr>
        <p:txBody>
          <a:bodyPr>
            <a:normAutofit fontScale="90000"/>
          </a:bodyPr>
          <a:lstStyle/>
          <a:p>
            <a:r>
              <a:rPr lang="en-US" b="1" i="1" dirty="0"/>
              <a:t>X</a:t>
            </a:r>
            <a:r>
              <a:rPr lang="en-US" b="1" i="1" baseline="30000" dirty="0"/>
              <a:t>T</a:t>
            </a:r>
            <a:r>
              <a:rPr lang="en-US" b="1" i="1" dirty="0"/>
              <a:t>Y</a:t>
            </a:r>
            <a:endParaRPr lang="tr-TR"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p>
        </p:txBody>
      </p:sp>
      <p:pic>
        <p:nvPicPr>
          <p:cNvPr id="8" name="Picture 7" descr="ex10-ch2.jpg"/>
          <p:cNvPicPr>
            <a:picLocks noChangeAspect="1"/>
          </p:cNvPicPr>
          <p:nvPr/>
        </p:nvPicPr>
        <p:blipFill>
          <a:blip r:embed="rId3" cstate="print"/>
          <a:stretch>
            <a:fillRect/>
          </a:stretch>
        </p:blipFill>
        <p:spPr>
          <a:xfrm>
            <a:off x="145742" y="1355329"/>
            <a:ext cx="8783976" cy="464543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6"/>
          <p:cNvSpPr>
            <a:spLocks noGrp="1" noChangeArrowheads="1"/>
          </p:cNvSpPr>
          <p:nvPr>
            <p:ph type="title"/>
          </p:nvPr>
        </p:nvSpPr>
        <p:spPr>
          <a:xfrm>
            <a:off x="838200" y="608404"/>
            <a:ext cx="7772400" cy="703282"/>
          </a:xfrm>
        </p:spPr>
        <p:txBody>
          <a:bodyPr>
            <a:normAutofit fontScale="90000"/>
          </a:bodyPr>
          <a:lstStyle/>
          <a:p>
            <a:pPr eaLnBrk="1" hangingPunct="1"/>
            <a:r>
              <a:rPr lang="en-US" dirty="0"/>
              <a:t>Solving for </a:t>
            </a:r>
            <a:r>
              <a:rPr lang="en-US" b="1" i="1" dirty="0"/>
              <a:t>w</a:t>
            </a:r>
            <a:r>
              <a:rPr lang="en-US" dirty="0"/>
              <a:t> – Regression Curve</a:t>
            </a:r>
            <a:endParaRPr lang="tr-TR" dirty="0"/>
          </a:p>
        </p:txBody>
      </p:sp>
      <p:sp>
        <p:nvSpPr>
          <p:cNvPr id="11269" name="Rectangle 7"/>
          <p:cNvSpPr>
            <a:spLocks noGrp="1" noChangeArrowheads="1"/>
          </p:cNvSpPr>
          <p:nvPr>
            <p:ph sz="quarter" idx="1"/>
          </p:nvPr>
        </p:nvSpPr>
        <p:spPr>
          <a:xfrm>
            <a:off x="142844" y="6500834"/>
            <a:ext cx="8858312" cy="214314"/>
          </a:xfrm>
        </p:spPr>
        <p:txBody>
          <a:bodyPr>
            <a:normAutofit fontScale="32500" lnSpcReduction="20000"/>
          </a:bodyPr>
          <a:lstStyle/>
          <a:p>
            <a:pPr lvl="1">
              <a:buNone/>
            </a:pPr>
            <a:r>
              <a:rPr lang="en-US" dirty="0"/>
              <a:t> </a:t>
            </a:r>
          </a:p>
        </p:txBody>
      </p:sp>
      <p:pic>
        <p:nvPicPr>
          <p:cNvPr id="6" name="Picture 5" descr="ex11-ch2.jpg"/>
          <p:cNvPicPr>
            <a:picLocks noChangeAspect="1"/>
          </p:cNvPicPr>
          <p:nvPr/>
        </p:nvPicPr>
        <p:blipFill>
          <a:blip r:embed="rId3" cstate="print"/>
          <a:stretch>
            <a:fillRect/>
          </a:stretch>
        </p:blipFill>
        <p:spPr>
          <a:xfrm>
            <a:off x="142844" y="1466848"/>
            <a:ext cx="8815479" cy="1885952"/>
          </a:xfrm>
          <a:prstGeom prst="rect">
            <a:avLst/>
          </a:prstGeom>
        </p:spPr>
      </p:pic>
      <p:pic>
        <p:nvPicPr>
          <p:cNvPr id="7" name="Picture 6" descr="ex12-ch2.jpg"/>
          <p:cNvPicPr>
            <a:picLocks noChangeAspect="1"/>
          </p:cNvPicPr>
          <p:nvPr/>
        </p:nvPicPr>
        <p:blipFill>
          <a:blip r:embed="rId4" cstate="print"/>
          <a:stretch>
            <a:fillRect/>
          </a:stretch>
        </p:blipFill>
        <p:spPr>
          <a:xfrm>
            <a:off x="2971800" y="3507962"/>
            <a:ext cx="3998985" cy="320718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457200"/>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Logistic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Logistic regression (also called </a:t>
                </a:r>
                <a:r>
                  <a:rPr lang="en-US" sz="1800" dirty="0" err="1">
                    <a:solidFill>
                      <a:schemeClr val="tx1"/>
                    </a:solidFill>
                    <a:latin typeface="Times New Roman" panose="02020603050405020304" pitchFamily="18" charset="0"/>
                    <a:cs typeface="Times New Roman" panose="02020603050405020304" pitchFamily="18" charset="0"/>
                  </a:rPr>
                  <a:t>logit</a:t>
                </a:r>
                <a:r>
                  <a:rPr lang="en-US" sz="1800" dirty="0">
                    <a:solidFill>
                      <a:schemeClr val="tx1"/>
                    </a:solidFill>
                    <a:latin typeface="Times New Roman" panose="02020603050405020304" pitchFamily="18" charset="0"/>
                    <a:cs typeface="Times New Roman" panose="02020603050405020304" pitchFamily="18" charset="0"/>
                  </a:rPr>
                  <a:t> regression) is commonly used to estimate the probability that an instance belongs to a particular class (e.g., what is the probability that this email is spam?).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If the estimated probability is greater than a given threshold (typically 50%), then the model predicts that the instance belongs to that class (called the positive class, labeled “1”), and otherwise it predicts that it does not (i.e., it belongs to the negative class, labeled “0”). This makes it a binary classifier. </a:t>
                </a: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Just like a </a:t>
                </a:r>
                <a:r>
                  <a:rPr lang="en-US" sz="1800" b="1" dirty="0">
                    <a:solidFill>
                      <a:schemeClr val="tx1"/>
                    </a:solidFill>
                    <a:latin typeface="Times New Roman" panose="02020603050405020304" pitchFamily="18" charset="0"/>
                    <a:cs typeface="Times New Roman" panose="02020603050405020304" pitchFamily="18" charset="0"/>
                  </a:rPr>
                  <a:t>linear regression </a:t>
                </a:r>
                <a:r>
                  <a:rPr lang="en-US" sz="1800" dirty="0">
                    <a:solidFill>
                      <a:schemeClr val="tx1"/>
                    </a:solidFill>
                    <a:latin typeface="Times New Roman" panose="02020603050405020304" pitchFamily="18" charset="0"/>
                    <a:cs typeface="Times New Roman" panose="02020603050405020304" pitchFamily="18" charset="0"/>
                  </a:rPr>
                  <a:t>model, a </a:t>
                </a:r>
                <a:r>
                  <a:rPr lang="en-US" sz="1800" b="1" dirty="0">
                    <a:solidFill>
                      <a:schemeClr val="tx1"/>
                    </a:solidFill>
                    <a:latin typeface="Times New Roman" panose="02020603050405020304" pitchFamily="18" charset="0"/>
                    <a:cs typeface="Times New Roman" panose="02020603050405020304" pitchFamily="18" charset="0"/>
                  </a:rPr>
                  <a:t>logistic regression </a:t>
                </a:r>
                <a:r>
                  <a:rPr lang="en-US" sz="1800" dirty="0">
                    <a:solidFill>
                      <a:schemeClr val="tx1"/>
                    </a:solidFill>
                    <a:latin typeface="Times New Roman" panose="02020603050405020304" pitchFamily="18" charset="0"/>
                    <a:cs typeface="Times New Roman" panose="02020603050405020304" pitchFamily="18" charset="0"/>
                  </a:rPr>
                  <a:t>model computes a weighted sum of the input features (plus a bias term), but instead of outputting the result directly like the linear regression model does, it outputs the logistic of this result.</a:t>
                </a:r>
              </a:p>
              <a:p>
                <a:pPr algn="just"/>
                <a14:m>
                  <m:oMathPara xmlns:m="http://schemas.openxmlformats.org/officeDocument/2006/math">
                    <m:oMathParaPr>
                      <m:jc m:val="centerGroup"/>
                    </m:oMathParaPr>
                    <m:oMath xmlns:m="http://schemas.openxmlformats.org/officeDocument/2006/math">
                      <m:r>
                        <a:rPr lang="en-US" sz="1800" b="1" i="1" smtClean="0">
                          <a:solidFill>
                            <a:schemeClr val="tx1"/>
                          </a:solidFill>
                          <a:latin typeface="Cambria Math" panose="02040503050406030204"/>
                          <a:ea typeface="Cambria Math" panose="02040503050406030204"/>
                          <a:cs typeface="Times New Roman" panose="02020603050405020304" pitchFamily="18" charset="0"/>
                        </a:rPr>
                        <m:t>𝝈</m:t>
                      </m:r>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r>
                        <a:rPr lang="en-US" sz="1800" b="1" i="1" smtClean="0">
                          <a:solidFill>
                            <a:schemeClr val="tx1"/>
                          </a:solidFill>
                          <a:latin typeface="Cambria Math" panose="02040503050406030204"/>
                          <a:ea typeface="Cambria Math" panose="02040503050406030204"/>
                          <a:cs typeface="Times New Roman" panose="02020603050405020304" pitchFamily="18" charset="0"/>
                        </a:rPr>
                        <m:t>𝒕</m:t>
                      </m:r>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f>
                        <m:fPr>
                          <m:ctrlPr>
                            <a:rPr lang="en-US" sz="1800" b="1" i="1" smtClean="0">
                              <a:solidFill>
                                <a:schemeClr val="tx1"/>
                              </a:solidFill>
                              <a:latin typeface="Cambria Math" panose="02040503050406030204" pitchFamily="18" charset="0"/>
                              <a:cs typeface="Times New Roman" panose="02020603050405020304" pitchFamily="18" charset="0"/>
                            </a:rPr>
                          </m:ctrlPr>
                        </m:fPr>
                        <m:num>
                          <m:r>
                            <a:rPr lang="en-US" sz="1800" b="1" i="1" smtClean="0">
                              <a:solidFill>
                                <a:schemeClr val="tx1"/>
                              </a:solidFill>
                              <a:latin typeface="Cambria Math" panose="02040503050406030204"/>
                              <a:cs typeface="Times New Roman" panose="02020603050405020304" pitchFamily="18" charset="0"/>
                            </a:rPr>
                            <m:t>𝟏</m:t>
                          </m:r>
                        </m:num>
                        <m:den>
                          <m:r>
                            <a:rPr lang="en-US" sz="1800" b="1" i="1" smtClean="0">
                              <a:solidFill>
                                <a:schemeClr val="tx1"/>
                              </a:solidFill>
                              <a:latin typeface="Cambria Math" panose="02040503050406030204"/>
                              <a:cs typeface="Times New Roman" panose="02020603050405020304" pitchFamily="18" charset="0"/>
                            </a:rPr>
                            <m:t>𝟏</m:t>
                          </m:r>
                          <m:r>
                            <a:rPr lang="en-US" sz="1800" b="1" i="1" smtClean="0">
                              <a:solidFill>
                                <a:schemeClr val="tx1"/>
                              </a:solidFill>
                              <a:latin typeface="Cambria Math" panose="02040503050406030204"/>
                              <a:cs typeface="Times New Roman" panose="02020603050405020304" pitchFamily="18" charset="0"/>
                            </a:rPr>
                            <m:t>+</m:t>
                          </m:r>
                          <m:sSup>
                            <m:sSupPr>
                              <m:ctrlPr>
                                <a:rPr lang="en-US" sz="1800" b="1" i="1" smtClean="0">
                                  <a:solidFill>
                                    <a:schemeClr val="tx1"/>
                                  </a:solidFill>
                                  <a:latin typeface="Cambria Math" panose="02040503050406030204" pitchFamily="18" charset="0"/>
                                  <a:cs typeface="Times New Roman" panose="02020603050405020304" pitchFamily="18" charset="0"/>
                                </a:rPr>
                              </m:ctrlPr>
                            </m:sSupPr>
                            <m:e>
                              <m:r>
                                <a:rPr lang="en-US" sz="1800" b="1" i="1" smtClean="0">
                                  <a:solidFill>
                                    <a:schemeClr val="tx1"/>
                                  </a:solidFill>
                                  <a:latin typeface="Cambria Math" panose="02040503050406030204"/>
                                  <a:cs typeface="Times New Roman" panose="02020603050405020304" pitchFamily="18" charset="0"/>
                                </a:rPr>
                                <m:t>𝒆</m:t>
                              </m:r>
                            </m:e>
                            <m:sup>
                              <m:r>
                                <a:rPr lang="en-US" sz="1800" b="1" i="1" smtClean="0">
                                  <a:solidFill>
                                    <a:schemeClr val="tx1"/>
                                  </a:solidFill>
                                  <a:latin typeface="Cambria Math" panose="02040503050406030204"/>
                                  <a:cs typeface="Times New Roman" panose="02020603050405020304" pitchFamily="18" charset="0"/>
                                </a:rPr>
                                <m:t>−</m:t>
                              </m:r>
                              <m:r>
                                <a:rPr lang="en-US" sz="1800" b="1" i="1" smtClean="0">
                                  <a:solidFill>
                                    <a:schemeClr val="tx1"/>
                                  </a:solidFill>
                                  <a:latin typeface="Cambria Math" panose="02040503050406030204"/>
                                  <a:cs typeface="Times New Roman" panose="02020603050405020304" pitchFamily="18" charset="0"/>
                                </a:rPr>
                                <m:t>𝒕</m:t>
                              </m:r>
                            </m:sup>
                          </m:sSup>
                        </m:den>
                      </m:f>
                    </m:oMath>
                  </m:oMathPara>
                </a14:m>
                <a:endParaRPr lang="en-US" sz="1800" b="1"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3" name="Subtitle 2"/>
              <p:cNvSpPr>
                <a:spLocks noRot="1" noChangeAspect="1" noMove="1" noResize="1" noEditPoints="1" noAdjustHandles="1" noChangeArrowheads="1" noChangeShapeType="1" noTextEdit="1"/>
              </p:cNvSpPr>
              <p:nvPr>
                <p:ph type="subTitle" idx="1"/>
              </p:nvPr>
            </p:nvSpPr>
            <p:spPr>
              <a:xfrm>
                <a:off x="685800" y="1371600"/>
                <a:ext cx="7467600" cy="4876800"/>
              </a:xfrm>
              <a:blipFill rotWithShape="1">
                <a:blip r:embed="rId2"/>
                <a:stretch>
                  <a:fillRect/>
                </a:stretch>
              </a:blipFill>
            </p:spPr>
            <p:txBody>
              <a:bodyPr/>
              <a:lstStyle/>
              <a:p>
                <a:r>
                  <a:rPr lang="en-US"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459359"/>
            <a:ext cx="6096000" cy="708025"/>
          </a:xfrm>
        </p:spPr>
        <p:txBody>
          <a:bodyPr>
            <a:normAutofit/>
          </a:bodyPr>
          <a:lstStyle/>
          <a:p>
            <a:pPr marL="285750" indent="-285750"/>
            <a:r>
              <a:rPr lang="en-US" sz="3200" dirty="0">
                <a:latin typeface="Times New Roman" panose="02020603050405020304" pitchFamily="18" charset="0"/>
                <a:cs typeface="Times New Roman" panose="02020603050405020304" pitchFamily="18" charset="0"/>
              </a:rPr>
              <a:t>Logistic Regression</a:t>
            </a: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685800" y="1371600"/>
                <a:ext cx="7467600" cy="4876800"/>
              </a:xfrm>
            </p:spPr>
            <p:txBody>
              <a:bodyPr>
                <a:normAutofit/>
              </a:bodyPr>
              <a:lstStyle/>
              <a:p>
                <a:pPr algn="just"/>
                <a14:m>
                  <m:oMath xmlns:m="http://schemas.openxmlformats.org/officeDocument/2006/math">
                    <m:acc>
                      <m:accPr>
                        <m:chr m:val="̂"/>
                        <m:ctrlPr>
                          <a:rPr lang="en-US" sz="1800" b="1" i="1" smtClean="0">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a:solidFill>
                      <a:schemeClr val="tx1"/>
                    </a:solidFill>
                    <a:latin typeface="Times New Roman" panose="02020603050405020304" pitchFamily="18" charset="0"/>
                    <a:cs typeface="Times New Roman" panose="02020603050405020304" pitchFamily="18" charset="0"/>
                  </a:rPr>
                  <a:t> becomes </a:t>
                </a:r>
                <a14:m>
                  <m:oMath xmlns:m="http://schemas.openxmlformats.org/officeDocument/2006/math">
                    <m:acc>
                      <m:accPr>
                        <m:chr m:val="̂"/>
                        <m:ctrlPr>
                          <a:rPr lang="en-US" sz="1800" b="1" i="1">
                            <a:solidFill>
                              <a:schemeClr val="tx1"/>
                            </a:solidFill>
                            <a:latin typeface="Cambria Math" panose="02040503050406030204" pitchFamily="18" charset="0"/>
                            <a:cs typeface="Times New Roman" panose="02020603050405020304" pitchFamily="18" charset="0"/>
                          </a:rPr>
                        </m:ctrlPr>
                      </m:accPr>
                      <m:e>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𝒚</m:t>
                            </m:r>
                          </m:e>
                          <m:sub>
                            <m:r>
                              <a:rPr lang="en-US" sz="1800" b="1" i="1">
                                <a:solidFill>
                                  <a:schemeClr val="tx1"/>
                                </a:solidFill>
                                <a:latin typeface="Cambria Math" panose="02040503050406030204"/>
                                <a:cs typeface="Times New Roman" panose="02020603050405020304" pitchFamily="18" charset="0"/>
                              </a:rPr>
                              <m:t>𝒊</m:t>
                            </m:r>
                          </m:sub>
                        </m:sSub>
                      </m:e>
                    </m:acc>
                    <m:r>
                      <a:rPr lang="en-US" sz="1800" b="1" i="1">
                        <a:solidFill>
                          <a:schemeClr val="tx1"/>
                        </a:solidFill>
                        <a:latin typeface="Cambria Math" panose="02040503050406030204"/>
                        <a:cs typeface="Times New Roman" panose="02020603050405020304" pitchFamily="18" charset="0"/>
                      </a:rPr>
                      <m:t>=</m:t>
                    </m:r>
                    <m:sSub>
                      <m:sSubPr>
                        <m:ctrlPr>
                          <a:rPr lang="en-US" sz="1800" b="1" i="1" smtClean="0">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𝝈</m:t>
                        </m:r>
                        <m:r>
                          <a:rPr lang="en-US" sz="1800" b="1" i="1" smtClean="0">
                            <a:solidFill>
                              <a:schemeClr val="tx1"/>
                            </a:solidFill>
                            <a:latin typeface="Cambria Math" panose="02040503050406030204"/>
                            <a:ea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r>
                      <a:rPr lang="en-US" sz="1800" b="1" i="1" smtClean="0">
                        <a:solidFill>
                          <a:schemeClr val="tx1"/>
                        </a:solidFill>
                        <a:latin typeface="Cambria Math" panose="02040503050406030204"/>
                        <a:cs typeface="Times New Roman" panose="02020603050405020304" pitchFamily="18" charset="0"/>
                      </a:rPr>
                      <m:t>)</m:t>
                    </m:r>
                  </m:oMath>
                </a14:m>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ea typeface="Cambria Math" panose="02040503050406030204"/>
                    <a:cs typeface="Times New Roman" panose="02020603050405020304" pitchFamily="18" charset="0"/>
                  </a:rPr>
                  <a:t>where</a:t>
                </a:r>
                <a:r>
                  <a:rPr lang="en-US" sz="1800" b="1" dirty="0">
                    <a:solidFill>
                      <a:schemeClr val="tx1"/>
                    </a:solidFill>
                    <a:ea typeface="Cambria Math" panose="02040503050406030204"/>
                    <a:cs typeface="Times New Roman" panose="02020603050405020304" pitchFamily="18" charset="0"/>
                  </a:rPr>
                  <a:t> </a:t>
                </a:r>
                <a14:m>
                  <m:oMath xmlns:m="http://schemas.openxmlformats.org/officeDocument/2006/math">
                    <m:r>
                      <a:rPr lang="en-US" sz="1800" b="1" i="1">
                        <a:solidFill>
                          <a:schemeClr val="tx1"/>
                        </a:solidFill>
                        <a:latin typeface="Cambria Math" panose="02040503050406030204"/>
                        <a:ea typeface="Cambria Math" panose="02040503050406030204"/>
                        <a:cs typeface="Times New Roman" panose="02020603050405020304" pitchFamily="18" charset="0"/>
                      </a:rPr>
                      <m:t>𝝈</m:t>
                    </m:r>
                    <m:r>
                      <a:rPr lang="en-US" sz="1800" b="1" i="1">
                        <a:solidFill>
                          <a:schemeClr val="tx1"/>
                        </a:solidFill>
                        <a:latin typeface="Cambria Math" panose="02040503050406030204"/>
                        <a:ea typeface="Cambria Math" panose="02040503050406030204"/>
                        <a:cs typeface="Times New Roman" panose="02020603050405020304" pitchFamily="18" charset="0"/>
                      </a:rPr>
                      <m:t>(</m:t>
                    </m:r>
                    <m:r>
                      <a:rPr lang="en-US" sz="1800" b="1" i="1">
                        <a:solidFill>
                          <a:schemeClr val="tx1"/>
                        </a:solidFill>
                        <a:latin typeface="Cambria Math" panose="02040503050406030204"/>
                        <a:ea typeface="Cambria Math" panose="02040503050406030204"/>
                        <a:cs typeface="Times New Roman" panose="02020603050405020304" pitchFamily="18" charset="0"/>
                      </a:rPr>
                      <m:t>𝒕</m:t>
                    </m:r>
                    <m:r>
                      <a:rPr lang="en-US" sz="1800" b="1" i="1">
                        <a:solidFill>
                          <a:schemeClr val="tx1"/>
                        </a:solidFill>
                        <a:latin typeface="Cambria Math" panose="02040503050406030204"/>
                        <a:ea typeface="Cambria Math" panose="02040503050406030204"/>
                        <a:cs typeface="Times New Roman" panose="02020603050405020304" pitchFamily="18" charset="0"/>
                      </a:rPr>
                      <m:t>)=</m:t>
                    </m:r>
                    <m:f>
                      <m:fPr>
                        <m:ctrlPr>
                          <a:rPr lang="en-US" sz="1800" b="1" i="1">
                            <a:solidFill>
                              <a:schemeClr val="tx1"/>
                            </a:solidFill>
                            <a:latin typeface="Cambria Math" panose="02040503050406030204" pitchFamily="18" charset="0"/>
                            <a:cs typeface="Times New Roman" panose="02020603050405020304" pitchFamily="18" charset="0"/>
                          </a:rPr>
                        </m:ctrlPr>
                      </m:fPr>
                      <m:num>
                        <m:r>
                          <a:rPr lang="en-US" sz="1800" b="1" i="1">
                            <a:solidFill>
                              <a:schemeClr val="tx1"/>
                            </a:solidFill>
                            <a:latin typeface="Cambria Math" panose="02040503050406030204"/>
                            <a:cs typeface="Times New Roman" panose="02020603050405020304" pitchFamily="18" charset="0"/>
                          </a:rPr>
                          <m:t>𝟏</m:t>
                        </m:r>
                      </m:num>
                      <m:den>
                        <m:r>
                          <a:rPr lang="en-US" sz="1800" b="1" i="1">
                            <a:solidFill>
                              <a:schemeClr val="tx1"/>
                            </a:solidFill>
                            <a:latin typeface="Cambria Math" panose="02040503050406030204"/>
                            <a:cs typeface="Times New Roman" panose="02020603050405020304" pitchFamily="18" charset="0"/>
                          </a:rPr>
                          <m:t>𝟏</m:t>
                        </m:r>
                        <m:r>
                          <a:rPr lang="en-US" sz="1800" b="1" i="1">
                            <a:solidFill>
                              <a:schemeClr val="tx1"/>
                            </a:solidFill>
                            <a:latin typeface="Cambria Math" panose="02040503050406030204"/>
                            <a:cs typeface="Times New Roman" panose="02020603050405020304" pitchFamily="18" charset="0"/>
                          </a:rPr>
                          <m:t>+</m:t>
                        </m:r>
                        <m:sSup>
                          <m:sSupPr>
                            <m:ctrlPr>
                              <a:rPr lang="en-US" sz="1800" b="1" i="1">
                                <a:solidFill>
                                  <a:schemeClr val="tx1"/>
                                </a:solidFill>
                                <a:latin typeface="Cambria Math" panose="02040503050406030204" pitchFamily="18" charset="0"/>
                                <a:cs typeface="Times New Roman" panose="02020603050405020304" pitchFamily="18" charset="0"/>
                              </a:rPr>
                            </m:ctrlPr>
                          </m:sSupPr>
                          <m:e>
                            <m:r>
                              <a:rPr lang="en-US" sz="1800" b="1" i="1">
                                <a:solidFill>
                                  <a:schemeClr val="tx1"/>
                                </a:solidFill>
                                <a:latin typeface="Cambria Math" panose="02040503050406030204"/>
                                <a:cs typeface="Times New Roman" panose="02020603050405020304" pitchFamily="18" charset="0"/>
                              </a:rPr>
                              <m:t>𝒆</m:t>
                            </m:r>
                          </m:e>
                          <m:sup>
                            <m:r>
                              <a:rPr lang="en-US" sz="1800" b="1" i="1">
                                <a:solidFill>
                                  <a:schemeClr val="tx1"/>
                                </a:solidFill>
                                <a:latin typeface="Cambria Math" panose="02040503050406030204"/>
                                <a:cs typeface="Times New Roman" panose="02020603050405020304" pitchFamily="18" charset="0"/>
                              </a:rPr>
                              <m:t>−</m:t>
                            </m:r>
                            <m:r>
                              <a:rPr lang="en-US" sz="1800" b="1" i="1">
                                <a:solidFill>
                                  <a:schemeClr val="tx1"/>
                                </a:solidFill>
                                <a:latin typeface="Cambria Math" panose="02040503050406030204"/>
                                <a:cs typeface="Times New Roman" panose="02020603050405020304" pitchFamily="18" charset="0"/>
                              </a:rPr>
                              <m:t>𝒕</m:t>
                            </m:r>
                          </m:sup>
                        </m:sSup>
                      </m:den>
                    </m:f>
                  </m:oMath>
                </a14:m>
                <a:endParaRPr lang="en-US" sz="1800" b="1" dirty="0">
                  <a:solidFill>
                    <a:schemeClr val="tx1"/>
                  </a:solidFill>
                  <a:latin typeface="Times New Roman" panose="02020603050405020304" pitchFamily="18" charset="0"/>
                  <a:cs typeface="Times New Roman" panose="02020603050405020304" pitchFamily="18" charset="0"/>
                </a:endParaRPr>
              </a:p>
              <a:p>
                <a:pPr algn="just"/>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function is also known as sigmoid function.</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Notice that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𝝈</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)&lt;</m:t>
                    </m:r>
                    <m:r>
                      <a:rPr lang="en-US" sz="1800" b="1" i="1" dirty="0" smtClean="0">
                        <a:solidFill>
                          <a:schemeClr val="tx1"/>
                        </a:solidFill>
                        <a:latin typeface="Cambria Math" panose="02040503050406030204"/>
                        <a:cs typeface="Times New Roman" panose="02020603050405020304" pitchFamily="18" charset="0"/>
                      </a:rPr>
                      <m:t>𝟎</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𝟓</m:t>
                    </m:r>
                    <m:r>
                      <a:rPr lang="en-US" sz="1800" b="1" i="1" dirty="0" smtClean="0">
                        <a:solidFill>
                          <a:schemeClr val="tx1"/>
                        </a:solidFill>
                        <a:latin typeface="Cambria Math" panose="02040503050406030204"/>
                        <a:cs typeface="Times New Roman" panose="02020603050405020304" pitchFamily="18" charset="0"/>
                      </a:rPr>
                      <m:t> </m:t>
                    </m:r>
                  </m:oMath>
                </a14:m>
                <a:r>
                  <a:rPr lang="en-US" sz="1800" dirty="0">
                    <a:solidFill>
                      <a:schemeClr val="tx1"/>
                    </a:solidFill>
                    <a:latin typeface="Times New Roman" panose="02020603050405020304" pitchFamily="18" charset="0"/>
                    <a:cs typeface="Times New Roman" panose="02020603050405020304" pitchFamily="18" charset="0"/>
                  </a:rPr>
                  <a:t>when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&lt; </m:t>
                    </m:r>
                    <m:r>
                      <a:rPr lang="en-US" sz="1800" b="1" i="1" dirty="0" smtClean="0">
                        <a:solidFill>
                          <a:schemeClr val="tx1"/>
                        </a:solidFill>
                        <a:latin typeface="Cambria Math" panose="02040503050406030204"/>
                        <a:cs typeface="Times New Roman" panose="02020603050405020304" pitchFamily="18" charset="0"/>
                      </a:rPr>
                      <m:t>𝟎</m:t>
                    </m:r>
                  </m:oMath>
                </a14:m>
                <a:r>
                  <a:rPr lang="en-US" sz="1800" dirty="0">
                    <a:solidFill>
                      <a:schemeClr val="tx1"/>
                    </a:solidFill>
                    <a:latin typeface="Times New Roman" panose="02020603050405020304" pitchFamily="18" charset="0"/>
                    <a:cs typeface="Times New Roman" panose="02020603050405020304" pitchFamily="18" charset="0"/>
                  </a:rPr>
                  <a:t>, and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𝝈</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 ≥ </m:t>
                    </m:r>
                    <m:r>
                      <a:rPr lang="en-US" sz="1800" b="1" i="1" dirty="0" smtClean="0">
                        <a:solidFill>
                          <a:schemeClr val="tx1"/>
                        </a:solidFill>
                        <a:latin typeface="Cambria Math" panose="02040503050406030204"/>
                        <a:cs typeface="Times New Roman" panose="02020603050405020304" pitchFamily="18" charset="0"/>
                      </a:rPr>
                      <m:t>𝟎</m:t>
                    </m:r>
                    <m:r>
                      <a:rPr lang="en-US" sz="1800" b="1" i="1" dirty="0" smtClean="0">
                        <a:solidFill>
                          <a:schemeClr val="tx1"/>
                        </a:solidFill>
                        <a:latin typeface="Cambria Math" panose="02040503050406030204"/>
                        <a:cs typeface="Times New Roman" panose="02020603050405020304" pitchFamily="18" charset="0"/>
                      </a:rPr>
                      <m:t>.</m:t>
                    </m:r>
                    <m:r>
                      <a:rPr lang="en-US" sz="1800" b="1" i="1" dirty="0" smtClean="0">
                        <a:solidFill>
                          <a:schemeClr val="tx1"/>
                        </a:solidFill>
                        <a:latin typeface="Cambria Math" panose="02040503050406030204"/>
                        <a:cs typeface="Times New Roman" panose="02020603050405020304" pitchFamily="18" charset="0"/>
                      </a:rPr>
                      <m:t>𝟓</m:t>
                    </m:r>
                    <m:r>
                      <a:rPr lang="en-US" sz="1800" b="1" i="1" dirty="0" smtClean="0">
                        <a:solidFill>
                          <a:schemeClr val="tx1"/>
                        </a:solidFill>
                        <a:latin typeface="Cambria Math" panose="02040503050406030204"/>
                        <a:cs typeface="Times New Roman" panose="02020603050405020304" pitchFamily="18" charset="0"/>
                      </a:rPr>
                      <m:t> </m:t>
                    </m:r>
                  </m:oMath>
                </a14:m>
                <a:r>
                  <a:rPr lang="en-US" sz="1800" dirty="0">
                    <a:solidFill>
                      <a:schemeClr val="tx1"/>
                    </a:solidFill>
                    <a:latin typeface="Times New Roman" panose="02020603050405020304" pitchFamily="18" charset="0"/>
                    <a:cs typeface="Times New Roman" panose="02020603050405020304" pitchFamily="18" charset="0"/>
                  </a:rPr>
                  <a:t>when </a:t>
                </a:r>
                <a14:m>
                  <m:oMath xmlns:m="http://schemas.openxmlformats.org/officeDocument/2006/math">
                    <m:r>
                      <a:rPr lang="en-US" sz="1800" b="1" i="1" dirty="0" smtClean="0">
                        <a:solidFill>
                          <a:schemeClr val="tx1"/>
                        </a:solidFill>
                        <a:latin typeface="Cambria Math" panose="02040503050406030204"/>
                        <a:cs typeface="Times New Roman" panose="02020603050405020304" pitchFamily="18" charset="0"/>
                      </a:rPr>
                      <m:t>𝒕</m:t>
                    </m:r>
                    <m:r>
                      <a:rPr lang="en-US" sz="1800" b="1" i="1" dirty="0" smtClean="0">
                        <a:solidFill>
                          <a:schemeClr val="tx1"/>
                        </a:solidFill>
                        <a:latin typeface="Cambria Math" panose="02040503050406030204"/>
                        <a:cs typeface="Times New Roman" panose="02020603050405020304" pitchFamily="18" charset="0"/>
                      </a:rPr>
                      <m:t> ≥ </m:t>
                    </m:r>
                    <m:r>
                      <a:rPr lang="en-US" sz="1800" b="1" i="1" dirty="0" smtClean="0">
                        <a:solidFill>
                          <a:schemeClr val="tx1"/>
                        </a:solidFill>
                        <a:latin typeface="Cambria Math" panose="02040503050406030204"/>
                        <a:cs typeface="Times New Roman" panose="02020603050405020304" pitchFamily="18" charset="0"/>
                      </a:rPr>
                      <m:t>𝟎</m:t>
                    </m:r>
                  </m:oMath>
                </a14:m>
                <a:r>
                  <a:rPr lang="en-US" sz="1800" dirty="0">
                    <a:solidFill>
                      <a:schemeClr val="tx1"/>
                    </a:solidFill>
                    <a:latin typeface="Times New Roman" panose="02020603050405020304" pitchFamily="18" charset="0"/>
                    <a:cs typeface="Times New Roman" panose="02020603050405020304" pitchFamily="18" charset="0"/>
                  </a:rPr>
                  <a:t>, so a logistic regression model using the default threshold of </a:t>
                </a:r>
                <a:r>
                  <a:rPr lang="en-US" sz="1800" b="1" dirty="0">
                    <a:solidFill>
                      <a:schemeClr val="tx1"/>
                    </a:solidFill>
                    <a:latin typeface="Times New Roman" panose="02020603050405020304" pitchFamily="18" charset="0"/>
                    <a:cs typeface="Times New Roman" panose="02020603050405020304" pitchFamily="18" charset="0"/>
                  </a:rPr>
                  <a:t>50%</a:t>
                </a:r>
                <a:r>
                  <a:rPr lang="en-US" sz="1800" dirty="0">
                    <a:solidFill>
                      <a:schemeClr val="tx1"/>
                    </a:solidFill>
                    <a:latin typeface="Times New Roman" panose="02020603050405020304" pitchFamily="18" charset="0"/>
                    <a:cs typeface="Times New Roman" panose="02020603050405020304" pitchFamily="18" charset="0"/>
                  </a:rPr>
                  <a:t> probability predicts </a:t>
                </a:r>
                <a:r>
                  <a:rPr lang="en-US" sz="1800" b="1" dirty="0">
                    <a:solidFill>
                      <a:schemeClr val="tx1"/>
                    </a:solidFill>
                    <a:latin typeface="Times New Roman" panose="02020603050405020304" pitchFamily="18" charset="0"/>
                    <a:cs typeface="Times New Roman" panose="02020603050405020304" pitchFamily="18" charset="0"/>
                  </a:rPr>
                  <a:t>1</a:t>
                </a:r>
                <a:r>
                  <a:rPr lang="en-US" sz="1800" dirty="0">
                    <a:solidFill>
                      <a:schemeClr val="tx1"/>
                    </a:solidFill>
                    <a:latin typeface="Times New Roman" panose="02020603050405020304" pitchFamily="18" charset="0"/>
                    <a:cs typeface="Times New Roman" panose="02020603050405020304" pitchFamily="18" charset="0"/>
                  </a:rPr>
                  <a:t> if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a:solidFill>
                      <a:schemeClr val="tx1"/>
                    </a:solidFill>
                    <a:latin typeface="Times New Roman" panose="02020603050405020304" pitchFamily="18" charset="0"/>
                    <a:cs typeface="Times New Roman" panose="02020603050405020304" pitchFamily="18" charset="0"/>
                  </a:rPr>
                  <a:t> is positive and </a:t>
                </a:r>
                <a:r>
                  <a:rPr lang="en-US" sz="1800" b="1" dirty="0">
                    <a:solidFill>
                      <a:schemeClr val="tx1"/>
                    </a:solidFill>
                    <a:latin typeface="Times New Roman" panose="02020603050405020304" pitchFamily="18" charset="0"/>
                    <a:cs typeface="Times New Roman" panose="02020603050405020304" pitchFamily="18" charset="0"/>
                  </a:rPr>
                  <a:t>0</a:t>
                </a:r>
                <a:r>
                  <a:rPr lang="en-US" sz="1800" dirty="0">
                    <a:solidFill>
                      <a:schemeClr val="tx1"/>
                    </a:solidFill>
                    <a:latin typeface="Times New Roman" panose="02020603050405020304" pitchFamily="18" charset="0"/>
                    <a:cs typeface="Times New Roman" panose="02020603050405020304" pitchFamily="18" charset="0"/>
                  </a:rPr>
                  <a:t> if it </a:t>
                </a:r>
                <a14:m>
                  <m:oMath xmlns:m="http://schemas.openxmlformats.org/officeDocument/2006/math">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𝟏</m:t>
                        </m:r>
                      </m:sub>
                    </m:sSub>
                    <m:r>
                      <a:rPr lang="en-US" sz="1800" b="1" i="1">
                        <a:solidFill>
                          <a:schemeClr val="tx1"/>
                        </a:solidFill>
                        <a:latin typeface="Cambria Math" panose="02040503050406030204"/>
                        <a:cs typeface="Times New Roman" panose="02020603050405020304" pitchFamily="18" charset="0"/>
                      </a:rPr>
                      <m:t>+</m:t>
                    </m:r>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ea typeface="Cambria Math" panose="02040503050406030204"/>
                            <a:cs typeface="Times New Roman" panose="02020603050405020304" pitchFamily="18" charset="0"/>
                          </a:rPr>
                          <m:t>𝜽</m:t>
                        </m:r>
                      </m:e>
                      <m:sub>
                        <m:r>
                          <a:rPr lang="en-US" sz="1800" b="1" i="1">
                            <a:solidFill>
                              <a:schemeClr val="tx1"/>
                            </a:solidFill>
                            <a:latin typeface="Cambria Math" panose="02040503050406030204"/>
                            <a:cs typeface="Times New Roman" panose="02020603050405020304" pitchFamily="18" charset="0"/>
                          </a:rPr>
                          <m:t>𝟐</m:t>
                        </m:r>
                      </m:sub>
                    </m:sSub>
                    <m:sSub>
                      <m:sSubPr>
                        <m:ctrlPr>
                          <a:rPr lang="en-US" sz="1800" b="1" i="1">
                            <a:solidFill>
                              <a:schemeClr val="tx1"/>
                            </a:solidFill>
                            <a:latin typeface="Cambria Math" panose="02040503050406030204" pitchFamily="18" charset="0"/>
                            <a:cs typeface="Times New Roman" panose="02020603050405020304" pitchFamily="18" charset="0"/>
                          </a:rPr>
                        </m:ctrlPr>
                      </m:sSubPr>
                      <m:e>
                        <m:r>
                          <a:rPr lang="en-US" sz="1800" b="1" i="1">
                            <a:solidFill>
                              <a:schemeClr val="tx1"/>
                            </a:solidFill>
                            <a:latin typeface="Cambria Math" panose="02040503050406030204"/>
                            <a:cs typeface="Times New Roman" panose="02020603050405020304" pitchFamily="18" charset="0"/>
                          </a:rPr>
                          <m:t>𝒙</m:t>
                        </m:r>
                      </m:e>
                      <m:sub>
                        <m:r>
                          <a:rPr lang="en-US" sz="1800" b="1" i="1">
                            <a:solidFill>
                              <a:schemeClr val="tx1"/>
                            </a:solidFill>
                            <a:latin typeface="Cambria Math" panose="02040503050406030204"/>
                            <a:cs typeface="Times New Roman" panose="02020603050405020304" pitchFamily="18" charset="0"/>
                          </a:rPr>
                          <m:t>𝒊</m:t>
                        </m:r>
                      </m:sub>
                    </m:sSub>
                  </m:oMath>
                </a14:m>
                <a:r>
                  <a:rPr lang="en-US" sz="1800" dirty="0">
                    <a:solidFill>
                      <a:schemeClr val="tx1"/>
                    </a:solidFill>
                    <a:latin typeface="Times New Roman" panose="02020603050405020304" pitchFamily="18" charset="0"/>
                    <a:cs typeface="Times New Roman" panose="02020603050405020304" pitchFamily="18" charset="0"/>
                  </a:rPr>
                  <a:t> is negative.</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this way Logistic Regression can be used as a binary classifier. </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685800" y="1371600"/>
                <a:ext cx="7467600" cy="4876800"/>
              </a:xfrm>
              <a:blipFill>
                <a:blip r:embed="rId2"/>
                <a:stretch>
                  <a:fillRect l="-735" t="-625" r="-653"/>
                </a:stretch>
              </a:blipFill>
            </p:spPr>
            <p:txBody>
              <a:bodyPr/>
              <a:lstStyle/>
              <a:p>
                <a:r>
                  <a:rPr lang="en-US">
                    <a:noFill/>
                  </a:rPr>
                  <a:t> </a:t>
                </a:r>
              </a:p>
            </p:txBody>
          </p:sp>
        </mc:Fallback>
      </mc:AlternateContent>
      <p:pic>
        <p:nvPicPr>
          <p:cNvPr id="1028" name="Picture 4" descr="https://upload.wikimedia.org/wikipedia/commons/thumb/8/88/Logistic-curve.svg/320px-Logistic-curve.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1143000"/>
            <a:ext cx="3418318" cy="2286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566249" y="5776823"/>
            <a:ext cx="4572000" cy="307777"/>
          </a:xfrm>
          <a:prstGeom prst="rect">
            <a:avLst/>
          </a:prstGeom>
        </p:spPr>
        <p:txBody>
          <a:bodyPr>
            <a:spAutoFit/>
          </a:bodyPr>
          <a:lstStyle/>
          <a:p>
            <a:r>
              <a:rPr lang="en-US" sz="1400" dirty="0">
                <a:solidFill>
                  <a:schemeClr val="bg1">
                    <a:lumMod val="75000"/>
                  </a:schemeClr>
                </a:solidFill>
              </a:rPr>
              <a:t>https://en.wikipedia.org/wiki/Sigmoid_function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2015</Words>
  <Application>Microsoft Office PowerPoint</Application>
  <PresentationFormat>On-screen Show (4:3)</PresentationFormat>
  <Paragraphs>269</Paragraphs>
  <Slides>31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Cambria Math</vt:lpstr>
      <vt:lpstr>Times New Roman</vt:lpstr>
      <vt:lpstr>Wingdings</vt:lpstr>
      <vt:lpstr>Office Theme</vt:lpstr>
      <vt:lpstr>Supervised Learning</vt:lpstr>
      <vt:lpstr>Regression</vt:lpstr>
      <vt:lpstr>Classification</vt:lpstr>
      <vt:lpstr>Regression</vt:lpstr>
      <vt:lpstr>Linear Regression</vt:lpstr>
      <vt:lpstr>Linear Regression</vt:lpstr>
      <vt:lpstr>Simple Linear Regression</vt:lpstr>
      <vt:lpstr>Example</vt:lpstr>
      <vt:lpstr>PowerPoint Presentation</vt:lpstr>
      <vt:lpstr>Multiple Linear Regression</vt:lpstr>
      <vt:lpstr>Example</vt:lpstr>
      <vt:lpstr>Example</vt:lpstr>
      <vt:lpstr>Example</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Linear Regression</vt:lpstr>
      <vt:lpstr>Some Linear Algebra - The Solution!</vt:lpstr>
      <vt:lpstr>Example of Linear Regression - Data Matrices</vt:lpstr>
      <vt:lpstr>XTX</vt:lpstr>
      <vt:lpstr>XTY</vt:lpstr>
      <vt:lpstr>Solving for w – Regression Curve</vt:lpstr>
      <vt:lpstr>Logistic Regression</vt:lpstr>
      <vt:lpstr>Logistic Regression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Ashraf</dc:creator>
  <cp:lastModifiedBy>Sharfuddin Mahmood</cp:lastModifiedBy>
  <cp:revision>213</cp:revision>
  <dcterms:created xsi:type="dcterms:W3CDTF">2024-10-19T07:49:00Z</dcterms:created>
  <dcterms:modified xsi:type="dcterms:W3CDTF">2025-07-22T07:49:32Z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90A52C70376E4B5F95023107E6D28B23_12</vt:lpwstr>
  </property>
  <property fmtid="{D5CDD505-2E9C-101B-9397-08002B2CF9AE}" pid="3" name="KSOProductBuildVer">
    <vt:lpwstr>1033-12.2.0.18607</vt:lpwstr>
  </property>
</Properties>
</file>