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56" r:id="rId2"/>
    <p:sldId id="257" r:id="rId3"/>
    <p:sldId id="266" r:id="rId4"/>
    <p:sldId id="320" r:id="rId5"/>
    <p:sldId id="262" r:id="rId6"/>
    <p:sldId id="263" r:id="rId7"/>
    <p:sldId id="321" r:id="rId8"/>
    <p:sldId id="322" r:id="rId9"/>
    <p:sldId id="259" r:id="rId10"/>
    <p:sldId id="260" r:id="rId11"/>
    <p:sldId id="261" r:id="rId12"/>
    <p:sldId id="323" r:id="rId13"/>
    <p:sldId id="324" r:id="rId14"/>
    <p:sldId id="268" r:id="rId15"/>
    <p:sldId id="269" r:id="rId16"/>
    <p:sldId id="270" r:id="rId17"/>
    <p:sldId id="271" r:id="rId18"/>
    <p:sldId id="272" r:id="rId19"/>
    <p:sldId id="273" r:id="rId20"/>
    <p:sldId id="325" r:id="rId21"/>
    <p:sldId id="275" r:id="rId22"/>
    <p:sldId id="276" r:id="rId23"/>
    <p:sldId id="267" r:id="rId24"/>
    <p:sldId id="326" r:id="rId25"/>
    <p:sldId id="327" r:id="rId26"/>
    <p:sldId id="328" r:id="rId27"/>
    <p:sldId id="329" r:id="rId28"/>
    <p:sldId id="330" r:id="rId29"/>
    <p:sldId id="331" r:id="rId30"/>
    <p:sldId id="332" r:id="rId31"/>
    <p:sldId id="333" r:id="rId32"/>
    <p:sldId id="334" r:id="rId33"/>
    <p:sldId id="335" r:id="rId34"/>
    <p:sldId id="336" r:id="rId35"/>
    <p:sldId id="337" r:id="rId36"/>
    <p:sldId id="338" r:id="rId37"/>
    <p:sldId id="274" r:id="rId38"/>
    <p:sldId id="339" r:id="rId39"/>
    <p:sldId id="340" r:id="rId40"/>
    <p:sldId id="277" r:id="rId41"/>
    <p:sldId id="278" r:id="rId42"/>
    <p:sldId id="279" r:id="rId43"/>
    <p:sldId id="280" r:id="rId44"/>
    <p:sldId id="281" r:id="rId45"/>
    <p:sldId id="282" r:id="rId46"/>
    <p:sldId id="283" r:id="rId47"/>
    <p:sldId id="284" r:id="rId48"/>
    <p:sldId id="285"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16E0FD-A65B-43AD-962B-95F7CB8EFB22}" type="datetimeFigureOut">
              <a:rPr lang="en-US" smtClean="0"/>
              <a:t>7/26/2025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38FC8-5423-4936-9D4A-8DDC508B7B2F}" type="slidenum">
              <a:rPr lang="en-US" smtClean="0"/>
              <a:t>‹#›</a:t>
            </a:fld>
            <a:endParaRPr lang="en-US"/>
          </a:p>
        </p:txBody>
      </p:sp>
    </p:spTree>
    <p:extLst>
      <p:ext uri="{BB962C8B-B14F-4D97-AF65-F5344CB8AC3E}">
        <p14:creationId xmlns:p14="http://schemas.microsoft.com/office/powerpoint/2010/main" val="2264311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21AFF205-B7E6-4AB9-A3DB-790029BF7F5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3C184255-B354-4F64-9C63-61444AF064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Hypothetical tree</a:t>
            </a:r>
          </a:p>
        </p:txBody>
      </p:sp>
      <p:sp>
        <p:nvSpPr>
          <p:cNvPr id="15364" name="Slide Number Placeholder 3">
            <a:extLst>
              <a:ext uri="{FF2B5EF4-FFF2-40B4-BE49-F238E27FC236}">
                <a16:creationId xmlns:a16="http://schemas.microsoft.com/office/drawing/2014/main" id="{40D3F630-B189-4629-915E-D4F069844F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eaLnBrk="0" fontAlgn="base" hangingPunct="0">
              <a:spcBef>
                <a:spcPct val="0"/>
              </a:spcBef>
              <a:spcAft>
                <a:spcPct val="0"/>
              </a:spcAft>
              <a:defRPr>
                <a:solidFill>
                  <a:schemeClr val="tx1"/>
                </a:solidFill>
                <a:latin typeface="Rockwell" panose="02060603020205020403" pitchFamily="18" charset="0"/>
              </a:defRPr>
            </a:lvl6pPr>
            <a:lvl7pPr marL="2971800" indent="-228600" eaLnBrk="0" fontAlgn="base" hangingPunct="0">
              <a:spcBef>
                <a:spcPct val="0"/>
              </a:spcBef>
              <a:spcAft>
                <a:spcPct val="0"/>
              </a:spcAft>
              <a:defRPr>
                <a:solidFill>
                  <a:schemeClr val="tx1"/>
                </a:solidFill>
                <a:latin typeface="Rockwell" panose="02060603020205020403" pitchFamily="18" charset="0"/>
              </a:defRPr>
            </a:lvl7pPr>
            <a:lvl8pPr marL="3429000" indent="-228600" eaLnBrk="0" fontAlgn="base" hangingPunct="0">
              <a:spcBef>
                <a:spcPct val="0"/>
              </a:spcBef>
              <a:spcAft>
                <a:spcPct val="0"/>
              </a:spcAft>
              <a:defRPr>
                <a:solidFill>
                  <a:schemeClr val="tx1"/>
                </a:solidFill>
                <a:latin typeface="Rockwell" panose="02060603020205020403" pitchFamily="18" charset="0"/>
              </a:defRPr>
            </a:lvl8pPr>
            <a:lvl9pPr marL="3886200" indent="-228600" eaLnBrk="0" fontAlgn="base" hangingPunct="0">
              <a:spcBef>
                <a:spcPct val="0"/>
              </a:spcBef>
              <a:spcAft>
                <a:spcPct val="0"/>
              </a:spcAft>
              <a:defRPr>
                <a:solidFill>
                  <a:schemeClr val="tx1"/>
                </a:solidFill>
                <a:latin typeface="Rockwell" panose="02060603020205020403" pitchFamily="18" charset="0"/>
              </a:defRPr>
            </a:lvl9pPr>
          </a:lstStyle>
          <a:p>
            <a:fld id="{9315047B-ADAA-4986-AEFE-A858B4870293}" type="slidenum">
              <a:rPr lang="en-US" altLang="en-US">
                <a:latin typeface="Calibri" panose="020F0502020204030204" pitchFamily="34" charset="0"/>
              </a:rPr>
              <a:pPr/>
              <a:t>12</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38C1B4B6-47F6-47B2-B157-9DC4742A48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5FE26692-A61A-4B06-A506-78AFF40033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8196" name="Slide Number Placeholder 3">
            <a:extLst>
              <a:ext uri="{FF2B5EF4-FFF2-40B4-BE49-F238E27FC236}">
                <a16:creationId xmlns:a16="http://schemas.microsoft.com/office/drawing/2014/main" id="{56507516-2DEA-4E09-B9B3-6B293A21A50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eaLnBrk="0" fontAlgn="base" hangingPunct="0">
              <a:spcBef>
                <a:spcPct val="0"/>
              </a:spcBef>
              <a:spcAft>
                <a:spcPct val="0"/>
              </a:spcAft>
              <a:defRPr>
                <a:solidFill>
                  <a:schemeClr val="tx1"/>
                </a:solidFill>
                <a:latin typeface="Rockwell" panose="02060603020205020403" pitchFamily="18" charset="0"/>
              </a:defRPr>
            </a:lvl6pPr>
            <a:lvl7pPr marL="2971800" indent="-228600" eaLnBrk="0" fontAlgn="base" hangingPunct="0">
              <a:spcBef>
                <a:spcPct val="0"/>
              </a:spcBef>
              <a:spcAft>
                <a:spcPct val="0"/>
              </a:spcAft>
              <a:defRPr>
                <a:solidFill>
                  <a:schemeClr val="tx1"/>
                </a:solidFill>
                <a:latin typeface="Rockwell" panose="02060603020205020403" pitchFamily="18" charset="0"/>
              </a:defRPr>
            </a:lvl7pPr>
            <a:lvl8pPr marL="3429000" indent="-228600" eaLnBrk="0" fontAlgn="base" hangingPunct="0">
              <a:spcBef>
                <a:spcPct val="0"/>
              </a:spcBef>
              <a:spcAft>
                <a:spcPct val="0"/>
              </a:spcAft>
              <a:defRPr>
                <a:solidFill>
                  <a:schemeClr val="tx1"/>
                </a:solidFill>
                <a:latin typeface="Rockwell" panose="02060603020205020403" pitchFamily="18" charset="0"/>
              </a:defRPr>
            </a:lvl8pPr>
            <a:lvl9pPr marL="3886200" indent="-228600" eaLnBrk="0" fontAlgn="base" hangingPunct="0">
              <a:spcBef>
                <a:spcPct val="0"/>
              </a:spcBef>
              <a:spcAft>
                <a:spcPct val="0"/>
              </a:spcAft>
              <a:defRPr>
                <a:solidFill>
                  <a:schemeClr val="tx1"/>
                </a:solidFill>
                <a:latin typeface="Rockwell" panose="02060603020205020403" pitchFamily="18" charset="0"/>
              </a:defRPr>
            </a:lvl9pPr>
          </a:lstStyle>
          <a:p>
            <a:fld id="{98B1A604-811B-4FDA-8E27-9EBCFD45D333}" type="slidenum">
              <a:rPr lang="en-US" altLang="en-US">
                <a:latin typeface="Calibri" panose="020F0502020204030204" pitchFamily="34" charset="0"/>
              </a:rPr>
              <a:pPr/>
              <a:t>25</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BD14135C-39C4-4A87-97BE-026736322D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F7BFA7E2-6E88-4551-9417-F9691C94D7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24580" name="Slide Number Placeholder 3">
            <a:extLst>
              <a:ext uri="{FF2B5EF4-FFF2-40B4-BE49-F238E27FC236}">
                <a16:creationId xmlns:a16="http://schemas.microsoft.com/office/drawing/2014/main" id="{C321275A-B8D0-4971-8D42-8B2CCC99AD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eaLnBrk="0" fontAlgn="base" hangingPunct="0">
              <a:spcBef>
                <a:spcPct val="0"/>
              </a:spcBef>
              <a:spcAft>
                <a:spcPct val="0"/>
              </a:spcAft>
              <a:defRPr>
                <a:solidFill>
                  <a:schemeClr val="tx1"/>
                </a:solidFill>
                <a:latin typeface="Rockwell" panose="02060603020205020403" pitchFamily="18" charset="0"/>
              </a:defRPr>
            </a:lvl6pPr>
            <a:lvl7pPr marL="2971800" indent="-228600" eaLnBrk="0" fontAlgn="base" hangingPunct="0">
              <a:spcBef>
                <a:spcPct val="0"/>
              </a:spcBef>
              <a:spcAft>
                <a:spcPct val="0"/>
              </a:spcAft>
              <a:defRPr>
                <a:solidFill>
                  <a:schemeClr val="tx1"/>
                </a:solidFill>
                <a:latin typeface="Rockwell" panose="02060603020205020403" pitchFamily="18" charset="0"/>
              </a:defRPr>
            </a:lvl7pPr>
            <a:lvl8pPr marL="3429000" indent="-228600" eaLnBrk="0" fontAlgn="base" hangingPunct="0">
              <a:spcBef>
                <a:spcPct val="0"/>
              </a:spcBef>
              <a:spcAft>
                <a:spcPct val="0"/>
              </a:spcAft>
              <a:defRPr>
                <a:solidFill>
                  <a:schemeClr val="tx1"/>
                </a:solidFill>
                <a:latin typeface="Rockwell" panose="02060603020205020403" pitchFamily="18" charset="0"/>
              </a:defRPr>
            </a:lvl8pPr>
            <a:lvl9pPr marL="3886200" indent="-228600" eaLnBrk="0" fontAlgn="base" hangingPunct="0">
              <a:spcBef>
                <a:spcPct val="0"/>
              </a:spcBef>
              <a:spcAft>
                <a:spcPct val="0"/>
              </a:spcAft>
              <a:defRPr>
                <a:solidFill>
                  <a:schemeClr val="tx1"/>
                </a:solidFill>
                <a:latin typeface="Rockwell" panose="02060603020205020403" pitchFamily="18" charset="0"/>
              </a:defRPr>
            </a:lvl9pPr>
          </a:lstStyle>
          <a:p>
            <a:fld id="{8CC56501-8B50-488D-9BAE-EE3BDEDF8959}" type="slidenum">
              <a:rPr lang="en-US" altLang="en-US">
                <a:latin typeface="Calibri" panose="020F0502020204030204" pitchFamily="34" charset="0"/>
              </a:rPr>
              <a:pPr/>
              <a:t>40</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7/26/2025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7/26/2025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9.xml"/><Relationship Id="rId5" Type="http://schemas.microsoft.com/office/2007/relationships/hdphoto" Target="../media/hdphoto5.wdp"/><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4.png"/><Relationship Id="rId1" Type="http://schemas.openxmlformats.org/officeDocument/2006/relationships/slideLayout" Target="../slideLayouts/slideLayout9.xml"/><Relationship Id="rId5" Type="http://schemas.microsoft.com/office/2007/relationships/hdphoto" Target="../media/hdphoto13.wdp"/><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microsoft.com/office/2007/relationships/hdphoto" Target="../media/hdphoto12.wdp"/><Relationship Id="rId7" Type="http://schemas.microsoft.com/office/2007/relationships/hdphoto" Target="../media/hdphoto14.wdp"/><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image" Target="../media/image16.png"/><Relationship Id="rId5" Type="http://schemas.microsoft.com/office/2007/relationships/hdphoto" Target="../media/hdphoto13.wdp"/><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microsoft.com/office/2007/relationships/hdphoto" Target="../media/hdphoto16.wdp"/><Relationship Id="rId7" Type="http://schemas.microsoft.com/office/2007/relationships/hdphoto" Target="../media/hdphoto15.wdp"/><Relationship Id="rId2" Type="http://schemas.openxmlformats.org/officeDocument/2006/relationships/image" Target="../media/image18.png"/><Relationship Id="rId1" Type="http://schemas.openxmlformats.org/officeDocument/2006/relationships/slideLayout" Target="../slideLayouts/slideLayout9.xml"/><Relationship Id="rId6" Type="http://schemas.openxmlformats.org/officeDocument/2006/relationships/image" Target="../media/image17.png"/><Relationship Id="rId5" Type="http://schemas.microsoft.com/office/2007/relationships/hdphoto" Target="../media/hdphoto17.wdp"/><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microsoft.com/office/2007/relationships/hdphoto" Target="../media/hdphoto19.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2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a:t>
            </a:r>
            <a:br>
              <a:rPr lang="en-US" dirty="0"/>
            </a:br>
            <a:r>
              <a:rPr lang="en-US" dirty="0"/>
              <a:t>Decision Trees for Classification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 4232</a:t>
            </a:r>
          </a:p>
        </p:txBody>
      </p:sp>
      <p:sp>
        <p:nvSpPr>
          <p:cNvPr id="4" name="TextBox 3"/>
          <p:cNvSpPr txBox="1"/>
          <p:nvPr/>
        </p:nvSpPr>
        <p:spPr>
          <a:xfrm>
            <a:off x="59693" y="3633299"/>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63919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Machine Learning</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8402470" cy="3009930"/>
          </a:xfrm>
        </p:spPr>
        <p:txBody>
          <a:bodyPr>
            <a:normAutofit/>
          </a:bodyPr>
          <a:lstStyle/>
          <a:p>
            <a:pPr marL="342900" indent="-342900">
              <a:buAutoNum type="arabicPeriod"/>
            </a:pPr>
            <a:r>
              <a:rPr lang="en-US" sz="2400" dirty="0">
                <a:solidFill>
                  <a:schemeClr val="tx1"/>
                </a:solidFill>
              </a:rPr>
              <a:t>Introduction to Decision Trees</a:t>
            </a:r>
          </a:p>
          <a:p>
            <a:pPr marL="342900" indent="-342900">
              <a:buAutoNum type="arabicPeriod"/>
            </a:pPr>
            <a:r>
              <a:rPr lang="en-US" sz="2400" dirty="0">
                <a:solidFill>
                  <a:schemeClr val="tx1"/>
                </a:solidFill>
              </a:rPr>
              <a:t>The TDIDT Algorithm</a:t>
            </a:r>
          </a:p>
          <a:p>
            <a:pPr marL="342900" indent="-342900">
              <a:buAutoNum type="arabicPeriod"/>
            </a:pPr>
            <a:r>
              <a:rPr lang="en-US" sz="2400" dirty="0">
                <a:solidFill>
                  <a:schemeClr val="tx1"/>
                </a:solidFill>
              </a:rPr>
              <a:t>Decision Tree Induction:  Using Entropy for Attribute Selection</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Decision Trees</a:t>
            </a:r>
          </a:p>
        </p:txBody>
      </p:sp>
      <p:sp>
        <p:nvSpPr>
          <p:cNvPr id="7" name="TextBox 6">
            <a:extLst>
              <a:ext uri="{FF2B5EF4-FFF2-40B4-BE49-F238E27FC236}">
                <a16:creationId xmlns:a16="http://schemas.microsoft.com/office/drawing/2014/main" id="{783A2175-A50F-4680-8DC0-6C6C36E23D4A}"/>
              </a:ext>
            </a:extLst>
          </p:cNvPr>
          <p:cNvSpPr txBox="1"/>
          <p:nvPr/>
        </p:nvSpPr>
        <p:spPr>
          <a:xfrm>
            <a:off x="284813" y="2150131"/>
            <a:ext cx="8574374" cy="3108543"/>
          </a:xfrm>
          <a:prstGeom prst="rect">
            <a:avLst/>
          </a:prstGeom>
          <a:noFill/>
        </p:spPr>
        <p:txBody>
          <a:bodyPr wrap="square" rtlCol="0">
            <a:spAutoFit/>
          </a:bodyPr>
          <a:lstStyle/>
          <a:p>
            <a:pPr marL="342900" indent="-342900">
              <a:buFont typeface="Arial" panose="020B0604020202020204" pitchFamily="34" charset="0"/>
              <a:buChar char="•"/>
            </a:pPr>
            <a:r>
              <a:rPr lang="en-US" sz="2800" dirty="0"/>
              <a:t>Lecture Objectives and Outcomes: </a:t>
            </a:r>
          </a:p>
          <a:p>
            <a:pPr marL="800100" lvl="1" indent="-342900">
              <a:buFont typeface="Arial" panose="020B0604020202020204" pitchFamily="34" charset="0"/>
              <a:buChar char="•"/>
            </a:pPr>
            <a:r>
              <a:rPr lang="en-US" sz="2400" dirty="0"/>
              <a:t>Familiar with the Decision Trees</a:t>
            </a:r>
          </a:p>
          <a:p>
            <a:pPr marL="800100" lvl="1" indent="-342900">
              <a:buFont typeface="Arial" panose="020B0604020202020204" pitchFamily="34" charset="0"/>
              <a:buChar char="•"/>
            </a:pPr>
            <a:r>
              <a:rPr lang="en-US" sz="2400" dirty="0"/>
              <a:t>The TDIDT (Top-Down Induction of Decision Trees) algorithm for inducing classification rules via the intermediate representation of a decision tree</a:t>
            </a:r>
          </a:p>
          <a:p>
            <a:pPr marL="800100" lvl="1" indent="-342900">
              <a:buFont typeface="Arial" panose="020B0604020202020204" pitchFamily="34" charset="0"/>
              <a:buChar char="•"/>
            </a:pPr>
            <a:r>
              <a:rPr lang="en-US" sz="2400" dirty="0"/>
              <a:t>Examines entropy based attribute selection strategy (equivalently </a:t>
            </a:r>
            <a:r>
              <a:rPr lang="en-US" sz="2400" dirty="0" err="1"/>
              <a:t>maximising</a:t>
            </a:r>
            <a:r>
              <a:rPr lang="en-US" sz="2400" dirty="0"/>
              <a:t> information gain) for selecting attributes at each stage of the TDIDT algorithm</a:t>
            </a:r>
            <a:endParaRPr lang="en-FI" sz="2400"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60AD33FD-66EE-41F1-B9EF-6C6ADAD9A0FA}"/>
              </a:ext>
            </a:extLst>
          </p:cNvPr>
          <p:cNvSpPr>
            <a:spLocks noGrp="1"/>
          </p:cNvSpPr>
          <p:nvPr>
            <p:ph type="ctrTitle"/>
          </p:nvPr>
        </p:nvSpPr>
        <p:spPr/>
        <p:txBody>
          <a:bodyPr/>
          <a:lstStyle/>
          <a:p>
            <a:r>
              <a:rPr lang="en-US" dirty="0"/>
              <a:t>Introduction to Decision Trees</a:t>
            </a:r>
            <a:endParaRPr lang="en-US" altLang="en-US" dirty="0"/>
          </a:p>
        </p:txBody>
      </p:sp>
      <p:sp>
        <p:nvSpPr>
          <p:cNvPr id="6147" name="Content Placeholder 2">
            <a:extLst>
              <a:ext uri="{FF2B5EF4-FFF2-40B4-BE49-F238E27FC236}">
                <a16:creationId xmlns:a16="http://schemas.microsoft.com/office/drawing/2014/main" id="{D59E89B6-9095-4C5C-ABAA-E42508684186}"/>
              </a:ext>
            </a:extLst>
          </p:cNvPr>
          <p:cNvSpPr>
            <a:spLocks noGrp="1"/>
          </p:cNvSpPr>
          <p:nvPr>
            <p:ph type="subTitle" idx="1"/>
          </p:nvPr>
        </p:nvSpPr>
        <p:spPr>
          <a:xfrm>
            <a:off x="239843" y="2296925"/>
            <a:ext cx="8604354" cy="3819061"/>
          </a:xfrm>
        </p:spPr>
        <p:txBody>
          <a:bodyPr>
            <a:normAutofit/>
          </a:bodyPr>
          <a:lstStyle/>
          <a:p>
            <a:pPr algn="just" eaLnBrk="1" hangingPunct="1"/>
            <a:r>
              <a:rPr lang="en-US" altLang="en-US" sz="2400" dirty="0">
                <a:solidFill>
                  <a:schemeClr val="tx1"/>
                </a:solidFill>
              </a:rPr>
              <a:t>In many fields, large collections of examples, possibly collected for other purposes, are readily available. Automatically generating classification rules (often called </a:t>
            </a:r>
            <a:r>
              <a:rPr lang="en-US" altLang="en-US" sz="2400" i="1" dirty="0">
                <a:solidFill>
                  <a:schemeClr val="tx1"/>
                </a:solidFill>
              </a:rPr>
              <a:t>decision rules</a:t>
            </a:r>
            <a:r>
              <a:rPr lang="en-US" altLang="en-US" sz="2400" dirty="0">
                <a:solidFill>
                  <a:schemeClr val="tx1"/>
                </a:solidFill>
              </a:rPr>
              <a:t>) for such tasks has proved to be a realistic alternative to the standard Expert System approach of eliciting the rules from experts.</a:t>
            </a:r>
          </a:p>
          <a:p>
            <a:pPr algn="just" eaLnBrk="1" hangingPunct="1"/>
            <a:r>
              <a:rPr lang="en-US" altLang="en-US" sz="2400" dirty="0">
                <a:solidFill>
                  <a:schemeClr val="tx1"/>
                </a:solidFill>
              </a:rPr>
              <a:t>The aim is to develop </a:t>
            </a:r>
            <a:r>
              <a:rPr lang="en-US" altLang="en-US" sz="2400" i="1" dirty="0">
                <a:solidFill>
                  <a:schemeClr val="tx1"/>
                </a:solidFill>
              </a:rPr>
              <a:t>classification rules </a:t>
            </a:r>
            <a:r>
              <a:rPr lang="en-US" altLang="en-US" sz="2400" dirty="0">
                <a:solidFill>
                  <a:schemeClr val="tx1"/>
                </a:solidFill>
              </a:rPr>
              <a:t>from the data in the training set. This is often done in the implicit form of a </a:t>
            </a:r>
            <a:r>
              <a:rPr lang="en-US" altLang="en-US" sz="2400" i="1" dirty="0">
                <a:solidFill>
                  <a:schemeClr val="tx1"/>
                </a:solidFill>
              </a:rPr>
              <a:t>decision tree</a:t>
            </a:r>
            <a:r>
              <a:rPr lang="en-US" altLang="en-US" sz="2400" dirty="0">
                <a:solidFill>
                  <a:schemeClr val="tx1"/>
                </a:solidFill>
              </a:rPr>
              <a:t>.</a:t>
            </a:r>
          </a:p>
          <a:p>
            <a:pPr algn="just" eaLnBrk="1" hangingPunct="1"/>
            <a:endParaRPr lang="en-US" altLang="en-US" sz="2400" dirty="0">
              <a:solidFill>
                <a:schemeClr val="tx1"/>
              </a:solidFill>
            </a:endParaRPr>
          </a:p>
          <a:p>
            <a:pPr algn="just" eaLnBrk="1" hangingPunct="1"/>
            <a:endParaRPr lang="en-US" altLang="en-US" sz="24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a:extLst>
              <a:ext uri="{FF2B5EF4-FFF2-40B4-BE49-F238E27FC236}">
                <a16:creationId xmlns:a16="http://schemas.microsoft.com/office/drawing/2014/main" id="{77F90281-A857-4FF3-A0A4-CCCE17DD83BB}"/>
              </a:ext>
            </a:extLst>
          </p:cNvPr>
          <p:cNvSpPr>
            <a:spLocks noGrp="1"/>
          </p:cNvSpPr>
          <p:nvPr>
            <p:ph idx="4294967295"/>
          </p:nvPr>
        </p:nvSpPr>
        <p:spPr>
          <a:xfrm>
            <a:off x="286429" y="1618938"/>
            <a:ext cx="8542778" cy="4507225"/>
          </a:xfrm>
        </p:spPr>
        <p:txBody>
          <a:bodyPr>
            <a:normAutofit/>
          </a:bodyPr>
          <a:lstStyle/>
          <a:p>
            <a:pPr algn="just" eaLnBrk="1" hangingPunct="1">
              <a:buFont typeface="Arial" panose="020B0604020202020204" pitchFamily="34" charset="0"/>
              <a:buChar char="•"/>
            </a:pPr>
            <a:r>
              <a:rPr lang="en-US" altLang="en-US" dirty="0"/>
              <a:t>A decision tree is created by a process known as </a:t>
            </a:r>
            <a:r>
              <a:rPr lang="en-US" altLang="en-US" i="1" dirty="0"/>
              <a:t>splitting on the value of attributes </a:t>
            </a:r>
            <a:r>
              <a:rPr lang="en-US" altLang="en-US" dirty="0"/>
              <a:t>i.e. testing the value of an attribute and then creating a branch for each of its possible values.</a:t>
            </a:r>
          </a:p>
          <a:p>
            <a:pPr algn="just" eaLnBrk="1" hangingPunct="1">
              <a:buFont typeface="Arial" panose="020B0604020202020204" pitchFamily="34" charset="0"/>
              <a:buChar char="•"/>
            </a:pPr>
            <a:r>
              <a:rPr lang="en-US" altLang="en-US" dirty="0"/>
              <a:t>In the case of continuous attributes the test is normally whether the value is ‘less than or equal to’ or ‘greater than’ a given value known as the </a:t>
            </a:r>
            <a:r>
              <a:rPr lang="en-US" altLang="en-US" i="1" dirty="0"/>
              <a:t>split value</a:t>
            </a:r>
            <a:r>
              <a:rPr lang="en-US" altLang="en-US" dirty="0"/>
              <a:t>.</a:t>
            </a:r>
          </a:p>
          <a:p>
            <a:pPr algn="just" eaLnBrk="1" hangingPunct="1">
              <a:buFont typeface="Arial" panose="020B0604020202020204" pitchFamily="34" charset="0"/>
              <a:buChar char="•"/>
            </a:pPr>
            <a:r>
              <a:rPr lang="en-US" altLang="en-US" dirty="0"/>
              <a:t>The splitting process continues until each branch can be labelled with just one classification.</a:t>
            </a:r>
          </a:p>
          <a:p>
            <a:pPr algn="just" eaLnBrk="1" hangingPunct="1"/>
            <a:endParaRPr lang="en-US" altLang="en-US" dirty="0"/>
          </a:p>
          <a:p>
            <a:pPr algn="just" eaLnBrk="1" hangingPunct="1"/>
            <a:endParaRPr lang="en-US" altLang="en-US" dirty="0"/>
          </a:p>
        </p:txBody>
      </p:sp>
      <p:sp>
        <p:nvSpPr>
          <p:cNvPr id="6" name="Title 1">
            <a:extLst>
              <a:ext uri="{FF2B5EF4-FFF2-40B4-BE49-F238E27FC236}">
                <a16:creationId xmlns:a16="http://schemas.microsoft.com/office/drawing/2014/main" id="{857E5DAD-A48A-4565-9254-EC22A8C3E223}"/>
              </a:ext>
            </a:extLst>
          </p:cNvPr>
          <p:cNvSpPr txBox="1">
            <a:spLocks/>
          </p:cNvSpPr>
          <p:nvPr/>
        </p:nvSpPr>
        <p:spPr>
          <a:xfrm>
            <a:off x="286428" y="71614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Introduction to Decision Trees</a:t>
            </a:r>
            <a:endParaRPr lang="en-US" altLang="en-US" sz="32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a:extLst>
              <a:ext uri="{FF2B5EF4-FFF2-40B4-BE49-F238E27FC236}">
                <a16:creationId xmlns:a16="http://schemas.microsoft.com/office/drawing/2014/main" id="{8949445E-1BD9-4AA4-B46D-30AFFEC94FD5}"/>
              </a:ext>
            </a:extLst>
          </p:cNvPr>
          <p:cNvSpPr>
            <a:spLocks noGrp="1"/>
          </p:cNvSpPr>
          <p:nvPr>
            <p:ph idx="4294967295"/>
          </p:nvPr>
        </p:nvSpPr>
        <p:spPr>
          <a:xfrm>
            <a:off x="286429" y="1723870"/>
            <a:ext cx="8527787" cy="4796852"/>
          </a:xfrm>
        </p:spPr>
        <p:txBody>
          <a:bodyPr/>
          <a:lstStyle/>
          <a:p>
            <a:pPr algn="just" eaLnBrk="1" hangingPunct="1">
              <a:buFont typeface="Arial" panose="020B0604020202020204" pitchFamily="34" charset="0"/>
              <a:buChar char="•"/>
            </a:pPr>
            <a:r>
              <a:rPr lang="en-US" altLang="en-US" dirty="0"/>
              <a:t>Training set and Decision tree are equivalent in the sense that for each of the instances the given values of all attributes in the training set will lead to the identical classifications.</a:t>
            </a:r>
          </a:p>
          <a:p>
            <a:pPr algn="just" eaLnBrk="1" hangingPunct="1">
              <a:buFont typeface="Arial" panose="020B0604020202020204" pitchFamily="34" charset="0"/>
              <a:buChar char="•"/>
            </a:pPr>
            <a:r>
              <a:rPr lang="en-US" altLang="en-US" dirty="0"/>
              <a:t>Decision trees have two different functions: </a:t>
            </a:r>
            <a:r>
              <a:rPr lang="en-US" altLang="en-US" i="1" dirty="0"/>
              <a:t>data compression </a:t>
            </a:r>
            <a:r>
              <a:rPr lang="en-US" altLang="en-US" dirty="0"/>
              <a:t>and </a:t>
            </a:r>
            <a:r>
              <a:rPr lang="en-US" altLang="en-US" i="1" dirty="0"/>
              <a:t>prediction</a:t>
            </a:r>
            <a:r>
              <a:rPr lang="en-US" altLang="en-US" dirty="0"/>
              <a:t>.</a:t>
            </a:r>
          </a:p>
          <a:p>
            <a:pPr eaLnBrk="1" hangingPunct="1">
              <a:buFont typeface="Arial" panose="020B0604020202020204" pitchFamily="34" charset="0"/>
              <a:buChar char="•"/>
            </a:pPr>
            <a:r>
              <a:rPr lang="en-US" altLang="en-US" dirty="0"/>
              <a:t>It is important to stress that this ‘decision’ is only a prediction, which may or may not turn out to be correct.</a:t>
            </a:r>
          </a:p>
          <a:p>
            <a:pPr algn="just" eaLnBrk="1" hangingPunct="1"/>
            <a:endParaRPr lang="en-US" altLang="en-US" dirty="0"/>
          </a:p>
          <a:p>
            <a:pPr algn="just" eaLnBrk="1" hangingPunct="1"/>
            <a:endParaRPr lang="en-US" altLang="en-US" dirty="0"/>
          </a:p>
        </p:txBody>
      </p:sp>
      <p:sp>
        <p:nvSpPr>
          <p:cNvPr id="4" name="Title 1">
            <a:extLst>
              <a:ext uri="{FF2B5EF4-FFF2-40B4-BE49-F238E27FC236}">
                <a16:creationId xmlns:a16="http://schemas.microsoft.com/office/drawing/2014/main" id="{3E2BCE97-64AC-4734-A784-A86D927C8336}"/>
              </a:ext>
            </a:extLst>
          </p:cNvPr>
          <p:cNvSpPr txBox="1">
            <a:spLocks/>
          </p:cNvSpPr>
          <p:nvPr/>
        </p:nvSpPr>
        <p:spPr>
          <a:xfrm>
            <a:off x="286428" y="71614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Introduction to Decision Trees</a:t>
            </a:r>
            <a:endParaRPr lang="en-US" altLang="en-US" sz="32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2">
            <a:extLst>
              <a:ext uri="{FF2B5EF4-FFF2-40B4-BE49-F238E27FC236}">
                <a16:creationId xmlns:a16="http://schemas.microsoft.com/office/drawing/2014/main" id="{A8A95751-8C22-490B-9CA1-3CFABC4F70A2}"/>
              </a:ext>
            </a:extLst>
          </p:cNvPr>
          <p:cNvSpPr>
            <a:spLocks noGrp="1"/>
          </p:cNvSpPr>
          <p:nvPr>
            <p:ph idx="4294967295"/>
          </p:nvPr>
        </p:nvSpPr>
        <p:spPr>
          <a:xfrm>
            <a:off x="286429" y="1738860"/>
            <a:ext cx="8542778" cy="4387304"/>
          </a:xfrm>
        </p:spPr>
        <p:txBody>
          <a:bodyPr/>
          <a:lstStyle/>
          <a:p>
            <a:pPr algn="just" eaLnBrk="1" hangingPunct="1">
              <a:buFont typeface="Arial" panose="020B0604020202020204" pitchFamily="34" charset="0"/>
              <a:buChar char="•"/>
            </a:pPr>
            <a:r>
              <a:rPr lang="en-US" altLang="en-US" dirty="0"/>
              <a:t>Decision tree consists of a number of </a:t>
            </a:r>
            <a:r>
              <a:rPr lang="en-US" altLang="en-US" i="1" dirty="0"/>
              <a:t>branches</a:t>
            </a:r>
            <a:r>
              <a:rPr lang="en-US" altLang="en-US" dirty="0"/>
              <a:t>, each ending with a </a:t>
            </a:r>
            <a:r>
              <a:rPr lang="en-US" altLang="en-US" i="1" dirty="0"/>
              <a:t>leaf node </a:t>
            </a:r>
            <a:r>
              <a:rPr lang="en-US" altLang="en-US" dirty="0"/>
              <a:t>labelled with one of the valid classifications. </a:t>
            </a:r>
          </a:p>
          <a:p>
            <a:pPr algn="just" eaLnBrk="1" hangingPunct="1">
              <a:buFont typeface="Arial" panose="020B0604020202020204" pitchFamily="34" charset="0"/>
              <a:buChar char="•"/>
            </a:pPr>
            <a:r>
              <a:rPr lang="en-US" altLang="en-US" dirty="0"/>
              <a:t>Each branch comprises the route from the root node (i.e. the top of the tree) to a leaf node. </a:t>
            </a:r>
          </a:p>
          <a:p>
            <a:pPr algn="just" eaLnBrk="1" hangingPunct="1">
              <a:buFont typeface="Arial" panose="020B0604020202020204" pitchFamily="34" charset="0"/>
              <a:buChar char="•"/>
            </a:pPr>
            <a:r>
              <a:rPr lang="en-US" altLang="en-US" dirty="0"/>
              <a:t>A node that is neither the root nor a leaf node is called an </a:t>
            </a:r>
            <a:r>
              <a:rPr lang="en-US" altLang="en-US" i="1" dirty="0"/>
              <a:t>internal node</a:t>
            </a:r>
            <a:r>
              <a:rPr lang="en-US" altLang="en-US" dirty="0"/>
              <a:t>.</a:t>
            </a:r>
          </a:p>
          <a:p>
            <a:pPr algn="just" eaLnBrk="1" hangingPunct="1"/>
            <a:endParaRPr lang="en-US" altLang="en-US" dirty="0"/>
          </a:p>
          <a:p>
            <a:pPr algn="just" eaLnBrk="1" hangingPunct="1"/>
            <a:endParaRPr lang="en-US" altLang="en-US" dirty="0"/>
          </a:p>
        </p:txBody>
      </p:sp>
      <p:sp>
        <p:nvSpPr>
          <p:cNvPr id="4" name="Title 1">
            <a:extLst>
              <a:ext uri="{FF2B5EF4-FFF2-40B4-BE49-F238E27FC236}">
                <a16:creationId xmlns:a16="http://schemas.microsoft.com/office/drawing/2014/main" id="{4F6A4F76-651F-4405-AF40-456FBABEB81F}"/>
              </a:ext>
            </a:extLst>
          </p:cNvPr>
          <p:cNvSpPr txBox="1">
            <a:spLocks/>
          </p:cNvSpPr>
          <p:nvPr/>
        </p:nvSpPr>
        <p:spPr>
          <a:xfrm>
            <a:off x="286428" y="71614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Introduction to Decision Trees</a:t>
            </a:r>
            <a:endParaRPr lang="en-US" altLang="en-US" sz="32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a:extLst>
              <a:ext uri="{FF2B5EF4-FFF2-40B4-BE49-F238E27FC236}">
                <a16:creationId xmlns:a16="http://schemas.microsoft.com/office/drawing/2014/main" id="{9802FAB8-516D-4F59-AE9D-609CBB327B53}"/>
              </a:ext>
            </a:extLst>
          </p:cNvPr>
          <p:cNvSpPr>
            <a:spLocks noGrp="1"/>
          </p:cNvSpPr>
          <p:nvPr>
            <p:ph idx="4294967295"/>
          </p:nvPr>
        </p:nvSpPr>
        <p:spPr>
          <a:xfrm>
            <a:off x="74950" y="1753849"/>
            <a:ext cx="3822492" cy="4388004"/>
          </a:xfrm>
        </p:spPr>
        <p:txBody>
          <a:bodyPr>
            <a:normAutofit/>
          </a:bodyPr>
          <a:lstStyle/>
          <a:p>
            <a:pPr algn="just" eaLnBrk="1" hangingPunct="1">
              <a:buFont typeface="Arial" panose="020B0604020202020204" pitchFamily="34" charset="0"/>
              <a:buChar char="•"/>
            </a:pPr>
            <a:r>
              <a:rPr lang="en-US" altLang="en-US" dirty="0"/>
              <a:t>A fictitious example is that of a golfer who decides whether or not to play each day on the basis of the weather.</a:t>
            </a:r>
          </a:p>
          <a:p>
            <a:pPr algn="just" eaLnBrk="1" hangingPunct="1">
              <a:buFont typeface="Arial" panose="020B0604020202020204" pitchFamily="34" charset="0"/>
              <a:buChar char="•"/>
            </a:pPr>
            <a:r>
              <a:rPr lang="en-US" altLang="en-US" dirty="0"/>
              <a:t>It shows the results of two weeks (14 days) of observations of weather conditions and the decision on whether or not to play.</a:t>
            </a:r>
          </a:p>
          <a:p>
            <a:pPr algn="just" eaLnBrk="1" hangingPunct="1"/>
            <a:endParaRPr lang="en-US" altLang="en-US" dirty="0"/>
          </a:p>
        </p:txBody>
      </p:sp>
      <p:pic>
        <p:nvPicPr>
          <p:cNvPr id="10244" name="Picture 3">
            <a:extLst>
              <a:ext uri="{FF2B5EF4-FFF2-40B4-BE49-F238E27FC236}">
                <a16:creationId xmlns:a16="http://schemas.microsoft.com/office/drawing/2014/main" id="{6FA9CD01-592A-4122-9CFD-9E193785DFD9}"/>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100615" y="2469790"/>
            <a:ext cx="4863858" cy="301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8B72C622-6A3F-42DF-ABA3-FC37AF9EB904}"/>
              </a:ext>
            </a:extLst>
          </p:cNvPr>
          <p:cNvSpPr txBox="1">
            <a:spLocks/>
          </p:cNvSpPr>
          <p:nvPr/>
        </p:nvSpPr>
        <p:spPr>
          <a:xfrm>
            <a:off x="286428" y="71614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Decision Trees: The Golf Example</a:t>
            </a:r>
            <a:endParaRPr lang="en-US" altLang="en-US" sz="20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Content Placeholder 2">
            <a:extLst>
              <a:ext uri="{FF2B5EF4-FFF2-40B4-BE49-F238E27FC236}">
                <a16:creationId xmlns:a16="http://schemas.microsoft.com/office/drawing/2014/main" id="{156569A3-79CA-46EE-9C89-EE30B0CD145C}"/>
              </a:ext>
            </a:extLst>
          </p:cNvPr>
          <p:cNvSpPr>
            <a:spLocks noGrp="1"/>
          </p:cNvSpPr>
          <p:nvPr>
            <p:ph idx="4294967295"/>
          </p:nvPr>
        </p:nvSpPr>
        <p:spPr>
          <a:xfrm>
            <a:off x="0" y="2344029"/>
            <a:ext cx="5103019" cy="3426619"/>
          </a:xfrm>
        </p:spPr>
        <p:txBody>
          <a:bodyPr>
            <a:normAutofit/>
          </a:bodyPr>
          <a:lstStyle/>
          <a:p>
            <a:pPr algn="just" eaLnBrk="1" hangingPunct="1">
              <a:buFont typeface="Arial" panose="020B0604020202020204" pitchFamily="34" charset="0"/>
              <a:buChar char="•"/>
            </a:pPr>
            <a:r>
              <a:rPr lang="en-US" altLang="en-US" dirty="0"/>
              <a:t>If tomorrow the values of </a:t>
            </a:r>
            <a:r>
              <a:rPr lang="en-US" altLang="en-US" i="1" dirty="0"/>
              <a:t>Outlook</a:t>
            </a:r>
            <a:r>
              <a:rPr lang="en-US" altLang="en-US" dirty="0"/>
              <a:t>, </a:t>
            </a:r>
            <a:r>
              <a:rPr lang="en-US" altLang="en-US" i="1" dirty="0"/>
              <a:t>Temperature</a:t>
            </a:r>
            <a:r>
              <a:rPr lang="en-US" altLang="en-US" dirty="0"/>
              <a:t>, </a:t>
            </a:r>
            <a:r>
              <a:rPr lang="en-US" altLang="en-US" i="1" dirty="0"/>
              <a:t>Humidity </a:t>
            </a:r>
            <a:r>
              <a:rPr lang="en-US" altLang="en-US" dirty="0"/>
              <a:t>and </a:t>
            </a:r>
            <a:r>
              <a:rPr lang="en-US" altLang="en-US" i="1" dirty="0"/>
              <a:t>Windy </a:t>
            </a:r>
            <a:r>
              <a:rPr lang="en-US" altLang="en-US" dirty="0"/>
              <a:t>were sunny, 74</a:t>
            </a:r>
            <a:r>
              <a:rPr lang="en-US" altLang="en-US" i="1" dirty="0"/>
              <a:t>◦</a:t>
            </a:r>
            <a:r>
              <a:rPr lang="en-US" altLang="en-US" dirty="0"/>
              <a:t>F, 77% and false respectively, what would the decision be?</a:t>
            </a:r>
          </a:p>
          <a:p>
            <a:pPr algn="just" eaLnBrk="1" hangingPunct="1">
              <a:buFont typeface="Arial" panose="020B0604020202020204" pitchFamily="34" charset="0"/>
              <a:buChar char="•"/>
            </a:pPr>
            <a:r>
              <a:rPr lang="en-US" altLang="en-US" dirty="0"/>
              <a:t>One way of answering this is to construct a </a:t>
            </a:r>
            <a:r>
              <a:rPr lang="en-US" altLang="en-US" i="1" dirty="0"/>
              <a:t>decision tree.</a:t>
            </a:r>
            <a:endParaRPr lang="en-US" altLang="en-US" dirty="0"/>
          </a:p>
          <a:p>
            <a:pPr algn="just" eaLnBrk="1" hangingPunct="1"/>
            <a:endParaRPr lang="en-US" altLang="en-US" dirty="0"/>
          </a:p>
        </p:txBody>
      </p:sp>
      <p:pic>
        <p:nvPicPr>
          <p:cNvPr id="11268" name="Picture 3">
            <a:extLst>
              <a:ext uri="{FF2B5EF4-FFF2-40B4-BE49-F238E27FC236}">
                <a16:creationId xmlns:a16="http://schemas.microsoft.com/office/drawing/2014/main" id="{3DCDF3D5-35E4-47B7-B6D1-4B062C801D65}"/>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162979" y="2380060"/>
            <a:ext cx="3852863" cy="3426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A05F789B-8083-40F6-9F24-00494A5F3B69}"/>
              </a:ext>
            </a:extLst>
          </p:cNvPr>
          <p:cNvSpPr txBox="1">
            <a:spLocks/>
          </p:cNvSpPr>
          <p:nvPr/>
        </p:nvSpPr>
        <p:spPr>
          <a:xfrm>
            <a:off x="288928" y="611034"/>
            <a:ext cx="731108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Decision Trees: The Golf Example</a:t>
            </a:r>
            <a:endParaRPr lang="en-US" altLang="en-US" sz="2000"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a:extLst>
              <a:ext uri="{FF2B5EF4-FFF2-40B4-BE49-F238E27FC236}">
                <a16:creationId xmlns:a16="http://schemas.microsoft.com/office/drawing/2014/main" id="{501A1650-D7AC-4814-A9FD-F0780EE85D9D}"/>
              </a:ext>
            </a:extLst>
          </p:cNvPr>
          <p:cNvSpPr>
            <a:spLocks noGrp="1"/>
          </p:cNvSpPr>
          <p:nvPr>
            <p:ph idx="4294967295"/>
          </p:nvPr>
        </p:nvSpPr>
        <p:spPr>
          <a:xfrm>
            <a:off x="164890" y="2400299"/>
            <a:ext cx="4572000" cy="3406379"/>
          </a:xfrm>
        </p:spPr>
        <p:txBody>
          <a:bodyPr/>
          <a:lstStyle/>
          <a:p>
            <a:pPr eaLnBrk="1" hangingPunct="1">
              <a:buFont typeface="Arial" panose="020B0604020202020204" pitchFamily="34" charset="0"/>
              <a:buChar char="•"/>
            </a:pPr>
            <a:r>
              <a:rPr lang="en-US" altLang="en-US" dirty="0"/>
              <a:t>In order to determine the decision (classification) for a given set of weather conditions from the decision tree, first look at the value of </a:t>
            </a:r>
            <a:r>
              <a:rPr lang="en-US" altLang="en-US" i="1" dirty="0"/>
              <a:t>Outlook</a:t>
            </a:r>
            <a:r>
              <a:rPr lang="en-US" altLang="en-US" dirty="0"/>
              <a:t>. There are three possibilities.</a:t>
            </a:r>
          </a:p>
          <a:p>
            <a:pPr lvl="1" algn="just" eaLnBrk="1" hangingPunct="1"/>
            <a:endParaRPr lang="en-US" altLang="en-US" dirty="0"/>
          </a:p>
        </p:txBody>
      </p:sp>
      <p:pic>
        <p:nvPicPr>
          <p:cNvPr id="12292" name="Picture 3">
            <a:extLst>
              <a:ext uri="{FF2B5EF4-FFF2-40B4-BE49-F238E27FC236}">
                <a16:creationId xmlns:a16="http://schemas.microsoft.com/office/drawing/2014/main" id="{7855413A-E4B4-47E4-98F3-9FE1CDE58362}"/>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103019" y="2380060"/>
            <a:ext cx="3852863" cy="3426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0CD08B64-077B-4D3E-9557-932A9CC2CA19}"/>
              </a:ext>
            </a:extLst>
          </p:cNvPr>
          <p:cNvSpPr txBox="1">
            <a:spLocks/>
          </p:cNvSpPr>
          <p:nvPr/>
        </p:nvSpPr>
        <p:spPr>
          <a:xfrm>
            <a:off x="288928" y="611034"/>
            <a:ext cx="731108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Decision Trees: The Golf Example</a:t>
            </a:r>
            <a:endParaRPr lang="en-US" altLang="en-US" sz="20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a:extLst>
              <a:ext uri="{FF2B5EF4-FFF2-40B4-BE49-F238E27FC236}">
                <a16:creationId xmlns:a16="http://schemas.microsoft.com/office/drawing/2014/main" id="{E2FEB89E-C0A7-4715-BC99-DB3797CED5C9}"/>
              </a:ext>
            </a:extLst>
          </p:cNvPr>
          <p:cNvSpPr>
            <a:spLocks noGrp="1"/>
          </p:cNvSpPr>
          <p:nvPr>
            <p:ph idx="4294967295"/>
          </p:nvPr>
        </p:nvSpPr>
        <p:spPr>
          <a:xfrm>
            <a:off x="164890" y="1349116"/>
            <a:ext cx="4931764" cy="5388963"/>
          </a:xfrm>
        </p:spPr>
        <p:txBody>
          <a:bodyPr>
            <a:normAutofit/>
          </a:bodyPr>
          <a:lstStyle/>
          <a:p>
            <a:pPr eaLnBrk="1" hangingPunct="1">
              <a:buFont typeface="Arial" panose="020B0604020202020204" pitchFamily="34" charset="0"/>
              <a:buChar char="•"/>
            </a:pPr>
            <a:r>
              <a:rPr lang="en-US" altLang="en-US" dirty="0"/>
              <a:t>If the value of </a:t>
            </a:r>
            <a:r>
              <a:rPr lang="en-US" altLang="en-US" i="1" dirty="0"/>
              <a:t>Outlook </a:t>
            </a:r>
            <a:r>
              <a:rPr lang="en-US" altLang="en-US" dirty="0"/>
              <a:t>is sunny, next consider the value of </a:t>
            </a:r>
            <a:r>
              <a:rPr lang="en-US" altLang="en-US" i="1" dirty="0"/>
              <a:t>Humidity</a:t>
            </a:r>
            <a:r>
              <a:rPr lang="en-US" altLang="en-US" dirty="0"/>
              <a:t>. If the value is less than or equal to 75 the decision is </a:t>
            </a:r>
            <a:r>
              <a:rPr lang="en-US" altLang="en-US" i="1" dirty="0"/>
              <a:t>play</a:t>
            </a:r>
            <a:r>
              <a:rPr lang="en-US" altLang="en-US" dirty="0"/>
              <a:t>. Otherwise the decision is </a:t>
            </a:r>
            <a:r>
              <a:rPr lang="en-US" altLang="en-US" i="1" dirty="0"/>
              <a:t>don’t play</a:t>
            </a:r>
            <a:r>
              <a:rPr lang="en-US" altLang="en-US" dirty="0"/>
              <a:t>.</a:t>
            </a:r>
          </a:p>
          <a:p>
            <a:pPr eaLnBrk="1" hangingPunct="1">
              <a:buFont typeface="Arial" panose="020B0604020202020204" pitchFamily="34" charset="0"/>
              <a:buChar char="•"/>
            </a:pPr>
            <a:r>
              <a:rPr lang="en-US" altLang="en-US" dirty="0"/>
              <a:t>If the value of </a:t>
            </a:r>
            <a:r>
              <a:rPr lang="en-US" altLang="en-US" i="1" dirty="0"/>
              <a:t>Outlook </a:t>
            </a:r>
            <a:r>
              <a:rPr lang="en-US" altLang="en-US" dirty="0"/>
              <a:t>is overcast, the decision is </a:t>
            </a:r>
            <a:r>
              <a:rPr lang="en-US" altLang="en-US" i="1" dirty="0"/>
              <a:t>play</a:t>
            </a:r>
            <a:r>
              <a:rPr lang="en-US" altLang="en-US" dirty="0"/>
              <a:t>.</a:t>
            </a:r>
          </a:p>
          <a:p>
            <a:pPr algn="just" eaLnBrk="1" hangingPunct="1">
              <a:buFont typeface="Arial" panose="020B0604020202020204" pitchFamily="34" charset="0"/>
              <a:buChar char="•"/>
            </a:pPr>
            <a:r>
              <a:rPr lang="en-US" altLang="en-US" dirty="0"/>
              <a:t>If the value of </a:t>
            </a:r>
            <a:r>
              <a:rPr lang="en-US" altLang="en-US" i="1" dirty="0"/>
              <a:t>Outlook </a:t>
            </a:r>
            <a:r>
              <a:rPr lang="en-US" altLang="en-US" dirty="0"/>
              <a:t>is rain, next consider the value of </a:t>
            </a:r>
            <a:r>
              <a:rPr lang="en-US" altLang="en-US" i="1" dirty="0"/>
              <a:t>Windy</a:t>
            </a:r>
            <a:r>
              <a:rPr lang="en-US" altLang="en-US" dirty="0"/>
              <a:t>. If the value is true the decision is </a:t>
            </a:r>
            <a:r>
              <a:rPr lang="en-US" altLang="en-US" i="1" dirty="0"/>
              <a:t>don’t play</a:t>
            </a:r>
            <a:r>
              <a:rPr lang="en-US" altLang="en-US" dirty="0"/>
              <a:t>, otherwise the decision is </a:t>
            </a:r>
            <a:r>
              <a:rPr lang="en-US" altLang="en-US" i="1" dirty="0"/>
              <a:t>play</a:t>
            </a:r>
            <a:r>
              <a:rPr lang="en-US" altLang="en-US" dirty="0"/>
              <a:t>.</a:t>
            </a:r>
          </a:p>
          <a:p>
            <a:pPr algn="just" eaLnBrk="1" hangingPunct="1"/>
            <a:endParaRPr lang="en-US" altLang="en-US" dirty="0"/>
          </a:p>
        </p:txBody>
      </p:sp>
      <p:pic>
        <p:nvPicPr>
          <p:cNvPr id="13316" name="Picture 3">
            <a:extLst>
              <a:ext uri="{FF2B5EF4-FFF2-40B4-BE49-F238E27FC236}">
                <a16:creationId xmlns:a16="http://schemas.microsoft.com/office/drawing/2014/main" id="{EE7BD616-BAC1-4C62-8014-CBFEE8556A00}"/>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162979" y="2380060"/>
            <a:ext cx="3852863" cy="3426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00C544B4-F1BF-4957-9490-DCB912DD5E93}"/>
              </a:ext>
            </a:extLst>
          </p:cNvPr>
          <p:cNvSpPr txBox="1">
            <a:spLocks/>
          </p:cNvSpPr>
          <p:nvPr/>
        </p:nvSpPr>
        <p:spPr>
          <a:xfrm>
            <a:off x="288928" y="611034"/>
            <a:ext cx="731108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Decision Trees: The Golf Example</a:t>
            </a:r>
            <a:endParaRPr lang="en-US" altLang="en-US" sz="200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5">
            <a:extLst>
              <a:ext uri="{FF2B5EF4-FFF2-40B4-BE49-F238E27FC236}">
                <a16:creationId xmlns:a16="http://schemas.microsoft.com/office/drawing/2014/main" id="{30E45F89-1080-45FF-900E-12C77190CFE3}"/>
              </a:ext>
            </a:extLst>
          </p:cNvPr>
          <p:cNvSpPr>
            <a:spLocks noGrp="1"/>
          </p:cNvSpPr>
          <p:nvPr>
            <p:ph idx="4294967295"/>
          </p:nvPr>
        </p:nvSpPr>
        <p:spPr>
          <a:xfrm>
            <a:off x="288928" y="4093369"/>
            <a:ext cx="4572000" cy="2575362"/>
          </a:xfrm>
        </p:spPr>
        <p:txBody>
          <a:bodyPr>
            <a:normAutofit/>
          </a:bodyPr>
          <a:lstStyle/>
          <a:p>
            <a:pPr eaLnBrk="1" hangingPunct="1">
              <a:buFont typeface="Arial" panose="020B0604020202020204" pitchFamily="34" charset="0"/>
              <a:buChar char="•"/>
            </a:pPr>
            <a:r>
              <a:rPr lang="en-US" altLang="en-US" dirty="0"/>
              <a:t>We call it a hypothetical decision tree. </a:t>
            </a:r>
          </a:p>
          <a:p>
            <a:pPr eaLnBrk="1" hangingPunct="1">
              <a:buFont typeface="Arial" panose="020B0604020202020204" pitchFamily="34" charset="0"/>
              <a:buChar char="•"/>
            </a:pPr>
            <a:r>
              <a:rPr lang="en-US" altLang="en-US" dirty="0"/>
              <a:t>Note that the value of </a:t>
            </a:r>
            <a:r>
              <a:rPr lang="en-US" altLang="en-US" i="1" dirty="0"/>
              <a:t>Temperature </a:t>
            </a:r>
            <a:r>
              <a:rPr lang="en-US" altLang="en-US" dirty="0"/>
              <a:t>is never used.</a:t>
            </a:r>
          </a:p>
          <a:p>
            <a:pPr algn="just" eaLnBrk="1" hangingPunct="1"/>
            <a:endParaRPr lang="en-US" altLang="en-US" dirty="0"/>
          </a:p>
        </p:txBody>
      </p:sp>
      <p:pic>
        <p:nvPicPr>
          <p:cNvPr id="14340" name="Picture 6">
            <a:extLst>
              <a:ext uri="{FF2B5EF4-FFF2-40B4-BE49-F238E27FC236}">
                <a16:creationId xmlns:a16="http://schemas.microsoft.com/office/drawing/2014/main" id="{B6C34123-EF7C-4B1D-B5F1-A33AC6021D12}"/>
              </a:ext>
            </a:extLst>
          </p:cNvPr>
          <p:cNvPicPr>
            <a:picLocks noChangeAspect="1"/>
          </p:cNvPicPr>
          <p:nvPr/>
        </p:nvPicPr>
        <p:blipFill>
          <a:blip r:embed="rId3" cstate="email">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83024" y="1577773"/>
            <a:ext cx="4177904" cy="144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3">
            <a:extLst>
              <a:ext uri="{FF2B5EF4-FFF2-40B4-BE49-F238E27FC236}">
                <a16:creationId xmlns:a16="http://schemas.microsoft.com/office/drawing/2014/main" id="{7847B54E-2360-433D-A70B-AFB3F9D1DCF0}"/>
              </a:ext>
            </a:extLst>
          </p:cNvPr>
          <p:cNvPicPr>
            <a:picLocks noChangeAspect="1"/>
          </p:cNvPicPr>
          <p:nvPr/>
        </p:nvPicPr>
        <p:blipFill>
          <a:blip r:embed="rId5" cstate="email">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103019" y="1577773"/>
            <a:ext cx="3852863" cy="3426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E62FBF5E-D1A3-44EA-975E-8E26683EB65E}"/>
              </a:ext>
            </a:extLst>
          </p:cNvPr>
          <p:cNvSpPr txBox="1">
            <a:spLocks/>
          </p:cNvSpPr>
          <p:nvPr/>
        </p:nvSpPr>
        <p:spPr>
          <a:xfrm>
            <a:off x="288928" y="611034"/>
            <a:ext cx="731108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Decision Trees: The Golf Example</a:t>
            </a:r>
            <a:endParaRPr lang="en-US" altLang="en-US" sz="20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a:extLst>
              <a:ext uri="{FF2B5EF4-FFF2-40B4-BE49-F238E27FC236}">
                <a16:creationId xmlns:a16="http://schemas.microsoft.com/office/drawing/2014/main" id="{8C0D9624-7E17-44B4-B28A-AF203B92E117}"/>
              </a:ext>
            </a:extLst>
          </p:cNvPr>
          <p:cNvSpPr>
            <a:spLocks noGrp="1"/>
          </p:cNvSpPr>
          <p:nvPr>
            <p:ph idx="4294967295"/>
          </p:nvPr>
        </p:nvSpPr>
        <p:spPr>
          <a:xfrm>
            <a:off x="59960" y="1684522"/>
            <a:ext cx="4392118" cy="4857750"/>
          </a:xfrm>
        </p:spPr>
        <p:txBody>
          <a:bodyPr>
            <a:normAutofit/>
          </a:bodyPr>
          <a:lstStyle/>
          <a:p>
            <a:pPr eaLnBrk="1" hangingPunct="1">
              <a:buFont typeface="Arial" panose="020B0604020202020204" pitchFamily="34" charset="0"/>
              <a:buChar char="•"/>
            </a:pPr>
            <a:r>
              <a:rPr lang="en-US" altLang="en-US" dirty="0"/>
              <a:t>The training set shown beside (taken from a fictitious university) shows the results of students for five subjects coded as </a:t>
            </a:r>
            <a:r>
              <a:rPr lang="en-US" altLang="en-US" dirty="0" err="1"/>
              <a:t>SoftEng</a:t>
            </a:r>
            <a:r>
              <a:rPr lang="en-US" altLang="en-US" dirty="0"/>
              <a:t>, ARIN, HCI, CSA and Project and their corresponding degree classifications, which in this simplified example are either FIRST or SECOND. There are 26 instances. What determines who is classified as FIRST or SECOND?</a:t>
            </a:r>
          </a:p>
          <a:p>
            <a:pPr algn="just" eaLnBrk="1" hangingPunct="1"/>
            <a:endParaRPr lang="en-US" altLang="en-US" dirty="0"/>
          </a:p>
        </p:txBody>
      </p:sp>
      <p:pic>
        <p:nvPicPr>
          <p:cNvPr id="16388" name="Picture 2">
            <a:extLst>
              <a:ext uri="{FF2B5EF4-FFF2-40B4-BE49-F238E27FC236}">
                <a16:creationId xmlns:a16="http://schemas.microsoft.com/office/drawing/2014/main" id="{941611D4-AEA7-4674-92ED-975777F4E7F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572000" y="1684522"/>
            <a:ext cx="4569619"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3106C339-7DE4-4BBA-853F-65AE835003C0}"/>
              </a:ext>
            </a:extLst>
          </p:cNvPr>
          <p:cNvSpPr txBox="1">
            <a:spLocks/>
          </p:cNvSpPr>
          <p:nvPr/>
        </p:nvSpPr>
        <p:spPr>
          <a:xfrm>
            <a:off x="286428" y="61121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a:t>
            </a:r>
            <a:r>
              <a:rPr lang="en-US" altLang="en-US" sz="3200" i="1" dirty="0">
                <a:solidFill>
                  <a:schemeClr val="tx1"/>
                </a:solidFill>
              </a:rPr>
              <a:t>degrees </a:t>
            </a:r>
            <a:r>
              <a:rPr lang="en-US" altLang="en-US" sz="3200" dirty="0">
                <a:solidFill>
                  <a:schemeClr val="tx1"/>
                </a:solidFill>
              </a:rPr>
              <a:t>Dataset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a:extLst>
              <a:ext uri="{FF2B5EF4-FFF2-40B4-BE49-F238E27FC236}">
                <a16:creationId xmlns:a16="http://schemas.microsoft.com/office/drawing/2014/main" id="{1D2AFB3E-B3C4-46EA-AA38-A64F989E9087}"/>
              </a:ext>
            </a:extLst>
          </p:cNvPr>
          <p:cNvSpPr>
            <a:spLocks noGrp="1"/>
          </p:cNvSpPr>
          <p:nvPr>
            <p:ph idx="4294967295"/>
          </p:nvPr>
        </p:nvSpPr>
        <p:spPr>
          <a:xfrm>
            <a:off x="0" y="2400300"/>
            <a:ext cx="7407275" cy="3028950"/>
          </a:xfrm>
        </p:spPr>
        <p:txBody>
          <a:bodyPr/>
          <a:lstStyle/>
          <a:p>
            <a:pPr marL="33338" indent="0" algn="just">
              <a:buNone/>
            </a:pPr>
            <a:r>
              <a:rPr lang="en-US" altLang="en-US"/>
              <a:t> </a:t>
            </a:r>
          </a:p>
        </p:txBody>
      </p:sp>
      <p:pic>
        <p:nvPicPr>
          <p:cNvPr id="17412" name="Picture 2">
            <a:extLst>
              <a:ext uri="{FF2B5EF4-FFF2-40B4-BE49-F238E27FC236}">
                <a16:creationId xmlns:a16="http://schemas.microsoft.com/office/drawing/2014/main" id="{C48966A6-93A9-487B-BD96-CD174EC8235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405313" y="1698221"/>
            <a:ext cx="4569619"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4">
            <a:extLst>
              <a:ext uri="{FF2B5EF4-FFF2-40B4-BE49-F238E27FC236}">
                <a16:creationId xmlns:a16="http://schemas.microsoft.com/office/drawing/2014/main" id="{E88FCA32-6C4B-4CA5-896A-AF39F236075A}"/>
              </a:ext>
            </a:extLst>
          </p:cNvPr>
          <p:cNvPicPr>
            <a:picLocks noChangeAspect="1"/>
          </p:cNvPicPr>
          <p:nvPr/>
        </p:nvPicPr>
        <p:blipFill>
          <a:blip r:embed="rId4" cstate="email">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34617" y="2228850"/>
            <a:ext cx="319325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A6D47F3D-DB70-4D25-88AF-1F31AC7273FD}"/>
              </a:ext>
            </a:extLst>
          </p:cNvPr>
          <p:cNvSpPr txBox="1">
            <a:spLocks/>
          </p:cNvSpPr>
          <p:nvPr/>
        </p:nvSpPr>
        <p:spPr>
          <a:xfrm>
            <a:off x="286428" y="61121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a:t>
            </a:r>
            <a:r>
              <a:rPr lang="en-US" altLang="en-US" sz="3200" i="1" dirty="0">
                <a:solidFill>
                  <a:schemeClr val="tx1"/>
                </a:solidFill>
              </a:rPr>
              <a:t>degrees </a:t>
            </a:r>
            <a:r>
              <a:rPr lang="en-US" altLang="en-US" sz="3200" dirty="0">
                <a:solidFill>
                  <a:schemeClr val="tx1"/>
                </a:solidFill>
              </a:rPr>
              <a:t>Dataset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a:extLst>
              <a:ext uri="{FF2B5EF4-FFF2-40B4-BE49-F238E27FC236}">
                <a16:creationId xmlns:a16="http://schemas.microsoft.com/office/drawing/2014/main" id="{08D041B7-86E2-4F3E-86F3-30511CBED344}"/>
              </a:ext>
            </a:extLst>
          </p:cNvPr>
          <p:cNvSpPr>
            <a:spLocks noGrp="1"/>
          </p:cNvSpPr>
          <p:nvPr>
            <p:ph idx="4294967295"/>
          </p:nvPr>
        </p:nvSpPr>
        <p:spPr>
          <a:xfrm>
            <a:off x="286428" y="1693889"/>
            <a:ext cx="5140011" cy="4552894"/>
          </a:xfrm>
        </p:spPr>
        <p:txBody>
          <a:bodyPr>
            <a:normAutofit/>
          </a:bodyPr>
          <a:lstStyle/>
          <a:p>
            <a:pPr eaLnBrk="1" hangingPunct="1">
              <a:buFont typeface="Arial" panose="020B0604020202020204" pitchFamily="34" charset="0"/>
              <a:buChar char="•"/>
            </a:pPr>
            <a:r>
              <a:rPr lang="en-US" altLang="en-US" dirty="0"/>
              <a:t> We can think of the root node as corresponding to the original training set. All other nodes correspond to a subset of the training set.</a:t>
            </a:r>
          </a:p>
          <a:p>
            <a:pPr eaLnBrk="1" hangingPunct="1">
              <a:buFont typeface="Arial" panose="020B0604020202020204" pitchFamily="34" charset="0"/>
              <a:buChar char="•"/>
            </a:pPr>
            <a:r>
              <a:rPr lang="en-US" altLang="en-US" dirty="0"/>
              <a:t>At the leaf nodes each instance in the subset has the same classification. There are five leaf nodes and hence five branches.</a:t>
            </a:r>
          </a:p>
          <a:p>
            <a:pPr algn="just" eaLnBrk="1" hangingPunct="1"/>
            <a:endParaRPr lang="en-US" altLang="en-US" dirty="0"/>
          </a:p>
        </p:txBody>
      </p:sp>
      <p:pic>
        <p:nvPicPr>
          <p:cNvPr id="18436" name="Picture 4">
            <a:extLst>
              <a:ext uri="{FF2B5EF4-FFF2-40B4-BE49-F238E27FC236}">
                <a16:creationId xmlns:a16="http://schemas.microsoft.com/office/drawing/2014/main" id="{9067D697-8CAD-4F1E-A55E-642065EA6C11}"/>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664316" y="1999782"/>
            <a:ext cx="319325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BE840BC4-F266-4408-80A9-F98D4975CB43}"/>
              </a:ext>
            </a:extLst>
          </p:cNvPr>
          <p:cNvSpPr txBox="1">
            <a:spLocks/>
          </p:cNvSpPr>
          <p:nvPr/>
        </p:nvSpPr>
        <p:spPr>
          <a:xfrm>
            <a:off x="286428" y="61121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a:t>
            </a:r>
            <a:r>
              <a:rPr lang="en-US" altLang="en-US" sz="3200" i="1" dirty="0">
                <a:solidFill>
                  <a:schemeClr val="tx1"/>
                </a:solidFill>
              </a:rPr>
              <a:t>degrees </a:t>
            </a:r>
            <a:r>
              <a:rPr lang="en-US" altLang="en-US" sz="3200" dirty="0">
                <a:solidFill>
                  <a:schemeClr val="tx1"/>
                </a:solidFill>
              </a:rPr>
              <a:t>Dataset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DE8A6C-2E1A-42AE-B709-84DDC9268830}"/>
              </a:ext>
            </a:extLst>
          </p:cNvPr>
          <p:cNvSpPr>
            <a:spLocks noGrp="1"/>
          </p:cNvSpPr>
          <p:nvPr>
            <p:ph idx="4294967295"/>
          </p:nvPr>
        </p:nvSpPr>
        <p:spPr>
          <a:xfrm>
            <a:off x="175855" y="1528998"/>
            <a:ext cx="6105024" cy="5081664"/>
          </a:xfrm>
        </p:spPr>
        <p:txBody>
          <a:bodyPr rtlCol="0">
            <a:normAutofit/>
          </a:bodyPr>
          <a:lstStyle/>
          <a:p>
            <a:pPr marL="404813" indent="-342900">
              <a:buFont typeface="Arial" panose="020B0604020202020204" pitchFamily="34" charset="0"/>
              <a:buChar char="•"/>
              <a:defRPr/>
            </a:pPr>
            <a:r>
              <a:rPr lang="en-US" dirty="0"/>
              <a:t>Each branch corresponds to a </a:t>
            </a:r>
            <a:r>
              <a:rPr lang="en-US" i="1" dirty="0"/>
              <a:t>classification rule</a:t>
            </a:r>
            <a:r>
              <a:rPr lang="en-US" dirty="0"/>
              <a:t>. The five classification rules can be written in full as:</a:t>
            </a:r>
          </a:p>
          <a:p>
            <a:pPr marL="404813" indent="-342900">
              <a:buFont typeface="Arial" panose="020B0604020202020204" pitchFamily="34" charset="0"/>
              <a:buChar char="•"/>
              <a:defRPr/>
            </a:pPr>
            <a:r>
              <a:rPr lang="en-US" sz="2000" dirty="0"/>
              <a:t>IF </a:t>
            </a:r>
            <a:r>
              <a:rPr lang="en-US" sz="2000" dirty="0" err="1"/>
              <a:t>SoftEng</a:t>
            </a:r>
            <a:r>
              <a:rPr lang="en-US" sz="2000" dirty="0"/>
              <a:t> = A AND Project = A THEN Class = FIRST</a:t>
            </a:r>
          </a:p>
          <a:p>
            <a:pPr marL="404813" indent="-342900">
              <a:buFont typeface="Arial" panose="020B0604020202020204" pitchFamily="34" charset="0"/>
              <a:buChar char="•"/>
              <a:defRPr/>
            </a:pPr>
            <a:r>
              <a:rPr lang="en-US" sz="2000" dirty="0"/>
              <a:t>IF </a:t>
            </a:r>
            <a:r>
              <a:rPr lang="en-US" sz="2000" dirty="0" err="1"/>
              <a:t>SoftEng</a:t>
            </a:r>
            <a:r>
              <a:rPr lang="en-US" sz="2000" dirty="0"/>
              <a:t> = A AND Project = B AND ARIN = A AND CSA = A THEN Class = FIRST</a:t>
            </a:r>
          </a:p>
          <a:p>
            <a:pPr marL="404813" indent="-342900">
              <a:buFont typeface="Arial" panose="020B0604020202020204" pitchFamily="34" charset="0"/>
              <a:buChar char="•"/>
              <a:defRPr/>
            </a:pPr>
            <a:r>
              <a:rPr lang="en-US" sz="2000" dirty="0"/>
              <a:t>IF </a:t>
            </a:r>
            <a:r>
              <a:rPr lang="en-US" sz="2000" dirty="0" err="1"/>
              <a:t>SoftEng</a:t>
            </a:r>
            <a:r>
              <a:rPr lang="en-US" sz="2000" dirty="0"/>
              <a:t> = A AND Project = B AND ARIN = A AND CSA = B THEN Class = SECOND</a:t>
            </a:r>
          </a:p>
          <a:p>
            <a:pPr marL="404813" indent="-342900">
              <a:buFont typeface="Arial" panose="020B0604020202020204" pitchFamily="34" charset="0"/>
              <a:buChar char="•"/>
              <a:defRPr/>
            </a:pPr>
            <a:r>
              <a:rPr lang="en-US" sz="2000" dirty="0"/>
              <a:t>IF </a:t>
            </a:r>
            <a:r>
              <a:rPr lang="en-US" sz="2000" dirty="0" err="1"/>
              <a:t>SoftEng</a:t>
            </a:r>
            <a:r>
              <a:rPr lang="en-US" sz="2000" dirty="0"/>
              <a:t> = A AND Project = B AND ARIN = B THEN Class = SECOND</a:t>
            </a:r>
          </a:p>
          <a:p>
            <a:pPr marL="404813" indent="-342900">
              <a:buFont typeface="Arial" panose="020B0604020202020204" pitchFamily="34" charset="0"/>
              <a:buChar char="•"/>
              <a:defRPr/>
            </a:pPr>
            <a:r>
              <a:rPr lang="en-US" sz="2000" dirty="0"/>
              <a:t>IF </a:t>
            </a:r>
            <a:r>
              <a:rPr lang="en-US" sz="2000" dirty="0" err="1"/>
              <a:t>SoftEng</a:t>
            </a:r>
            <a:r>
              <a:rPr lang="en-US" sz="2000" dirty="0"/>
              <a:t> = B THEN Class = SECOND</a:t>
            </a:r>
          </a:p>
        </p:txBody>
      </p:sp>
      <p:pic>
        <p:nvPicPr>
          <p:cNvPr id="19460" name="Picture 4">
            <a:extLst>
              <a:ext uri="{FF2B5EF4-FFF2-40B4-BE49-F238E27FC236}">
                <a16:creationId xmlns:a16="http://schemas.microsoft.com/office/drawing/2014/main" id="{FF19D6E5-05BA-42E5-ABDC-521B12A62DD3}"/>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376462" y="2503357"/>
            <a:ext cx="2616020" cy="262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792E118C-5EA1-46AD-94BF-E7808B819BA4}"/>
              </a:ext>
            </a:extLst>
          </p:cNvPr>
          <p:cNvSpPr txBox="1">
            <a:spLocks/>
          </p:cNvSpPr>
          <p:nvPr/>
        </p:nvSpPr>
        <p:spPr>
          <a:xfrm>
            <a:off x="286428" y="61121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a:t>
            </a:r>
            <a:r>
              <a:rPr lang="en-US" altLang="en-US" sz="3200" i="1" dirty="0">
                <a:solidFill>
                  <a:schemeClr val="tx1"/>
                </a:solidFill>
              </a:rPr>
              <a:t>degrees </a:t>
            </a:r>
            <a:r>
              <a:rPr lang="en-US" altLang="en-US" sz="3200" dirty="0">
                <a:solidFill>
                  <a:schemeClr val="tx1"/>
                </a:solidFill>
              </a:rPr>
              <a:t>Dataset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a:extLst>
              <a:ext uri="{FF2B5EF4-FFF2-40B4-BE49-F238E27FC236}">
                <a16:creationId xmlns:a16="http://schemas.microsoft.com/office/drawing/2014/main" id="{B2D0725A-85C9-48A0-8046-08F611C994B4}"/>
              </a:ext>
            </a:extLst>
          </p:cNvPr>
          <p:cNvSpPr>
            <a:spLocks noGrp="1"/>
          </p:cNvSpPr>
          <p:nvPr>
            <p:ph idx="4294967295"/>
          </p:nvPr>
        </p:nvSpPr>
        <p:spPr>
          <a:xfrm>
            <a:off x="179882" y="1409075"/>
            <a:ext cx="8799226" cy="5321509"/>
          </a:xfrm>
        </p:spPr>
        <p:txBody>
          <a:bodyPr>
            <a:normAutofit/>
          </a:bodyPr>
          <a:lstStyle/>
          <a:p>
            <a:pPr eaLnBrk="1" hangingPunct="1">
              <a:buFont typeface="Arial" panose="020B0604020202020204" pitchFamily="34" charset="0"/>
              <a:buChar char="•"/>
            </a:pPr>
            <a:r>
              <a:rPr lang="en-US" altLang="en-US" dirty="0">
                <a:solidFill>
                  <a:srgbClr val="0070C0"/>
                </a:solidFill>
              </a:rPr>
              <a:t>IF </a:t>
            </a:r>
            <a:r>
              <a:rPr lang="en-US" altLang="en-US" dirty="0" err="1">
                <a:solidFill>
                  <a:srgbClr val="0070C0"/>
                </a:solidFill>
              </a:rPr>
              <a:t>SoftEng</a:t>
            </a:r>
            <a:r>
              <a:rPr lang="en-US" altLang="en-US" dirty="0">
                <a:solidFill>
                  <a:srgbClr val="0070C0"/>
                </a:solidFill>
              </a:rPr>
              <a:t> = A AND Project = A THEN Class = FIRST</a:t>
            </a:r>
          </a:p>
          <a:p>
            <a:pPr eaLnBrk="1" hangingPunct="1">
              <a:buFont typeface="Arial" panose="020B0604020202020204" pitchFamily="34" charset="0"/>
              <a:buChar char="•"/>
            </a:pPr>
            <a:r>
              <a:rPr lang="en-US" altLang="en-US" dirty="0"/>
              <a:t>The left-hand side of each rule (known as the </a:t>
            </a:r>
            <a:r>
              <a:rPr lang="en-US" altLang="en-US" i="1" dirty="0"/>
              <a:t>antecedent</a:t>
            </a:r>
            <a:r>
              <a:rPr lang="en-US" altLang="en-US" dirty="0"/>
              <a:t>) comprises a number of </a:t>
            </a:r>
            <a:r>
              <a:rPr lang="en-US" altLang="en-US" i="1" dirty="0"/>
              <a:t>terms </a:t>
            </a:r>
            <a:r>
              <a:rPr lang="en-US" altLang="en-US" dirty="0"/>
              <a:t>joined by the logical AND operator. </a:t>
            </a:r>
          </a:p>
          <a:p>
            <a:pPr eaLnBrk="1" hangingPunct="1">
              <a:buFont typeface="Arial" panose="020B0604020202020204" pitchFamily="34" charset="0"/>
              <a:buChar char="•"/>
            </a:pPr>
            <a:r>
              <a:rPr lang="en-US" altLang="en-US" dirty="0"/>
              <a:t>Each term is a simple test on the value of a categorical attribute (e.g. </a:t>
            </a:r>
            <a:r>
              <a:rPr lang="en-US" altLang="en-US" dirty="0" err="1"/>
              <a:t>SoftEng</a:t>
            </a:r>
            <a:r>
              <a:rPr lang="en-US" altLang="en-US" dirty="0"/>
              <a:t> = A) or a continuous attribute (e.g. in Figure 3.2, Humidity </a:t>
            </a:r>
            <a:r>
              <a:rPr lang="en-US" altLang="en-US" i="1" dirty="0"/>
              <a:t>&gt; </a:t>
            </a:r>
            <a:r>
              <a:rPr lang="en-US" altLang="en-US" dirty="0"/>
              <a:t>75).</a:t>
            </a:r>
          </a:p>
          <a:p>
            <a:pPr eaLnBrk="1" hangingPunct="1">
              <a:buFont typeface="Arial" panose="020B0604020202020204" pitchFamily="34" charset="0"/>
              <a:buChar char="•"/>
            </a:pPr>
            <a:r>
              <a:rPr lang="en-US" altLang="en-US" dirty="0"/>
              <a:t>A set of rules of this kind is said to be in </a:t>
            </a:r>
            <a:r>
              <a:rPr lang="en-US" altLang="en-US" i="1" dirty="0"/>
              <a:t>Disjunctive Normal Form </a:t>
            </a:r>
            <a:r>
              <a:rPr lang="en-US" altLang="en-US" dirty="0"/>
              <a:t>(DNF). The individual rules are sometimes known as </a:t>
            </a:r>
            <a:r>
              <a:rPr lang="en-US" altLang="en-US" i="1" dirty="0"/>
              <a:t>disjuncts</a:t>
            </a:r>
            <a:r>
              <a:rPr lang="en-US" altLang="en-US" dirty="0"/>
              <a:t>.</a:t>
            </a:r>
          </a:p>
          <a:p>
            <a:pPr eaLnBrk="1" hangingPunct="1">
              <a:buFont typeface="Arial" panose="020B0604020202020204" pitchFamily="34" charset="0"/>
              <a:buChar char="•"/>
            </a:pPr>
            <a:r>
              <a:rPr lang="en-US" altLang="en-US" dirty="0"/>
              <a:t>The order in which we write the rules generated from a decision tree is arbitrary. We can rearrange the rules without any change to the predictions the ruleset will make on unseen instances.</a:t>
            </a:r>
          </a:p>
          <a:p>
            <a:pPr algn="just" eaLnBrk="1" hangingPunct="1"/>
            <a:endParaRPr lang="en-US" altLang="en-US" dirty="0"/>
          </a:p>
          <a:p>
            <a:pPr algn="just" eaLnBrk="1" hangingPunct="1"/>
            <a:endParaRPr lang="en-US" altLang="en-US" dirty="0"/>
          </a:p>
        </p:txBody>
      </p:sp>
      <p:sp>
        <p:nvSpPr>
          <p:cNvPr id="5" name="Title 1">
            <a:extLst>
              <a:ext uri="{FF2B5EF4-FFF2-40B4-BE49-F238E27FC236}">
                <a16:creationId xmlns:a16="http://schemas.microsoft.com/office/drawing/2014/main" id="{510AC833-E93B-422D-B35F-C1F501B5B0FC}"/>
              </a:ext>
            </a:extLst>
          </p:cNvPr>
          <p:cNvSpPr txBox="1">
            <a:spLocks/>
          </p:cNvSpPr>
          <p:nvPr/>
        </p:nvSpPr>
        <p:spPr>
          <a:xfrm>
            <a:off x="286428" y="61121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a:t>
            </a:r>
            <a:r>
              <a:rPr lang="en-US" altLang="en-US" sz="3200" i="1" dirty="0">
                <a:solidFill>
                  <a:schemeClr val="tx1"/>
                </a:solidFill>
              </a:rPr>
              <a:t>degrees </a:t>
            </a:r>
            <a:r>
              <a:rPr lang="en-US" altLang="en-US" sz="3200" dirty="0">
                <a:solidFill>
                  <a:schemeClr val="tx1"/>
                </a:solidFill>
              </a:rPr>
              <a:t>Dataset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Content Placeholder 2">
            <a:extLst>
              <a:ext uri="{FF2B5EF4-FFF2-40B4-BE49-F238E27FC236}">
                <a16:creationId xmlns:a16="http://schemas.microsoft.com/office/drawing/2014/main" id="{8BEDF68A-01F1-4619-BB82-1E06C9ED05BF}"/>
              </a:ext>
            </a:extLst>
          </p:cNvPr>
          <p:cNvSpPr>
            <a:spLocks noGrp="1"/>
          </p:cNvSpPr>
          <p:nvPr>
            <p:ph idx="4294967295"/>
          </p:nvPr>
        </p:nvSpPr>
        <p:spPr>
          <a:xfrm>
            <a:off x="227030" y="1409075"/>
            <a:ext cx="8617729" cy="5261548"/>
          </a:xfrm>
        </p:spPr>
        <p:txBody>
          <a:bodyPr>
            <a:normAutofit/>
          </a:bodyPr>
          <a:lstStyle/>
          <a:p>
            <a:pPr eaLnBrk="1" hangingPunct="1">
              <a:buFont typeface="Arial" panose="020B0604020202020204" pitchFamily="34" charset="0"/>
              <a:buChar char="•"/>
            </a:pPr>
            <a:r>
              <a:rPr lang="en-US" altLang="en-US" dirty="0"/>
              <a:t>Each instance in the original </a:t>
            </a:r>
            <a:r>
              <a:rPr lang="en-US" altLang="en-US" i="1" dirty="0"/>
              <a:t>degrees </a:t>
            </a:r>
            <a:r>
              <a:rPr lang="en-US" altLang="en-US" dirty="0"/>
              <a:t>training set could be viewed as a rule, for example </a:t>
            </a:r>
            <a:r>
              <a:rPr lang="en-US" altLang="en-US" dirty="0">
                <a:solidFill>
                  <a:srgbClr val="0070C0"/>
                </a:solidFill>
              </a:rPr>
              <a:t>IF </a:t>
            </a:r>
            <a:r>
              <a:rPr lang="en-US" altLang="en-US" dirty="0" err="1">
                <a:solidFill>
                  <a:srgbClr val="0070C0"/>
                </a:solidFill>
              </a:rPr>
              <a:t>SoftEng</a:t>
            </a:r>
            <a:r>
              <a:rPr lang="en-US" altLang="en-US" dirty="0">
                <a:solidFill>
                  <a:srgbClr val="0070C0"/>
                </a:solidFill>
              </a:rPr>
              <a:t> = A AND ARIN = B AND HCI = A AND CSA = B AND Project = B THEN Class = SECOND</a:t>
            </a:r>
          </a:p>
          <a:p>
            <a:pPr algn="just" eaLnBrk="1" hangingPunct="1">
              <a:buFont typeface="Arial" panose="020B0604020202020204" pitchFamily="34" charset="0"/>
              <a:buChar char="•"/>
            </a:pPr>
            <a:endParaRPr lang="en-US" altLang="en-US" sz="400" dirty="0">
              <a:solidFill>
                <a:srgbClr val="0070C0"/>
              </a:solidFill>
            </a:endParaRPr>
          </a:p>
          <a:p>
            <a:pPr algn="just" eaLnBrk="1" hangingPunct="1">
              <a:buFont typeface="Arial" panose="020B0604020202020204" pitchFamily="34" charset="0"/>
              <a:buChar char="•"/>
            </a:pPr>
            <a:endParaRPr lang="en-US" altLang="en-US" sz="600" dirty="0">
              <a:solidFill>
                <a:srgbClr val="0070C0"/>
              </a:solidFill>
            </a:endParaRPr>
          </a:p>
          <a:p>
            <a:pPr algn="just" eaLnBrk="1" hangingPunct="1">
              <a:buFont typeface="Arial" panose="020B0604020202020204" pitchFamily="34" charset="0"/>
              <a:buChar char="•"/>
            </a:pPr>
            <a:r>
              <a:rPr lang="en-US" altLang="en-US" dirty="0"/>
              <a:t>There are 26 such rules, one per instance, each with five terms, making a total of 130 terms.</a:t>
            </a:r>
          </a:p>
          <a:p>
            <a:pPr eaLnBrk="1" hangingPunct="1">
              <a:buFont typeface="Arial" panose="020B0604020202020204" pitchFamily="34" charset="0"/>
              <a:buChar char="•"/>
            </a:pPr>
            <a:r>
              <a:rPr lang="en-US" altLang="en-US" dirty="0"/>
              <a:t>The decision tree can be written as five decision rules with a total of 14 terms, an average of 2.8 terms per rule.</a:t>
            </a:r>
          </a:p>
          <a:p>
            <a:pPr eaLnBrk="1" hangingPunct="1">
              <a:buFont typeface="Arial" panose="020B0604020202020204" pitchFamily="34" charset="0"/>
              <a:buChar char="•"/>
            </a:pPr>
            <a:r>
              <a:rPr lang="en-US" altLang="en-US" dirty="0"/>
              <a:t>Even for this very small training set, the reduction in the number of terms requiring to be stored from the training set (130 terms) to the decision tree (14 terms) is almost 90%.</a:t>
            </a:r>
          </a:p>
          <a:p>
            <a:pPr algn="just" eaLnBrk="1" hangingPunct="1"/>
            <a:endParaRPr lang="en-US" altLang="en-US" dirty="0"/>
          </a:p>
        </p:txBody>
      </p:sp>
      <p:pic>
        <p:nvPicPr>
          <p:cNvPr id="21508" name="Picture 1">
            <a:extLst>
              <a:ext uri="{FF2B5EF4-FFF2-40B4-BE49-F238E27FC236}">
                <a16:creationId xmlns:a16="http://schemas.microsoft.com/office/drawing/2014/main" id="{09BBABB8-E696-4C4F-BE0A-2399D9F1686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462630" y="2781300"/>
            <a:ext cx="506611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DCED2C3A-FA7C-4481-B574-8F3B88CD0E21}"/>
              </a:ext>
            </a:extLst>
          </p:cNvPr>
          <p:cNvSpPr txBox="1">
            <a:spLocks/>
          </p:cNvSpPr>
          <p:nvPr/>
        </p:nvSpPr>
        <p:spPr>
          <a:xfrm>
            <a:off x="286428" y="61121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a:t>
            </a:r>
            <a:r>
              <a:rPr lang="en-US" altLang="en-US" sz="3200" i="1" dirty="0">
                <a:solidFill>
                  <a:schemeClr val="tx1"/>
                </a:solidFill>
              </a:rPr>
              <a:t>degrees </a:t>
            </a:r>
            <a:r>
              <a:rPr lang="en-US" altLang="en-US" sz="3200" dirty="0">
                <a:solidFill>
                  <a:schemeClr val="tx1"/>
                </a:solidFill>
              </a:rPr>
              <a:t>Dataset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a:extLst>
              <a:ext uri="{FF2B5EF4-FFF2-40B4-BE49-F238E27FC236}">
                <a16:creationId xmlns:a16="http://schemas.microsoft.com/office/drawing/2014/main" id="{F8C30A34-4AE7-46FB-A72C-FE050304901F}"/>
              </a:ext>
            </a:extLst>
          </p:cNvPr>
          <p:cNvSpPr>
            <a:spLocks noGrp="1"/>
          </p:cNvSpPr>
          <p:nvPr>
            <p:ph idx="4294967295"/>
          </p:nvPr>
        </p:nvSpPr>
        <p:spPr>
          <a:xfrm>
            <a:off x="286429" y="1588957"/>
            <a:ext cx="8407866" cy="4916773"/>
          </a:xfrm>
        </p:spPr>
        <p:txBody>
          <a:bodyPr/>
          <a:lstStyle/>
          <a:p>
            <a:pPr eaLnBrk="1" hangingPunct="1">
              <a:buFont typeface="Arial" panose="020B0604020202020204" pitchFamily="34" charset="0"/>
              <a:buChar char="•"/>
            </a:pPr>
            <a:r>
              <a:rPr lang="en-US" altLang="en-US" dirty="0"/>
              <a:t>For practical use, the rules can easily be simplified to an equivalent nested set of IF . . . THEN . . . ELSE rules</a:t>
            </a:r>
            <a:r>
              <a:rPr lang="en-US" altLang="en-US" b="1" dirty="0"/>
              <a:t>, </a:t>
            </a:r>
            <a:r>
              <a:rPr lang="en-US" altLang="en-US" dirty="0"/>
              <a:t>with even more compression</a:t>
            </a:r>
          </a:p>
          <a:p>
            <a:pPr algn="just" eaLnBrk="1" hangingPunct="1"/>
            <a:endParaRPr lang="en-US" altLang="en-US" dirty="0"/>
          </a:p>
        </p:txBody>
      </p:sp>
      <p:pic>
        <p:nvPicPr>
          <p:cNvPr id="22532" name="Picture 4">
            <a:extLst>
              <a:ext uri="{FF2B5EF4-FFF2-40B4-BE49-F238E27FC236}">
                <a16:creationId xmlns:a16="http://schemas.microsoft.com/office/drawing/2014/main" id="{79AA63B9-4B2E-4BA1-A694-70B49E2DBC9E}"/>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924175" y="3429000"/>
            <a:ext cx="3267075" cy="266342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E117B7E-EBAB-4BEE-A87F-BEFF0A5B287A}"/>
              </a:ext>
            </a:extLst>
          </p:cNvPr>
          <p:cNvSpPr txBox="1">
            <a:spLocks/>
          </p:cNvSpPr>
          <p:nvPr/>
        </p:nvSpPr>
        <p:spPr>
          <a:xfrm>
            <a:off x="286428" y="61121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a:t>
            </a:r>
            <a:r>
              <a:rPr lang="en-US" altLang="en-US" sz="3200" i="1" dirty="0">
                <a:solidFill>
                  <a:schemeClr val="tx1"/>
                </a:solidFill>
              </a:rPr>
              <a:t>degrees </a:t>
            </a:r>
            <a:r>
              <a:rPr lang="en-US" altLang="en-US" sz="3200" dirty="0">
                <a:solidFill>
                  <a:schemeClr val="tx1"/>
                </a:solidFill>
              </a:rPr>
              <a:t>Dataset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TDIDT Algorithm</a:t>
            </a:r>
          </a:p>
        </p:txBody>
      </p:sp>
      <p:sp>
        <p:nvSpPr>
          <p:cNvPr id="7" name="Content Placeholder 2">
            <a:extLst>
              <a:ext uri="{FF2B5EF4-FFF2-40B4-BE49-F238E27FC236}">
                <a16:creationId xmlns:a16="http://schemas.microsoft.com/office/drawing/2014/main" id="{80A59FCE-EFD3-4CD4-8897-A795870B93B1}"/>
              </a:ext>
            </a:extLst>
          </p:cNvPr>
          <p:cNvSpPr txBox="1">
            <a:spLocks/>
          </p:cNvSpPr>
          <p:nvPr/>
        </p:nvSpPr>
        <p:spPr>
          <a:xfrm>
            <a:off x="268106" y="2253522"/>
            <a:ext cx="8591081" cy="3992563"/>
          </a:xfrm>
          <a:prstGeom prst="rect">
            <a:avLst/>
          </a:prstGeom>
        </p:spPr>
        <p:txBody>
          <a:bodyPr vert="horz" lIns="91440" tIns="45720" rIns="91440" bIns="45720" rtlCol="0">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buFont typeface="Arial" panose="020B0604020202020204" pitchFamily="34" charset="0"/>
              <a:buChar char="•"/>
            </a:pPr>
            <a:r>
              <a:rPr lang="en-US" altLang="en-US" dirty="0"/>
              <a:t>Decision trees are widely used as a means of generating classification rules because of the existence of a simple but very powerful algorithm called </a:t>
            </a:r>
            <a:r>
              <a:rPr lang="en-US" altLang="en-US" b="1" dirty="0"/>
              <a:t>TDIDT</a:t>
            </a:r>
            <a:r>
              <a:rPr lang="en-US" altLang="en-US" dirty="0"/>
              <a:t>, which stands for </a:t>
            </a:r>
            <a:r>
              <a:rPr lang="en-US" altLang="en-US" i="1" dirty="0">
                <a:solidFill>
                  <a:srgbClr val="0070C0"/>
                </a:solidFill>
              </a:rPr>
              <a:t>Top-Down Induction of Decision Trees</a:t>
            </a:r>
            <a:r>
              <a:rPr lang="en-US" altLang="en-US" dirty="0"/>
              <a:t>.</a:t>
            </a:r>
          </a:p>
          <a:p>
            <a:pPr algn="just">
              <a:buFont typeface="Arial" panose="020B0604020202020204" pitchFamily="34" charset="0"/>
              <a:buChar char="•"/>
            </a:pPr>
            <a:r>
              <a:rPr lang="en-US" altLang="en-US" dirty="0"/>
              <a:t>The method produces decision rules in the implicit form of a decision tree. </a:t>
            </a:r>
            <a:r>
              <a:rPr lang="en-US" altLang="en-US" dirty="0">
                <a:solidFill>
                  <a:srgbClr val="0070C0"/>
                </a:solidFill>
              </a:rPr>
              <a:t>Decision trees are generated by repeatedly splitting on the values of attributes. This process is known as </a:t>
            </a:r>
            <a:r>
              <a:rPr lang="en-US" altLang="en-US" i="1" dirty="0">
                <a:solidFill>
                  <a:srgbClr val="0070C0"/>
                </a:solidFill>
              </a:rPr>
              <a:t>recursive partitioning</a:t>
            </a:r>
            <a:r>
              <a:rPr lang="en-US" altLang="en-US" dirty="0"/>
              <a:t>.</a:t>
            </a:r>
          </a:p>
          <a:p>
            <a:pPr algn="just"/>
            <a:endParaRPr lang="en-US" altLang="en-US" dirty="0"/>
          </a:p>
        </p:txBody>
      </p:sp>
    </p:spTree>
    <p:extLst>
      <p:ext uri="{BB962C8B-B14F-4D97-AF65-F5344CB8AC3E}">
        <p14:creationId xmlns:p14="http://schemas.microsoft.com/office/powerpoint/2010/main" val="2603905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3">
            <a:extLst>
              <a:ext uri="{FF2B5EF4-FFF2-40B4-BE49-F238E27FC236}">
                <a16:creationId xmlns:a16="http://schemas.microsoft.com/office/drawing/2014/main" id="{CE712D49-7D0D-4906-B5C7-C44C6BAA1A3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35844" y="2209917"/>
            <a:ext cx="7072313" cy="327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638E5C91-41D9-48AA-84AE-7C97EA81AAE6}"/>
              </a:ext>
            </a:extLst>
          </p:cNvPr>
          <p:cNvSpPr txBox="1">
            <a:spLocks/>
          </p:cNvSpPr>
          <p:nvPr/>
        </p:nvSpPr>
        <p:spPr>
          <a:xfrm>
            <a:off x="286428" y="71614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The TDIDT Algorithm</a:t>
            </a:r>
            <a:endParaRPr lang="en-US" altLang="en-US" sz="3200"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62A5ED31-E60A-45E0-B188-7EB7C7079E1D}"/>
              </a:ext>
            </a:extLst>
          </p:cNvPr>
          <p:cNvSpPr>
            <a:spLocks noGrp="1"/>
          </p:cNvSpPr>
          <p:nvPr>
            <p:ph idx="4294967295"/>
          </p:nvPr>
        </p:nvSpPr>
        <p:spPr>
          <a:xfrm>
            <a:off x="286429" y="1543987"/>
            <a:ext cx="8437846" cy="5111646"/>
          </a:xfrm>
        </p:spPr>
        <p:txBody>
          <a:bodyPr>
            <a:normAutofit/>
          </a:bodyPr>
          <a:lstStyle/>
          <a:p>
            <a:pPr eaLnBrk="1" hangingPunct="1">
              <a:buFont typeface="Arial" panose="020B0604020202020204" pitchFamily="34" charset="0"/>
              <a:buChar char="•"/>
            </a:pPr>
            <a:r>
              <a:rPr lang="en-US" altLang="en-US" dirty="0"/>
              <a:t>At each non-leaf node an attribute is chosen for splitting. This can potentially be </a:t>
            </a:r>
            <a:r>
              <a:rPr lang="en-US" altLang="en-US" dirty="0">
                <a:solidFill>
                  <a:schemeClr val="tx1"/>
                </a:solidFill>
              </a:rPr>
              <a:t>any attribute, except that the same attribute must not be chosen twice in the same branch.</a:t>
            </a:r>
          </a:p>
          <a:p>
            <a:pPr eaLnBrk="1" hangingPunct="1">
              <a:buFont typeface="Arial" panose="020B0604020202020204" pitchFamily="34" charset="0"/>
              <a:buChar char="•"/>
            </a:pPr>
            <a:r>
              <a:rPr lang="en-US" altLang="en-US" dirty="0">
                <a:solidFill>
                  <a:schemeClr val="tx1"/>
                </a:solidFill>
              </a:rPr>
              <a:t>This restriction has a very valuable effect. Each split on the value of an attribute extends the length of the corresponding branch by one term, but the maximum possible length for a branch is </a:t>
            </a:r>
            <a:r>
              <a:rPr lang="en-US" altLang="en-US" i="1" dirty="0">
                <a:solidFill>
                  <a:schemeClr val="tx1"/>
                </a:solidFill>
              </a:rPr>
              <a:t>M </a:t>
            </a:r>
            <a:r>
              <a:rPr lang="en-US" altLang="en-US" dirty="0">
                <a:solidFill>
                  <a:schemeClr val="tx1"/>
                </a:solidFill>
              </a:rPr>
              <a:t>terms where there are </a:t>
            </a:r>
            <a:r>
              <a:rPr lang="en-US" altLang="en-US" i="1" dirty="0">
                <a:solidFill>
                  <a:schemeClr val="tx1"/>
                </a:solidFill>
              </a:rPr>
              <a:t>M </a:t>
            </a:r>
            <a:r>
              <a:rPr lang="en-US" altLang="en-US" dirty="0">
                <a:solidFill>
                  <a:schemeClr val="tx1"/>
                </a:solidFill>
              </a:rPr>
              <a:t>attributes. Hence the algorithm is guaranteed to terminate.</a:t>
            </a:r>
          </a:p>
          <a:p>
            <a:pPr eaLnBrk="1" hangingPunct="1">
              <a:buFont typeface="Arial" panose="020B0604020202020204" pitchFamily="34" charset="0"/>
              <a:buChar char="•"/>
            </a:pPr>
            <a:r>
              <a:rPr lang="en-US" altLang="en-US" dirty="0">
                <a:solidFill>
                  <a:schemeClr val="tx1"/>
                </a:solidFill>
              </a:rPr>
              <a:t>A major problem with the TDIDT algorithm, which is not apparent at first sight, is that it is </a:t>
            </a:r>
            <a:r>
              <a:rPr lang="en-US" altLang="en-US" i="1" dirty="0">
                <a:solidFill>
                  <a:schemeClr val="tx1"/>
                </a:solidFill>
              </a:rPr>
              <a:t>underspecified</a:t>
            </a:r>
            <a:r>
              <a:rPr lang="en-US" altLang="en-US" dirty="0">
                <a:solidFill>
                  <a:schemeClr val="tx1"/>
                </a:solidFill>
              </a:rPr>
              <a:t>. The algorithm specifies ‘Select an attribute </a:t>
            </a:r>
            <a:r>
              <a:rPr lang="en-US" altLang="en-US" i="1" dirty="0">
                <a:solidFill>
                  <a:schemeClr val="tx1"/>
                </a:solidFill>
              </a:rPr>
              <a:t>A </a:t>
            </a:r>
            <a:r>
              <a:rPr lang="en-US" altLang="en-US" dirty="0">
                <a:solidFill>
                  <a:schemeClr val="tx1"/>
                </a:solidFill>
              </a:rPr>
              <a:t>to split </a:t>
            </a:r>
            <a:r>
              <a:rPr lang="en-US" altLang="en-US" dirty="0"/>
              <a:t>on’ but no method is given for doing this.</a:t>
            </a:r>
          </a:p>
          <a:p>
            <a:pPr algn="just" eaLnBrk="1" hangingPunct="1"/>
            <a:endParaRPr lang="en-US" altLang="en-US" dirty="0"/>
          </a:p>
        </p:txBody>
      </p:sp>
      <p:sp>
        <p:nvSpPr>
          <p:cNvPr id="5" name="Title 1">
            <a:extLst>
              <a:ext uri="{FF2B5EF4-FFF2-40B4-BE49-F238E27FC236}">
                <a16:creationId xmlns:a16="http://schemas.microsoft.com/office/drawing/2014/main" id="{7FF437CB-FF70-4EF1-838F-11320D05C16D}"/>
              </a:ext>
            </a:extLst>
          </p:cNvPr>
          <p:cNvSpPr txBox="1">
            <a:spLocks/>
          </p:cNvSpPr>
          <p:nvPr/>
        </p:nvSpPr>
        <p:spPr>
          <a:xfrm>
            <a:off x="286428" y="716147"/>
            <a:ext cx="7418515" cy="660267"/>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200" dirty="0">
                <a:solidFill>
                  <a:schemeClr val="tx1"/>
                </a:solidFill>
              </a:rPr>
              <a:t>The TDIDT Algorithm</a:t>
            </a:r>
            <a:endParaRPr lang="en-US" altLang="en-US" sz="32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49005"/>
            <a:ext cx="7808976" cy="1154943"/>
          </a:xfrm>
        </p:spPr>
        <p:txBody>
          <a:bodyPr>
            <a:noAutofit/>
          </a:bodyPr>
          <a:lstStyle/>
          <a:p>
            <a:pPr>
              <a:lnSpc>
                <a:spcPct val="100000"/>
              </a:lnSpc>
            </a:pPr>
            <a:r>
              <a:rPr lang="en-US" sz="3200" dirty="0">
                <a:latin typeface="+mn-lt"/>
                <a:ea typeface="+mn-ea"/>
                <a:cs typeface="+mn-cs"/>
              </a:rPr>
              <a:t>Decision Tree Induction:  </a:t>
            </a:r>
            <a:br>
              <a:rPr lang="en-US" sz="3200" dirty="0">
                <a:latin typeface="+mn-lt"/>
                <a:ea typeface="+mn-ea"/>
                <a:cs typeface="+mn-cs"/>
              </a:rPr>
            </a:br>
            <a:r>
              <a:rPr lang="en-US" sz="3200" dirty="0">
                <a:latin typeface="+mn-lt"/>
                <a:ea typeface="+mn-ea"/>
                <a:cs typeface="+mn-cs"/>
              </a:rPr>
              <a:t>Using Entropy for Attribute Selection</a:t>
            </a:r>
          </a:p>
        </p:txBody>
      </p:sp>
    </p:spTree>
    <p:extLst>
      <p:ext uri="{BB962C8B-B14F-4D97-AF65-F5344CB8AC3E}">
        <p14:creationId xmlns:p14="http://schemas.microsoft.com/office/powerpoint/2010/main" val="3132154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C14AEF24-49E2-416D-A19D-581ADA476390}"/>
              </a:ext>
            </a:extLst>
          </p:cNvPr>
          <p:cNvSpPr>
            <a:spLocks noGrp="1"/>
          </p:cNvSpPr>
          <p:nvPr>
            <p:ph type="title" idx="4294967295"/>
          </p:nvPr>
        </p:nvSpPr>
        <p:spPr>
          <a:xfrm>
            <a:off x="269823" y="599607"/>
            <a:ext cx="7407275" cy="692618"/>
          </a:xfrm>
          <a:noFill/>
        </p:spPr>
        <p:txBody>
          <a:bodyPr>
            <a:noAutofit/>
          </a:bodyPr>
          <a:lstStyle/>
          <a:p>
            <a:pPr algn="l" eaLnBrk="1" hangingPunct="1"/>
            <a:r>
              <a:rPr lang="en-US" altLang="en-US" sz="3200" dirty="0">
                <a:solidFill>
                  <a:schemeClr val="tx1"/>
                </a:solidFill>
              </a:rPr>
              <a:t>Attribute Selection: An Experiment</a:t>
            </a:r>
          </a:p>
        </p:txBody>
      </p:sp>
      <p:sp>
        <p:nvSpPr>
          <p:cNvPr id="6147" name="Content Placeholder 2">
            <a:extLst>
              <a:ext uri="{FF2B5EF4-FFF2-40B4-BE49-F238E27FC236}">
                <a16:creationId xmlns:a16="http://schemas.microsoft.com/office/drawing/2014/main" id="{3765493D-F77F-4E72-B1DA-3ED5890808F1}"/>
              </a:ext>
            </a:extLst>
          </p:cNvPr>
          <p:cNvSpPr>
            <a:spLocks noGrp="1"/>
          </p:cNvSpPr>
          <p:nvPr>
            <p:ph idx="4294967295"/>
          </p:nvPr>
        </p:nvSpPr>
        <p:spPr>
          <a:xfrm>
            <a:off x="269823" y="1454046"/>
            <a:ext cx="8529403" cy="5081665"/>
          </a:xfrm>
        </p:spPr>
        <p:txBody>
          <a:bodyPr>
            <a:normAutofit/>
          </a:bodyPr>
          <a:lstStyle/>
          <a:p>
            <a:pPr eaLnBrk="1" hangingPunct="1">
              <a:buFont typeface="Arial" panose="020B0604020202020204" pitchFamily="34" charset="0"/>
              <a:buChar char="•"/>
            </a:pPr>
            <a:r>
              <a:rPr lang="en-US" altLang="en-US" dirty="0"/>
              <a:t>It was </a:t>
            </a:r>
            <a:r>
              <a:rPr lang="en-US" altLang="en-US" dirty="0">
                <a:solidFill>
                  <a:schemeClr val="tx1"/>
                </a:solidFill>
              </a:rPr>
              <a:t>shown that the TDIDT algorithm is guaranteed to terminate and to give a decision tree that correctly corresponds to the data, provided that the adequacy condition is satisfied.</a:t>
            </a:r>
          </a:p>
          <a:p>
            <a:pPr eaLnBrk="1" hangingPunct="1">
              <a:buFont typeface="Arial" panose="020B0604020202020204" pitchFamily="34" charset="0"/>
              <a:buChar char="•"/>
            </a:pPr>
            <a:r>
              <a:rPr lang="en-US" altLang="en-US" dirty="0">
                <a:solidFill>
                  <a:schemeClr val="tx1"/>
                </a:solidFill>
              </a:rPr>
              <a:t>It was also pointed out that the TDIDT algorithm is </a:t>
            </a:r>
            <a:r>
              <a:rPr lang="en-US" altLang="en-US" i="1" dirty="0">
                <a:solidFill>
                  <a:schemeClr val="tx1"/>
                </a:solidFill>
              </a:rPr>
              <a:t>underspecified</a:t>
            </a:r>
            <a:r>
              <a:rPr lang="en-US" altLang="en-US" dirty="0">
                <a:solidFill>
                  <a:schemeClr val="tx1"/>
                </a:solidFill>
              </a:rPr>
              <a:t>.</a:t>
            </a:r>
          </a:p>
          <a:p>
            <a:pPr eaLnBrk="1" hangingPunct="1">
              <a:buFont typeface="Arial" panose="020B0604020202020204" pitchFamily="34" charset="0"/>
              <a:buChar char="•"/>
            </a:pPr>
            <a:r>
              <a:rPr lang="en-US" altLang="en-US" dirty="0">
                <a:solidFill>
                  <a:schemeClr val="tx1"/>
                </a:solidFill>
              </a:rPr>
              <a:t>Provided that the adequacy condition is satisfied, any method of choosing attributes will produce a decision tree.</a:t>
            </a:r>
          </a:p>
          <a:p>
            <a:pPr eaLnBrk="1" hangingPunct="1">
              <a:buFont typeface="Arial" panose="020B0604020202020204" pitchFamily="34" charset="0"/>
              <a:buChar char="•"/>
            </a:pPr>
            <a:r>
              <a:rPr lang="en-US" altLang="en-US" dirty="0"/>
              <a:t>We will start our discussion by considering the decision trees obtained from using some poorly chosen strategies for attribute selection.</a:t>
            </a:r>
          </a:p>
          <a:p>
            <a:pPr eaLnBrk="1" hangingPunct="1"/>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a:extLst>
              <a:ext uri="{FF2B5EF4-FFF2-40B4-BE49-F238E27FC236}">
                <a16:creationId xmlns:a16="http://schemas.microsoft.com/office/drawing/2014/main" id="{FBAF7BF9-74BC-45CC-8F65-3B9C8E42F402}"/>
              </a:ext>
            </a:extLst>
          </p:cNvPr>
          <p:cNvSpPr>
            <a:spLocks noGrp="1"/>
          </p:cNvSpPr>
          <p:nvPr>
            <p:ph idx="4294967295"/>
          </p:nvPr>
        </p:nvSpPr>
        <p:spPr>
          <a:xfrm>
            <a:off x="269824" y="1663908"/>
            <a:ext cx="8379502" cy="4961744"/>
          </a:xfrm>
        </p:spPr>
        <p:txBody>
          <a:bodyPr>
            <a:normAutofit/>
          </a:bodyPr>
          <a:lstStyle/>
          <a:p>
            <a:pPr eaLnBrk="1" hangingPunct="1">
              <a:buFont typeface="Arial" panose="020B0604020202020204" pitchFamily="34" charset="0"/>
              <a:buChar char="•"/>
            </a:pPr>
            <a:r>
              <a:rPr lang="en-US" altLang="en-US" dirty="0"/>
              <a:t>First, examine at the decision trees produced by using the three attribute selection strategies listed below.</a:t>
            </a:r>
          </a:p>
          <a:p>
            <a:pPr lvl="1" eaLnBrk="1" hangingPunct="1">
              <a:buFont typeface="Arial" panose="020B0604020202020204" pitchFamily="34" charset="0"/>
              <a:buChar char="•"/>
            </a:pPr>
            <a:r>
              <a:rPr lang="en-US" altLang="en-US" i="1" dirty="0" err="1">
                <a:solidFill>
                  <a:schemeClr val="tx1"/>
                </a:solidFill>
              </a:rPr>
              <a:t>takefirst</a:t>
            </a:r>
            <a:r>
              <a:rPr lang="en-US" altLang="en-US" i="1" dirty="0">
                <a:solidFill>
                  <a:schemeClr val="tx1"/>
                </a:solidFill>
              </a:rPr>
              <a:t> </a:t>
            </a:r>
            <a:r>
              <a:rPr lang="en-US" altLang="en-US" dirty="0">
                <a:solidFill>
                  <a:schemeClr val="tx1"/>
                </a:solidFill>
              </a:rPr>
              <a:t>– for each branch take the attributes in the order in which they appear in the training set, working from left to right, e.g. for the </a:t>
            </a:r>
            <a:r>
              <a:rPr lang="en-US" altLang="en-US" i="1" dirty="0">
                <a:solidFill>
                  <a:schemeClr val="tx1"/>
                </a:solidFill>
              </a:rPr>
              <a:t>degrees </a:t>
            </a:r>
            <a:r>
              <a:rPr lang="en-US" altLang="en-US" dirty="0">
                <a:solidFill>
                  <a:schemeClr val="tx1"/>
                </a:solidFill>
              </a:rPr>
              <a:t>training set in the order </a:t>
            </a:r>
            <a:r>
              <a:rPr lang="en-US" altLang="en-US" i="1" dirty="0" err="1">
                <a:solidFill>
                  <a:schemeClr val="tx1"/>
                </a:solidFill>
              </a:rPr>
              <a:t>SoftEng</a:t>
            </a:r>
            <a:r>
              <a:rPr lang="en-US" altLang="en-US" dirty="0">
                <a:solidFill>
                  <a:schemeClr val="tx1"/>
                </a:solidFill>
              </a:rPr>
              <a:t>, </a:t>
            </a:r>
            <a:r>
              <a:rPr lang="en-US" altLang="en-US" i="1" dirty="0">
                <a:solidFill>
                  <a:schemeClr val="tx1"/>
                </a:solidFill>
              </a:rPr>
              <a:t>ARIN</a:t>
            </a:r>
            <a:r>
              <a:rPr lang="en-US" altLang="en-US" dirty="0">
                <a:solidFill>
                  <a:schemeClr val="tx1"/>
                </a:solidFill>
              </a:rPr>
              <a:t>, </a:t>
            </a:r>
            <a:r>
              <a:rPr lang="en-US" altLang="en-US" i="1" dirty="0">
                <a:solidFill>
                  <a:schemeClr val="tx1"/>
                </a:solidFill>
              </a:rPr>
              <a:t>HCI</a:t>
            </a:r>
            <a:r>
              <a:rPr lang="en-US" altLang="en-US" dirty="0">
                <a:solidFill>
                  <a:schemeClr val="tx1"/>
                </a:solidFill>
              </a:rPr>
              <a:t>, </a:t>
            </a:r>
            <a:r>
              <a:rPr lang="en-US" altLang="en-US" i="1" dirty="0">
                <a:solidFill>
                  <a:schemeClr val="tx1"/>
                </a:solidFill>
              </a:rPr>
              <a:t>CSA </a:t>
            </a:r>
            <a:r>
              <a:rPr lang="en-US" altLang="en-US" dirty="0">
                <a:solidFill>
                  <a:schemeClr val="tx1"/>
                </a:solidFill>
              </a:rPr>
              <a:t>and </a:t>
            </a:r>
            <a:r>
              <a:rPr lang="en-US" altLang="en-US" i="1" dirty="0">
                <a:solidFill>
                  <a:schemeClr val="tx1"/>
                </a:solidFill>
              </a:rPr>
              <a:t>Project</a:t>
            </a:r>
            <a:r>
              <a:rPr lang="en-US" altLang="en-US" dirty="0">
                <a:solidFill>
                  <a:schemeClr val="tx1"/>
                </a:solidFill>
              </a:rPr>
              <a:t>.</a:t>
            </a:r>
          </a:p>
          <a:p>
            <a:pPr lvl="1" eaLnBrk="1" hangingPunct="1">
              <a:buFont typeface="Arial" panose="020B0604020202020204" pitchFamily="34" charset="0"/>
              <a:buChar char="•"/>
            </a:pPr>
            <a:r>
              <a:rPr lang="en-US" altLang="en-US" i="1" dirty="0" err="1">
                <a:solidFill>
                  <a:schemeClr val="tx1"/>
                </a:solidFill>
              </a:rPr>
              <a:t>takelast</a:t>
            </a:r>
            <a:r>
              <a:rPr lang="en-US" altLang="en-US" i="1" dirty="0">
                <a:solidFill>
                  <a:schemeClr val="tx1"/>
                </a:solidFill>
              </a:rPr>
              <a:t> </a:t>
            </a:r>
            <a:r>
              <a:rPr lang="en-US" altLang="en-US" dirty="0">
                <a:solidFill>
                  <a:schemeClr val="tx1"/>
                </a:solidFill>
              </a:rPr>
              <a:t>– as for </a:t>
            </a:r>
            <a:r>
              <a:rPr lang="en-US" altLang="en-US" i="1" dirty="0" err="1">
                <a:solidFill>
                  <a:schemeClr val="tx1"/>
                </a:solidFill>
              </a:rPr>
              <a:t>takefirst</a:t>
            </a:r>
            <a:r>
              <a:rPr lang="en-US" altLang="en-US" dirty="0">
                <a:solidFill>
                  <a:schemeClr val="tx1"/>
                </a:solidFill>
              </a:rPr>
              <a:t>, but working from right to left, e.g. for the </a:t>
            </a:r>
            <a:r>
              <a:rPr lang="en-US" altLang="en-US" i="1" dirty="0">
                <a:solidFill>
                  <a:schemeClr val="tx1"/>
                </a:solidFill>
              </a:rPr>
              <a:t>degrees </a:t>
            </a:r>
            <a:r>
              <a:rPr lang="en-US" altLang="en-US" dirty="0">
                <a:solidFill>
                  <a:schemeClr val="tx1"/>
                </a:solidFill>
              </a:rPr>
              <a:t>training set in the order </a:t>
            </a:r>
            <a:r>
              <a:rPr lang="en-US" altLang="en-US" i="1" dirty="0">
                <a:solidFill>
                  <a:schemeClr val="tx1"/>
                </a:solidFill>
              </a:rPr>
              <a:t>Project</a:t>
            </a:r>
            <a:r>
              <a:rPr lang="en-US" altLang="en-US" dirty="0">
                <a:solidFill>
                  <a:schemeClr val="tx1"/>
                </a:solidFill>
              </a:rPr>
              <a:t>, </a:t>
            </a:r>
            <a:r>
              <a:rPr lang="en-US" altLang="en-US" i="1" dirty="0">
                <a:solidFill>
                  <a:schemeClr val="tx1"/>
                </a:solidFill>
              </a:rPr>
              <a:t>CSA</a:t>
            </a:r>
            <a:r>
              <a:rPr lang="en-US" altLang="en-US" dirty="0">
                <a:solidFill>
                  <a:schemeClr val="tx1"/>
                </a:solidFill>
              </a:rPr>
              <a:t>, </a:t>
            </a:r>
            <a:r>
              <a:rPr lang="en-US" altLang="en-US" i="1" dirty="0">
                <a:solidFill>
                  <a:schemeClr val="tx1"/>
                </a:solidFill>
              </a:rPr>
              <a:t>HCI</a:t>
            </a:r>
            <a:r>
              <a:rPr lang="en-US" altLang="en-US" dirty="0">
                <a:solidFill>
                  <a:schemeClr val="tx1"/>
                </a:solidFill>
              </a:rPr>
              <a:t>, </a:t>
            </a:r>
            <a:r>
              <a:rPr lang="en-US" altLang="en-US" i="1" dirty="0">
                <a:solidFill>
                  <a:schemeClr val="tx1"/>
                </a:solidFill>
              </a:rPr>
              <a:t>ARIN </a:t>
            </a:r>
            <a:r>
              <a:rPr lang="en-US" altLang="en-US" dirty="0">
                <a:solidFill>
                  <a:schemeClr val="tx1"/>
                </a:solidFill>
              </a:rPr>
              <a:t>and </a:t>
            </a:r>
            <a:r>
              <a:rPr lang="en-US" altLang="en-US" i="1" dirty="0" err="1">
                <a:solidFill>
                  <a:schemeClr val="tx1"/>
                </a:solidFill>
              </a:rPr>
              <a:t>SoftEng</a:t>
            </a:r>
            <a:r>
              <a:rPr lang="en-US" altLang="en-US" dirty="0">
                <a:solidFill>
                  <a:schemeClr val="tx1"/>
                </a:solidFill>
              </a:rPr>
              <a:t>.</a:t>
            </a:r>
          </a:p>
          <a:p>
            <a:pPr lvl="1" eaLnBrk="1" hangingPunct="1">
              <a:buFont typeface="Arial" panose="020B0604020202020204" pitchFamily="34" charset="0"/>
              <a:buChar char="•"/>
            </a:pPr>
            <a:r>
              <a:rPr lang="en-US" altLang="en-US" i="1" dirty="0">
                <a:solidFill>
                  <a:schemeClr val="tx1"/>
                </a:solidFill>
              </a:rPr>
              <a:t>random </a:t>
            </a:r>
            <a:r>
              <a:rPr lang="en-US" altLang="en-US" dirty="0">
                <a:solidFill>
                  <a:schemeClr val="tx1"/>
                </a:solidFill>
              </a:rPr>
              <a:t>–</a:t>
            </a:r>
            <a:r>
              <a:rPr lang="en-US" altLang="en-US" dirty="0"/>
              <a:t> make a random selection (with equal probability of each attribute being selected).</a:t>
            </a:r>
          </a:p>
          <a:p>
            <a:pPr algn="just" eaLnBrk="1" hangingPunct="1"/>
            <a:endParaRPr lang="en-US" altLang="en-US" dirty="0"/>
          </a:p>
          <a:p>
            <a:pPr lvl="1" algn="just" eaLnBrk="1" hangingPunct="1"/>
            <a:endParaRPr lang="en-US" altLang="en-US" dirty="0"/>
          </a:p>
          <a:p>
            <a:pPr algn="just" eaLnBrk="1" hangingPunct="1"/>
            <a:endParaRPr lang="en-US" altLang="en-US" dirty="0"/>
          </a:p>
        </p:txBody>
      </p:sp>
      <p:sp>
        <p:nvSpPr>
          <p:cNvPr id="4" name="Title 1">
            <a:extLst>
              <a:ext uri="{FF2B5EF4-FFF2-40B4-BE49-F238E27FC236}">
                <a16:creationId xmlns:a16="http://schemas.microsoft.com/office/drawing/2014/main" id="{D30480B5-9717-4EB8-BAAB-D74E571F64CF}"/>
              </a:ext>
            </a:extLst>
          </p:cNvPr>
          <p:cNvSpPr txBox="1">
            <a:spLocks/>
          </p:cNvSpPr>
          <p:nvPr/>
        </p:nvSpPr>
        <p:spPr>
          <a:xfrm>
            <a:off x="269823" y="599607"/>
            <a:ext cx="7407275" cy="692618"/>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Attribute Selection: An Experiment</a:t>
            </a:r>
            <a:endParaRPr lang="en-US" altLang="en-US" sz="3200"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2">
            <a:extLst>
              <a:ext uri="{FF2B5EF4-FFF2-40B4-BE49-F238E27FC236}">
                <a16:creationId xmlns:a16="http://schemas.microsoft.com/office/drawing/2014/main" id="{26EADE69-288B-47D6-9A1A-34B891EB526C}"/>
              </a:ext>
            </a:extLst>
          </p:cNvPr>
          <p:cNvSpPr>
            <a:spLocks noGrp="1"/>
          </p:cNvSpPr>
          <p:nvPr>
            <p:ph idx="4294967295"/>
          </p:nvPr>
        </p:nvSpPr>
        <p:spPr>
          <a:xfrm>
            <a:off x="269823" y="1588958"/>
            <a:ext cx="8544393" cy="2340769"/>
          </a:xfrm>
        </p:spPr>
        <p:txBody>
          <a:bodyPr/>
          <a:lstStyle/>
          <a:p>
            <a:pPr eaLnBrk="1" hangingPunct="1">
              <a:buFont typeface="Arial" panose="020B0604020202020204" pitchFamily="34" charset="0"/>
              <a:buChar char="•"/>
            </a:pPr>
            <a:r>
              <a:rPr lang="en-US" altLang="en-US" dirty="0"/>
              <a:t>Table below shows the results of running the TDIDT algorithm with attribute selection strategies </a:t>
            </a:r>
            <a:r>
              <a:rPr lang="en-US" altLang="en-US" i="1" dirty="0" err="1"/>
              <a:t>takefirst</a:t>
            </a:r>
            <a:r>
              <a:rPr lang="en-US" altLang="en-US" dirty="0"/>
              <a:t>, </a:t>
            </a:r>
            <a:r>
              <a:rPr lang="en-US" altLang="en-US" i="1" dirty="0" err="1"/>
              <a:t>takelast</a:t>
            </a:r>
            <a:r>
              <a:rPr lang="en-US" altLang="en-US" i="1" dirty="0"/>
              <a:t> </a:t>
            </a:r>
            <a:r>
              <a:rPr lang="en-US" altLang="en-US" dirty="0"/>
              <a:t>and </a:t>
            </a:r>
            <a:r>
              <a:rPr lang="en-US" altLang="en-US" i="1" dirty="0"/>
              <a:t>random </a:t>
            </a:r>
            <a:r>
              <a:rPr lang="en-US" altLang="en-US" dirty="0"/>
              <a:t>in turn to generate decision trees for the seven datasets </a:t>
            </a:r>
            <a:r>
              <a:rPr lang="en-US" altLang="en-US" i="1" dirty="0"/>
              <a:t>contact lenses, lens24, chess, vote, monk1, monk2 </a:t>
            </a:r>
            <a:r>
              <a:rPr lang="en-US" altLang="en-US" dirty="0"/>
              <a:t>and </a:t>
            </a:r>
            <a:r>
              <a:rPr lang="en-US" altLang="en-US" i="1" dirty="0"/>
              <a:t>monk3</a:t>
            </a:r>
            <a:r>
              <a:rPr lang="en-US" altLang="en-US" dirty="0"/>
              <a:t>.</a:t>
            </a:r>
          </a:p>
          <a:p>
            <a:pPr eaLnBrk="1" hangingPunct="1"/>
            <a:endParaRPr lang="en-US" altLang="en-US" dirty="0"/>
          </a:p>
        </p:txBody>
      </p:sp>
      <p:pic>
        <p:nvPicPr>
          <p:cNvPr id="9220" name="Picture 3">
            <a:extLst>
              <a:ext uri="{FF2B5EF4-FFF2-40B4-BE49-F238E27FC236}">
                <a16:creationId xmlns:a16="http://schemas.microsoft.com/office/drawing/2014/main" id="{B4DBD52C-E067-4C54-8D9C-06A1A078E209}"/>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62062" y="3917624"/>
            <a:ext cx="6619875" cy="2340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E1EB23B6-BB29-46E3-9FFA-B9869BE5B2E1}"/>
              </a:ext>
            </a:extLst>
          </p:cNvPr>
          <p:cNvSpPr txBox="1">
            <a:spLocks/>
          </p:cNvSpPr>
          <p:nvPr/>
        </p:nvSpPr>
        <p:spPr>
          <a:xfrm>
            <a:off x="269823" y="599607"/>
            <a:ext cx="7407275" cy="692618"/>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Attribute Selection: An Experiment</a:t>
            </a:r>
            <a:endParaRPr lang="en-US" altLang="en-US" sz="3200"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a:extLst>
              <a:ext uri="{FF2B5EF4-FFF2-40B4-BE49-F238E27FC236}">
                <a16:creationId xmlns:a16="http://schemas.microsoft.com/office/drawing/2014/main" id="{032D3D42-2E2F-4B67-BC94-E428ED3FAD59}"/>
              </a:ext>
            </a:extLst>
          </p:cNvPr>
          <p:cNvSpPr>
            <a:spLocks noGrp="1"/>
          </p:cNvSpPr>
          <p:nvPr>
            <p:ph idx="4294967295"/>
          </p:nvPr>
        </p:nvSpPr>
        <p:spPr>
          <a:xfrm>
            <a:off x="269824" y="1723870"/>
            <a:ext cx="8559384" cy="2340769"/>
          </a:xfrm>
        </p:spPr>
        <p:txBody>
          <a:bodyPr/>
          <a:lstStyle/>
          <a:p>
            <a:pPr eaLnBrk="1" hangingPunct="1">
              <a:buFont typeface="Arial" panose="020B0604020202020204" pitchFamily="34" charset="0"/>
              <a:buChar char="•"/>
            </a:pPr>
            <a:r>
              <a:rPr lang="en-US" altLang="en-US" dirty="0"/>
              <a:t>The random strategy was used five times for each dataset. In each case the value given in the table is the number of branches in the decision tree generated. The last two columns record the number of branches in the largest and the smallest of the trees generated for each of the datasets.</a:t>
            </a:r>
          </a:p>
          <a:p>
            <a:pPr algn="just" eaLnBrk="1" hangingPunct="1"/>
            <a:endParaRPr lang="en-US" altLang="en-US" dirty="0"/>
          </a:p>
          <a:p>
            <a:pPr eaLnBrk="1" hangingPunct="1"/>
            <a:endParaRPr lang="en-US" altLang="en-US" dirty="0"/>
          </a:p>
        </p:txBody>
      </p:sp>
      <p:pic>
        <p:nvPicPr>
          <p:cNvPr id="10244" name="Picture 4">
            <a:extLst>
              <a:ext uri="{FF2B5EF4-FFF2-40B4-BE49-F238E27FC236}">
                <a16:creationId xmlns:a16="http://schemas.microsoft.com/office/drawing/2014/main" id="{B94C2769-E7A3-4417-A01A-2B57F90DF28C}"/>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39578" y="4064639"/>
            <a:ext cx="6619875" cy="2340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3B412D83-E796-40FD-9525-18240E148480}"/>
              </a:ext>
            </a:extLst>
          </p:cNvPr>
          <p:cNvSpPr txBox="1">
            <a:spLocks/>
          </p:cNvSpPr>
          <p:nvPr/>
        </p:nvSpPr>
        <p:spPr>
          <a:xfrm>
            <a:off x="269823" y="599607"/>
            <a:ext cx="7407275" cy="692618"/>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Attribute Selection: An Experiment</a:t>
            </a:r>
            <a:endParaRPr lang="en-US" altLang="en-US" sz="3200"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Content Placeholder 2">
            <a:extLst>
              <a:ext uri="{FF2B5EF4-FFF2-40B4-BE49-F238E27FC236}">
                <a16:creationId xmlns:a16="http://schemas.microsoft.com/office/drawing/2014/main" id="{66CBC6D5-09B7-4BE0-95D0-0FEEC1F7BF34}"/>
              </a:ext>
            </a:extLst>
          </p:cNvPr>
          <p:cNvSpPr>
            <a:spLocks noGrp="1"/>
          </p:cNvSpPr>
          <p:nvPr>
            <p:ph idx="4294967295"/>
          </p:nvPr>
        </p:nvSpPr>
        <p:spPr>
          <a:xfrm>
            <a:off x="269823" y="1753850"/>
            <a:ext cx="8514413" cy="2340769"/>
          </a:xfrm>
        </p:spPr>
        <p:txBody>
          <a:bodyPr/>
          <a:lstStyle/>
          <a:p>
            <a:pPr eaLnBrk="1" hangingPunct="1">
              <a:buFont typeface="Arial" panose="020B0604020202020204" pitchFamily="34" charset="0"/>
              <a:buChar char="•"/>
            </a:pPr>
            <a:r>
              <a:rPr lang="en-US" altLang="en-US" dirty="0"/>
              <a:t>In all cases there is a considerable difference. This suggests that although in </a:t>
            </a:r>
            <a:r>
              <a:rPr lang="en-US" altLang="en-US" dirty="0">
                <a:solidFill>
                  <a:schemeClr val="tx1"/>
                </a:solidFill>
              </a:rPr>
              <a:t>principle the attributes can be chosen in any arbitrary way, the difference between a good choice and a bad one may be considerable.</a:t>
            </a:r>
          </a:p>
          <a:p>
            <a:pPr algn="just" eaLnBrk="1" hangingPunct="1"/>
            <a:endParaRPr lang="en-US" altLang="en-US" dirty="0"/>
          </a:p>
          <a:p>
            <a:pPr eaLnBrk="1" hangingPunct="1"/>
            <a:endParaRPr lang="en-US" altLang="en-US" dirty="0"/>
          </a:p>
        </p:txBody>
      </p:sp>
      <p:pic>
        <p:nvPicPr>
          <p:cNvPr id="11268" name="Picture 4">
            <a:extLst>
              <a:ext uri="{FF2B5EF4-FFF2-40B4-BE49-F238E27FC236}">
                <a16:creationId xmlns:a16="http://schemas.microsoft.com/office/drawing/2014/main" id="{44BB0C0C-F150-40A3-918B-D6E820D6CC7B}"/>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17091" y="3917624"/>
            <a:ext cx="6619875" cy="2340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4AB5C3BD-2A8F-43F4-9205-A55538D2A6BB}"/>
              </a:ext>
            </a:extLst>
          </p:cNvPr>
          <p:cNvSpPr txBox="1">
            <a:spLocks/>
          </p:cNvSpPr>
          <p:nvPr/>
        </p:nvSpPr>
        <p:spPr>
          <a:xfrm>
            <a:off x="269823" y="599607"/>
            <a:ext cx="7407275" cy="692618"/>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Attribute Selection: An Experiment</a:t>
            </a:r>
            <a:endParaRPr lang="en-US" altLang="en-US" sz="3200"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EABFD5E4-5BDE-469D-A312-14107FCE13C6}"/>
              </a:ext>
            </a:extLst>
          </p:cNvPr>
          <p:cNvSpPr>
            <a:spLocks noGrp="1"/>
          </p:cNvSpPr>
          <p:nvPr>
            <p:ph type="title" idx="4294967295"/>
          </p:nvPr>
        </p:nvSpPr>
        <p:spPr>
          <a:xfrm>
            <a:off x="299803" y="630239"/>
            <a:ext cx="7360172" cy="598954"/>
          </a:xfrm>
          <a:noFill/>
        </p:spPr>
        <p:txBody>
          <a:bodyPr>
            <a:normAutofit/>
          </a:bodyPr>
          <a:lstStyle/>
          <a:p>
            <a:pPr algn="l" eaLnBrk="1" hangingPunct="1"/>
            <a:r>
              <a:rPr lang="en-US" altLang="en-US" sz="3200" dirty="0">
                <a:solidFill>
                  <a:schemeClr val="tx1"/>
                </a:solidFill>
              </a:rPr>
              <a:t>The Football/Netball Example</a:t>
            </a:r>
          </a:p>
        </p:txBody>
      </p:sp>
      <p:sp>
        <p:nvSpPr>
          <p:cNvPr id="12291" name="Content Placeholder 2">
            <a:extLst>
              <a:ext uri="{FF2B5EF4-FFF2-40B4-BE49-F238E27FC236}">
                <a16:creationId xmlns:a16="http://schemas.microsoft.com/office/drawing/2014/main" id="{5978085B-AE41-43C0-95BB-2B21C822C4E0}"/>
              </a:ext>
            </a:extLst>
          </p:cNvPr>
          <p:cNvSpPr>
            <a:spLocks noGrp="1"/>
          </p:cNvSpPr>
          <p:nvPr>
            <p:ph idx="4294967295"/>
          </p:nvPr>
        </p:nvSpPr>
        <p:spPr>
          <a:xfrm>
            <a:off x="-1" y="1633929"/>
            <a:ext cx="4252913" cy="5006714"/>
          </a:xfrm>
        </p:spPr>
        <p:txBody>
          <a:bodyPr>
            <a:normAutofit/>
          </a:bodyPr>
          <a:lstStyle/>
          <a:p>
            <a:pPr eaLnBrk="1" hangingPunct="1">
              <a:buFont typeface="Arial" panose="020B0604020202020204" pitchFamily="34" charset="0"/>
              <a:buChar char="•"/>
            </a:pPr>
            <a:r>
              <a:rPr lang="en-US" altLang="en-US" dirty="0"/>
              <a:t>A fictitious university requires its students to enroll in one of its sports clubs, either the Football Club or the Netball Club. It is forbidden to join both clubs. Any student joining no club at all will be awarded an automatic failure in their degree.</a:t>
            </a:r>
          </a:p>
          <a:p>
            <a:pPr eaLnBrk="1" hangingPunct="1">
              <a:buFont typeface="Arial" panose="020B0604020202020204" pitchFamily="34" charset="0"/>
              <a:buChar char="•"/>
            </a:pPr>
            <a:r>
              <a:rPr lang="en-US" altLang="en-US" dirty="0"/>
              <a:t>What determines who joins which club?</a:t>
            </a:r>
          </a:p>
          <a:p>
            <a:pPr eaLnBrk="1" hangingPunct="1"/>
            <a:endParaRPr lang="en-US" altLang="en-US" dirty="0"/>
          </a:p>
        </p:txBody>
      </p:sp>
      <p:pic>
        <p:nvPicPr>
          <p:cNvPr id="12292" name="Picture 3">
            <a:extLst>
              <a:ext uri="{FF2B5EF4-FFF2-40B4-BE49-F238E27FC236}">
                <a16:creationId xmlns:a16="http://schemas.microsoft.com/office/drawing/2014/main" id="{72829CBF-DFD1-4B63-A7E6-E1B79A19D51B}"/>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312873" y="2400300"/>
            <a:ext cx="4693444" cy="3398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3">
            <a:extLst>
              <a:ext uri="{FF2B5EF4-FFF2-40B4-BE49-F238E27FC236}">
                <a16:creationId xmlns:a16="http://schemas.microsoft.com/office/drawing/2014/main" id="{E6877F9E-07EF-4AEF-90ED-D1429D0E5481}"/>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775598" y="2400300"/>
            <a:ext cx="418266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4">
            <a:extLst>
              <a:ext uri="{FF2B5EF4-FFF2-40B4-BE49-F238E27FC236}">
                <a16:creationId xmlns:a16="http://schemas.microsoft.com/office/drawing/2014/main" id="{CD73A7BB-4A9C-41B5-B560-6F7EA854F0B9}"/>
              </a:ext>
            </a:extLst>
          </p:cNvPr>
          <p:cNvPicPr>
            <a:picLocks noChangeAspect="1"/>
          </p:cNvPicPr>
          <p:nvPr/>
        </p:nvPicPr>
        <p:blipFill>
          <a:blip r:embed="rId4" cstate="email">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96454" y="2425304"/>
            <a:ext cx="4568428" cy="220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47A1B129-DAB0-4436-9C51-6A722742F981}"/>
              </a:ext>
            </a:extLst>
          </p:cNvPr>
          <p:cNvSpPr txBox="1">
            <a:spLocks/>
          </p:cNvSpPr>
          <p:nvPr/>
        </p:nvSpPr>
        <p:spPr>
          <a:xfrm>
            <a:off x="299803" y="630239"/>
            <a:ext cx="7360172" cy="598954"/>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The Football/Netball Example</a:t>
            </a:r>
            <a:endParaRPr lang="en-US" altLang="en-US" sz="3200"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3">
            <a:extLst>
              <a:ext uri="{FF2B5EF4-FFF2-40B4-BE49-F238E27FC236}">
                <a16:creationId xmlns:a16="http://schemas.microsoft.com/office/drawing/2014/main" id="{A184F580-AC49-4CA1-A021-0D495BCDE729}"/>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850548" y="2070520"/>
            <a:ext cx="418266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4">
            <a:extLst>
              <a:ext uri="{FF2B5EF4-FFF2-40B4-BE49-F238E27FC236}">
                <a16:creationId xmlns:a16="http://schemas.microsoft.com/office/drawing/2014/main" id="{9438ED92-E44F-4F9C-84A0-DD96BA60B844}"/>
              </a:ext>
            </a:extLst>
          </p:cNvPr>
          <p:cNvPicPr>
            <a:picLocks noChangeAspect="1"/>
          </p:cNvPicPr>
          <p:nvPr/>
        </p:nvPicPr>
        <p:blipFill>
          <a:blip r:embed="rId4" cstate="email">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81464" y="2095524"/>
            <a:ext cx="4568428" cy="220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5">
            <a:extLst>
              <a:ext uri="{FF2B5EF4-FFF2-40B4-BE49-F238E27FC236}">
                <a16:creationId xmlns:a16="http://schemas.microsoft.com/office/drawing/2014/main" id="{1E4368A5-7CB6-4035-B108-11E6910851B8}"/>
              </a:ext>
            </a:extLst>
          </p:cNvPr>
          <p:cNvPicPr>
            <a:picLocks noChangeAspect="1"/>
          </p:cNvPicPr>
          <p:nvPr/>
        </p:nvPicPr>
        <p:blipFill>
          <a:blip r:embed="rId6" cstate="email">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28725" y="4823222"/>
            <a:ext cx="2178844"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6F4FB084-ABBB-47A6-889A-6615AC63B18B}"/>
              </a:ext>
            </a:extLst>
          </p:cNvPr>
          <p:cNvSpPr txBox="1">
            <a:spLocks/>
          </p:cNvSpPr>
          <p:nvPr/>
        </p:nvSpPr>
        <p:spPr>
          <a:xfrm>
            <a:off x="299803" y="630239"/>
            <a:ext cx="7360172" cy="598954"/>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The Football/Netball Example</a:t>
            </a:r>
            <a:endParaRPr lang="en-US" altLang="en-US" sz="3200" dirty="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a:extLst>
              <a:ext uri="{FF2B5EF4-FFF2-40B4-BE49-F238E27FC236}">
                <a16:creationId xmlns:a16="http://schemas.microsoft.com/office/drawing/2014/main" id="{0D851849-A536-4827-99AE-8D873D368524}"/>
              </a:ext>
            </a:extLst>
          </p:cNvPr>
          <p:cNvSpPr>
            <a:spLocks noGrp="1"/>
          </p:cNvSpPr>
          <p:nvPr>
            <p:ph idx="4294967295"/>
          </p:nvPr>
        </p:nvSpPr>
        <p:spPr>
          <a:xfrm>
            <a:off x="299803" y="1843790"/>
            <a:ext cx="8469443" cy="4282373"/>
          </a:xfrm>
        </p:spPr>
        <p:txBody>
          <a:bodyPr>
            <a:normAutofit/>
          </a:bodyPr>
          <a:lstStyle/>
          <a:p>
            <a:pPr eaLnBrk="1" hangingPunct="1">
              <a:buFont typeface="Arial" panose="020B0604020202020204" pitchFamily="34" charset="0"/>
              <a:buChar char="•"/>
            </a:pPr>
            <a:r>
              <a:rPr lang="en-US" altLang="en-US" dirty="0"/>
              <a:t>Which one is correct?</a:t>
            </a:r>
          </a:p>
          <a:p>
            <a:pPr eaLnBrk="1" hangingPunct="1">
              <a:buFont typeface="Arial" panose="020B0604020202020204" pitchFamily="34" charset="0"/>
              <a:buChar char="•"/>
            </a:pPr>
            <a:r>
              <a:rPr lang="en-US" altLang="en-US" dirty="0"/>
              <a:t>It is best to avoid using terms such as ‘correct’ and ‘incorrect’ in this context.</a:t>
            </a:r>
          </a:p>
          <a:p>
            <a:pPr eaLnBrk="1" hangingPunct="1">
              <a:buFont typeface="Arial" panose="020B0604020202020204" pitchFamily="34" charset="0"/>
              <a:buChar char="•"/>
            </a:pPr>
            <a:r>
              <a:rPr lang="en-US" altLang="en-US" dirty="0"/>
              <a:t>All we can say is that both decision trees are compatible with the data from which they were generated.</a:t>
            </a:r>
          </a:p>
          <a:p>
            <a:pPr eaLnBrk="1" hangingPunct="1">
              <a:buFont typeface="Arial" panose="020B0604020202020204" pitchFamily="34" charset="0"/>
              <a:buChar char="•"/>
            </a:pPr>
            <a:r>
              <a:rPr lang="en-US" altLang="en-US" dirty="0"/>
              <a:t>The only way to know which one gives better results for unseen data is to use them both and compare the results.</a:t>
            </a:r>
          </a:p>
          <a:p>
            <a:pPr algn="just" eaLnBrk="1" hangingPunct="1"/>
            <a:endParaRPr lang="en-US" altLang="en-US" dirty="0"/>
          </a:p>
        </p:txBody>
      </p:sp>
      <p:sp>
        <p:nvSpPr>
          <p:cNvPr id="4" name="Title 1">
            <a:extLst>
              <a:ext uri="{FF2B5EF4-FFF2-40B4-BE49-F238E27FC236}">
                <a16:creationId xmlns:a16="http://schemas.microsoft.com/office/drawing/2014/main" id="{8811F620-3686-4B44-A18D-5A59B1EEAD8A}"/>
              </a:ext>
            </a:extLst>
          </p:cNvPr>
          <p:cNvSpPr txBox="1">
            <a:spLocks/>
          </p:cNvSpPr>
          <p:nvPr/>
        </p:nvSpPr>
        <p:spPr>
          <a:xfrm>
            <a:off x="299803" y="630239"/>
            <a:ext cx="7360172" cy="598954"/>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dirty="0">
                <a:solidFill>
                  <a:schemeClr val="tx1"/>
                </a:solidFill>
              </a:rPr>
              <a:t>The Football/Netball Example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925861E-3331-4A5B-A0EC-DB7AE698A1B1}"/>
              </a:ext>
            </a:extLst>
          </p:cNvPr>
          <p:cNvSpPr>
            <a:spLocks noGrp="1"/>
          </p:cNvSpPr>
          <p:nvPr>
            <p:ph type="title" idx="4294967295"/>
          </p:nvPr>
        </p:nvSpPr>
        <p:spPr>
          <a:xfrm>
            <a:off x="269823" y="630239"/>
            <a:ext cx="7390152" cy="658916"/>
          </a:xfrm>
          <a:noFill/>
        </p:spPr>
        <p:txBody>
          <a:bodyPr>
            <a:normAutofit/>
          </a:bodyPr>
          <a:lstStyle/>
          <a:p>
            <a:pPr algn="l" eaLnBrk="1" hangingPunct="1"/>
            <a:r>
              <a:rPr lang="en-US" altLang="en-US" sz="3200" dirty="0">
                <a:solidFill>
                  <a:schemeClr val="tx1"/>
                </a:solidFill>
              </a:rPr>
              <a:t>The </a:t>
            </a:r>
            <a:r>
              <a:rPr lang="en-US" altLang="en-US" sz="3200" i="1" dirty="0">
                <a:solidFill>
                  <a:schemeClr val="tx1"/>
                </a:solidFill>
              </a:rPr>
              <a:t>anonymous </a:t>
            </a:r>
            <a:r>
              <a:rPr lang="en-US" altLang="en-US" sz="3200" dirty="0">
                <a:solidFill>
                  <a:schemeClr val="tx1"/>
                </a:solidFill>
              </a:rPr>
              <a:t>Dataset</a:t>
            </a:r>
          </a:p>
        </p:txBody>
      </p:sp>
      <p:sp>
        <p:nvSpPr>
          <p:cNvPr id="16387" name="Content Placeholder 2">
            <a:extLst>
              <a:ext uri="{FF2B5EF4-FFF2-40B4-BE49-F238E27FC236}">
                <a16:creationId xmlns:a16="http://schemas.microsoft.com/office/drawing/2014/main" id="{156F5FCD-0749-48DF-8392-A8EB1029DABF}"/>
              </a:ext>
            </a:extLst>
          </p:cNvPr>
          <p:cNvSpPr>
            <a:spLocks noGrp="1"/>
          </p:cNvSpPr>
          <p:nvPr>
            <p:ph idx="4294967295"/>
          </p:nvPr>
        </p:nvSpPr>
        <p:spPr>
          <a:xfrm>
            <a:off x="269823" y="2214700"/>
            <a:ext cx="5396459" cy="3565785"/>
          </a:xfrm>
        </p:spPr>
        <p:txBody>
          <a:bodyPr/>
          <a:lstStyle/>
          <a:p>
            <a:pPr eaLnBrk="1" hangingPunct="1">
              <a:buFont typeface="Arial" panose="020B0604020202020204" pitchFamily="34" charset="0"/>
              <a:buChar char="•"/>
            </a:pPr>
            <a:r>
              <a:rPr lang="en-US" altLang="en-US" dirty="0"/>
              <a:t>Now consider a different dataset. Here we have a training set of 12 instances. There are four attributes, a, a2, a3 and a4, with values a11, a12 etc., and two classes c1 and c2.</a:t>
            </a:r>
          </a:p>
          <a:p>
            <a:pPr eaLnBrk="1" hangingPunct="1">
              <a:buFont typeface="Arial" panose="020B0604020202020204" pitchFamily="34" charset="0"/>
              <a:buChar char="•"/>
            </a:pPr>
            <a:r>
              <a:rPr lang="en-US" altLang="en-US" dirty="0"/>
              <a:t>One possible decision tree?</a:t>
            </a:r>
          </a:p>
          <a:p>
            <a:pPr eaLnBrk="1" hangingPunct="1"/>
            <a:endParaRPr lang="en-US" altLang="en-US" dirty="0"/>
          </a:p>
          <a:p>
            <a:pPr eaLnBrk="1" hangingPunct="1"/>
            <a:endParaRPr lang="en-US" altLang="en-US" dirty="0"/>
          </a:p>
        </p:txBody>
      </p:sp>
      <p:pic>
        <p:nvPicPr>
          <p:cNvPr id="16388" name="Picture 3">
            <a:extLst>
              <a:ext uri="{FF2B5EF4-FFF2-40B4-BE49-F238E27FC236}">
                <a16:creationId xmlns:a16="http://schemas.microsoft.com/office/drawing/2014/main" id="{8948E816-E94E-480B-B087-868CB29A73BE}"/>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966085" y="2214700"/>
            <a:ext cx="2759869" cy="3380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a:extLst>
              <a:ext uri="{FF2B5EF4-FFF2-40B4-BE49-F238E27FC236}">
                <a16:creationId xmlns:a16="http://schemas.microsoft.com/office/drawing/2014/main" id="{6CEAB52D-7388-4F0B-8193-858B9D11D465}"/>
              </a:ext>
            </a:extLst>
          </p:cNvPr>
          <p:cNvSpPr>
            <a:spLocks noGrp="1"/>
          </p:cNvSpPr>
          <p:nvPr>
            <p:ph idx="4294967295"/>
          </p:nvPr>
        </p:nvSpPr>
        <p:spPr>
          <a:xfrm>
            <a:off x="0" y="2400300"/>
            <a:ext cx="4854575" cy="3028950"/>
          </a:xfrm>
        </p:spPr>
        <p:txBody>
          <a:bodyPr/>
          <a:lstStyle/>
          <a:p>
            <a:pPr eaLnBrk="1" hangingPunct="1"/>
            <a:endParaRPr lang="en-US" altLang="en-US"/>
          </a:p>
          <a:p>
            <a:pPr eaLnBrk="1" hangingPunct="1"/>
            <a:endParaRPr lang="en-US" altLang="en-US"/>
          </a:p>
        </p:txBody>
      </p:sp>
      <p:pic>
        <p:nvPicPr>
          <p:cNvPr id="17412" name="Picture 4">
            <a:extLst>
              <a:ext uri="{FF2B5EF4-FFF2-40B4-BE49-F238E27FC236}">
                <a16:creationId xmlns:a16="http://schemas.microsoft.com/office/drawing/2014/main" id="{4D22491B-36DA-494E-923C-8E37F5245F9F}"/>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52066" y="2045493"/>
            <a:ext cx="4669631" cy="224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5">
            <a:extLst>
              <a:ext uri="{FF2B5EF4-FFF2-40B4-BE49-F238E27FC236}">
                <a16:creationId xmlns:a16="http://schemas.microsoft.com/office/drawing/2014/main" id="{CF654E5E-B75D-43B0-BC59-5E55D96ECAA5}"/>
              </a:ext>
            </a:extLst>
          </p:cNvPr>
          <p:cNvPicPr>
            <a:picLocks noChangeAspect="1"/>
          </p:cNvPicPr>
          <p:nvPr/>
        </p:nvPicPr>
        <p:blipFill>
          <a:blip r:embed="rId4" cstate="email">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024063" y="4812507"/>
            <a:ext cx="2181225" cy="969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3">
            <a:extLst>
              <a:ext uri="{FF2B5EF4-FFF2-40B4-BE49-F238E27FC236}">
                <a16:creationId xmlns:a16="http://schemas.microsoft.com/office/drawing/2014/main" id="{F1E02148-78E9-4362-9073-0885B5767136}"/>
              </a:ext>
            </a:extLst>
          </p:cNvPr>
          <p:cNvPicPr>
            <a:picLocks noChangeAspect="1"/>
          </p:cNvPicPr>
          <p:nvPr/>
        </p:nvPicPr>
        <p:blipFill>
          <a:blip r:embed="rId6" cstate="email">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788819" y="2049065"/>
            <a:ext cx="2759869" cy="3380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51D53596-1A60-4956-8B93-EBDF3A3624F2}"/>
              </a:ext>
            </a:extLst>
          </p:cNvPr>
          <p:cNvSpPr txBox="1">
            <a:spLocks/>
          </p:cNvSpPr>
          <p:nvPr/>
        </p:nvSpPr>
        <p:spPr>
          <a:xfrm>
            <a:off x="269823" y="630239"/>
            <a:ext cx="7390152" cy="658916"/>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The </a:t>
            </a:r>
            <a:r>
              <a:rPr lang="en-US" altLang="en-US" sz="3200" i="1">
                <a:solidFill>
                  <a:schemeClr val="tx1"/>
                </a:solidFill>
              </a:rPr>
              <a:t>anonymous </a:t>
            </a:r>
            <a:r>
              <a:rPr lang="en-US" altLang="en-US" sz="3200">
                <a:solidFill>
                  <a:schemeClr val="tx1"/>
                </a:solidFill>
              </a:rPr>
              <a:t>Dataset</a:t>
            </a:r>
            <a:endParaRPr lang="en-US" altLang="en-US" sz="3200"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a:extLst>
              <a:ext uri="{FF2B5EF4-FFF2-40B4-BE49-F238E27FC236}">
                <a16:creationId xmlns:a16="http://schemas.microsoft.com/office/drawing/2014/main" id="{1B74A538-AB8E-4924-8F3C-BCD0CA9110AD}"/>
              </a:ext>
            </a:extLst>
          </p:cNvPr>
          <p:cNvSpPr>
            <a:spLocks noGrp="1"/>
          </p:cNvSpPr>
          <p:nvPr>
            <p:ph idx="4294967295"/>
          </p:nvPr>
        </p:nvSpPr>
        <p:spPr>
          <a:xfrm>
            <a:off x="209863" y="1259177"/>
            <a:ext cx="8694295" cy="5478903"/>
          </a:xfrm>
        </p:spPr>
        <p:txBody>
          <a:bodyPr>
            <a:normAutofit/>
          </a:bodyPr>
          <a:lstStyle/>
          <a:p>
            <a:pPr eaLnBrk="1" hangingPunct="1">
              <a:buFont typeface="Arial" panose="020B0604020202020204" pitchFamily="34" charset="0"/>
              <a:buChar char="•"/>
            </a:pPr>
            <a:r>
              <a:rPr lang="en-US" altLang="en-US" dirty="0"/>
              <a:t>Data mining algorithms generally do not allow the use of any background knowledge the user has about the domain from which the data is drawn, such as the ‘meaning’ and relative importance of attributes, or which attributes are most or least likely, to determine the classification of an ins</a:t>
            </a:r>
          </a:p>
          <a:p>
            <a:pPr eaLnBrk="1" hangingPunct="1">
              <a:buFont typeface="Arial" panose="020B0604020202020204" pitchFamily="34" charset="0"/>
              <a:buChar char="•"/>
            </a:pPr>
            <a:r>
              <a:rPr lang="en-US" altLang="en-US" dirty="0"/>
              <a:t>It is easy to see that a decision tree involving tests on </a:t>
            </a:r>
            <a:r>
              <a:rPr lang="en-US" altLang="en-US" i="1" dirty="0" err="1"/>
              <a:t>eyecolour</a:t>
            </a:r>
            <a:r>
              <a:rPr lang="en-US" altLang="en-US" dirty="0"/>
              <a:t>, </a:t>
            </a:r>
            <a:r>
              <a:rPr lang="en-US" altLang="en-US" i="1" dirty="0" err="1"/>
              <a:t>hairlength</a:t>
            </a:r>
            <a:r>
              <a:rPr lang="en-US" altLang="en-US" i="1" dirty="0"/>
              <a:t> </a:t>
            </a:r>
            <a:r>
              <a:rPr lang="en-US" altLang="en-US" dirty="0"/>
              <a:t>etc. is meaningless when it is given in isolation, but if those attributes were part of a much larger number (possibly many thousands) in a practical application what would there be to prevent </a:t>
            </a:r>
            <a:r>
              <a:rPr lang="en-US" altLang="en-US" dirty="0">
                <a:solidFill>
                  <a:schemeClr val="tx1"/>
                </a:solidFill>
              </a:rPr>
              <a:t>meaningless decision rules from being generated?</a:t>
            </a:r>
          </a:p>
          <a:p>
            <a:pPr eaLnBrk="1" hangingPunct="1">
              <a:buFont typeface="Arial" panose="020B0604020202020204" pitchFamily="34" charset="0"/>
              <a:buChar char="•"/>
            </a:pPr>
            <a:r>
              <a:rPr lang="en-US" altLang="en-US" dirty="0">
                <a:solidFill>
                  <a:schemeClr val="tx1"/>
                </a:solidFill>
              </a:rPr>
              <a:t>The quality of the strategy used to select the attribute to split on at each stage is clearly of vital importance. </a:t>
            </a:r>
            <a:r>
              <a:rPr lang="en-US" altLang="en-US" dirty="0"/>
              <a:t>This is the topic to which we now turn.</a:t>
            </a:r>
          </a:p>
          <a:p>
            <a:pPr eaLnBrk="1" hangingPunct="1"/>
            <a:endParaRPr lang="en-US" altLang="en-US" dirty="0"/>
          </a:p>
          <a:p>
            <a:pPr eaLnBrk="1" hangingPunct="1"/>
            <a:endParaRPr lang="en-US" altLang="en-US" dirty="0"/>
          </a:p>
        </p:txBody>
      </p:sp>
      <p:sp>
        <p:nvSpPr>
          <p:cNvPr id="4" name="Title 1">
            <a:extLst>
              <a:ext uri="{FF2B5EF4-FFF2-40B4-BE49-F238E27FC236}">
                <a16:creationId xmlns:a16="http://schemas.microsoft.com/office/drawing/2014/main" id="{7CD7F892-85FA-4605-ACEE-8D06EBDA9D64}"/>
              </a:ext>
            </a:extLst>
          </p:cNvPr>
          <p:cNvSpPr txBox="1">
            <a:spLocks/>
          </p:cNvSpPr>
          <p:nvPr/>
        </p:nvSpPr>
        <p:spPr>
          <a:xfrm>
            <a:off x="269823" y="600259"/>
            <a:ext cx="7390152" cy="658916"/>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The </a:t>
            </a:r>
            <a:r>
              <a:rPr lang="en-US" altLang="en-US" sz="3200" i="1">
                <a:solidFill>
                  <a:schemeClr val="tx1"/>
                </a:solidFill>
              </a:rPr>
              <a:t>anonymous </a:t>
            </a:r>
            <a:r>
              <a:rPr lang="en-US" altLang="en-US" sz="3200">
                <a:solidFill>
                  <a:schemeClr val="tx1"/>
                </a:solidFill>
              </a:rPr>
              <a:t>Dataset</a:t>
            </a:r>
            <a:endParaRPr lang="en-US" altLang="en-US" sz="3200"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BB1FA99-DC50-4F6A-B453-5B2B2BB657E8}"/>
              </a:ext>
            </a:extLst>
          </p:cNvPr>
          <p:cNvSpPr>
            <a:spLocks noGrp="1"/>
          </p:cNvSpPr>
          <p:nvPr>
            <p:ph type="title" idx="4294967295"/>
          </p:nvPr>
        </p:nvSpPr>
        <p:spPr>
          <a:xfrm>
            <a:off x="269823" y="630239"/>
            <a:ext cx="7375162" cy="706436"/>
          </a:xfrm>
          <a:noFill/>
        </p:spPr>
        <p:txBody>
          <a:bodyPr>
            <a:normAutofit/>
          </a:bodyPr>
          <a:lstStyle/>
          <a:p>
            <a:pPr algn="l"/>
            <a:r>
              <a:rPr lang="en-US" altLang="en-US" sz="3200" dirty="0">
                <a:solidFill>
                  <a:schemeClr val="tx1"/>
                </a:solidFill>
              </a:rPr>
              <a:t>Entropy</a:t>
            </a:r>
          </a:p>
        </p:txBody>
      </p:sp>
      <p:sp>
        <p:nvSpPr>
          <p:cNvPr id="19459" name="Content Placeholder 2">
            <a:extLst>
              <a:ext uri="{FF2B5EF4-FFF2-40B4-BE49-F238E27FC236}">
                <a16:creationId xmlns:a16="http://schemas.microsoft.com/office/drawing/2014/main" id="{1C55B0A0-9E47-42A8-BEAE-D93B1A52CAC7}"/>
              </a:ext>
            </a:extLst>
          </p:cNvPr>
          <p:cNvSpPr>
            <a:spLocks noGrp="1"/>
          </p:cNvSpPr>
          <p:nvPr>
            <p:ph idx="4294967295"/>
          </p:nvPr>
        </p:nvSpPr>
        <p:spPr>
          <a:xfrm>
            <a:off x="269823" y="1828800"/>
            <a:ext cx="8694295" cy="4297363"/>
          </a:xfrm>
        </p:spPr>
        <p:txBody>
          <a:bodyPr/>
          <a:lstStyle/>
          <a:p>
            <a:pPr algn="just"/>
            <a:r>
              <a:rPr lang="en-US" altLang="en-US" dirty="0"/>
              <a:t>One commonly used method is to select the attribute that </a:t>
            </a:r>
            <a:r>
              <a:rPr lang="en-US" altLang="en-US" dirty="0" err="1"/>
              <a:t>minimises</a:t>
            </a:r>
            <a:r>
              <a:rPr lang="en-US" altLang="en-US" dirty="0"/>
              <a:t> the value of </a:t>
            </a:r>
            <a:r>
              <a:rPr lang="en-US" altLang="en-US" i="1" dirty="0"/>
              <a:t>entropy</a:t>
            </a:r>
            <a:r>
              <a:rPr lang="en-US" altLang="en-US" dirty="0"/>
              <a:t>, thus maximizing the </a:t>
            </a:r>
            <a:r>
              <a:rPr lang="en-US" altLang="en-US" i="1" dirty="0"/>
              <a:t>information gain</a:t>
            </a:r>
            <a:r>
              <a:rPr lang="en-US" altLang="en-US" dirty="0"/>
              <a:t>.</a:t>
            </a:r>
          </a:p>
        </p:txBody>
      </p:sp>
      <p:pic>
        <p:nvPicPr>
          <p:cNvPr id="2" name="Picture 1">
            <a:extLst>
              <a:ext uri="{FF2B5EF4-FFF2-40B4-BE49-F238E27FC236}">
                <a16:creationId xmlns:a16="http://schemas.microsoft.com/office/drawing/2014/main" id="{78034BAF-1A85-4121-AD8A-36DBB3D984D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121278" y="3189157"/>
            <a:ext cx="4901443" cy="269716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BD588C00-718F-4460-8CFE-CF17D11E6AC6}"/>
              </a:ext>
            </a:extLst>
          </p:cNvPr>
          <p:cNvSpPr>
            <a:spLocks noGrp="1"/>
          </p:cNvSpPr>
          <p:nvPr>
            <p:ph type="title" idx="4294967295"/>
          </p:nvPr>
        </p:nvSpPr>
        <p:spPr>
          <a:xfrm>
            <a:off x="284813" y="630238"/>
            <a:ext cx="7360172" cy="703887"/>
          </a:xfrm>
          <a:noFill/>
        </p:spPr>
        <p:txBody>
          <a:bodyPr>
            <a:normAutofit/>
          </a:bodyPr>
          <a:lstStyle/>
          <a:p>
            <a:pPr algn="l"/>
            <a:r>
              <a:rPr lang="en-US" altLang="en-US" sz="3200" dirty="0">
                <a:solidFill>
                  <a:schemeClr val="tx1"/>
                </a:solidFill>
              </a:rPr>
              <a:t>Why Entropy/Information Gain</a:t>
            </a:r>
          </a:p>
        </p:txBody>
      </p:sp>
      <p:sp>
        <p:nvSpPr>
          <p:cNvPr id="3" name="Content Placeholder 2">
            <a:extLst>
              <a:ext uri="{FF2B5EF4-FFF2-40B4-BE49-F238E27FC236}">
                <a16:creationId xmlns:a16="http://schemas.microsoft.com/office/drawing/2014/main" id="{8AEC067E-3CC6-4E82-882A-26EF753FEE23}"/>
              </a:ext>
            </a:extLst>
          </p:cNvPr>
          <p:cNvSpPr>
            <a:spLocks noGrp="1"/>
          </p:cNvSpPr>
          <p:nvPr>
            <p:ph idx="4294967295"/>
          </p:nvPr>
        </p:nvSpPr>
        <p:spPr>
          <a:xfrm>
            <a:off x="284812" y="1499016"/>
            <a:ext cx="8469443" cy="3552668"/>
          </a:xfrm>
        </p:spPr>
        <p:txBody>
          <a:bodyPr rtlCol="0">
            <a:normAutofit/>
          </a:bodyPr>
          <a:lstStyle/>
          <a:p>
            <a:pPr marL="659765" indent="-342900">
              <a:buFont typeface="Arial" panose="020B0604020202020204" pitchFamily="34" charset="0"/>
              <a:buChar char="•"/>
              <a:defRPr/>
            </a:pPr>
            <a:r>
              <a:rPr lang="en-US" sz="2000" dirty="0"/>
              <a:t>In all cases the number of rules in the decision tree generated using the ‘entropy’ method is less than or equal to the smallest number generated using any of the other attribute selection criteria introduced so far. In some cases, such as for the </a:t>
            </a:r>
            <a:r>
              <a:rPr lang="en-US" sz="2000" i="1" dirty="0"/>
              <a:t>chess </a:t>
            </a:r>
            <a:r>
              <a:rPr lang="en-US" sz="2000" dirty="0"/>
              <a:t>dataset, it is considerably fewer.</a:t>
            </a:r>
          </a:p>
          <a:p>
            <a:pPr marL="659765" indent="-342900">
              <a:buFont typeface="Arial" panose="020B0604020202020204" pitchFamily="34" charset="0"/>
              <a:buChar char="•"/>
              <a:defRPr/>
            </a:pPr>
            <a:r>
              <a:rPr lang="en-US" sz="2000" dirty="0"/>
              <a:t>There is no guarantee that using entropy will always lead to a small decision tree, but experience shows that it generally produces trees with fewer branches than other attribute selection criteria. Experience also shows that small trees tend to give more accurate predictions than large ones, although there is certainly no guarantee of infallibility.</a:t>
            </a:r>
          </a:p>
        </p:txBody>
      </p:sp>
      <p:pic>
        <p:nvPicPr>
          <p:cNvPr id="5" name="Picture 4">
            <a:extLst>
              <a:ext uri="{FF2B5EF4-FFF2-40B4-BE49-F238E27FC236}">
                <a16:creationId xmlns:a16="http://schemas.microsoft.com/office/drawing/2014/main" id="{3BBAA068-CFE5-4BDE-8370-4E755278E3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703554" y="4660597"/>
            <a:ext cx="3736891" cy="205633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4C35123-3B31-4AE8-A541-6B7799DE8AAA}"/>
              </a:ext>
            </a:extLst>
          </p:cNvPr>
          <p:cNvSpPr>
            <a:spLocks noGrp="1"/>
          </p:cNvSpPr>
          <p:nvPr>
            <p:ph type="title" idx="4294967295"/>
          </p:nvPr>
        </p:nvSpPr>
        <p:spPr>
          <a:xfrm>
            <a:off x="269823" y="630239"/>
            <a:ext cx="7405142" cy="613945"/>
          </a:xfrm>
          <a:noFill/>
        </p:spPr>
        <p:txBody>
          <a:bodyPr>
            <a:normAutofit/>
          </a:bodyPr>
          <a:lstStyle/>
          <a:p>
            <a:pPr algn="l"/>
            <a:r>
              <a:rPr lang="en-US" altLang="en-US" sz="3200" dirty="0">
                <a:solidFill>
                  <a:schemeClr val="tx1"/>
                </a:solidFill>
              </a:rPr>
              <a:t>Lens24 Dataset</a:t>
            </a:r>
          </a:p>
        </p:txBody>
      </p:sp>
      <p:sp>
        <p:nvSpPr>
          <p:cNvPr id="21507" name="Content Placeholder 2">
            <a:extLst>
              <a:ext uri="{FF2B5EF4-FFF2-40B4-BE49-F238E27FC236}">
                <a16:creationId xmlns:a16="http://schemas.microsoft.com/office/drawing/2014/main" id="{E4B80FB8-08B1-468E-B999-658F951104C5}"/>
              </a:ext>
            </a:extLst>
          </p:cNvPr>
          <p:cNvSpPr>
            <a:spLocks noGrp="1"/>
          </p:cNvSpPr>
          <p:nvPr>
            <p:ph idx="4294967295"/>
          </p:nvPr>
        </p:nvSpPr>
        <p:spPr>
          <a:xfrm>
            <a:off x="202406" y="1499016"/>
            <a:ext cx="4564466" cy="4916774"/>
          </a:xfrm>
        </p:spPr>
        <p:txBody>
          <a:bodyPr>
            <a:normAutofit/>
          </a:bodyPr>
          <a:lstStyle/>
          <a:p>
            <a:pPr>
              <a:buFont typeface="Arial" panose="020B0604020202020204" pitchFamily="34" charset="0"/>
              <a:buChar char="•"/>
            </a:pPr>
            <a:r>
              <a:rPr lang="en-US" altLang="en-US" dirty="0"/>
              <a:t>The </a:t>
            </a:r>
            <a:r>
              <a:rPr lang="en-US" altLang="en-US" i="1" dirty="0"/>
              <a:t>lens24 </a:t>
            </a:r>
            <a:r>
              <a:rPr lang="en-US" altLang="en-US" dirty="0"/>
              <a:t>dataset is Ophthalmological data about contact lenses.</a:t>
            </a:r>
          </a:p>
          <a:p>
            <a:pPr>
              <a:buFont typeface="Arial" panose="020B0604020202020204" pitchFamily="34" charset="0"/>
              <a:buChar char="•"/>
            </a:pPr>
            <a:r>
              <a:rPr lang="en-US" altLang="en-US" dirty="0"/>
              <a:t>Three classes 1, 2 and 3 - signifying respectively that the patient should be fitted with hard contact lenses, soft contact lenses or none at all</a:t>
            </a:r>
          </a:p>
        </p:txBody>
      </p:sp>
      <p:pic>
        <p:nvPicPr>
          <p:cNvPr id="2" name="Picture 1">
            <a:extLst>
              <a:ext uri="{FF2B5EF4-FFF2-40B4-BE49-F238E27FC236}">
                <a16:creationId xmlns:a16="http://schemas.microsoft.com/office/drawing/2014/main" id="{2C8ED88B-1DF5-4273-ACD0-1893F16C8DF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766872" y="1499016"/>
            <a:ext cx="4316501" cy="512663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B3360398-E427-48C4-B8F5-435BAB41E243}"/>
              </a:ext>
            </a:extLst>
          </p:cNvPr>
          <p:cNvSpPr>
            <a:spLocks noGrp="1"/>
          </p:cNvSpPr>
          <p:nvPr>
            <p:ph type="title" idx="4294967295"/>
          </p:nvPr>
        </p:nvSpPr>
        <p:spPr>
          <a:xfrm>
            <a:off x="269822" y="630239"/>
            <a:ext cx="7360171" cy="643926"/>
          </a:xfrm>
          <a:noFill/>
        </p:spPr>
        <p:txBody>
          <a:bodyPr>
            <a:normAutofit/>
          </a:bodyPr>
          <a:lstStyle/>
          <a:p>
            <a:pPr algn="l"/>
            <a:r>
              <a:rPr lang="en-US" altLang="en-US" sz="3200" dirty="0">
                <a:solidFill>
                  <a:schemeClr val="tx1"/>
                </a:solidFill>
              </a:rPr>
              <a:t>Information Gain</a:t>
            </a:r>
          </a:p>
        </p:txBody>
      </p:sp>
      <p:sp>
        <p:nvSpPr>
          <p:cNvPr id="22531" name="Content Placeholder 2">
            <a:extLst>
              <a:ext uri="{FF2B5EF4-FFF2-40B4-BE49-F238E27FC236}">
                <a16:creationId xmlns:a16="http://schemas.microsoft.com/office/drawing/2014/main" id="{2E55D598-FBCB-4BE3-8559-3825C8BC15E8}"/>
              </a:ext>
            </a:extLst>
          </p:cNvPr>
          <p:cNvSpPr>
            <a:spLocks noGrp="1"/>
          </p:cNvSpPr>
          <p:nvPr>
            <p:ph idx="4294967295"/>
          </p:nvPr>
        </p:nvSpPr>
        <p:spPr>
          <a:xfrm>
            <a:off x="269823" y="1528997"/>
            <a:ext cx="8694295" cy="4976733"/>
          </a:xfrm>
        </p:spPr>
        <p:txBody>
          <a:bodyPr>
            <a:normAutofit/>
          </a:bodyPr>
          <a:lstStyle/>
          <a:p>
            <a:pPr>
              <a:buFont typeface="Arial" panose="020B0604020202020204" pitchFamily="34" charset="0"/>
              <a:buChar char="•"/>
            </a:pPr>
            <a:r>
              <a:rPr lang="en-US" altLang="en-US" dirty="0"/>
              <a:t>Information Gain, </a:t>
            </a:r>
            <a:r>
              <a:rPr lang="en-US" altLang="en-US" i="1" dirty="0"/>
              <a:t>IG = </a:t>
            </a:r>
            <a:r>
              <a:rPr lang="en-US" altLang="en-US" i="1" dirty="0" err="1"/>
              <a:t>E</a:t>
            </a:r>
            <a:r>
              <a:rPr lang="en-US" altLang="en-US" i="1" baseline="-25000" dirty="0" err="1"/>
              <a:t>start</a:t>
            </a:r>
            <a:r>
              <a:rPr lang="en-US" altLang="en-US" i="1" dirty="0"/>
              <a:t> – </a:t>
            </a:r>
            <a:r>
              <a:rPr lang="en-US" altLang="en-US" i="1" dirty="0" err="1"/>
              <a:t>E</a:t>
            </a:r>
            <a:r>
              <a:rPr lang="en-US" altLang="en-US" i="1" baseline="-25000" dirty="0" err="1"/>
              <a:t>new</a:t>
            </a:r>
            <a:r>
              <a:rPr lang="en-US" altLang="en-US" dirty="0"/>
              <a:t> </a:t>
            </a:r>
          </a:p>
          <a:p>
            <a:pPr>
              <a:buFont typeface="Arial" panose="020B0604020202020204" pitchFamily="34" charset="0"/>
              <a:buChar char="•"/>
            </a:pPr>
            <a:r>
              <a:rPr lang="en-US" altLang="en-US" i="1" dirty="0" err="1"/>
              <a:t>E</a:t>
            </a:r>
            <a:r>
              <a:rPr lang="en-US" altLang="en-US" i="1" baseline="-25000" dirty="0" err="1"/>
              <a:t>start</a:t>
            </a:r>
            <a:r>
              <a:rPr lang="en-US" altLang="en-US" dirty="0"/>
              <a:t> entropy of the training set, It is measured in ‘bits’ of information and is defined by the formula</a:t>
            </a:r>
          </a:p>
          <a:p>
            <a:pPr>
              <a:buFont typeface="Arial" panose="020B0604020202020204" pitchFamily="34" charset="0"/>
              <a:buChar char="•"/>
            </a:pPr>
            <a:endParaRPr lang="en-US" altLang="en-US" sz="3600" dirty="0"/>
          </a:p>
          <a:p>
            <a:pPr>
              <a:buFont typeface="Arial" panose="020B0604020202020204" pitchFamily="34" charset="0"/>
              <a:buChar char="•"/>
            </a:pPr>
            <a:r>
              <a:rPr lang="en-US" altLang="en-US" i="1" dirty="0" err="1"/>
              <a:t>E</a:t>
            </a:r>
            <a:r>
              <a:rPr lang="en-US" altLang="en-US" i="1" baseline="-25000" dirty="0" err="1"/>
              <a:t>new</a:t>
            </a:r>
            <a:r>
              <a:rPr lang="en-US" altLang="en-US" dirty="0"/>
              <a:t> is calculated for each attribute</a:t>
            </a:r>
          </a:p>
          <a:p>
            <a:pPr>
              <a:buFont typeface="Arial" panose="020B0604020202020204" pitchFamily="34" charset="0"/>
              <a:buChar char="•"/>
            </a:pPr>
            <a:r>
              <a:rPr lang="en-US" altLang="en-US" dirty="0"/>
              <a:t>We get an attribute’s IG value by subtracting its </a:t>
            </a:r>
            <a:r>
              <a:rPr lang="en-US" altLang="en-US" i="1" dirty="0" err="1"/>
              <a:t>E</a:t>
            </a:r>
            <a:r>
              <a:rPr lang="en-US" altLang="en-US" i="1" baseline="-25000" dirty="0" err="1"/>
              <a:t>new</a:t>
            </a:r>
            <a:r>
              <a:rPr lang="en-US" altLang="en-US" dirty="0"/>
              <a:t> from </a:t>
            </a:r>
            <a:r>
              <a:rPr lang="en-US" altLang="en-US" i="1" dirty="0" err="1"/>
              <a:t>E</a:t>
            </a:r>
            <a:r>
              <a:rPr lang="en-US" altLang="en-US" i="1" baseline="-25000" dirty="0" err="1"/>
              <a:t>start</a:t>
            </a:r>
            <a:endParaRPr lang="en-US" altLang="en-US" dirty="0"/>
          </a:p>
          <a:p>
            <a:pPr>
              <a:buFont typeface="Arial" panose="020B0604020202020204" pitchFamily="34" charset="0"/>
              <a:buChar char="•"/>
            </a:pPr>
            <a:r>
              <a:rPr lang="en-US" altLang="en-US" dirty="0"/>
              <a:t>Attribute with highest IG value is selected</a:t>
            </a:r>
          </a:p>
          <a:p>
            <a:endParaRPr lang="en-US" altLang="en-US" dirty="0"/>
          </a:p>
        </p:txBody>
      </p:sp>
      <p:pic>
        <p:nvPicPr>
          <p:cNvPr id="22532" name="Picture 3">
            <a:extLst>
              <a:ext uri="{FF2B5EF4-FFF2-40B4-BE49-F238E27FC236}">
                <a16:creationId xmlns:a16="http://schemas.microsoft.com/office/drawing/2014/main" id="{9A767F36-8BAE-4888-AEFF-B7F5567D48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58673" y="3000736"/>
            <a:ext cx="2226654" cy="85652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D888DE9B-3A73-4C57-B88D-764A1B2BD693}"/>
              </a:ext>
            </a:extLst>
          </p:cNvPr>
          <p:cNvSpPr>
            <a:spLocks noGrp="1"/>
          </p:cNvSpPr>
          <p:nvPr>
            <p:ph type="title" idx="4294967295"/>
          </p:nvPr>
        </p:nvSpPr>
        <p:spPr>
          <a:xfrm>
            <a:off x="202406" y="630239"/>
            <a:ext cx="7472558" cy="658916"/>
          </a:xfrm>
          <a:noFill/>
        </p:spPr>
        <p:txBody>
          <a:bodyPr>
            <a:normAutofit/>
          </a:bodyPr>
          <a:lstStyle/>
          <a:p>
            <a:pPr algn="l"/>
            <a:r>
              <a:rPr lang="en-US" altLang="en-US" sz="3200" dirty="0">
                <a:solidFill>
                  <a:schemeClr val="tx1"/>
                </a:solidFill>
              </a:rPr>
              <a:t>Entropy</a:t>
            </a:r>
          </a:p>
        </p:txBody>
      </p:sp>
      <p:sp>
        <p:nvSpPr>
          <p:cNvPr id="23555" name="Content Placeholder 2">
            <a:extLst>
              <a:ext uri="{FF2B5EF4-FFF2-40B4-BE49-F238E27FC236}">
                <a16:creationId xmlns:a16="http://schemas.microsoft.com/office/drawing/2014/main" id="{3E65E802-F810-4019-9D33-D068EF18D995}"/>
              </a:ext>
            </a:extLst>
          </p:cNvPr>
          <p:cNvSpPr>
            <a:spLocks noGrp="1"/>
          </p:cNvSpPr>
          <p:nvPr>
            <p:ph idx="4294967295"/>
          </p:nvPr>
        </p:nvSpPr>
        <p:spPr>
          <a:xfrm>
            <a:off x="-1" y="1558977"/>
            <a:ext cx="5201587" cy="5126635"/>
          </a:xfrm>
        </p:spPr>
        <p:txBody>
          <a:bodyPr>
            <a:normAutofit/>
          </a:bodyPr>
          <a:lstStyle/>
          <a:p>
            <a:pPr>
              <a:buFont typeface="Arial" panose="020B0604020202020204" pitchFamily="34" charset="0"/>
              <a:buChar char="•"/>
            </a:pPr>
            <a:r>
              <a:rPr lang="en-US" altLang="en-US" dirty="0"/>
              <a:t>For the initial </a:t>
            </a:r>
            <a:r>
              <a:rPr lang="en-US" altLang="en-US" i="1" dirty="0"/>
              <a:t>lens24 </a:t>
            </a:r>
            <a:r>
              <a:rPr lang="en-US" altLang="en-US" dirty="0"/>
              <a:t>training set of 24 instances, there are 3 classes. </a:t>
            </a:r>
          </a:p>
          <a:p>
            <a:pPr>
              <a:buFont typeface="Arial" panose="020B0604020202020204" pitchFamily="34" charset="0"/>
              <a:buChar char="•"/>
            </a:pPr>
            <a:r>
              <a:rPr lang="en-US" altLang="en-US" dirty="0"/>
              <a:t>There are 4 instances with classification 1, 5 instances with classification 2 and 15 instances with classification 3. </a:t>
            </a:r>
          </a:p>
          <a:p>
            <a:pPr>
              <a:buFont typeface="Arial" panose="020B0604020202020204" pitchFamily="34" charset="0"/>
              <a:buChar char="•"/>
            </a:pPr>
            <a:r>
              <a:rPr lang="en-US" altLang="en-US" dirty="0"/>
              <a:t>So </a:t>
            </a:r>
            <a:r>
              <a:rPr lang="en-US" altLang="en-US" i="1" dirty="0"/>
              <a:t>p</a:t>
            </a:r>
            <a:r>
              <a:rPr lang="en-US" altLang="en-US" dirty="0"/>
              <a:t>1 = 4</a:t>
            </a:r>
            <a:r>
              <a:rPr lang="en-US" altLang="en-US" i="1" dirty="0"/>
              <a:t>/</a:t>
            </a:r>
            <a:r>
              <a:rPr lang="en-US" altLang="en-US" dirty="0"/>
              <a:t>24, </a:t>
            </a:r>
            <a:r>
              <a:rPr lang="en-US" altLang="en-US" i="1" dirty="0"/>
              <a:t>p</a:t>
            </a:r>
            <a:r>
              <a:rPr lang="en-US" altLang="en-US" dirty="0"/>
              <a:t>2 = 5</a:t>
            </a:r>
            <a:r>
              <a:rPr lang="en-US" altLang="en-US" i="1" dirty="0"/>
              <a:t>/</a:t>
            </a:r>
            <a:r>
              <a:rPr lang="en-US" altLang="en-US" dirty="0"/>
              <a:t>24 and </a:t>
            </a:r>
            <a:r>
              <a:rPr lang="en-US" altLang="en-US" i="1" dirty="0"/>
              <a:t>p</a:t>
            </a:r>
            <a:r>
              <a:rPr lang="en-US" altLang="en-US" dirty="0"/>
              <a:t>3 = 15</a:t>
            </a:r>
            <a:r>
              <a:rPr lang="en-US" altLang="en-US" i="1" dirty="0"/>
              <a:t>/</a:t>
            </a:r>
            <a:r>
              <a:rPr lang="en-US" altLang="en-US" dirty="0"/>
              <a:t>24.</a:t>
            </a:r>
          </a:p>
          <a:p>
            <a:pPr>
              <a:buFont typeface="Arial" panose="020B0604020202020204" pitchFamily="34" charset="0"/>
              <a:buChar char="•"/>
            </a:pPr>
            <a:r>
              <a:rPr lang="en-US" altLang="en-US" i="1" dirty="0" err="1"/>
              <a:t>E</a:t>
            </a:r>
            <a:r>
              <a:rPr lang="en-US" altLang="en-US" i="1" baseline="-25000" dirty="0" err="1"/>
              <a:t>start</a:t>
            </a:r>
            <a:r>
              <a:rPr lang="en-US" altLang="en-US" i="1" dirty="0"/>
              <a:t> </a:t>
            </a:r>
            <a:r>
              <a:rPr lang="en-US" altLang="en-US" dirty="0"/>
              <a:t>= </a:t>
            </a:r>
            <a:r>
              <a:rPr lang="en-US" altLang="en-US" i="1" dirty="0"/>
              <a:t>−</a:t>
            </a:r>
            <a:r>
              <a:rPr lang="en-US" altLang="en-US" dirty="0"/>
              <a:t>(4</a:t>
            </a:r>
            <a:r>
              <a:rPr lang="en-US" altLang="en-US" i="1" dirty="0"/>
              <a:t>/</a:t>
            </a:r>
            <a:r>
              <a:rPr lang="en-US" altLang="en-US" dirty="0"/>
              <a:t>24) log</a:t>
            </a:r>
            <a:r>
              <a:rPr lang="en-US" altLang="en-US" baseline="-25000" dirty="0"/>
              <a:t>2</a:t>
            </a:r>
            <a:r>
              <a:rPr lang="en-US" altLang="en-US" dirty="0"/>
              <a:t>(4</a:t>
            </a:r>
            <a:r>
              <a:rPr lang="en-US" altLang="en-US" i="1" dirty="0"/>
              <a:t>/</a:t>
            </a:r>
            <a:r>
              <a:rPr lang="en-US" altLang="en-US" dirty="0"/>
              <a:t>24) </a:t>
            </a:r>
            <a:r>
              <a:rPr lang="en-US" altLang="en-US" i="1" dirty="0"/>
              <a:t>− </a:t>
            </a:r>
            <a:r>
              <a:rPr lang="en-US" altLang="en-US" dirty="0"/>
              <a:t>(5</a:t>
            </a:r>
            <a:r>
              <a:rPr lang="en-US" altLang="en-US" i="1" dirty="0"/>
              <a:t>/</a:t>
            </a:r>
            <a:r>
              <a:rPr lang="en-US" altLang="en-US" dirty="0"/>
              <a:t>24) log</a:t>
            </a:r>
            <a:r>
              <a:rPr lang="en-US" altLang="en-US" baseline="-25000" dirty="0"/>
              <a:t>2</a:t>
            </a:r>
            <a:r>
              <a:rPr lang="en-US" altLang="en-US" dirty="0"/>
              <a:t>(5</a:t>
            </a:r>
            <a:r>
              <a:rPr lang="en-US" altLang="en-US" i="1" dirty="0"/>
              <a:t>/</a:t>
            </a:r>
            <a:r>
              <a:rPr lang="en-US" altLang="en-US" dirty="0"/>
              <a:t>24) </a:t>
            </a:r>
            <a:r>
              <a:rPr lang="en-US" altLang="en-US" i="1" dirty="0"/>
              <a:t>− </a:t>
            </a:r>
            <a:r>
              <a:rPr lang="en-US" altLang="en-US" dirty="0"/>
              <a:t>(15</a:t>
            </a:r>
            <a:r>
              <a:rPr lang="en-US" altLang="en-US" i="1" dirty="0"/>
              <a:t>/</a:t>
            </a:r>
            <a:r>
              <a:rPr lang="en-US" altLang="en-US" dirty="0"/>
              <a:t>24) log</a:t>
            </a:r>
            <a:r>
              <a:rPr lang="en-US" altLang="en-US" baseline="-25000" dirty="0"/>
              <a:t>2</a:t>
            </a:r>
            <a:r>
              <a:rPr lang="en-US" altLang="en-US" dirty="0"/>
              <a:t>(15</a:t>
            </a:r>
            <a:r>
              <a:rPr lang="en-US" altLang="en-US" i="1" dirty="0"/>
              <a:t>/</a:t>
            </a:r>
            <a:r>
              <a:rPr lang="en-US" altLang="en-US" dirty="0"/>
              <a:t>24)= 0</a:t>
            </a:r>
            <a:r>
              <a:rPr lang="en-US" altLang="en-US" i="1" dirty="0"/>
              <a:t>.</a:t>
            </a:r>
            <a:r>
              <a:rPr lang="en-US" altLang="en-US" dirty="0"/>
              <a:t>4308 + 0</a:t>
            </a:r>
            <a:r>
              <a:rPr lang="en-US" altLang="en-US" i="1" dirty="0"/>
              <a:t>.</a:t>
            </a:r>
            <a:r>
              <a:rPr lang="en-US" altLang="en-US" dirty="0"/>
              <a:t>4715 + 0</a:t>
            </a:r>
            <a:r>
              <a:rPr lang="en-US" altLang="en-US" i="1" dirty="0"/>
              <a:t>.</a:t>
            </a:r>
            <a:r>
              <a:rPr lang="en-US" altLang="en-US" dirty="0"/>
              <a:t>4238  = ?</a:t>
            </a:r>
          </a:p>
        </p:txBody>
      </p:sp>
      <p:pic>
        <p:nvPicPr>
          <p:cNvPr id="5" name="Picture 4">
            <a:extLst>
              <a:ext uri="{FF2B5EF4-FFF2-40B4-BE49-F238E27FC236}">
                <a16:creationId xmlns:a16="http://schemas.microsoft.com/office/drawing/2014/main" id="{B379E572-7A40-4DB8-AD3E-8C4D4CF6D97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201586" y="1598613"/>
            <a:ext cx="3897628" cy="462914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B419EAF0-50AA-4F15-AC0C-36C8C7F9AD5F}"/>
              </a:ext>
            </a:extLst>
          </p:cNvPr>
          <p:cNvSpPr>
            <a:spLocks noGrp="1"/>
          </p:cNvSpPr>
          <p:nvPr>
            <p:ph type="title" idx="4294967295"/>
          </p:nvPr>
        </p:nvSpPr>
        <p:spPr>
          <a:xfrm>
            <a:off x="269822" y="630238"/>
            <a:ext cx="7360171" cy="583965"/>
          </a:xfrm>
          <a:noFill/>
        </p:spPr>
        <p:txBody>
          <a:bodyPr>
            <a:normAutofit/>
          </a:bodyPr>
          <a:lstStyle/>
          <a:p>
            <a:pPr algn="l"/>
            <a:r>
              <a:rPr lang="en-US" altLang="en-US" sz="3200" dirty="0">
                <a:solidFill>
                  <a:schemeClr val="tx1"/>
                </a:solidFill>
              </a:rPr>
              <a:t>Select Attribute</a:t>
            </a:r>
          </a:p>
        </p:txBody>
      </p:sp>
      <p:sp>
        <p:nvSpPr>
          <p:cNvPr id="25603" name="Content Placeholder 2">
            <a:extLst>
              <a:ext uri="{FF2B5EF4-FFF2-40B4-BE49-F238E27FC236}">
                <a16:creationId xmlns:a16="http://schemas.microsoft.com/office/drawing/2014/main" id="{9211154F-4614-4987-A312-85793281DF24}"/>
              </a:ext>
            </a:extLst>
          </p:cNvPr>
          <p:cNvSpPr>
            <a:spLocks noGrp="1"/>
          </p:cNvSpPr>
          <p:nvPr>
            <p:ph idx="4294967295"/>
          </p:nvPr>
        </p:nvSpPr>
        <p:spPr>
          <a:xfrm>
            <a:off x="269823" y="1783830"/>
            <a:ext cx="8559384" cy="4721901"/>
          </a:xfrm>
        </p:spPr>
        <p:txBody>
          <a:bodyPr/>
          <a:lstStyle/>
          <a:p>
            <a:pPr>
              <a:buFont typeface="Arial" panose="020B0604020202020204" pitchFamily="34" charset="0"/>
              <a:buChar char="•"/>
            </a:pPr>
            <a:r>
              <a:rPr lang="en-US" altLang="en-US" dirty="0"/>
              <a:t>The process of decision tree generation by repeatedly splitting on attributes is equivalent to partitioning the initial training set into smaller training sets repeatedly, until the entropy of each of these subsets is zero.</a:t>
            </a:r>
          </a:p>
          <a:p>
            <a:pPr>
              <a:buFont typeface="Arial" panose="020B0604020202020204" pitchFamily="34" charset="0"/>
              <a:buChar char="•"/>
            </a:pPr>
            <a:r>
              <a:rPr lang="en-US" altLang="en-US" dirty="0"/>
              <a:t>Splitting on </a:t>
            </a:r>
            <a:r>
              <a:rPr lang="en-US" altLang="en-US" i="1" dirty="0"/>
              <a:t>any </a:t>
            </a:r>
            <a:r>
              <a:rPr lang="en-US" altLang="en-US" dirty="0"/>
              <a:t>attribute has the property that </a:t>
            </a:r>
            <a:r>
              <a:rPr lang="en-US" altLang="en-US" b="1" dirty="0"/>
              <a:t>the average entropy of the resulting subsets will be less than (or occasionally equal to) that of the previous training set</a:t>
            </a:r>
            <a:r>
              <a:rPr lang="en-US" altLang="en-US"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ED51733E-FAB2-4E32-9461-B59F31A59DCF}"/>
              </a:ext>
            </a:extLst>
          </p:cNvPr>
          <p:cNvSpPr>
            <a:spLocks noGrp="1"/>
          </p:cNvSpPr>
          <p:nvPr>
            <p:ph type="title" idx="4294967295"/>
          </p:nvPr>
        </p:nvSpPr>
        <p:spPr>
          <a:xfrm>
            <a:off x="203596" y="630238"/>
            <a:ext cx="7456378" cy="723899"/>
          </a:xfrm>
          <a:noFill/>
        </p:spPr>
        <p:txBody>
          <a:bodyPr>
            <a:normAutofit/>
          </a:bodyPr>
          <a:lstStyle/>
          <a:p>
            <a:pPr algn="l"/>
            <a:r>
              <a:rPr lang="en-US" altLang="en-US" sz="3200" dirty="0">
                <a:solidFill>
                  <a:schemeClr val="tx1"/>
                </a:solidFill>
              </a:rPr>
              <a:t>Splitting on Attribute</a:t>
            </a:r>
          </a:p>
        </p:txBody>
      </p:sp>
      <p:sp>
        <p:nvSpPr>
          <p:cNvPr id="26627" name="Content Placeholder 2">
            <a:extLst>
              <a:ext uri="{FF2B5EF4-FFF2-40B4-BE49-F238E27FC236}">
                <a16:creationId xmlns:a16="http://schemas.microsoft.com/office/drawing/2014/main" id="{3002DE34-90E9-4436-9DEB-61D7E64AF182}"/>
              </a:ext>
            </a:extLst>
          </p:cNvPr>
          <p:cNvSpPr>
            <a:spLocks noGrp="1"/>
          </p:cNvSpPr>
          <p:nvPr>
            <p:ph idx="4294967295"/>
          </p:nvPr>
        </p:nvSpPr>
        <p:spPr>
          <a:xfrm>
            <a:off x="338508" y="2400300"/>
            <a:ext cx="5147892" cy="3827462"/>
          </a:xfrm>
        </p:spPr>
        <p:txBody>
          <a:bodyPr/>
          <a:lstStyle/>
          <a:p>
            <a:pPr>
              <a:buFont typeface="Arial" panose="020B0604020202020204" pitchFamily="34" charset="0"/>
              <a:buChar char="•"/>
            </a:pPr>
            <a:r>
              <a:rPr lang="en-US" altLang="en-US" dirty="0"/>
              <a:t>For the </a:t>
            </a:r>
            <a:r>
              <a:rPr lang="en-US" altLang="en-US" i="1" dirty="0"/>
              <a:t>lens24 </a:t>
            </a:r>
            <a:r>
              <a:rPr lang="en-US" altLang="en-US" dirty="0"/>
              <a:t>training set, splitting on attribute </a:t>
            </a:r>
            <a:r>
              <a:rPr lang="en-US" altLang="en-US" i="1" dirty="0"/>
              <a:t>age </a:t>
            </a:r>
            <a:r>
              <a:rPr lang="en-US" altLang="en-US" dirty="0"/>
              <a:t>would give three subsets as shown</a:t>
            </a:r>
          </a:p>
        </p:txBody>
      </p:sp>
      <p:pic>
        <p:nvPicPr>
          <p:cNvPr id="26628" name="Picture 7">
            <a:extLst>
              <a:ext uri="{FF2B5EF4-FFF2-40B4-BE49-F238E27FC236}">
                <a16:creationId xmlns:a16="http://schemas.microsoft.com/office/drawing/2014/main" id="{1659F86E-A59A-4BC6-90DE-0E2D79347BEA}"/>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16183" y="1369127"/>
            <a:ext cx="2704495" cy="5360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95A304AA-925B-45CD-B93B-1772ECF17ED8}"/>
              </a:ext>
            </a:extLst>
          </p:cNvPr>
          <p:cNvSpPr>
            <a:spLocks noGrp="1"/>
          </p:cNvSpPr>
          <p:nvPr>
            <p:ph type="title" idx="4294967295"/>
          </p:nvPr>
        </p:nvSpPr>
        <p:spPr>
          <a:xfrm>
            <a:off x="254833" y="630239"/>
            <a:ext cx="7390152" cy="703886"/>
          </a:xfrm>
          <a:noFill/>
        </p:spPr>
        <p:txBody>
          <a:bodyPr>
            <a:normAutofit/>
          </a:bodyPr>
          <a:lstStyle/>
          <a:p>
            <a:pPr algn="l"/>
            <a:r>
              <a:rPr lang="en-US" altLang="en-US" sz="3200" dirty="0">
                <a:solidFill>
                  <a:schemeClr val="tx1"/>
                </a:solidFill>
              </a:rPr>
              <a:t>Splitting on Attribute</a:t>
            </a:r>
          </a:p>
        </p:txBody>
      </p:sp>
      <p:sp>
        <p:nvSpPr>
          <p:cNvPr id="3" name="Content Placeholder 2">
            <a:extLst>
              <a:ext uri="{FF2B5EF4-FFF2-40B4-BE49-F238E27FC236}">
                <a16:creationId xmlns:a16="http://schemas.microsoft.com/office/drawing/2014/main" id="{1BD3DF2D-975A-4266-B24E-89B708C9B754}"/>
              </a:ext>
            </a:extLst>
          </p:cNvPr>
          <p:cNvSpPr>
            <a:spLocks noGrp="1"/>
          </p:cNvSpPr>
          <p:nvPr>
            <p:ph idx="4294967295"/>
          </p:nvPr>
        </p:nvSpPr>
        <p:spPr>
          <a:xfrm>
            <a:off x="419724" y="2235408"/>
            <a:ext cx="4832350" cy="3413125"/>
          </a:xfrm>
        </p:spPr>
        <p:txBody>
          <a:bodyPr rtlCol="0">
            <a:normAutofit/>
          </a:bodyPr>
          <a:lstStyle/>
          <a:p>
            <a:pPr marL="659765" indent="-342900" algn="just">
              <a:buFont typeface="Arial" panose="020B0604020202020204" pitchFamily="34" charset="0"/>
              <a:buChar char="•"/>
              <a:defRPr/>
            </a:pPr>
            <a:r>
              <a:rPr lang="en-US" b="1" u="sng" dirty="0"/>
              <a:t>Age = 1</a:t>
            </a:r>
          </a:p>
          <a:p>
            <a:pPr marL="34290" indent="0">
              <a:buNone/>
              <a:defRPr/>
            </a:pPr>
            <a:r>
              <a:rPr lang="en-US" sz="1800" dirty="0"/>
              <a:t>Entropy </a:t>
            </a:r>
            <a:r>
              <a:rPr lang="en-US" sz="1800" i="1" dirty="0"/>
              <a:t>E1 </a:t>
            </a:r>
            <a:r>
              <a:rPr lang="en-US" sz="1800" dirty="0"/>
              <a:t>= </a:t>
            </a:r>
            <a:r>
              <a:rPr lang="en-US" sz="1800" i="1" dirty="0"/>
              <a:t>−</a:t>
            </a:r>
            <a:r>
              <a:rPr lang="en-US" sz="1800" dirty="0"/>
              <a:t>(2</a:t>
            </a:r>
            <a:r>
              <a:rPr lang="en-US" sz="1800" i="1" dirty="0"/>
              <a:t>/</a:t>
            </a:r>
            <a:r>
              <a:rPr lang="en-US" sz="1800" dirty="0"/>
              <a:t>8) log</a:t>
            </a:r>
            <a:r>
              <a:rPr lang="en-US" sz="1800" baseline="-25000" dirty="0"/>
              <a:t>2</a:t>
            </a:r>
            <a:r>
              <a:rPr lang="en-US" sz="1800" dirty="0"/>
              <a:t>(2</a:t>
            </a:r>
            <a:r>
              <a:rPr lang="en-US" sz="1800" i="1" dirty="0"/>
              <a:t>/</a:t>
            </a:r>
            <a:r>
              <a:rPr lang="en-US" sz="1800" dirty="0"/>
              <a:t>8) </a:t>
            </a:r>
            <a:r>
              <a:rPr lang="en-US" sz="1800" i="1" dirty="0"/>
              <a:t>− </a:t>
            </a:r>
            <a:r>
              <a:rPr lang="en-US" sz="1800" dirty="0"/>
              <a:t>(2</a:t>
            </a:r>
            <a:r>
              <a:rPr lang="en-US" sz="1800" i="1" dirty="0"/>
              <a:t>/</a:t>
            </a:r>
            <a:r>
              <a:rPr lang="en-US" sz="1800" dirty="0"/>
              <a:t>8) log</a:t>
            </a:r>
            <a:r>
              <a:rPr lang="en-US" sz="1800" baseline="-25000" dirty="0"/>
              <a:t>2</a:t>
            </a:r>
            <a:r>
              <a:rPr lang="en-US" sz="1800" dirty="0"/>
              <a:t>(2</a:t>
            </a:r>
            <a:r>
              <a:rPr lang="en-US" sz="1800" i="1" dirty="0"/>
              <a:t>/</a:t>
            </a:r>
            <a:r>
              <a:rPr lang="en-US" sz="1800" dirty="0"/>
              <a:t>8) </a:t>
            </a:r>
            <a:r>
              <a:rPr lang="en-US" sz="1800" i="1" dirty="0"/>
              <a:t>− </a:t>
            </a:r>
            <a:r>
              <a:rPr lang="en-US" sz="1800" dirty="0"/>
              <a:t>(4</a:t>
            </a:r>
            <a:r>
              <a:rPr lang="en-US" sz="1800" i="1" dirty="0"/>
              <a:t>/</a:t>
            </a:r>
            <a:r>
              <a:rPr lang="en-US" sz="1800" dirty="0"/>
              <a:t>8) log</a:t>
            </a:r>
            <a:r>
              <a:rPr lang="en-US" sz="1800" baseline="-25000" dirty="0"/>
              <a:t>2</a:t>
            </a:r>
            <a:r>
              <a:rPr lang="en-US" sz="1800" dirty="0"/>
              <a:t>(4</a:t>
            </a:r>
            <a:r>
              <a:rPr lang="en-US" sz="1800" i="1" dirty="0"/>
              <a:t>/</a:t>
            </a:r>
            <a:r>
              <a:rPr lang="en-US" sz="1800" dirty="0"/>
              <a:t>8) = 0</a:t>
            </a:r>
            <a:r>
              <a:rPr lang="en-US" sz="1800" i="1" dirty="0"/>
              <a:t>.</a:t>
            </a:r>
            <a:r>
              <a:rPr lang="en-US" sz="1800" dirty="0"/>
              <a:t>5 + 0</a:t>
            </a:r>
            <a:r>
              <a:rPr lang="en-US" sz="1800" i="1" dirty="0"/>
              <a:t>.</a:t>
            </a:r>
            <a:r>
              <a:rPr lang="en-US" sz="1800" dirty="0"/>
              <a:t>5 + 0</a:t>
            </a:r>
            <a:r>
              <a:rPr lang="en-US" sz="1800" i="1" dirty="0"/>
              <a:t>.</a:t>
            </a:r>
            <a:r>
              <a:rPr lang="en-US" sz="1800" dirty="0"/>
              <a:t>5 = 1</a:t>
            </a:r>
            <a:r>
              <a:rPr lang="en-US" sz="1800" i="1" dirty="0"/>
              <a:t>.</a:t>
            </a:r>
            <a:r>
              <a:rPr lang="en-US" sz="1800" dirty="0"/>
              <a:t>5</a:t>
            </a:r>
            <a:endParaRPr lang="en-US" dirty="0"/>
          </a:p>
        </p:txBody>
      </p:sp>
      <p:pic>
        <p:nvPicPr>
          <p:cNvPr id="27652" name="Picture 4">
            <a:extLst>
              <a:ext uri="{FF2B5EF4-FFF2-40B4-BE49-F238E27FC236}">
                <a16:creationId xmlns:a16="http://schemas.microsoft.com/office/drawing/2014/main" id="{4C09B14A-5136-4120-9459-0ADC1EC07C0D}"/>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97044" y="2400300"/>
            <a:ext cx="3663326" cy="2823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F0389A3A-C64A-48FD-AD69-7302603B25C8}"/>
              </a:ext>
            </a:extLst>
          </p:cNvPr>
          <p:cNvSpPr>
            <a:spLocks noGrp="1"/>
          </p:cNvSpPr>
          <p:nvPr>
            <p:ph type="title" idx="4294967295"/>
          </p:nvPr>
        </p:nvSpPr>
        <p:spPr>
          <a:xfrm>
            <a:off x="254832" y="630239"/>
            <a:ext cx="7375161" cy="658915"/>
          </a:xfrm>
          <a:noFill/>
        </p:spPr>
        <p:txBody>
          <a:bodyPr>
            <a:normAutofit/>
          </a:bodyPr>
          <a:lstStyle/>
          <a:p>
            <a:pPr algn="l"/>
            <a:r>
              <a:rPr lang="en-US" altLang="en-US" sz="3200" dirty="0">
                <a:solidFill>
                  <a:schemeClr val="tx1"/>
                </a:solidFill>
              </a:rPr>
              <a:t>Splitting on Attribute</a:t>
            </a:r>
          </a:p>
        </p:txBody>
      </p:sp>
      <p:sp>
        <p:nvSpPr>
          <p:cNvPr id="3" name="Content Placeholder 2">
            <a:extLst>
              <a:ext uri="{FF2B5EF4-FFF2-40B4-BE49-F238E27FC236}">
                <a16:creationId xmlns:a16="http://schemas.microsoft.com/office/drawing/2014/main" id="{07A15F79-1A70-4BA6-959B-4F0485EADF83}"/>
              </a:ext>
            </a:extLst>
          </p:cNvPr>
          <p:cNvSpPr>
            <a:spLocks noGrp="1"/>
          </p:cNvSpPr>
          <p:nvPr>
            <p:ph idx="4294967295"/>
          </p:nvPr>
        </p:nvSpPr>
        <p:spPr>
          <a:xfrm>
            <a:off x="254832" y="2400300"/>
            <a:ext cx="4832350" cy="3413125"/>
          </a:xfrm>
        </p:spPr>
        <p:txBody>
          <a:bodyPr rtlCol="0">
            <a:normAutofit/>
          </a:bodyPr>
          <a:lstStyle/>
          <a:p>
            <a:pPr marL="659765" indent="-342900">
              <a:buFont typeface="Arial" panose="020B0604020202020204" pitchFamily="34" charset="0"/>
              <a:buChar char="•"/>
              <a:defRPr/>
            </a:pPr>
            <a:r>
              <a:rPr lang="en-US" b="1" u="sng" dirty="0"/>
              <a:t>Age = 2</a:t>
            </a:r>
          </a:p>
          <a:p>
            <a:pPr marL="34290" indent="0">
              <a:buNone/>
              <a:defRPr/>
            </a:pPr>
            <a:r>
              <a:rPr lang="en-US" dirty="0"/>
              <a:t>Entropy </a:t>
            </a:r>
            <a:r>
              <a:rPr lang="en-US" i="1" dirty="0"/>
              <a:t>E</a:t>
            </a:r>
            <a:r>
              <a:rPr lang="en-US" dirty="0"/>
              <a:t>2 = </a:t>
            </a:r>
            <a:r>
              <a:rPr lang="en-US" i="1" dirty="0"/>
              <a:t>−</a:t>
            </a:r>
            <a:r>
              <a:rPr lang="en-US" dirty="0"/>
              <a:t>(1</a:t>
            </a:r>
            <a:r>
              <a:rPr lang="en-US" i="1" dirty="0"/>
              <a:t>/</a:t>
            </a:r>
            <a:r>
              <a:rPr lang="en-US" dirty="0"/>
              <a:t>8) log</a:t>
            </a:r>
            <a:r>
              <a:rPr lang="en-US" baseline="-25000" dirty="0"/>
              <a:t>2</a:t>
            </a:r>
            <a:r>
              <a:rPr lang="en-US" dirty="0"/>
              <a:t>(1</a:t>
            </a:r>
            <a:r>
              <a:rPr lang="en-US" i="1" dirty="0"/>
              <a:t>/</a:t>
            </a:r>
            <a:r>
              <a:rPr lang="en-US" dirty="0"/>
              <a:t>8) </a:t>
            </a:r>
            <a:r>
              <a:rPr lang="en-US" i="1" dirty="0"/>
              <a:t>− </a:t>
            </a:r>
            <a:r>
              <a:rPr lang="en-US" dirty="0"/>
              <a:t>(2</a:t>
            </a:r>
            <a:r>
              <a:rPr lang="en-US" i="1" dirty="0"/>
              <a:t>/</a:t>
            </a:r>
            <a:r>
              <a:rPr lang="en-US" dirty="0"/>
              <a:t>8) log</a:t>
            </a:r>
            <a:r>
              <a:rPr lang="en-US" baseline="-25000" dirty="0"/>
              <a:t>2</a:t>
            </a:r>
            <a:r>
              <a:rPr lang="en-US" dirty="0"/>
              <a:t>(2</a:t>
            </a:r>
            <a:r>
              <a:rPr lang="en-US" i="1" dirty="0"/>
              <a:t>/</a:t>
            </a:r>
            <a:r>
              <a:rPr lang="en-US" dirty="0"/>
              <a:t>8) </a:t>
            </a:r>
            <a:r>
              <a:rPr lang="en-US" i="1" dirty="0"/>
              <a:t>− </a:t>
            </a:r>
            <a:r>
              <a:rPr lang="en-US" dirty="0"/>
              <a:t>(5</a:t>
            </a:r>
            <a:r>
              <a:rPr lang="en-US" i="1" dirty="0"/>
              <a:t>/</a:t>
            </a:r>
            <a:r>
              <a:rPr lang="en-US" dirty="0"/>
              <a:t>8) log</a:t>
            </a:r>
            <a:r>
              <a:rPr lang="en-US" baseline="-25000" dirty="0"/>
              <a:t>2</a:t>
            </a:r>
            <a:r>
              <a:rPr lang="en-US" dirty="0"/>
              <a:t>(5</a:t>
            </a:r>
            <a:r>
              <a:rPr lang="en-US" i="1" dirty="0"/>
              <a:t>/</a:t>
            </a:r>
            <a:r>
              <a:rPr lang="en-US" dirty="0"/>
              <a:t>8) = 0</a:t>
            </a:r>
            <a:r>
              <a:rPr lang="en-US" i="1" dirty="0"/>
              <a:t>.</a:t>
            </a:r>
            <a:r>
              <a:rPr lang="en-US" dirty="0"/>
              <a:t>375 + 0</a:t>
            </a:r>
            <a:r>
              <a:rPr lang="en-US" i="1" dirty="0"/>
              <a:t>.</a:t>
            </a:r>
            <a:r>
              <a:rPr lang="en-US" dirty="0"/>
              <a:t>5 + 0</a:t>
            </a:r>
            <a:r>
              <a:rPr lang="en-US" i="1" dirty="0"/>
              <a:t>.</a:t>
            </a:r>
            <a:r>
              <a:rPr lang="en-US" dirty="0"/>
              <a:t>4238 = 1</a:t>
            </a:r>
            <a:r>
              <a:rPr lang="en-US" i="1" dirty="0"/>
              <a:t>.</a:t>
            </a:r>
            <a:r>
              <a:rPr lang="en-US" dirty="0"/>
              <a:t>2988</a:t>
            </a:r>
          </a:p>
        </p:txBody>
      </p:sp>
      <p:pic>
        <p:nvPicPr>
          <p:cNvPr id="28676" name="Picture 3">
            <a:extLst>
              <a:ext uri="{FF2B5EF4-FFF2-40B4-BE49-F238E27FC236}">
                <a16:creationId xmlns:a16="http://schemas.microsoft.com/office/drawing/2014/main" id="{66F512F2-0719-4059-B26E-DC7F4A4B1769}"/>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11678" y="2400299"/>
            <a:ext cx="3693007" cy="2846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6E0820-D691-4866-B7C3-0ACE8EE715A7}"/>
              </a:ext>
            </a:extLst>
          </p:cNvPr>
          <p:cNvSpPr>
            <a:spLocks noGrp="1"/>
          </p:cNvSpPr>
          <p:nvPr>
            <p:ph idx="4294967295"/>
          </p:nvPr>
        </p:nvSpPr>
        <p:spPr>
          <a:xfrm>
            <a:off x="241696" y="2400300"/>
            <a:ext cx="4832350" cy="3413125"/>
          </a:xfrm>
        </p:spPr>
        <p:txBody>
          <a:bodyPr rtlCol="0">
            <a:normAutofit/>
          </a:bodyPr>
          <a:lstStyle/>
          <a:p>
            <a:pPr marL="659765" indent="-342900">
              <a:buFont typeface="Arial" panose="020B0604020202020204" pitchFamily="34" charset="0"/>
              <a:buChar char="•"/>
              <a:defRPr/>
            </a:pPr>
            <a:r>
              <a:rPr lang="en-US" b="1" u="sng" dirty="0"/>
              <a:t>Age = 3</a:t>
            </a:r>
          </a:p>
          <a:p>
            <a:pPr marL="34290" indent="0">
              <a:buNone/>
              <a:defRPr/>
            </a:pPr>
            <a:r>
              <a:rPr lang="en-US" dirty="0"/>
              <a:t>Entropy </a:t>
            </a:r>
            <a:r>
              <a:rPr lang="en-US" i="1" dirty="0"/>
              <a:t>E</a:t>
            </a:r>
            <a:r>
              <a:rPr lang="en-US" dirty="0"/>
              <a:t>3 = </a:t>
            </a:r>
            <a:r>
              <a:rPr lang="en-US" i="1" dirty="0"/>
              <a:t>−</a:t>
            </a:r>
            <a:r>
              <a:rPr lang="en-US" dirty="0"/>
              <a:t>(1</a:t>
            </a:r>
            <a:r>
              <a:rPr lang="en-US" i="1" dirty="0"/>
              <a:t>/</a:t>
            </a:r>
            <a:r>
              <a:rPr lang="en-US" dirty="0"/>
              <a:t>8) log</a:t>
            </a:r>
            <a:r>
              <a:rPr lang="en-US" baseline="-25000" dirty="0"/>
              <a:t>2</a:t>
            </a:r>
            <a:r>
              <a:rPr lang="en-US" dirty="0"/>
              <a:t>(1</a:t>
            </a:r>
            <a:r>
              <a:rPr lang="en-US" i="1" dirty="0"/>
              <a:t>/</a:t>
            </a:r>
            <a:r>
              <a:rPr lang="en-US" dirty="0"/>
              <a:t>8) </a:t>
            </a:r>
            <a:r>
              <a:rPr lang="en-US" i="1" dirty="0"/>
              <a:t>− </a:t>
            </a:r>
            <a:r>
              <a:rPr lang="en-US" dirty="0"/>
              <a:t>(1</a:t>
            </a:r>
            <a:r>
              <a:rPr lang="en-US" i="1" dirty="0"/>
              <a:t>/</a:t>
            </a:r>
            <a:r>
              <a:rPr lang="en-US" dirty="0"/>
              <a:t>8) log</a:t>
            </a:r>
            <a:r>
              <a:rPr lang="en-US" baseline="-25000" dirty="0"/>
              <a:t>2</a:t>
            </a:r>
            <a:r>
              <a:rPr lang="en-US" dirty="0"/>
              <a:t>(1</a:t>
            </a:r>
            <a:r>
              <a:rPr lang="en-US" i="1" dirty="0"/>
              <a:t>/</a:t>
            </a:r>
            <a:r>
              <a:rPr lang="en-US" dirty="0"/>
              <a:t>8) </a:t>
            </a:r>
            <a:r>
              <a:rPr lang="en-US" i="1" dirty="0"/>
              <a:t>− </a:t>
            </a:r>
            <a:r>
              <a:rPr lang="en-US" dirty="0"/>
              <a:t>(6</a:t>
            </a:r>
            <a:r>
              <a:rPr lang="en-US" i="1" dirty="0"/>
              <a:t>/</a:t>
            </a:r>
            <a:r>
              <a:rPr lang="en-US" dirty="0"/>
              <a:t>8) log</a:t>
            </a:r>
            <a:r>
              <a:rPr lang="en-US" baseline="-25000" dirty="0"/>
              <a:t>2</a:t>
            </a:r>
            <a:r>
              <a:rPr lang="en-US" dirty="0"/>
              <a:t>(6</a:t>
            </a:r>
            <a:r>
              <a:rPr lang="en-US" i="1" dirty="0"/>
              <a:t>/</a:t>
            </a:r>
            <a:r>
              <a:rPr lang="en-US" dirty="0"/>
              <a:t>8) = 0</a:t>
            </a:r>
            <a:r>
              <a:rPr lang="en-US" i="1" dirty="0"/>
              <a:t>.</a:t>
            </a:r>
            <a:r>
              <a:rPr lang="en-US" dirty="0"/>
              <a:t>375 + 0</a:t>
            </a:r>
            <a:r>
              <a:rPr lang="en-US" i="1" dirty="0"/>
              <a:t>.</a:t>
            </a:r>
            <a:r>
              <a:rPr lang="en-US" dirty="0"/>
              <a:t>375 + 0</a:t>
            </a:r>
            <a:r>
              <a:rPr lang="en-US" i="1" dirty="0"/>
              <a:t>.</a:t>
            </a:r>
            <a:r>
              <a:rPr lang="en-US" dirty="0"/>
              <a:t>3113 = 1</a:t>
            </a:r>
            <a:r>
              <a:rPr lang="en-US" i="1" dirty="0"/>
              <a:t>.</a:t>
            </a:r>
            <a:r>
              <a:rPr lang="en-US" dirty="0"/>
              <a:t>0613</a:t>
            </a:r>
          </a:p>
        </p:txBody>
      </p:sp>
      <p:pic>
        <p:nvPicPr>
          <p:cNvPr id="29700" name="Picture 4">
            <a:extLst>
              <a:ext uri="{FF2B5EF4-FFF2-40B4-BE49-F238E27FC236}">
                <a16:creationId xmlns:a16="http://schemas.microsoft.com/office/drawing/2014/main" id="{77367880-120B-45C7-B6DB-099F9E0591B4}"/>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339526" y="2400300"/>
            <a:ext cx="3562778" cy="2756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B6CC1A4D-36C3-4E1B-A318-0D252F928358}"/>
              </a:ext>
            </a:extLst>
          </p:cNvPr>
          <p:cNvSpPr txBox="1">
            <a:spLocks/>
          </p:cNvSpPr>
          <p:nvPr/>
        </p:nvSpPr>
        <p:spPr>
          <a:xfrm>
            <a:off x="254832" y="630239"/>
            <a:ext cx="7375161" cy="658915"/>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Splitting on Attribute</a:t>
            </a:r>
            <a:endParaRPr lang="en-US" altLang="en-US" sz="3200"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46C10A-9F72-48AB-947C-2C9925477072}"/>
              </a:ext>
            </a:extLst>
          </p:cNvPr>
          <p:cNvSpPr>
            <a:spLocks noGrp="1"/>
          </p:cNvSpPr>
          <p:nvPr>
            <p:ph idx="4294967295"/>
          </p:nvPr>
        </p:nvSpPr>
        <p:spPr>
          <a:xfrm>
            <a:off x="254832" y="1289153"/>
            <a:ext cx="8679305" cy="5306519"/>
          </a:xfrm>
        </p:spPr>
        <p:txBody>
          <a:bodyPr rtlCol="0">
            <a:normAutofit/>
          </a:bodyPr>
          <a:lstStyle/>
          <a:p>
            <a:pPr marL="659765" indent="-342900">
              <a:buFont typeface="Arial" panose="020B0604020202020204" pitchFamily="34" charset="0"/>
              <a:buChar char="•"/>
              <a:defRPr/>
            </a:pPr>
            <a:r>
              <a:rPr lang="en-US" dirty="0"/>
              <a:t>The values </a:t>
            </a:r>
            <a:r>
              <a:rPr lang="en-US" i="1" dirty="0"/>
              <a:t>E</a:t>
            </a:r>
            <a:r>
              <a:rPr lang="en-US" dirty="0"/>
              <a:t>1, </a:t>
            </a:r>
            <a:r>
              <a:rPr lang="en-US" i="1" dirty="0"/>
              <a:t>E</a:t>
            </a:r>
            <a:r>
              <a:rPr lang="en-US" dirty="0"/>
              <a:t>2 and </a:t>
            </a:r>
            <a:r>
              <a:rPr lang="en-US" i="1" dirty="0"/>
              <a:t>E</a:t>
            </a:r>
            <a:r>
              <a:rPr lang="en-US" dirty="0"/>
              <a:t>3 need to be weighted by the proportion of the original instances in each of the three subsets. In this case all the weights are the same, i.e. 8/24.</a:t>
            </a:r>
          </a:p>
          <a:p>
            <a:pPr marL="659765" indent="-342900">
              <a:buFont typeface="Arial" panose="020B0604020202020204" pitchFamily="34" charset="0"/>
              <a:buChar char="•"/>
              <a:defRPr/>
            </a:pPr>
            <a:r>
              <a:rPr lang="en-US" i="1" dirty="0" err="1"/>
              <a:t>E</a:t>
            </a:r>
            <a:r>
              <a:rPr lang="en-US" i="1" baseline="-25000" dirty="0" err="1"/>
              <a:t>new</a:t>
            </a:r>
            <a:r>
              <a:rPr lang="en-US" i="1" dirty="0"/>
              <a:t> </a:t>
            </a:r>
            <a:r>
              <a:rPr lang="en-US" dirty="0"/>
              <a:t>= (8</a:t>
            </a:r>
            <a:r>
              <a:rPr lang="en-US" i="1" dirty="0"/>
              <a:t>/</a:t>
            </a:r>
            <a:r>
              <a:rPr lang="en-US" dirty="0"/>
              <a:t>24) </a:t>
            </a:r>
            <a:r>
              <a:rPr lang="en-US" i="1" dirty="0"/>
              <a:t>E</a:t>
            </a:r>
            <a:r>
              <a:rPr lang="en-US" dirty="0"/>
              <a:t>1+(8</a:t>
            </a:r>
            <a:r>
              <a:rPr lang="en-US" i="1" dirty="0"/>
              <a:t>/</a:t>
            </a:r>
            <a:r>
              <a:rPr lang="en-US" dirty="0"/>
              <a:t>24) </a:t>
            </a:r>
            <a:r>
              <a:rPr lang="en-US" i="1" dirty="0"/>
              <a:t>E</a:t>
            </a:r>
            <a:r>
              <a:rPr lang="en-US" dirty="0"/>
              <a:t>2+(8</a:t>
            </a:r>
            <a:r>
              <a:rPr lang="en-US" i="1" dirty="0"/>
              <a:t>/</a:t>
            </a:r>
            <a:r>
              <a:rPr lang="en-US" dirty="0"/>
              <a:t>24) </a:t>
            </a:r>
            <a:r>
              <a:rPr lang="en-US" i="1" dirty="0"/>
              <a:t>E</a:t>
            </a:r>
            <a:r>
              <a:rPr lang="en-US" dirty="0"/>
              <a:t>3 = 1</a:t>
            </a:r>
            <a:r>
              <a:rPr lang="en-US" i="1" dirty="0"/>
              <a:t>.</a:t>
            </a:r>
            <a:r>
              <a:rPr lang="en-US" dirty="0"/>
              <a:t>2867 bits (4 decimal)</a:t>
            </a:r>
          </a:p>
          <a:p>
            <a:pPr marL="659765" indent="-342900">
              <a:buFont typeface="Arial" panose="020B0604020202020204" pitchFamily="34" charset="0"/>
              <a:buChar char="•"/>
              <a:defRPr/>
            </a:pPr>
            <a:r>
              <a:rPr lang="en-US" dirty="0"/>
              <a:t>Information Gain = </a:t>
            </a:r>
            <a:r>
              <a:rPr lang="en-US" i="1" dirty="0" err="1"/>
              <a:t>E</a:t>
            </a:r>
            <a:r>
              <a:rPr lang="en-US" i="1" baseline="-25000" dirty="0" err="1"/>
              <a:t>start</a:t>
            </a:r>
            <a:r>
              <a:rPr lang="en-US" i="1" dirty="0"/>
              <a:t> − </a:t>
            </a:r>
            <a:r>
              <a:rPr lang="en-US" i="1" dirty="0" err="1"/>
              <a:t>E</a:t>
            </a:r>
            <a:r>
              <a:rPr lang="en-US" i="1" baseline="-25000" dirty="0" err="1"/>
              <a:t>new</a:t>
            </a:r>
            <a:endParaRPr lang="en-US" i="1" baseline="-25000" dirty="0"/>
          </a:p>
          <a:p>
            <a:pPr marL="659765" indent="-342900">
              <a:buFont typeface="Arial" panose="020B0604020202020204" pitchFamily="34" charset="0"/>
              <a:buChar char="•"/>
              <a:defRPr/>
            </a:pPr>
            <a:r>
              <a:rPr lang="en-US" dirty="0"/>
              <a:t>Information gain from splitting on attribute </a:t>
            </a:r>
            <a:r>
              <a:rPr lang="en-US" i="1" dirty="0"/>
              <a:t>age </a:t>
            </a:r>
            <a:r>
              <a:rPr lang="en-US" dirty="0"/>
              <a:t>is 1</a:t>
            </a:r>
            <a:r>
              <a:rPr lang="en-US" i="1" dirty="0"/>
              <a:t>.</a:t>
            </a:r>
            <a:r>
              <a:rPr lang="en-US" dirty="0"/>
              <a:t>3261 </a:t>
            </a:r>
            <a:r>
              <a:rPr lang="en-US" i="1" dirty="0"/>
              <a:t>− </a:t>
            </a:r>
            <a:r>
              <a:rPr lang="en-US" dirty="0"/>
              <a:t>1</a:t>
            </a:r>
            <a:r>
              <a:rPr lang="en-US" i="1" dirty="0"/>
              <a:t>.</a:t>
            </a:r>
            <a:r>
              <a:rPr lang="en-US" dirty="0"/>
              <a:t>2867 = 0</a:t>
            </a:r>
            <a:r>
              <a:rPr lang="en-US" i="1" dirty="0"/>
              <a:t>.</a:t>
            </a:r>
            <a:r>
              <a:rPr lang="en-US" dirty="0"/>
              <a:t>0394 bits</a:t>
            </a:r>
          </a:p>
          <a:p>
            <a:pPr marL="659765" indent="-342900">
              <a:buFont typeface="Arial" panose="020B0604020202020204" pitchFamily="34" charset="0"/>
              <a:buChar char="•"/>
              <a:defRPr/>
            </a:pPr>
            <a:r>
              <a:rPr lang="en-US" dirty="0"/>
              <a:t>The ‘entropy method’ of attribute selection is to choose to split on the attribute that gives the greatest reduction in (average) entropy, i.e. the one that </a:t>
            </a:r>
            <a:r>
              <a:rPr lang="en-US" dirty="0" err="1"/>
              <a:t>maximises</a:t>
            </a:r>
            <a:r>
              <a:rPr lang="en-US" dirty="0"/>
              <a:t> the Information Gain. This is equivalent to minimizing the value of </a:t>
            </a:r>
            <a:r>
              <a:rPr lang="en-US" i="1" dirty="0" err="1"/>
              <a:t>E</a:t>
            </a:r>
            <a:r>
              <a:rPr lang="en-US" i="1" baseline="-25000" dirty="0" err="1"/>
              <a:t>new</a:t>
            </a:r>
            <a:r>
              <a:rPr lang="en-US" i="1" dirty="0"/>
              <a:t> </a:t>
            </a:r>
            <a:r>
              <a:rPr lang="en-US" dirty="0"/>
              <a:t>as </a:t>
            </a:r>
            <a:r>
              <a:rPr lang="en-US" i="1" dirty="0" err="1"/>
              <a:t>E</a:t>
            </a:r>
            <a:r>
              <a:rPr lang="en-US" i="1" baseline="-25000" dirty="0" err="1"/>
              <a:t>start</a:t>
            </a:r>
            <a:r>
              <a:rPr lang="en-US" i="1" dirty="0"/>
              <a:t> </a:t>
            </a:r>
            <a:r>
              <a:rPr lang="en-US" dirty="0"/>
              <a:t>is fixed.</a:t>
            </a:r>
          </a:p>
        </p:txBody>
      </p:sp>
      <p:sp>
        <p:nvSpPr>
          <p:cNvPr id="4" name="Title 1">
            <a:extLst>
              <a:ext uri="{FF2B5EF4-FFF2-40B4-BE49-F238E27FC236}">
                <a16:creationId xmlns:a16="http://schemas.microsoft.com/office/drawing/2014/main" id="{3407BA2E-88F8-4A52-ACA1-9C47D10CA84F}"/>
              </a:ext>
            </a:extLst>
          </p:cNvPr>
          <p:cNvSpPr txBox="1">
            <a:spLocks/>
          </p:cNvSpPr>
          <p:nvPr/>
        </p:nvSpPr>
        <p:spPr>
          <a:xfrm>
            <a:off x="254832" y="630239"/>
            <a:ext cx="7375161" cy="658915"/>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Splitting on Attribute</a:t>
            </a:r>
            <a:endParaRPr lang="en-US" altLang="en-US" sz="3200" dirty="0">
              <a:solidFill>
                <a:schemeClr val="tx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59B04-576D-4046-B034-EF0D8FF124B4}"/>
              </a:ext>
            </a:extLst>
          </p:cNvPr>
          <p:cNvSpPr>
            <a:spLocks noGrp="1"/>
          </p:cNvSpPr>
          <p:nvPr>
            <p:ph idx="4294967295"/>
          </p:nvPr>
        </p:nvSpPr>
        <p:spPr>
          <a:xfrm>
            <a:off x="254833" y="1484026"/>
            <a:ext cx="8499424" cy="5081666"/>
          </a:xfrm>
        </p:spPr>
        <p:txBody>
          <a:bodyPr rtlCol="0">
            <a:normAutofit/>
          </a:bodyPr>
          <a:lstStyle/>
          <a:p>
            <a:pPr marL="659765" indent="-342900">
              <a:buFont typeface="Arial" panose="020B0604020202020204" pitchFamily="34" charset="0"/>
              <a:buChar char="•"/>
              <a:defRPr/>
            </a:pPr>
            <a:r>
              <a:rPr lang="en-US" b="1" u="sng" dirty="0"/>
              <a:t>attribute </a:t>
            </a:r>
            <a:r>
              <a:rPr lang="en-US" b="1" i="1" u="sng" dirty="0"/>
              <a:t>age</a:t>
            </a:r>
          </a:p>
          <a:p>
            <a:pPr marL="34290" indent="0">
              <a:buNone/>
              <a:defRPr/>
            </a:pPr>
            <a:r>
              <a:rPr lang="en-US" dirty="0" err="1"/>
              <a:t>E</a:t>
            </a:r>
            <a:r>
              <a:rPr lang="en-US" i="1" baseline="-25000" dirty="0" err="1"/>
              <a:t>new</a:t>
            </a:r>
            <a:r>
              <a:rPr lang="en-US" i="1" dirty="0"/>
              <a:t> </a:t>
            </a:r>
            <a:r>
              <a:rPr lang="en-US" dirty="0"/>
              <a:t>= 1.2867, Information Gain = 1.3261 </a:t>
            </a:r>
            <a:r>
              <a:rPr lang="en-US" i="1" dirty="0"/>
              <a:t>− </a:t>
            </a:r>
            <a:r>
              <a:rPr lang="en-US" dirty="0"/>
              <a:t>1.2867 = 0.0394 bits</a:t>
            </a:r>
          </a:p>
          <a:p>
            <a:pPr marL="659765" indent="-342900">
              <a:buFont typeface="Arial" panose="020B0604020202020204" pitchFamily="34" charset="0"/>
              <a:buChar char="•"/>
              <a:defRPr/>
            </a:pPr>
            <a:r>
              <a:rPr lang="en-US" b="1" u="sng" dirty="0"/>
              <a:t>attribute </a:t>
            </a:r>
            <a:r>
              <a:rPr lang="en-US" b="1" i="1" u="sng" dirty="0" err="1"/>
              <a:t>specRx</a:t>
            </a:r>
            <a:endParaRPr lang="en-US" b="1" i="1" u="sng" dirty="0"/>
          </a:p>
          <a:p>
            <a:pPr marL="34290" indent="0">
              <a:buNone/>
              <a:defRPr/>
            </a:pPr>
            <a:r>
              <a:rPr lang="en-US" dirty="0" err="1"/>
              <a:t>E</a:t>
            </a:r>
            <a:r>
              <a:rPr lang="en-US" i="1" baseline="-25000" dirty="0" err="1"/>
              <a:t>new</a:t>
            </a:r>
            <a:r>
              <a:rPr lang="en-US" i="1" dirty="0"/>
              <a:t> </a:t>
            </a:r>
            <a:r>
              <a:rPr lang="en-US" dirty="0"/>
              <a:t>= 1.2866, Information Gain = 1.3261 </a:t>
            </a:r>
            <a:r>
              <a:rPr lang="en-US" i="1" dirty="0"/>
              <a:t>− </a:t>
            </a:r>
            <a:r>
              <a:rPr lang="en-US" dirty="0"/>
              <a:t>1.2866 = 0.0395 bits</a:t>
            </a:r>
          </a:p>
          <a:p>
            <a:pPr marL="659765" indent="-342900">
              <a:buFont typeface="Arial" panose="020B0604020202020204" pitchFamily="34" charset="0"/>
              <a:buChar char="•"/>
              <a:defRPr/>
            </a:pPr>
            <a:r>
              <a:rPr lang="en-US" b="1" u="sng" dirty="0"/>
              <a:t>attribute </a:t>
            </a:r>
            <a:r>
              <a:rPr lang="en-US" b="1" i="1" u="sng" dirty="0" err="1"/>
              <a:t>astig</a:t>
            </a:r>
            <a:endParaRPr lang="en-US" b="1" i="1" u="sng" dirty="0"/>
          </a:p>
          <a:p>
            <a:pPr marL="34290" indent="0">
              <a:buNone/>
              <a:defRPr/>
            </a:pPr>
            <a:r>
              <a:rPr lang="en-US" dirty="0" err="1"/>
              <a:t>E</a:t>
            </a:r>
            <a:r>
              <a:rPr lang="en-US" i="1" baseline="-25000" dirty="0" err="1"/>
              <a:t>new</a:t>
            </a:r>
            <a:r>
              <a:rPr lang="en-US" i="1" dirty="0"/>
              <a:t> </a:t>
            </a:r>
            <a:r>
              <a:rPr lang="en-US" dirty="0"/>
              <a:t>= 0.9491, Information Gain = 1.3261 </a:t>
            </a:r>
            <a:r>
              <a:rPr lang="en-US" i="1" dirty="0"/>
              <a:t>− </a:t>
            </a:r>
            <a:r>
              <a:rPr lang="en-US" dirty="0"/>
              <a:t>0.9491 = 0.3770 bits</a:t>
            </a:r>
          </a:p>
          <a:p>
            <a:pPr marL="659765" indent="-342900">
              <a:buFont typeface="Arial" panose="020B0604020202020204" pitchFamily="34" charset="0"/>
              <a:buChar char="•"/>
              <a:defRPr/>
            </a:pPr>
            <a:r>
              <a:rPr lang="en-US" b="1" u="sng" dirty="0"/>
              <a:t>attribute </a:t>
            </a:r>
            <a:r>
              <a:rPr lang="en-US" b="1" i="1" u="sng" dirty="0"/>
              <a:t>tears</a:t>
            </a:r>
          </a:p>
          <a:p>
            <a:pPr marL="34290" indent="0">
              <a:buNone/>
              <a:defRPr/>
            </a:pPr>
            <a:r>
              <a:rPr lang="en-US" dirty="0" err="1"/>
              <a:t>E</a:t>
            </a:r>
            <a:r>
              <a:rPr lang="en-US" i="1" baseline="-25000" dirty="0" err="1"/>
              <a:t>new</a:t>
            </a:r>
            <a:r>
              <a:rPr lang="en-US" i="1" dirty="0"/>
              <a:t> </a:t>
            </a:r>
            <a:r>
              <a:rPr lang="en-US" dirty="0"/>
              <a:t>= 0.7773, Information Gain = 1.3261 </a:t>
            </a:r>
            <a:r>
              <a:rPr lang="en-US" i="1" dirty="0"/>
              <a:t>− </a:t>
            </a:r>
            <a:r>
              <a:rPr lang="en-US" dirty="0"/>
              <a:t>0.7773 = 0.5488 bits</a:t>
            </a:r>
          </a:p>
        </p:txBody>
      </p:sp>
      <p:sp>
        <p:nvSpPr>
          <p:cNvPr id="4" name="Title 1">
            <a:extLst>
              <a:ext uri="{FF2B5EF4-FFF2-40B4-BE49-F238E27FC236}">
                <a16:creationId xmlns:a16="http://schemas.microsoft.com/office/drawing/2014/main" id="{6A18B8C2-B992-4907-8C4B-29D189C3CAD0}"/>
              </a:ext>
            </a:extLst>
          </p:cNvPr>
          <p:cNvSpPr txBox="1">
            <a:spLocks/>
          </p:cNvSpPr>
          <p:nvPr/>
        </p:nvSpPr>
        <p:spPr>
          <a:xfrm>
            <a:off x="254832" y="630239"/>
            <a:ext cx="7375161" cy="658915"/>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Splitting on Attribute</a:t>
            </a:r>
            <a:endParaRPr lang="en-US" altLang="en-US" sz="3200"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Content Placeholder 2">
            <a:extLst>
              <a:ext uri="{FF2B5EF4-FFF2-40B4-BE49-F238E27FC236}">
                <a16:creationId xmlns:a16="http://schemas.microsoft.com/office/drawing/2014/main" id="{BE42CCAB-95A1-48A2-9498-66DFCDA27E91}"/>
              </a:ext>
            </a:extLst>
          </p:cNvPr>
          <p:cNvSpPr>
            <a:spLocks noGrp="1"/>
          </p:cNvSpPr>
          <p:nvPr>
            <p:ph idx="4294967295"/>
          </p:nvPr>
        </p:nvSpPr>
        <p:spPr>
          <a:xfrm>
            <a:off x="-2" y="1693890"/>
            <a:ext cx="5636303" cy="4533872"/>
          </a:xfrm>
        </p:spPr>
        <p:txBody>
          <a:bodyPr>
            <a:normAutofit/>
          </a:bodyPr>
          <a:lstStyle/>
          <a:p>
            <a:pPr>
              <a:buFont typeface="Arial" panose="020B0604020202020204" pitchFamily="34" charset="0"/>
              <a:buChar char="•"/>
            </a:pPr>
            <a:r>
              <a:rPr lang="en-US" altLang="en-US" dirty="0"/>
              <a:t>Thus, the </a:t>
            </a:r>
            <a:r>
              <a:rPr lang="en-US" altLang="en-US" dirty="0">
                <a:solidFill>
                  <a:schemeClr val="tx1"/>
                </a:solidFill>
              </a:rPr>
              <a:t>largest value of Information Gain (and the smallest value of the new entropy </a:t>
            </a:r>
            <a:r>
              <a:rPr lang="en-US" altLang="en-US" i="1" dirty="0" err="1">
                <a:solidFill>
                  <a:schemeClr val="tx1"/>
                </a:solidFill>
              </a:rPr>
              <a:t>E</a:t>
            </a:r>
            <a:r>
              <a:rPr lang="en-US" altLang="en-US" i="1" baseline="-25000" dirty="0" err="1">
                <a:solidFill>
                  <a:schemeClr val="tx1"/>
                </a:solidFill>
              </a:rPr>
              <a:t>new</a:t>
            </a:r>
            <a:r>
              <a:rPr lang="en-US" altLang="en-US" dirty="0">
                <a:solidFill>
                  <a:schemeClr val="tx1"/>
                </a:solidFill>
              </a:rPr>
              <a:t>) is obtained by splitting on attribute </a:t>
            </a:r>
            <a:r>
              <a:rPr lang="en-US" altLang="en-US" i="1" dirty="0">
                <a:solidFill>
                  <a:schemeClr val="tx1"/>
                </a:solidFill>
              </a:rPr>
              <a:t>tears.</a:t>
            </a:r>
          </a:p>
          <a:p>
            <a:pPr>
              <a:buFont typeface="Arial" panose="020B0604020202020204" pitchFamily="34" charset="0"/>
              <a:buChar char="•"/>
            </a:pPr>
            <a:r>
              <a:rPr lang="en-US" altLang="en-US" dirty="0"/>
              <a:t>The process of splitting on nodes is repeated for each branch of the evolving decision tree, terminating when the subset at every leaf node has entropy zero.</a:t>
            </a:r>
          </a:p>
        </p:txBody>
      </p:sp>
      <p:pic>
        <p:nvPicPr>
          <p:cNvPr id="32772" name="Picture 4">
            <a:extLst>
              <a:ext uri="{FF2B5EF4-FFF2-40B4-BE49-F238E27FC236}">
                <a16:creationId xmlns:a16="http://schemas.microsoft.com/office/drawing/2014/main" id="{1D8A60D5-5794-4AB7-9A63-0CC60F1EDD69}"/>
              </a:ext>
            </a:extLst>
          </p:cNvPr>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636301" y="2235409"/>
            <a:ext cx="3000219" cy="290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1C70B5E5-F5E2-46DF-B171-CE54677D24A0}"/>
              </a:ext>
            </a:extLst>
          </p:cNvPr>
          <p:cNvSpPr txBox="1">
            <a:spLocks/>
          </p:cNvSpPr>
          <p:nvPr/>
        </p:nvSpPr>
        <p:spPr>
          <a:xfrm>
            <a:off x="254832" y="630239"/>
            <a:ext cx="7375161" cy="658915"/>
          </a:xfrm>
          <a:prstGeom prst="rect">
            <a:avLst/>
          </a:prstGeom>
          <a:noFill/>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ltLang="en-US" sz="3200">
                <a:solidFill>
                  <a:schemeClr val="tx1"/>
                </a:solidFill>
              </a:rPr>
              <a:t>Splitting on Attribute</a:t>
            </a:r>
            <a:endParaRPr lang="en-US" altLang="en-US" sz="3200" dirty="0">
              <a:solidFill>
                <a:schemeClr val="tx1"/>
              </a:solidFill>
            </a:endParaRPr>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3738</TotalTime>
  <Words>2909</Words>
  <Application>Microsoft Office PowerPoint</Application>
  <PresentationFormat>On-screen Show (4:3)</PresentationFormat>
  <Paragraphs>173</Paragraphs>
  <Slides>48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Corbel</vt:lpstr>
      <vt:lpstr>Wingdings</vt:lpstr>
      <vt:lpstr>Spectrum</vt:lpstr>
      <vt:lpstr>Introduction to  Decision Trees for Classification</vt:lpstr>
      <vt:lpstr>Lecture Outline</vt:lpstr>
      <vt:lpstr>Introduction to Decision Trees</vt:lpstr>
      <vt:lpstr>Introduction to Decision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TDIDT Algorithm</vt:lpstr>
      <vt:lpstr>PowerPoint Presentation</vt:lpstr>
      <vt:lpstr>PowerPoint Presentation</vt:lpstr>
      <vt:lpstr>Decision Tree Induction:   Using Entropy for Attribute Selection</vt:lpstr>
      <vt:lpstr>Attribute Selection: An Experiment</vt:lpstr>
      <vt:lpstr>PowerPoint Presentation</vt:lpstr>
      <vt:lpstr>PowerPoint Presentation</vt:lpstr>
      <vt:lpstr>PowerPoint Presentation</vt:lpstr>
      <vt:lpstr>PowerPoint Presentation</vt:lpstr>
      <vt:lpstr>The Football/Netball Example</vt:lpstr>
      <vt:lpstr>PowerPoint Presentation</vt:lpstr>
      <vt:lpstr>PowerPoint Presentation</vt:lpstr>
      <vt:lpstr>PowerPoint Presentation</vt:lpstr>
      <vt:lpstr>The anonymous Dataset</vt:lpstr>
      <vt:lpstr>PowerPoint Presentation</vt:lpstr>
      <vt:lpstr>PowerPoint Presentation</vt:lpstr>
      <vt:lpstr>Entropy</vt:lpstr>
      <vt:lpstr>Why Entropy/Information Gain</vt:lpstr>
      <vt:lpstr>Lens24 Dataset</vt:lpstr>
      <vt:lpstr>Information Gain</vt:lpstr>
      <vt:lpstr>Entropy</vt:lpstr>
      <vt:lpstr>Select Attribute</vt:lpstr>
      <vt:lpstr>Splitting on Attribute</vt:lpstr>
      <vt:lpstr>Splitting on Attribute</vt:lpstr>
      <vt:lpstr>Splitting on Attribute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Decision Trees for Classification</dc:title>
  <dc:creator>A. G. M. Zaman</dc:creator>
  <cp:lastModifiedBy>Sharfuddin Mahmood</cp:lastModifiedBy>
  <cp:revision>29</cp:revision>
  <dcterms:created xsi:type="dcterms:W3CDTF">2018-12-10T17:20:29Z</dcterms:created>
  <dcterms:modified xsi:type="dcterms:W3CDTF">2025-07-26T08:37:50Z</dcterms:modified>
</cp:coreProperties>
</file>