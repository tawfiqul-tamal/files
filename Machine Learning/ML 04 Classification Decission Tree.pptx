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9" r:id="rId2"/>
    <p:sldId id="300" r:id="rId3"/>
    <p:sldId id="301" r:id="rId4"/>
    <p:sldId id="333" r:id="rId5"/>
    <p:sldId id="303" r:id="rId6"/>
    <p:sldId id="304" r:id="rId7"/>
    <p:sldId id="305" r:id="rId8"/>
    <p:sldId id="308" r:id="rId9"/>
    <p:sldId id="309" r:id="rId10"/>
    <p:sldId id="307" r:id="rId11"/>
    <p:sldId id="310" r:id="rId12"/>
    <p:sldId id="311" r:id="rId13"/>
    <p:sldId id="306" r:id="rId14"/>
    <p:sldId id="312" r:id="rId15"/>
    <p:sldId id="313" r:id="rId16"/>
    <p:sldId id="318" r:id="rId17"/>
    <p:sldId id="320" r:id="rId18"/>
    <p:sldId id="321" r:id="rId19"/>
    <p:sldId id="322" r:id="rId20"/>
    <p:sldId id="319" r:id="rId21"/>
    <p:sldId id="338" r:id="rId22"/>
    <p:sldId id="323" r:id="rId23"/>
    <p:sldId id="337" r:id="rId24"/>
    <p:sldId id="331" r:id="rId25"/>
    <p:sldId id="332" r:id="rId26"/>
    <p:sldId id="334" r:id="rId27"/>
    <p:sldId id="335" r:id="rId28"/>
    <p:sldId id="336" r:id="rId29"/>
    <p:sldId id="339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1500" y="2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2C4CB-14E1-43EC-9E25-77CFC75FDBE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a popular supervised machine learning algorithm used for both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regression tasks. They work by learning simple decision rules inferred from the data features to predict a target label.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structured as a tree where each node represents a decision based on a feature of the data, and each branch represents an outcome of that decision.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root node is the topmost node, representing the first decision.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nodes are decision points, splitting based on feature values.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nodes are the endpoints representing the final prediction or output.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graphicFrame>
        <p:nvGraphicFramePr>
          <p:cNvPr id="4" name="Object 1024"/>
          <p:cNvGraphicFramePr/>
          <p:nvPr/>
        </p:nvGraphicFramePr>
        <p:xfrm>
          <a:off x="228600" y="990600"/>
          <a:ext cx="39512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41315" imgH="4204335" progId="Excel.Sheet.8">
                  <p:embed/>
                </p:oleObj>
              </mc:Choice>
              <mc:Fallback>
                <p:oleObj name="Worksheet" r:id="rId2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3951287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022" y="3543300"/>
            <a:ext cx="6224555" cy="3462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8229600" cy="25908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 (a greedy algorithm):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is constructed in a </a:t>
            </a:r>
            <a:r>
              <a:rPr lang="en-US" sz="17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 recursive divide-and-conquer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manner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start, all the training examples are at the root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are categorical (if continuous-valued, they are discretized in advance)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are partitioned recursively based on selected attributes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attributes are selected based on a heuristic or statistical measure (e.g., </a:t>
            </a:r>
            <a:r>
              <a:rPr lang="en-US" sz="1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810000"/>
            <a:ext cx="5181600" cy="28826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ID3 (Iterative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Dichotomiser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3)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classic algorithm used to construct a Decision Tree, primarily for classification tasks. It was developed by Ross Quinlan and serves as one of the earliest algorithms in Decision Tree-based models.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 aims to create a Decision Tree by selecting the most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 feature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step that best separates the data for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does this by using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(based on entropy) as the criterion to determine the best feature to split 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Conditions for stopping partitioning: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records have the same target class (pure leaf node).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more features to split on (terminate as a leaf node).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Reaching a specified maximum depth or minimum samples threshold to prevent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Attribute Selection Measure: Information Gain</a:t>
                </a:r>
              </a:p>
              <a:p>
                <a:pPr algn="just"/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set of data instances</a:t>
                </a:r>
              </a:p>
              <a:p>
                <a:pPr algn="just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d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data instances (14)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=the probability that an arbitrary tuple in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belongs to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b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class yes is 1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den>
                      </m:f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GB" sz="1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𝑫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𝑫</m:t>
                              </m:r>
                            </m:e>
                          </m:d>
                        </m:den>
                      </m:f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Picture 225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8139023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53400" y="2119223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83183" y="34290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153400" y="41148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53400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55456" y="2424023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8139023" y="2819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33481" y="3124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39023" y="3761117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05754" y="4444042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55456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8133481" y="5105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8153400" y="5486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8167986" y="579407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Expected information (entropy) needed to classify a tuple in D:</a:t>
                </a:r>
              </a:p>
              <a:p>
                <a:pPr algn="just"/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given data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GB" sz="1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GB" sz="1800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b="1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b="1" i="1" dirty="0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𝒍𝒐𝒈</m:t>
                          </m:r>
                        </m:e>
                        <m:sub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GB" sz="1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GB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GB" sz="1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GB" sz="1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func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func>
                        <m:funcPr>
                          <m:ctrlPr>
                            <a:rPr lang="en-GB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den>
                          </m:f>
                        </m:e>
                      </m:func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=0.940</m:t>
                      </m:r>
                    </m:oMath>
                  </m:oMathPara>
                </a14:m>
                <a:endParaRPr lang="en-GB" sz="1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8139023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53400" y="2119223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83183" y="34290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53400" y="41148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153400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55456" y="2424023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39023" y="2819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8133481" y="3124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39023" y="3761117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05754" y="4444042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55456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33481" y="5105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8153400" y="5486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8167986" y="579407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4,0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=0.694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den>
                    </m:f>
                    <m:r>
                      <a:rPr lang="en-GB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“age &lt;=30” has 5 out of 14 samples, with 2 yes’es  and 3 no’s. 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8153400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8142514" y="20574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42514" y="4093029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42514" y="443048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42514" y="5116286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648200" y="1752600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648200" y="2068902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635260" y="4125686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630947" y="4430486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4630947" y="5116286"/>
            <a:ext cx="5334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4,0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2,3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=0.694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den>
                    </m:f>
                    <m:r>
                      <a:rPr lang="en-GB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“age &lt;=30” has 5 out of 14 samples, with 2 yes’es  and 3 no’s. 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236210" imgH="4045585" progId="Excel.Sheet.8">
                  <p:embed/>
                </p:oleObj>
              </mc:Choice>
              <mc:Fallback>
                <p:oleObj name="Worksheet" r:id="rId3" imgW="5236210" imgH="4045585" progId="Excel.Sheet.8">
                  <p:embed/>
                  <p:pic>
                    <p:nvPicPr>
                      <p:cNvPr id="0" name="Picture 7276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8142514" y="2438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42514" y="3788229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35325" y="5457029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35325" y="5791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4572000" y="2428336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4572000" y="3788229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572000" y="5457029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572000" y="5791200"/>
            <a:ext cx="762000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4,0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rgbClr val="00B0F0"/>
                              </a:solidFill>
                              <a:latin typeface="Cambria Math" panose="02040503050406030204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=0.694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GB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𝟏𝟒</m:t>
                        </m:r>
                      </m:den>
                    </m:f>
                    <m:r>
                      <a:rPr lang="en-GB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GB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means “age &lt;=30” has 5 out of 14 samples, with 2 yes’es  and 3 no’s. </a:t>
                </a: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Picture 829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8142514" y="2743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8142514" y="3124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8142514" y="34290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118072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24028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4572000" y="2773392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572000" y="31242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4561936" y="34290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4606712" y="4758905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4580833" y="6139132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=0.911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/>
          <p:cNvSpPr/>
          <p:nvPr/>
        </p:nvSpPr>
        <p:spPr>
          <a:xfrm>
            <a:off x="5257800" y="17526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5257800" y="21336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257800" y="24384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276491" y="57912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42514" y="17526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42514" y="2107721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42514" y="2438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42514" y="57912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=0.911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Picture 9307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5257800" y="27432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5334000" y="40386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313872" y="47244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334000" y="50292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313872" y="54102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5334000" y="6096000"/>
            <a:ext cx="762000" cy="381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42514" y="27813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8142514" y="41148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8153400" y="48006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8133478" y="5105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8133478" y="54864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63464" y="6172200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needed (after using A to split D into v partitions)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GB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GB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GB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2,2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4,2</m:t>
                          </m:r>
                        </m:e>
                      </m:d>
                      <m:r>
                        <a:rPr 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14</m:t>
                          </m:r>
                        </m:den>
                      </m:f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r>
                            <a:rPr lang="en-GB" sz="1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=0.911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Picture 1033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5257800" y="31242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5264989" y="3429000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286761" y="3788434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8142514" y="3119887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8142514" y="3463506"/>
            <a:ext cx="566058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42514" y="3759679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8109446" y="4495800"/>
            <a:ext cx="566058" cy="304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309971" y="4475672"/>
            <a:ext cx="566058" cy="3048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gained by branching on attribute A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𝑮𝒂𝒊𝒏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𝑰𝒏𝒇𝒐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=0.940−0.694=0.246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=0.940−0.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911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029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=0.151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𝑐𝑟𝑒𝑑𝑖𝑡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𝑟𝑎𝑡𝑖𝑛𝑔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=0.048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Object 102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gained by branching on attribute A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𝑮𝒂𝒊𝒏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𝑰𝒏𝒇𝒐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𝑰𝒏𝒇𝒐</m:t>
                          </m:r>
                        </m:e>
                        <m:sub>
                          <m:r>
                            <a:rPr lang="en-GB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𝑫</m:t>
                      </m:r>
                      <m:r>
                        <a:rPr lang="en-GB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𝑮𝒂𝒊𝒏</m:t>
                      </m:r>
                      <m:d>
                        <m:dPr>
                          <m:ctrlPr>
                            <a:rPr lang="en-GB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𝒂𝒈𝒆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=0.940−0.694=</m:t>
                      </m:r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GB" sz="18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𝟐𝟒𝟔</m:t>
                      </m:r>
                    </m:oMath>
                  </m:oMathPara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𝐼𝑛𝑓𝑜</m:t>
                      </m:r>
                      <m:d>
                        <m:d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𝐼𝑛𝑓𝑜</m:t>
                          </m:r>
                        </m:e>
                        <m:sub>
                          <m:r>
                            <a:rPr lang="en-GB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𝑖𝑛𝑐𝑜𝑚𝑒</m:t>
                          </m:r>
                        </m:sub>
                      </m:sSub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=0.940−0.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911</m:t>
                      </m:r>
                      <m:r>
                        <a:rPr lang="en-GB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029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Similarly,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𝑠𝑡𝑢𝑑𝑒𝑛𝑡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=0.151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𝑐𝑟𝑒𝑑𝑖𝑡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cs typeface="Times New Roman" panose="02020603050405020304" pitchFamily="18" charset="0"/>
                            </a:rPr>
                            <m:t>𝑟𝑎𝑡𝑖𝑛𝑔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/>
                          <a:cs typeface="Times New Roman" panose="02020603050405020304" pitchFamily="18" charset="0"/>
                        </a:rPr>
                        <m:t>=0.048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3951287" cy="5257800"/>
              </a:xfrm>
              <a:blipFill rotWithShape="1">
                <a:blip r:embed="rId2"/>
                <a:stretch>
                  <a:fillRect r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1024"/>
          <p:cNvGraphicFramePr/>
          <p:nvPr/>
        </p:nvGraphicFramePr>
        <p:xfrm>
          <a:off x="4637088" y="1371600"/>
          <a:ext cx="4474256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41315" imgH="4204335" progId="Excel.Sheet.8">
                  <p:embed/>
                </p:oleObj>
              </mc:Choice>
              <mc:Fallback>
                <p:oleObj name="Worksheet" r:id="rId3" imgW="5441315" imgH="4204335" progId="Excel.Sheet.8">
                  <p:embed/>
                  <p:pic>
                    <p:nvPicPr>
                      <p:cNvPr id="0" name="Picture 1135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088" y="1371600"/>
                        <a:ext cx="4474256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own Arrow 3"/>
          <p:cNvSpPr/>
          <p:nvPr/>
        </p:nvSpPr>
        <p:spPr>
          <a:xfrm>
            <a:off x="4800600" y="1012166"/>
            <a:ext cx="304800" cy="435634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4038600" cy="53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the first split is on the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6172200" y="1172812"/>
            <a:ext cx="2667000" cy="1036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Next, repeat the same process with the other nodes with smaller dataset.</a:t>
            </a: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622935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411753"/>
            <a:ext cx="2855194" cy="1447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371785"/>
            <a:ext cx="2876550" cy="1595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12817"/>
            <a:ext cx="2519063" cy="1348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3657600" cy="53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split is on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node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&lt;=30</a:t>
            </a: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57" y="2057400"/>
            <a:ext cx="853440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302528"/>
            <a:ext cx="1295400" cy="818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104126"/>
            <a:ext cx="2190750" cy="121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Subtitle 2"/>
          <p:cNvSpPr txBox="1"/>
          <p:nvPr/>
        </p:nvSpPr>
        <p:spPr>
          <a:xfrm>
            <a:off x="381000" y="5629453"/>
            <a:ext cx="2398143" cy="7801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no further split here</a:t>
            </a:r>
          </a:p>
        </p:txBody>
      </p:sp>
      <p:sp>
        <p:nvSpPr>
          <p:cNvPr id="20" name="Subtitle 2"/>
          <p:cNvSpPr txBox="1"/>
          <p:nvPr/>
        </p:nvSpPr>
        <p:spPr>
          <a:xfrm>
            <a:off x="3644661" y="5359426"/>
            <a:ext cx="2398143" cy="7801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no further split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578167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741664"/>
            <a:ext cx="2133599" cy="1348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3200400"/>
            <a:ext cx="2190750" cy="121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ubtitle 2"/>
          <p:cNvSpPr txBox="1"/>
          <p:nvPr/>
        </p:nvSpPr>
        <p:spPr>
          <a:xfrm>
            <a:off x="3644660" y="5181600"/>
            <a:ext cx="2398143" cy="7801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are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no further split here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4114800" cy="53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split is required at node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31..40</a:t>
            </a: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438400"/>
            <a:ext cx="7058025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9" y="4038600"/>
            <a:ext cx="315898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685800" y="1371600"/>
            <a:ext cx="4114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split is on 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credit_rating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node 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&gt;40 </a:t>
            </a:r>
          </a:p>
          <a:p>
            <a:pPr algn="just"/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60579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648200"/>
            <a:ext cx="2895599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529137"/>
            <a:ext cx="2600325" cy="116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52600"/>
            <a:ext cx="623887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819400"/>
            <a:ext cx="6238875" cy="3533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762000" y="1115221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Classify a new instance</a:t>
            </a:r>
          </a:p>
          <a:p>
            <a:r>
              <a:rPr lang="en-US" dirty="0"/>
              <a:t>(</a:t>
            </a:r>
            <a:r>
              <a:rPr lang="en-US" b="1" dirty="0"/>
              <a:t>age</a:t>
            </a:r>
            <a:r>
              <a:rPr lang="en-US" dirty="0"/>
              <a:t>: &lt;=30, </a:t>
            </a:r>
            <a:r>
              <a:rPr lang="en-US" b="1" dirty="0"/>
              <a:t>income</a:t>
            </a:r>
            <a:r>
              <a:rPr lang="en-US" dirty="0"/>
              <a:t>: low, </a:t>
            </a:r>
            <a:r>
              <a:rPr lang="en-US" b="1" dirty="0"/>
              <a:t>student</a:t>
            </a:r>
            <a:r>
              <a:rPr lang="en-US" dirty="0"/>
              <a:t>: yes, </a:t>
            </a:r>
            <a:r>
              <a:rPr lang="en-US" b="1" dirty="0" err="1"/>
              <a:t>credit_rating</a:t>
            </a:r>
            <a:r>
              <a:rPr lang="en-US" dirty="0"/>
              <a:t>: fair) = </a:t>
            </a:r>
            <a:r>
              <a:rPr lang="en-US" dirty="0" err="1">
                <a:solidFill>
                  <a:srgbClr val="FF0000"/>
                </a:solidFill>
              </a:rPr>
              <a:t>buys_computer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86000" y="5105400"/>
            <a:ext cx="609600" cy="914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133600" y="2895600"/>
            <a:ext cx="1219200" cy="1295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76400"/>
            <a:ext cx="35052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133600"/>
            <a:ext cx="5065321" cy="2845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762000" y="1115221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Exercise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1581834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Code</a:t>
            </a:r>
          </a:p>
          <a:p>
            <a:r>
              <a:rPr lang="en-US" dirty="0"/>
              <a:t>https://colab.research.google.com/drive/1YsHFA55DZ5iQBNq7S11qoS-_WVYtxUYH?usp=sharing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5800" y="1371600"/>
                <a:ext cx="7467600" cy="43434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Computing Information-Gain for Continuous-Valued Attributes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attribute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 continuous-valued attribute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 determine the best split point for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value A in increasing order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Typically, the midpoint between each pair of adjacent values is considered as a possible split point</a:t>
                </a: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/>
                        <a:cs typeface="Times New Roman" panose="02020603050405020304" pitchFamily="18" charset="0"/>
                      </a:rPr>
                      <m:t>)/</m:t>
                    </m:r>
                    <m:r>
                      <a:rPr lang="en-US" sz="1800" b="1" i="1" smtClean="0">
                        <a:solidFill>
                          <a:schemeClr val="tx1"/>
                        </a:solidFill>
                        <a:latin typeface="Cambria Math" panose="02040503050406030204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midpoint between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00150" lvl="2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point with the minimum expected information requirement for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selected as the split-point for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Split: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 of tuples in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satisfying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≤ split-point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 of tuples in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satisfying </a:t>
                </a:r>
                <a:r>
                  <a:rPr lang="en-US" sz="1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&gt; split-point</a:t>
                </a:r>
              </a:p>
              <a:p>
                <a:pPr algn="just"/>
                <a:endParaRPr 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5800" y="1371600"/>
                <a:ext cx="7467600" cy="43434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Ratio for Attribute Selection (C4.5)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measure is biased towards attributes with many values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C4.5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 successor of ID3) uses gain ratio to overcome the problem (normalization to information gain)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GainRatio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= Gain(A)/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SplitInfo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gain_ratio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(income) = 0.029/1.557 = 0.019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/>
          <p:nvPr/>
        </p:nvGraphicFramePr>
        <p:xfrm>
          <a:off x="5638800" y="2438400"/>
          <a:ext cx="343217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764530" imgH="4204335" progId="Excel.Sheet.8">
                  <p:embed/>
                </p:oleObj>
              </mc:Choice>
              <mc:Fallback>
                <p:oleObj name="Worksheet" r:id="rId2" imgW="5764530" imgH="4204335" progId="Excel.Sheet.8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438400"/>
                        <a:ext cx="343217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0" descr="8splitinf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848100"/>
            <a:ext cx="52546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09600" y="2973118"/>
          <a:ext cx="4343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87600" imgH="457200" progId="Equation.3">
                  <p:embed/>
                </p:oleObj>
              </mc:Choice>
              <mc:Fallback>
                <p:oleObj name="Equation" r:id="rId5" imgW="2387600" imgH="45720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973118"/>
                        <a:ext cx="43434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 (CART-Classification and Regression Trees)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Gain Ratio can sometimes exhibit a bias toward features with many unique values. For example, if a feature has many unique categories, Information Gain might prefer it because it creates more distinct subsets.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this,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Ratio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adaptation of Information Gain) is used in algorithms like C4.5 to counter this bias, but this additional step adds complexity.</a:t>
            </a:r>
          </a:p>
          <a:p>
            <a:pPr algn="just"/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 the other hand, is less sensitive to the number of categories in a feature, reducing the need for an additional adjustment like Gain Ratio.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6057900" cy="113347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91" y="5657714"/>
            <a:ext cx="4724400" cy="11625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Decision Trees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happens when a Decision Tree model becomes too complex, fitting too closely to the noise and specific details of the training data, resulting in poor generalization to new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decision tree that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often have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on the training set but performs poorly on the test set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 of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tree to grow too deep, with many nodes and branches.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very specific branches (splits) that capture the peculiarities of the training data rather than general patterns.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Consequences: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to a lack of model generalization, where the model captures random fluctuations instead of meaningful trends.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Pre-Pruning (Early Stopping):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stops the tree from growing once it meets certain conditions, such as reaching a maximum depth, minimum number of samples per leaf, or minimum information gain threshold. This prevents the tree from developing complex branches that might lead to 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Post-Pruning (Cost Complexity Pruning):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first grows the tree to its full depth, then prunes back branches that provide minimal value. Post-pruning can be based on measures like cross-validation to determine the optimal structure that minimizes errors on new data.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72DC-0C71-4257-611B-6D110123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CDA4-F2A7-9131-D162-CD04B2DC3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: Decision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F5558B9-9F85-F0F9-3207-29BE5B24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299887"/>
            <a:ext cx="3886200" cy="5575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2A4BB2A-BCE5-9716-024C-0EEA89339EBB}"/>
              </a:ext>
            </a:extLst>
          </p:cNvPr>
          <p:cNvSpPr/>
          <p:nvPr/>
        </p:nvSpPr>
        <p:spPr>
          <a:xfrm>
            <a:off x="762000" y="1115221"/>
            <a:ext cx="7543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879097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1643</Words>
  <Application>Microsoft Office PowerPoint</Application>
  <PresentationFormat>On-screen Show (4:3)</PresentationFormat>
  <Paragraphs>194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 Math</vt:lpstr>
      <vt:lpstr>Times New Roman</vt:lpstr>
      <vt:lpstr>Office Theme</vt:lpstr>
      <vt:lpstr>Worksheet</vt:lpstr>
      <vt:lpstr>Equation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  <vt:lpstr>Classification : Decision Tree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Ashraf</dc:creator>
  <cp:lastModifiedBy>Sharfuddin Mahmood</cp:lastModifiedBy>
  <cp:revision>377</cp:revision>
  <dcterms:created xsi:type="dcterms:W3CDTF">2024-10-19T07:49:00Z</dcterms:created>
  <dcterms:modified xsi:type="dcterms:W3CDTF">2025-08-02T07:03:50Z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34784591595B48829E35AB748FC3783A_12</vt:lpwstr>
  </property>
  <property fmtid="{D5CDD505-2E9C-101B-9397-08002B2CF9AE}" pid="3" name="KSOProductBuildVer">
    <vt:lpwstr>1033-12.2.0.18607</vt:lpwstr>
  </property>
</Properties>
</file>