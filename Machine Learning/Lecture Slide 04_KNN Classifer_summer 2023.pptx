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297" r:id="rId3"/>
    <p:sldId id="265" r:id="rId4"/>
    <p:sldId id="266" r:id="rId5"/>
    <p:sldId id="264" r:id="rId6"/>
    <p:sldId id="298" r:id="rId7"/>
    <p:sldId id="300" r:id="rId8"/>
    <p:sldId id="301" r:id="rId9"/>
    <p:sldId id="267" r:id="rId10"/>
    <p:sldId id="268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269" r:id="rId20"/>
    <p:sldId id="273" r:id="rId21"/>
    <p:sldId id="274" r:id="rId22"/>
    <p:sldId id="280" r:id="rId23"/>
    <p:sldId id="281" r:id="rId24"/>
    <p:sldId id="283" r:id="rId25"/>
    <p:sldId id="284" r:id="rId26"/>
    <p:sldId id="310" r:id="rId27"/>
    <p:sldId id="285" r:id="rId28"/>
    <p:sldId id="286" r:id="rId29"/>
    <p:sldId id="288" r:id="rId30"/>
    <p:sldId id="290" r:id="rId31"/>
    <p:sldId id="291" r:id="rId32"/>
    <p:sldId id="292" r:id="rId33"/>
    <p:sldId id="293" r:id="rId34"/>
    <p:sldId id="311" r:id="rId35"/>
    <p:sldId id="294" r:id="rId36"/>
    <p:sldId id="279" r:id="rId37"/>
    <p:sldId id="295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533" autoAdjust="0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85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953767-FC69-4DF3-8320-64589592010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F8903-C01F-4109-8D26-D773CA84D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862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F8903-C01F-4109-8D26-D773CA84D4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30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F8903-C01F-4109-8D26-D773CA84D46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675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F8903-C01F-4109-8D26-D773CA84D46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77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F8903-C01F-4109-8D26-D773CA84D46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64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59028"/>
            <a:ext cx="7808976" cy="1088136"/>
          </a:xfrm>
        </p:spPr>
        <p:txBody>
          <a:bodyPr>
            <a:noAutofit/>
          </a:bodyPr>
          <a:lstStyle/>
          <a:p>
            <a:pPr>
              <a:lnSpc>
                <a:spcPts val="3500"/>
              </a:lnSpc>
            </a:pPr>
            <a:r>
              <a:rPr lang="en-US" sz="3600" dirty="0"/>
              <a:t>Instance Based Learning </a:t>
            </a:r>
            <a:br>
              <a:rPr lang="en-US" sz="3600" dirty="0"/>
            </a:br>
            <a:r>
              <a:rPr lang="en-US" sz="3600" dirty="0"/>
              <a:t>(KNN Classifier)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78151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098285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22363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0629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/>
                        <a:t>Sharfuddin Mahmood </a:t>
                      </a:r>
                      <a:r>
                        <a:rPr lang="en-US" i="1" dirty="0"/>
                        <a:t>(smahmood@aiub.edu)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1956" y="1512328"/>
            <a:ext cx="49097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F8EA7-ED7B-4E9D-A068-E045007DF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Instance-Based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EB37F-2454-4C4A-B192-EDC7D5B9D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979" y="2133600"/>
            <a:ext cx="8239272" cy="399256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Idea: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Similar examples have similar label.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Classify new examples like similar training examples.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Algorithm: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Given some new example x for which we need to predict its class 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Find most similar training examples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Classify </a:t>
            </a:r>
            <a:r>
              <a:rPr lang="en-US" altLang="en-US" i="1" dirty="0"/>
              <a:t>x</a:t>
            </a:r>
            <a:r>
              <a:rPr lang="en-US" altLang="en-US" dirty="0"/>
              <a:t> “like” these most similar examples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Questions: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How to determine similarity?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621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4551-8C58-4336-898F-F585C0933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0" i="0" u="none" strike="noStrike" baseline="0" dirty="0"/>
              <a:t>Instance-Based Classifiers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7610A-ACDD-44E2-BC84-D50DFC48F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506" y="2133600"/>
            <a:ext cx="8153400" cy="399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u="none" strike="noStrike" baseline="0" dirty="0">
                <a:latin typeface="+mj-lt"/>
              </a:rPr>
              <a:t>Examples: </a:t>
            </a:r>
          </a:p>
          <a:p>
            <a:pPr marL="746125" lvl="1" indent="-285750"/>
            <a:r>
              <a:rPr lang="en-US" sz="2400" b="0" i="0" u="none" strike="noStrike" baseline="0" dirty="0">
                <a:latin typeface="+mj-lt"/>
              </a:rPr>
              <a:t>Rote-learner </a:t>
            </a:r>
          </a:p>
          <a:p>
            <a:pPr marL="460375" lvl="1" indent="0">
              <a:buNone/>
            </a:pPr>
            <a:r>
              <a:rPr lang="en-US" sz="2400" dirty="0">
                <a:latin typeface="+mj-lt"/>
              </a:rPr>
              <a:t>	</a:t>
            </a:r>
            <a:r>
              <a:rPr lang="en-US" sz="2400" b="0" i="0" u="none" strike="noStrike" baseline="0" dirty="0">
                <a:latin typeface="+mj-lt"/>
              </a:rPr>
              <a:t>• Memorizes entire training data and performs classification only if  attributes of record match one of the training examples exactly </a:t>
            </a:r>
          </a:p>
          <a:p>
            <a:pPr marL="460375" lvl="1" indent="0">
              <a:buNone/>
            </a:pPr>
            <a:endParaRPr lang="en-US" sz="2400" b="0" i="0" u="none" strike="noStrike" baseline="0" dirty="0">
              <a:latin typeface="+mj-lt"/>
            </a:endParaRPr>
          </a:p>
          <a:p>
            <a:pPr lvl="1"/>
            <a:r>
              <a:rPr lang="en-US" sz="2400" b="0" i="0" u="none" strike="noStrike" baseline="0" dirty="0">
                <a:latin typeface="+mj-lt"/>
              </a:rPr>
              <a:t>Nearest neighbor </a:t>
            </a:r>
          </a:p>
          <a:p>
            <a:pPr marL="0" indent="0">
              <a:buNone/>
            </a:pPr>
            <a:r>
              <a:rPr lang="en-US" b="0" i="0" u="none" strike="noStrike" baseline="0" dirty="0">
                <a:latin typeface="+mj-lt"/>
              </a:rPr>
              <a:t>	• Uses k “closest” points (nearest neighbors) for 	performing classification 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23176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87F2-C7F4-4545-9A9C-46CB755ED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 b="0" i="0" u="none" strike="noStrike" baseline="0" dirty="0"/>
              <a:t>Nearest Neighbor Classifiers 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53441-3D43-4AE2-ADF2-1BFCADDFF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2133600"/>
            <a:ext cx="8620125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15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788A8-2BD1-4CC0-B991-2FF859FED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" y="643487"/>
            <a:ext cx="8574087" cy="967840"/>
          </a:xfrm>
        </p:spPr>
        <p:txBody>
          <a:bodyPr>
            <a:noAutofit/>
          </a:bodyPr>
          <a:lstStyle/>
          <a:p>
            <a:pPr algn="l"/>
            <a:r>
              <a:rPr lang="en-US" sz="4000" b="0" i="0" u="none" strike="noStrike" baseline="0" dirty="0"/>
              <a:t>Instance-Based Classifiers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B9CE-8CA8-4FCF-84F4-ED932C5EC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B2F9EF-1702-406E-872B-E00FEA9C4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137" y="1977230"/>
            <a:ext cx="7243935" cy="3852069"/>
          </a:xfrm>
          <a:prstGeom prst="rect">
            <a:avLst/>
          </a:prstGeom>
        </p:spPr>
      </p:pic>
      <p:sp>
        <p:nvSpPr>
          <p:cNvPr id="4" name="Left Brace 3">
            <a:extLst>
              <a:ext uri="{FF2B5EF4-FFF2-40B4-BE49-F238E27FC236}">
                <a16:creationId xmlns:a16="http://schemas.microsoft.com/office/drawing/2014/main" id="{346BD81C-48A9-4EB3-B686-27EC63173644}"/>
              </a:ext>
            </a:extLst>
          </p:cNvPr>
          <p:cNvSpPr/>
          <p:nvPr/>
        </p:nvSpPr>
        <p:spPr>
          <a:xfrm rot="5400000">
            <a:off x="2696384" y="1206786"/>
            <a:ext cx="167188" cy="243049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93F18F-0BAA-48F9-81A7-710B3AB9860F}"/>
              </a:ext>
            </a:extLst>
          </p:cNvPr>
          <p:cNvCxnSpPr/>
          <p:nvPr/>
        </p:nvCxnSpPr>
        <p:spPr>
          <a:xfrm>
            <a:off x="1481137" y="2526593"/>
            <a:ext cx="0" cy="33027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093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0810F-D828-4AD5-855C-A5AE1C017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1-Nearest Neighbor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E9EDBF-459B-4CD5-B456-CB951F758FA6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2057400"/>
            <a:ext cx="7772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One of the simplest of all machine learning classifiers</a:t>
            </a:r>
          </a:p>
          <a:p>
            <a:r>
              <a:rPr lang="en-US" altLang="en-US">
                <a:solidFill>
                  <a:srgbClr val="FF0000"/>
                </a:solidFill>
              </a:rPr>
              <a:t>Simple idea:</a:t>
            </a:r>
            <a:r>
              <a:rPr lang="en-US" altLang="en-US"/>
              <a:t>  </a:t>
            </a:r>
            <a:r>
              <a:rPr lang="en-US" altLang="en-US">
                <a:solidFill>
                  <a:srgbClr val="FF0000"/>
                </a:solidFill>
              </a:rPr>
              <a:t>label</a:t>
            </a:r>
            <a:r>
              <a:rPr lang="en-US" altLang="en-US"/>
              <a:t> a new point the </a:t>
            </a:r>
            <a:r>
              <a:rPr lang="en-US" altLang="en-US">
                <a:solidFill>
                  <a:srgbClr val="FF0000"/>
                </a:solidFill>
              </a:rPr>
              <a:t>same as the closest known point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4A0A7C-C559-4C09-ADDB-A30582AB9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267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3FC448-9AB8-4011-8F8E-D6B04EB16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57150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CD3E6B-2508-41C8-8F21-DA8120238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962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B5D2E59-892B-4A09-B414-D7116D804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0292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5924DA-036C-44FA-B88F-78EF45AC7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1816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C33C29B-A2B8-4214-B3F9-8DE597C3F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46482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43CE87D-2351-4647-B55E-0AEB0C7DD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9F8078-EBE8-4C5A-B779-EF8186ED1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9530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675F5C7E-5E00-4DF9-B1E2-F4DF283F0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325" y="4306888"/>
            <a:ext cx="177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dirty="0">
                <a:latin typeface="Palatino" charset="0"/>
              </a:rPr>
              <a:t>Label it red.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E4B6C9B-5529-4756-B564-07FB6D7A8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2900" y="46863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FA293FF-B9E9-4AA1-A4B5-C1BA3001B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724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9308A08-739E-4267-8616-5E41D04BC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47625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D3DAB2E-8788-477A-89E1-A6F1488CF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00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D96CC98-6F2E-4187-9EE1-0001FFC4C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300" y="48387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846CB21-0E89-4C39-9E7F-665CA669D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8768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1CE5D1B-2E20-49C6-93C5-0E2710B88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49149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86EE362-AD7C-4EAA-A1BB-A53F3012D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953000"/>
            <a:ext cx="228600" cy="22860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BABDD9AB-5D89-448E-885B-1FC8ABB9C2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4648200"/>
            <a:ext cx="4572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35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0"/>
                            </p:stCondLst>
                            <p:childTnLst>
                              <p:par>
                                <p:cTn id="47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5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F4728-F475-4F6A-B1D0-655D06D33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0" i="0" dirty="0">
                <a:effectLst/>
                <a:latin typeface="Calibri" panose="020F0502020204030204" pitchFamily="34" charset="0"/>
              </a:rPr>
              <a:t>K-­Nearest  Neighbor  Methods  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2D199-27BA-4F8D-B50D-E2A03A270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896" y="1852246"/>
            <a:ext cx="6794696" cy="3992563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  classify  a  new  input  vector  x,  examine  the  k‐closest  training  data  points  to  x  and  assign  the  object  to  the  most  frequently  occurring  class  </a:t>
            </a:r>
            <a:r>
              <a:rPr lang="en-US" sz="2000" dirty="0"/>
              <a:t> </a:t>
            </a:r>
            <a:br>
              <a:rPr lang="en-US" sz="1800" dirty="0"/>
            </a:b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3D6780-860C-45A9-A75F-F217DD97E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805" y="2982351"/>
            <a:ext cx="5042131" cy="378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99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8D297-B577-4089-A1BE-A69E1A7BA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0" i="0" dirty="0">
                <a:effectLst/>
                <a:latin typeface="Calibri" panose="020F0502020204030204" pitchFamily="34" charset="0"/>
              </a:rPr>
              <a:t>Decision  Boundaries  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143A01-7B6D-16B8-22F8-DE1594412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89" y="3988472"/>
            <a:ext cx="8017965" cy="276792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3EC481F-B0B6-5712-5B23-994A7FECC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714336"/>
            <a:ext cx="8574087" cy="2393206"/>
          </a:xfrm>
        </p:spPr>
        <p:txBody>
          <a:bodyPr>
            <a:normAutofit lnSpcReduction="10000"/>
          </a:bodyPr>
          <a:lstStyle/>
          <a:p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nearest neighbor algorithm does not explicitly compute  decision boundaries.  However, the decision boundaries form a subset of the Voronoi diagram for the training data.  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more examples that are stored, the more complex the decision boundaries can become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19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46E1-843F-4001-9982-AB934F28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 b="0" i="0" u="none" strike="noStrike" baseline="0" dirty="0"/>
              <a:t>Nearest-Neighbor Classifiers 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AF874-9A71-4C0A-ADC3-F80CE5DCA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7070FA-CB85-4EC7-8ADA-B23224D49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63" y="2116138"/>
            <a:ext cx="8250237" cy="45641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1037B9-36A9-49C9-AFD2-1160C3FC662E}"/>
              </a:ext>
            </a:extLst>
          </p:cNvPr>
          <p:cNvSpPr txBox="1"/>
          <p:nvPr/>
        </p:nvSpPr>
        <p:spPr>
          <a:xfrm>
            <a:off x="-450165" y="3945215"/>
            <a:ext cx="1059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 = 3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FBDE9C-1F94-40AC-A6D7-5563ADDA559C}"/>
              </a:ext>
            </a:extLst>
          </p:cNvPr>
          <p:cNvCxnSpPr/>
          <p:nvPr/>
        </p:nvCxnSpPr>
        <p:spPr>
          <a:xfrm flipH="1">
            <a:off x="1603717" y="3249637"/>
            <a:ext cx="309489" cy="179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01CF2B-0694-4B2B-AEBE-5F71B276ACD1}"/>
              </a:ext>
            </a:extLst>
          </p:cNvPr>
          <p:cNvCxnSpPr/>
          <p:nvPr/>
        </p:nvCxnSpPr>
        <p:spPr>
          <a:xfrm>
            <a:off x="1913206" y="3249637"/>
            <a:ext cx="177786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6296D8-6535-446D-8180-FB0BF3FD4B16}"/>
              </a:ext>
            </a:extLst>
          </p:cNvPr>
          <p:cNvCxnSpPr>
            <a:cxnSpLocks/>
          </p:cNvCxnSpPr>
          <p:nvPr/>
        </p:nvCxnSpPr>
        <p:spPr>
          <a:xfrm flipV="1">
            <a:off x="1913207" y="3052689"/>
            <a:ext cx="379827" cy="196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449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F678C-4113-47C9-90A2-39F2977DD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 b="0" i="0" u="none" strike="noStrike" baseline="0" dirty="0"/>
              <a:t>Definition of Nearest Neighbor 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FE1820-BA3F-493B-94D3-653ACFE70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63" y="1828800"/>
            <a:ext cx="8481393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6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D4140-9D95-F00B-ED70-D64D29170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determine a class using KNN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2AB71F-48BB-6332-5EE7-1CD2A5B87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63" y="1981199"/>
            <a:ext cx="8248070" cy="194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95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BA72F-30CD-5DDD-5DF0-83B5813F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determine a class using KNN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E48A33-022D-01EE-016D-068E18CB6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63" y="1897390"/>
            <a:ext cx="8574087" cy="488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533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45310-9CCE-1368-45FE-A9CD3EAD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determine a class using KNN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DDDA0A-2D62-EFFC-848B-2835F88CA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62" y="1814169"/>
            <a:ext cx="8574087" cy="489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4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40BC-F5BF-3C36-BEEA-D8C21653C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6C922-4CEE-F0E3-B5C0-2972320A2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63" y="1977615"/>
            <a:ext cx="8579762" cy="355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874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6EE7D-D03A-F169-6D12-4DFF2B7B3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86F35-16B7-C161-4F34-B85F3571A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63" y="2130016"/>
            <a:ext cx="8450060" cy="326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41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B46B-66F3-3C72-2240-C9C0A65DE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C01FF7-799C-EFEE-18BA-93D196181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63" y="1909762"/>
            <a:ext cx="8469236" cy="420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10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01A69-FAB8-A0A6-0968-EF24AC12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FCAAB-EE63-23E2-0289-309A7C6BA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702" y="1926210"/>
            <a:ext cx="7076747" cy="3992563"/>
          </a:xfrm>
        </p:spPr>
        <p:txBody>
          <a:bodyPr/>
          <a:lstStyle/>
          <a:p>
            <a:r>
              <a:rPr lang="en-US" dirty="0"/>
              <a:t>What about K=3?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3210C1-A15C-BE7D-8BFB-8DBFF555D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02" y="2846452"/>
            <a:ext cx="8364851" cy="355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15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F2CA-EB67-4E9A-6047-B5F1888C1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572325-A186-D1F2-0B25-986DD8A1B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62" y="1786673"/>
            <a:ext cx="8115119" cy="490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55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DCF8-9668-44D0-917B-72BA14103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 b="0" i="0" u="none" strike="noStrike" baseline="0" dirty="0">
                <a:latin typeface="Calibri" panose="020F0502020204030204" pitchFamily="34" charset="0"/>
              </a:rPr>
              <a:t>Nearest Neighbor Classification 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672F8-E803-4CC5-89D2-C6A835DFE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C19BD-CB7C-469B-90C5-FA59700F6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63" y="1928812"/>
            <a:ext cx="8793672" cy="443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080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3BFE1-DE32-4FC7-B53D-4403EB415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 b="0" i="0" u="none" strike="noStrike" baseline="0" dirty="0"/>
              <a:t>Nearest Neighbor Classification… 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06FAD-4213-4B59-AB23-F6D84BF75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DF3382-A276-4C27-A43E-18E40CEEE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63" y="1828799"/>
            <a:ext cx="8237182" cy="399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690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8C2A8-5FAF-4BC0-95FA-B9C792E00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 b="0" i="0" u="none" strike="noStrike" baseline="0" dirty="0">
                <a:latin typeface="Calibri" panose="020F0502020204030204" pitchFamily="34" charset="0"/>
              </a:rPr>
              <a:t>Nearest Neighbor Classification… 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4A57FF-BE6B-4BDF-BF67-98EA989387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35"/>
          <a:stretch/>
        </p:blipFill>
        <p:spPr>
          <a:xfrm>
            <a:off x="133351" y="2462212"/>
            <a:ext cx="8877300" cy="273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60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6ABF4-2BC0-4270-AE2E-801FF5928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63" y="509510"/>
            <a:ext cx="8574087" cy="967840"/>
          </a:xfrm>
        </p:spPr>
        <p:txBody>
          <a:bodyPr>
            <a:normAutofit/>
          </a:bodyPr>
          <a:lstStyle/>
          <a:p>
            <a:pPr algn="l"/>
            <a:r>
              <a:rPr lang="en" sz="4000" dirty="0">
                <a:solidFill>
                  <a:schemeClr val="bg1"/>
                </a:solidFill>
              </a:rPr>
              <a:t>Example dataset: CIFAR-10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744AE-02EE-43E5-BBF9-C9642F2CE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hape 182">
            <a:extLst>
              <a:ext uri="{FF2B5EF4-FFF2-40B4-BE49-F238E27FC236}">
                <a16:creationId xmlns:a16="http://schemas.microsoft.com/office/drawing/2014/main" id="{43DC43CB-9902-48EE-A847-B24A6E61836A}"/>
              </a:ext>
            </a:extLst>
          </p:cNvPr>
          <p:cNvSpPr/>
          <p:nvPr/>
        </p:nvSpPr>
        <p:spPr>
          <a:xfrm>
            <a:off x="4631898" y="2429680"/>
            <a:ext cx="4461600" cy="4221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pic>
        <p:nvPicPr>
          <p:cNvPr id="7" name="Shape 180">
            <a:extLst>
              <a:ext uri="{FF2B5EF4-FFF2-40B4-BE49-F238E27FC236}">
                <a16:creationId xmlns:a16="http://schemas.microsoft.com/office/drawing/2014/main" id="{FCC1594E-7425-470E-803D-4E569F405D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900" y="2884315"/>
            <a:ext cx="8388501" cy="390850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181">
            <a:extLst>
              <a:ext uri="{FF2B5EF4-FFF2-40B4-BE49-F238E27FC236}">
                <a16:creationId xmlns:a16="http://schemas.microsoft.com/office/drawing/2014/main" id="{CAFB3C41-2014-4DDB-AC11-EA6B499C1E2D}"/>
              </a:ext>
            </a:extLst>
          </p:cNvPr>
          <p:cNvSpPr txBox="1"/>
          <p:nvPr/>
        </p:nvSpPr>
        <p:spPr>
          <a:xfrm>
            <a:off x="221950" y="1788940"/>
            <a:ext cx="8528399" cy="9715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b="1" dirty="0"/>
              <a:t>10</a:t>
            </a:r>
            <a:r>
              <a:rPr lang="en" sz="1800" dirty="0"/>
              <a:t> labels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b="1" dirty="0"/>
              <a:t>50,000</a:t>
            </a:r>
            <a:r>
              <a:rPr lang="en" sz="1800" dirty="0"/>
              <a:t> training images, each image is tiny: 32x32</a:t>
            </a:r>
          </a:p>
          <a:p>
            <a:pPr lvl="0">
              <a:spcBef>
                <a:spcPts val="0"/>
              </a:spcBef>
              <a:buNone/>
            </a:pPr>
            <a:r>
              <a:rPr lang="en" sz="1800" b="1" dirty="0"/>
              <a:t>10,000 </a:t>
            </a:r>
            <a:r>
              <a:rPr lang="en" sz="1800" dirty="0"/>
              <a:t>test images.</a:t>
            </a:r>
          </a:p>
        </p:txBody>
      </p:sp>
      <p:sp>
        <p:nvSpPr>
          <p:cNvPr id="9" name="Shape 182">
            <a:extLst>
              <a:ext uri="{FF2B5EF4-FFF2-40B4-BE49-F238E27FC236}">
                <a16:creationId xmlns:a16="http://schemas.microsoft.com/office/drawing/2014/main" id="{34DEC11A-53EC-4EB7-AB29-B9E3DDEA38B8}"/>
              </a:ext>
            </a:extLst>
          </p:cNvPr>
          <p:cNvSpPr/>
          <p:nvPr/>
        </p:nvSpPr>
        <p:spPr>
          <a:xfrm>
            <a:off x="4554579" y="2575822"/>
            <a:ext cx="4461600" cy="42210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5580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792E-7963-46AC-B5E6-748FD670A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" sz="4000" dirty="0"/>
              <a:t>Example dataset: CIFAR-10</a:t>
            </a:r>
            <a:endParaRPr lang="en-US" dirty="0"/>
          </a:p>
        </p:txBody>
      </p:sp>
      <p:pic>
        <p:nvPicPr>
          <p:cNvPr id="4" name="Shape 188">
            <a:extLst>
              <a:ext uri="{FF2B5EF4-FFF2-40B4-BE49-F238E27FC236}">
                <a16:creationId xmlns:a16="http://schemas.microsoft.com/office/drawing/2014/main" id="{66915BF7-4AAE-4E1F-9707-F3EDF6840A6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4301" y="2659422"/>
            <a:ext cx="8528349" cy="40200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hape 189">
            <a:extLst>
              <a:ext uri="{FF2B5EF4-FFF2-40B4-BE49-F238E27FC236}">
                <a16:creationId xmlns:a16="http://schemas.microsoft.com/office/drawing/2014/main" id="{AB67F5D7-572D-43D2-82D3-4169A0A13603}"/>
              </a:ext>
            </a:extLst>
          </p:cNvPr>
          <p:cNvSpPr txBox="1"/>
          <p:nvPr/>
        </p:nvSpPr>
        <p:spPr>
          <a:xfrm>
            <a:off x="4721224" y="1664897"/>
            <a:ext cx="4139699" cy="1061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 dirty="0"/>
              <a:t>For every test image (first column), examples of nearest neighbors in rows</a:t>
            </a:r>
          </a:p>
        </p:txBody>
      </p:sp>
      <p:sp>
        <p:nvSpPr>
          <p:cNvPr id="6" name="Shape 190">
            <a:extLst>
              <a:ext uri="{FF2B5EF4-FFF2-40B4-BE49-F238E27FC236}">
                <a16:creationId xmlns:a16="http://schemas.microsoft.com/office/drawing/2014/main" id="{C7D100B9-4F81-40F8-B834-4E890BD4828B}"/>
              </a:ext>
            </a:extLst>
          </p:cNvPr>
          <p:cNvSpPr txBox="1"/>
          <p:nvPr/>
        </p:nvSpPr>
        <p:spPr>
          <a:xfrm>
            <a:off x="160725" y="1598222"/>
            <a:ext cx="8528399" cy="1004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b="1" dirty="0"/>
              <a:t>10</a:t>
            </a:r>
            <a:r>
              <a:rPr lang="en" sz="1800" dirty="0"/>
              <a:t> labels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b="1" dirty="0"/>
              <a:t>50,000</a:t>
            </a:r>
            <a:r>
              <a:rPr lang="en" sz="1800" dirty="0"/>
              <a:t> training images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b="1" dirty="0"/>
              <a:t>10,000 </a:t>
            </a:r>
            <a:r>
              <a:rPr lang="en" sz="1800" dirty="0"/>
              <a:t>test images.</a:t>
            </a:r>
          </a:p>
        </p:txBody>
      </p:sp>
    </p:spTree>
    <p:extLst>
      <p:ext uri="{BB962C8B-B14F-4D97-AF65-F5344CB8AC3E}">
        <p14:creationId xmlns:p14="http://schemas.microsoft.com/office/powerpoint/2010/main" val="154762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B868D-C846-4C8E-BBCF-150F452AE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 rtl="0">
              <a:spcBef>
                <a:spcPts val="0"/>
              </a:spcBef>
            </a:pPr>
            <a:br>
              <a:rPr lang="en" sz="3000" dirty="0">
                <a:solidFill>
                  <a:schemeClr val="bg1"/>
                </a:solidFill>
              </a:rPr>
            </a:br>
            <a:r>
              <a:rPr lang="en" sz="3000" dirty="0">
                <a:solidFill>
                  <a:schemeClr val="bg1"/>
                </a:solidFill>
              </a:rPr>
              <a:t>The choice of distance is a </a:t>
            </a:r>
            <a:r>
              <a:rPr lang="en" sz="3000" b="1" dirty="0">
                <a:solidFill>
                  <a:schemeClr val="bg1"/>
                </a:solidFill>
              </a:rPr>
              <a:t>hyperparameter</a:t>
            </a:r>
            <a:br>
              <a:rPr lang="en" sz="3000" b="1" dirty="0">
                <a:solidFill>
                  <a:schemeClr val="bg1"/>
                </a:solidFill>
              </a:rPr>
            </a:br>
            <a:r>
              <a:rPr lang="en" sz="3000" dirty="0">
                <a:solidFill>
                  <a:schemeClr val="bg1"/>
                </a:solidFill>
              </a:rPr>
              <a:t>common choices:</a:t>
            </a:r>
            <a:br>
              <a:rPr lang="en" sz="3000" dirty="0">
                <a:solidFill>
                  <a:schemeClr val="bg1"/>
                </a:solidFill>
              </a:rPr>
            </a:br>
            <a:endParaRPr lang="en-US" sz="3000" dirty="0"/>
          </a:p>
        </p:txBody>
      </p:sp>
      <p:sp>
        <p:nvSpPr>
          <p:cNvPr id="5" name="Shape 256">
            <a:extLst>
              <a:ext uri="{FF2B5EF4-FFF2-40B4-BE49-F238E27FC236}">
                <a16:creationId xmlns:a16="http://schemas.microsoft.com/office/drawing/2014/main" id="{84DE4D35-E2D4-485D-BB00-4A3FFD825AE9}"/>
              </a:ext>
            </a:extLst>
          </p:cNvPr>
          <p:cNvSpPr txBox="1"/>
          <p:nvPr/>
        </p:nvSpPr>
        <p:spPr>
          <a:xfrm>
            <a:off x="449587" y="3429000"/>
            <a:ext cx="3940500" cy="69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400" dirty="0"/>
              <a:t>L1 (Manhattan) distance</a:t>
            </a:r>
          </a:p>
        </p:txBody>
      </p:sp>
      <p:sp>
        <p:nvSpPr>
          <p:cNvPr id="6" name="Shape 257">
            <a:extLst>
              <a:ext uri="{FF2B5EF4-FFF2-40B4-BE49-F238E27FC236}">
                <a16:creationId xmlns:a16="http://schemas.microsoft.com/office/drawing/2014/main" id="{78A697BF-8F53-43F4-8137-709987D34B33}"/>
              </a:ext>
            </a:extLst>
          </p:cNvPr>
          <p:cNvSpPr txBox="1"/>
          <p:nvPr/>
        </p:nvSpPr>
        <p:spPr>
          <a:xfrm>
            <a:off x="4745262" y="3429000"/>
            <a:ext cx="3940500" cy="69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L2 (Euclidean) distance</a:t>
            </a:r>
          </a:p>
        </p:txBody>
      </p:sp>
      <p:pic>
        <p:nvPicPr>
          <p:cNvPr id="7" name="Shape 258">
            <a:extLst>
              <a:ext uri="{FF2B5EF4-FFF2-40B4-BE49-F238E27FC236}">
                <a16:creationId xmlns:a16="http://schemas.microsoft.com/office/drawing/2014/main" id="{915AA583-5AF2-4232-A803-AB3B387F4FF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6251" y="4487633"/>
            <a:ext cx="2066925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Shape 259">
            <a:extLst>
              <a:ext uri="{FF2B5EF4-FFF2-40B4-BE49-F238E27FC236}">
                <a16:creationId xmlns:a16="http://schemas.microsoft.com/office/drawing/2014/main" id="{B66A5BB5-F9E2-49D6-90A1-FF1467B6C79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8662" y="4411433"/>
            <a:ext cx="2495550" cy="901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6562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5983-7068-4E83-A511-3948A1D72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400" dirty="0">
                <a:solidFill>
                  <a:schemeClr val="bg1"/>
                </a:solidFill>
              </a:rPr>
              <a:t>Bias and Variance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635B23-547E-4729-AAAB-D9A3BF1F5899}"/>
              </a:ext>
            </a:extLst>
          </p:cNvPr>
          <p:cNvSpPr txBox="1">
            <a:spLocks/>
          </p:cNvSpPr>
          <p:nvPr/>
        </p:nvSpPr>
        <p:spPr>
          <a:xfrm>
            <a:off x="284163" y="2133600"/>
            <a:ext cx="8229600" cy="5133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D7861-E2EE-C4AC-003C-30883530AA34}"/>
              </a:ext>
            </a:extLst>
          </p:cNvPr>
          <p:cNvSpPr txBox="1"/>
          <p:nvPr/>
        </p:nvSpPr>
        <p:spPr>
          <a:xfrm>
            <a:off x="367647" y="2098100"/>
            <a:ext cx="8300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1" dirty="0">
                <a:solidFill>
                  <a:srgbClr val="242424"/>
                </a:solidFill>
                <a:effectLst/>
                <a:latin typeface="source-serif-pro"/>
              </a:rPr>
              <a:t>The </a:t>
            </a:r>
            <a:r>
              <a:rPr lang="en-US" sz="2400" b="1" i="1" dirty="0">
                <a:solidFill>
                  <a:srgbClr val="242424"/>
                </a:solidFill>
                <a:effectLst/>
                <a:latin typeface="source-serif-pro"/>
              </a:rPr>
              <a:t>bias</a:t>
            </a:r>
            <a:r>
              <a:rPr lang="en-US" sz="2400" b="0" i="1" dirty="0">
                <a:solidFill>
                  <a:srgbClr val="242424"/>
                </a:solidFill>
                <a:effectLst/>
                <a:latin typeface="source-serif-pro"/>
              </a:rPr>
              <a:t> is an error from erroneous assumptions in the learning algorithm. High bias can cause an algorithm to miss the relevant relations between features and target outputs.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B32149-36DF-F40A-8B20-841C08C7546A}"/>
              </a:ext>
            </a:extLst>
          </p:cNvPr>
          <p:cNvSpPr txBox="1"/>
          <p:nvPr/>
        </p:nvSpPr>
        <p:spPr>
          <a:xfrm>
            <a:off x="438347" y="4459511"/>
            <a:ext cx="8229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1" dirty="0">
                <a:solidFill>
                  <a:srgbClr val="242424"/>
                </a:solidFill>
                <a:effectLst/>
                <a:latin typeface="source-serif-pro"/>
              </a:rPr>
              <a:t>The </a:t>
            </a:r>
            <a:r>
              <a:rPr lang="en-US" sz="2400" b="1" i="1" dirty="0">
                <a:solidFill>
                  <a:srgbClr val="242424"/>
                </a:solidFill>
                <a:effectLst/>
                <a:latin typeface="source-serif-pro"/>
              </a:rPr>
              <a:t>variance</a:t>
            </a:r>
            <a:r>
              <a:rPr lang="en-US" sz="2400" b="0" i="1" dirty="0">
                <a:solidFill>
                  <a:srgbClr val="242424"/>
                </a:solidFill>
                <a:effectLst/>
                <a:latin typeface="source-serif-pro"/>
              </a:rPr>
              <a:t> is an error from sensitivity to small fluctuations in the training set. High variance can cause an algorithm to model the random noise in the training data, rather than the intended outputs.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5852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348B7-E388-4887-56D2-D0B98C3C3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53C770-65EC-92FC-973D-C4C0EC8BA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725" y="2025340"/>
            <a:ext cx="4638675" cy="439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46544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63D5C-FBF6-4140-B650-E3DE2D54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Bias and Variance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BF508-DA00-471B-B595-22427A0227E3}"/>
              </a:ext>
            </a:extLst>
          </p:cNvPr>
          <p:cNvSpPr txBox="1"/>
          <p:nvPr/>
        </p:nvSpPr>
        <p:spPr>
          <a:xfrm>
            <a:off x="514350" y="2136339"/>
            <a:ext cx="63436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Increasing k in the </a:t>
            </a:r>
            <a:r>
              <a:rPr lang="en-US" sz="2400" dirty="0" err="1"/>
              <a:t>kNN</a:t>
            </a:r>
            <a:r>
              <a:rPr lang="en-US" sz="2400" dirty="0"/>
              <a:t> algorithm should have what effect on: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Bias: ?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Variance: ?</a:t>
            </a:r>
          </a:p>
        </p:txBody>
      </p:sp>
    </p:spTree>
    <p:extLst>
      <p:ext uri="{BB962C8B-B14F-4D97-AF65-F5344CB8AC3E}">
        <p14:creationId xmlns:p14="http://schemas.microsoft.com/office/powerpoint/2010/main" val="3830816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7444-02DE-4B64-8736-7ABE7F530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Bias and Variance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A322AD-D405-48D7-9ED7-9C13C8A16396}"/>
              </a:ext>
            </a:extLst>
          </p:cNvPr>
          <p:cNvSpPr txBox="1"/>
          <p:nvPr/>
        </p:nvSpPr>
        <p:spPr>
          <a:xfrm>
            <a:off x="819150" y="2136339"/>
            <a:ext cx="7467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Increasing k in the </a:t>
            </a:r>
            <a:r>
              <a:rPr lang="en-US" sz="2400" dirty="0" err="1"/>
              <a:t>kNN</a:t>
            </a:r>
            <a:r>
              <a:rPr lang="en-US" sz="2400" dirty="0"/>
              <a:t> algorithm should have what effect on: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Bias: </a:t>
            </a:r>
            <a:r>
              <a:rPr lang="en-US" sz="2400" dirty="0"/>
              <a:t>Should </a:t>
            </a:r>
            <a:r>
              <a:rPr lang="en-US" sz="2400" b="1" dirty="0">
                <a:solidFill>
                  <a:srgbClr val="C00000"/>
                </a:solidFill>
              </a:rPr>
              <a:t>increase</a:t>
            </a:r>
            <a:r>
              <a:rPr lang="en-US" sz="2400" dirty="0"/>
              <a:t>. The large k is, the further (on average) are the points being aggregated from x</a:t>
            </a: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Variance: ?</a:t>
            </a:r>
          </a:p>
        </p:txBody>
      </p:sp>
    </p:spTree>
    <p:extLst>
      <p:ext uri="{BB962C8B-B14F-4D97-AF65-F5344CB8AC3E}">
        <p14:creationId xmlns:p14="http://schemas.microsoft.com/office/powerpoint/2010/main" val="511523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18B4E-C52E-4D07-9B66-A8A5B7592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400" dirty="0">
                <a:solidFill>
                  <a:schemeClr val="bg1"/>
                </a:solidFill>
              </a:rPr>
              <a:t>Bias and Variance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FF1C427-FB85-458F-86F7-01FB96891EF8}"/>
              </a:ext>
            </a:extLst>
          </p:cNvPr>
          <p:cNvSpPr txBox="1">
            <a:spLocks/>
          </p:cNvSpPr>
          <p:nvPr/>
        </p:nvSpPr>
        <p:spPr>
          <a:xfrm>
            <a:off x="322263" y="2133600"/>
            <a:ext cx="8229600" cy="5133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Increasing k in the </a:t>
            </a:r>
            <a:r>
              <a:rPr lang="en-US" dirty="0" err="1"/>
              <a:t>kNN</a:t>
            </a:r>
            <a:r>
              <a:rPr lang="en-US" dirty="0"/>
              <a:t> algorithm should have what effect 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Bias: </a:t>
            </a:r>
            <a:r>
              <a:rPr lang="en-US" dirty="0"/>
              <a:t>Should increase. The large k is, the further (on average) are the points being aggregated from x. i.e. the value depends on f(x’) for x’ further from x. 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Variance: </a:t>
            </a:r>
            <a:r>
              <a:rPr lang="en-US" dirty="0"/>
              <a:t>Should </a:t>
            </a:r>
            <a:r>
              <a:rPr lang="en-US" b="1" dirty="0">
                <a:solidFill>
                  <a:srgbClr val="C00000"/>
                </a:solidFill>
              </a:rPr>
              <a:t>decrease</a:t>
            </a:r>
            <a:r>
              <a:rPr lang="en-US" dirty="0"/>
              <a:t>. The average or majority vote of a set of equal-variance values has lower variance than each value.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1072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D2D7A-0274-4DC8-BB4F-09065E87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400" dirty="0">
                <a:solidFill>
                  <a:schemeClr val="bg1"/>
                </a:solidFill>
              </a:rPr>
              <a:t>Bias and Variance Rule of Thumb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DEBCA-6B76-45FB-BC22-6C646078D4F1}"/>
              </a:ext>
            </a:extLst>
          </p:cNvPr>
          <p:cNvSpPr txBox="1"/>
          <p:nvPr/>
        </p:nvSpPr>
        <p:spPr>
          <a:xfrm>
            <a:off x="838200" y="2274836"/>
            <a:ext cx="80200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Compared to simpler (fewer parameters), complex models have what kind of Bias and Variance?: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Bias: ?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Variance:?</a:t>
            </a:r>
          </a:p>
        </p:txBody>
      </p:sp>
    </p:spTree>
    <p:extLst>
      <p:ext uri="{BB962C8B-B14F-4D97-AF65-F5344CB8AC3E}">
        <p14:creationId xmlns:p14="http://schemas.microsoft.com/office/powerpoint/2010/main" val="19377291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3A67-4583-4E5A-8ADE-4A44754EB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400" dirty="0">
                <a:solidFill>
                  <a:schemeClr val="bg1"/>
                </a:solidFill>
              </a:rPr>
              <a:t>Bias and Variance Rule of Thumb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6DF8F-23DF-463C-A593-FD9B6E6F7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1" y="2133600"/>
            <a:ext cx="7353299" cy="3992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Compared to simpler (fewer parameters), complex models have what kind of Bias and Variance?: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Bias: ? </a:t>
            </a:r>
            <a:r>
              <a:rPr lang="en-US" b="1" dirty="0">
                <a:solidFill>
                  <a:srgbClr val="C00000"/>
                </a:solidFill>
              </a:rPr>
              <a:t>Lower</a:t>
            </a:r>
            <a:r>
              <a:rPr lang="en-US" dirty="0"/>
              <a:t>, because complex models can better model local variation in f(x). 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Variance:?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7505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18994-9B5C-40F6-9FA3-3291346C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Bias and Variance Rule of Thumb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67349-4F73-44B7-A99A-1C4E12950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1" y="2133600"/>
            <a:ext cx="8324850" cy="39925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Compared to simpler (fewer parameters), complex models have what kind of Bias and Variance?: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Bias: ? </a:t>
            </a:r>
            <a:r>
              <a:rPr lang="en-US" dirty="0"/>
              <a:t>Lower, because complex models can better model local variation in f(x). 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Variance:? </a:t>
            </a:r>
            <a:r>
              <a:rPr lang="en-US" b="1" dirty="0">
                <a:solidFill>
                  <a:srgbClr val="C00000"/>
                </a:solidFill>
              </a:rPr>
              <a:t>Higher</a:t>
            </a:r>
            <a:r>
              <a:rPr lang="en-US" dirty="0"/>
              <a:t>, because the parameters are generally more sensitive to few data values.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9971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3D5C-DF7F-40F1-A4A5-EF10B09EC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400" dirty="0">
                <a:solidFill>
                  <a:schemeClr val="bg1"/>
                </a:solidFill>
              </a:rPr>
              <a:t>Bias and Variance Rule of Thumb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2E73E-3540-43C1-83DB-BD1BD83B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24050"/>
            <a:ext cx="8707437" cy="3992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Compared to simpler (fewer parameters), complex models have what kind of Bias and Variance?:</a:t>
            </a:r>
          </a:p>
          <a:p>
            <a:pPr marL="0" indent="0">
              <a:buNone/>
            </a:pPr>
            <a:r>
              <a:rPr lang="en-US" b="1" dirty="0"/>
              <a:t>Bias: ? </a:t>
            </a:r>
            <a:r>
              <a:rPr lang="en-US" b="1" dirty="0">
                <a:solidFill>
                  <a:srgbClr val="C00000"/>
                </a:solidFill>
              </a:rPr>
              <a:t>Lower</a:t>
            </a:r>
            <a:r>
              <a:rPr lang="en-US" dirty="0"/>
              <a:t>, because complex models can better model local variation in f(x). 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Variance:? </a:t>
            </a:r>
            <a:r>
              <a:rPr lang="en-US" b="1" dirty="0">
                <a:solidFill>
                  <a:srgbClr val="C00000"/>
                </a:solidFill>
              </a:rPr>
              <a:t>Higher</a:t>
            </a:r>
            <a:r>
              <a:rPr lang="en-US" dirty="0"/>
              <a:t>, because the parameters are generally more sensitive to few data values. </a:t>
            </a:r>
          </a:p>
          <a:p>
            <a:pPr marL="0" indent="0">
              <a:buNone/>
            </a:pPr>
            <a:r>
              <a:rPr lang="en-US" dirty="0"/>
              <a:t>Complex models are prone to overfitting. They require/benefit from large training datasets in order to reduce variance. This includes most </a:t>
            </a:r>
            <a:r>
              <a:rPr lang="en-US" b="1" dirty="0">
                <a:solidFill>
                  <a:srgbClr val="C00000"/>
                </a:solidFill>
              </a:rPr>
              <a:t>Deep Networks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7965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0987-8624-0B10-A12E-E4251545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26AC6D5-DA2C-3DFF-F75F-02AF946F4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29" y="2763871"/>
            <a:ext cx="7913930" cy="2298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33342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6A1B1-70C7-4B99-9227-B0B17BA0D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" sz="4400" dirty="0">
                <a:solidFill>
                  <a:schemeClr val="bg1"/>
                </a:solidFill>
              </a:rPr>
              <a:t>Hyperparameter tuning: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51AFD-E8EA-43DD-9CBA-7B33B9882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150" y="1943100"/>
            <a:ext cx="7290429" cy="3992563"/>
          </a:xfrm>
        </p:spPr>
        <p:txBody>
          <a:bodyPr>
            <a:norm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dirty="0"/>
              <a:t>What is the best </a:t>
            </a:r>
            <a:r>
              <a:rPr lang="en-US" b="1" dirty="0"/>
              <a:t>distance</a:t>
            </a:r>
            <a:r>
              <a:rPr lang="en-US" dirty="0"/>
              <a:t> to use?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dirty="0"/>
              <a:t>What is the best value of </a:t>
            </a:r>
            <a:r>
              <a:rPr lang="en-US" b="1" dirty="0"/>
              <a:t>k</a:t>
            </a:r>
            <a:r>
              <a:rPr lang="en-US" dirty="0"/>
              <a:t> to use?</a:t>
            </a:r>
          </a:p>
          <a:p>
            <a:pPr lvl="0" rtl="0">
              <a:spcBef>
                <a:spcPts val="0"/>
              </a:spcBef>
              <a:buNone/>
            </a:pPr>
            <a:endParaRPr lang="en-US" dirty="0"/>
          </a:p>
          <a:p>
            <a:pPr lvl="0" rtl="0">
              <a:spcBef>
                <a:spcPts val="0"/>
              </a:spcBef>
              <a:buNone/>
            </a:pPr>
            <a:r>
              <a:rPr lang="en-US" dirty="0"/>
              <a:t>i.e. how do we set the </a:t>
            </a:r>
            <a:r>
              <a:rPr lang="en-US" b="1" dirty="0"/>
              <a:t>hyperparameters</a:t>
            </a:r>
            <a:r>
              <a:rPr lang="en-US" dirty="0"/>
              <a:t>?</a:t>
            </a:r>
          </a:p>
          <a:p>
            <a:pPr lvl="0" rtl="0">
              <a:spcBef>
                <a:spcPts val="0"/>
              </a:spcBef>
              <a:buNone/>
            </a:pPr>
            <a:endParaRPr lang="en-US" dirty="0"/>
          </a:p>
          <a:p>
            <a:pPr lvl="0" rtl="0">
              <a:spcBef>
                <a:spcPts val="0"/>
              </a:spcBef>
              <a:buClr>
                <a:schemeClr val="dk1"/>
              </a:buClr>
              <a:buSzPct val="45833"/>
              <a:buFont typeface="Arial"/>
              <a:buNone/>
            </a:pPr>
            <a:r>
              <a:rPr lang="en-US" dirty="0">
                <a:solidFill>
                  <a:srgbClr val="38761D"/>
                </a:solidFill>
              </a:rPr>
              <a:t>Very problem-dependent. 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45833"/>
              <a:buFont typeface="Arial"/>
              <a:buNone/>
            </a:pPr>
            <a:r>
              <a:rPr lang="en-US" dirty="0">
                <a:solidFill>
                  <a:srgbClr val="38761D"/>
                </a:solidFill>
              </a:rPr>
              <a:t>Must try them all out and see what works best.</a:t>
            </a:r>
          </a:p>
          <a:p>
            <a:pPr lvl="0" rtl="0">
              <a:spcBef>
                <a:spcPts val="0"/>
              </a:spcBef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9119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1372E-90F4-4938-9A5B-96F69F9B8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4400" dirty="0"/>
              <a:t>Comparison of Methods</a:t>
            </a:r>
            <a:endParaRPr lang="en-US" dirty="0"/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E3144319-CE1C-4957-9B42-7928E4AB6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08345"/>
            <a:ext cx="7781925" cy="324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4157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265B6-FC15-415E-8EDA-533093312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400" b="0" i="0" dirty="0">
                <a:effectLst/>
                <a:latin typeface="Calibri" panose="020F0502020204030204" pitchFamily="34" charset="0"/>
              </a:rPr>
              <a:t>KNN  Advantages 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27676-9B5A-4767-8785-14E0783EA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776" y="2133600"/>
            <a:ext cx="7146388" cy="2466535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Easy  to  program  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No  optimization  or  training  required  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Classification  accuracy  can  be  very  good;  can  </a:t>
            </a:r>
            <a:b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outperform  more  complex  models  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112572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2297</TotalTime>
  <Words>878</Words>
  <Application>Microsoft Office PowerPoint</Application>
  <PresentationFormat>On-screen Show (4:3)</PresentationFormat>
  <Paragraphs>131</Paragraphs>
  <Slides>37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Palatino</vt:lpstr>
      <vt:lpstr>source-serif-pro</vt:lpstr>
      <vt:lpstr>Arial</vt:lpstr>
      <vt:lpstr>Calibri</vt:lpstr>
      <vt:lpstr>Corbel</vt:lpstr>
      <vt:lpstr>Times New Roman</vt:lpstr>
      <vt:lpstr>Wingdings</vt:lpstr>
      <vt:lpstr>Spectrum</vt:lpstr>
      <vt:lpstr>Instance Based Learning  (KNN Classifier)</vt:lpstr>
      <vt:lpstr>Instance-Based Learning</vt:lpstr>
      <vt:lpstr>Instance-Based Classifiers</vt:lpstr>
      <vt:lpstr>Nearest Neighbor Classifiers </vt:lpstr>
      <vt:lpstr>Instance-Based Classifiers</vt:lpstr>
      <vt:lpstr>1-Nearest Neighbor</vt:lpstr>
      <vt:lpstr>K-­Nearest  Neighbor  Methods  </vt:lpstr>
      <vt:lpstr>Decision  Boundaries  </vt:lpstr>
      <vt:lpstr>Nearest-Neighbor Classifiers </vt:lpstr>
      <vt:lpstr>Definition of Nearest Neighbor </vt:lpstr>
      <vt:lpstr>Steps to determine a class using KNN</vt:lpstr>
      <vt:lpstr>Steps to determine a class using KNN</vt:lpstr>
      <vt:lpstr>Steps to determine a class using KNN</vt:lpstr>
      <vt:lpstr>Example</vt:lpstr>
      <vt:lpstr>Example</vt:lpstr>
      <vt:lpstr>Example</vt:lpstr>
      <vt:lpstr>Example</vt:lpstr>
      <vt:lpstr>Example</vt:lpstr>
      <vt:lpstr>Nearest Neighbor Classification </vt:lpstr>
      <vt:lpstr>Nearest Neighbor Classification… </vt:lpstr>
      <vt:lpstr>Nearest Neighbor Classification… </vt:lpstr>
      <vt:lpstr>Example dataset: CIFAR-10</vt:lpstr>
      <vt:lpstr>Example dataset: CIFAR-10</vt:lpstr>
      <vt:lpstr> The choice of distance is a hyperparameter common choices: </vt:lpstr>
      <vt:lpstr>Bias and Variance</vt:lpstr>
      <vt:lpstr>PowerPoint Presentation</vt:lpstr>
      <vt:lpstr>Bias and Variance</vt:lpstr>
      <vt:lpstr>Bias and Variance</vt:lpstr>
      <vt:lpstr>Bias and Variance</vt:lpstr>
      <vt:lpstr>Bias and Variance Rule of Thumb</vt:lpstr>
      <vt:lpstr>Bias and Variance Rule of Thumb</vt:lpstr>
      <vt:lpstr>Bias and Variance Rule of Thumb</vt:lpstr>
      <vt:lpstr>Bias and Variance Rule of Thumb</vt:lpstr>
      <vt:lpstr>PowerPoint Presentation</vt:lpstr>
      <vt:lpstr>Hyperparameter tuning:</vt:lpstr>
      <vt:lpstr>Comparison of Methods</vt:lpstr>
      <vt:lpstr>KNN  Advantages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Sharfuddin Mahmood</cp:lastModifiedBy>
  <cp:revision>317</cp:revision>
  <dcterms:created xsi:type="dcterms:W3CDTF">2018-12-10T17:20:29Z</dcterms:created>
  <dcterms:modified xsi:type="dcterms:W3CDTF">2025-11-16T09:20:45Z</dcterms:modified>
</cp:coreProperties>
</file>