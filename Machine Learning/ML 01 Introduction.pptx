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3" r:id="rId3"/>
    <p:sldId id="265" r:id="rId4"/>
    <p:sldId id="266" r:id="rId5"/>
    <p:sldId id="267" r:id="rId6"/>
    <p:sldId id="264" r:id="rId7"/>
    <p:sldId id="268" r:id="rId8"/>
    <p:sldId id="270" r:id="rId9"/>
    <p:sldId id="271" r:id="rId10"/>
    <p:sldId id="272" r:id="rId11"/>
    <p:sldId id="273" r:id="rId12"/>
    <p:sldId id="274" r:id="rId13"/>
    <p:sldId id="275" r:id="rId14"/>
    <p:sldId id="276" r:id="rId15"/>
    <p:sldId id="257" r:id="rId16"/>
    <p:sldId id="277" r:id="rId17"/>
    <p:sldId id="278" r:id="rId18"/>
    <p:sldId id="279" r:id="rId19"/>
    <p:sldId id="280" r:id="rId20"/>
    <p:sldId id="281" r:id="rId21"/>
    <p:sldId id="282" r:id="rId22"/>
    <p:sldId id="283" r:id="rId23"/>
    <p:sldId id="258" r:id="rId24"/>
    <p:sldId id="284" r:id="rId25"/>
    <p:sldId id="285" r:id="rId26"/>
    <p:sldId id="286" r:id="rId27"/>
    <p:sldId id="287" r:id="rId28"/>
    <p:sldId id="288" r:id="rId29"/>
    <p:sldId id="290" r:id="rId30"/>
    <p:sldId id="289" r:id="rId31"/>
    <p:sldId id="259" r:id="rId32"/>
    <p:sldId id="260" r:id="rId33"/>
    <p:sldId id="261" r:id="rId34"/>
    <p:sldId id="262"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31"/>
  </p:normalViewPr>
  <p:slideViewPr>
    <p:cSldViewPr>
      <p:cViewPr varScale="1">
        <p:scale>
          <a:sx n="123" d="100"/>
          <a:sy n="123" d="100"/>
        </p:scale>
        <p:origin x="1344"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2C4CB-14E1-43EC-9E25-77CFC75FDBE0}"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2C4CB-14E1-43EC-9E25-77CFC75FDBE0}"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E2C4CB-14E1-43EC-9E25-77CFC75FDBE0}" type="datetimeFigureOut">
              <a:rPr lang="en-US" smtClean="0"/>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E2C4CB-14E1-43EC-9E25-77CFC75FDBE0}" type="datetimeFigureOut">
              <a:rPr lang="en-US" smtClean="0"/>
              <a:t>6/10/26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E2C4CB-14E1-43EC-9E25-77CFC75FDBE0}" type="datetimeFigureOut">
              <a:rPr lang="en-US" smtClean="0"/>
              <a:t>6/10/26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t>6/10/26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t>6/10/26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r.ashraf@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Introduction</a:t>
            </a:r>
          </a:p>
        </p:txBody>
      </p:sp>
      <p:sp>
        <p:nvSpPr>
          <p:cNvPr id="3" name="Subtitle 2"/>
          <p:cNvSpPr>
            <a:spLocks noGrp="1"/>
          </p:cNvSpPr>
          <p:nvPr>
            <p:ph type="subTitle" idx="1"/>
          </p:nvPr>
        </p:nvSpPr>
        <p:spPr>
          <a:xfrm>
            <a:off x="685800" y="1371600"/>
            <a:ext cx="7467600" cy="4343400"/>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CSC 4232 Machine Learning</a:t>
            </a:r>
          </a:p>
          <a:p>
            <a:r>
              <a:rPr lang="en-US" sz="1800" dirty="0">
                <a:solidFill>
                  <a:schemeClr val="tx1"/>
                </a:solidFill>
                <a:latin typeface="Times New Roman" panose="02020603050405020304" pitchFamily="18" charset="0"/>
                <a:cs typeface="Times New Roman" panose="02020603050405020304" pitchFamily="18" charset="0"/>
              </a:rPr>
              <a:t>Semester: Summer 2024-25</a:t>
            </a:r>
          </a:p>
          <a:p>
            <a:r>
              <a:rPr lang="en-US" sz="1800" dirty="0">
                <a:solidFill>
                  <a:schemeClr val="tx1"/>
                </a:solidFill>
                <a:latin typeface="Times New Roman" panose="02020603050405020304" pitchFamily="18" charset="0"/>
                <a:cs typeface="Times New Roman" panose="02020603050405020304" pitchFamily="18" charset="0"/>
              </a:rPr>
              <a:t>Prerequisite: Artificial Intelligence &amp; Expert System</a:t>
            </a: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b="1" dirty="0">
              <a:solidFill>
                <a:schemeClr val="tx1"/>
              </a:solidFill>
              <a:latin typeface="Times New Roman" panose="02020603050405020304" pitchFamily="18" charset="0"/>
              <a:cs typeface="Times New Roman" panose="02020603050405020304" pitchFamily="18" charset="0"/>
            </a:endParaRPr>
          </a:p>
          <a:p>
            <a:r>
              <a:rPr lang="en-US" sz="1800" b="1" dirty="0">
                <a:solidFill>
                  <a:schemeClr val="tx1"/>
                </a:solidFill>
                <a:latin typeface="Times New Roman" panose="02020603050405020304" pitchFamily="18" charset="0"/>
                <a:cs typeface="Times New Roman" panose="02020603050405020304" pitchFamily="18" charset="0"/>
              </a:rPr>
              <a:t>S M Abdullah Shafi</a:t>
            </a:r>
          </a:p>
          <a:p>
            <a:r>
              <a:rPr lang="en-US" sz="1800" dirty="0">
                <a:solidFill>
                  <a:schemeClr val="tx1"/>
                </a:solidFill>
                <a:latin typeface="Times New Roman" panose="02020603050405020304" pitchFamily="18" charset="0"/>
                <a:cs typeface="Times New Roman" panose="02020603050405020304" pitchFamily="18" charset="0"/>
              </a:rPr>
              <a:t>Lecturer</a:t>
            </a:r>
          </a:p>
          <a:p>
            <a:r>
              <a:rPr lang="en-US" sz="1800" dirty="0">
                <a:solidFill>
                  <a:schemeClr val="tx1"/>
                </a:solidFill>
                <a:latin typeface="Times New Roman" panose="02020603050405020304" pitchFamily="18" charset="0"/>
                <a:cs typeface="Times New Roman" panose="02020603050405020304" pitchFamily="18" charset="0"/>
              </a:rPr>
              <a:t>e-mail: </a:t>
            </a:r>
            <a:r>
              <a:rPr lang="en-US" sz="1800" dirty="0" err="1">
                <a:solidFill>
                  <a:schemeClr val="tx1"/>
                </a:solidFill>
                <a:latin typeface="Times New Roman" panose="02020603050405020304" pitchFamily="18" charset="0"/>
                <a:cs typeface="Times New Roman" panose="02020603050405020304" pitchFamily="18" charset="0"/>
              </a:rPr>
              <a:t>shafi</a:t>
            </a:r>
            <a:r>
              <a:rPr lang="en-US" sz="1800" dirty="0" err="1">
                <a:solidFill>
                  <a:schemeClr val="tx1"/>
                </a:solidFill>
                <a:latin typeface="Times New Roman" panose="02020603050405020304" pitchFamily="18" charset="0"/>
                <a:cs typeface="Times New Roman" panose="02020603050405020304" pitchFamily="18" charset="0"/>
                <a:hlinkClick r:id="rId2"/>
              </a:rPr>
              <a:t>@aiub.edu</a:t>
            </a:r>
            <a:endParaRPr lang="en-US"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Room: 9508B</a:t>
            </a: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r>
              <a:rPr lang="en-US" sz="1800" b="1" dirty="0">
                <a:solidFill>
                  <a:schemeClr val="tx1"/>
                </a:solidFill>
                <a:latin typeface="Times New Roman" panose="02020603050405020304" pitchFamily="18" charset="0"/>
                <a:cs typeface="Times New Roman" panose="02020603050405020304" pitchFamily="18" charset="0"/>
              </a:rPr>
              <a:t>Course Materials: </a:t>
            </a:r>
            <a:r>
              <a:rPr lang="en-US" sz="1800" dirty="0">
                <a:solidFill>
                  <a:schemeClr val="tx1"/>
                </a:solidFill>
                <a:latin typeface="Times New Roman" panose="02020603050405020304" pitchFamily="18" charset="0"/>
                <a:cs typeface="Times New Roman" panose="02020603050405020304" pitchFamily="18" charset="0"/>
              </a:rPr>
              <a:t>Visit the portal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Vision &amp; Mission of AIUB</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Vision</a:t>
            </a:r>
          </a:p>
          <a:p>
            <a:pPr algn="just"/>
            <a:r>
              <a:rPr lang="en-US" sz="1800" dirty="0">
                <a:solidFill>
                  <a:schemeClr val="tx1"/>
                </a:solidFill>
                <a:latin typeface="Times New Roman" panose="02020603050405020304" pitchFamily="18" charset="0"/>
                <a:cs typeface="Times New Roman" panose="02020603050405020304" pitchFamily="18" charset="0"/>
              </a:rPr>
              <a:t>AMERICAN INTERNATIONAL UNIVERSITY-BANGLADESH (AIUB) envisions promoting professionals and excellent leadership catering to the technological progress and development needs of the country.</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Mission</a:t>
            </a:r>
          </a:p>
          <a:p>
            <a:pPr algn="just"/>
            <a:r>
              <a:rPr lang="en-US" sz="1800" dirty="0">
                <a:solidFill>
                  <a:schemeClr val="tx1"/>
                </a:solidFill>
                <a:latin typeface="Times New Roman" panose="02020603050405020304" pitchFamily="18" charset="0"/>
                <a:cs typeface="Times New Roman" panose="02020603050405020304" pitchFamily="18" charset="0"/>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kern="0" dirty="0">
                <a:latin typeface="Times New Roman" panose="02020603050405020304" pitchFamily="18" charset="0"/>
                <a:cs typeface="Times New Roman" panose="02020603050405020304" pitchFamily="18" charset="0"/>
              </a:rPr>
              <a:t>Goals of AIUB</a:t>
            </a:r>
          </a:p>
        </p:txBody>
      </p:sp>
      <p:sp>
        <p:nvSpPr>
          <p:cNvPr id="3" name="Subtitle 2"/>
          <p:cNvSpPr>
            <a:spLocks noGrp="1"/>
          </p:cNvSpPr>
          <p:nvPr>
            <p:ph type="subTitle" idx="1"/>
          </p:nvPr>
        </p:nvSpPr>
        <p:spPr>
          <a:xfrm>
            <a:off x="685800" y="1371600"/>
            <a:ext cx="7467600" cy="4343400"/>
          </a:xfrm>
        </p:spPr>
        <p:txBody>
          <a:bodyPr>
            <a:normAutofit fontScale="85000" lnSpcReduction="20000"/>
          </a:bodyPr>
          <a:lstStyle/>
          <a:p>
            <a:pPr algn="just"/>
            <a:r>
              <a:rPr lang="en-US" sz="1800" dirty="0">
                <a:solidFill>
                  <a:schemeClr val="tx1"/>
                </a:solidFill>
                <a:latin typeface="Times New Roman" panose="02020603050405020304" pitchFamily="18" charset="0"/>
                <a:cs typeface="Times New Roman" panose="02020603050405020304" pitchFamily="18" charset="0"/>
              </a:rPr>
              <a:t>Sustain development and progress of the university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Continue to upgrade educational services and facilities responsive of the demands for change and needs of the society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Inculcate professional culture among management, faculty and personnel in the attainment of the institution's vision, mission and goals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Enhance research consciousness in discovering new dimensions for curriculum development and enrichment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Implement meaningful and relevant community outreach programs reflective of the available resources and expertise of the university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Establish strong networking of programs, sharing of resources and expertise with local and international educational institutions and organizations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Accelerate the participation of alumni, students and professionals in the implementation of educational programs and development of projects designed to expand and improve global academic standards.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838200"/>
          </a:xfrm>
        </p:spPr>
        <p:txBody>
          <a:bodyPr>
            <a:normAutofit fontScale="90000"/>
          </a:bodyPr>
          <a:lstStyle/>
          <a:p>
            <a:r>
              <a:rPr lang="en-US" sz="3200" dirty="0">
                <a:latin typeface="Times New Roman" panose="02020603050405020304" pitchFamily="18" charset="0"/>
                <a:cs typeface="Times New Roman" panose="02020603050405020304" pitchFamily="18" charset="0"/>
              </a:rPr>
              <a:t>Vision &amp; Mission of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Computer Science Department</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Vision</a:t>
            </a:r>
          </a:p>
          <a:p>
            <a:pPr algn="just"/>
            <a:r>
              <a:rPr lang="en-US" sz="1800" dirty="0">
                <a:solidFill>
                  <a:schemeClr val="tx1"/>
                </a:solidFill>
                <a:latin typeface="Times New Roman" panose="02020603050405020304" pitchFamily="18" charset="0"/>
                <a:cs typeface="Times New Roman" panose="02020603050405020304" pitchFamily="18" charset="0"/>
              </a:rPr>
              <a:t>Provides leadership in the pursuit of quality and excellent computer education and produce highly skilled and globally competitive IT professionals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Mission</a:t>
            </a:r>
          </a:p>
          <a:p>
            <a:pPr algn="just"/>
            <a:r>
              <a:rPr lang="en-US" sz="1800" dirty="0">
                <a:solidFill>
                  <a:schemeClr val="tx1"/>
                </a:solidFill>
                <a:latin typeface="Times New Roman" panose="02020603050405020304" pitchFamily="18" charset="0"/>
                <a:cs typeface="Times New Roman" panose="02020603050405020304" pitchFamily="18" charset="0"/>
              </a:rPr>
              <a:t>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fontScale="90000"/>
          </a:bodyPr>
          <a:lstStyle/>
          <a:p>
            <a:r>
              <a:rPr lang="en-US" sz="3200" kern="0" dirty="0">
                <a:latin typeface="Times New Roman" panose="02020603050405020304" pitchFamily="18" charset="0"/>
                <a:cs typeface="Times New Roman" panose="02020603050405020304" pitchFamily="18" charset="0"/>
              </a:rPr>
              <a:t>Goals of Computer Science Department</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dirty="0">
                <a:solidFill>
                  <a:schemeClr val="tx1"/>
                </a:solidFill>
                <a:latin typeface="Times New Roman" panose="02020603050405020304" pitchFamily="18" charset="0"/>
                <a:cs typeface="Times New Roman" panose="02020603050405020304" pitchFamily="18" charset="0"/>
              </a:rPr>
              <a:t>Enrich the computer education curriculum to suit the needs of the industry-   wide standards for both domestic and international markets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Equip the faculty and staff with professional, modern technological and research skills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Upgrade continuously computer hardware's, facilities and instructional materials to cope with the challenges of the information technology age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Initiate and conduct relevant research, software development and outreach services.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Establish linkage with industry and other IT-based organizations/institutions for sharing of resources and expertise, and better job opportunities for students.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Course Evaluation</a:t>
            </a:r>
          </a:p>
        </p:txBody>
      </p:sp>
      <p:graphicFrame>
        <p:nvGraphicFramePr>
          <p:cNvPr id="3" name="Table 2"/>
          <p:cNvGraphicFramePr>
            <a:graphicFrameLocks noGrp="1"/>
          </p:cNvGraphicFramePr>
          <p:nvPr/>
        </p:nvGraphicFramePr>
        <p:xfrm>
          <a:off x="1447800" y="1905000"/>
          <a:ext cx="6093587" cy="3337560"/>
        </p:xfrm>
        <a:graphic>
          <a:graphicData uri="http://schemas.openxmlformats.org/drawingml/2006/table">
            <a:tbl>
              <a:tblPr firstRow="1" bandRow="1">
                <a:tableStyleId>{D7AC3CCA-C797-4891-BE02-D94E43425B78}</a:tableStyleId>
              </a:tblPr>
              <a:tblGrid>
                <a:gridCol w="1219200">
                  <a:extLst>
                    <a:ext uri="{9D8B030D-6E8A-4147-A177-3AD203B41FA5}">
                      <a16:colId xmlns:a16="http://schemas.microsoft.com/office/drawing/2014/main" val="20000"/>
                    </a:ext>
                  </a:extLst>
                </a:gridCol>
                <a:gridCol w="2435987">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70840">
                <a:tc rowSpan="3">
                  <a:txBody>
                    <a:bodyPr/>
                    <a:lstStyle/>
                    <a:p>
                      <a:pPr algn="ctr"/>
                      <a:r>
                        <a:rPr lang="en-US" b="1" dirty="0"/>
                        <a:t>Mid</a:t>
                      </a:r>
                    </a:p>
                  </a:txBody>
                  <a:tcPr anchor="ctr">
                    <a:solidFill>
                      <a:schemeClr val="accent1">
                        <a:lumMod val="40000"/>
                        <a:lumOff val="60000"/>
                      </a:schemeClr>
                    </a:solidFill>
                  </a:tcPr>
                </a:tc>
                <a:tc>
                  <a:txBody>
                    <a:bodyPr/>
                    <a:lstStyle/>
                    <a:p>
                      <a:pPr algn="l"/>
                      <a:r>
                        <a:rPr lang="en-US" b="0" dirty="0"/>
                        <a:t>Attendance</a:t>
                      </a:r>
                    </a:p>
                  </a:txBody>
                  <a:tcPr anchor="ctr">
                    <a:solidFill>
                      <a:schemeClr val="accent1">
                        <a:lumMod val="40000"/>
                        <a:lumOff val="60000"/>
                      </a:schemeClr>
                    </a:solidFill>
                  </a:tcPr>
                </a:tc>
                <a:tc>
                  <a:txBody>
                    <a:bodyPr/>
                    <a:lstStyle/>
                    <a:p>
                      <a:pPr algn="ctr"/>
                      <a:r>
                        <a:rPr lang="en-US" b="0" dirty="0"/>
                        <a:t>10</a:t>
                      </a:r>
                    </a:p>
                  </a:txBody>
                  <a:tcPr anchor="ctr">
                    <a:solidFill>
                      <a:schemeClr val="accent1">
                        <a:lumMod val="40000"/>
                        <a:lumOff val="60000"/>
                      </a:schemeClr>
                    </a:solidFill>
                  </a:tcPr>
                </a:tc>
                <a:tc rowSpan="3">
                  <a:txBody>
                    <a:bodyPr/>
                    <a:lstStyle/>
                    <a:p>
                      <a:pPr algn="ctr"/>
                      <a:r>
                        <a:rPr lang="en-US" b="0" dirty="0"/>
                        <a:t>40</a:t>
                      </a:r>
                    </a:p>
                  </a:txBody>
                  <a:tcPr anchor="ctr">
                    <a:solidFill>
                      <a:schemeClr val="accent1">
                        <a:lumMod val="40000"/>
                        <a:lumOff val="60000"/>
                      </a:schemeClr>
                    </a:solidFill>
                  </a:tcPr>
                </a:tc>
                <a:extLst>
                  <a:ext uri="{0D108BD9-81ED-4DB2-BD59-A6C34878D82A}">
                    <a16:rowId xmlns:a16="http://schemas.microsoft.com/office/drawing/2014/main" val="10000"/>
                  </a:ext>
                </a:extLst>
              </a:tr>
              <a:tr h="370840">
                <a:tc vMerge="1">
                  <a:txBody>
                    <a:bodyPr/>
                    <a:lstStyle/>
                    <a:p>
                      <a:endParaRPr lang="en-US"/>
                    </a:p>
                  </a:txBody>
                  <a:tcPr/>
                </a:tc>
                <a:tc>
                  <a:txBody>
                    <a:bodyPr/>
                    <a:lstStyle/>
                    <a:p>
                      <a:pPr algn="l"/>
                      <a:r>
                        <a:rPr lang="en-US" b="0" dirty="0"/>
                        <a:t>Quiz</a:t>
                      </a:r>
                    </a:p>
                  </a:txBody>
                  <a:tcPr anchor="ctr">
                    <a:solidFill>
                      <a:schemeClr val="accent1">
                        <a:lumMod val="40000"/>
                        <a:lumOff val="60000"/>
                      </a:schemeClr>
                    </a:solidFill>
                  </a:tcPr>
                </a:tc>
                <a:tc>
                  <a:txBody>
                    <a:bodyPr/>
                    <a:lstStyle/>
                    <a:p>
                      <a:pPr algn="ctr"/>
                      <a:r>
                        <a:rPr lang="en-US" b="0" dirty="0"/>
                        <a:t>15</a:t>
                      </a:r>
                    </a:p>
                  </a:txBody>
                  <a:tcPr anchor="ctr">
                    <a:solidFill>
                      <a:schemeClr val="accent1">
                        <a:lumMod val="40000"/>
                        <a:lumOff val="60000"/>
                      </a:schemeClr>
                    </a:solidFill>
                  </a:tcPr>
                </a:tc>
                <a:tc vMerge="1">
                  <a:txBody>
                    <a:bodyPr/>
                    <a:lstStyle/>
                    <a:p>
                      <a:endParaRPr lang="en-US"/>
                    </a:p>
                  </a:txBody>
                  <a:tcPr/>
                </a:tc>
                <a:extLst>
                  <a:ext uri="{0D108BD9-81ED-4DB2-BD59-A6C34878D82A}">
                    <a16:rowId xmlns:a16="http://schemas.microsoft.com/office/drawing/2014/main" val="10001"/>
                  </a:ext>
                </a:extLst>
              </a:tr>
              <a:tr h="370840">
                <a:tc vMerge="1">
                  <a:txBody>
                    <a:bodyPr/>
                    <a:lstStyle/>
                    <a:p>
                      <a:endParaRPr lang="en-US"/>
                    </a:p>
                  </a:txBody>
                  <a:tcPr/>
                </a:tc>
                <a:tc>
                  <a:txBody>
                    <a:bodyPr/>
                    <a:lstStyle/>
                    <a:p>
                      <a:pPr algn="l"/>
                      <a:r>
                        <a:rPr lang="en-US" b="0" dirty="0"/>
                        <a:t>Assignment</a:t>
                      </a:r>
                    </a:p>
                  </a:txBody>
                  <a:tcPr anchor="ctr">
                    <a:solidFill>
                      <a:schemeClr val="accent1">
                        <a:lumMod val="40000"/>
                        <a:lumOff val="60000"/>
                      </a:schemeClr>
                    </a:solidFill>
                  </a:tcPr>
                </a:tc>
                <a:tc>
                  <a:txBody>
                    <a:bodyPr/>
                    <a:lstStyle/>
                    <a:p>
                      <a:pPr algn="ctr"/>
                      <a:r>
                        <a:rPr lang="en-US" b="0" dirty="0"/>
                        <a:t>15</a:t>
                      </a:r>
                    </a:p>
                  </a:txBody>
                  <a:tcPr anchor="ctr">
                    <a:solidFill>
                      <a:schemeClr val="accent1">
                        <a:lumMod val="40000"/>
                        <a:lumOff val="60000"/>
                      </a:schemeClr>
                    </a:solidFill>
                  </a:tcPr>
                </a:tc>
                <a:tc vMerge="1">
                  <a:txBody>
                    <a:bodyPr/>
                    <a:lstStyle/>
                    <a:p>
                      <a:endParaRPr lang="en-US"/>
                    </a:p>
                  </a:txBody>
                  <a:tcPr/>
                </a:tc>
                <a:extLst>
                  <a:ext uri="{0D108BD9-81ED-4DB2-BD59-A6C34878D82A}">
                    <a16:rowId xmlns:a16="http://schemas.microsoft.com/office/drawing/2014/main" val="10002"/>
                  </a:ext>
                </a:extLst>
              </a:tr>
              <a:tr h="370840">
                <a:tc rowSpan="4">
                  <a:txBody>
                    <a:bodyPr/>
                    <a:lstStyle/>
                    <a:p>
                      <a:pPr algn="ctr"/>
                      <a:r>
                        <a:rPr lang="en-US" b="1" dirty="0"/>
                        <a:t>Final</a:t>
                      </a:r>
                    </a:p>
                  </a:txBody>
                  <a:tcPr anchor="ctr">
                    <a:solidFill>
                      <a:schemeClr val="accent2">
                        <a:lumMod val="60000"/>
                        <a:lumOff val="40000"/>
                      </a:schemeClr>
                    </a:solidFill>
                  </a:tcPr>
                </a:tc>
                <a:tc>
                  <a:txBody>
                    <a:bodyPr/>
                    <a:lstStyle/>
                    <a:p>
                      <a:pPr algn="l"/>
                      <a:r>
                        <a:rPr lang="en-US" b="0" dirty="0"/>
                        <a:t>Attendance</a:t>
                      </a:r>
                    </a:p>
                  </a:txBody>
                  <a:tcPr anchor="ctr">
                    <a:solidFill>
                      <a:schemeClr val="accent2">
                        <a:lumMod val="60000"/>
                        <a:lumOff val="40000"/>
                      </a:schemeClr>
                    </a:solidFill>
                  </a:tcPr>
                </a:tc>
                <a:tc>
                  <a:txBody>
                    <a:bodyPr/>
                    <a:lstStyle/>
                    <a:p>
                      <a:pPr algn="ctr"/>
                      <a:r>
                        <a:rPr lang="en-US" b="0" dirty="0"/>
                        <a:t>10</a:t>
                      </a:r>
                    </a:p>
                  </a:txBody>
                  <a:tcPr anchor="ctr">
                    <a:solidFill>
                      <a:schemeClr val="accent2">
                        <a:lumMod val="60000"/>
                        <a:lumOff val="40000"/>
                      </a:schemeClr>
                    </a:solidFill>
                  </a:tcPr>
                </a:tc>
                <a:tc rowSpan="4">
                  <a:txBody>
                    <a:bodyPr/>
                    <a:lstStyle/>
                    <a:p>
                      <a:pPr algn="ctr"/>
                      <a:r>
                        <a:rPr lang="en-US" b="0" dirty="0"/>
                        <a:t>60</a:t>
                      </a:r>
                    </a:p>
                  </a:txBody>
                  <a:tcPr anchor="ctr">
                    <a:solidFill>
                      <a:schemeClr val="accent2">
                        <a:lumMod val="60000"/>
                        <a:lumOff val="40000"/>
                      </a:schemeClr>
                    </a:solidFill>
                  </a:tcPr>
                </a:tc>
                <a:extLst>
                  <a:ext uri="{0D108BD9-81ED-4DB2-BD59-A6C34878D82A}">
                    <a16:rowId xmlns:a16="http://schemas.microsoft.com/office/drawing/2014/main" val="10003"/>
                  </a:ext>
                </a:extLst>
              </a:tr>
              <a:tr h="370840">
                <a:tc vMerge="1">
                  <a:txBody>
                    <a:bodyPr/>
                    <a:lstStyle/>
                    <a:p>
                      <a:endParaRPr lang="en-US"/>
                    </a:p>
                  </a:txBody>
                  <a:tcPr/>
                </a:tc>
                <a:tc>
                  <a:txBody>
                    <a:bodyPr/>
                    <a:lstStyle/>
                    <a:p>
                      <a:pPr algn="l"/>
                      <a:r>
                        <a:rPr lang="en-US" b="0" dirty="0"/>
                        <a:t>Quiz</a:t>
                      </a:r>
                    </a:p>
                  </a:txBody>
                  <a:tcPr anchor="ctr">
                    <a:solidFill>
                      <a:schemeClr val="accent2">
                        <a:lumMod val="60000"/>
                        <a:lumOff val="40000"/>
                      </a:schemeClr>
                    </a:solidFill>
                  </a:tcPr>
                </a:tc>
                <a:tc>
                  <a:txBody>
                    <a:bodyPr/>
                    <a:lstStyle/>
                    <a:p>
                      <a:pPr algn="ctr"/>
                      <a:r>
                        <a:rPr lang="en-US" b="0" dirty="0"/>
                        <a:t>15</a:t>
                      </a:r>
                    </a:p>
                  </a:txBody>
                  <a:tcPr anchor="ctr">
                    <a:solidFill>
                      <a:schemeClr val="accent2">
                        <a:lumMod val="60000"/>
                        <a:lumOff val="40000"/>
                      </a:schemeClr>
                    </a:solidFill>
                  </a:tcPr>
                </a:tc>
                <a:tc vMerge="1">
                  <a:txBody>
                    <a:bodyPr/>
                    <a:lstStyle/>
                    <a:p>
                      <a:endParaRPr lang="en-US"/>
                    </a:p>
                  </a:txBody>
                  <a:tcPr/>
                </a:tc>
                <a:extLst>
                  <a:ext uri="{0D108BD9-81ED-4DB2-BD59-A6C34878D82A}">
                    <a16:rowId xmlns:a16="http://schemas.microsoft.com/office/drawing/2014/main" val="10004"/>
                  </a:ext>
                </a:extLst>
              </a:tr>
              <a:tr h="370840">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0" dirty="0"/>
                        <a:t>Project Implementation</a:t>
                      </a:r>
                    </a:p>
                  </a:txBody>
                  <a:tcPr anchor="ctr">
                    <a:solidFill>
                      <a:schemeClr val="accent2">
                        <a:lumMod val="60000"/>
                        <a:lumOff val="40000"/>
                      </a:schemeClr>
                    </a:solidFill>
                  </a:tcPr>
                </a:tc>
                <a:tc>
                  <a:txBody>
                    <a:bodyPr/>
                    <a:lstStyle/>
                    <a:p>
                      <a:pPr algn="ctr"/>
                      <a:r>
                        <a:rPr lang="en-US" b="0" dirty="0"/>
                        <a:t>10</a:t>
                      </a:r>
                    </a:p>
                  </a:txBody>
                  <a:tcPr anchor="ctr">
                    <a:solidFill>
                      <a:schemeClr val="accent2">
                        <a:lumMod val="60000"/>
                        <a:lumOff val="40000"/>
                      </a:schemeClr>
                    </a:solidFill>
                  </a:tcPr>
                </a:tc>
                <a:tc vMerge="1">
                  <a:txBody>
                    <a:bodyPr/>
                    <a:lstStyle/>
                    <a:p>
                      <a:endParaRPr lang="en-US"/>
                    </a:p>
                  </a:txBody>
                  <a:tcPr/>
                </a:tc>
                <a:extLst>
                  <a:ext uri="{0D108BD9-81ED-4DB2-BD59-A6C34878D82A}">
                    <a16:rowId xmlns:a16="http://schemas.microsoft.com/office/drawing/2014/main" val="10005"/>
                  </a:ext>
                </a:extLst>
              </a:tr>
              <a:tr h="370840">
                <a:tc vMerge="1">
                  <a:txBody>
                    <a:bodyPr/>
                    <a:lstStyle/>
                    <a:p>
                      <a:endParaRPr lang="en-US"/>
                    </a:p>
                  </a:txBody>
                  <a:tcPr/>
                </a:tc>
                <a:tc>
                  <a:txBody>
                    <a:bodyPr/>
                    <a:lstStyle/>
                    <a:p>
                      <a:pPr algn="l"/>
                      <a:r>
                        <a:rPr lang="en-US" b="0" dirty="0"/>
                        <a:t>Project Presentation</a:t>
                      </a:r>
                    </a:p>
                  </a:txBody>
                  <a:tcPr anchor="ctr">
                    <a:solidFill>
                      <a:schemeClr val="accent2">
                        <a:lumMod val="60000"/>
                        <a:lumOff val="40000"/>
                      </a:schemeClr>
                    </a:solidFill>
                  </a:tcPr>
                </a:tc>
                <a:tc>
                  <a:txBody>
                    <a:bodyPr/>
                    <a:lstStyle/>
                    <a:p>
                      <a:pPr algn="ctr"/>
                      <a:r>
                        <a:rPr lang="en-US" b="0" dirty="0"/>
                        <a:t>15</a:t>
                      </a:r>
                    </a:p>
                  </a:txBody>
                  <a:tcPr anchor="ctr">
                    <a:solidFill>
                      <a:schemeClr val="accent2">
                        <a:lumMod val="60000"/>
                        <a:lumOff val="40000"/>
                      </a:schemeClr>
                    </a:solidFill>
                  </a:tcPr>
                </a:tc>
                <a:tc vMerge="1">
                  <a:txBody>
                    <a:bodyPr/>
                    <a:lstStyle/>
                    <a:p>
                      <a:endParaRPr lang="en-US"/>
                    </a:p>
                  </a:txBody>
                  <a:tcPr/>
                </a:tc>
                <a:extLst>
                  <a:ext uri="{0D108BD9-81ED-4DB2-BD59-A6C34878D82A}">
                    <a16:rowId xmlns:a16="http://schemas.microsoft.com/office/drawing/2014/main" val="10006"/>
                  </a:ext>
                </a:extLst>
              </a:tr>
              <a:tr h="370840">
                <a:tc>
                  <a:txBody>
                    <a:bodyPr/>
                    <a:lstStyle/>
                    <a:p>
                      <a:pPr algn="ctr">
                        <a:buNone/>
                      </a:pPr>
                      <a:endParaRPr lang="en-US" b="1" dirty="0"/>
                    </a:p>
                  </a:txBody>
                  <a:tcPr>
                    <a:solidFill>
                      <a:schemeClr val="accent2">
                        <a:lumMod val="60000"/>
                        <a:lumOff val="40000"/>
                      </a:schemeClr>
                    </a:solidFill>
                  </a:tcPr>
                </a:tc>
                <a:tc>
                  <a:txBody>
                    <a:bodyPr/>
                    <a:lstStyle/>
                    <a:p>
                      <a:pPr algn="l">
                        <a:buNone/>
                      </a:pPr>
                      <a:r>
                        <a:rPr lang="en-US" b="0" dirty="0"/>
                        <a:t>Project Report</a:t>
                      </a:r>
                    </a:p>
                  </a:txBody>
                  <a:tcPr anchor="ctr">
                    <a:solidFill>
                      <a:schemeClr val="accent2">
                        <a:lumMod val="60000"/>
                        <a:lumOff val="40000"/>
                      </a:schemeClr>
                    </a:solidFill>
                  </a:tcPr>
                </a:tc>
                <a:tc>
                  <a:txBody>
                    <a:bodyPr/>
                    <a:lstStyle/>
                    <a:p>
                      <a:pPr algn="ctr">
                        <a:buNone/>
                      </a:pPr>
                      <a:r>
                        <a:rPr lang="en-US" b="0" dirty="0"/>
                        <a:t>10</a:t>
                      </a:r>
                    </a:p>
                  </a:txBody>
                  <a:tcPr anchor="ctr">
                    <a:solidFill>
                      <a:schemeClr val="accent2">
                        <a:lumMod val="60000"/>
                        <a:lumOff val="40000"/>
                      </a:schemeClr>
                    </a:solidFill>
                  </a:tcPr>
                </a:tc>
                <a:tc>
                  <a:txBody>
                    <a:bodyPr/>
                    <a:lstStyle/>
                    <a:p>
                      <a:pPr algn="ctr">
                        <a:buNone/>
                      </a:pPr>
                      <a:endParaRPr lang="en-US" b="0" dirty="0"/>
                    </a:p>
                  </a:txBody>
                  <a:tcPr>
                    <a:solidFill>
                      <a:schemeClr val="accent2">
                        <a:lumMod val="60000"/>
                        <a:lumOff val="40000"/>
                      </a:schemeClr>
                    </a:solidFill>
                  </a:tcPr>
                </a:tc>
                <a:extLst>
                  <a:ext uri="{0D108BD9-81ED-4DB2-BD59-A6C34878D82A}">
                    <a16:rowId xmlns:a16="http://schemas.microsoft.com/office/drawing/2014/main" val="10007"/>
                  </a:ext>
                </a:extLst>
              </a:tr>
              <a:tr h="370840">
                <a:tc>
                  <a:txBody>
                    <a:bodyPr/>
                    <a:lstStyle/>
                    <a:p>
                      <a:pPr algn="ctr"/>
                      <a:r>
                        <a:rPr lang="en-US" b="1" dirty="0"/>
                        <a:t>Grand</a:t>
                      </a:r>
                    </a:p>
                  </a:txBody>
                  <a:tcPr anchor="ctr">
                    <a:solidFill>
                      <a:schemeClr val="bg1">
                        <a:lumMod val="85000"/>
                      </a:schemeClr>
                    </a:solidFill>
                  </a:tcPr>
                </a:tc>
                <a:tc>
                  <a:txBody>
                    <a:bodyPr/>
                    <a:lstStyle/>
                    <a:p>
                      <a:pPr algn="ctr"/>
                      <a:endParaRPr lang="en-US" b="0" dirty="0"/>
                    </a:p>
                  </a:txBody>
                  <a:tcPr anchor="ctr">
                    <a:solidFill>
                      <a:schemeClr val="bg1">
                        <a:lumMod val="85000"/>
                      </a:schemeClr>
                    </a:solidFill>
                  </a:tcPr>
                </a:tc>
                <a:tc>
                  <a:txBody>
                    <a:bodyPr/>
                    <a:lstStyle/>
                    <a:p>
                      <a:pPr algn="ctr"/>
                      <a:endParaRPr lang="en-US" b="0" dirty="0"/>
                    </a:p>
                  </a:txBody>
                  <a:tcPr anchor="ctr">
                    <a:solidFill>
                      <a:schemeClr val="bg1">
                        <a:lumMod val="85000"/>
                      </a:schemeClr>
                    </a:solidFill>
                  </a:tcPr>
                </a:tc>
                <a:tc>
                  <a:txBody>
                    <a:bodyPr/>
                    <a:lstStyle/>
                    <a:p>
                      <a:pPr algn="ctr"/>
                      <a:r>
                        <a:rPr lang="en-US" b="0" dirty="0"/>
                        <a:t>100</a:t>
                      </a:r>
                    </a:p>
                  </a:txBody>
                  <a:tcPr anchor="ctr">
                    <a:solidFill>
                      <a:schemeClr val="bg1">
                        <a:lumMod val="85000"/>
                      </a:scheme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Classroom Policies</a:t>
            </a:r>
          </a:p>
        </p:txBody>
      </p:sp>
      <p:sp>
        <p:nvSpPr>
          <p:cNvPr id="3" name="Subtitle 2"/>
          <p:cNvSpPr>
            <a:spLocks noGrp="1"/>
          </p:cNvSpPr>
          <p:nvPr>
            <p:ph type="subTitle" idx="1"/>
          </p:nvPr>
        </p:nvSpPr>
        <p:spPr>
          <a:xfrm>
            <a:off x="685800" y="1371600"/>
            <a:ext cx="7467600" cy="4343400"/>
          </a:xfrm>
        </p:spPr>
        <p:txBody>
          <a:bodyPr>
            <a:normAutofit fontScale="92500" lnSpcReduction="20000"/>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Must be present inside the class in due time. (At least 80%)</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Every class will start with a question-answer session about the last lecture. So students must be prepared with the contents and exercises from the last lecture.</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Students are suggested to ask questions during or after the lecture.</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Additional/bonus marks may be given to any good performances during the class.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Late in Class: </a:t>
            </a:r>
          </a:p>
          <a:p>
            <a:pPr algn="just"/>
            <a:r>
              <a:rPr lang="en-US" sz="1800" dirty="0">
                <a:solidFill>
                  <a:schemeClr val="tx1"/>
                </a:solidFill>
                <a:latin typeface="Times New Roman" panose="02020603050405020304" pitchFamily="18" charset="0"/>
                <a:cs typeface="Times New Roman" panose="02020603050405020304" pitchFamily="18" charset="0"/>
              </a:rPr>
              <a:t>Student coming after 5 minutes of due time is considered late. </a:t>
            </a:r>
          </a:p>
          <a:p>
            <a:pPr algn="just"/>
            <a:r>
              <a:rPr lang="en-US" sz="1800" dirty="0">
                <a:solidFill>
                  <a:schemeClr val="tx1"/>
                </a:solidFill>
                <a:latin typeface="Times New Roman" panose="02020603050405020304" pitchFamily="18" charset="0"/>
                <a:cs typeface="Times New Roman" panose="02020603050405020304" pitchFamily="18" charset="0"/>
              </a:rPr>
              <a:t>2 late attendances are considered as one absent.</a:t>
            </a:r>
          </a:p>
          <a:p>
            <a:pPr algn="just"/>
            <a:r>
              <a:rPr lang="en-US" sz="1800" dirty="0">
                <a:solidFill>
                  <a:schemeClr val="tx1"/>
                </a:solidFill>
                <a:latin typeface="Times New Roman" panose="02020603050405020304" pitchFamily="18" charset="0"/>
                <a:cs typeface="Times New Roman" panose="02020603050405020304" pitchFamily="18" charset="0"/>
              </a:rPr>
              <a:t>Late during quiz are not given additional time.</a:t>
            </a:r>
          </a:p>
          <a:p>
            <a:pPr algn="just"/>
            <a:r>
              <a:rPr lang="en-US" sz="1800" dirty="0">
                <a:solidFill>
                  <a:schemeClr val="tx1"/>
                </a:solidFill>
                <a:latin typeface="Times New Roman" panose="02020603050405020304" pitchFamily="18" charset="0"/>
                <a:cs typeface="Times New Roman" panose="02020603050405020304" pitchFamily="18" charset="0"/>
              </a:rPr>
              <a:t>Students who are regularly late might have additional deduction of marks.</a:t>
            </a:r>
          </a:p>
          <a:p>
            <a:pPr algn="just"/>
            <a:r>
              <a:rPr lang="en-US" sz="1800" dirty="0">
                <a:solidFill>
                  <a:schemeClr val="tx1"/>
                </a:solidFill>
                <a:latin typeface="Times New Roman" panose="02020603050405020304" pitchFamily="18" charset="0"/>
                <a:cs typeface="Times New Roman" panose="02020603050405020304" pitchFamily="18" charset="0"/>
              </a:rPr>
              <a:t>A late student will be allowed to enter the class. </a:t>
            </a:r>
          </a:p>
          <a:p>
            <a:pPr algn="just"/>
            <a:r>
              <a:rPr lang="en-US" sz="1800" dirty="0">
                <a:solidFill>
                  <a:schemeClr val="tx1"/>
                </a:solidFill>
                <a:latin typeface="Times New Roman" panose="02020603050405020304" pitchFamily="18" charset="0"/>
                <a:cs typeface="Times New Roman" panose="02020603050405020304" pitchFamily="18" charset="0"/>
              </a:rPr>
              <a:t>Don’t ask permission to enter the class, just get in slowly and silently.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Attendance</a:t>
            </a: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At least 80% presence is required by the student. Absent classes must be defended by the student through application and proper documentation to the course teacher.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Single absences or absences within 25% range will be judged by the course teacher.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Long absences/irregular presence/absences out of 25% range must go through application procedures via department Head (+ probation office, if student is in probation) to attend the following classes.</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Acceptance of an application for absence only gives permission to attend the following classes. This might still result in deduction of marks (for attendance) which will be judged by the course teacher.</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Grading Policies</a:t>
            </a: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All the evaluation categories &amp; marks will be uploaded to the VUES within one week of the evaluation process except the attendance, which will be uploaded along with the major (mid/final term) written exam marks.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Letter grades ‘A+’ through ‘F’ is counted as grades. Other grades ‘I’ and ‘UW’ are considered as temporary grades which are counted/calculated as ‘F’ grade in the CGPA. These grades must/will be converted to the actual grades, i.e. ‘A+’ through ‘F’.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 INCOMPLETE’ is given to students who have missed at most 30% of evaluation categories (quiz/assignment/etc.).  Students must contact the course teacher for makeup, through valid application procedures immediately after grade release.</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t>
            </a:r>
            <a:r>
              <a:rPr lang="en-US" sz="1800" b="1" dirty="0">
                <a:solidFill>
                  <a:schemeClr val="tx1"/>
                </a:solidFill>
                <a:latin typeface="Times New Roman" panose="02020603050405020304" pitchFamily="18" charset="0"/>
                <a:cs typeface="Times New Roman" panose="02020603050405020304" pitchFamily="18" charset="0"/>
              </a:rPr>
              <a:t>UW: UNOFFICIAL WITHDRAW’</a:t>
            </a:r>
            <a:r>
              <a:rPr lang="en-US" sz="1800" dirty="0">
                <a:solidFill>
                  <a:schemeClr val="tx1"/>
                </a:solidFill>
                <a:latin typeface="Times New Roman" panose="02020603050405020304" pitchFamily="18" charset="0"/>
                <a:cs typeface="Times New Roman" panose="02020603050405020304" pitchFamily="18" charset="0"/>
              </a:rPr>
              <a:t> is given when the missing evaluation categories are too high (more than 30%) to makeup. A student getting ‘UW’ has no option but to drop the course immediately after grade release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Finally</a:t>
            </a: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For any missing evaluation (quiz, assignment, etc.), classes, deadlines, etc. must contact the teacher immediately after missing in </a:t>
            </a:r>
            <a:r>
              <a:rPr lang="en-US" sz="1800" b="1" dirty="0">
                <a:solidFill>
                  <a:schemeClr val="tx1"/>
                </a:solidFill>
                <a:latin typeface="Times New Roman" panose="02020603050405020304" pitchFamily="18" charset="0"/>
                <a:cs typeface="Times New Roman" panose="02020603050405020304" pitchFamily="18" charset="0"/>
              </a:rPr>
              <a:t>the consulting hour</a:t>
            </a:r>
            <a:r>
              <a:rPr lang="en-US" sz="1800" dirty="0">
                <a:solidFill>
                  <a:schemeClr val="tx1"/>
                </a:solidFill>
                <a:latin typeface="Times New Roman" panose="02020603050405020304" pitchFamily="18" charset="0"/>
                <a:cs typeface="Times New Roman" panose="02020603050405020304" pitchFamily="18" charset="0"/>
              </a:rPr>
              <a:t>, via email, or in unavoidable circumstances.</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Any kind of dishonesty, plagiarism, misbehavior, misconduct, etc. will not be tolerated. Might result in deduction of marks, ‘F’ grade, or reported to the AIUB Disciplinary Committee for drastic punishment.</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Always check/visit the AIUB home page for notices, rules &amp; regulations of academic/university policies and important announcement for deadlines (Course drop, Exam permit, Exam Schedule, etc.).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Course Objective</a:t>
            </a: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This course introduces basic concepts and algorithms in machine learning and neural networks.</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The main reason for studying computational learning is to make better use of powerful computers to learn knowledge (or regularities) from the raw data.</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 At the end of the course, students are expected to be familiar with the theories and paradigms of computational learning, and capable of implementing basic learning systems.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Course Objective</a:t>
            </a:r>
          </a:p>
        </p:txBody>
      </p:sp>
      <p:sp>
        <p:nvSpPr>
          <p:cNvPr id="3" name="Subtitle 2"/>
          <p:cNvSpPr>
            <a:spLocks noGrp="1"/>
          </p:cNvSpPr>
          <p:nvPr>
            <p:ph type="subTitle" idx="1"/>
          </p:nvPr>
        </p:nvSpPr>
        <p:spPr>
          <a:xfrm>
            <a:off x="685800" y="1371600"/>
            <a:ext cx="7467600" cy="4343400"/>
          </a:xfrm>
        </p:spPr>
        <p:txBody>
          <a:bodyPr>
            <a:normAutofit fontScale="92500" lnSpcReduction="20000"/>
          </a:bodyPr>
          <a:lstStyle/>
          <a:p>
            <a:pPr algn="just"/>
            <a:r>
              <a:rPr lang="en-US" sz="1800" dirty="0">
                <a:solidFill>
                  <a:schemeClr val="tx1"/>
                </a:solidFill>
                <a:latin typeface="Times New Roman" panose="02020603050405020304" pitchFamily="18" charset="0"/>
                <a:cs typeface="Times New Roman" panose="02020603050405020304" pitchFamily="18" charset="0"/>
              </a:rPr>
              <a:t>Topics include: </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 Supervised learning (parametric/non-parametric algorithms, support vector machines, kernels, neural networks).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(ii) Unsupervised learning (clustering, dimensionality reduction, deep learning). (iii) Best practices in machine learning (bias/variance theory; innovation process in machine learning and AI).</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This course will also look into a variety of artificial neural networks in terms of architectures and learning algorithms and discuss as many successful real-world applications as possible. </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Fundamental concepts and tools underlying machine learning and hands-on experience with implementation of some machine learning algorithms applied to real world cases.</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Research issues as well as machine learning strategies and issues relating specific industrial sectors.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Importance of the course </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Studying ML/AI opens a world of opportunities.</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At a basic level, you’ll better understand the systems and tools that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interact with daily. And if you stick with the subject and study more,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can help create cutting edge ML/AI applications, like the Google Self</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Driving Car, or IBM’s Watson.</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In the field of artificial intelligence, the possibilities are truly endless.</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Studying ML/AI now can prepare you for a job as a researching neural</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networks, human-machine interfaces, and quantum artificial intelligence.</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Or you could work as a software engineer in industry working for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companies like Amazon to shopping list recommendation engines 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Facebook analyzing and processing big data.</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You could also work as a hardware engineer developing electronic</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parking assistants or home assistant robots.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Importance of the course </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Studying ML/AI opens a world of opportunities.</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At a basic level, you’ll better understand the systems and tools that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interact with daily. And if you stick with the subject and study more,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can help create cutting edge ML/AI applications, like the Google Self</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Driving Car, or IBM’s Watson.</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In the field of artificial intelligence, the possibilities are truly endless.</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Studying ML/AI now can prepare you for a job as a researching neural</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networks, human-machine interfaces, and quantum artificial intelligence.</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Or you could work as a software engineer in industry working for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companies like Amazon to shopping list recommendation engines 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Facebook analyzing and processing big data.</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You could also work as a hardware engineer developing electronic</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parking assistants or home assistant robots.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Introduction to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Definition of Machine Learning (ML)</a:t>
            </a:r>
          </a:p>
          <a:p>
            <a:pPr algn="just"/>
            <a:r>
              <a:rPr lang="en-US" sz="1800" dirty="0">
                <a:solidFill>
                  <a:schemeClr val="tx1"/>
                </a:solidFill>
                <a:latin typeface="Times New Roman" panose="02020603050405020304" pitchFamily="18" charset="0"/>
                <a:cs typeface="Times New Roman" panose="02020603050405020304" pitchFamily="18" charset="0"/>
              </a:rPr>
              <a:t>Differences between AI, ML, and Deep Learning</a:t>
            </a:r>
          </a:p>
          <a:p>
            <a:pPr algn="just"/>
            <a:r>
              <a:rPr lang="en-US" sz="1800" dirty="0">
                <a:solidFill>
                  <a:schemeClr val="tx1"/>
                </a:solidFill>
                <a:latin typeface="Times New Roman" panose="02020603050405020304" pitchFamily="18" charset="0"/>
                <a:cs typeface="Times New Roman" panose="02020603050405020304" pitchFamily="18" charset="0"/>
              </a:rPr>
              <a:t>Real-world applications of ML (e.g., image recognition, natural language processing, recommendation systems)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Machine Learning (ML) is a branch of artificial intelligence (AI) that focuses on building systems that can learn from data, identify patterns, and make decisions with minimal human intervention. </a:t>
            </a:r>
          </a:p>
          <a:p>
            <a:pPr algn="just"/>
            <a:r>
              <a:rPr lang="en-US" sz="1800" dirty="0">
                <a:solidFill>
                  <a:schemeClr val="tx1"/>
                </a:solidFill>
                <a:latin typeface="Times New Roman" panose="02020603050405020304" pitchFamily="18" charset="0"/>
                <a:cs typeface="Times New Roman" panose="02020603050405020304" pitchFamily="18" charset="0"/>
              </a:rPr>
              <a:t>In essence, machine learning allows computers to "learn" from past experiences (data) and improve their performance over time without being explicitly programmed for every possible scenario.</a:t>
            </a:r>
          </a:p>
        </p:txBody>
      </p:sp>
      <p:pic>
        <p:nvPicPr>
          <p:cNvPr id="1026" name="Picture 2" descr="What is Machine Learning? The Ultimate Beginner's Guid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3271510"/>
            <a:ext cx="3428999"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15000" y="4648200"/>
            <a:ext cx="2971800" cy="523220"/>
          </a:xfrm>
          <a:prstGeom prst="rect">
            <a:avLst/>
          </a:prstGeom>
        </p:spPr>
        <p:txBody>
          <a:bodyPr wrap="square">
            <a:spAutoFit/>
          </a:bodyPr>
          <a:lstStyle/>
          <a:p>
            <a:r>
              <a:rPr lang="en-US" sz="1400" dirty="0"/>
              <a:t>https://www.v7labs.com/blog/machine-learning-guide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Image Recognition: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Facial Recognition: </a:t>
            </a:r>
            <a:r>
              <a:rPr lang="en-US" sz="1800" dirty="0">
                <a:solidFill>
                  <a:schemeClr val="tx1"/>
                </a:solidFill>
                <a:latin typeface="Times New Roman" panose="02020603050405020304" pitchFamily="18" charset="0"/>
                <a:cs typeface="Times New Roman" panose="02020603050405020304" pitchFamily="18" charset="0"/>
              </a:rPr>
              <a:t>Used in smartphones, social media platforms (e.g., Facebook photo tagging), and security systems. ML algorithms can detect and recognize human faces in images or videos.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Medical Imaging: </a:t>
            </a:r>
            <a:r>
              <a:rPr lang="en-US" sz="1800" dirty="0">
                <a:solidFill>
                  <a:schemeClr val="tx1"/>
                </a:solidFill>
                <a:latin typeface="Times New Roman" panose="02020603050405020304" pitchFamily="18" charset="0"/>
                <a:cs typeface="Times New Roman" panose="02020603050405020304" pitchFamily="18" charset="0"/>
              </a:rPr>
              <a:t>ML is used in analyzing X-rays, MRIs, and CT scans to identify abnormalities such as tumors, fractures, or other diseases.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Object Detection: </a:t>
            </a:r>
            <a:r>
              <a:rPr lang="en-US" sz="1800" dirty="0">
                <a:solidFill>
                  <a:schemeClr val="tx1"/>
                </a:solidFill>
                <a:latin typeface="Times New Roman" panose="02020603050405020304" pitchFamily="18" charset="0"/>
                <a:cs typeface="Times New Roman" panose="02020603050405020304" pitchFamily="18" charset="0"/>
              </a:rPr>
              <a:t>Used in autonomous vehicles, retail (e.g., Amazon Go stores), and security surveillance systems.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Speech and Voice Recognition: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Virtual Assistants: </a:t>
            </a:r>
            <a:r>
              <a:rPr lang="en-US" sz="1800" dirty="0">
                <a:solidFill>
                  <a:schemeClr val="tx1"/>
                </a:solidFill>
                <a:latin typeface="Times New Roman" panose="02020603050405020304" pitchFamily="18" charset="0"/>
                <a:cs typeface="Times New Roman" panose="02020603050405020304" pitchFamily="18" charset="0"/>
              </a:rPr>
              <a:t>ML powers virtual assistants like </a:t>
            </a:r>
            <a:r>
              <a:rPr lang="en-US" sz="1800" dirty="0" err="1">
                <a:solidFill>
                  <a:schemeClr val="tx1"/>
                </a:solidFill>
                <a:latin typeface="Times New Roman" panose="02020603050405020304" pitchFamily="18" charset="0"/>
                <a:cs typeface="Times New Roman" panose="02020603050405020304" pitchFamily="18" charset="0"/>
              </a:rPr>
              <a:t>Siri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Alexa</a:t>
            </a:r>
            <a:r>
              <a:rPr lang="en-US" sz="1800" dirty="0">
                <a:solidFill>
                  <a:schemeClr val="tx1"/>
                </a:solidFill>
                <a:latin typeface="Times New Roman" panose="02020603050405020304" pitchFamily="18" charset="0"/>
                <a:cs typeface="Times New Roman" panose="02020603050405020304" pitchFamily="18" charset="0"/>
              </a:rPr>
              <a:t>, and Google Assistant, enabling them to recognize and respond to voice commands.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Speech-to-Text: </a:t>
            </a:r>
            <a:r>
              <a:rPr lang="en-US" sz="1800" dirty="0">
                <a:solidFill>
                  <a:schemeClr val="tx1"/>
                </a:solidFill>
                <a:latin typeface="Times New Roman" panose="02020603050405020304" pitchFamily="18" charset="0"/>
                <a:cs typeface="Times New Roman" panose="02020603050405020304" pitchFamily="18" charset="0"/>
              </a:rPr>
              <a:t>Applications like Google Voice Typing and automated transcription services convert spoken words into written text.</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Voice Biometrics:</a:t>
            </a:r>
            <a:r>
              <a:rPr lang="en-US" sz="1800" dirty="0">
                <a:solidFill>
                  <a:schemeClr val="tx1"/>
                </a:solidFill>
                <a:latin typeface="Times New Roman" panose="02020603050405020304" pitchFamily="18" charset="0"/>
                <a:cs typeface="Times New Roman" panose="02020603050405020304" pitchFamily="18" charset="0"/>
              </a:rPr>
              <a:t> Used in security systems for identifying individuals based on their voice.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Natural Language Processing (NLP):</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err="1">
                <a:solidFill>
                  <a:schemeClr val="tx1"/>
                </a:solidFill>
                <a:latin typeface="Times New Roman" panose="02020603050405020304" pitchFamily="18" charset="0"/>
                <a:cs typeface="Times New Roman" panose="02020603050405020304" pitchFamily="18" charset="0"/>
              </a:rPr>
              <a:t>Chatbots</a:t>
            </a:r>
            <a:r>
              <a:rPr lang="en-US" sz="1800" b="1" dirty="0">
                <a:solidFill>
                  <a:schemeClr val="tx1"/>
                </a:solidFill>
                <a:latin typeface="Times New Roman" panose="02020603050405020304" pitchFamily="18" charset="0"/>
                <a:cs typeface="Times New Roman" panose="02020603050405020304" pitchFamily="18" charset="0"/>
              </a:rPr>
              <a:t> and Customer Support: </a:t>
            </a:r>
            <a:r>
              <a:rPr lang="en-US" sz="1800" dirty="0">
                <a:solidFill>
                  <a:schemeClr val="tx1"/>
                </a:solidFill>
                <a:latin typeface="Times New Roman" panose="02020603050405020304" pitchFamily="18" charset="0"/>
                <a:cs typeface="Times New Roman" panose="02020603050405020304" pitchFamily="18" charset="0"/>
              </a:rPr>
              <a:t>ML-driven </a:t>
            </a:r>
            <a:r>
              <a:rPr lang="en-US" sz="1800" dirty="0" err="1">
                <a:solidFill>
                  <a:schemeClr val="tx1"/>
                </a:solidFill>
                <a:latin typeface="Times New Roman" panose="02020603050405020304" pitchFamily="18" charset="0"/>
                <a:cs typeface="Times New Roman" panose="02020603050405020304" pitchFamily="18" charset="0"/>
              </a:rPr>
              <a:t>chatbots</a:t>
            </a:r>
            <a:r>
              <a:rPr lang="en-US" sz="1800" dirty="0">
                <a:solidFill>
                  <a:schemeClr val="tx1"/>
                </a:solidFill>
                <a:latin typeface="Times New Roman" panose="02020603050405020304" pitchFamily="18" charset="0"/>
                <a:cs typeface="Times New Roman" panose="02020603050405020304" pitchFamily="18" charset="0"/>
              </a:rPr>
              <a:t> can understand and respond to customer queries, improving customer service for companies like banks, e-commerce platforms, and service providers.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Language Translation: </a:t>
            </a:r>
            <a:r>
              <a:rPr lang="en-US" sz="1800" dirty="0">
                <a:solidFill>
                  <a:schemeClr val="tx1"/>
                </a:solidFill>
                <a:latin typeface="Times New Roman" panose="02020603050405020304" pitchFamily="18" charset="0"/>
                <a:cs typeface="Times New Roman" panose="02020603050405020304" pitchFamily="18" charset="0"/>
              </a:rPr>
              <a:t>Google Translate and other language translation apps use ML models to translate text and speech between different languages.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Sentiment Analysis: </a:t>
            </a:r>
            <a:r>
              <a:rPr lang="en-US" sz="1800" dirty="0">
                <a:solidFill>
                  <a:schemeClr val="tx1"/>
                </a:solidFill>
                <a:latin typeface="Times New Roman" panose="02020603050405020304" pitchFamily="18" charset="0"/>
                <a:cs typeface="Times New Roman" panose="02020603050405020304" pitchFamily="18" charset="0"/>
              </a:rPr>
              <a:t>Businesses use ML to analyze customer reviews, social media posts, and other text data to determine public sentiment or opinions about products or services.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Recommendation Systems: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E-commerce: </a:t>
            </a:r>
            <a:r>
              <a:rPr lang="en-US" sz="1800" dirty="0">
                <a:solidFill>
                  <a:schemeClr val="tx1"/>
                </a:solidFill>
                <a:latin typeface="Times New Roman" panose="02020603050405020304" pitchFamily="18" charset="0"/>
                <a:cs typeface="Times New Roman" panose="02020603050405020304" pitchFamily="18" charset="0"/>
              </a:rPr>
              <a:t>Platforms like Amazon and </a:t>
            </a:r>
            <a:r>
              <a:rPr lang="en-US" sz="1800" dirty="0" err="1">
                <a:solidFill>
                  <a:schemeClr val="tx1"/>
                </a:solidFill>
                <a:latin typeface="Times New Roman" panose="02020603050405020304" pitchFamily="18" charset="0"/>
                <a:cs typeface="Times New Roman" panose="02020603050405020304" pitchFamily="18" charset="0"/>
              </a:rPr>
              <a:t>Alibaba</a:t>
            </a:r>
            <a:r>
              <a:rPr lang="en-US" sz="1800" dirty="0">
                <a:solidFill>
                  <a:schemeClr val="tx1"/>
                </a:solidFill>
                <a:latin typeface="Times New Roman" panose="02020603050405020304" pitchFamily="18" charset="0"/>
                <a:cs typeface="Times New Roman" panose="02020603050405020304" pitchFamily="18" charset="0"/>
              </a:rPr>
              <a:t> use ML to recommend products based on a user’s browsing history, purchase behavior, and preferences.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Streaming Services: </a:t>
            </a:r>
            <a:r>
              <a:rPr lang="en-US" sz="1800" dirty="0">
                <a:solidFill>
                  <a:schemeClr val="tx1"/>
                </a:solidFill>
                <a:latin typeface="Times New Roman" panose="02020603050405020304" pitchFamily="18" charset="0"/>
                <a:cs typeface="Times New Roman" panose="02020603050405020304" pitchFamily="18" charset="0"/>
              </a:rPr>
              <a:t>Netflix, </a:t>
            </a:r>
            <a:r>
              <a:rPr lang="en-US" sz="1800" dirty="0" err="1">
                <a:solidFill>
                  <a:schemeClr val="tx1"/>
                </a:solidFill>
                <a:latin typeface="Times New Roman" panose="02020603050405020304" pitchFamily="18" charset="0"/>
                <a:cs typeface="Times New Roman" panose="02020603050405020304" pitchFamily="18" charset="0"/>
              </a:rPr>
              <a:t>Spotify</a:t>
            </a:r>
            <a:r>
              <a:rPr lang="en-US" sz="1800" dirty="0">
                <a:solidFill>
                  <a:schemeClr val="tx1"/>
                </a:solidFill>
                <a:latin typeface="Times New Roman" panose="02020603050405020304" pitchFamily="18" charset="0"/>
                <a:cs typeface="Times New Roman" panose="02020603050405020304" pitchFamily="18" charset="0"/>
              </a:rPr>
              <a:t>, and YouTube recommend movies, music, and videos by analyzing user interactions, viewing history, and preferences.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Social Media:</a:t>
            </a:r>
            <a:r>
              <a:rPr lang="en-US" sz="1800" dirty="0">
                <a:solidFill>
                  <a:schemeClr val="tx1"/>
                </a:solidFill>
                <a:latin typeface="Times New Roman" panose="02020603050405020304" pitchFamily="18" charset="0"/>
                <a:cs typeface="Times New Roman" panose="02020603050405020304" pitchFamily="18" charset="0"/>
              </a:rPr>
              <a:t> Facebook, Twitter, and </a:t>
            </a:r>
            <a:r>
              <a:rPr lang="en-US" sz="1800" dirty="0" err="1">
                <a:solidFill>
                  <a:schemeClr val="tx1"/>
                </a:solidFill>
                <a:latin typeface="Times New Roman" panose="02020603050405020304" pitchFamily="18" charset="0"/>
                <a:cs typeface="Times New Roman" panose="02020603050405020304" pitchFamily="18" charset="0"/>
              </a:rPr>
              <a:t>Instagram</a:t>
            </a:r>
            <a:r>
              <a:rPr lang="en-US" sz="1800" dirty="0">
                <a:solidFill>
                  <a:schemeClr val="tx1"/>
                </a:solidFill>
                <a:latin typeface="Times New Roman" panose="02020603050405020304" pitchFamily="18" charset="0"/>
                <a:cs typeface="Times New Roman" panose="02020603050405020304" pitchFamily="18" charset="0"/>
              </a:rPr>
              <a:t> use recommendation algorithms to suggest friends, posts, or content that align with a user’s interests.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Fraud Detection:</a:t>
            </a:r>
          </a:p>
          <a:p>
            <a:pPr algn="just"/>
            <a:r>
              <a:rPr lang="en-US" sz="1800" b="1" dirty="0">
                <a:solidFill>
                  <a:schemeClr val="tx1"/>
                </a:solidFill>
                <a:latin typeface="Times New Roman" panose="02020603050405020304" pitchFamily="18" charset="0"/>
                <a:cs typeface="Times New Roman" panose="02020603050405020304" pitchFamily="18" charset="0"/>
              </a:rPr>
              <a:t>Banking and Finance: </a:t>
            </a:r>
            <a:r>
              <a:rPr lang="en-US" sz="1800" dirty="0">
                <a:solidFill>
                  <a:schemeClr val="tx1"/>
                </a:solidFill>
                <a:latin typeface="Times New Roman" panose="02020603050405020304" pitchFamily="18" charset="0"/>
                <a:cs typeface="Times New Roman" panose="02020603050405020304" pitchFamily="18" charset="0"/>
              </a:rPr>
              <a:t>ML algorithms analyze transaction patterns to detect fraudulent activities, such as credit card fraud, money laundering, or account takeovers.</a:t>
            </a:r>
          </a:p>
          <a:p>
            <a:pPr algn="just"/>
            <a:r>
              <a:rPr lang="en-US" sz="1800" b="1" dirty="0">
                <a:solidFill>
                  <a:schemeClr val="tx1"/>
                </a:solidFill>
                <a:latin typeface="Times New Roman" panose="02020603050405020304" pitchFamily="18" charset="0"/>
                <a:cs typeface="Times New Roman" panose="02020603050405020304" pitchFamily="18" charset="0"/>
              </a:rPr>
              <a:t>Insurance: </a:t>
            </a:r>
            <a:r>
              <a:rPr lang="en-US" sz="1800" dirty="0">
                <a:solidFill>
                  <a:schemeClr val="tx1"/>
                </a:solidFill>
                <a:latin typeface="Times New Roman" panose="02020603050405020304" pitchFamily="18" charset="0"/>
                <a:cs typeface="Times New Roman" panose="02020603050405020304" pitchFamily="18" charset="0"/>
              </a:rPr>
              <a:t>Insurers use ML to detect fraudulent insurance claims by spotting unusual patterns or behaviors in claim submissions.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Autonomous Vehicles:</a:t>
            </a:r>
          </a:p>
          <a:p>
            <a:pPr algn="just"/>
            <a:r>
              <a:rPr lang="en-US" sz="1800" b="1" dirty="0">
                <a:solidFill>
                  <a:schemeClr val="tx1"/>
                </a:solidFill>
                <a:latin typeface="Times New Roman" panose="02020603050405020304" pitchFamily="18" charset="0"/>
                <a:cs typeface="Times New Roman" panose="02020603050405020304" pitchFamily="18" charset="0"/>
              </a:rPr>
              <a:t>Self-Driving Cars: </a:t>
            </a:r>
            <a:r>
              <a:rPr lang="en-US" sz="1800" dirty="0">
                <a:solidFill>
                  <a:schemeClr val="tx1"/>
                </a:solidFill>
                <a:latin typeface="Times New Roman" panose="02020603050405020304" pitchFamily="18" charset="0"/>
                <a:cs typeface="Times New Roman" panose="02020603050405020304" pitchFamily="18" charset="0"/>
              </a:rPr>
              <a:t>Companies like Tesla, </a:t>
            </a:r>
            <a:r>
              <a:rPr lang="en-US" sz="1800" dirty="0" err="1">
                <a:solidFill>
                  <a:schemeClr val="tx1"/>
                </a:solidFill>
                <a:latin typeface="Times New Roman" panose="02020603050405020304" pitchFamily="18" charset="0"/>
                <a:cs typeface="Times New Roman" panose="02020603050405020304" pitchFamily="18" charset="0"/>
              </a:rPr>
              <a:t>Waymo</a:t>
            </a:r>
            <a:r>
              <a:rPr lang="en-US" sz="1800" dirty="0">
                <a:solidFill>
                  <a:schemeClr val="tx1"/>
                </a:solidFill>
                <a:latin typeface="Times New Roman" panose="02020603050405020304" pitchFamily="18" charset="0"/>
                <a:cs typeface="Times New Roman" panose="02020603050405020304" pitchFamily="18" charset="0"/>
              </a:rPr>
              <a:t>, and </a:t>
            </a:r>
            <a:r>
              <a:rPr lang="en-US" sz="1800" dirty="0" err="1">
                <a:solidFill>
                  <a:schemeClr val="tx1"/>
                </a:solidFill>
                <a:latin typeface="Times New Roman" panose="02020603050405020304" pitchFamily="18" charset="0"/>
                <a:cs typeface="Times New Roman" panose="02020603050405020304" pitchFamily="18" charset="0"/>
              </a:rPr>
              <a:t>Uber</a:t>
            </a:r>
            <a:r>
              <a:rPr lang="en-US" sz="1800" dirty="0">
                <a:solidFill>
                  <a:schemeClr val="tx1"/>
                </a:solidFill>
                <a:latin typeface="Times New Roman" panose="02020603050405020304" pitchFamily="18" charset="0"/>
                <a:cs typeface="Times New Roman" panose="02020603050405020304" pitchFamily="18" charset="0"/>
              </a:rPr>
              <a:t> use ML to help autonomous vehicles interpret their surroundings (e.g., detecting pedestrians, road signs, and other cars), make driving decisions, and navigate safely.</a:t>
            </a:r>
          </a:p>
          <a:p>
            <a:pPr algn="just"/>
            <a:r>
              <a:rPr lang="en-US" sz="1800" b="1" dirty="0">
                <a:solidFill>
                  <a:schemeClr val="tx1"/>
                </a:solidFill>
                <a:latin typeface="Times New Roman" panose="02020603050405020304" pitchFamily="18" charset="0"/>
                <a:cs typeface="Times New Roman" panose="02020603050405020304" pitchFamily="18" charset="0"/>
              </a:rPr>
              <a:t>Drone Navigation: </a:t>
            </a:r>
            <a:r>
              <a:rPr lang="en-US" sz="1800" dirty="0">
                <a:solidFill>
                  <a:schemeClr val="tx1"/>
                </a:solidFill>
                <a:latin typeface="Times New Roman" panose="02020603050405020304" pitchFamily="18" charset="0"/>
                <a:cs typeface="Times New Roman" panose="02020603050405020304" pitchFamily="18" charset="0"/>
              </a:rPr>
              <a:t>ML is used in drones for route planning, object detection, and collision avoidance.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Healthcare and Medical Diagnosis:</a:t>
            </a:r>
          </a:p>
          <a:p>
            <a:pPr algn="just"/>
            <a:r>
              <a:rPr lang="en-US" sz="1800" b="1" dirty="0">
                <a:solidFill>
                  <a:schemeClr val="tx1"/>
                </a:solidFill>
                <a:latin typeface="Times New Roman" panose="02020603050405020304" pitchFamily="18" charset="0"/>
                <a:cs typeface="Times New Roman" panose="02020603050405020304" pitchFamily="18" charset="0"/>
              </a:rPr>
              <a:t>Disease Prediction: </a:t>
            </a:r>
            <a:r>
              <a:rPr lang="en-US" sz="1800" dirty="0">
                <a:solidFill>
                  <a:schemeClr val="tx1"/>
                </a:solidFill>
                <a:latin typeface="Times New Roman" panose="02020603050405020304" pitchFamily="18" charset="0"/>
                <a:cs typeface="Times New Roman" panose="02020603050405020304" pitchFamily="18" charset="0"/>
              </a:rPr>
              <a:t>ML models help predict the likelihood of diseases such as diabetes, heart disease, or cancer by analyzing patient data.</a:t>
            </a:r>
          </a:p>
          <a:p>
            <a:pPr algn="just"/>
            <a:r>
              <a:rPr lang="en-US" sz="1800" b="1" dirty="0">
                <a:solidFill>
                  <a:schemeClr val="tx1"/>
                </a:solidFill>
                <a:latin typeface="Times New Roman" panose="02020603050405020304" pitchFamily="18" charset="0"/>
                <a:cs typeface="Times New Roman" panose="02020603050405020304" pitchFamily="18" charset="0"/>
              </a:rPr>
              <a:t>Personalized Medicine: </a:t>
            </a:r>
            <a:r>
              <a:rPr lang="en-US" sz="1800" dirty="0">
                <a:solidFill>
                  <a:schemeClr val="tx1"/>
                </a:solidFill>
                <a:latin typeface="Times New Roman" panose="02020603050405020304" pitchFamily="18" charset="0"/>
                <a:cs typeface="Times New Roman" panose="02020603050405020304" pitchFamily="18" charset="0"/>
              </a:rPr>
              <a:t>Machine learning enables the development of personalized treatment plans based on a patient's genetics, medical history, and current health data.</a:t>
            </a:r>
          </a:p>
          <a:p>
            <a:pPr algn="just"/>
            <a:r>
              <a:rPr lang="en-US" sz="1800" b="1" dirty="0">
                <a:solidFill>
                  <a:schemeClr val="tx1"/>
                </a:solidFill>
                <a:latin typeface="Times New Roman" panose="02020603050405020304" pitchFamily="18" charset="0"/>
                <a:cs typeface="Times New Roman" panose="02020603050405020304" pitchFamily="18" charset="0"/>
              </a:rPr>
              <a:t>Drug Discovery: </a:t>
            </a:r>
            <a:r>
              <a:rPr lang="en-US" sz="1800" dirty="0">
                <a:solidFill>
                  <a:schemeClr val="tx1"/>
                </a:solidFill>
                <a:latin typeface="Times New Roman" panose="02020603050405020304" pitchFamily="18" charset="0"/>
                <a:cs typeface="Times New Roman" panose="02020603050405020304" pitchFamily="18" charset="0"/>
              </a:rPr>
              <a:t>ML accelerates the process of discovering new drugs by analyzing data from clinical trials and identifying potential drug candidates.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Finance and Stock Market Analysis</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Marketing and Advertising</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Supply Chain Optimization</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Gaming, Robotics, </a:t>
            </a:r>
            <a:r>
              <a:rPr lang="en-US" sz="1800" dirty="0" err="1">
                <a:solidFill>
                  <a:schemeClr val="tx1"/>
                </a:solidFill>
                <a:latin typeface="Times New Roman" panose="02020603050405020304" pitchFamily="18" charset="0"/>
                <a:cs typeface="Times New Roman" panose="02020603050405020304" pitchFamily="18" charset="0"/>
              </a:rPr>
              <a:t>Cybersecurity</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Personalization</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Energy Efficiency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Learning</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Unsupervised Learning</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Semi-supervised Learning</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Reinforcement Learning</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7724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Learning</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supervised learning, the model is trained on </a:t>
            </a:r>
            <a:r>
              <a:rPr lang="en-US" sz="1800" b="1" dirty="0">
                <a:solidFill>
                  <a:schemeClr val="tx1"/>
                </a:solidFill>
                <a:latin typeface="Times New Roman" panose="02020603050405020304" pitchFamily="18" charset="0"/>
                <a:cs typeface="Times New Roman" panose="02020603050405020304" pitchFamily="18" charset="0"/>
              </a:rPr>
              <a:t>labeled data</a:t>
            </a:r>
            <a:r>
              <a:rPr lang="en-US" sz="1800" dirty="0">
                <a:solidFill>
                  <a:schemeClr val="tx1"/>
                </a:solidFill>
                <a:latin typeface="Times New Roman" panose="02020603050405020304" pitchFamily="18" charset="0"/>
                <a:cs typeface="Times New Roman" panose="02020603050405020304" pitchFamily="18" charset="0"/>
              </a:rPr>
              <a:t>, meaning that each training example has both </a:t>
            </a:r>
            <a:r>
              <a:rPr lang="en-US" sz="1800" b="1" dirty="0">
                <a:solidFill>
                  <a:schemeClr val="tx1"/>
                </a:solidFill>
                <a:latin typeface="Times New Roman" panose="02020603050405020304" pitchFamily="18" charset="0"/>
                <a:cs typeface="Times New Roman" panose="02020603050405020304" pitchFamily="18" charset="0"/>
              </a:rPr>
              <a:t>input data </a:t>
            </a:r>
            <a:r>
              <a:rPr lang="en-US" sz="1800" dirty="0">
                <a:solidFill>
                  <a:schemeClr val="tx1"/>
                </a:solidFill>
                <a:latin typeface="Times New Roman" panose="02020603050405020304" pitchFamily="18" charset="0"/>
                <a:cs typeface="Times New Roman" panose="02020603050405020304" pitchFamily="18" charset="0"/>
              </a:rPr>
              <a:t>and a corresponding correct output (</a:t>
            </a:r>
            <a:r>
              <a:rPr lang="en-US" sz="1800" b="1" dirty="0">
                <a:solidFill>
                  <a:schemeClr val="tx1"/>
                </a:solidFill>
                <a:latin typeface="Times New Roman" panose="02020603050405020304" pitchFamily="18" charset="0"/>
                <a:cs typeface="Times New Roman" panose="02020603050405020304" pitchFamily="18" charset="0"/>
              </a:rPr>
              <a:t>label</a:t>
            </a:r>
            <a:r>
              <a:rPr lang="en-US" sz="1800" dirty="0">
                <a:solidFill>
                  <a:schemeClr val="tx1"/>
                </a:solidFill>
                <a:latin typeface="Times New Roman" panose="02020603050405020304" pitchFamily="18" charset="0"/>
                <a:cs typeface="Times New Roman" panose="02020603050405020304" pitchFamily="18" charset="0"/>
              </a:rPr>
              <a:t>). </a:t>
            </a:r>
          </a:p>
          <a:p>
            <a:pPr algn="just"/>
            <a:r>
              <a:rPr lang="en-US" sz="1800" dirty="0">
                <a:solidFill>
                  <a:schemeClr val="tx1"/>
                </a:solidFill>
                <a:latin typeface="Times New Roman" panose="02020603050405020304" pitchFamily="18" charset="0"/>
                <a:cs typeface="Times New Roman" panose="02020603050405020304" pitchFamily="18" charset="0"/>
              </a:rPr>
              <a:t>The goal is for the model to learn the mapping from inputs to outputs so that it can predict the output for new, unseen data.</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Spam detection in emails, where the model is trained on labeled emails (spam or not spam).</a:t>
            </a:r>
          </a:p>
        </p:txBody>
      </p:sp>
      <p:pic>
        <p:nvPicPr>
          <p:cNvPr id="2052" name="Picture 4" descr="Supervised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810000"/>
            <a:ext cx="571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429000" y="6203368"/>
            <a:ext cx="4572000" cy="307777"/>
          </a:xfrm>
          <a:prstGeom prst="rect">
            <a:avLst/>
          </a:prstGeom>
        </p:spPr>
        <p:txBody>
          <a:bodyPr>
            <a:spAutoFit/>
          </a:bodyPr>
          <a:lstStyle/>
          <a:p>
            <a:r>
              <a:rPr lang="en-US" sz="1400" dirty="0">
                <a:solidFill>
                  <a:schemeClr val="bg1">
                    <a:lumMod val="50000"/>
                  </a:schemeClr>
                </a:solidFill>
              </a:rPr>
              <a:t>https://www.javatpoint.com/supervised-machine-learning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Unsupervised Learning</a:t>
            </a:r>
          </a:p>
          <a:p>
            <a:pPr algn="just"/>
            <a:r>
              <a:rPr lang="en-US" sz="1800" dirty="0">
                <a:solidFill>
                  <a:schemeClr val="tx1"/>
                </a:solidFill>
                <a:latin typeface="Times New Roman" panose="02020603050405020304" pitchFamily="18" charset="0"/>
                <a:cs typeface="Times New Roman" panose="02020603050405020304" pitchFamily="18" charset="0"/>
              </a:rPr>
              <a:t>In unsupervised learning, the model is given data </a:t>
            </a:r>
            <a:r>
              <a:rPr lang="en-US" sz="1800" b="1" dirty="0">
                <a:solidFill>
                  <a:schemeClr val="tx1"/>
                </a:solidFill>
                <a:latin typeface="Times New Roman" panose="02020603050405020304" pitchFamily="18" charset="0"/>
                <a:cs typeface="Times New Roman" panose="02020603050405020304" pitchFamily="18" charset="0"/>
              </a:rPr>
              <a:t>without explicit labels</a:t>
            </a:r>
            <a:r>
              <a:rPr lang="en-US" sz="1800" dirty="0">
                <a:solidFill>
                  <a:schemeClr val="tx1"/>
                </a:solidFill>
                <a:latin typeface="Times New Roman" panose="02020603050405020304" pitchFamily="18" charset="0"/>
                <a:cs typeface="Times New Roman" panose="02020603050405020304" pitchFamily="18" charset="0"/>
              </a:rPr>
              <a:t>. It tries to learn the structure of the data and discover </a:t>
            </a:r>
            <a:r>
              <a:rPr lang="en-US" sz="1800" b="1" dirty="0">
                <a:solidFill>
                  <a:schemeClr val="tx1"/>
                </a:solidFill>
                <a:latin typeface="Times New Roman" panose="02020603050405020304" pitchFamily="18" charset="0"/>
                <a:cs typeface="Times New Roman" panose="02020603050405020304" pitchFamily="18" charset="0"/>
              </a:rPr>
              <a:t>hidden patterns </a:t>
            </a:r>
            <a:r>
              <a:rPr lang="en-US" sz="1800" dirty="0">
                <a:solidFill>
                  <a:schemeClr val="tx1"/>
                </a:solidFill>
                <a:latin typeface="Times New Roman" panose="02020603050405020304" pitchFamily="18" charset="0"/>
                <a:cs typeface="Times New Roman" panose="02020603050405020304" pitchFamily="18" charset="0"/>
              </a:rPr>
              <a:t>or groupings.</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Customer segmentation, where the goal is to group customers based on purchasing behavior without knowing any predefined categories.</a:t>
            </a:r>
          </a:p>
        </p:txBody>
      </p:sp>
      <p:pic>
        <p:nvPicPr>
          <p:cNvPr id="9218" name="Picture 2" descr="Supervised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048000"/>
            <a:ext cx="571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38400" y="5914452"/>
            <a:ext cx="4572000" cy="276999"/>
          </a:xfrm>
          <a:prstGeom prst="rect">
            <a:avLst/>
          </a:prstGeom>
        </p:spPr>
        <p:txBody>
          <a:bodyPr>
            <a:spAutoFit/>
          </a:bodyPr>
          <a:lstStyle/>
          <a:p>
            <a:r>
              <a:rPr lang="en-US" sz="1200" dirty="0">
                <a:solidFill>
                  <a:schemeClr val="bg1">
                    <a:lumMod val="50000"/>
                  </a:schemeClr>
                </a:solidFill>
              </a:rPr>
              <a:t>https://www.javatpoint.com/unsupervised-machine-learning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Semi-supervised Learning</a:t>
            </a:r>
          </a:p>
          <a:p>
            <a:pPr algn="just"/>
            <a:r>
              <a:rPr lang="en-US" sz="1800" dirty="0">
                <a:solidFill>
                  <a:schemeClr val="tx1"/>
                </a:solidFill>
                <a:latin typeface="Times New Roman" panose="02020603050405020304" pitchFamily="18" charset="0"/>
                <a:cs typeface="Times New Roman" panose="02020603050405020304" pitchFamily="18" charset="0"/>
              </a:rPr>
              <a:t>This method uses a small amount of </a:t>
            </a:r>
            <a:r>
              <a:rPr lang="en-US" sz="1800" b="1" dirty="0">
                <a:solidFill>
                  <a:schemeClr val="tx1"/>
                </a:solidFill>
                <a:latin typeface="Times New Roman" panose="02020603050405020304" pitchFamily="18" charset="0"/>
                <a:cs typeface="Times New Roman" panose="02020603050405020304" pitchFamily="18" charset="0"/>
              </a:rPr>
              <a:t>labeled data </a:t>
            </a:r>
            <a:r>
              <a:rPr lang="en-US" sz="1800" dirty="0">
                <a:solidFill>
                  <a:schemeClr val="tx1"/>
                </a:solidFill>
                <a:latin typeface="Times New Roman" panose="02020603050405020304" pitchFamily="18" charset="0"/>
                <a:cs typeface="Times New Roman" panose="02020603050405020304" pitchFamily="18" charset="0"/>
              </a:rPr>
              <a:t>combined with a large amount of </a:t>
            </a:r>
            <a:r>
              <a:rPr lang="en-US" sz="1800" b="1" dirty="0">
                <a:solidFill>
                  <a:schemeClr val="tx1"/>
                </a:solidFill>
                <a:latin typeface="Times New Roman" panose="02020603050405020304" pitchFamily="18" charset="0"/>
                <a:cs typeface="Times New Roman" panose="02020603050405020304" pitchFamily="18" charset="0"/>
              </a:rPr>
              <a:t>unlabeled data</a:t>
            </a:r>
            <a:r>
              <a:rPr lang="en-US" sz="1800" dirty="0">
                <a:solidFill>
                  <a:schemeClr val="tx1"/>
                </a:solidFill>
                <a:latin typeface="Times New Roman" panose="02020603050405020304" pitchFamily="18" charset="0"/>
                <a:cs typeface="Times New Roman" panose="02020603050405020304" pitchFamily="18" charset="0"/>
              </a:rPr>
              <a:t>. The model leverages the unlabeled data to improve its learning efficiency.</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Image classification where only a few images are labeled, but many unlabeled images are available.</a:t>
            </a:r>
          </a:p>
        </p:txBody>
      </p:sp>
      <p:pic>
        <p:nvPicPr>
          <p:cNvPr id="10242" name="Picture 2" descr="https://miro.medium.com/v2/resize:fit:700/1*mywd8wQNZLYUJmUyElmAC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352800"/>
            <a:ext cx="6667500" cy="34385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324350" y="6108296"/>
            <a:ext cx="4648200" cy="461665"/>
          </a:xfrm>
          <a:prstGeom prst="rect">
            <a:avLst/>
          </a:prstGeom>
        </p:spPr>
        <p:txBody>
          <a:bodyPr wrap="square">
            <a:spAutoFit/>
          </a:bodyPr>
          <a:lstStyle/>
          <a:p>
            <a:r>
              <a:rPr lang="en-US" sz="1200" dirty="0">
                <a:solidFill>
                  <a:schemeClr val="bg1">
                    <a:lumMod val="50000"/>
                  </a:schemeClr>
                </a:solidFill>
              </a:rPr>
              <a:t>https://medium.com/@gayatri_sharma/a-gentle-introduction-to-semi-supervised-learning-7afa5539beea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Semi-supervised Learning</a:t>
            </a:r>
          </a:p>
          <a:p>
            <a:pPr algn="just"/>
            <a:r>
              <a:rPr lang="en-US" sz="1800" dirty="0">
                <a:solidFill>
                  <a:schemeClr val="tx1"/>
                </a:solidFill>
                <a:latin typeface="Times New Roman" panose="02020603050405020304" pitchFamily="18" charset="0"/>
                <a:cs typeface="Times New Roman" panose="02020603050405020304" pitchFamily="18" charset="0"/>
              </a:rPr>
              <a:t>This method uses a small amount of </a:t>
            </a:r>
            <a:r>
              <a:rPr lang="en-US" sz="1800" b="1" dirty="0">
                <a:solidFill>
                  <a:schemeClr val="tx1"/>
                </a:solidFill>
                <a:latin typeface="Times New Roman" panose="02020603050405020304" pitchFamily="18" charset="0"/>
                <a:cs typeface="Times New Roman" panose="02020603050405020304" pitchFamily="18" charset="0"/>
              </a:rPr>
              <a:t>labeled data </a:t>
            </a:r>
            <a:r>
              <a:rPr lang="en-US" sz="1800" dirty="0">
                <a:solidFill>
                  <a:schemeClr val="tx1"/>
                </a:solidFill>
                <a:latin typeface="Times New Roman" panose="02020603050405020304" pitchFamily="18" charset="0"/>
                <a:cs typeface="Times New Roman" panose="02020603050405020304" pitchFamily="18" charset="0"/>
              </a:rPr>
              <a:t>combined with a large amount of </a:t>
            </a:r>
            <a:r>
              <a:rPr lang="en-US" sz="1800" b="1" dirty="0">
                <a:solidFill>
                  <a:schemeClr val="tx1"/>
                </a:solidFill>
                <a:latin typeface="Times New Roman" panose="02020603050405020304" pitchFamily="18" charset="0"/>
                <a:cs typeface="Times New Roman" panose="02020603050405020304" pitchFamily="18" charset="0"/>
              </a:rPr>
              <a:t>unlabeled data</a:t>
            </a:r>
            <a:r>
              <a:rPr lang="en-US" sz="1800" dirty="0">
                <a:solidFill>
                  <a:schemeClr val="tx1"/>
                </a:solidFill>
                <a:latin typeface="Times New Roman" panose="02020603050405020304" pitchFamily="18" charset="0"/>
                <a:cs typeface="Times New Roman" panose="02020603050405020304" pitchFamily="18" charset="0"/>
              </a:rPr>
              <a:t>. The model leverages the unlabeled data to improve its learning efficiency.</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Image classification where only a few images are labeled, but many unlabeled images are available.</a:t>
            </a:r>
          </a:p>
        </p:txBody>
      </p:sp>
      <p:pic>
        <p:nvPicPr>
          <p:cNvPr id="11266" name="Picture 2" descr="https://miro.medium.com/v2/resize:fit:700/1*snZhMEQFhoJwbM5c0CPOA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331187"/>
            <a:ext cx="5981700" cy="300794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324350" y="6108296"/>
            <a:ext cx="4648200" cy="461665"/>
          </a:xfrm>
          <a:prstGeom prst="rect">
            <a:avLst/>
          </a:prstGeom>
        </p:spPr>
        <p:txBody>
          <a:bodyPr wrap="square">
            <a:spAutoFit/>
          </a:bodyPr>
          <a:lstStyle/>
          <a:p>
            <a:r>
              <a:rPr lang="en-US" sz="1200" dirty="0">
                <a:solidFill>
                  <a:schemeClr val="bg1">
                    <a:lumMod val="50000"/>
                  </a:schemeClr>
                </a:solidFill>
              </a:rPr>
              <a:t>https://medium.com/@gayatri_sharma/a-gentle-introduction-to-semi-supervised-learning-7afa5539beea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Reinforcement Learning</a:t>
            </a:r>
          </a:p>
          <a:p>
            <a:pPr algn="just"/>
            <a:r>
              <a:rPr lang="en-US" sz="1800" dirty="0">
                <a:solidFill>
                  <a:schemeClr val="tx1"/>
                </a:solidFill>
                <a:latin typeface="Times New Roman" panose="02020603050405020304" pitchFamily="18" charset="0"/>
                <a:cs typeface="Times New Roman" panose="02020603050405020304" pitchFamily="18" charset="0"/>
              </a:rPr>
              <a:t>In reinforcement learning, an </a:t>
            </a:r>
            <a:r>
              <a:rPr lang="en-US" sz="1800" b="1" dirty="0">
                <a:solidFill>
                  <a:schemeClr val="tx1"/>
                </a:solidFill>
                <a:latin typeface="Times New Roman" panose="02020603050405020304" pitchFamily="18" charset="0"/>
                <a:cs typeface="Times New Roman" panose="02020603050405020304" pitchFamily="18" charset="0"/>
              </a:rPr>
              <a:t>agent</a:t>
            </a:r>
            <a:r>
              <a:rPr lang="en-US" sz="1800" dirty="0">
                <a:solidFill>
                  <a:schemeClr val="tx1"/>
                </a:solidFill>
                <a:latin typeface="Times New Roman" panose="02020603050405020304" pitchFamily="18" charset="0"/>
                <a:cs typeface="Times New Roman" panose="02020603050405020304" pitchFamily="18" charset="0"/>
              </a:rPr>
              <a:t> interacts with an environment and learns by </a:t>
            </a:r>
            <a:r>
              <a:rPr lang="en-US" sz="1800" b="1" dirty="0">
                <a:solidFill>
                  <a:schemeClr val="tx1"/>
                </a:solidFill>
                <a:latin typeface="Times New Roman" panose="02020603050405020304" pitchFamily="18" charset="0"/>
                <a:cs typeface="Times New Roman" panose="02020603050405020304" pitchFamily="18" charset="0"/>
              </a:rPr>
              <a:t>receiving feedback </a:t>
            </a:r>
            <a:r>
              <a:rPr lang="en-US" sz="1800" dirty="0">
                <a:solidFill>
                  <a:schemeClr val="tx1"/>
                </a:solidFill>
                <a:latin typeface="Times New Roman" panose="02020603050405020304" pitchFamily="18" charset="0"/>
                <a:cs typeface="Times New Roman" panose="02020603050405020304" pitchFamily="18" charset="0"/>
              </a:rPr>
              <a:t>in the form of rewards or penalties. The agent aims to maximize cumulative rewards by learning the optimal set of actions to take in different situations.</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Training a robot to navigate through a maze by rewarding it for reaching the end.</a:t>
            </a:r>
          </a:p>
        </p:txBody>
      </p:sp>
      <p:pic>
        <p:nvPicPr>
          <p:cNvPr id="12290" name="Picture 2" descr="https://nervanasystems.github.io/coach/_images/desig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238556"/>
            <a:ext cx="5257800" cy="301271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fontScale="77500" lnSpcReduction="2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Reinforcement Learning: Example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Determining the Placement of Ads on a Web Page</a:t>
            </a:r>
          </a:p>
          <a:p>
            <a:pPr algn="just"/>
            <a:r>
              <a:rPr lang="en-US" sz="1800" b="1" dirty="0">
                <a:solidFill>
                  <a:schemeClr val="tx1"/>
                </a:solidFill>
                <a:latin typeface="Times New Roman" panose="02020603050405020304" pitchFamily="18" charset="0"/>
                <a:cs typeface="Times New Roman" panose="02020603050405020304" pitchFamily="18" charset="0"/>
              </a:rPr>
              <a:t>Agent</a:t>
            </a:r>
            <a:r>
              <a:rPr lang="en-US" sz="1800" dirty="0">
                <a:solidFill>
                  <a:schemeClr val="tx1"/>
                </a:solidFill>
                <a:latin typeface="Times New Roman" panose="02020603050405020304" pitchFamily="18" charset="0"/>
                <a:cs typeface="Times New Roman" panose="02020603050405020304" pitchFamily="18" charset="0"/>
              </a:rPr>
              <a:t>: The program making decisions on how many ads are appropriate for a page.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Environment</a:t>
            </a:r>
            <a:r>
              <a:rPr lang="en-US" sz="1800" dirty="0">
                <a:solidFill>
                  <a:schemeClr val="tx1"/>
                </a:solidFill>
                <a:latin typeface="Times New Roman" panose="02020603050405020304" pitchFamily="18" charset="0"/>
                <a:cs typeface="Times New Roman" panose="02020603050405020304" pitchFamily="18" charset="0"/>
              </a:rPr>
              <a:t>: The web page.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Action</a:t>
            </a:r>
            <a:r>
              <a:rPr lang="en-US" sz="1800" dirty="0">
                <a:solidFill>
                  <a:schemeClr val="tx1"/>
                </a:solidFill>
                <a:latin typeface="Times New Roman" panose="02020603050405020304" pitchFamily="18" charset="0"/>
                <a:cs typeface="Times New Roman" panose="02020603050405020304" pitchFamily="18" charset="0"/>
              </a:rPr>
              <a:t>: One of three: </a:t>
            </a:r>
          </a:p>
          <a:p>
            <a:pPr algn="just"/>
            <a:r>
              <a:rPr lang="en-US" sz="1800" dirty="0">
                <a:solidFill>
                  <a:schemeClr val="tx1"/>
                </a:solidFill>
                <a:latin typeface="Times New Roman" panose="02020603050405020304" pitchFamily="18" charset="0"/>
                <a:cs typeface="Times New Roman" panose="02020603050405020304" pitchFamily="18" charset="0"/>
              </a:rPr>
              <a:t>(1) putting another ad on the page; </a:t>
            </a:r>
          </a:p>
          <a:p>
            <a:pPr algn="just"/>
            <a:r>
              <a:rPr lang="en-US" sz="1800" dirty="0">
                <a:solidFill>
                  <a:schemeClr val="tx1"/>
                </a:solidFill>
                <a:latin typeface="Times New Roman" panose="02020603050405020304" pitchFamily="18" charset="0"/>
                <a:cs typeface="Times New Roman" panose="02020603050405020304" pitchFamily="18" charset="0"/>
              </a:rPr>
              <a:t>(2) dropping an ad from the page; </a:t>
            </a:r>
          </a:p>
          <a:p>
            <a:pPr algn="just"/>
            <a:r>
              <a:rPr lang="en-US" sz="1800" dirty="0">
                <a:solidFill>
                  <a:schemeClr val="tx1"/>
                </a:solidFill>
                <a:latin typeface="Times New Roman" panose="02020603050405020304" pitchFamily="18" charset="0"/>
                <a:cs typeface="Times New Roman" panose="02020603050405020304" pitchFamily="18" charset="0"/>
              </a:rPr>
              <a:t>(3) neither adding nor removing.</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Reward</a:t>
            </a:r>
            <a:r>
              <a:rPr lang="en-US" sz="1800" dirty="0">
                <a:solidFill>
                  <a:schemeClr val="tx1"/>
                </a:solidFill>
                <a:latin typeface="Times New Roman" panose="02020603050405020304" pitchFamily="18" charset="0"/>
                <a:cs typeface="Times New Roman" panose="02020603050405020304" pitchFamily="18" charset="0"/>
              </a:rPr>
              <a:t>: Positive when revenue increases; negative when revenue drops.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this scenario, the agent observes the environment and gets its current status. The status can be how many ads there are on the web page and whether or not there is room for more.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agent then chooses which of the three actions to take at each step. if programmed to get positive rewards whenever the revenue increase, and negative rewards whenever revenue falls, it can develop its effective policy.</a:t>
            </a:r>
          </a:p>
        </p:txBody>
      </p:sp>
      <p:sp>
        <p:nvSpPr>
          <p:cNvPr id="4" name="Rectangle 3"/>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Unsupervised, and Reinforcement Learning: What are the Differences?</a:t>
            </a:r>
          </a:p>
          <a:p>
            <a:pPr algn="just"/>
            <a:r>
              <a:rPr lang="en-US" sz="1800" b="1" dirty="0">
                <a:solidFill>
                  <a:schemeClr val="tx1"/>
                </a:solidFill>
                <a:latin typeface="Times New Roman" panose="02020603050405020304" pitchFamily="18" charset="0"/>
                <a:cs typeface="Times New Roman" panose="02020603050405020304" pitchFamily="18" charset="0"/>
              </a:rPr>
              <a:t>Difference #1: Static Vs. Dynamic</a:t>
            </a:r>
          </a:p>
          <a:p>
            <a:pPr algn="just"/>
            <a:r>
              <a:rPr lang="en-US" sz="1800" dirty="0">
                <a:solidFill>
                  <a:schemeClr val="tx1"/>
                </a:solidFill>
                <a:latin typeface="Times New Roman" panose="02020603050405020304" pitchFamily="18" charset="0"/>
                <a:cs typeface="Times New Roman" panose="02020603050405020304" pitchFamily="18" charset="0"/>
              </a:rPr>
              <a:t>The goal of supervised and unsupervised learning is to search for and learn about patterns in training data, which is quite static. RL, on the other hand, is about developing a policy that tells an agent which action to choose at each step — making it more dynamic.</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Difference #2: No Explicit Right Answer</a:t>
            </a:r>
          </a:p>
          <a:p>
            <a:pPr algn="just"/>
            <a:r>
              <a:rPr lang="en-US" sz="1800" dirty="0">
                <a:solidFill>
                  <a:schemeClr val="tx1"/>
                </a:solidFill>
                <a:latin typeface="Times New Roman" panose="02020603050405020304" pitchFamily="18" charset="0"/>
                <a:cs typeface="Times New Roman" panose="02020603050405020304" pitchFamily="18" charset="0"/>
              </a:rPr>
              <a:t>In supervised learning, the right answer is given by the training data. In Reinforcement Learning, the right answer is not explicitly given: instead, the agent needs to learn by trial and error. The only reference is the reward it gets after taking an action, which tells the agent when it is making progress or when it has failed.</a:t>
            </a:r>
          </a:p>
        </p:txBody>
      </p:sp>
      <p:sp>
        <p:nvSpPr>
          <p:cNvPr id="6" name="Rectangle 5"/>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Key Concepts in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Data and Features: input data, features, labels</a:t>
            </a:r>
          </a:p>
          <a:p>
            <a:pPr algn="just"/>
            <a:r>
              <a:rPr lang="en-US" sz="1800" dirty="0">
                <a:solidFill>
                  <a:schemeClr val="tx1"/>
                </a:solidFill>
                <a:latin typeface="Times New Roman" panose="02020603050405020304" pitchFamily="18" charset="0"/>
                <a:cs typeface="Times New Roman" panose="02020603050405020304" pitchFamily="18" charset="0"/>
              </a:rPr>
              <a:t>Model and Algorithm: what is a model, common ML algorithms</a:t>
            </a:r>
          </a:p>
          <a:p>
            <a:pPr algn="just"/>
            <a:r>
              <a:rPr lang="en-US" sz="1800" dirty="0">
                <a:solidFill>
                  <a:schemeClr val="tx1"/>
                </a:solidFill>
                <a:latin typeface="Times New Roman" panose="02020603050405020304" pitchFamily="18" charset="0"/>
                <a:cs typeface="Times New Roman" panose="02020603050405020304" pitchFamily="18" charset="0"/>
              </a:rPr>
              <a:t>Training and Testing: data splitting (train-test-validation sets)</a:t>
            </a:r>
          </a:p>
          <a:p>
            <a:pPr algn="just"/>
            <a:r>
              <a:rPr lang="en-US" sz="1800" dirty="0">
                <a:solidFill>
                  <a:schemeClr val="tx1"/>
                </a:solidFill>
                <a:latin typeface="Times New Roman" panose="02020603050405020304" pitchFamily="18" charset="0"/>
                <a:cs typeface="Times New Roman" panose="02020603050405020304" pitchFamily="18" charset="0"/>
              </a:rPr>
              <a:t>Loss Function: error measurement, cost function</a:t>
            </a:r>
          </a:p>
          <a:p>
            <a:pPr algn="just"/>
            <a:r>
              <a:rPr lang="en-US" sz="1800" dirty="0">
                <a:solidFill>
                  <a:schemeClr val="tx1"/>
                </a:solidFill>
                <a:latin typeface="Times New Roman" panose="02020603050405020304" pitchFamily="18" charset="0"/>
                <a:cs typeface="Times New Roman" panose="02020603050405020304" pitchFamily="18" charset="0"/>
              </a:rPr>
              <a:t>Optimization: gradient descent basics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Learning Process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How a model learns: data → algorithm → model</a:t>
            </a:r>
          </a:p>
          <a:p>
            <a:pPr algn="just"/>
            <a:r>
              <a:rPr lang="en-US" sz="1800" dirty="0">
                <a:solidFill>
                  <a:schemeClr val="tx1"/>
                </a:solidFill>
                <a:latin typeface="Times New Roman" panose="02020603050405020304" pitchFamily="18" charset="0"/>
                <a:cs typeface="Times New Roman" panose="02020603050405020304" pitchFamily="18" charset="0"/>
              </a:rPr>
              <a:t>Model evaluation metrics: accuracy, precision, recall, F1 score</a:t>
            </a:r>
          </a:p>
          <a:p>
            <a:pPr algn="just"/>
            <a:r>
              <a:rPr lang="en-US" sz="1800" dirty="0" err="1">
                <a:solidFill>
                  <a:schemeClr val="tx1"/>
                </a:solidFill>
                <a:latin typeface="Times New Roman" panose="02020603050405020304" pitchFamily="18" charset="0"/>
                <a:cs typeface="Times New Roman" panose="02020603050405020304" pitchFamily="18" charset="0"/>
              </a:rPr>
              <a:t>Overfitting</a:t>
            </a:r>
            <a:r>
              <a:rPr lang="en-US" sz="1800" dirty="0">
                <a:solidFill>
                  <a:schemeClr val="tx1"/>
                </a:solidFill>
                <a:latin typeface="Times New Roman" panose="02020603050405020304" pitchFamily="18" charset="0"/>
                <a:cs typeface="Times New Roman" panose="02020603050405020304" pitchFamily="18" charset="0"/>
              </a:rPr>
              <a:t> and </a:t>
            </a:r>
            <a:r>
              <a:rPr lang="en-US" sz="1800" dirty="0" err="1">
                <a:solidFill>
                  <a:schemeClr val="tx1"/>
                </a:solidFill>
                <a:latin typeface="Times New Roman" panose="02020603050405020304" pitchFamily="18" charset="0"/>
                <a:cs typeface="Times New Roman" panose="02020603050405020304" pitchFamily="18" charset="0"/>
              </a:rPr>
              <a:t>underfitting</a:t>
            </a:r>
            <a:r>
              <a:rPr lang="en-US" sz="1800" dirty="0">
                <a:solidFill>
                  <a:schemeClr val="tx1"/>
                </a:solidFill>
                <a:latin typeface="Times New Roman" panose="02020603050405020304" pitchFamily="18" charset="0"/>
                <a:cs typeface="Times New Roman" panose="02020603050405020304" pitchFamily="18" charset="0"/>
              </a:rPr>
              <a:t>: bias-variance tradeoff</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Fundamental Algorithms Overview</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Linear Regression</a:t>
            </a:r>
          </a:p>
          <a:p>
            <a:pPr algn="just"/>
            <a:r>
              <a:rPr lang="en-US" sz="1800" dirty="0">
                <a:solidFill>
                  <a:schemeClr val="tx1"/>
                </a:solidFill>
                <a:latin typeface="Times New Roman" panose="02020603050405020304" pitchFamily="18" charset="0"/>
                <a:cs typeface="Times New Roman" panose="02020603050405020304" pitchFamily="18" charset="0"/>
              </a:rPr>
              <a:t>Logistic Regression</a:t>
            </a:r>
          </a:p>
          <a:p>
            <a:pPr algn="just"/>
            <a:r>
              <a:rPr lang="en-US" sz="1800" dirty="0">
                <a:solidFill>
                  <a:schemeClr val="tx1"/>
                </a:solidFill>
                <a:latin typeface="Times New Roman" panose="02020603050405020304" pitchFamily="18" charset="0"/>
                <a:cs typeface="Times New Roman" panose="02020603050405020304" pitchFamily="18" charset="0"/>
              </a:rPr>
              <a:t>Decision Trees</a:t>
            </a:r>
          </a:p>
          <a:p>
            <a:pPr algn="just"/>
            <a:r>
              <a:rPr lang="en-US" sz="1800" dirty="0">
                <a:solidFill>
                  <a:schemeClr val="tx1"/>
                </a:solidFill>
                <a:latin typeface="Times New Roman" panose="02020603050405020304" pitchFamily="18" charset="0"/>
                <a:cs typeface="Times New Roman" panose="02020603050405020304" pitchFamily="18" charset="0"/>
              </a:rPr>
              <a:t>k-Nearest Neighbors (k-NN)</a:t>
            </a:r>
          </a:p>
          <a:p>
            <a:pPr algn="just"/>
            <a:r>
              <a:rPr lang="en-US" sz="1800" dirty="0">
                <a:solidFill>
                  <a:schemeClr val="tx1"/>
                </a:solidFill>
                <a:latin typeface="Times New Roman" panose="02020603050405020304" pitchFamily="18" charset="0"/>
                <a:cs typeface="Times New Roman" panose="02020603050405020304" pitchFamily="18" charset="0"/>
              </a:rPr>
              <a:t>Briefly introduce more advanced methods (e.g., Neural Networks, Support Vector Machines)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Challenges in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Data quality and quantity</a:t>
            </a:r>
          </a:p>
          <a:p>
            <a:pPr algn="just"/>
            <a:r>
              <a:rPr lang="en-US" sz="1800" dirty="0">
                <a:solidFill>
                  <a:schemeClr val="tx1"/>
                </a:solidFill>
                <a:latin typeface="Times New Roman" panose="02020603050405020304" pitchFamily="18" charset="0"/>
                <a:cs typeface="Times New Roman" panose="02020603050405020304" pitchFamily="18" charset="0"/>
              </a:rPr>
              <a:t>Feature engineering and selection</a:t>
            </a:r>
          </a:p>
          <a:p>
            <a:pPr algn="just"/>
            <a:r>
              <a:rPr lang="en-US" sz="1800" dirty="0">
                <a:solidFill>
                  <a:schemeClr val="tx1"/>
                </a:solidFill>
                <a:latin typeface="Times New Roman" panose="02020603050405020304" pitchFamily="18" charset="0"/>
                <a:cs typeface="Times New Roman" panose="02020603050405020304" pitchFamily="18" charset="0"/>
              </a:rPr>
              <a:t>Interpretability and </a:t>
            </a:r>
            <a:r>
              <a:rPr lang="en-US" sz="1800" dirty="0" err="1">
                <a:solidFill>
                  <a:schemeClr val="tx1"/>
                </a:solidFill>
                <a:latin typeface="Times New Roman" panose="02020603050405020304" pitchFamily="18" charset="0"/>
                <a:cs typeface="Times New Roman" panose="02020603050405020304" pitchFamily="18" charset="0"/>
              </a:rPr>
              <a:t>explainability</a:t>
            </a:r>
            <a:r>
              <a:rPr lang="en-US" sz="1800" dirty="0">
                <a:solidFill>
                  <a:schemeClr val="tx1"/>
                </a:solidFill>
                <a:latin typeface="Times New Roman" panose="02020603050405020304" pitchFamily="18" charset="0"/>
                <a:cs typeface="Times New Roman" panose="02020603050405020304" pitchFamily="18" charset="0"/>
              </a:rPr>
              <a:t> of models</a:t>
            </a:r>
          </a:p>
          <a:p>
            <a:pPr algn="just"/>
            <a:r>
              <a:rPr lang="en-US" sz="1800" dirty="0">
                <a:solidFill>
                  <a:schemeClr val="tx1"/>
                </a:solidFill>
                <a:latin typeface="Times New Roman" panose="02020603050405020304" pitchFamily="18" charset="0"/>
                <a:cs typeface="Times New Roman" panose="02020603050405020304" pitchFamily="18" charset="0"/>
              </a:rPr>
              <a:t>Scalability and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3071</Words>
  <Application>Microsoft Macintosh PowerPoint</Application>
  <PresentationFormat>On-screen Show (4:3)</PresentationFormat>
  <Paragraphs>276</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Times New Roman</vt:lpstr>
      <vt:lpstr>Wingdings</vt:lpstr>
      <vt:lpstr>Office Theme</vt:lpstr>
      <vt:lpstr>Introduction</vt:lpstr>
      <vt:lpstr>Vision &amp; Mission of AIUB</vt:lpstr>
      <vt:lpstr>Goals of AIUB</vt:lpstr>
      <vt:lpstr>Vision &amp; Mission of  Computer Science Department</vt:lpstr>
      <vt:lpstr>Goals of Computer Science Department</vt:lpstr>
      <vt:lpstr>Course Evaluation</vt:lpstr>
      <vt:lpstr>Classroom Policies</vt:lpstr>
      <vt:lpstr>Attendance</vt:lpstr>
      <vt:lpstr>Grading Policies</vt:lpstr>
      <vt:lpstr>Finally</vt:lpstr>
      <vt:lpstr>Course Objective</vt:lpstr>
      <vt:lpstr>Course Objective</vt:lpstr>
      <vt:lpstr>Importance of the course </vt:lpstr>
      <vt:lpstr>Importance of the course </vt:lpstr>
      <vt:lpstr>Introduction to Machine Learning</vt:lpstr>
      <vt:lpstr>Machine Learning</vt:lpstr>
      <vt:lpstr>Machine Learning: Applications</vt:lpstr>
      <vt:lpstr>Machine Learning: Applications</vt:lpstr>
      <vt:lpstr>Machine Learning: Applications</vt:lpstr>
      <vt:lpstr>Machine Learning: Applications</vt:lpstr>
      <vt:lpstr>Machine Learning: Applications</vt:lpstr>
      <vt:lpstr>Machine Learning: Applications</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Key Concepts in Machine Learning</vt:lpstr>
      <vt:lpstr>Learning Process</vt:lpstr>
      <vt:lpstr>Fundamental Algorithms Overview</vt:lpstr>
      <vt:lpstr>Challenges in Machine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S M Abdullah Shafi</cp:lastModifiedBy>
  <cp:revision>116</cp:revision>
  <dcterms:created xsi:type="dcterms:W3CDTF">2024-10-19T07:49:00Z</dcterms:created>
  <dcterms:modified xsi:type="dcterms:W3CDTF">2026-06-10T05:31:11Z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794A58CFE91F4F109A031C38FEBCF9DA_12</vt:lpwstr>
  </property>
  <property fmtid="{D5CDD505-2E9C-101B-9397-08002B2CF9AE}" pid="3" name="KSOProductBuildVer">
    <vt:lpwstr>1033-12.2.0.18607</vt:lpwstr>
  </property>
</Properties>
</file>