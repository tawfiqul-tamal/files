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</p:sldMasterIdLst>
  <p:notesMasterIdLst>
    <p:notesMasterId r:id="rId22"/>
  </p:notesMasterIdLst>
  <p:sldIdLst>
    <p:sldId id="256" r:id="rId2"/>
    <p:sldId id="326" r:id="rId3"/>
    <p:sldId id="258" r:id="rId4"/>
    <p:sldId id="259" r:id="rId5"/>
    <p:sldId id="322" r:id="rId6"/>
    <p:sldId id="304" r:id="rId7"/>
    <p:sldId id="264" r:id="rId8"/>
    <p:sldId id="306" r:id="rId9"/>
    <p:sldId id="311" r:id="rId10"/>
    <p:sldId id="312" r:id="rId11"/>
    <p:sldId id="313" r:id="rId12"/>
    <p:sldId id="314" r:id="rId13"/>
    <p:sldId id="307" r:id="rId14"/>
    <p:sldId id="309" r:id="rId15"/>
    <p:sldId id="327" r:id="rId16"/>
    <p:sldId id="316" r:id="rId17"/>
    <p:sldId id="308" r:id="rId18"/>
    <p:sldId id="317" r:id="rId19"/>
    <p:sldId id="318" r:id="rId20"/>
    <p:sldId id="328" r:id="rId21"/>
  </p:sldIdLst>
  <p:sldSz cx="9144000" cy="5143500" type="screen16x9"/>
  <p:notesSz cx="6858000" cy="9144000"/>
  <p:embeddedFontLst>
    <p:embeddedFont>
      <p:font typeface="Barlow Semi Condensed" panose="00000506000000000000" pitchFamily="2" charset="0"/>
      <p:regular r:id="rId23"/>
      <p:bold r:id="rId24"/>
      <p:italic r:id="rId25"/>
      <p:boldItalic r:id="rId26"/>
    </p:embeddedFont>
    <p:embeddedFont>
      <p:font typeface="Barlow Semi Condensed Medium" panose="00000606000000000000" pitchFamily="2" charset="0"/>
      <p:regular r:id="rId27"/>
      <p:bold r:id="rId28"/>
      <p:italic r:id="rId29"/>
      <p:boldItalic r:id="rId30"/>
    </p:embeddedFont>
    <p:embeddedFont>
      <p:font typeface="Cambria Math" panose="02040503050406030204" pitchFamily="18" charset="0"/>
      <p:regular r:id="rId31"/>
    </p:embeddedFont>
    <p:embeddedFont>
      <p:font typeface="Fjalla One" panose="02000506040000020004" pitchFamily="2" charset="0"/>
      <p:regular r:id="rId32"/>
    </p:embeddedFont>
    <p:embeddedFont>
      <p:font typeface="Roboto Condensed Light" panose="02000000000000000000" pitchFamily="2" charset="0"/>
      <p:regular r:id="rId33"/>
      <p:italic r:id="rId34"/>
    </p:embeddedFont>
    <p:embeddedFont>
      <p:font typeface="Segoe UI Historic" panose="020B0502040204020203" pitchFamily="34" charset="0"/>
      <p:regular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B5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A3990FA-8B5C-4F49-9BA2-A84EE1CBF54A}">
  <a:tblStyle styleId="{DA3990FA-8B5C-4F49-9BA2-A84EE1CBF54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1723" autoAdjust="0"/>
    <p:restoredTop sz="95726" autoAdjust="0"/>
  </p:normalViewPr>
  <p:slideViewPr>
    <p:cSldViewPr snapToGrid="0">
      <p:cViewPr varScale="1">
        <p:scale>
          <a:sx n="110" d="100"/>
          <a:sy n="110" d="100"/>
        </p:scale>
        <p:origin x="77" y="3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1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font" Target="fonts/font13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7506681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7" name="Google Shape;168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8" name="Google Shape;168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570218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3" name="Google Shape;1893;g804e9800b4_0_8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4" name="Google Shape;1894;g804e9800b4_0_8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Here is our table of contents of our presentation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656979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2" name="Google Shape;2152;g8714a43093_3_9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3" name="Google Shape;2153;g8714a43093_3_9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89328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in the theory part the starting with ohms law </a:t>
            </a:r>
          </a:p>
          <a:p>
            <a:r>
              <a:rPr lang="en-US" dirty="0"/>
              <a:t>For unknown resistance Rx tools are </a:t>
            </a:r>
          </a:p>
          <a:p>
            <a:r>
              <a:rPr lang="en-US" b="0" i="0" dirty="0">
                <a:solidFill>
                  <a:srgbClr val="FFFFFF"/>
                </a:solidFill>
                <a:effectLst/>
                <a:latin typeface="Segoe UI Historic" panose="020B0502040204020203" pitchFamily="34" charset="0"/>
              </a:rPr>
              <a:t>For series resistance the formula is </a:t>
            </a:r>
            <a:r>
              <a:rPr lang="en-US" dirty="0">
                <a:solidFill>
                  <a:schemeClr val="accent3">
                    <a:lumMod val="25000"/>
                  </a:schemeClr>
                </a:solidFill>
                <a:effectLst/>
              </a:rPr>
              <a:t>Rs = R1 + R2 + ... + RN</a:t>
            </a:r>
            <a:endParaRPr lang="en-US" dirty="0"/>
          </a:p>
          <a:p>
            <a:r>
              <a:rPr lang="en-US" b="0" i="0" dirty="0">
                <a:solidFill>
                  <a:srgbClr val="FFFFFF"/>
                </a:solidFill>
                <a:effectLst/>
                <a:latin typeface="Segoe UI Historic" panose="020B0502040204020203" pitchFamily="34" charset="0"/>
              </a:rPr>
              <a:t>For series resistance Insight Total resistance in series is the sum of individual resistances.</a:t>
            </a:r>
            <a:endParaRPr lang="en-US" dirty="0"/>
          </a:p>
          <a:p>
            <a:r>
              <a:rPr lang="en-US" dirty="0"/>
              <a:t>5th is illustrations here is the diagrams for two resistors </a:t>
            </a:r>
          </a:p>
        </p:txBody>
      </p:sp>
    </p:spTree>
    <p:extLst>
      <p:ext uri="{BB962C8B-B14F-4D97-AF65-F5344CB8AC3E}">
        <p14:creationId xmlns:p14="http://schemas.microsoft.com/office/powerpoint/2010/main" val="13239396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2" name="Google Shape;2152;g8714a43093_3_9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3" name="Google Shape;2153;g8714a43093_3_9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213923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" name="Google Shape;2304;g86fa6133bc_4_211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5" name="Google Shape;2305;g86fa6133bc_4_211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346890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2" name="Google Shape;2152;g8714a43093_3_9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3" name="Google Shape;2153;g8714a43093_3_9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260972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 </a:t>
            </a:r>
            <a:r>
              <a:rPr lang="en-US" dirty="0" err="1"/>
              <a:t>Jarifur</a:t>
            </a:r>
            <a:r>
              <a:rPr lang="en-US" dirty="0"/>
              <a:t> Rahman for giving me opportunity to explain the next part of our presentation which is experimental data.</a:t>
            </a:r>
          </a:p>
        </p:txBody>
      </p:sp>
    </p:spTree>
    <p:extLst>
      <p:ext uri="{BB962C8B-B14F-4D97-AF65-F5344CB8AC3E}">
        <p14:creationId xmlns:p14="http://schemas.microsoft.com/office/powerpoint/2010/main" val="11261163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US" dirty="0"/>
              <a:t>In the slide we can see that  we measured the temperature for water and liquid . We measured the temperature within 45 min. </a:t>
            </a:r>
          </a:p>
          <a:p>
            <a:r>
              <a:rPr lang="en-US" dirty="0"/>
              <a:t>For </a:t>
            </a:r>
            <a:r>
              <a:rPr lang="en-US" dirty="0" err="1"/>
              <a:t>obs</a:t>
            </a:r>
            <a:r>
              <a:rPr lang="en-US" dirty="0"/>
              <a:t> no. 1 . Time taken is o the water temp is 75 and liquid temp is also 75 </a:t>
            </a:r>
          </a:p>
          <a:p>
            <a:r>
              <a:rPr lang="en-US" dirty="0"/>
              <a:t>For </a:t>
            </a:r>
            <a:r>
              <a:rPr lang="en-US" dirty="0" err="1"/>
              <a:t>obs</a:t>
            </a:r>
            <a:r>
              <a:rPr lang="en-US" dirty="0"/>
              <a:t> no. 11 . Time taken is 10 the water temp is 64 and liquid temp is also 60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46048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" name="Google Shape;2304;g86fa6133bc_4_211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5" name="Google Shape;2305;g86fa6133bc_4_211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811691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2" name="Google Shape;2152;g8714a43093_3_9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3" name="Google Shape;2153;g8714a43093_3_9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317056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" name="Google Shape;2304;g86fa6133bc_4_211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5" name="Google Shape;2305;g86fa6133bc_4_211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416203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2"/>
          <p:cNvSpPr txBox="1">
            <a:spLocks noGrp="1"/>
          </p:cNvSpPr>
          <p:nvPr>
            <p:ph type="ctrTitle"/>
          </p:nvPr>
        </p:nvSpPr>
        <p:spPr>
          <a:xfrm>
            <a:off x="5248656" y="2002536"/>
            <a:ext cx="3264300" cy="1792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subTitle" idx="1"/>
          </p:nvPr>
        </p:nvSpPr>
        <p:spPr>
          <a:xfrm>
            <a:off x="5248656" y="3721608"/>
            <a:ext cx="3264300" cy="89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cxnSp>
        <p:nvCxnSpPr>
          <p:cNvPr id="10" name="Google Shape;10;p2"/>
          <p:cNvCxnSpPr/>
          <p:nvPr/>
        </p:nvCxnSpPr>
        <p:spPr>
          <a:xfrm flipH="1">
            <a:off x="5827050" y="451300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" name="Google Shape;11;p2"/>
          <p:cNvCxnSpPr/>
          <p:nvPr/>
        </p:nvCxnSpPr>
        <p:spPr>
          <a:xfrm rot="10800000">
            <a:off x="7512925" y="457850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Google Shape;12;p2"/>
          <p:cNvCxnSpPr/>
          <p:nvPr/>
        </p:nvCxnSpPr>
        <p:spPr>
          <a:xfrm flipH="1">
            <a:off x="8348975" y="-6625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" name="Google Shape;13;p2"/>
          <p:cNvGrpSpPr/>
          <p:nvPr/>
        </p:nvGrpSpPr>
        <p:grpSpPr>
          <a:xfrm>
            <a:off x="8064275" y="887850"/>
            <a:ext cx="581800" cy="582350"/>
            <a:chOff x="8064275" y="887850"/>
            <a:chExt cx="581800" cy="582350"/>
          </a:xfrm>
        </p:grpSpPr>
        <p:sp>
          <p:nvSpPr>
            <p:cNvPr id="14" name="Google Shape;14;p2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" name="Google Shape;20;p2"/>
          <p:cNvGrpSpPr/>
          <p:nvPr/>
        </p:nvGrpSpPr>
        <p:grpSpPr>
          <a:xfrm>
            <a:off x="7353050" y="316275"/>
            <a:ext cx="292025" cy="292575"/>
            <a:chOff x="7353050" y="316275"/>
            <a:chExt cx="292025" cy="292575"/>
          </a:xfrm>
        </p:grpSpPr>
        <p:sp>
          <p:nvSpPr>
            <p:cNvPr id="21" name="Google Shape;21;p2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" name="Google Shape;25;p2"/>
          <p:cNvSpPr/>
          <p:nvPr/>
        </p:nvSpPr>
        <p:spPr>
          <a:xfrm>
            <a:off x="5690580" y="425807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2"/>
          <p:cNvSpPr/>
          <p:nvPr/>
        </p:nvSpPr>
        <p:spPr>
          <a:xfrm>
            <a:off x="5688325" y="423275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2"/>
          <p:cNvSpPr/>
          <p:nvPr/>
        </p:nvSpPr>
        <p:spPr>
          <a:xfrm>
            <a:off x="5727069" y="462309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2"/>
          <p:cNvSpPr/>
          <p:nvPr/>
        </p:nvSpPr>
        <p:spPr>
          <a:xfrm>
            <a:off x="5724827" y="459777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2"/>
          <p:cNvSpPr/>
          <p:nvPr/>
        </p:nvSpPr>
        <p:spPr>
          <a:xfrm>
            <a:off x="5766657" y="501884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5764415" y="499642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1" name="Google Shape;31;p2"/>
          <p:cNvGrpSpPr/>
          <p:nvPr/>
        </p:nvGrpSpPr>
        <p:grpSpPr>
          <a:xfrm>
            <a:off x="5443350" y="289275"/>
            <a:ext cx="175013" cy="27000"/>
            <a:chOff x="5662375" y="212375"/>
            <a:chExt cx="175013" cy="27000"/>
          </a:xfrm>
        </p:grpSpPr>
        <p:sp>
          <p:nvSpPr>
            <p:cNvPr id="32" name="Google Shape;32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" name="Google Shape;35;p2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36" name="Google Shape;36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" name="Google Shape;39;p2"/>
          <p:cNvGrpSpPr/>
          <p:nvPr/>
        </p:nvGrpSpPr>
        <p:grpSpPr>
          <a:xfrm>
            <a:off x="8068750" y="1581800"/>
            <a:ext cx="175013" cy="27000"/>
            <a:chOff x="5662375" y="212375"/>
            <a:chExt cx="175013" cy="27000"/>
          </a:xfrm>
        </p:grpSpPr>
        <p:sp>
          <p:nvSpPr>
            <p:cNvPr id="40" name="Google Shape;40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oogle Shape;44;p3"/>
          <p:cNvGrpSpPr/>
          <p:nvPr/>
        </p:nvGrpSpPr>
        <p:grpSpPr>
          <a:xfrm>
            <a:off x="2132649" y="713253"/>
            <a:ext cx="4878702" cy="3717004"/>
            <a:chOff x="399425" y="238125"/>
            <a:chExt cx="6810025" cy="5187000"/>
          </a:xfrm>
        </p:grpSpPr>
        <p:sp>
          <p:nvSpPr>
            <p:cNvPr id="45" name="Google Shape;45;p3"/>
            <p:cNvSpPr/>
            <p:nvPr/>
          </p:nvSpPr>
          <p:spPr>
            <a:xfrm>
              <a:off x="399425" y="238325"/>
              <a:ext cx="6810025" cy="5186100"/>
            </a:xfrm>
            <a:custGeom>
              <a:avLst/>
              <a:gdLst/>
              <a:ahLst/>
              <a:cxnLst/>
              <a:rect l="l" t="t" r="r" b="b"/>
              <a:pathLst>
                <a:path w="272401" h="207444" extrusionOk="0">
                  <a:moveTo>
                    <a:pt x="143525" y="0"/>
                  </a:moveTo>
                  <a:cubicBezTo>
                    <a:pt x="130816" y="0"/>
                    <a:pt x="118065" y="708"/>
                    <a:pt x="105367" y="1397"/>
                  </a:cubicBezTo>
                  <a:cubicBezTo>
                    <a:pt x="85699" y="2506"/>
                    <a:pt x="65661" y="3689"/>
                    <a:pt x="47175" y="10640"/>
                  </a:cubicBezTo>
                  <a:cubicBezTo>
                    <a:pt x="28764" y="17590"/>
                    <a:pt x="11832" y="31343"/>
                    <a:pt x="5990" y="50198"/>
                  </a:cubicBezTo>
                  <a:cubicBezTo>
                    <a:pt x="1" y="69867"/>
                    <a:pt x="6877" y="90940"/>
                    <a:pt x="13680" y="110387"/>
                  </a:cubicBezTo>
                  <a:cubicBezTo>
                    <a:pt x="22479" y="135305"/>
                    <a:pt x="31870" y="161332"/>
                    <a:pt x="51390" y="179152"/>
                  </a:cubicBezTo>
                  <a:cubicBezTo>
                    <a:pt x="67098" y="193557"/>
                    <a:pt x="97572" y="207444"/>
                    <a:pt x="121591" y="207444"/>
                  </a:cubicBezTo>
                  <a:cubicBezTo>
                    <a:pt x="124820" y="207444"/>
                    <a:pt x="127933" y="207193"/>
                    <a:pt x="130877" y="206658"/>
                  </a:cubicBezTo>
                  <a:cubicBezTo>
                    <a:pt x="145739" y="204070"/>
                    <a:pt x="159714" y="191205"/>
                    <a:pt x="171840" y="182923"/>
                  </a:cubicBezTo>
                  <a:cubicBezTo>
                    <a:pt x="188625" y="171314"/>
                    <a:pt x="205484" y="159705"/>
                    <a:pt x="222268" y="148097"/>
                  </a:cubicBezTo>
                  <a:cubicBezTo>
                    <a:pt x="236909" y="138041"/>
                    <a:pt x="252067" y="127319"/>
                    <a:pt x="260348" y="111644"/>
                  </a:cubicBezTo>
                  <a:cubicBezTo>
                    <a:pt x="272400" y="88722"/>
                    <a:pt x="266411" y="59071"/>
                    <a:pt x="249996" y="39033"/>
                  </a:cubicBezTo>
                  <a:cubicBezTo>
                    <a:pt x="233507" y="18995"/>
                    <a:pt x="208367" y="7756"/>
                    <a:pt x="182858" y="3098"/>
                  </a:cubicBezTo>
                  <a:cubicBezTo>
                    <a:pt x="169864" y="762"/>
                    <a:pt x="156717" y="0"/>
                    <a:pt x="1435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491875" y="238125"/>
              <a:ext cx="6575225" cy="5187000"/>
            </a:xfrm>
            <a:custGeom>
              <a:avLst/>
              <a:gdLst/>
              <a:ahLst/>
              <a:cxnLst/>
              <a:rect l="l" t="t" r="r" b="b"/>
              <a:pathLst>
                <a:path w="263009" h="207480" extrusionOk="0">
                  <a:moveTo>
                    <a:pt x="139601" y="0"/>
                  </a:moveTo>
                  <a:cubicBezTo>
                    <a:pt x="126957" y="0"/>
                    <a:pt x="114313" y="739"/>
                    <a:pt x="101669" y="1405"/>
                  </a:cubicBezTo>
                  <a:cubicBezTo>
                    <a:pt x="82001" y="2514"/>
                    <a:pt x="61963" y="3697"/>
                    <a:pt x="43477" y="10648"/>
                  </a:cubicBezTo>
                  <a:cubicBezTo>
                    <a:pt x="25066" y="17598"/>
                    <a:pt x="8134" y="31351"/>
                    <a:pt x="2292" y="50206"/>
                  </a:cubicBezTo>
                  <a:cubicBezTo>
                    <a:pt x="665" y="55530"/>
                    <a:pt x="0" y="60928"/>
                    <a:pt x="0" y="66399"/>
                  </a:cubicBezTo>
                  <a:cubicBezTo>
                    <a:pt x="0" y="81114"/>
                    <a:pt x="5028" y="96198"/>
                    <a:pt x="9982" y="110395"/>
                  </a:cubicBezTo>
                  <a:cubicBezTo>
                    <a:pt x="18781" y="135313"/>
                    <a:pt x="28172" y="161340"/>
                    <a:pt x="47692" y="179160"/>
                  </a:cubicBezTo>
                  <a:cubicBezTo>
                    <a:pt x="63442" y="193579"/>
                    <a:pt x="93979" y="207480"/>
                    <a:pt x="118010" y="207480"/>
                  </a:cubicBezTo>
                  <a:cubicBezTo>
                    <a:pt x="121190" y="207480"/>
                    <a:pt x="124221" y="207258"/>
                    <a:pt x="127179" y="206666"/>
                  </a:cubicBezTo>
                  <a:cubicBezTo>
                    <a:pt x="142041" y="204078"/>
                    <a:pt x="156016" y="191213"/>
                    <a:pt x="168142" y="182931"/>
                  </a:cubicBezTo>
                  <a:cubicBezTo>
                    <a:pt x="184927" y="171322"/>
                    <a:pt x="201786" y="159713"/>
                    <a:pt x="218570" y="148105"/>
                  </a:cubicBezTo>
                  <a:cubicBezTo>
                    <a:pt x="233211" y="138049"/>
                    <a:pt x="248369" y="127327"/>
                    <a:pt x="256650" y="111652"/>
                  </a:cubicBezTo>
                  <a:cubicBezTo>
                    <a:pt x="261013" y="103370"/>
                    <a:pt x="263009" y="94127"/>
                    <a:pt x="263009" y="84885"/>
                  </a:cubicBezTo>
                  <a:cubicBezTo>
                    <a:pt x="263009" y="68544"/>
                    <a:pt x="256798" y="51833"/>
                    <a:pt x="246298" y="39041"/>
                  </a:cubicBezTo>
                  <a:cubicBezTo>
                    <a:pt x="229809" y="19003"/>
                    <a:pt x="204669" y="7764"/>
                    <a:pt x="179160" y="3106"/>
                  </a:cubicBezTo>
                  <a:cubicBezTo>
                    <a:pt x="166146" y="813"/>
                    <a:pt x="152910" y="0"/>
                    <a:pt x="1396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" name="Google Shape;47;p3"/>
          <p:cNvSpPr txBox="1">
            <a:spLocks noGrp="1"/>
          </p:cNvSpPr>
          <p:nvPr>
            <p:ph type="title"/>
          </p:nvPr>
        </p:nvSpPr>
        <p:spPr>
          <a:xfrm>
            <a:off x="2971800" y="2231136"/>
            <a:ext cx="3200400" cy="8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8" name="Google Shape;48;p3"/>
          <p:cNvSpPr txBox="1">
            <a:spLocks noGrp="1"/>
          </p:cNvSpPr>
          <p:nvPr>
            <p:ph type="title" idx="2" hasCustomPrompt="1"/>
          </p:nvPr>
        </p:nvSpPr>
        <p:spPr>
          <a:xfrm>
            <a:off x="2971800" y="1161288"/>
            <a:ext cx="2967600" cy="106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9" name="Google Shape;49;p3"/>
          <p:cNvSpPr txBox="1">
            <a:spLocks noGrp="1"/>
          </p:cNvSpPr>
          <p:nvPr>
            <p:ph type="subTitle" idx="1"/>
          </p:nvPr>
        </p:nvSpPr>
        <p:spPr>
          <a:xfrm>
            <a:off x="2973225" y="2999232"/>
            <a:ext cx="3200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grpSp>
        <p:nvGrpSpPr>
          <p:cNvPr id="50" name="Google Shape;50;p3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51" name="Google Shape;51;p3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52" name="Google Shape;52;p3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53" name="Google Shape;53;p3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54;p3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55;p3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58;p3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9" name="Google Shape;59;p3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60" name="Google Shape;60;p3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63;p3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4" name="Google Shape;64;p3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Google Shape;67;p3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68;p3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69" name="Google Shape;69;p3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70" name="Google Shape;70;p3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71" name="Google Shape;71;p3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72;p3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Google Shape;76;p3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7" name="Google Shape;77;p3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78" name="Google Shape;78;p3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2" name="Google Shape;82;p3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83" name="Google Shape;83;p3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Google Shape;84;p3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Google Shape;85;p3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Google Shape;86;p3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7" name="Google Shape;87;p3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88" name="Google Shape;88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Google Shape;89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Google Shape;90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1" name="Google Shape;91;p3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92" name="Google Shape;92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Google Shape;93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94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5" name="Google Shape;95;p3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96" name="Google Shape;96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Google Shape;98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9" name="Google Shape;99;p3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00" name="Google Shape;100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Google Shape;101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102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03" name="Google Shape;103;p3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4" name="Google Shape;104;p3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05" name="Google Shape;105;p3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3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3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3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6"/>
          <p:cNvSpPr txBox="1">
            <a:spLocks noGrp="1"/>
          </p:cNvSpPr>
          <p:nvPr>
            <p:ph type="title"/>
          </p:nvPr>
        </p:nvSpPr>
        <p:spPr>
          <a:xfrm>
            <a:off x="1823475" y="338328"/>
            <a:ext cx="5496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244" name="Google Shape;244;p6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245" name="Google Shape;245;p6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46" name="Google Shape;246;p6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247" name="Google Shape;247;p6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Google Shape;248;p6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Google Shape;249;p6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Google Shape;250;p6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Google Shape;251;p6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Google Shape;252;p6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53;p6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254" name="Google Shape;254;p6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55;p6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56;p6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57;p6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8" name="Google Shape;258;p6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259" name="Google Shape;259;p6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60;p6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61;p6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62;p6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263" name="Google Shape;263;p6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64" name="Google Shape;264;p6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265" name="Google Shape;265;p6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66;p6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67;p6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68;p6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69;p6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70;p6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1" name="Google Shape;271;p6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272" name="Google Shape;272;p6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73;p6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74;p6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75;p6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6" name="Google Shape;276;p6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277" name="Google Shape;277;p6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Google Shape;278;p6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279;p6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Google Shape;280;p6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1" name="Google Shape;281;p6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282" name="Google Shape;282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Google Shape;283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Google Shape;284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5" name="Google Shape;285;p6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286" name="Google Shape;286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Google Shape;287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Google Shape;288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9" name="Google Shape;289;p6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290" name="Google Shape;290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Google Shape;291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Google Shape;292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93" name="Google Shape;293;p6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294" name="Google Shape;294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Google Shape;295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Google Shape;296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297" name="Google Shape;297;p6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8" name="Google Shape;298;p6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99" name="Google Shape;299;p6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6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6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6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9"/>
          <p:cNvSpPr txBox="1">
            <a:spLocks noGrp="1"/>
          </p:cNvSpPr>
          <p:nvPr>
            <p:ph type="title"/>
          </p:nvPr>
        </p:nvSpPr>
        <p:spPr>
          <a:xfrm>
            <a:off x="896112" y="2039112"/>
            <a:ext cx="3566100" cy="136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40" name="Google Shape;440;p9"/>
          <p:cNvSpPr txBox="1">
            <a:spLocks noGrp="1"/>
          </p:cNvSpPr>
          <p:nvPr>
            <p:ph type="body" idx="1"/>
          </p:nvPr>
        </p:nvSpPr>
        <p:spPr>
          <a:xfrm>
            <a:off x="4899150" y="821850"/>
            <a:ext cx="3096000" cy="34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cxnSp>
        <p:nvCxnSpPr>
          <p:cNvPr id="441" name="Google Shape;441;p9"/>
          <p:cNvCxnSpPr/>
          <p:nvPr/>
        </p:nvCxnSpPr>
        <p:spPr>
          <a:xfrm>
            <a:off x="1645925" y="5231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2" name="Google Shape;442;p9"/>
          <p:cNvCxnSpPr/>
          <p:nvPr/>
        </p:nvCxnSpPr>
        <p:spPr>
          <a:xfrm rot="10800000" flipH="1">
            <a:off x="803050" y="529675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3" name="Google Shape;443;p9"/>
          <p:cNvCxnSpPr/>
          <p:nvPr/>
        </p:nvCxnSpPr>
        <p:spPr>
          <a:xfrm>
            <a:off x="0" y="6520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44" name="Google Shape;444;p9"/>
          <p:cNvGrpSpPr/>
          <p:nvPr/>
        </p:nvGrpSpPr>
        <p:grpSpPr>
          <a:xfrm flipH="1">
            <a:off x="499400" y="959675"/>
            <a:ext cx="581800" cy="582350"/>
            <a:chOff x="8064275" y="887850"/>
            <a:chExt cx="581800" cy="582350"/>
          </a:xfrm>
        </p:grpSpPr>
        <p:sp>
          <p:nvSpPr>
            <p:cNvPr id="445" name="Google Shape;445;p9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9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9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9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9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9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1" name="Google Shape;451;p9"/>
          <p:cNvGrpSpPr/>
          <p:nvPr/>
        </p:nvGrpSpPr>
        <p:grpSpPr>
          <a:xfrm flipH="1">
            <a:off x="1500400" y="388100"/>
            <a:ext cx="292025" cy="292575"/>
            <a:chOff x="7353050" y="316275"/>
            <a:chExt cx="292025" cy="292575"/>
          </a:xfrm>
        </p:grpSpPr>
        <p:sp>
          <p:nvSpPr>
            <p:cNvPr id="452" name="Google Shape;452;p9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9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9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9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6" name="Google Shape;456;p9"/>
          <p:cNvSpPr/>
          <p:nvPr/>
        </p:nvSpPr>
        <p:spPr>
          <a:xfrm flipH="1">
            <a:off x="3166281" y="497632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7" name="Google Shape;457;p9"/>
          <p:cNvSpPr/>
          <p:nvPr/>
        </p:nvSpPr>
        <p:spPr>
          <a:xfrm flipH="1">
            <a:off x="3164039" y="495100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" name="Google Shape;458;p9"/>
          <p:cNvSpPr/>
          <p:nvPr/>
        </p:nvSpPr>
        <p:spPr>
          <a:xfrm flipH="1">
            <a:off x="3202780" y="534134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9" name="Google Shape;459;p9"/>
          <p:cNvSpPr/>
          <p:nvPr/>
        </p:nvSpPr>
        <p:spPr>
          <a:xfrm flipH="1">
            <a:off x="3200525" y="531602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0" name="Google Shape;460;p9"/>
          <p:cNvSpPr/>
          <p:nvPr/>
        </p:nvSpPr>
        <p:spPr>
          <a:xfrm flipH="1">
            <a:off x="3242641" y="573709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1" name="Google Shape;461;p9"/>
          <p:cNvSpPr/>
          <p:nvPr/>
        </p:nvSpPr>
        <p:spPr>
          <a:xfrm flipH="1">
            <a:off x="3240109" y="571467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62" name="Google Shape;462;p9"/>
          <p:cNvGrpSpPr/>
          <p:nvPr/>
        </p:nvGrpSpPr>
        <p:grpSpPr>
          <a:xfrm flipH="1">
            <a:off x="3527112" y="361100"/>
            <a:ext cx="175013" cy="27000"/>
            <a:chOff x="5662375" y="212375"/>
            <a:chExt cx="175013" cy="27000"/>
          </a:xfrm>
        </p:grpSpPr>
        <p:sp>
          <p:nvSpPr>
            <p:cNvPr id="463" name="Google Shape;463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6" name="Google Shape;466;p9"/>
          <p:cNvGrpSpPr/>
          <p:nvPr/>
        </p:nvGrpSpPr>
        <p:grpSpPr>
          <a:xfrm flipH="1">
            <a:off x="480412" y="242700"/>
            <a:ext cx="175013" cy="27000"/>
            <a:chOff x="5662375" y="212375"/>
            <a:chExt cx="175013" cy="27000"/>
          </a:xfrm>
        </p:grpSpPr>
        <p:sp>
          <p:nvSpPr>
            <p:cNvPr id="467" name="Google Shape;467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0" name="Google Shape;470;p9"/>
          <p:cNvGrpSpPr/>
          <p:nvPr/>
        </p:nvGrpSpPr>
        <p:grpSpPr>
          <a:xfrm flipH="1">
            <a:off x="901712" y="1653625"/>
            <a:ext cx="175013" cy="27000"/>
            <a:chOff x="5662375" y="212375"/>
            <a:chExt cx="175013" cy="27000"/>
          </a:xfrm>
        </p:grpSpPr>
        <p:sp>
          <p:nvSpPr>
            <p:cNvPr id="471" name="Google Shape;471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474" name="Google Shape;474;p9"/>
          <p:cNvCxnSpPr/>
          <p:nvPr/>
        </p:nvCxnSpPr>
        <p:spPr>
          <a:xfrm>
            <a:off x="791400" y="42124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5" name="Google Shape;475;p9"/>
          <p:cNvCxnSpPr/>
          <p:nvPr/>
        </p:nvCxnSpPr>
        <p:spPr>
          <a:xfrm rot="10800000" flipH="1">
            <a:off x="0" y="42204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76" name="Google Shape;476;p9"/>
          <p:cNvGrpSpPr/>
          <p:nvPr/>
        </p:nvGrpSpPr>
        <p:grpSpPr>
          <a:xfrm rot="10800000">
            <a:off x="499400" y="3940925"/>
            <a:ext cx="581800" cy="582350"/>
            <a:chOff x="8064275" y="887850"/>
            <a:chExt cx="581800" cy="582350"/>
          </a:xfrm>
        </p:grpSpPr>
        <p:sp>
          <p:nvSpPr>
            <p:cNvPr id="477" name="Google Shape;477;p9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9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9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9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9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9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3" name="Google Shape;483;p9"/>
          <p:cNvGrpSpPr/>
          <p:nvPr/>
        </p:nvGrpSpPr>
        <p:grpSpPr>
          <a:xfrm rot="10800000">
            <a:off x="1819575" y="4586750"/>
            <a:ext cx="292025" cy="292575"/>
            <a:chOff x="7353050" y="316275"/>
            <a:chExt cx="292025" cy="292575"/>
          </a:xfrm>
        </p:grpSpPr>
        <p:sp>
          <p:nvSpPr>
            <p:cNvPr id="484" name="Google Shape;484;p9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9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9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9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8" name="Google Shape;488;p9"/>
          <p:cNvGrpSpPr/>
          <p:nvPr/>
        </p:nvGrpSpPr>
        <p:grpSpPr>
          <a:xfrm rot="10800000">
            <a:off x="212525" y="4645550"/>
            <a:ext cx="175000" cy="175000"/>
            <a:chOff x="8792300" y="321275"/>
            <a:chExt cx="175000" cy="175000"/>
          </a:xfrm>
        </p:grpSpPr>
        <p:sp>
          <p:nvSpPr>
            <p:cNvPr id="489" name="Google Shape;489;p9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9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9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9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3" name="Google Shape;493;p9"/>
          <p:cNvGrpSpPr/>
          <p:nvPr/>
        </p:nvGrpSpPr>
        <p:grpSpPr>
          <a:xfrm rot="10800000">
            <a:off x="480412" y="4852325"/>
            <a:ext cx="175013" cy="27000"/>
            <a:chOff x="5662375" y="212375"/>
            <a:chExt cx="175013" cy="27000"/>
          </a:xfrm>
        </p:grpSpPr>
        <p:sp>
          <p:nvSpPr>
            <p:cNvPr id="494" name="Google Shape;494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7" name="Google Shape;497;p9"/>
          <p:cNvGrpSpPr/>
          <p:nvPr/>
        </p:nvGrpSpPr>
        <p:grpSpPr>
          <a:xfrm rot="10800000">
            <a:off x="1054112" y="3898600"/>
            <a:ext cx="175013" cy="27000"/>
            <a:chOff x="5662375" y="212375"/>
            <a:chExt cx="175013" cy="27000"/>
          </a:xfrm>
        </p:grpSpPr>
        <p:sp>
          <p:nvSpPr>
            <p:cNvPr id="498" name="Google Shape;498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13"/>
          <p:cNvSpPr txBox="1">
            <a:spLocks noGrp="1"/>
          </p:cNvSpPr>
          <p:nvPr>
            <p:ph type="title"/>
          </p:nvPr>
        </p:nvSpPr>
        <p:spPr>
          <a:xfrm>
            <a:off x="5907024" y="356616"/>
            <a:ext cx="2615100" cy="5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25" name="Google Shape;625;p13"/>
          <p:cNvSpPr txBox="1">
            <a:spLocks noGrp="1"/>
          </p:cNvSpPr>
          <p:nvPr>
            <p:ph type="subTitle" idx="1"/>
          </p:nvPr>
        </p:nvSpPr>
        <p:spPr>
          <a:xfrm>
            <a:off x="1664208" y="429768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26" name="Google Shape;626;p13"/>
          <p:cNvSpPr txBox="1">
            <a:spLocks noGrp="1"/>
          </p:cNvSpPr>
          <p:nvPr>
            <p:ph type="subTitle" idx="2"/>
          </p:nvPr>
        </p:nvSpPr>
        <p:spPr>
          <a:xfrm>
            <a:off x="1664208" y="713232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27" name="Google Shape;627;p13"/>
          <p:cNvSpPr txBox="1">
            <a:spLocks noGrp="1"/>
          </p:cNvSpPr>
          <p:nvPr>
            <p:ph type="subTitle" idx="3"/>
          </p:nvPr>
        </p:nvSpPr>
        <p:spPr>
          <a:xfrm>
            <a:off x="1664208" y="1508760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28" name="Google Shape;628;p13"/>
          <p:cNvSpPr txBox="1">
            <a:spLocks noGrp="1"/>
          </p:cNvSpPr>
          <p:nvPr>
            <p:ph type="subTitle" idx="4"/>
          </p:nvPr>
        </p:nvSpPr>
        <p:spPr>
          <a:xfrm>
            <a:off x="1664208" y="1792224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29" name="Google Shape;629;p13"/>
          <p:cNvSpPr txBox="1">
            <a:spLocks noGrp="1"/>
          </p:cNvSpPr>
          <p:nvPr>
            <p:ph type="subTitle" idx="5"/>
          </p:nvPr>
        </p:nvSpPr>
        <p:spPr>
          <a:xfrm>
            <a:off x="1664208" y="2587752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30" name="Google Shape;630;p13"/>
          <p:cNvSpPr txBox="1">
            <a:spLocks noGrp="1"/>
          </p:cNvSpPr>
          <p:nvPr>
            <p:ph type="subTitle" idx="6"/>
          </p:nvPr>
        </p:nvSpPr>
        <p:spPr>
          <a:xfrm>
            <a:off x="1664208" y="2871216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31" name="Google Shape;631;p13"/>
          <p:cNvSpPr txBox="1">
            <a:spLocks noGrp="1"/>
          </p:cNvSpPr>
          <p:nvPr>
            <p:ph type="subTitle" idx="7"/>
          </p:nvPr>
        </p:nvSpPr>
        <p:spPr>
          <a:xfrm>
            <a:off x="1664208" y="3666744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32" name="Google Shape;632;p13"/>
          <p:cNvSpPr txBox="1">
            <a:spLocks noGrp="1"/>
          </p:cNvSpPr>
          <p:nvPr>
            <p:ph type="subTitle" idx="8"/>
          </p:nvPr>
        </p:nvSpPr>
        <p:spPr>
          <a:xfrm>
            <a:off x="1664208" y="3950208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33" name="Google Shape;633;p13"/>
          <p:cNvSpPr txBox="1">
            <a:spLocks noGrp="1"/>
          </p:cNvSpPr>
          <p:nvPr>
            <p:ph type="title" idx="9" hasCustomPrompt="1"/>
          </p:nvPr>
        </p:nvSpPr>
        <p:spPr>
          <a:xfrm>
            <a:off x="813816" y="722376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4" name="Google Shape;634;p13"/>
          <p:cNvSpPr txBox="1">
            <a:spLocks noGrp="1"/>
          </p:cNvSpPr>
          <p:nvPr>
            <p:ph type="title" idx="13" hasCustomPrompt="1"/>
          </p:nvPr>
        </p:nvSpPr>
        <p:spPr>
          <a:xfrm>
            <a:off x="813816" y="1801368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5" name="Google Shape;635;p13"/>
          <p:cNvSpPr txBox="1">
            <a:spLocks noGrp="1"/>
          </p:cNvSpPr>
          <p:nvPr>
            <p:ph type="title" idx="14" hasCustomPrompt="1"/>
          </p:nvPr>
        </p:nvSpPr>
        <p:spPr>
          <a:xfrm>
            <a:off x="813816" y="2880360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6" name="Google Shape;636;p13"/>
          <p:cNvSpPr txBox="1">
            <a:spLocks noGrp="1"/>
          </p:cNvSpPr>
          <p:nvPr>
            <p:ph type="title" idx="15" hasCustomPrompt="1"/>
          </p:nvPr>
        </p:nvSpPr>
        <p:spPr>
          <a:xfrm>
            <a:off x="813816" y="3959352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3">
  <p:cSld name="TITLE_AND_BODY_1">
    <p:spTree>
      <p:nvGrpSpPr>
        <p:cNvPr id="1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p23"/>
          <p:cNvSpPr txBox="1">
            <a:spLocks noGrp="1"/>
          </p:cNvSpPr>
          <p:nvPr>
            <p:ph type="title"/>
          </p:nvPr>
        </p:nvSpPr>
        <p:spPr>
          <a:xfrm>
            <a:off x="2532888" y="338328"/>
            <a:ext cx="40875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41" name="Google Shape;1141;p23"/>
          <p:cNvSpPr txBox="1">
            <a:spLocks noGrp="1"/>
          </p:cNvSpPr>
          <p:nvPr>
            <p:ph type="body" idx="1"/>
          </p:nvPr>
        </p:nvSpPr>
        <p:spPr>
          <a:xfrm>
            <a:off x="714650" y="1152150"/>
            <a:ext cx="7705500" cy="35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Barlow Semi Condensed Medium"/>
              <a:buAutoNum type="arabicPeriod"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cxnSp>
        <p:nvCxnSpPr>
          <p:cNvPr id="1142" name="Google Shape;1142;p23"/>
          <p:cNvCxnSpPr/>
          <p:nvPr/>
        </p:nvCxnSpPr>
        <p:spPr>
          <a:xfrm rot="10800000">
            <a:off x="303000" y="3359375"/>
            <a:ext cx="151800" cy="957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43" name="Google Shape;1143;p23"/>
          <p:cNvCxnSpPr/>
          <p:nvPr/>
        </p:nvCxnSpPr>
        <p:spPr>
          <a:xfrm rot="10800000" flipH="1">
            <a:off x="0" y="4332550"/>
            <a:ext cx="446700" cy="663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144" name="Google Shape;1144;p23"/>
          <p:cNvGrpSpPr/>
          <p:nvPr/>
        </p:nvGrpSpPr>
        <p:grpSpPr>
          <a:xfrm flipH="1">
            <a:off x="300738" y="4167800"/>
            <a:ext cx="292025" cy="292575"/>
            <a:chOff x="7353050" y="316275"/>
            <a:chExt cx="292025" cy="292575"/>
          </a:xfrm>
        </p:grpSpPr>
        <p:sp>
          <p:nvSpPr>
            <p:cNvPr id="1145" name="Google Shape;1145;p23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23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23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23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49" name="Google Shape;1149;p23"/>
          <p:cNvGrpSpPr/>
          <p:nvPr/>
        </p:nvGrpSpPr>
        <p:grpSpPr>
          <a:xfrm>
            <a:off x="148789" y="3224300"/>
            <a:ext cx="293111" cy="293388"/>
            <a:chOff x="3164039" y="430875"/>
            <a:chExt cx="293111" cy="293388"/>
          </a:xfrm>
        </p:grpSpPr>
        <p:sp>
          <p:nvSpPr>
            <p:cNvPr id="1150" name="Google Shape;1150;p23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23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23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23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23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23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156" name="Google Shape;1156;p23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57" name="Google Shape;1157;p23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158" name="Google Shape;1158;p23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1159" name="Google Shape;1159;p23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23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23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23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23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23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65" name="Google Shape;1165;p23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1166" name="Google Shape;1166;p23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23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23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23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70" name="Google Shape;1170;p23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1171" name="Google Shape;1171;p23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23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23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23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75" name="Google Shape;1175;p23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1176" name="Google Shape;1176;p23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23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23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79" name="Google Shape;1179;p23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1180" name="Google Shape;1180;p23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23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23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8">
    <p:spTree>
      <p:nvGrpSpPr>
        <p:cNvPr id="1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7" name="Google Shape;1327;p27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28" name="Google Shape;1328;p27"/>
          <p:cNvCxnSpPr/>
          <p:nvPr/>
        </p:nvCxnSpPr>
        <p:spPr>
          <a:xfrm rot="-5400000" flipH="1">
            <a:off x="7181408" y="2082400"/>
            <a:ext cx="1342200" cy="3153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29" name="Google Shape;1329;p27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30" name="Google Shape;1330;p27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31" name="Google Shape;1331;p27"/>
          <p:cNvGrpSpPr/>
          <p:nvPr/>
        </p:nvGrpSpPr>
        <p:grpSpPr>
          <a:xfrm rot="5400000" flipH="1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1332" name="Google Shape;1332;p2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2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2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2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2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2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38" name="Google Shape;1338;p27"/>
          <p:cNvGrpSpPr/>
          <p:nvPr/>
        </p:nvGrpSpPr>
        <p:grpSpPr>
          <a:xfrm rot="5400000" flipH="1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1339" name="Google Shape;1339;p2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2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2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2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43" name="Google Shape;1343;p27"/>
          <p:cNvGrpSpPr/>
          <p:nvPr/>
        </p:nvGrpSpPr>
        <p:grpSpPr>
          <a:xfrm rot="5400000" flipH="1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1344" name="Google Shape;1344;p27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27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27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27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48" name="Google Shape;1348;p27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1349" name="Google Shape;1349;p27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27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27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27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27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27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55" name="Google Shape;1355;p27"/>
          <p:cNvGrpSpPr/>
          <p:nvPr/>
        </p:nvGrpSpPr>
        <p:grpSpPr>
          <a:xfrm rot="5400000" flipH="1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1356" name="Google Shape;1356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359" name="Google Shape;1359;p27"/>
          <p:cNvCxnSpPr/>
          <p:nvPr/>
        </p:nvCxnSpPr>
        <p:spPr>
          <a:xfrm rot="5400000" flipH="1">
            <a:off x="740850" y="25983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60" name="Google Shape;1360;p27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61" name="Google Shape;1361;p27"/>
          <p:cNvCxnSpPr/>
          <p:nvPr/>
        </p:nvCxnSpPr>
        <p:spPr>
          <a:xfrm rot="5400000" flipH="1">
            <a:off x="1105775" y="415125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62" name="Google Shape;1362;p27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1363" name="Google Shape;1363;p2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2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2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2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2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2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69" name="Google Shape;1369;p27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1370" name="Google Shape;1370;p2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2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2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2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74" name="Google Shape;1374;p27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1375" name="Google Shape;1375;p27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27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27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27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79" name="Google Shape;1379;p27"/>
          <p:cNvSpPr/>
          <p:nvPr/>
        </p:nvSpPr>
        <p:spPr>
          <a:xfrm rot="5400000">
            <a:off x="1377117" y="1688743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0" name="Google Shape;1380;p27"/>
          <p:cNvSpPr/>
          <p:nvPr/>
        </p:nvSpPr>
        <p:spPr>
          <a:xfrm rot="5400000">
            <a:off x="1374876" y="1686211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1" name="Google Shape;1381;p27"/>
          <p:cNvSpPr/>
          <p:nvPr/>
        </p:nvSpPr>
        <p:spPr>
          <a:xfrm rot="5400000">
            <a:off x="1413610" y="1725239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2" name="Google Shape;1382;p27"/>
          <p:cNvSpPr/>
          <p:nvPr/>
        </p:nvSpPr>
        <p:spPr>
          <a:xfrm rot="5400000">
            <a:off x="1411362" y="1722714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3" name="Google Shape;1383;p27"/>
          <p:cNvSpPr/>
          <p:nvPr/>
        </p:nvSpPr>
        <p:spPr>
          <a:xfrm rot="5400000">
            <a:off x="1453339" y="1764682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4" name="Google Shape;1384;p27"/>
          <p:cNvSpPr/>
          <p:nvPr/>
        </p:nvSpPr>
        <p:spPr>
          <a:xfrm rot="5400000">
            <a:off x="1450946" y="1762579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85" name="Google Shape;1385;p27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1386" name="Google Shape;1386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9" name="Google Shape;1389;p27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1390" name="Google Shape;1390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93" name="Google Shape;1393;p27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1394" name="Google Shape;1394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9">
    <p:spTree>
      <p:nvGrpSpPr>
        <p:cNvPr id="1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8" name="Google Shape;1398;p28"/>
          <p:cNvGrpSpPr/>
          <p:nvPr/>
        </p:nvGrpSpPr>
        <p:grpSpPr>
          <a:xfrm>
            <a:off x="261711" y="-1158"/>
            <a:ext cx="8550326" cy="3981600"/>
            <a:chOff x="261711" y="-1158"/>
            <a:chExt cx="8550326" cy="3981600"/>
          </a:xfrm>
        </p:grpSpPr>
        <p:cxnSp>
          <p:nvCxnSpPr>
            <p:cNvPr id="1399" name="Google Shape;1399;p28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00" name="Google Shape;1400;p28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01" name="Google Shape;1401;p28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1402" name="Google Shape;1402;p2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Google Shape;1403;p2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" name="Google Shape;1404;p2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" name="Google Shape;1405;p2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06" name="Google Shape;1406;p28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1407" name="Google Shape;1407;p2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Google Shape;1408;p2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" name="Google Shape;1409;p2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Google Shape;1410;p2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11" name="Google Shape;1411;p28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1412" name="Google Shape;1412;p28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" name="Google Shape;1413;p28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" name="Google Shape;1414;p28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" name="Google Shape;1415;p28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Google Shape;1416;p28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Google Shape;1417;p28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4">
  <p:cSld name="CUSTOM_21">
    <p:spTree>
      <p:nvGrpSpPr>
        <p:cNvPr id="1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9" name="Google Shape;1479;p30"/>
          <p:cNvGrpSpPr/>
          <p:nvPr/>
        </p:nvGrpSpPr>
        <p:grpSpPr>
          <a:xfrm>
            <a:off x="-6867" y="-6625"/>
            <a:ext cx="9152342" cy="5102050"/>
            <a:chOff x="-6867" y="-6625"/>
            <a:chExt cx="9152342" cy="5102050"/>
          </a:xfrm>
        </p:grpSpPr>
        <p:cxnSp>
          <p:nvCxnSpPr>
            <p:cNvPr id="1480" name="Google Shape;1480;p30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1" name="Google Shape;1481;p30"/>
            <p:cNvCxnSpPr/>
            <p:nvPr/>
          </p:nvCxnSpPr>
          <p:spPr>
            <a:xfrm rot="10800000" flipH="1">
              <a:off x="1562083" y="4492325"/>
              <a:ext cx="1342200" cy="315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2" name="Google Shape;1482;p30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3" name="Google Shape;1483;p30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84" name="Google Shape;1484;p30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1485" name="Google Shape;1485;p30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6" name="Google Shape;1486;p30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7" name="Google Shape;1487;p30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8" name="Google Shape;1488;p30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Google Shape;1489;p30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Google Shape;1490;p30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91" name="Google Shape;1491;p30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1492" name="Google Shape;1492;p30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Google Shape;1493;p30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Google Shape;1494;p30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Google Shape;1495;p30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96" name="Google Shape;1496;p30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1497" name="Google Shape;1497;p30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8" name="Google Shape;1498;p30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Google Shape;1499;p30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Google Shape;1500;p30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1" name="Google Shape;1501;p30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1502" name="Google Shape;1502;p30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Google Shape;1503;p30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Google Shape;1504;p30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Google Shape;1505;p30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Google Shape;1506;p30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Google Shape;1507;p30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8" name="Google Shape;1508;p30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1509" name="Google Shape;1509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Google Shape;1510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Google Shape;1511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512" name="Google Shape;1512;p30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13" name="Google Shape;1513;p30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14" name="Google Shape;1514;p30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515" name="Google Shape;1515;p30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1516" name="Google Shape;1516;p30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Google Shape;1517;p30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Google Shape;1518;p30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Google Shape;1519;p30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Google Shape;1520;p30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Google Shape;1521;p30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22" name="Google Shape;1522;p30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1523" name="Google Shape;1523;p30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Google Shape;1524;p30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Google Shape;1525;p30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Google Shape;1526;p30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27" name="Google Shape;1527;p30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1528" name="Google Shape;1528;p30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Google Shape;1529;p30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Google Shape;1530;p30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1" name="Google Shape;1531;p30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32" name="Google Shape;1532;p30"/>
            <p:cNvSpPr/>
            <p:nvPr/>
          </p:nvSpPr>
          <p:spPr>
            <a:xfrm>
              <a:off x="5829305" y="687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30"/>
            <p:cNvSpPr/>
            <p:nvPr/>
          </p:nvSpPr>
          <p:spPr>
            <a:xfrm>
              <a:off x="5827050" y="661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30"/>
            <p:cNvSpPr/>
            <p:nvPr/>
          </p:nvSpPr>
          <p:spPr>
            <a:xfrm>
              <a:off x="5865794" y="1052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30"/>
            <p:cNvSpPr/>
            <p:nvPr/>
          </p:nvSpPr>
          <p:spPr>
            <a:xfrm>
              <a:off x="5863552" y="1026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30"/>
            <p:cNvSpPr/>
            <p:nvPr/>
          </p:nvSpPr>
          <p:spPr>
            <a:xfrm>
              <a:off x="5905382" y="1447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30"/>
            <p:cNvSpPr/>
            <p:nvPr/>
          </p:nvSpPr>
          <p:spPr>
            <a:xfrm>
              <a:off x="5903140" y="1425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38" name="Google Shape;1538;p30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1539" name="Google Shape;1539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Google Shape;1540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Google Shape;1541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42" name="Google Shape;1542;p30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1543" name="Google Shape;1543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Google Shape;1544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Google Shape;1545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3750" y="526925"/>
            <a:ext cx="7696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2" r:id="rId3"/>
    <p:sldLayoutId id="2147483655" r:id="rId4"/>
    <p:sldLayoutId id="2147483658" r:id="rId5"/>
    <p:sldLayoutId id="2147483659" r:id="rId6"/>
    <p:sldLayoutId id="2147483669" r:id="rId7"/>
    <p:sldLayoutId id="2147483673" r:id="rId8"/>
    <p:sldLayoutId id="2147483674" r:id="rId9"/>
    <p:sldLayoutId id="2147483676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4.jpe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" name="Google Shape;1884;p35"/>
          <p:cNvSpPr txBox="1">
            <a:spLocks noGrp="1"/>
          </p:cNvSpPr>
          <p:nvPr>
            <p:ph type="ctrTitle"/>
          </p:nvPr>
        </p:nvSpPr>
        <p:spPr>
          <a:xfrm>
            <a:off x="5248656" y="2002536"/>
            <a:ext cx="3264300" cy="1792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br>
              <a:rPr lang="en-US" sz="2000" dirty="0"/>
            </a:br>
            <a:endParaRPr sz="2000" dirty="0">
              <a:solidFill>
                <a:schemeClr val="dk2"/>
              </a:solidFill>
            </a:endParaRPr>
          </a:p>
        </p:txBody>
      </p:sp>
      <p:sp>
        <p:nvSpPr>
          <p:cNvPr id="1885" name="Google Shape;1885;p35"/>
          <p:cNvSpPr txBox="1">
            <a:spLocks noGrp="1"/>
          </p:cNvSpPr>
          <p:nvPr>
            <p:ph type="subTitle" idx="1"/>
          </p:nvPr>
        </p:nvSpPr>
        <p:spPr>
          <a:xfrm>
            <a:off x="4646176" y="2990989"/>
            <a:ext cx="3264300" cy="120668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dirty="0">
              <a:solidFill>
                <a:schemeClr val="accent1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dirty="0">
              <a:solidFill>
                <a:schemeClr val="tx1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 </a:t>
            </a:r>
            <a:endParaRPr sz="1200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537A9B-5540-3499-4C12-B114328CED74}"/>
              </a:ext>
            </a:extLst>
          </p:cNvPr>
          <p:cNvSpPr txBox="1"/>
          <p:nvPr/>
        </p:nvSpPr>
        <p:spPr>
          <a:xfrm>
            <a:off x="4089460" y="2002536"/>
            <a:ext cx="4818184" cy="2074282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en-US" sz="2400" b="1" i="1" dirty="0">
              <a:solidFill>
                <a:schemeClr val="tx1">
                  <a:lumMod val="50000"/>
                </a:schemeClr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BFC8C8-F2BE-152D-BD0A-52EC7CAFAEB3}"/>
              </a:ext>
            </a:extLst>
          </p:cNvPr>
          <p:cNvSpPr txBox="1"/>
          <p:nvPr/>
        </p:nvSpPr>
        <p:spPr>
          <a:xfrm>
            <a:off x="4089461" y="2285506"/>
            <a:ext cx="481818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“To verify the laws of transverse vibration of strings and to determine the frequency of a tuning fork by </a:t>
            </a:r>
            <a:r>
              <a:rPr lang="en-US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Melde’s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experiment”</a:t>
            </a:r>
          </a:p>
        </p:txBody>
      </p:sp>
      <p:pic>
        <p:nvPicPr>
          <p:cNvPr id="1030" name="Picture 6" descr="Resonance science experiment for education">
            <a:extLst>
              <a:ext uri="{FF2B5EF4-FFF2-40B4-BE49-F238E27FC236}">
                <a16:creationId xmlns:a16="http://schemas.microsoft.com/office/drawing/2014/main" id="{26420C9B-E53E-3AE7-4ACA-23C1701221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959" y="782658"/>
            <a:ext cx="3886785" cy="243975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4ECD8-A491-237C-0A62-A57D87362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spc="-87" dirty="0">
                <a:solidFill>
                  <a:schemeClr val="tx1"/>
                </a:solidFill>
                <a:latin typeface="+mj-lt"/>
                <a:ea typeface="adonis-web" pitchFamily="34" charset="-122"/>
              </a:rPr>
              <a:t>Presented By</a:t>
            </a:r>
            <a:endParaRPr lang="en-US" dirty="0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181216CF-2250-760E-3092-1F9F282A8F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601892"/>
              </p:ext>
            </p:extLst>
          </p:nvPr>
        </p:nvGraphicFramePr>
        <p:xfrm>
          <a:off x="620617" y="1385668"/>
          <a:ext cx="8031013" cy="310192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036557">
                  <a:extLst>
                    <a:ext uri="{9D8B030D-6E8A-4147-A177-3AD203B41FA5}">
                      <a16:colId xmlns:a16="http://schemas.microsoft.com/office/drawing/2014/main" val="3751843084"/>
                    </a:ext>
                  </a:extLst>
                </a:gridCol>
                <a:gridCol w="2994456">
                  <a:extLst>
                    <a:ext uri="{9D8B030D-6E8A-4147-A177-3AD203B41FA5}">
                      <a16:colId xmlns:a16="http://schemas.microsoft.com/office/drawing/2014/main" val="2514763476"/>
                    </a:ext>
                  </a:extLst>
                </a:gridCol>
              </a:tblGrid>
              <a:tr h="53067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500" dirty="0">
                          <a:effectLst/>
                        </a:rPr>
                        <a:t>Name</a:t>
                      </a:r>
                      <a:endParaRPr lang="en-US" sz="27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4345" marR="154345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500">
                          <a:effectLst/>
                        </a:rPr>
                        <a:t>ID</a:t>
                      </a:r>
                      <a:endParaRPr lang="en-US" sz="2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4345" marR="154345" marT="0" marB="0"/>
                </a:tc>
                <a:extLst>
                  <a:ext uri="{0D108BD9-81ED-4DB2-BD59-A6C34878D82A}">
                    <a16:rowId xmlns:a16="http://schemas.microsoft.com/office/drawing/2014/main" val="1624409778"/>
                  </a:ext>
                </a:extLst>
              </a:tr>
              <a:tr h="530677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Roboto" panose="02000000000000000000" pitchFamily="2" charset="0"/>
                          <a:cs typeface="Times New Roman" panose="02020603050405020304" pitchFamily="18" charset="0"/>
                        </a:rPr>
                        <a:t>1. Md. Tawfiqul Islam Tamal</a:t>
                      </a:r>
                    </a:p>
                  </a:txBody>
                  <a:tcPr marL="154345" marR="154345" marT="0" marB="0"/>
                </a:tc>
                <a:tc>
                  <a:txBody>
                    <a:bodyPr/>
                    <a:lstStyle/>
                    <a:p>
                      <a:pPr marL="0" marR="0" lvl="0" indent="0" algn="l" defTabSz="12189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23-52978-3</a:t>
                      </a:r>
                    </a:p>
                  </a:txBody>
                  <a:tcPr marL="154345" marR="154345" marT="0" marB="0"/>
                </a:tc>
                <a:extLst>
                  <a:ext uri="{0D108BD9-81ED-4DB2-BD59-A6C34878D82A}">
                    <a16:rowId xmlns:a16="http://schemas.microsoft.com/office/drawing/2014/main" val="4191742534"/>
                  </a:ext>
                </a:extLst>
              </a:tr>
              <a:tr h="530677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Roboto" panose="02000000000000000000" pitchFamily="2" charset="0"/>
                          <a:cs typeface="Times New Roman" panose="02020603050405020304" pitchFamily="18" charset="0"/>
                        </a:rPr>
                        <a:t>2.</a:t>
                      </a:r>
                      <a:r>
                        <a:rPr lang="en-US" sz="2400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ea typeface="Roboto" panose="02000000000000000000" pitchFamily="2" charset="0"/>
                          <a:cs typeface="Times New Roman" panose="02020603050405020304" pitchFamily="18" charset="0"/>
                        </a:rPr>
                        <a:t> Md. </a:t>
                      </a:r>
                      <a:r>
                        <a:rPr lang="en-US" sz="2400" kern="1200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ea typeface="Roboto" panose="02000000000000000000" pitchFamily="2" charset="0"/>
                          <a:cs typeface="Times New Roman" panose="02020603050405020304" pitchFamily="18" charset="0"/>
                        </a:rPr>
                        <a:t>Jarifur</a:t>
                      </a:r>
                      <a:r>
                        <a:rPr lang="en-US" sz="2400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ea typeface="Roboto" panose="02000000000000000000" pitchFamily="2" charset="0"/>
                          <a:cs typeface="Times New Roman" panose="02020603050405020304" pitchFamily="18" charset="0"/>
                        </a:rPr>
                        <a:t> Rahman </a:t>
                      </a:r>
                      <a:endParaRPr lang="en-US" sz="24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154345" marR="154345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kern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ea typeface="Roboto" panose="02000000000000000000" pitchFamily="2" charset="0"/>
                          <a:cs typeface="Times New Roman" panose="02020603050405020304" pitchFamily="18" charset="0"/>
                        </a:rPr>
                        <a:t>23-55463-3</a:t>
                      </a:r>
                      <a:endParaRPr lang="en-US" sz="2400" b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4345" marR="154345" marT="0" marB="0"/>
                </a:tc>
                <a:extLst>
                  <a:ext uri="{0D108BD9-81ED-4DB2-BD59-A6C34878D82A}">
                    <a16:rowId xmlns:a16="http://schemas.microsoft.com/office/drawing/2014/main" val="2210841517"/>
                  </a:ext>
                </a:extLst>
              </a:tr>
              <a:tr h="530677">
                <a:tc>
                  <a:txBody>
                    <a:bodyPr/>
                    <a:lstStyle/>
                    <a:p>
                      <a:pPr algn="l" defTabSz="768096" fontAlgn="t">
                        <a:spcAft>
                          <a:spcPts val="600"/>
                        </a:spcAft>
                      </a:pPr>
                      <a:r>
                        <a:rPr lang="en-US" sz="24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Roboto" panose="02000000000000000000" pitchFamily="2" charset="0"/>
                          <a:cs typeface="Times New Roman" panose="02020603050405020304" pitchFamily="18" charset="0"/>
                        </a:rPr>
                        <a:t>3.</a:t>
                      </a:r>
                      <a:r>
                        <a:rPr lang="en-US" sz="2400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ea typeface="Roboto" panose="02000000000000000000" pitchFamily="2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kern="1200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ea typeface="Roboto" panose="02000000000000000000" pitchFamily="2" charset="0"/>
                          <a:cs typeface="Times New Roman" panose="02020603050405020304" pitchFamily="18" charset="0"/>
                        </a:rPr>
                        <a:t>Aftabul</a:t>
                      </a:r>
                      <a:r>
                        <a:rPr lang="en-US" sz="2400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ea typeface="Roboto" panose="02000000000000000000" pitchFamily="2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kern="1200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ea typeface="Roboto" panose="02000000000000000000" pitchFamily="2" charset="0"/>
                          <a:cs typeface="Times New Roman" panose="02020603050405020304" pitchFamily="18" charset="0"/>
                        </a:rPr>
                        <a:t>Kanzan</a:t>
                      </a:r>
                      <a:endParaRPr lang="en-US" sz="2400" kern="1200" dirty="0">
                        <a:solidFill>
                          <a:schemeClr val="tx1">
                            <a:lumMod val="50000"/>
                          </a:schemeClr>
                        </a:solidFill>
                        <a:latin typeface="Times New Roman" panose="02020603050405020304" pitchFamily="18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154345" marR="154345" marT="0" marB="0"/>
                </a:tc>
                <a:tc>
                  <a:txBody>
                    <a:bodyPr/>
                    <a:lstStyle/>
                    <a:p>
                      <a:pPr algn="l" defTabSz="768096" fontAlgn="t">
                        <a:spcAft>
                          <a:spcPts val="600"/>
                        </a:spcAft>
                      </a:pPr>
                      <a:r>
                        <a:rPr lang="en-US" sz="2400" b="0" kern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ea typeface="Roboto" panose="02000000000000000000" pitchFamily="2" charset="0"/>
                          <a:cs typeface="Times New Roman" panose="02020603050405020304" pitchFamily="18" charset="0"/>
                        </a:rPr>
                        <a:t>23-55305-3</a:t>
                      </a:r>
                      <a:endParaRPr lang="en-US" sz="24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54345" marR="154345" marT="0" marB="0"/>
                </a:tc>
                <a:extLst>
                  <a:ext uri="{0D108BD9-81ED-4DB2-BD59-A6C34878D82A}">
                    <a16:rowId xmlns:a16="http://schemas.microsoft.com/office/drawing/2014/main" val="3565489027"/>
                  </a:ext>
                </a:extLst>
              </a:tr>
              <a:tr h="4485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Roboto" panose="02000000000000000000" pitchFamily="2" charset="0"/>
                          <a:cs typeface="Times New Roman" panose="02020603050405020304" pitchFamily="18" charset="0"/>
                        </a:rPr>
                        <a:t>4.</a:t>
                      </a:r>
                      <a:r>
                        <a:rPr lang="en-US" sz="2400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ea typeface="Roboto" panose="02000000000000000000" pitchFamily="2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kern="1200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ea typeface="Roboto" panose="02000000000000000000" pitchFamily="2" charset="0"/>
                          <a:cs typeface="Times New Roman" panose="02020603050405020304" pitchFamily="18" charset="0"/>
                        </a:rPr>
                        <a:t>Dipro</a:t>
                      </a:r>
                      <a:endParaRPr lang="en-US" sz="2400" kern="1200" dirty="0">
                        <a:solidFill>
                          <a:schemeClr val="tx1">
                            <a:lumMod val="50000"/>
                          </a:schemeClr>
                        </a:solidFill>
                        <a:latin typeface="Times New Roman" panose="02020603050405020304" pitchFamily="18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154345" marR="154345" marT="0" marB="0"/>
                </a:tc>
                <a:tc>
                  <a:txBody>
                    <a:bodyPr/>
                    <a:lstStyle/>
                    <a:p>
                      <a:pPr algn="l" defTabSz="768096" fontAlgn="t">
                        <a:spcAft>
                          <a:spcPts val="600"/>
                        </a:spcAft>
                      </a:pPr>
                      <a:r>
                        <a:rPr lang="en-US" sz="2400" b="0" kern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ea typeface="Roboto" panose="02000000000000000000" pitchFamily="2" charset="0"/>
                          <a:cs typeface="Times New Roman" panose="02020603050405020304" pitchFamily="18" charset="0"/>
                        </a:rPr>
                        <a:t>23-50440-1</a:t>
                      </a:r>
                      <a:endParaRPr lang="en-US" sz="24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54345" marR="154345" marT="0" marB="0"/>
                </a:tc>
                <a:extLst>
                  <a:ext uri="{0D108BD9-81ED-4DB2-BD59-A6C34878D82A}">
                    <a16:rowId xmlns:a16="http://schemas.microsoft.com/office/drawing/2014/main" val="2949877781"/>
                  </a:ext>
                </a:extLst>
              </a:tr>
              <a:tr h="530677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Roboto" panose="02000000000000000000" pitchFamily="2" charset="0"/>
                          <a:cs typeface="Times New Roman" panose="02020603050405020304" pitchFamily="18" charset="0"/>
                        </a:rPr>
                        <a:t>5. </a:t>
                      </a:r>
                      <a:r>
                        <a:rPr lang="en-US" sz="2400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Roboto" panose="02000000000000000000" pitchFamily="2" charset="0"/>
                          <a:cs typeface="Times New Roman" panose="02020603050405020304" pitchFamily="18" charset="0"/>
                        </a:rPr>
                        <a:t>Samiul</a:t>
                      </a:r>
                      <a:r>
                        <a:rPr lang="en-US" sz="24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Roboto" panose="02000000000000000000" pitchFamily="2" charset="0"/>
                          <a:cs typeface="Times New Roman" panose="02020603050405020304" pitchFamily="18" charset="0"/>
                        </a:rPr>
                        <a:t> Alim Siam</a:t>
                      </a:r>
                    </a:p>
                  </a:txBody>
                  <a:tcPr marL="154345" marR="154345" marT="0" marB="0"/>
                </a:tc>
                <a:tc>
                  <a:txBody>
                    <a:bodyPr/>
                    <a:lstStyle/>
                    <a:p>
                      <a:pPr marL="0" marR="0" lvl="0" indent="0" algn="l" defTabSz="12189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23-55309-3</a:t>
                      </a:r>
                    </a:p>
                  </a:txBody>
                  <a:tcPr marL="154345" marR="154345" marT="0" marB="0"/>
                </a:tc>
                <a:extLst>
                  <a:ext uri="{0D108BD9-81ED-4DB2-BD59-A6C34878D82A}">
                    <a16:rowId xmlns:a16="http://schemas.microsoft.com/office/drawing/2014/main" val="4583657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7312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06" name="Google Shape;2106;p37"/>
          <p:cNvGrpSpPr/>
          <p:nvPr/>
        </p:nvGrpSpPr>
        <p:grpSpPr>
          <a:xfrm>
            <a:off x="801149" y="777348"/>
            <a:ext cx="628617" cy="640077"/>
            <a:chOff x="731647" y="573573"/>
            <a:chExt cx="635100" cy="734640"/>
          </a:xfrm>
        </p:grpSpPr>
        <p:grpSp>
          <p:nvGrpSpPr>
            <p:cNvPr id="2107" name="Google Shape;2107;p37"/>
            <p:cNvGrpSpPr/>
            <p:nvPr/>
          </p:nvGrpSpPr>
          <p:grpSpPr>
            <a:xfrm>
              <a:off x="731647" y="573573"/>
              <a:ext cx="635100" cy="635100"/>
              <a:chOff x="917231" y="750460"/>
              <a:chExt cx="635100" cy="635100"/>
            </a:xfrm>
          </p:grpSpPr>
          <p:sp>
            <p:nvSpPr>
              <p:cNvPr id="2108" name="Google Shape;2108;p37"/>
              <p:cNvSpPr/>
              <p:nvPr/>
            </p:nvSpPr>
            <p:spPr>
              <a:xfrm>
                <a:off x="917231" y="750460"/>
                <a:ext cx="635100" cy="635100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9" name="Google Shape;2109;p37"/>
              <p:cNvSpPr/>
              <p:nvPr/>
            </p:nvSpPr>
            <p:spPr>
              <a:xfrm>
                <a:off x="1001943" y="835185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10" name="Google Shape;2110;p37"/>
            <p:cNvGrpSpPr/>
            <p:nvPr/>
          </p:nvGrpSpPr>
          <p:grpSpPr>
            <a:xfrm>
              <a:off x="961679" y="1281213"/>
              <a:ext cx="175013" cy="27000"/>
              <a:chOff x="5662375" y="212375"/>
              <a:chExt cx="175013" cy="27000"/>
            </a:xfrm>
          </p:grpSpPr>
          <p:sp>
            <p:nvSpPr>
              <p:cNvPr id="2111" name="Google Shape;2111;p37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12" name="Google Shape;2112;p37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13" name="Google Shape;2113;p37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</p:grpSp>
      </p:grpSp>
      <p:grpSp>
        <p:nvGrpSpPr>
          <p:cNvPr id="2114" name="Google Shape;2114;p37"/>
          <p:cNvGrpSpPr/>
          <p:nvPr/>
        </p:nvGrpSpPr>
        <p:grpSpPr>
          <a:xfrm>
            <a:off x="803991" y="1655351"/>
            <a:ext cx="628617" cy="619319"/>
            <a:chOff x="731647" y="1650460"/>
            <a:chExt cx="635100" cy="733490"/>
          </a:xfrm>
        </p:grpSpPr>
        <p:grpSp>
          <p:nvGrpSpPr>
            <p:cNvPr id="2115" name="Google Shape;2115;p37"/>
            <p:cNvGrpSpPr/>
            <p:nvPr/>
          </p:nvGrpSpPr>
          <p:grpSpPr>
            <a:xfrm>
              <a:off x="731647" y="1650460"/>
              <a:ext cx="635100" cy="635100"/>
              <a:chOff x="917231" y="1827973"/>
              <a:chExt cx="635100" cy="635100"/>
            </a:xfrm>
          </p:grpSpPr>
          <p:sp>
            <p:nvSpPr>
              <p:cNvPr id="2116" name="Google Shape;2116;p37"/>
              <p:cNvSpPr/>
              <p:nvPr/>
            </p:nvSpPr>
            <p:spPr>
              <a:xfrm>
                <a:off x="917231" y="1827973"/>
                <a:ext cx="635100" cy="635100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7" name="Google Shape;2117;p37"/>
              <p:cNvSpPr/>
              <p:nvPr/>
            </p:nvSpPr>
            <p:spPr>
              <a:xfrm>
                <a:off x="1001931" y="1912710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18" name="Google Shape;2118;p37"/>
            <p:cNvGrpSpPr/>
            <p:nvPr/>
          </p:nvGrpSpPr>
          <p:grpSpPr>
            <a:xfrm>
              <a:off x="961679" y="2356951"/>
              <a:ext cx="175013" cy="27000"/>
              <a:chOff x="5662375" y="212375"/>
              <a:chExt cx="175013" cy="27000"/>
            </a:xfrm>
          </p:grpSpPr>
          <p:sp>
            <p:nvSpPr>
              <p:cNvPr id="2119" name="Google Shape;2119;p37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20" name="Google Shape;2120;p37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21" name="Google Shape;2121;p37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</p:grpSp>
      </p:grpSp>
      <p:grpSp>
        <p:nvGrpSpPr>
          <p:cNvPr id="2122" name="Google Shape;2122;p37"/>
          <p:cNvGrpSpPr/>
          <p:nvPr/>
        </p:nvGrpSpPr>
        <p:grpSpPr>
          <a:xfrm>
            <a:off x="790709" y="2654128"/>
            <a:ext cx="623034" cy="620047"/>
            <a:chOff x="731647" y="2728277"/>
            <a:chExt cx="635100" cy="734984"/>
          </a:xfrm>
        </p:grpSpPr>
        <p:grpSp>
          <p:nvGrpSpPr>
            <p:cNvPr id="2123" name="Google Shape;2123;p37"/>
            <p:cNvGrpSpPr/>
            <p:nvPr/>
          </p:nvGrpSpPr>
          <p:grpSpPr>
            <a:xfrm>
              <a:off x="731647" y="2728277"/>
              <a:ext cx="635100" cy="635100"/>
              <a:chOff x="917231" y="2905502"/>
              <a:chExt cx="635100" cy="635100"/>
            </a:xfrm>
          </p:grpSpPr>
          <p:sp>
            <p:nvSpPr>
              <p:cNvPr id="2124" name="Google Shape;2124;p37"/>
              <p:cNvSpPr/>
              <p:nvPr/>
            </p:nvSpPr>
            <p:spPr>
              <a:xfrm>
                <a:off x="917231" y="2905502"/>
                <a:ext cx="635100" cy="635100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5" name="Google Shape;2125;p37"/>
              <p:cNvSpPr/>
              <p:nvPr/>
            </p:nvSpPr>
            <p:spPr>
              <a:xfrm>
                <a:off x="1001931" y="2990252"/>
                <a:ext cx="465600" cy="465599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26" name="Google Shape;2126;p37"/>
            <p:cNvGrpSpPr/>
            <p:nvPr/>
          </p:nvGrpSpPr>
          <p:grpSpPr>
            <a:xfrm>
              <a:off x="961679" y="3436260"/>
              <a:ext cx="175013" cy="27000"/>
              <a:chOff x="5662375" y="212375"/>
              <a:chExt cx="175013" cy="27000"/>
            </a:xfrm>
          </p:grpSpPr>
          <p:sp>
            <p:nvSpPr>
              <p:cNvPr id="2127" name="Google Shape;2127;p37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28" name="Google Shape;2128;p37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29" name="Google Shape;2129;p37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</p:grpSp>
      </p:grpSp>
      <p:grpSp>
        <p:nvGrpSpPr>
          <p:cNvPr id="2130" name="Google Shape;2130;p37"/>
          <p:cNvGrpSpPr/>
          <p:nvPr/>
        </p:nvGrpSpPr>
        <p:grpSpPr>
          <a:xfrm>
            <a:off x="793551" y="3608714"/>
            <a:ext cx="623034" cy="678139"/>
            <a:chOff x="731647" y="3806675"/>
            <a:chExt cx="635100" cy="734704"/>
          </a:xfrm>
        </p:grpSpPr>
        <p:grpSp>
          <p:nvGrpSpPr>
            <p:cNvPr id="2131" name="Google Shape;2131;p37"/>
            <p:cNvGrpSpPr/>
            <p:nvPr/>
          </p:nvGrpSpPr>
          <p:grpSpPr>
            <a:xfrm>
              <a:off x="731647" y="3806675"/>
              <a:ext cx="635100" cy="635100"/>
              <a:chOff x="917231" y="3983097"/>
              <a:chExt cx="635100" cy="635100"/>
            </a:xfrm>
          </p:grpSpPr>
          <p:sp>
            <p:nvSpPr>
              <p:cNvPr id="2132" name="Google Shape;2132;p37"/>
              <p:cNvSpPr/>
              <p:nvPr/>
            </p:nvSpPr>
            <p:spPr>
              <a:xfrm>
                <a:off x="917231" y="3983097"/>
                <a:ext cx="635100" cy="635100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3" name="Google Shape;2133;p37"/>
              <p:cNvSpPr/>
              <p:nvPr/>
            </p:nvSpPr>
            <p:spPr>
              <a:xfrm>
                <a:off x="1001931" y="4067797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34" name="Google Shape;2134;p37"/>
            <p:cNvGrpSpPr/>
            <p:nvPr/>
          </p:nvGrpSpPr>
          <p:grpSpPr>
            <a:xfrm>
              <a:off x="961679" y="4514379"/>
              <a:ext cx="175013" cy="27000"/>
              <a:chOff x="5662375" y="212375"/>
              <a:chExt cx="175013" cy="27000"/>
            </a:xfrm>
          </p:grpSpPr>
          <p:sp>
            <p:nvSpPr>
              <p:cNvPr id="2135" name="Google Shape;2135;p37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36" name="Google Shape;2136;p37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37" name="Google Shape;2137;p37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</p:grpSp>
      </p:grpSp>
      <p:sp>
        <p:nvSpPr>
          <p:cNvPr id="2138" name="Google Shape;2138;p37"/>
          <p:cNvSpPr txBox="1">
            <a:spLocks noGrp="1"/>
          </p:cNvSpPr>
          <p:nvPr>
            <p:ph type="title"/>
          </p:nvPr>
        </p:nvSpPr>
        <p:spPr>
          <a:xfrm>
            <a:off x="2368282" y="-206156"/>
            <a:ext cx="4153099" cy="106157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 dirty="0">
                <a:solidFill>
                  <a:schemeClr val="accent5">
                    <a:lumMod val="50000"/>
                  </a:schemeClr>
                </a:solidFill>
                <a:latin typeface="+mj-lt"/>
              </a:rPr>
              <a:t>Table of Contents</a:t>
            </a:r>
            <a:endParaRPr sz="3600" b="1" dirty="0">
              <a:solidFill>
                <a:schemeClr val="accent5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2139" name="Google Shape;2139;p37"/>
          <p:cNvSpPr txBox="1">
            <a:spLocks noGrp="1"/>
          </p:cNvSpPr>
          <p:nvPr>
            <p:ph type="subTitle" idx="2"/>
          </p:nvPr>
        </p:nvSpPr>
        <p:spPr>
          <a:xfrm>
            <a:off x="1709905" y="767839"/>
            <a:ext cx="2615100" cy="71565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 dirty="0">
                <a:solidFill>
                  <a:schemeClr val="accent3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Theory</a:t>
            </a:r>
            <a:endParaRPr sz="1800" b="1" dirty="0">
              <a:solidFill>
                <a:schemeClr val="accent3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Barlow Semi Condensed"/>
            </a:endParaRPr>
          </a:p>
        </p:txBody>
      </p:sp>
      <p:sp>
        <p:nvSpPr>
          <p:cNvPr id="2142" name="Google Shape;2142;p37"/>
          <p:cNvSpPr txBox="1">
            <a:spLocks noGrp="1"/>
          </p:cNvSpPr>
          <p:nvPr>
            <p:ph type="subTitle" idx="4"/>
          </p:nvPr>
        </p:nvSpPr>
        <p:spPr>
          <a:xfrm>
            <a:off x="1709905" y="1669658"/>
            <a:ext cx="2615100" cy="71776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1" dirty="0">
                <a:solidFill>
                  <a:schemeClr val="accent3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Apparatus</a:t>
            </a:r>
            <a:r>
              <a:rPr lang="en-US" sz="1800" b="1" dirty="0">
                <a:solidFill>
                  <a:schemeClr val="accent3">
                    <a:lumMod val="25000"/>
                  </a:schemeClr>
                </a:solidFill>
              </a:rPr>
              <a:t> </a:t>
            </a:r>
            <a:endParaRPr sz="1800" b="1" dirty="0">
              <a:solidFill>
                <a:schemeClr val="accent3">
                  <a:lumMod val="25000"/>
                </a:schemeClr>
              </a:solidFill>
            </a:endParaRPr>
          </a:p>
        </p:txBody>
      </p:sp>
      <p:sp>
        <p:nvSpPr>
          <p:cNvPr id="2144" name="Google Shape;2144;p37"/>
          <p:cNvSpPr txBox="1">
            <a:spLocks noGrp="1"/>
          </p:cNvSpPr>
          <p:nvPr>
            <p:ph type="subTitle" idx="6"/>
          </p:nvPr>
        </p:nvSpPr>
        <p:spPr>
          <a:xfrm>
            <a:off x="1669851" y="2657516"/>
            <a:ext cx="2615100" cy="71893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1" dirty="0">
                <a:solidFill>
                  <a:schemeClr val="accent3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Procedure </a:t>
            </a:r>
            <a:br>
              <a:rPr lang="en-US" sz="1800" dirty="0">
                <a:solidFill>
                  <a:schemeClr val="accent3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47" name="Google Shape;2147;p37"/>
          <p:cNvSpPr txBox="1">
            <a:spLocks noGrp="1"/>
          </p:cNvSpPr>
          <p:nvPr>
            <p:ph type="title" idx="9"/>
          </p:nvPr>
        </p:nvSpPr>
        <p:spPr>
          <a:xfrm>
            <a:off x="882845" y="879862"/>
            <a:ext cx="452676" cy="35085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2148" name="Google Shape;2148;p37"/>
          <p:cNvSpPr txBox="1">
            <a:spLocks noGrp="1"/>
          </p:cNvSpPr>
          <p:nvPr>
            <p:ph type="title" idx="13"/>
          </p:nvPr>
        </p:nvSpPr>
        <p:spPr>
          <a:xfrm>
            <a:off x="877878" y="1843564"/>
            <a:ext cx="452676" cy="20167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2149" name="Google Shape;2149;p37"/>
          <p:cNvSpPr txBox="1">
            <a:spLocks noGrp="1"/>
          </p:cNvSpPr>
          <p:nvPr>
            <p:ph type="title" idx="14"/>
          </p:nvPr>
        </p:nvSpPr>
        <p:spPr>
          <a:xfrm>
            <a:off x="872577" y="2815568"/>
            <a:ext cx="468357" cy="24221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2150" name="Google Shape;2150;p37"/>
          <p:cNvSpPr txBox="1">
            <a:spLocks noGrp="1"/>
          </p:cNvSpPr>
          <p:nvPr>
            <p:ph type="title" idx="15"/>
          </p:nvPr>
        </p:nvSpPr>
        <p:spPr>
          <a:xfrm>
            <a:off x="834880" y="3708816"/>
            <a:ext cx="539481" cy="43371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261" name="Google Shape;2144;p37"/>
          <p:cNvSpPr txBox="1">
            <a:spLocks noGrp="1"/>
          </p:cNvSpPr>
          <p:nvPr>
            <p:ph type="subTitle" idx="6"/>
          </p:nvPr>
        </p:nvSpPr>
        <p:spPr>
          <a:xfrm>
            <a:off x="1709905" y="3678222"/>
            <a:ext cx="2615100" cy="64284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en-US" sz="1800" b="1" dirty="0">
                <a:solidFill>
                  <a:schemeClr val="accent3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Data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0" name="Google Shape;2106;p37">
            <a:extLst>
              <a:ext uri="{FF2B5EF4-FFF2-40B4-BE49-F238E27FC236}">
                <a16:creationId xmlns:a16="http://schemas.microsoft.com/office/drawing/2014/main" id="{F75E3AFE-0965-3A9E-6247-BA3D5DCF191F}"/>
              </a:ext>
            </a:extLst>
          </p:cNvPr>
          <p:cNvGrpSpPr/>
          <p:nvPr/>
        </p:nvGrpSpPr>
        <p:grpSpPr>
          <a:xfrm>
            <a:off x="5487242" y="3584724"/>
            <a:ext cx="593177" cy="634092"/>
            <a:chOff x="731647" y="573573"/>
            <a:chExt cx="635100" cy="734640"/>
          </a:xfrm>
        </p:grpSpPr>
        <p:grpSp>
          <p:nvGrpSpPr>
            <p:cNvPr id="11" name="Google Shape;2107;p37">
              <a:extLst>
                <a:ext uri="{FF2B5EF4-FFF2-40B4-BE49-F238E27FC236}">
                  <a16:creationId xmlns:a16="http://schemas.microsoft.com/office/drawing/2014/main" id="{B78E00F1-2B78-475E-3385-06012598B886}"/>
                </a:ext>
              </a:extLst>
            </p:cNvPr>
            <p:cNvGrpSpPr/>
            <p:nvPr/>
          </p:nvGrpSpPr>
          <p:grpSpPr>
            <a:xfrm>
              <a:off x="731647" y="573573"/>
              <a:ext cx="635100" cy="635100"/>
              <a:chOff x="917231" y="750460"/>
              <a:chExt cx="635100" cy="635100"/>
            </a:xfrm>
          </p:grpSpPr>
          <p:sp>
            <p:nvSpPr>
              <p:cNvPr id="16" name="Google Shape;2108;p37">
                <a:extLst>
                  <a:ext uri="{FF2B5EF4-FFF2-40B4-BE49-F238E27FC236}">
                    <a16:creationId xmlns:a16="http://schemas.microsoft.com/office/drawing/2014/main" id="{D7FB9FC4-4F16-DD97-E733-87C1B9F91517}"/>
                  </a:ext>
                </a:extLst>
              </p:cNvPr>
              <p:cNvSpPr/>
              <p:nvPr/>
            </p:nvSpPr>
            <p:spPr>
              <a:xfrm>
                <a:off x="917231" y="750460"/>
                <a:ext cx="635100" cy="635100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2109;p37">
                <a:extLst>
                  <a:ext uri="{FF2B5EF4-FFF2-40B4-BE49-F238E27FC236}">
                    <a16:creationId xmlns:a16="http://schemas.microsoft.com/office/drawing/2014/main" id="{8D67AE75-9BE4-3DE3-776E-349444A566B4}"/>
                  </a:ext>
                </a:extLst>
              </p:cNvPr>
              <p:cNvSpPr/>
              <p:nvPr/>
            </p:nvSpPr>
            <p:spPr>
              <a:xfrm>
                <a:off x="1001943" y="835185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" name="Google Shape;2110;p37">
              <a:extLst>
                <a:ext uri="{FF2B5EF4-FFF2-40B4-BE49-F238E27FC236}">
                  <a16:creationId xmlns:a16="http://schemas.microsoft.com/office/drawing/2014/main" id="{E6CE8EC9-CA86-E7E6-C171-BE4F39F47356}"/>
                </a:ext>
              </a:extLst>
            </p:cNvPr>
            <p:cNvGrpSpPr/>
            <p:nvPr/>
          </p:nvGrpSpPr>
          <p:grpSpPr>
            <a:xfrm>
              <a:off x="961679" y="1281213"/>
              <a:ext cx="175013" cy="27000"/>
              <a:chOff x="5662375" y="212375"/>
              <a:chExt cx="175013" cy="27000"/>
            </a:xfrm>
          </p:grpSpPr>
          <p:sp>
            <p:nvSpPr>
              <p:cNvPr id="13" name="Google Shape;2111;p37">
                <a:extLst>
                  <a:ext uri="{FF2B5EF4-FFF2-40B4-BE49-F238E27FC236}">
                    <a16:creationId xmlns:a16="http://schemas.microsoft.com/office/drawing/2014/main" id="{6DF9B924-304E-FDB2-B399-38F1D0DD6D22}"/>
                  </a:ext>
                </a:extLst>
              </p:cNvPr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14" name="Google Shape;2112;p37">
                <a:extLst>
                  <a:ext uri="{FF2B5EF4-FFF2-40B4-BE49-F238E27FC236}">
                    <a16:creationId xmlns:a16="http://schemas.microsoft.com/office/drawing/2014/main" id="{9ADCB623-3CDF-83FD-A46F-D92828AC858D}"/>
                  </a:ext>
                </a:extLst>
              </p:cNvPr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15" name="Google Shape;2113;p37">
                <a:extLst>
                  <a:ext uri="{FF2B5EF4-FFF2-40B4-BE49-F238E27FC236}">
                    <a16:creationId xmlns:a16="http://schemas.microsoft.com/office/drawing/2014/main" id="{987635F0-50F3-DA1B-0556-1294A928F91F}"/>
                  </a:ext>
                </a:extLst>
              </p:cNvPr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</p:grpSp>
      </p:grpSp>
      <p:grpSp>
        <p:nvGrpSpPr>
          <p:cNvPr id="26" name="Google Shape;2106;p37">
            <a:extLst>
              <a:ext uri="{FF2B5EF4-FFF2-40B4-BE49-F238E27FC236}">
                <a16:creationId xmlns:a16="http://schemas.microsoft.com/office/drawing/2014/main" id="{7033B4BB-DB70-40F2-5D4B-FCDA36E49BB4}"/>
              </a:ext>
            </a:extLst>
          </p:cNvPr>
          <p:cNvGrpSpPr/>
          <p:nvPr/>
        </p:nvGrpSpPr>
        <p:grpSpPr>
          <a:xfrm>
            <a:off x="5505593" y="2626417"/>
            <a:ext cx="580820" cy="583461"/>
            <a:chOff x="731647" y="573573"/>
            <a:chExt cx="635100" cy="734640"/>
          </a:xfrm>
        </p:grpSpPr>
        <p:grpSp>
          <p:nvGrpSpPr>
            <p:cNvPr id="27" name="Google Shape;2107;p37">
              <a:extLst>
                <a:ext uri="{FF2B5EF4-FFF2-40B4-BE49-F238E27FC236}">
                  <a16:creationId xmlns:a16="http://schemas.microsoft.com/office/drawing/2014/main" id="{4825A9C0-C23C-4519-ACC3-CF0D40DD210F}"/>
                </a:ext>
              </a:extLst>
            </p:cNvPr>
            <p:cNvGrpSpPr/>
            <p:nvPr/>
          </p:nvGrpSpPr>
          <p:grpSpPr>
            <a:xfrm>
              <a:off x="731647" y="573573"/>
              <a:ext cx="635100" cy="635100"/>
              <a:chOff x="917231" y="750460"/>
              <a:chExt cx="635100" cy="635100"/>
            </a:xfrm>
          </p:grpSpPr>
          <p:sp>
            <p:nvSpPr>
              <p:cNvPr id="32" name="Google Shape;2108;p37">
                <a:extLst>
                  <a:ext uri="{FF2B5EF4-FFF2-40B4-BE49-F238E27FC236}">
                    <a16:creationId xmlns:a16="http://schemas.microsoft.com/office/drawing/2014/main" id="{EE6F72BB-9ADD-B6E9-3090-302421F234A5}"/>
                  </a:ext>
                </a:extLst>
              </p:cNvPr>
              <p:cNvSpPr/>
              <p:nvPr/>
            </p:nvSpPr>
            <p:spPr>
              <a:xfrm>
                <a:off x="917231" y="750460"/>
                <a:ext cx="635100" cy="635100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2109;p37">
                <a:extLst>
                  <a:ext uri="{FF2B5EF4-FFF2-40B4-BE49-F238E27FC236}">
                    <a16:creationId xmlns:a16="http://schemas.microsoft.com/office/drawing/2014/main" id="{DBA931E1-790F-A5ED-7A5C-146F8A81AE81}"/>
                  </a:ext>
                </a:extLst>
              </p:cNvPr>
              <p:cNvSpPr/>
              <p:nvPr/>
            </p:nvSpPr>
            <p:spPr>
              <a:xfrm>
                <a:off x="1001943" y="835185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" name="Google Shape;2110;p37">
              <a:extLst>
                <a:ext uri="{FF2B5EF4-FFF2-40B4-BE49-F238E27FC236}">
                  <a16:creationId xmlns:a16="http://schemas.microsoft.com/office/drawing/2014/main" id="{708C6695-8369-8CEB-1748-FFD2D7D75B72}"/>
                </a:ext>
              </a:extLst>
            </p:cNvPr>
            <p:cNvGrpSpPr/>
            <p:nvPr/>
          </p:nvGrpSpPr>
          <p:grpSpPr>
            <a:xfrm>
              <a:off x="961679" y="1281213"/>
              <a:ext cx="175013" cy="27000"/>
              <a:chOff x="5662375" y="212375"/>
              <a:chExt cx="175013" cy="27000"/>
            </a:xfrm>
          </p:grpSpPr>
          <p:sp>
            <p:nvSpPr>
              <p:cNvPr id="29" name="Google Shape;2111;p37">
                <a:extLst>
                  <a:ext uri="{FF2B5EF4-FFF2-40B4-BE49-F238E27FC236}">
                    <a16:creationId xmlns:a16="http://schemas.microsoft.com/office/drawing/2014/main" id="{1220A721-8C68-B7FD-AFCA-EDDF8E1114A5}"/>
                  </a:ext>
                </a:extLst>
              </p:cNvPr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30" name="Google Shape;2112;p37">
                <a:extLst>
                  <a:ext uri="{FF2B5EF4-FFF2-40B4-BE49-F238E27FC236}">
                    <a16:creationId xmlns:a16="http://schemas.microsoft.com/office/drawing/2014/main" id="{8FC09D34-C03A-A43F-3F79-C8527D924B3F}"/>
                  </a:ext>
                </a:extLst>
              </p:cNvPr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31" name="Google Shape;2113;p37">
                <a:extLst>
                  <a:ext uri="{FF2B5EF4-FFF2-40B4-BE49-F238E27FC236}">
                    <a16:creationId xmlns:a16="http://schemas.microsoft.com/office/drawing/2014/main" id="{00E825E3-4771-792B-42CC-C8DC1645F06E}"/>
                  </a:ext>
                </a:extLst>
              </p:cNvPr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</p:grpSp>
      </p:grpSp>
      <p:grpSp>
        <p:nvGrpSpPr>
          <p:cNvPr id="34" name="Google Shape;2106;p37">
            <a:extLst>
              <a:ext uri="{FF2B5EF4-FFF2-40B4-BE49-F238E27FC236}">
                <a16:creationId xmlns:a16="http://schemas.microsoft.com/office/drawing/2014/main" id="{9CF5E892-56FF-E384-2E4A-9AE81A5797B8}"/>
              </a:ext>
            </a:extLst>
          </p:cNvPr>
          <p:cNvGrpSpPr/>
          <p:nvPr/>
        </p:nvGrpSpPr>
        <p:grpSpPr>
          <a:xfrm>
            <a:off x="5487242" y="734424"/>
            <a:ext cx="580820" cy="622238"/>
            <a:chOff x="731647" y="573573"/>
            <a:chExt cx="635100" cy="734640"/>
          </a:xfrm>
        </p:grpSpPr>
        <p:grpSp>
          <p:nvGrpSpPr>
            <p:cNvPr id="35" name="Google Shape;2107;p37">
              <a:extLst>
                <a:ext uri="{FF2B5EF4-FFF2-40B4-BE49-F238E27FC236}">
                  <a16:creationId xmlns:a16="http://schemas.microsoft.com/office/drawing/2014/main" id="{1DE4F0B5-DA10-B178-FF90-5F3FC7F4293D}"/>
                </a:ext>
              </a:extLst>
            </p:cNvPr>
            <p:cNvGrpSpPr/>
            <p:nvPr/>
          </p:nvGrpSpPr>
          <p:grpSpPr>
            <a:xfrm>
              <a:off x="731647" y="573573"/>
              <a:ext cx="635100" cy="635100"/>
              <a:chOff x="917231" y="750460"/>
              <a:chExt cx="635100" cy="635100"/>
            </a:xfrm>
          </p:grpSpPr>
          <p:sp>
            <p:nvSpPr>
              <p:cNvPr id="40" name="Google Shape;2108;p37">
                <a:extLst>
                  <a:ext uri="{FF2B5EF4-FFF2-40B4-BE49-F238E27FC236}">
                    <a16:creationId xmlns:a16="http://schemas.microsoft.com/office/drawing/2014/main" id="{05B118EB-12B3-E6EC-E413-2C4B443E8DCA}"/>
                  </a:ext>
                </a:extLst>
              </p:cNvPr>
              <p:cNvSpPr/>
              <p:nvPr/>
            </p:nvSpPr>
            <p:spPr>
              <a:xfrm>
                <a:off x="917231" y="750460"/>
                <a:ext cx="635100" cy="635100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2109;p37">
                <a:extLst>
                  <a:ext uri="{FF2B5EF4-FFF2-40B4-BE49-F238E27FC236}">
                    <a16:creationId xmlns:a16="http://schemas.microsoft.com/office/drawing/2014/main" id="{D048237C-6FFA-948A-5363-F73B27229DEC}"/>
                  </a:ext>
                </a:extLst>
              </p:cNvPr>
              <p:cNvSpPr/>
              <p:nvPr/>
            </p:nvSpPr>
            <p:spPr>
              <a:xfrm>
                <a:off x="1001943" y="835185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6" name="Google Shape;2110;p37">
              <a:extLst>
                <a:ext uri="{FF2B5EF4-FFF2-40B4-BE49-F238E27FC236}">
                  <a16:creationId xmlns:a16="http://schemas.microsoft.com/office/drawing/2014/main" id="{6CF59A31-91BA-1160-2A3C-EBCDFB5BFB1E}"/>
                </a:ext>
              </a:extLst>
            </p:cNvPr>
            <p:cNvGrpSpPr/>
            <p:nvPr/>
          </p:nvGrpSpPr>
          <p:grpSpPr>
            <a:xfrm>
              <a:off x="961679" y="1281213"/>
              <a:ext cx="175013" cy="27000"/>
              <a:chOff x="5662375" y="212375"/>
              <a:chExt cx="175013" cy="27000"/>
            </a:xfrm>
          </p:grpSpPr>
          <p:sp>
            <p:nvSpPr>
              <p:cNvPr id="37" name="Google Shape;2111;p37">
                <a:extLst>
                  <a:ext uri="{FF2B5EF4-FFF2-40B4-BE49-F238E27FC236}">
                    <a16:creationId xmlns:a16="http://schemas.microsoft.com/office/drawing/2014/main" id="{64CE9B75-B0EC-494C-5604-51B3087D2C51}"/>
                  </a:ext>
                </a:extLst>
              </p:cNvPr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38" name="Google Shape;2112;p37">
                <a:extLst>
                  <a:ext uri="{FF2B5EF4-FFF2-40B4-BE49-F238E27FC236}">
                    <a16:creationId xmlns:a16="http://schemas.microsoft.com/office/drawing/2014/main" id="{CA09FB98-26E7-4023-8094-0FF6664DA295}"/>
                  </a:ext>
                </a:extLst>
              </p:cNvPr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39" name="Google Shape;2113;p37">
                <a:extLst>
                  <a:ext uri="{FF2B5EF4-FFF2-40B4-BE49-F238E27FC236}">
                    <a16:creationId xmlns:a16="http://schemas.microsoft.com/office/drawing/2014/main" id="{217FE4E0-C278-A7F7-1A29-9A83A5184D0D}"/>
                  </a:ext>
                </a:extLst>
              </p:cNvPr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</p:grpSp>
      </p:grpSp>
      <p:grpSp>
        <p:nvGrpSpPr>
          <p:cNvPr id="42" name="Google Shape;2106;p37">
            <a:extLst>
              <a:ext uri="{FF2B5EF4-FFF2-40B4-BE49-F238E27FC236}">
                <a16:creationId xmlns:a16="http://schemas.microsoft.com/office/drawing/2014/main" id="{E8DFC056-4B70-9061-38EC-6A20AE75BFF0}"/>
              </a:ext>
            </a:extLst>
          </p:cNvPr>
          <p:cNvGrpSpPr/>
          <p:nvPr/>
        </p:nvGrpSpPr>
        <p:grpSpPr>
          <a:xfrm>
            <a:off x="5493398" y="1634192"/>
            <a:ext cx="580820" cy="600039"/>
            <a:chOff x="731647" y="573573"/>
            <a:chExt cx="635100" cy="734640"/>
          </a:xfrm>
        </p:grpSpPr>
        <p:grpSp>
          <p:nvGrpSpPr>
            <p:cNvPr id="43" name="Google Shape;2107;p37">
              <a:extLst>
                <a:ext uri="{FF2B5EF4-FFF2-40B4-BE49-F238E27FC236}">
                  <a16:creationId xmlns:a16="http://schemas.microsoft.com/office/drawing/2014/main" id="{186A03FF-5455-BE3D-5401-6B34E828856B}"/>
                </a:ext>
              </a:extLst>
            </p:cNvPr>
            <p:cNvGrpSpPr/>
            <p:nvPr/>
          </p:nvGrpSpPr>
          <p:grpSpPr>
            <a:xfrm>
              <a:off x="731647" y="573573"/>
              <a:ext cx="635100" cy="635100"/>
              <a:chOff x="917231" y="750460"/>
              <a:chExt cx="635100" cy="635100"/>
            </a:xfrm>
          </p:grpSpPr>
          <p:sp>
            <p:nvSpPr>
              <p:cNvPr id="48" name="Google Shape;2108;p37">
                <a:extLst>
                  <a:ext uri="{FF2B5EF4-FFF2-40B4-BE49-F238E27FC236}">
                    <a16:creationId xmlns:a16="http://schemas.microsoft.com/office/drawing/2014/main" id="{B30B57A0-5468-E0F5-BDCD-31363BBD29FC}"/>
                  </a:ext>
                </a:extLst>
              </p:cNvPr>
              <p:cNvSpPr/>
              <p:nvPr/>
            </p:nvSpPr>
            <p:spPr>
              <a:xfrm>
                <a:off x="917231" y="750460"/>
                <a:ext cx="635100" cy="635100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2109;p37">
                <a:extLst>
                  <a:ext uri="{FF2B5EF4-FFF2-40B4-BE49-F238E27FC236}">
                    <a16:creationId xmlns:a16="http://schemas.microsoft.com/office/drawing/2014/main" id="{AFCD7D35-C2D3-8F15-F2DD-144795751EA6}"/>
                  </a:ext>
                </a:extLst>
              </p:cNvPr>
              <p:cNvSpPr/>
              <p:nvPr/>
            </p:nvSpPr>
            <p:spPr>
              <a:xfrm>
                <a:off x="1001943" y="835185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4" name="Google Shape;2110;p37">
              <a:extLst>
                <a:ext uri="{FF2B5EF4-FFF2-40B4-BE49-F238E27FC236}">
                  <a16:creationId xmlns:a16="http://schemas.microsoft.com/office/drawing/2014/main" id="{7EC60CB9-1C55-4224-73FA-FDE3056C5C2E}"/>
                </a:ext>
              </a:extLst>
            </p:cNvPr>
            <p:cNvGrpSpPr/>
            <p:nvPr/>
          </p:nvGrpSpPr>
          <p:grpSpPr>
            <a:xfrm>
              <a:off x="961679" y="1281213"/>
              <a:ext cx="175013" cy="27000"/>
              <a:chOff x="5662375" y="212375"/>
              <a:chExt cx="175013" cy="27000"/>
            </a:xfrm>
          </p:grpSpPr>
          <p:sp>
            <p:nvSpPr>
              <p:cNvPr id="45" name="Google Shape;2111;p37">
                <a:extLst>
                  <a:ext uri="{FF2B5EF4-FFF2-40B4-BE49-F238E27FC236}">
                    <a16:creationId xmlns:a16="http://schemas.microsoft.com/office/drawing/2014/main" id="{FFA796AC-3407-9A35-C84F-2CAEAC6BB079}"/>
                  </a:ext>
                </a:extLst>
              </p:cNvPr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46" name="Google Shape;2112;p37">
                <a:extLst>
                  <a:ext uri="{FF2B5EF4-FFF2-40B4-BE49-F238E27FC236}">
                    <a16:creationId xmlns:a16="http://schemas.microsoft.com/office/drawing/2014/main" id="{18B6C90D-850D-CF69-8999-48F741C6AAFC}"/>
                  </a:ext>
                </a:extLst>
              </p:cNvPr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47" name="Google Shape;2113;p37">
                <a:extLst>
                  <a:ext uri="{FF2B5EF4-FFF2-40B4-BE49-F238E27FC236}">
                    <a16:creationId xmlns:a16="http://schemas.microsoft.com/office/drawing/2014/main" id="{0C104528-83A8-C5C5-31EB-38A1CD5D3372}"/>
                  </a:ext>
                </a:extLst>
              </p:cNvPr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</p:grp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637AF96E-52FE-E9D4-45AD-B72789AE17E5}"/>
              </a:ext>
            </a:extLst>
          </p:cNvPr>
          <p:cNvSpPr txBox="1"/>
          <p:nvPr/>
        </p:nvSpPr>
        <p:spPr>
          <a:xfrm>
            <a:off x="3479295" y="798117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chemeClr val="bg1"/>
                </a:solidFill>
              </a:rPr>
              <a:t>05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0400D8F-6CD3-6BDC-69FC-33E54FEC544B}"/>
              </a:ext>
            </a:extLst>
          </p:cNvPr>
          <p:cNvSpPr txBox="1"/>
          <p:nvPr/>
        </p:nvSpPr>
        <p:spPr>
          <a:xfrm>
            <a:off x="3180603" y="1692193"/>
            <a:ext cx="5230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chemeClr val="bg1"/>
                </a:solidFill>
              </a:rPr>
              <a:t>06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98D3272-3DD4-4ACC-EB71-FAE024E029BB}"/>
              </a:ext>
            </a:extLst>
          </p:cNvPr>
          <p:cNvSpPr txBox="1"/>
          <p:nvPr/>
        </p:nvSpPr>
        <p:spPr>
          <a:xfrm>
            <a:off x="3103168" y="2673212"/>
            <a:ext cx="5385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chemeClr val="bg1"/>
                </a:solidFill>
              </a:rPr>
              <a:t>07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3480C6D-B420-74CE-6817-2C9EF9321532}"/>
              </a:ext>
            </a:extLst>
          </p:cNvPr>
          <p:cNvSpPr txBox="1"/>
          <p:nvPr/>
        </p:nvSpPr>
        <p:spPr>
          <a:xfrm>
            <a:off x="3079187" y="3657853"/>
            <a:ext cx="5421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chemeClr val="bg1"/>
                </a:solidFill>
              </a:rPr>
              <a:t>08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50674E8-B7AF-688D-6DE8-9C669B0ABDA7}"/>
              </a:ext>
            </a:extLst>
          </p:cNvPr>
          <p:cNvSpPr txBox="1"/>
          <p:nvPr/>
        </p:nvSpPr>
        <p:spPr>
          <a:xfrm>
            <a:off x="6426000" y="773488"/>
            <a:ext cx="543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accent3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Analysis and Calculation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371D31E-BCBC-F15D-D182-DA6DBE616512}"/>
              </a:ext>
            </a:extLst>
          </p:cNvPr>
          <p:cNvSpPr txBox="1"/>
          <p:nvPr/>
        </p:nvSpPr>
        <p:spPr>
          <a:xfrm>
            <a:off x="6426000" y="1620745"/>
            <a:ext cx="543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accent3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 </a:t>
            </a:r>
            <a:br>
              <a:rPr lang="en-US" sz="1800" b="1" dirty="0">
                <a:solidFill>
                  <a:schemeClr val="accent3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800" b="1" dirty="0">
                <a:solidFill>
                  <a:schemeClr val="accent3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800" b="1" dirty="0">
                <a:solidFill>
                  <a:schemeClr val="accent3">
                    <a:lumMod val="25000"/>
                  </a:schemeClr>
                </a:solidFill>
                <a:latin typeface="Times New Roman" panose="02020603050405020304" pitchFamily="18" charset="0"/>
                <a:ea typeface="Barlow Semi Condensed"/>
                <a:cs typeface="Times New Roman" panose="02020603050405020304" pitchFamily="18" charset="0"/>
                <a:sym typeface="Barlow Semi Condensed"/>
              </a:rPr>
            </a:br>
            <a:endParaRPr lang="en-US" sz="1800" b="1" dirty="0">
              <a:solidFill>
                <a:schemeClr val="accent3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20C62B0-53E7-7679-F013-7F9D9A5160BB}"/>
              </a:ext>
            </a:extLst>
          </p:cNvPr>
          <p:cNvSpPr txBox="1"/>
          <p:nvPr/>
        </p:nvSpPr>
        <p:spPr>
          <a:xfrm>
            <a:off x="6426000" y="2688451"/>
            <a:ext cx="543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accent3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Discussion</a:t>
            </a:r>
          </a:p>
        </p:txBody>
      </p:sp>
      <p:sp>
        <p:nvSpPr>
          <p:cNvPr id="2049" name="TextBox 2048">
            <a:extLst>
              <a:ext uri="{FF2B5EF4-FFF2-40B4-BE49-F238E27FC236}">
                <a16:creationId xmlns:a16="http://schemas.microsoft.com/office/drawing/2014/main" id="{D074F0E1-B036-F9A4-304D-5069A9465E79}"/>
              </a:ext>
            </a:extLst>
          </p:cNvPr>
          <p:cNvSpPr txBox="1"/>
          <p:nvPr/>
        </p:nvSpPr>
        <p:spPr>
          <a:xfrm>
            <a:off x="6426000" y="3686893"/>
            <a:ext cx="543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accent3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Resources</a:t>
            </a:r>
            <a:endParaRPr lang="en-US" sz="1800" dirty="0">
              <a:solidFill>
                <a:schemeClr val="accent3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1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1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1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1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1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1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1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1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1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1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1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1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21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21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1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21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1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2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2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1000"/>
                                        <p:tgtEl>
                                          <p:spTgt spid="20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20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20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38" grpId="0"/>
      <p:bldP spid="2139" grpId="0" build="p"/>
      <p:bldP spid="2142" grpId="0" build="p"/>
      <p:bldP spid="2144" grpId="0" build="p"/>
      <p:bldP spid="2147" grpId="0"/>
      <p:bldP spid="2148" grpId="0"/>
      <p:bldP spid="2149" grpId="0"/>
      <p:bldP spid="2150" grpId="0"/>
      <p:bldP spid="261" grpId="0" build="p"/>
      <p:bldP spid="51" grpId="0"/>
      <p:bldP spid="53" grpId="0"/>
      <p:bldP spid="55" grpId="0"/>
      <p:bldP spid="57" grpId="0"/>
      <p:bldP spid="59" grpId="0"/>
      <p:bldP spid="61" grpId="0"/>
      <p:bldP spid="63" grpId="0"/>
      <p:bldP spid="204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5" name="Google Shape;2155;p38"/>
          <p:cNvSpPr txBox="1">
            <a:spLocks noGrp="1"/>
          </p:cNvSpPr>
          <p:nvPr>
            <p:ph type="title"/>
          </p:nvPr>
        </p:nvSpPr>
        <p:spPr>
          <a:xfrm>
            <a:off x="2382012" y="1988492"/>
            <a:ext cx="4379976" cy="184784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br>
              <a:rPr lang="en-US" sz="1000" dirty="0">
                <a:solidFill>
                  <a:schemeClr val="accent3">
                    <a:lumMod val="25000"/>
                  </a:schemeClr>
                </a:solidFill>
                <a:effectLst/>
              </a:rPr>
            </a:br>
            <a:r>
              <a:rPr lang="en-US" sz="3200" b="1" dirty="0">
                <a:solidFill>
                  <a:schemeClr val="accent3">
                    <a:lumMod val="25000"/>
                  </a:schemeClr>
                </a:solidFill>
              </a:rPr>
              <a:t>Theory</a:t>
            </a:r>
            <a:br>
              <a:rPr lang="en-US" sz="1800" dirty="0">
                <a:solidFill>
                  <a:schemeClr val="accent3">
                    <a:lumMod val="25000"/>
                  </a:schemeClr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</a:br>
            <a:endParaRPr sz="1800" dirty="0">
              <a:solidFill>
                <a:schemeClr val="accent3">
                  <a:lumMod val="25000"/>
                </a:schemeClr>
              </a:solidFill>
            </a:endParaRPr>
          </a:p>
        </p:txBody>
      </p:sp>
      <p:sp>
        <p:nvSpPr>
          <p:cNvPr id="2156" name="Google Shape;2156;p38"/>
          <p:cNvSpPr txBox="1">
            <a:spLocks noGrp="1"/>
          </p:cNvSpPr>
          <p:nvPr>
            <p:ph type="title" idx="2"/>
          </p:nvPr>
        </p:nvSpPr>
        <p:spPr>
          <a:xfrm>
            <a:off x="2971800" y="1161288"/>
            <a:ext cx="2967600" cy="106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1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5" grpId="0"/>
      <p:bldP spid="215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3F78E55-BB7F-D063-7C3D-51F42B23422D}"/>
                  </a:ext>
                </a:extLst>
              </p:cNvPr>
              <p:cNvSpPr txBox="1"/>
              <p:nvPr/>
            </p:nvSpPr>
            <p:spPr>
              <a:xfrm>
                <a:off x="0" y="0"/>
                <a:ext cx="8450580" cy="64939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lang="en-US" sz="1600" b="1" i="0" dirty="0">
                    <a:solidFill>
                      <a:schemeClr val="accent3">
                        <a:lumMod val="25000"/>
                      </a:schemeClr>
                    </a:solidFill>
                    <a:effectLst/>
                    <a:highlight>
                      <a:srgbClr val="FFFFFF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1.Vibration: </a:t>
                </a:r>
                <a:r>
                  <a:rPr lang="en-US" b="0" i="0" dirty="0">
                    <a:solidFill>
                      <a:srgbClr val="0D0D0D"/>
                    </a:solidFill>
                    <a:effectLst/>
                    <a:highlight>
                      <a:srgbClr val="FFFFFF"/>
                    </a:highlight>
                    <a:latin typeface="Söhne"/>
                  </a:rPr>
                  <a:t>Tuning fork vibrations cause waves along the string, reflecting at the fixed end and forming stationary waves with nodes and antinodes.</a:t>
                </a:r>
              </a:p>
              <a:p>
                <a:pPr algn="l"/>
                <a:endParaRPr lang="en-US" b="1" i="0" dirty="0">
                  <a:solidFill>
                    <a:srgbClr val="0D0D0D"/>
                  </a:solidFill>
                  <a:effectLst/>
                  <a:highlight>
                    <a:srgbClr val="FFFFFF"/>
                  </a:highlight>
                  <a:latin typeface="Söhne"/>
                </a:endParaRPr>
              </a:p>
              <a:p>
                <a:pPr algn="l"/>
                <a:r>
                  <a:rPr lang="en-US" sz="1600" b="1" i="0" dirty="0">
                    <a:solidFill>
                      <a:schemeClr val="accent3">
                        <a:lumMod val="25000"/>
                      </a:schemeClr>
                    </a:solidFill>
                    <a:effectLst/>
                    <a:highlight>
                      <a:srgbClr val="FFFFFF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2.Resonance</a:t>
                </a:r>
                <a:r>
                  <a:rPr lang="en-US" sz="1600" b="0" i="0" dirty="0">
                    <a:solidFill>
                      <a:schemeClr val="accent3">
                        <a:lumMod val="25000"/>
                      </a:schemeClr>
                    </a:solidFill>
                    <a:effectLst/>
                    <a:highlight>
                      <a:srgbClr val="FFFFFF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US" b="0" i="0" dirty="0">
                    <a:solidFill>
                      <a:srgbClr val="0D0D0D"/>
                    </a:solidFill>
                    <a:effectLst/>
                    <a:highlight>
                      <a:srgbClr val="FFFFFF"/>
                    </a:highlight>
                    <a:latin typeface="Söhne"/>
                  </a:rPr>
                  <a:t>Adjusting tension or length can make the fork's frequency match the string's fundamental or higher tone frequencies, resulting in resonance.</a:t>
                </a:r>
              </a:p>
              <a:p>
                <a:pPr algn="l"/>
                <a:endParaRPr lang="en-US" b="1" i="0" dirty="0">
                  <a:solidFill>
                    <a:srgbClr val="0D0D0D"/>
                  </a:solidFill>
                  <a:effectLst/>
                  <a:highlight>
                    <a:srgbClr val="FFFFFF"/>
                  </a:highlight>
                  <a:latin typeface="Söhne"/>
                </a:endParaRPr>
              </a:p>
              <a:p>
                <a:r>
                  <a:rPr lang="en-US" sz="1600" b="1" i="0" dirty="0">
                    <a:solidFill>
                      <a:schemeClr val="accent3">
                        <a:lumMod val="25000"/>
                      </a:schemeClr>
                    </a:solidFill>
                    <a:effectLst/>
                    <a:highlight>
                      <a:srgbClr val="FFFFFF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3.Frequency Relation</a:t>
                </a:r>
                <a:r>
                  <a:rPr lang="en-US" sz="1600" b="0" i="0" dirty="0">
                    <a:solidFill>
                      <a:schemeClr val="accent3">
                        <a:lumMod val="25000"/>
                      </a:schemeClr>
                    </a:solidFill>
                    <a:effectLst/>
                    <a:highlight>
                      <a:srgbClr val="FFFFFF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US" b="0" i="0" dirty="0">
                    <a:solidFill>
                      <a:srgbClr val="0D0D0D"/>
                    </a:solidFill>
                    <a:effectLst/>
                    <a:highlight>
                      <a:srgbClr val="FFFFFF"/>
                    </a:highlight>
                    <a:latin typeface="Söhne"/>
                  </a:rPr>
                  <a:t>The frequency of the fork (</a:t>
                </a:r>
                <a:r>
                  <a:rPr lang="en-US" b="0" i="0" dirty="0">
                    <a:solidFill>
                      <a:srgbClr val="0D0D0D"/>
                    </a:solidFill>
                    <a:effectLst/>
                    <a:highlight>
                      <a:srgbClr val="FFFFFF"/>
                    </a:highlight>
                    <a:latin typeface="KaTeX_Main"/>
                  </a:rPr>
                  <a:t>𝑓</a:t>
                </a:r>
                <a:r>
                  <a:rPr lang="en-US" b="0" i="0" dirty="0">
                    <a:solidFill>
                      <a:srgbClr val="0D0D0D"/>
                    </a:solidFill>
                    <a:effectLst/>
                    <a:highlight>
                      <a:srgbClr val="FFFFFF"/>
                    </a:highlight>
                    <a:latin typeface="Söhne"/>
                  </a:rPr>
                  <a:t>) equals the frequency of the string (</a:t>
                </a:r>
                <a:r>
                  <a:rPr lang="en-US" b="0" i="0" dirty="0">
                    <a:solidFill>
                      <a:srgbClr val="0D0D0D"/>
                    </a:solidFill>
                    <a:effectLst/>
                    <a:highlight>
                      <a:srgbClr val="FFFFFF"/>
                    </a:highlight>
                    <a:latin typeface="KaTeX_Main"/>
                  </a:rPr>
                  <a:t>𝑓′</a:t>
                </a:r>
                <a:r>
                  <a:rPr lang="en-US" b="0" i="0" dirty="0">
                    <a:solidFill>
                      <a:srgbClr val="0D0D0D"/>
                    </a:solidFill>
                    <a:effectLst/>
                    <a:highlight>
                      <a:srgbClr val="FFFFFF"/>
                    </a:highlight>
                    <a:latin typeface="Söhne"/>
                  </a:rPr>
                  <a:t>), given by</a:t>
                </a:r>
                <a14:m>
                  <m:oMath xmlns:m="http://schemas.openxmlformats.org/officeDocument/2006/math">
                    <m:r>
                      <a:rPr lang="en-US" b="0" i="0" smtClean="0">
                        <a:solidFill>
                          <a:srgbClr val="0D0D0D"/>
                        </a:solidFill>
                        <a:effectLst/>
                        <a:highlight>
                          <a:srgbClr val="FFFFFF"/>
                        </a:highlight>
                        <a:latin typeface="Cambria Math" panose="02040503050406030204" pitchFamily="18" charset="0"/>
                      </a:rPr>
                      <m:t>           </m:t>
                    </m:r>
                  </m:oMath>
                </a14:m>
                <a:endParaRPr lang="en-US" b="0" i="0" dirty="0">
                  <a:solidFill>
                    <a:srgbClr val="0D0D0D"/>
                  </a:solidFill>
                  <a:effectLst/>
                  <a:highlight>
                    <a:srgbClr val="FFFFFF"/>
                  </a:highlight>
                  <a:latin typeface="Cambria Math" panose="02040503050406030204" pitchFamily="18" charset="0"/>
                </a:endParaRPr>
              </a:p>
              <a:p>
                <a:r>
                  <a:rPr lang="en-US" sz="2000" b="0" dirty="0">
                    <a:solidFill>
                      <a:srgbClr val="0D0D0D"/>
                    </a:solidFill>
                    <a:effectLst/>
                    <a:highlight>
                      <a:srgbClr val="FFFFFF"/>
                    </a:highlight>
                  </a:rPr>
                  <a:t>                                     </a:t>
                </a:r>
              </a:p>
              <a:p>
                <a:r>
                  <a:rPr lang="en-US" sz="2000" dirty="0">
                    <a:solidFill>
                      <a:srgbClr val="0D0D0D"/>
                    </a:solidFill>
                    <a:highlight>
                      <a:srgbClr val="FFFFFF"/>
                    </a:highlight>
                  </a:rPr>
                  <a:t>                              </a:t>
                </a:r>
                <a:r>
                  <a:rPr lang="en-US" sz="2000" b="0" dirty="0">
                    <a:solidFill>
                      <a:srgbClr val="0D0D0D"/>
                    </a:solidFill>
                    <a:effectLst/>
                    <a:highlight>
                      <a:srgbClr val="FFFFFF"/>
                    </a:highlight>
                  </a:rPr>
                  <a:t>   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solidFill>
                          <a:srgbClr val="0D0D0D"/>
                        </a:solidFill>
                        <a:effectLst/>
                        <a:highlight>
                          <a:srgbClr val="FFFFFF"/>
                        </a:highlight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sz="2000" b="0" i="1" smtClean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highlight>
                          <a:srgbClr val="FFFFFF"/>
                        </a:highlight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b="0" i="1" smtClean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highlight>
                          <a:srgbClr val="FFFFFF"/>
                        </a:highlight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sz="2000" dirty="0">
                        <a:solidFill>
                          <a:schemeClr val="accent2">
                            <a:lumMod val="50000"/>
                          </a:schemeClr>
                        </a:solidFill>
                        <a:highlight>
                          <a:srgbClr val="FFFFFF"/>
                        </a:highlight>
                        <a:latin typeface="KaTeX_Main"/>
                      </a:rPr>
                      <m:t>𝑓</m:t>
                    </m:r>
                    <m:r>
                      <m:rPr>
                        <m:nor/>
                      </m:rPr>
                      <a:rPr lang="en-US" sz="2000" dirty="0">
                        <a:solidFill>
                          <a:schemeClr val="accent2">
                            <a:lumMod val="50000"/>
                          </a:schemeClr>
                        </a:solidFill>
                        <a:highlight>
                          <a:srgbClr val="FFFFFF"/>
                        </a:highlight>
                        <a:latin typeface="KaTeX_Main"/>
                      </a:rPr>
                      <m:t>′</m:t>
                    </m:r>
                  </m:oMath>
                </a14:m>
                <a:r>
                  <a:rPr lang="en-US" sz="2000" b="0" i="0" dirty="0">
                    <a:solidFill>
                      <a:schemeClr val="accent2">
                        <a:lumMod val="50000"/>
                      </a:schemeClr>
                    </a:solidFill>
                    <a:effectLst/>
                    <a:highlight>
                      <a:srgbClr val="FFFFFF"/>
                    </a:highlight>
                    <a:latin typeface="KaTeX_Main"/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b="0" i="1" dirty="0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effectLst/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dirty="0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effectLst/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000">
                            <a:solidFill>
                              <a:schemeClr val="accent2">
                                <a:lumMod val="50000"/>
                              </a:schemeClr>
                            </a:solidFill>
                            <a:highlight>
                              <a:srgbClr val="FFFFFF"/>
                            </a:highlight>
                          </a:rPr>
                          <m:t>𝜆</m:t>
                        </m:r>
                      </m:den>
                    </m:f>
                    <m:r>
                      <a:rPr lang="en-US" sz="2000" i="1" smtClean="0">
                        <a:solidFill>
                          <a:schemeClr val="accent2">
                            <a:lumMod val="50000"/>
                          </a:schemeClr>
                        </a:solidFill>
                        <a:highlight>
                          <a:srgbClr val="FFFFFF"/>
                        </a:highligh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√</m:t>
                    </m:r>
                    <m:f>
                      <m:fPr>
                        <m:ctrlPr>
                          <a:rPr lang="en-US" sz="200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000" dirty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highlight>
                              <a:srgbClr val="FFFFFF"/>
                            </a:highlight>
                          </a:rPr>
                          <m:t>𝜏</m:t>
                        </m:r>
                      </m:num>
                      <m:den>
                        <m:r>
                          <m:rPr>
                            <m:nor/>
                          </m:rPr>
                          <a:rPr lang="el-GR" sz="2000">
                            <a:solidFill>
                              <a:schemeClr val="accent2">
                                <a:lumMod val="50000"/>
                              </a:schemeClr>
                            </a:solidFill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l-GR" sz="2000">
                            <a:solidFill>
                              <a:schemeClr val="accent2">
                                <a:lumMod val="50000"/>
                              </a:schemeClr>
                            </a:solidFill>
                          </a:rPr>
                          <m:t>μ</m:t>
                        </m:r>
                      </m:den>
                    </m:f>
                  </m:oMath>
                </a14:m>
                <a:r>
                  <a:rPr lang="en-US" sz="2000" b="0" i="0" dirty="0">
                    <a:solidFill>
                      <a:schemeClr val="accent2">
                        <a:lumMod val="50000"/>
                      </a:schemeClr>
                    </a:solidFill>
                    <a:effectLst/>
                    <a:highlight>
                      <a:srgbClr val="FFFFFF"/>
                    </a:highlight>
                    <a:latin typeface="KaTeX_Main"/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b="0" i="1" dirty="0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effectLst/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dirty="0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effectLst/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b="0" i="1" dirty="0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effectLst/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000" b="0" i="1" dirty="0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effectLst/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𝑙</m:t>
                        </m:r>
                      </m:den>
                    </m:f>
                    <m:r>
                      <a:rPr lang="en-US" sz="2000" b="0" i="1" dirty="0" smtClean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highlight>
                          <a:srgbClr val="FFFFFF"/>
                        </a:highligh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√</m:t>
                    </m:r>
                    <m:f>
                      <m:fPr>
                        <m:ctrlPr>
                          <a:rPr lang="en-US" sz="2000" b="0" i="1" dirty="0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effectLst/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000" dirty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highlight>
                              <a:srgbClr val="FFFFFF"/>
                            </a:highlight>
                          </a:rPr>
                          <m:t>𝜏</m:t>
                        </m:r>
                      </m:num>
                      <m:den>
                        <m:r>
                          <m:rPr>
                            <m:nor/>
                          </m:rPr>
                          <a:rPr lang="el-GR" sz="2000">
                            <a:solidFill>
                              <a:schemeClr val="accent2">
                                <a:lumMod val="50000"/>
                              </a:schemeClr>
                            </a:solidFill>
                            <a:highlight>
                              <a:srgbClr val="FFFFFF"/>
                            </a:highlight>
                          </a:rPr>
                          <m:t>μ</m:t>
                        </m:r>
                      </m:den>
                    </m:f>
                  </m:oMath>
                </a14:m>
                <a:endParaRPr lang="en-US" sz="2000" b="0" i="0" dirty="0">
                  <a:solidFill>
                    <a:srgbClr val="0D0D0D"/>
                  </a:solidFill>
                  <a:effectLst/>
                  <a:highlight>
                    <a:srgbClr val="FFFFFF"/>
                  </a:highlight>
                  <a:latin typeface="KaTeX_Main"/>
                </a:endParaRPr>
              </a:p>
              <a:p>
                <a:endParaRPr lang="en-US" b="0" i="0" dirty="0">
                  <a:solidFill>
                    <a:srgbClr val="0D0D0D"/>
                  </a:solidFill>
                  <a:effectLst/>
                  <a:highlight>
                    <a:srgbClr val="FFFFFF"/>
                  </a:highlight>
                  <a:latin typeface="Söhne"/>
                </a:endParaRPr>
              </a:p>
              <a:p>
                <a:r>
                  <a:rPr lang="en-US" b="0" i="0" dirty="0">
                    <a:solidFill>
                      <a:srgbClr val="0D0D0D"/>
                    </a:solidFill>
                    <a:effectLst/>
                    <a:highlight>
                      <a:srgbClr val="FFFFFF"/>
                    </a:highlight>
                    <a:latin typeface="Söhne"/>
                  </a:rPr>
                  <a:t>where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 smtClean="0">
                        <a:highlight>
                          <a:srgbClr val="FFFFFF"/>
                        </a:highlight>
                      </a:rPr>
                      <m:t>μ</m:t>
                    </m:r>
                    <m:r>
                      <a:rPr lang="el-GR" i="1">
                        <a:highlight>
                          <a:srgbClr val="FFFFFF"/>
                        </a:highlight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0" i="0" dirty="0">
                    <a:solidFill>
                      <a:srgbClr val="0D0D0D"/>
                    </a:solidFill>
                    <a:effectLst/>
                    <a:highlight>
                      <a:srgbClr val="FFFFFF"/>
                    </a:highlight>
                    <a:latin typeface="Söhne"/>
                  </a:rPr>
                  <a:t>is the length of the string segment.</a:t>
                </a:r>
              </a:p>
              <a:p>
                <a:pPr algn="l"/>
                <a:endParaRPr lang="en-US" b="1" i="0" dirty="0">
                  <a:solidFill>
                    <a:srgbClr val="0D0D0D"/>
                  </a:solidFill>
                  <a:effectLst/>
                  <a:highlight>
                    <a:srgbClr val="FFFFFF"/>
                  </a:highlight>
                  <a:latin typeface="Söhne"/>
                </a:endParaRPr>
              </a:p>
              <a:p>
                <a:pPr algn="l"/>
                <a:r>
                  <a:rPr lang="en-US" sz="1600" b="1" i="0" dirty="0">
                    <a:solidFill>
                      <a:schemeClr val="accent3">
                        <a:lumMod val="25000"/>
                      </a:schemeClr>
                    </a:solidFill>
                    <a:effectLst/>
                    <a:highlight>
                      <a:srgbClr val="FFFFFF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4.Transverse vs. Longitudinal</a:t>
                </a:r>
                <a:r>
                  <a:rPr lang="en-US" sz="1600" b="0" i="0" dirty="0">
                    <a:solidFill>
                      <a:schemeClr val="accent3">
                        <a:lumMod val="25000"/>
                      </a:schemeClr>
                    </a:solidFill>
                    <a:effectLst/>
                    <a:highlight>
                      <a:srgbClr val="FFFFFF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742950" lvl="1" indent="-285750" algn="l">
                  <a:buFont typeface="Arial" panose="020B0604020202020204" pitchFamily="34" charset="0"/>
                  <a:buChar char="•"/>
                </a:pPr>
                <a:r>
                  <a:rPr lang="en-US" b="0" i="0" dirty="0">
                    <a:solidFill>
                      <a:srgbClr val="0D0D0D"/>
                    </a:solidFill>
                    <a:effectLst/>
                    <a:highlight>
                      <a:srgbClr val="FFFFFF"/>
                    </a:highlight>
                    <a:latin typeface="Söhne"/>
                  </a:rPr>
                  <a:t>In transverse vibration, </a:t>
                </a:r>
                <a:r>
                  <a:rPr lang="en-US" b="0" i="0" dirty="0">
                    <a:solidFill>
                      <a:srgbClr val="0D0D0D"/>
                    </a:solidFill>
                    <a:effectLst/>
                    <a:highlight>
                      <a:srgbClr val="FFFFFF"/>
                    </a:highlight>
                    <a:latin typeface="KaTeX_Main"/>
                  </a:rPr>
                  <a:t>𝑓=𝑓′</a:t>
                </a:r>
                <a:r>
                  <a:rPr lang="en-US" b="0" i="0" dirty="0">
                    <a:solidFill>
                      <a:srgbClr val="0D0D0D"/>
                    </a:solidFill>
                    <a:effectLst/>
                    <a:highlight>
                      <a:srgbClr val="FFFFFF"/>
                    </a:highlight>
                    <a:latin typeface="Söhne"/>
                  </a:rPr>
                  <a:t>.</a:t>
                </a:r>
              </a:p>
              <a:p>
                <a:pPr marL="742950" lvl="1" indent="-285750" algn="l">
                  <a:buFont typeface="Arial" panose="020B0604020202020204" pitchFamily="34" charset="0"/>
                  <a:buChar char="•"/>
                </a:pPr>
                <a:r>
                  <a:rPr lang="en-US" b="0" i="0" dirty="0">
                    <a:solidFill>
                      <a:srgbClr val="0D0D0D"/>
                    </a:solidFill>
                    <a:effectLst/>
                    <a:highlight>
                      <a:srgbClr val="FFFFFF"/>
                    </a:highlight>
                    <a:latin typeface="Söhne"/>
                  </a:rPr>
                  <a:t>In longitudinal vibration, </a:t>
                </a:r>
                <a:r>
                  <a:rPr lang="en-US" b="0" i="0" dirty="0">
                    <a:solidFill>
                      <a:srgbClr val="0D0D0D"/>
                    </a:solidFill>
                    <a:effectLst/>
                    <a:highlight>
                      <a:srgbClr val="FFFFFF"/>
                    </a:highlight>
                    <a:latin typeface="KaTeX_Main"/>
                  </a:rPr>
                  <a:t>𝑓=2𝑓′</a:t>
                </a:r>
                <a:endParaRPr lang="en-US" b="1" i="0" dirty="0">
                  <a:solidFill>
                    <a:srgbClr val="0D0D0D"/>
                  </a:solidFill>
                  <a:effectLst/>
                  <a:highlight>
                    <a:srgbClr val="FFFFFF"/>
                  </a:highlight>
                  <a:latin typeface="Söhne"/>
                </a:endParaRPr>
              </a:p>
              <a:p>
                <a:pPr algn="l"/>
                <a:r>
                  <a:rPr lang="en-US" sz="1600" b="1" i="0" dirty="0">
                    <a:solidFill>
                      <a:schemeClr val="accent3">
                        <a:lumMod val="25000"/>
                      </a:schemeClr>
                    </a:solidFill>
                    <a:effectLst/>
                    <a:highlight>
                      <a:srgbClr val="FFFFFF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5.Mathematical Representation</a:t>
                </a:r>
                <a:r>
                  <a:rPr lang="en-US" sz="1600" b="0" i="0" dirty="0">
                    <a:solidFill>
                      <a:schemeClr val="accent3">
                        <a:lumMod val="25000"/>
                      </a:schemeClr>
                    </a:solidFill>
                    <a:effectLst/>
                    <a:highlight>
                      <a:srgbClr val="FFFFFF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742950" lvl="1" indent="-285750" algn="l">
                  <a:buFont typeface="Arial" panose="020B0604020202020204" pitchFamily="34" charset="0"/>
                  <a:buChar char="•"/>
                </a:pPr>
                <a:r>
                  <a:rPr lang="en-US" b="0" i="0" dirty="0">
                    <a:solidFill>
                      <a:srgbClr val="0D0D0D"/>
                    </a:solidFill>
                    <a:effectLst/>
                    <a:highlight>
                      <a:srgbClr val="FFFFFF"/>
                    </a:highlight>
                    <a:latin typeface="Söhne"/>
                  </a:rPr>
                  <a:t>Transverse: </a:t>
                </a:r>
                <a:r>
                  <a:rPr lang="en-US" b="0" i="0" dirty="0">
                    <a:solidFill>
                      <a:srgbClr val="0D0D0D"/>
                    </a:solidFill>
                    <a:effectLst/>
                    <a:highlight>
                      <a:srgbClr val="FFFFFF"/>
                    </a:highlight>
                    <a:latin typeface="KaTeX_Main"/>
                  </a:rPr>
                  <a:t>𝜏/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solidFill>
                              <a:srgbClr val="0D0D0D"/>
                            </a:solidFill>
                            <a:effectLst/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solidFill>
                              <a:srgbClr val="0D0D0D"/>
                            </a:solidFill>
                            <a:effectLst/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p>
                        <m:r>
                          <a:rPr lang="en-US" b="0" i="1" dirty="0" smtClean="0">
                            <a:solidFill>
                              <a:srgbClr val="0D0D0D"/>
                            </a:solidFill>
                            <a:effectLst/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b="0" i="0" dirty="0">
                    <a:solidFill>
                      <a:srgbClr val="0D0D0D"/>
                    </a:solidFill>
                    <a:effectLst/>
                    <a:highlight>
                      <a:srgbClr val="FFFFFF"/>
                    </a:highlight>
                    <a:latin typeface="KaTeX_Main"/>
                  </a:rPr>
                  <a:t>=4𝜇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solidFill>
                              <a:srgbClr val="0D0D0D"/>
                            </a:solidFill>
                            <a:effectLst/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0D0D0D"/>
                            </a:solidFill>
                            <a:effectLst/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0D0D0D"/>
                            </a:solidFill>
                            <a:effectLst/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b="0" i="0" dirty="0">
                    <a:solidFill>
                      <a:srgbClr val="0D0D0D"/>
                    </a:solidFill>
                    <a:effectLst/>
                    <a:highlight>
                      <a:srgbClr val="FFFFFF"/>
                    </a:highlight>
                    <a:latin typeface="Söhne"/>
                  </a:rPr>
                  <a:t>.</a:t>
                </a:r>
              </a:p>
              <a:p>
                <a:pPr marL="742950" lvl="1" indent="-285750" algn="l">
                  <a:buFont typeface="Arial" panose="020B0604020202020204" pitchFamily="34" charset="0"/>
                  <a:buChar char="•"/>
                </a:pPr>
                <a:r>
                  <a:rPr lang="en-US" b="0" i="0" dirty="0">
                    <a:solidFill>
                      <a:srgbClr val="0D0D0D"/>
                    </a:solidFill>
                    <a:effectLst/>
                    <a:highlight>
                      <a:srgbClr val="FFFFFF"/>
                    </a:highlight>
                    <a:latin typeface="Söhne"/>
                  </a:rPr>
                  <a:t>Longitudinal: </a:t>
                </a:r>
                <a:r>
                  <a:rPr lang="en-US" b="0" i="0" dirty="0">
                    <a:solidFill>
                      <a:srgbClr val="0D0D0D"/>
                    </a:solidFill>
                    <a:effectLst/>
                    <a:highlight>
                      <a:srgbClr val="FFFFFF"/>
                    </a:highlight>
                    <a:latin typeface="KaTeX_Main"/>
                  </a:rPr>
                  <a:t>𝜏/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solidFill>
                              <a:srgbClr val="0D0D0D"/>
                            </a:solidFill>
                            <a:effectLst/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solidFill>
                              <a:srgbClr val="0D0D0D"/>
                            </a:solidFill>
                            <a:effectLst/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p>
                        <m:r>
                          <a:rPr lang="en-US" b="0" i="1" dirty="0" smtClean="0">
                            <a:solidFill>
                              <a:srgbClr val="0D0D0D"/>
                            </a:solidFill>
                            <a:effectLst/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b="0" i="0" dirty="0">
                    <a:solidFill>
                      <a:srgbClr val="0D0D0D"/>
                    </a:solidFill>
                    <a:effectLst/>
                    <a:highlight>
                      <a:srgbClr val="FFFFFF"/>
                    </a:highlight>
                    <a:latin typeface="KaTeX_Main"/>
                  </a:rPr>
                  <a:t>=𝜇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solidFill>
                              <a:srgbClr val="0D0D0D"/>
                            </a:solidFill>
                            <a:effectLst/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0D0D0D"/>
                            </a:solidFill>
                            <a:effectLst/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0D0D0D"/>
                            </a:solidFill>
                            <a:effectLst/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b="0" i="0" dirty="0">
                    <a:solidFill>
                      <a:srgbClr val="0D0D0D"/>
                    </a:solidFill>
                    <a:effectLst/>
                    <a:highlight>
                      <a:srgbClr val="FFFFFF"/>
                    </a:highlight>
                    <a:latin typeface="Söhne"/>
                  </a:rPr>
                  <a:t>.</a:t>
                </a:r>
              </a:p>
              <a:p>
                <a:pPr algn="l"/>
                <a:endParaRPr lang="en-US" b="1" i="0" dirty="0">
                  <a:solidFill>
                    <a:srgbClr val="0D0D0D"/>
                  </a:solidFill>
                  <a:effectLst/>
                  <a:highlight>
                    <a:srgbClr val="FFFFFF"/>
                  </a:highlight>
                  <a:latin typeface="Söhne"/>
                </a:endParaRPr>
              </a:p>
              <a:p>
                <a:pPr algn="l"/>
                <a:r>
                  <a:rPr lang="en-US" sz="1600" b="1" i="0" dirty="0">
                    <a:solidFill>
                      <a:schemeClr val="accent3">
                        <a:lumMod val="25000"/>
                      </a:schemeClr>
                    </a:solidFill>
                    <a:effectLst/>
                    <a:highlight>
                      <a:srgbClr val="FFFFFF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6.Verification</a:t>
                </a:r>
                <a:r>
                  <a:rPr lang="en-US" sz="1600" b="0" i="0" dirty="0">
                    <a:solidFill>
                      <a:schemeClr val="accent3">
                        <a:lumMod val="25000"/>
                      </a:schemeClr>
                    </a:solidFill>
                    <a:effectLst/>
                    <a:highlight>
                      <a:srgbClr val="FFFFFF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US" b="0" i="0" dirty="0">
                    <a:solidFill>
                      <a:srgbClr val="0D0D0D"/>
                    </a:solidFill>
                    <a:effectLst/>
                    <a:highlight>
                      <a:srgbClr val="FFFFFF"/>
                    </a:highlight>
                    <a:latin typeface="Söhne"/>
                  </a:rPr>
                  <a:t>Adjusting tension (</a:t>
                </a:r>
                <a:r>
                  <a:rPr lang="en-US" b="0" i="0" dirty="0">
                    <a:solidFill>
                      <a:srgbClr val="0D0D0D"/>
                    </a:solidFill>
                    <a:effectLst/>
                    <a:highlight>
                      <a:srgbClr val="FFFFFF"/>
                    </a:highlight>
                    <a:latin typeface="KaTeX_Main"/>
                  </a:rPr>
                  <a:t>𝜏</a:t>
                </a:r>
                <a:r>
                  <a:rPr lang="el-GR" b="0" i="0" dirty="0">
                    <a:solidFill>
                      <a:srgbClr val="0D0D0D"/>
                    </a:solidFill>
                    <a:effectLst/>
                    <a:highlight>
                      <a:srgbClr val="FFFFFF"/>
                    </a:highlight>
                    <a:latin typeface="Söhne"/>
                  </a:rPr>
                  <a:t>) </a:t>
                </a:r>
                <a:r>
                  <a:rPr lang="en-US" b="0" i="0" dirty="0">
                    <a:solidFill>
                      <a:srgbClr val="0D0D0D"/>
                    </a:solidFill>
                    <a:effectLst/>
                    <a:highlight>
                      <a:srgbClr val="FFFFFF"/>
                    </a:highlight>
                    <a:latin typeface="Söhne"/>
                  </a:rPr>
                  <a:t>and wavelength (</a:t>
                </a:r>
                <a:r>
                  <a:rPr lang="en-US" b="0" i="0" dirty="0">
                    <a:solidFill>
                      <a:srgbClr val="0D0D0D"/>
                    </a:solidFill>
                    <a:effectLst/>
                    <a:highlight>
                      <a:srgbClr val="FFFFFF"/>
                    </a:highlight>
                    <a:latin typeface="KaTeX_Main"/>
                  </a:rPr>
                  <a:t>𝑙</a:t>
                </a:r>
                <a:r>
                  <a:rPr lang="en-US" b="0" i="0" dirty="0">
                    <a:solidFill>
                      <a:srgbClr val="0D0D0D"/>
                    </a:solidFill>
                    <a:effectLst/>
                    <a:highlight>
                      <a:srgbClr val="FFFFFF"/>
                    </a:highlight>
                    <a:latin typeface="Söhne"/>
                  </a:rPr>
                  <a:t>) confirms the laws of transverse vibrations (</a:t>
                </a:r>
                <a:r>
                  <a:rPr lang="en-US" b="0" i="0" dirty="0">
                    <a:solidFill>
                      <a:srgbClr val="0D0D0D"/>
                    </a:solidFill>
                    <a:effectLst/>
                    <a:highlight>
                      <a:srgbClr val="FFFFFF"/>
                    </a:highlight>
                    <a:latin typeface="KaTeX_Main"/>
                  </a:rPr>
                  <a:t>𝜏/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solidFill>
                              <a:srgbClr val="0D0D0D"/>
                            </a:solidFill>
                            <a:effectLst/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solidFill>
                              <a:srgbClr val="0D0D0D"/>
                            </a:solidFill>
                            <a:effectLst/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p>
                        <m:r>
                          <a:rPr lang="en-US" b="0" i="1" dirty="0" smtClean="0">
                            <a:solidFill>
                              <a:srgbClr val="0D0D0D"/>
                            </a:solidFill>
                            <a:effectLst/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dirty="0" smtClean="0">
                        <a:solidFill>
                          <a:srgbClr val="0D0D0D"/>
                        </a:solidFill>
                        <a:effectLst/>
                        <a:highlight>
                          <a:srgbClr val="FFFFFF"/>
                        </a:highlight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0" i="0" dirty="0">
                    <a:solidFill>
                      <a:srgbClr val="0D0D0D"/>
                    </a:solidFill>
                    <a:effectLst/>
                    <a:highlight>
                      <a:srgbClr val="FFFFFF"/>
                    </a:highlight>
                    <a:latin typeface="KaTeX_Main"/>
                  </a:rPr>
                  <a:t>=constant</a:t>
                </a:r>
                <a:r>
                  <a:rPr lang="en-US" b="0" i="0" dirty="0">
                    <a:solidFill>
                      <a:srgbClr val="0D0D0D"/>
                    </a:solidFill>
                    <a:effectLst/>
                    <a:highlight>
                      <a:srgbClr val="FFFFFF"/>
                    </a:highlight>
                    <a:latin typeface="Söhne"/>
                  </a:rPr>
                  <a:t>).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600" b="0" i="0" dirty="0">
                  <a:solidFill>
                    <a:srgbClr val="0D0D0D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l"/>
                <a:endParaRPr lang="en-US" dirty="0">
                  <a:solidFill>
                    <a:srgbClr val="0D0D0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l"/>
                <a:endParaRPr lang="en-US" b="0" i="0" dirty="0">
                  <a:solidFill>
                    <a:srgbClr val="0D0D0D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l"/>
                <a:endParaRPr lang="en-US" dirty="0">
                  <a:solidFill>
                    <a:srgbClr val="0D0D0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l"/>
                <a:endParaRPr lang="en-US" b="0" i="0" dirty="0">
                  <a:solidFill>
                    <a:srgbClr val="0D0D0D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rtl="0">
                  <a:buFont typeface="+mj-lt"/>
                  <a:buAutoNum type="arabicPeriod"/>
                </a:pPr>
                <a:endParaRPr lang="en-US" dirty="0">
                  <a:solidFill>
                    <a:schemeClr val="accent3">
                      <a:lumMod val="25000"/>
                    </a:schemeClr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3F78E55-BB7F-D063-7C3D-51F42B2342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8450580" cy="6493957"/>
              </a:xfrm>
              <a:prstGeom prst="rect">
                <a:avLst/>
              </a:prstGeom>
              <a:blipFill>
                <a:blip r:embed="rId3"/>
                <a:stretch>
                  <a:fillRect l="-722" t="-2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E2FAD379-0CC8-9FB3-B562-8BE60678F75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6054"/>
          <a:stretch/>
        </p:blipFill>
        <p:spPr>
          <a:xfrm>
            <a:off x="4992286" y="1759528"/>
            <a:ext cx="3750226" cy="182950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583065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5" name="Google Shape;2155;p38"/>
          <p:cNvSpPr txBox="1">
            <a:spLocks noGrp="1"/>
          </p:cNvSpPr>
          <p:nvPr>
            <p:ph type="title"/>
          </p:nvPr>
        </p:nvSpPr>
        <p:spPr>
          <a:xfrm>
            <a:off x="3093862" y="2518954"/>
            <a:ext cx="3200400" cy="94357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br>
              <a:rPr lang="en-US" sz="1800" dirty="0">
                <a:latin typeface="Barlow Semi Condensed"/>
                <a:ea typeface="Barlow Semi Condensed"/>
                <a:cs typeface="Barlow Semi Condensed"/>
                <a:sym typeface="Barlow Semi Condensed"/>
              </a:rPr>
            </a:br>
            <a:endParaRPr sz="1800" dirty="0"/>
          </a:p>
        </p:txBody>
      </p:sp>
      <p:sp>
        <p:nvSpPr>
          <p:cNvPr id="2156" name="Google Shape;2156;p38"/>
          <p:cNvSpPr txBox="1">
            <a:spLocks noGrp="1"/>
          </p:cNvSpPr>
          <p:nvPr>
            <p:ph type="title" idx="2"/>
          </p:nvPr>
        </p:nvSpPr>
        <p:spPr>
          <a:xfrm>
            <a:off x="2971800" y="1161288"/>
            <a:ext cx="2967600" cy="106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3295849" y="2518954"/>
            <a:ext cx="255230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en-US" sz="3200" b="1" dirty="0">
                <a:solidFill>
                  <a:schemeClr val="accent3">
                    <a:lumMod val="25000"/>
                  </a:schemeClr>
                </a:solidFill>
              </a:rPr>
              <a:t>  Apparatus </a:t>
            </a:r>
            <a:endParaRPr lang="en-US" sz="3200" b="1" dirty="0">
              <a:solidFill>
                <a:schemeClr val="accent3">
                  <a:lumMod val="25000"/>
                </a:schemeClr>
              </a:solidFill>
              <a:latin typeface="Fjalla One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10430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1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5" grpId="0"/>
      <p:bldP spid="2156" grpId="0"/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9" name="Google Shape;2309;p43"/>
          <p:cNvSpPr txBox="1"/>
          <p:nvPr/>
        </p:nvSpPr>
        <p:spPr>
          <a:xfrm>
            <a:off x="6372177" y="3145536"/>
            <a:ext cx="877800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45K</a:t>
            </a:r>
            <a:endParaRPr sz="3000">
              <a:solidFill>
                <a:schemeClr val="l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sp>
        <p:nvSpPr>
          <p:cNvPr id="2319" name="Google Shape;2319;p43"/>
          <p:cNvSpPr txBox="1"/>
          <p:nvPr/>
        </p:nvSpPr>
        <p:spPr>
          <a:xfrm>
            <a:off x="6375459" y="3144442"/>
            <a:ext cx="8793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10%</a:t>
            </a:r>
            <a:endParaRPr sz="2700">
              <a:solidFill>
                <a:schemeClr val="l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sp>
        <p:nvSpPr>
          <p:cNvPr id="22" name="Text 3"/>
          <p:cNvSpPr/>
          <p:nvPr/>
        </p:nvSpPr>
        <p:spPr>
          <a:xfrm>
            <a:off x="977226" y="1037690"/>
            <a:ext cx="2608455" cy="105944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1960"/>
              </a:lnSpc>
              <a:buNone/>
            </a:pPr>
            <a:endParaRPr lang="en-US" sz="1225" dirty="0"/>
          </a:p>
        </p:txBody>
      </p:sp>
      <p:sp>
        <p:nvSpPr>
          <p:cNvPr id="24" name="Text 7"/>
          <p:cNvSpPr/>
          <p:nvPr/>
        </p:nvSpPr>
        <p:spPr>
          <a:xfrm>
            <a:off x="4786577" y="1083144"/>
            <a:ext cx="3401926" cy="49744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ts val="1960"/>
              </a:lnSpc>
              <a:buNone/>
            </a:pPr>
            <a:endParaRPr lang="en-US" sz="1225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7691807-5684-5EC6-BD6E-02048EF72927}"/>
              </a:ext>
            </a:extLst>
          </p:cNvPr>
          <p:cNvSpPr txBox="1"/>
          <p:nvPr/>
        </p:nvSpPr>
        <p:spPr>
          <a:xfrm>
            <a:off x="1136073" y="250441"/>
            <a:ext cx="3068782" cy="40116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"/>
            </a:pPr>
            <a:r>
              <a:rPr lang="en-US" sz="2400" dirty="0" err="1">
                <a:solidFill>
                  <a:schemeClr val="accent3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Melde’s</a:t>
            </a:r>
            <a:r>
              <a:rPr lang="en-US" sz="2400" dirty="0">
                <a:solidFill>
                  <a:schemeClr val="accent3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apparatus</a:t>
            </a:r>
          </a:p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"/>
            </a:pPr>
            <a:r>
              <a:rPr lang="en-US" sz="2400" dirty="0">
                <a:solidFill>
                  <a:schemeClr val="accent3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 </a:t>
            </a:r>
          </a:p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"/>
            </a:pPr>
            <a:r>
              <a:rPr lang="en-US" sz="2400" dirty="0">
                <a:solidFill>
                  <a:schemeClr val="accent3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weight box</a:t>
            </a:r>
          </a:p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"/>
            </a:pPr>
            <a:r>
              <a:rPr lang="en-US" sz="2400" dirty="0">
                <a:solidFill>
                  <a:schemeClr val="accent3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Tuning Fork</a:t>
            </a:r>
          </a:p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"/>
            </a:pPr>
            <a:r>
              <a:rPr lang="en-US" sz="2400" dirty="0">
                <a:solidFill>
                  <a:schemeClr val="accent3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Meter Scale </a:t>
            </a:r>
          </a:p>
          <a:p>
            <a:pPr marR="0" lvl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endParaRPr lang="en-US" sz="2400" dirty="0">
              <a:solidFill>
                <a:schemeClr val="accent3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C9943C5-5C69-812A-3CA6-D07F3C0FD183}"/>
              </a:ext>
            </a:extLst>
          </p:cNvPr>
          <p:cNvCxnSpPr>
            <a:cxnSpLocks/>
          </p:cNvCxnSpPr>
          <p:nvPr/>
        </p:nvCxnSpPr>
        <p:spPr>
          <a:xfrm>
            <a:off x="3248890" y="3477490"/>
            <a:ext cx="1586346" cy="3881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98" name="Picture 2" descr="Color school rulers in centimeters and inches set">
            <a:extLst>
              <a:ext uri="{FF2B5EF4-FFF2-40B4-BE49-F238E27FC236}">
                <a16:creationId xmlns:a16="http://schemas.microsoft.com/office/drawing/2014/main" id="{870A985B-BDEE-5358-2946-4B57D51342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9126" y="3688135"/>
            <a:ext cx="1586346" cy="139053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D232C13-C713-0672-D0FA-3BE8310753B9}"/>
              </a:ext>
            </a:extLst>
          </p:cNvPr>
          <p:cNvCxnSpPr>
            <a:cxnSpLocks/>
            <a:endCxn id="2319" idx="1"/>
          </p:cNvCxnSpPr>
          <p:nvPr/>
        </p:nvCxnSpPr>
        <p:spPr>
          <a:xfrm>
            <a:off x="3363106" y="2839506"/>
            <a:ext cx="3012353" cy="5680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E9B6CB84-FC57-F552-A322-CDA6E9C7F1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0808" y="96451"/>
            <a:ext cx="1815273" cy="132099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F03B550-A3B8-BD25-C559-7C222014105F}"/>
              </a:ext>
            </a:extLst>
          </p:cNvPr>
          <p:cNvCxnSpPr>
            <a:cxnSpLocks/>
          </p:cNvCxnSpPr>
          <p:nvPr/>
        </p:nvCxnSpPr>
        <p:spPr>
          <a:xfrm flipV="1">
            <a:off x="3906981" y="644236"/>
            <a:ext cx="2465196" cy="2770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5D522261-50B7-0371-5F6A-BDAA8C838A2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71908"/>
          <a:stretch/>
        </p:blipFill>
        <p:spPr>
          <a:xfrm>
            <a:off x="6594604" y="2618029"/>
            <a:ext cx="1403051" cy="185905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A77E3C2-6953-EF6B-946E-0D67D0B094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7593" y="800085"/>
            <a:ext cx="1063559" cy="1063559"/>
          </a:xfrm>
          <a:prstGeom prst="rect">
            <a:avLst/>
          </a:prstGeom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1A933FE-2860-8DB3-0AB6-F3A22F985A02}"/>
              </a:ext>
            </a:extLst>
          </p:cNvPr>
          <p:cNvCxnSpPr>
            <a:cxnSpLocks/>
          </p:cNvCxnSpPr>
          <p:nvPr/>
        </p:nvCxnSpPr>
        <p:spPr>
          <a:xfrm flipV="1">
            <a:off x="2685454" y="1417446"/>
            <a:ext cx="2335478" cy="1631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88785735-FAE5-666A-3446-DFEFC88D3E8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773834" y="1760610"/>
            <a:ext cx="1437318" cy="1437318"/>
          </a:xfrm>
          <a:prstGeom prst="rect">
            <a:avLst/>
          </a:prstGeom>
        </p:spPr>
      </p:pic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9BCD169-DD4B-B93B-4352-9D95BCFF0534}"/>
              </a:ext>
            </a:extLst>
          </p:cNvPr>
          <p:cNvCxnSpPr>
            <a:cxnSpLocks/>
            <a:endCxn id="21" idx="1"/>
          </p:cNvCxnSpPr>
          <p:nvPr/>
        </p:nvCxnSpPr>
        <p:spPr>
          <a:xfrm>
            <a:off x="3103350" y="2173853"/>
            <a:ext cx="1670484" cy="3054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5" name="Google Shape;2155;p38"/>
          <p:cNvSpPr txBox="1">
            <a:spLocks noGrp="1"/>
          </p:cNvSpPr>
          <p:nvPr>
            <p:ph type="title"/>
          </p:nvPr>
        </p:nvSpPr>
        <p:spPr>
          <a:xfrm>
            <a:off x="2615802" y="2359914"/>
            <a:ext cx="3912396" cy="162229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3200" b="1" dirty="0">
                <a:solidFill>
                  <a:schemeClr val="accent3">
                    <a:lumMod val="25000"/>
                  </a:schemeClr>
                </a:solidFill>
              </a:rPr>
              <a:t>Procedure </a:t>
            </a:r>
            <a:br>
              <a:rPr lang="en-US" sz="2400" dirty="0">
                <a:solidFill>
                  <a:schemeClr val="accent3">
                    <a:lumMod val="25000"/>
                  </a:schemeClr>
                </a:solidFill>
              </a:rPr>
            </a:br>
            <a:br>
              <a:rPr lang="en-US" sz="2400" dirty="0">
                <a:solidFill>
                  <a:schemeClr val="accent3">
                    <a:lumMod val="25000"/>
                  </a:schemeClr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</a:br>
            <a:endParaRPr sz="2400" dirty="0">
              <a:solidFill>
                <a:schemeClr val="accent3">
                  <a:lumMod val="25000"/>
                </a:schemeClr>
              </a:solidFill>
            </a:endParaRPr>
          </a:p>
        </p:txBody>
      </p:sp>
      <p:sp>
        <p:nvSpPr>
          <p:cNvPr id="2156" name="Google Shape;2156;p38"/>
          <p:cNvSpPr txBox="1">
            <a:spLocks noGrp="1"/>
          </p:cNvSpPr>
          <p:nvPr>
            <p:ph type="title" idx="2"/>
          </p:nvPr>
        </p:nvSpPr>
        <p:spPr>
          <a:xfrm>
            <a:off x="2971800" y="1161288"/>
            <a:ext cx="2967600" cy="106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259506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1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5" grpId="0"/>
      <p:bldP spid="215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34A28E9-2148-DBEA-BBC0-8233FF0284CF}"/>
              </a:ext>
            </a:extLst>
          </p:cNvPr>
          <p:cNvSpPr txBox="1"/>
          <p:nvPr/>
        </p:nvSpPr>
        <p:spPr>
          <a:xfrm>
            <a:off x="815292" y="304244"/>
            <a:ext cx="7760672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sz="1600" i="0" dirty="0">
                <a:solidFill>
                  <a:schemeClr val="accent3">
                    <a:lumMod val="25000"/>
                  </a:schemeClr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Set up: Clamp tuning fork, attach thread to prong, hang scale pan, add weights for light tension.</a:t>
            </a:r>
          </a:p>
          <a:p>
            <a:pPr algn="l"/>
            <a:endParaRPr lang="en-US" sz="1600" i="0" dirty="0">
              <a:solidFill>
                <a:schemeClr val="accent3">
                  <a:lumMod val="25000"/>
                </a:schemeClr>
              </a:solidFill>
              <a:effectLst/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sz="1600" i="0" dirty="0">
                <a:solidFill>
                  <a:schemeClr val="accent3">
                    <a:lumMod val="25000"/>
                  </a:schemeClr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Excite tuning fork vibration.</a:t>
            </a:r>
          </a:p>
          <a:p>
            <a:pPr algn="l"/>
            <a:endParaRPr lang="en-US" sz="1600" i="0" dirty="0">
              <a:solidFill>
                <a:schemeClr val="accent3">
                  <a:lumMod val="25000"/>
                </a:schemeClr>
              </a:solidFill>
              <a:effectLst/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sz="1600" i="0" dirty="0">
                <a:solidFill>
                  <a:schemeClr val="accent3">
                    <a:lumMod val="25000"/>
                  </a:schemeClr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Adjust weight for maximum loops, fixed nodal points, and equal loop length.</a:t>
            </a:r>
          </a:p>
          <a:p>
            <a:pPr algn="l"/>
            <a:endParaRPr lang="en-US" sz="1600" i="0" dirty="0">
              <a:solidFill>
                <a:schemeClr val="accent3">
                  <a:lumMod val="25000"/>
                </a:schemeClr>
              </a:solidFill>
              <a:effectLst/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sz="1600" i="0" dirty="0">
                <a:solidFill>
                  <a:schemeClr val="accent3">
                    <a:lumMod val="25000"/>
                  </a:schemeClr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Measure distance between successive nodes, count loops.</a:t>
            </a:r>
          </a:p>
          <a:p>
            <a:pPr algn="l"/>
            <a:endParaRPr lang="en-US" sz="1600" i="0" dirty="0">
              <a:solidFill>
                <a:schemeClr val="accent3">
                  <a:lumMod val="25000"/>
                </a:schemeClr>
              </a:solidFill>
              <a:effectLst/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sz="1600" i="0" dirty="0">
                <a:solidFill>
                  <a:schemeClr val="accent3">
                    <a:lumMod val="25000"/>
                  </a:schemeClr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Increase weight by 5 gm, repeat steps 2-4 for new segment length.</a:t>
            </a:r>
          </a:p>
          <a:p>
            <a:pPr algn="l"/>
            <a:endParaRPr lang="en-US" sz="1600" i="0" dirty="0">
              <a:solidFill>
                <a:schemeClr val="accent3">
                  <a:lumMod val="25000"/>
                </a:schemeClr>
              </a:solidFill>
              <a:effectLst/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sz="1600" i="0" dirty="0">
                <a:solidFill>
                  <a:schemeClr val="accent3">
                    <a:lumMod val="25000"/>
                  </a:schemeClr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Repeat for different fork vibration mode (turn fork 90°).</a:t>
            </a:r>
          </a:p>
          <a:p>
            <a:pPr algn="l"/>
            <a:endParaRPr lang="en-US" sz="1600" i="0" dirty="0">
              <a:solidFill>
                <a:schemeClr val="accent3">
                  <a:lumMod val="25000"/>
                </a:schemeClr>
              </a:solidFill>
              <a:effectLst/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sz="1600" i="0" dirty="0">
                <a:solidFill>
                  <a:schemeClr val="accent3">
                    <a:lumMod val="25000"/>
                  </a:schemeClr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Determine weight and length of string, find mass per unit length of thread and scale pan mass.</a:t>
            </a:r>
          </a:p>
          <a:p>
            <a:pPr algn="l"/>
            <a:endParaRPr lang="en-US" sz="1600" i="0" dirty="0">
              <a:solidFill>
                <a:schemeClr val="accent3">
                  <a:lumMod val="25000"/>
                </a:schemeClr>
              </a:solidFill>
              <a:effectLst/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sz="1600" i="0" dirty="0">
                <a:solidFill>
                  <a:schemeClr val="accent3">
                    <a:lumMod val="25000"/>
                  </a:schemeClr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Calculate fork frequency using equations (1) and (2).</a:t>
            </a:r>
          </a:p>
        </p:txBody>
      </p:sp>
    </p:spTree>
    <p:extLst>
      <p:ext uri="{BB962C8B-B14F-4D97-AF65-F5344CB8AC3E}">
        <p14:creationId xmlns:p14="http://schemas.microsoft.com/office/powerpoint/2010/main" val="36566116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B9651-54DD-833E-B916-B32B08E0C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7900" y="1746504"/>
            <a:ext cx="4648200" cy="1938528"/>
          </a:xfrm>
        </p:spPr>
        <p:txBody>
          <a:bodyPr/>
          <a:lstStyle/>
          <a:p>
            <a:r>
              <a:rPr lang="en-US" sz="3200" b="1" dirty="0">
                <a:solidFill>
                  <a:schemeClr val="accent3">
                    <a:lumMod val="25000"/>
                  </a:schemeClr>
                </a:solidFill>
              </a:rPr>
              <a:t>Experimental Data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02C936E-38BC-BF3D-5F9B-4A99C6BAA289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lang="en-US" dirty="0"/>
              <a:t>4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963B7003-8CF3-F5C6-61BA-D250F128D9B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809481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FC8F460B-C3EE-06D1-C49D-7D7A500580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519545"/>
            <a:ext cx="8880764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0E6C14F2-A547-6BBD-EE26-B2759259887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75020448"/>
                  </p:ext>
                </p:extLst>
              </p:nvPr>
            </p:nvGraphicFramePr>
            <p:xfrm>
              <a:off x="0" y="0"/>
              <a:ext cx="9143998" cy="5140729"/>
            </p:xfrm>
            <a:graphic>
              <a:graphicData uri="http://schemas.openxmlformats.org/drawingml/2006/table">
                <a:tbl>
                  <a:tblPr firstRow="1" bandRow="1">
                    <a:tableStyleId>{DA3990FA-8B5C-4F49-9BA2-A84EE1CBF54A}</a:tableStyleId>
                  </a:tblPr>
                  <a:tblGrid>
                    <a:gridCol w="1006883">
                      <a:extLst>
                        <a:ext uri="{9D8B030D-6E8A-4147-A177-3AD203B41FA5}">
                          <a16:colId xmlns:a16="http://schemas.microsoft.com/office/drawing/2014/main" val="1390193562"/>
                        </a:ext>
                      </a:extLst>
                    </a:gridCol>
                    <a:gridCol w="909924">
                      <a:extLst>
                        <a:ext uri="{9D8B030D-6E8A-4147-A177-3AD203B41FA5}">
                          <a16:colId xmlns:a16="http://schemas.microsoft.com/office/drawing/2014/main" val="2589388004"/>
                        </a:ext>
                      </a:extLst>
                    </a:gridCol>
                    <a:gridCol w="826392">
                      <a:extLst>
                        <a:ext uri="{9D8B030D-6E8A-4147-A177-3AD203B41FA5}">
                          <a16:colId xmlns:a16="http://schemas.microsoft.com/office/drawing/2014/main" val="3487246899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2393984124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2934014041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3161284903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4219304363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4010571799"/>
                        </a:ext>
                      </a:extLst>
                    </a:gridCol>
                    <a:gridCol w="841985">
                      <a:extLst>
                        <a:ext uri="{9D8B030D-6E8A-4147-A177-3AD203B41FA5}">
                          <a16:colId xmlns:a16="http://schemas.microsoft.com/office/drawing/2014/main" val="1942277960"/>
                        </a:ext>
                      </a:extLst>
                    </a:gridCol>
                    <a:gridCol w="986814">
                      <a:extLst>
                        <a:ext uri="{9D8B030D-6E8A-4147-A177-3AD203B41FA5}">
                          <a16:colId xmlns:a16="http://schemas.microsoft.com/office/drawing/2014/main" val="812167308"/>
                        </a:ext>
                      </a:extLst>
                    </a:gridCol>
                  </a:tblGrid>
                  <a:tr h="2672815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endParaRPr lang="en-US" dirty="0"/>
                        </a:p>
                        <a:p>
                          <a:pPr algn="ctr"/>
                          <a:endParaRPr lang="en-US" dirty="0"/>
                        </a:p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No of Observation</a:t>
                          </a:r>
                        </a:p>
                      </a:txBody>
                      <a:tcPr>
                        <a:cell3D prstMaterial="dkEdge">
                          <a:bevel prst="relaxedInset"/>
                          <a:lightRig rig="flood" dir="t"/>
                        </a:cell3D>
                        <a:solidFill>
                          <a:schemeClr val="accent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endParaRPr lang="en-US" dirty="0"/>
                        </a:p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Total no of loops between the fixed ends</a:t>
                          </a:r>
                        </a:p>
                      </a:txBody>
                      <a:tcPr>
                        <a:cell3D prstMaterial="dkEdge">
                          <a:bevel prst="relaxedInset"/>
                          <a:lightRig rig="flood" dir="t"/>
                        </a:cell3D>
                        <a:solidFill>
                          <a:schemeClr val="accent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endParaRPr lang="en-US" dirty="0"/>
                        </a:p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Load on the scale pan 𝒘</a:t>
                          </a:r>
                          <a:r>
                            <a:rPr lang="en-US" sz="1050" dirty="0"/>
                            <a:t>𝒕</a:t>
                          </a:r>
                          <a:r>
                            <a:rPr lang="en-US" dirty="0"/>
                            <a:t> (gm)</a:t>
                          </a:r>
                        </a:p>
                      </a:txBody>
                      <a:tcPr>
                        <a:cell3D prstMaterial="dkEdge">
                          <a:bevel prst="relaxedInset"/>
                          <a:lightRig rig="flood" dir="t"/>
                        </a:cell3D>
                        <a:solidFill>
                          <a:schemeClr val="accent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endParaRPr lang="en-US" dirty="0"/>
                        </a:p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Tension 𝝉 = (𝒘 + 𝒘</a:t>
                          </a:r>
                          <a:r>
                            <a:rPr lang="en-US" sz="1050" dirty="0"/>
                            <a:t>𝒕</a:t>
                          </a:r>
                          <a:r>
                            <a:rPr lang="en-US" dirty="0"/>
                            <a:t> )𝒈 (dynes) </a:t>
                          </a:r>
                        </a:p>
                      </a:txBody>
                      <a:tcPr>
                        <a:cell3D prstMaterial="dkEdge">
                          <a:bevel prst="relaxedInset"/>
                          <a:lightRig rig="flood" dir="t"/>
                        </a:cell3D>
                        <a:solidFill>
                          <a:schemeClr val="accent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endParaRPr lang="en-US" dirty="0"/>
                        </a:p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Distance between the pins G (cm)</a:t>
                          </a:r>
                        </a:p>
                      </a:txBody>
                      <a:tcPr>
                        <a:cell3D prstMaterial="dkEdge">
                          <a:bevel prst="relaxedInset"/>
                          <a:lightRig rig="flood" dir="t"/>
                        </a:cell3D>
                        <a:solidFill>
                          <a:schemeClr val="accent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endParaRPr lang="en-US" dirty="0"/>
                        </a:p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No of loops between the pins N</a:t>
                          </a:r>
                        </a:p>
                      </a:txBody>
                      <a:tcPr>
                        <a:cell3D prstMaterial="dkEdge">
                          <a:bevel prst="relaxedInset"/>
                          <a:lightRig rig="flood" dir="t"/>
                        </a:cell3D>
                        <a:solidFill>
                          <a:schemeClr val="accent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endParaRPr lang="en-US" dirty="0"/>
                        </a:p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Length of a segment 𝒍 = 𝑮/𝑵 (cm)</a:t>
                          </a:r>
                        </a:p>
                      </a:txBody>
                      <a:tcPr>
                        <a:cell3D prstMaterial="dkEdge">
                          <a:bevel prst="relaxedInset"/>
                          <a:lightRig rig="flood" dir="t"/>
                        </a:cell3D>
                        <a:solidFill>
                          <a:schemeClr val="accent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endParaRPr lang="en-US" dirty="0"/>
                        </a:p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Frequency of the fork</a:t>
                          </a:r>
                          <a14:m>
                            <m:oMath xmlns:m="http://schemas.openxmlformats.org/officeDocument/2006/math">
                              <m:r>
                                <a:rPr lang="en-US" sz="1400" b="0" i="1" smtClean="0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effectLst/>
                                  <a:highlight>
                                    <a:srgbClr val="FFFFFF"/>
                                  </a:highlight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sz="1400" b="0" i="1" smtClean="0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effectLst/>
                                  <a:highlight>
                                    <a:srgbClr val="FFFFFF"/>
                                  </a:highlight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nor/>
                                </m:rPr>
                                <a:rPr lang="en-US" sz="1400" dirty="0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highlight>
                                    <a:srgbClr val="FFFFFF"/>
                                  </a:highlight>
                                  <a:latin typeface="KaTeX_Main"/>
                                </a:rPr>
                                <m:t>𝑓</m:t>
                              </m:r>
                              <m:r>
                                <m:rPr>
                                  <m:nor/>
                                </m:rPr>
                                <a:rPr lang="en-US" sz="1400" dirty="0" smtClean="0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highlight>
                                    <a:srgbClr val="FFFFFF"/>
                                  </a:highlight>
                                  <a:latin typeface="KaTeX_Main"/>
                                </a:rPr>
                                <m:t>′</m:t>
                              </m:r>
                            </m:oMath>
                          </a14:m>
                          <a:r>
                            <a:rPr lang="en-US" sz="1400" b="0" i="0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highlight>
                                <a:srgbClr val="FFFFFF"/>
                              </a:highlight>
                              <a:latin typeface="KaTeX_Main"/>
                            </a:rPr>
                            <a:t>=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1400" b="0" i="1" dirty="0" smtClean="0">
                                      <a:solidFill>
                                        <a:schemeClr val="tx1">
                                          <a:lumMod val="50000"/>
                                        </a:schemeClr>
                                      </a:solidFill>
                                      <a:effectLst/>
                                      <a:highlight>
                                        <a:srgbClr val="FFFFFF"/>
                                      </a:highlight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400" b="0" i="1" dirty="0" smtClean="0">
                                      <a:solidFill>
                                        <a:schemeClr val="tx1">
                                          <a:lumMod val="50000"/>
                                        </a:schemeClr>
                                      </a:solidFill>
                                      <a:effectLst/>
                                      <a:highlight>
                                        <a:srgbClr val="FFFFFF"/>
                                      </a:highlight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1400" b="0" i="1" dirty="0" smtClean="0">
                                      <a:solidFill>
                                        <a:schemeClr val="tx1">
                                          <a:lumMod val="50000"/>
                                        </a:schemeClr>
                                      </a:solidFill>
                                      <a:effectLst/>
                                      <a:highlight>
                                        <a:srgbClr val="FFFFFF"/>
                                      </a:highlight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sz="1400" b="0" i="1" dirty="0" smtClean="0">
                                      <a:solidFill>
                                        <a:schemeClr val="tx1">
                                          <a:lumMod val="50000"/>
                                        </a:schemeClr>
                                      </a:solidFill>
                                      <a:effectLst/>
                                      <a:highlight>
                                        <a:srgbClr val="FFFFFF"/>
                                      </a:highlight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den>
                              </m:f>
                              <m:r>
                                <a:rPr lang="en-US" sz="1400" b="0" i="1" dirty="0" smtClean="0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effectLst/>
                                  <a:highlight>
                                    <a:srgbClr val="FFFFFF"/>
                                  </a:highlight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√</m:t>
                              </m:r>
                              <m:f>
                                <m:fPr>
                                  <m:ctrlPr>
                                    <a:rPr lang="en-US" sz="1400" b="0" i="1" dirty="0" smtClean="0">
                                      <a:solidFill>
                                        <a:schemeClr val="tx1">
                                          <a:lumMod val="50000"/>
                                        </a:schemeClr>
                                      </a:solidFill>
                                      <a:effectLst/>
                                      <a:highlight>
                                        <a:srgbClr val="FFFFFF"/>
                                      </a:highlight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nor/>
                                    </m:rPr>
                                    <a:rPr lang="en-US" sz="1400" dirty="0">
                                      <a:solidFill>
                                        <a:schemeClr val="tx1">
                                          <a:lumMod val="50000"/>
                                        </a:schemeClr>
                                      </a:solidFill>
                                      <a:highlight>
                                        <a:srgbClr val="FFFFFF"/>
                                      </a:highlight>
                                    </a:rPr>
                                    <m:t>𝜏</m:t>
                                  </m:r>
                                </m:num>
                                <m:den>
                                  <m:r>
                                    <m:rPr>
                                      <m:nor/>
                                    </m:rPr>
                                    <a:rPr lang="el-GR" sz="1400">
                                      <a:solidFill>
                                        <a:schemeClr val="tx1">
                                          <a:lumMod val="50000"/>
                                        </a:schemeClr>
                                      </a:solidFill>
                                      <a:highlight>
                                        <a:srgbClr val="FFFFFF"/>
                                      </a:highlight>
                                    </a:rPr>
                                    <m:t>μ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</a:rPr>
                            <a:t> </a:t>
                          </a:r>
                          <a:r>
                            <a:rPr lang="en-US" dirty="0"/>
                            <a:t>(Vibration/sec)</a:t>
                          </a:r>
                        </a:p>
                      </a:txBody>
                      <a:tcPr>
                        <a:cell3D prstMaterial="dkEdge">
                          <a:bevel prst="relaxedInset"/>
                          <a:lightRig rig="flood" dir="t"/>
                        </a:cell3D>
                        <a:solidFill>
                          <a:schemeClr val="accent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endParaRPr lang="en-US" dirty="0"/>
                        </a:p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Mean frequency,𝒇</a:t>
                          </a:r>
                          <a:r>
                            <a:rPr lang="en-US" sz="1100" dirty="0"/>
                            <a:t>2</a:t>
                          </a:r>
                          <a:r>
                            <a:rPr lang="en-US" dirty="0"/>
                            <a:t> (Vibration/sec)</a:t>
                          </a:r>
                        </a:p>
                      </a:txBody>
                      <a:tcPr>
                        <a:cell3D prstMaterial="dkEdge">
                          <a:bevel prst="relaxedInset"/>
                          <a:lightRig rig="flood" dir="t"/>
                        </a:cell3D>
                        <a:solidFill>
                          <a:schemeClr val="accent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endParaRPr lang="en-US" dirty="0"/>
                        </a:p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𝜏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</m:oMath>
                          </a14:m>
                          <a:r>
                            <a:rPr lang="en-US" dirty="0"/>
                            <a:t> 𝒄𝒐𝒏𝒔𝒕𝒂𝒏t</a:t>
                          </a:r>
                        </a:p>
                      </a:txBody>
                      <a:tcPr>
                        <a:cell3D prstMaterial="dkEdge">
                          <a:bevel prst="relaxedInset"/>
                          <a:lightRig rig="flood" dir="t"/>
                        </a:cell3D>
                        <a:solidFill>
                          <a:schemeClr val="accent3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45211961"/>
                      </a:ext>
                    </a:extLst>
                  </a:tr>
                  <a:tr h="823562"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>
                                <a:lumMod val="50000"/>
                              </a:schemeClr>
                            </a:solidFill>
                          </a:endParaRPr>
                        </a:p>
                        <a:p>
                          <a:pPr algn="ctr"/>
                          <a:r>
                            <a:rPr lang="en-US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cell3D prstMaterial="dkEdge">
                          <a:bevel prst="relaxedInset"/>
                          <a:lightRig rig="flood" dir="t"/>
                        </a:cell3D>
                        <a:solidFill>
                          <a:schemeClr val="accent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>
                                <a:lumMod val="50000"/>
                              </a:schemeClr>
                            </a:solidFill>
                          </a:endParaRPr>
                        </a:p>
                        <a:p>
                          <a:pPr algn="ctr"/>
                          <a:r>
                            <a:rPr lang="en-US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</a:rPr>
                            <a:t>4</a:t>
                          </a:r>
                        </a:p>
                      </a:txBody>
                      <a:tcPr>
                        <a:cell3D prstMaterial="dkEdge">
                          <a:bevel prst="relaxedInset"/>
                          <a:lightRig rig="flood" dir="t"/>
                        </a:cell3D>
                        <a:solidFill>
                          <a:schemeClr val="accent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effectLst>
                              <a:innerShdw blurRad="114300">
                                <a:prstClr val="black"/>
                              </a:innerShdw>
                            </a:effectLst>
                          </a:endParaRPr>
                        </a:p>
                        <a:p>
                          <a:pPr algn="ctr"/>
                          <a:r>
                            <a:rPr lang="en-US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>
                                <a:innerShdw blurRad="114300">
                                  <a:prstClr val="black"/>
                                </a:innerShdw>
                              </a:effectLst>
                            </a:rPr>
                            <a:t>0</a:t>
                          </a:r>
                        </a:p>
                      </a:txBody>
                      <a:tcPr>
                        <a:cell3D prstMaterial="dkEdge">
                          <a:bevel prst="relaxedInset"/>
                          <a:lightRig rig="flood" dir="t"/>
                        </a:cell3D>
                        <a:solidFill>
                          <a:schemeClr val="accent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>
                                <a:lumMod val="50000"/>
                              </a:schemeClr>
                            </a:solidFill>
                          </a:endParaRPr>
                        </a:p>
                        <a:p>
                          <a:pPr algn="ctr"/>
                          <a:r>
                            <a:rPr lang="en-US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</a:rPr>
                            <a:t>22246</a:t>
                          </a:r>
                        </a:p>
                      </a:txBody>
                      <a:tcPr>
                        <a:cell3D prstMaterial="dkEdge">
                          <a:bevel prst="relaxedInset"/>
                          <a:lightRig rig="flood" dir="t"/>
                        </a:cell3D>
                        <a:solidFill>
                          <a:schemeClr val="accent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>
                                <a:lumMod val="50000"/>
                              </a:schemeClr>
                            </a:solidFill>
                          </a:endParaRPr>
                        </a:p>
                        <a:p>
                          <a:pPr algn="ctr"/>
                          <a:r>
                            <a:rPr lang="en-US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</a:rPr>
                            <a:t>82</a:t>
                          </a:r>
                        </a:p>
                      </a:txBody>
                      <a:tcPr>
                        <a:cell3D prstMaterial="dkEdge">
                          <a:bevel prst="relaxedInset"/>
                          <a:lightRig rig="flood" dir="t"/>
                        </a:cell3D>
                        <a:solidFill>
                          <a:schemeClr val="accent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>
                                <a:lumMod val="50000"/>
                              </a:schemeClr>
                            </a:solidFill>
                          </a:endParaRPr>
                        </a:p>
                        <a:p>
                          <a:pPr algn="ctr"/>
                          <a:r>
                            <a:rPr lang="en-US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</a:rPr>
                            <a:t>4</a:t>
                          </a:r>
                        </a:p>
                      </a:txBody>
                      <a:tcPr>
                        <a:cell3D prstMaterial="dkEdge">
                          <a:bevel prst="relaxedInset"/>
                          <a:lightRig rig="flood" dir="t"/>
                        </a:cell3D>
                        <a:solidFill>
                          <a:schemeClr val="accent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>
                                <a:lumMod val="50000"/>
                              </a:schemeClr>
                            </a:solidFill>
                          </a:endParaRPr>
                        </a:p>
                        <a:p>
                          <a:pPr algn="ctr"/>
                          <a:r>
                            <a:rPr lang="en-US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</a:rPr>
                            <a:t>20.5</a:t>
                          </a:r>
                        </a:p>
                      </a:txBody>
                      <a:tcPr>
                        <a:cell3D prstMaterial="dkEdge">
                          <a:bevel prst="relaxedInset"/>
                          <a:lightRig rig="flood" dir="t"/>
                        </a:cell3D>
                        <a:solidFill>
                          <a:schemeClr val="accent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>
                                <a:lumMod val="50000"/>
                              </a:schemeClr>
                            </a:solidFill>
                          </a:endParaRPr>
                        </a:p>
                        <a:p>
                          <a:pPr algn="ctr"/>
                          <a:r>
                            <a:rPr lang="en-US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</a:rPr>
                            <a:t>45.11</a:t>
                          </a:r>
                        </a:p>
                      </a:txBody>
                      <a:tcPr>
                        <a:cell3D prstMaterial="dkEdge">
                          <a:bevel prst="relaxedInset"/>
                          <a:lightRig rig="flood" dir="t"/>
                        </a:cell3D>
                        <a:solidFill>
                          <a:schemeClr val="accent3"/>
                        </a:solidFill>
                      </a:tcPr>
                    </a:tc>
                    <a:tc rowSpan="3"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>
                                <a:lumMod val="50000"/>
                              </a:schemeClr>
                            </a:solidFill>
                          </a:endParaRPr>
                        </a:p>
                        <a:p>
                          <a:pPr algn="ctr"/>
                          <a:endParaRPr lang="en-US" dirty="0">
                            <a:solidFill>
                              <a:schemeClr val="tx1">
                                <a:lumMod val="50000"/>
                              </a:schemeClr>
                            </a:solidFill>
                          </a:endParaRPr>
                        </a:p>
                        <a:p>
                          <a:pPr algn="ctr"/>
                          <a:endParaRPr lang="en-US" dirty="0">
                            <a:solidFill>
                              <a:schemeClr val="tx1">
                                <a:lumMod val="50000"/>
                              </a:schemeClr>
                            </a:solidFill>
                          </a:endParaRPr>
                        </a:p>
                        <a:p>
                          <a:pPr algn="ctr"/>
                          <a:endParaRPr lang="en-US" dirty="0">
                            <a:solidFill>
                              <a:schemeClr val="tx1">
                                <a:lumMod val="50000"/>
                              </a:schemeClr>
                            </a:solidFill>
                          </a:endParaRPr>
                        </a:p>
                        <a:p>
                          <a:pPr algn="ctr"/>
                          <a:endParaRPr lang="en-US" dirty="0">
                            <a:solidFill>
                              <a:schemeClr val="tx1">
                                <a:lumMod val="50000"/>
                              </a:schemeClr>
                            </a:solidFill>
                          </a:endParaRPr>
                        </a:p>
                        <a:p>
                          <a:pPr algn="ctr"/>
                          <a:r>
                            <a:rPr lang="en-US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</a:rPr>
                            <a:t>44.51</a:t>
                          </a:r>
                        </a:p>
                      </a:txBody>
                      <a:tcPr>
                        <a:cell3D prstMaterial="dkEdge">
                          <a:bevel prst="relaxedInset"/>
                          <a:lightRig rig="flood" dir="t"/>
                        </a:cell3D>
                        <a:solidFill>
                          <a:schemeClr val="accent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>
                                <a:lumMod val="50000"/>
                              </a:schemeClr>
                            </a:solidFill>
                          </a:endParaRPr>
                        </a:p>
                        <a:p>
                          <a:pPr algn="ctr"/>
                          <a:r>
                            <a:rPr lang="en-US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</a:rPr>
                            <a:t>52.94</a:t>
                          </a:r>
                        </a:p>
                      </a:txBody>
                      <a:tcPr>
                        <a:cell3D prstMaterial="dkEdge">
                          <a:bevel prst="relaxedInset"/>
                          <a:lightRig rig="flood" dir="t"/>
                        </a:cell3D>
                        <a:solidFill>
                          <a:schemeClr val="accent3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2960628"/>
                      </a:ext>
                    </a:extLst>
                  </a:tr>
                  <a:tr h="820790"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>
                                <a:lumMod val="50000"/>
                              </a:schemeClr>
                            </a:solidFill>
                          </a:endParaRPr>
                        </a:p>
                        <a:p>
                          <a:pPr algn="ctr"/>
                          <a:r>
                            <a:rPr lang="en-US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</a:rPr>
                            <a:t>2</a:t>
                          </a:r>
                        </a:p>
                      </a:txBody>
                      <a:tcPr>
                        <a:cell3D prstMaterial="dkEdge">
                          <a:bevel prst="relaxedInset"/>
                          <a:lightRig rig="flood" dir="t"/>
                        </a:cell3D>
                        <a:solidFill>
                          <a:schemeClr val="accent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>
                                <a:lumMod val="50000"/>
                              </a:schemeClr>
                            </a:solidFill>
                          </a:endParaRPr>
                        </a:p>
                        <a:p>
                          <a:pPr algn="ctr"/>
                          <a:r>
                            <a:rPr lang="en-US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</a:rPr>
                            <a:t>3</a:t>
                          </a:r>
                        </a:p>
                      </a:txBody>
                      <a:tcPr>
                        <a:cell3D prstMaterial="dkEdge">
                          <a:bevel prst="relaxedInset"/>
                          <a:lightRig rig="flood" dir="t"/>
                        </a:cell3D>
                        <a:solidFill>
                          <a:schemeClr val="accent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>
                                <a:lumMod val="50000"/>
                              </a:schemeClr>
                            </a:solidFill>
                          </a:endParaRPr>
                        </a:p>
                        <a:p>
                          <a:pPr algn="ctr"/>
                          <a:r>
                            <a:rPr lang="en-US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</a:rPr>
                            <a:t>10</a:t>
                          </a:r>
                        </a:p>
                      </a:txBody>
                      <a:tcPr>
                        <a:cell3D prstMaterial="dkEdge">
                          <a:bevel prst="relaxedInset"/>
                          <a:lightRig rig="flood" dir="t"/>
                        </a:cell3D>
                        <a:solidFill>
                          <a:schemeClr val="accent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>
                                <a:lumMod val="50000"/>
                              </a:schemeClr>
                            </a:solidFill>
                          </a:endParaRPr>
                        </a:p>
                        <a:p>
                          <a:pPr algn="ctr"/>
                          <a:r>
                            <a:rPr lang="en-US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</a:rPr>
                            <a:t>32046</a:t>
                          </a:r>
                        </a:p>
                      </a:txBody>
                      <a:tcPr>
                        <a:cell3D prstMaterial="dkEdge">
                          <a:bevel prst="relaxedInset"/>
                          <a:lightRig rig="flood" dir="t"/>
                        </a:cell3D>
                        <a:solidFill>
                          <a:schemeClr val="accent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>
                                <a:lumMod val="50000"/>
                              </a:schemeClr>
                            </a:solidFill>
                          </a:endParaRPr>
                        </a:p>
                        <a:p>
                          <a:pPr algn="ctr"/>
                          <a:r>
                            <a:rPr lang="en-US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</a:rPr>
                            <a:t>75</a:t>
                          </a:r>
                        </a:p>
                      </a:txBody>
                      <a:tcPr>
                        <a:cell3D prstMaterial="dkEdge">
                          <a:bevel prst="relaxedInset"/>
                          <a:lightRig rig="flood" dir="t"/>
                        </a:cell3D>
                        <a:solidFill>
                          <a:schemeClr val="accent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>
                                <a:lumMod val="50000"/>
                              </a:schemeClr>
                            </a:solidFill>
                          </a:endParaRPr>
                        </a:p>
                        <a:p>
                          <a:pPr algn="ctr"/>
                          <a:r>
                            <a:rPr lang="en-US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</a:rPr>
                            <a:t>3</a:t>
                          </a:r>
                        </a:p>
                      </a:txBody>
                      <a:tcPr>
                        <a:cell3D prstMaterial="dkEdge">
                          <a:bevel prst="relaxedInset"/>
                          <a:lightRig rig="flood" dir="t"/>
                        </a:cell3D>
                        <a:solidFill>
                          <a:schemeClr val="accent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>
                                <a:lumMod val="50000"/>
                              </a:schemeClr>
                            </a:solidFill>
                          </a:endParaRPr>
                        </a:p>
                        <a:p>
                          <a:pPr algn="ctr"/>
                          <a:r>
                            <a:rPr lang="en-US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</a:rPr>
                            <a:t>25</a:t>
                          </a:r>
                        </a:p>
                      </a:txBody>
                      <a:tcPr>
                        <a:cell3D prstMaterial="dkEdge">
                          <a:bevel prst="relaxedInset"/>
                          <a:lightRig rig="flood" dir="t"/>
                        </a:cell3D>
                        <a:solidFill>
                          <a:schemeClr val="accent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>
                                <a:lumMod val="50000"/>
                              </a:schemeClr>
                            </a:solidFill>
                          </a:endParaRPr>
                        </a:p>
                        <a:p>
                          <a:pPr algn="ctr"/>
                          <a:r>
                            <a:rPr lang="en-US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</a:rPr>
                            <a:t>44.39</a:t>
                          </a:r>
                        </a:p>
                      </a:txBody>
                      <a:tcPr>
                        <a:cell3D prstMaterial="dkEdge">
                          <a:bevel prst="relaxedInset"/>
                          <a:lightRig rig="flood" dir="t"/>
                        </a:cell3D>
                        <a:solidFill>
                          <a:schemeClr val="accent3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cell3D prstMaterial="dkEdge">
                          <a:bevel prst="relaxedInset"/>
                          <a:lightRig rig="flood" dir="t"/>
                        </a:cell3D>
                        <a:solidFill>
                          <a:schemeClr val="accent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>
                                <a:lumMod val="50000"/>
                              </a:schemeClr>
                            </a:solidFill>
                          </a:endParaRPr>
                        </a:p>
                        <a:p>
                          <a:pPr algn="ctr"/>
                          <a:r>
                            <a:rPr lang="en-US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</a:rPr>
                            <a:t>51.27</a:t>
                          </a:r>
                        </a:p>
                      </a:txBody>
                      <a:tcPr>
                        <a:cell3D prstMaterial="dkEdge">
                          <a:bevel prst="relaxedInset"/>
                          <a:lightRig rig="flood" dir="t"/>
                        </a:cell3D>
                        <a:solidFill>
                          <a:schemeClr val="accent3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97626474"/>
                      </a:ext>
                    </a:extLst>
                  </a:tr>
                  <a:tr h="823562"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>
                                <a:lumMod val="50000"/>
                              </a:schemeClr>
                            </a:solidFill>
                          </a:endParaRPr>
                        </a:p>
                        <a:p>
                          <a:pPr algn="ctr"/>
                          <a:r>
                            <a:rPr lang="en-US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</a:rPr>
                            <a:t>3</a:t>
                          </a:r>
                        </a:p>
                      </a:txBody>
                      <a:tcPr>
                        <a:cell3D prstMaterial="dkEdge">
                          <a:bevel prst="relaxedInset"/>
                          <a:lightRig rig="flood" dir="t"/>
                        </a:cell3D>
                        <a:solidFill>
                          <a:schemeClr val="accent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>
                                <a:lumMod val="50000"/>
                              </a:schemeClr>
                            </a:solidFill>
                          </a:endParaRPr>
                        </a:p>
                        <a:p>
                          <a:pPr algn="ctr"/>
                          <a:r>
                            <a:rPr lang="en-US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</a:rPr>
                            <a:t>2</a:t>
                          </a:r>
                        </a:p>
                      </a:txBody>
                      <a:tcPr>
                        <a:cell3D prstMaterial="dkEdge">
                          <a:bevel prst="relaxedInset"/>
                          <a:lightRig rig="flood" dir="t"/>
                        </a:cell3D>
                        <a:solidFill>
                          <a:schemeClr val="accent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>
                                <a:lumMod val="50000"/>
                              </a:schemeClr>
                            </a:solidFill>
                          </a:endParaRPr>
                        </a:p>
                        <a:p>
                          <a:pPr algn="ctr"/>
                          <a:r>
                            <a:rPr lang="en-US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</a:rPr>
                            <a:t>30</a:t>
                          </a:r>
                        </a:p>
                      </a:txBody>
                      <a:tcPr>
                        <a:cell3D prstMaterial="dkEdge">
                          <a:bevel prst="relaxedInset"/>
                          <a:lightRig rig="flood" dir="t"/>
                        </a:cell3D>
                        <a:solidFill>
                          <a:schemeClr val="accent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>
                                <a:lumMod val="50000"/>
                              </a:schemeClr>
                            </a:solidFill>
                          </a:endParaRPr>
                        </a:p>
                        <a:p>
                          <a:pPr algn="ctr"/>
                          <a:r>
                            <a:rPr lang="en-US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</a:rPr>
                            <a:t>51646</a:t>
                          </a:r>
                        </a:p>
                      </a:txBody>
                      <a:tcPr>
                        <a:cell3D prstMaterial="dkEdge">
                          <a:bevel prst="relaxedInset"/>
                          <a:lightRig rig="flood" dir="t"/>
                        </a:cell3D>
                        <a:solidFill>
                          <a:schemeClr val="accent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>
                                <a:lumMod val="50000"/>
                              </a:schemeClr>
                            </a:solidFill>
                          </a:endParaRPr>
                        </a:p>
                        <a:p>
                          <a:pPr algn="ctr"/>
                          <a:r>
                            <a:rPr lang="en-US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</a:rPr>
                            <a:t>64</a:t>
                          </a:r>
                        </a:p>
                      </a:txBody>
                      <a:tcPr>
                        <a:cell3D prstMaterial="dkEdge">
                          <a:bevel prst="relaxedInset"/>
                          <a:lightRig rig="flood" dir="t"/>
                        </a:cell3D>
                        <a:solidFill>
                          <a:schemeClr val="accent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>
                                <a:lumMod val="50000"/>
                              </a:schemeClr>
                            </a:solidFill>
                          </a:endParaRPr>
                        </a:p>
                        <a:p>
                          <a:pPr algn="ctr"/>
                          <a:r>
                            <a:rPr lang="en-US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</a:rPr>
                            <a:t>2</a:t>
                          </a:r>
                        </a:p>
                      </a:txBody>
                      <a:tcPr>
                        <a:cell3D prstMaterial="dkEdge">
                          <a:bevel prst="relaxedInset"/>
                          <a:lightRig rig="flood" dir="t"/>
                        </a:cell3D>
                        <a:solidFill>
                          <a:schemeClr val="accent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>
                                <a:lumMod val="50000"/>
                              </a:schemeClr>
                            </a:solidFill>
                          </a:endParaRPr>
                        </a:p>
                        <a:p>
                          <a:pPr algn="ctr"/>
                          <a:r>
                            <a:rPr lang="en-US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</a:rPr>
                            <a:t>32</a:t>
                          </a:r>
                        </a:p>
                      </a:txBody>
                      <a:tcPr>
                        <a:cell3D prstMaterial="dkEdge">
                          <a:bevel prst="relaxedInset"/>
                          <a:lightRig rig="flood" dir="t"/>
                        </a:cell3D>
                        <a:solidFill>
                          <a:schemeClr val="accent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n-US" dirty="0">
                            <a:solidFill>
                              <a:schemeClr val="tx1">
                                <a:lumMod val="50000"/>
                              </a:schemeClr>
                            </a:solidFill>
                          </a:endParaRP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</a:rPr>
                            <a:t>44.03</a:t>
                          </a:r>
                        </a:p>
                        <a:p>
                          <a:pPr algn="ctr"/>
                          <a:endParaRPr lang="en-US" dirty="0">
                            <a:solidFill>
                              <a:schemeClr val="tx1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>
                        <a:cell3D prstMaterial="dkEdge">
                          <a:bevel prst="relaxedInset"/>
                          <a:lightRig rig="flood" dir="t"/>
                        </a:cell3D>
                        <a:solidFill>
                          <a:schemeClr val="accent3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cell3D prstMaterial="dkEdge">
                          <a:bevel prst="relaxedInset"/>
                          <a:lightRig rig="flood" dir="t"/>
                        </a:cell3D>
                        <a:solidFill>
                          <a:schemeClr val="accent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>
                                <a:lumMod val="50000"/>
                              </a:schemeClr>
                            </a:solidFill>
                          </a:endParaRPr>
                        </a:p>
                        <a:p>
                          <a:pPr algn="ctr"/>
                          <a:r>
                            <a:rPr lang="en-US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</a:rPr>
                            <a:t>50.47</a:t>
                          </a:r>
                        </a:p>
                      </a:txBody>
                      <a:tcPr>
                        <a:cell3D prstMaterial="dkEdge">
                          <a:bevel prst="relaxedInset"/>
                          <a:lightRig rig="flood" dir="t"/>
                        </a:cell3D>
                        <a:solidFill>
                          <a:schemeClr val="accent3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1932518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0E6C14F2-A547-6BBD-EE26-B2759259887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75020448"/>
                  </p:ext>
                </p:extLst>
              </p:nvPr>
            </p:nvGraphicFramePr>
            <p:xfrm>
              <a:off x="0" y="0"/>
              <a:ext cx="9143998" cy="5140729"/>
            </p:xfrm>
            <a:graphic>
              <a:graphicData uri="http://schemas.openxmlformats.org/drawingml/2006/table">
                <a:tbl>
                  <a:tblPr firstRow="1" bandRow="1">
                    <a:tableStyleId>{DA3990FA-8B5C-4F49-9BA2-A84EE1CBF54A}</a:tableStyleId>
                  </a:tblPr>
                  <a:tblGrid>
                    <a:gridCol w="1006883">
                      <a:extLst>
                        <a:ext uri="{9D8B030D-6E8A-4147-A177-3AD203B41FA5}">
                          <a16:colId xmlns:a16="http://schemas.microsoft.com/office/drawing/2014/main" val="1390193562"/>
                        </a:ext>
                      </a:extLst>
                    </a:gridCol>
                    <a:gridCol w="909924">
                      <a:extLst>
                        <a:ext uri="{9D8B030D-6E8A-4147-A177-3AD203B41FA5}">
                          <a16:colId xmlns:a16="http://schemas.microsoft.com/office/drawing/2014/main" val="2589388004"/>
                        </a:ext>
                      </a:extLst>
                    </a:gridCol>
                    <a:gridCol w="826392">
                      <a:extLst>
                        <a:ext uri="{9D8B030D-6E8A-4147-A177-3AD203B41FA5}">
                          <a16:colId xmlns:a16="http://schemas.microsoft.com/office/drawing/2014/main" val="3487246899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2393984124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2934014041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3161284903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4219304363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4010571799"/>
                        </a:ext>
                      </a:extLst>
                    </a:gridCol>
                    <a:gridCol w="841985">
                      <a:extLst>
                        <a:ext uri="{9D8B030D-6E8A-4147-A177-3AD203B41FA5}">
                          <a16:colId xmlns:a16="http://schemas.microsoft.com/office/drawing/2014/main" val="1942277960"/>
                        </a:ext>
                      </a:extLst>
                    </a:gridCol>
                    <a:gridCol w="986814">
                      <a:extLst>
                        <a:ext uri="{9D8B030D-6E8A-4147-A177-3AD203B41FA5}">
                          <a16:colId xmlns:a16="http://schemas.microsoft.com/office/drawing/2014/main" val="812167308"/>
                        </a:ext>
                      </a:extLst>
                    </a:gridCol>
                  </a:tblGrid>
                  <a:tr h="2672815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endParaRPr lang="en-US" dirty="0"/>
                        </a:p>
                        <a:p>
                          <a:pPr algn="ctr"/>
                          <a:endParaRPr lang="en-US" dirty="0"/>
                        </a:p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No of Observation</a:t>
                          </a:r>
                        </a:p>
                      </a:txBody>
                      <a:tcPr>
                        <a:cell3D prstMaterial="dkEdge">
                          <a:bevel prst="relaxedInset"/>
                          <a:lightRig rig="flood" dir="t"/>
                        </a:cell3D>
                        <a:solidFill>
                          <a:schemeClr val="accent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endParaRPr lang="en-US" dirty="0"/>
                        </a:p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Total no of loops between the fixed ends</a:t>
                          </a:r>
                        </a:p>
                      </a:txBody>
                      <a:tcPr>
                        <a:cell3D prstMaterial="dkEdge">
                          <a:bevel prst="relaxedInset"/>
                          <a:lightRig rig="flood" dir="t"/>
                        </a:cell3D>
                        <a:solidFill>
                          <a:schemeClr val="accent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endParaRPr lang="en-US" dirty="0"/>
                        </a:p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Load on the scale pan 𝒘</a:t>
                          </a:r>
                          <a:r>
                            <a:rPr lang="en-US" sz="1050" dirty="0"/>
                            <a:t>𝒕</a:t>
                          </a:r>
                          <a:r>
                            <a:rPr lang="en-US" dirty="0"/>
                            <a:t> (gm)</a:t>
                          </a:r>
                        </a:p>
                      </a:txBody>
                      <a:tcPr>
                        <a:cell3D prstMaterial="dkEdge">
                          <a:bevel prst="relaxedInset"/>
                          <a:lightRig rig="flood" dir="t"/>
                        </a:cell3D>
                        <a:solidFill>
                          <a:schemeClr val="accent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endParaRPr lang="en-US" dirty="0"/>
                        </a:p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Tension 𝝉 = (𝒘 + 𝒘</a:t>
                          </a:r>
                          <a:r>
                            <a:rPr lang="en-US" sz="1050" dirty="0"/>
                            <a:t>𝒕</a:t>
                          </a:r>
                          <a:r>
                            <a:rPr lang="en-US" dirty="0"/>
                            <a:t> )𝒈 (dynes) </a:t>
                          </a:r>
                        </a:p>
                      </a:txBody>
                      <a:tcPr>
                        <a:cell3D prstMaterial="dkEdge">
                          <a:bevel prst="relaxedInset"/>
                          <a:lightRig rig="flood" dir="t"/>
                        </a:cell3D>
                        <a:solidFill>
                          <a:schemeClr val="accent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endParaRPr lang="en-US" dirty="0"/>
                        </a:p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Distance between the pins G (cm)</a:t>
                          </a:r>
                        </a:p>
                      </a:txBody>
                      <a:tcPr>
                        <a:cell3D prstMaterial="dkEdge">
                          <a:bevel prst="relaxedInset"/>
                          <a:lightRig rig="flood" dir="t"/>
                        </a:cell3D>
                        <a:solidFill>
                          <a:schemeClr val="accent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endParaRPr lang="en-US" dirty="0"/>
                        </a:p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No of loops between the pins N</a:t>
                          </a:r>
                        </a:p>
                      </a:txBody>
                      <a:tcPr>
                        <a:cell3D prstMaterial="dkEdge">
                          <a:bevel prst="relaxedInset"/>
                          <a:lightRig rig="flood" dir="t"/>
                        </a:cell3D>
                        <a:solidFill>
                          <a:schemeClr val="accent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endParaRPr lang="en-US" dirty="0"/>
                        </a:p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Length of a segment 𝒍 = 𝑮/𝑵 (cm)</a:t>
                          </a:r>
                        </a:p>
                      </a:txBody>
                      <a:tcPr>
                        <a:cell3D prstMaterial="dkEdge">
                          <a:bevel prst="relaxedInset"/>
                          <a:lightRig rig="flood" dir="t"/>
                        </a:cell3D>
                        <a:solidFill>
                          <a:schemeClr val="accent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cell3D prstMaterial="dkEdge">
                          <a:bevel prst="relaxedInset"/>
                          <a:lightRig rig="flood" dir="t"/>
                        </a:cell3D>
                        <a:blipFill>
                          <a:blip r:embed="rId3"/>
                          <a:stretch>
                            <a:fillRect l="-702000" t="-456" r="-201333" b="-927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endParaRPr lang="en-US" dirty="0"/>
                        </a:p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Mean frequency,𝒇</a:t>
                          </a:r>
                          <a:r>
                            <a:rPr lang="en-US" sz="1100" dirty="0"/>
                            <a:t>2</a:t>
                          </a:r>
                          <a:r>
                            <a:rPr lang="en-US" dirty="0"/>
                            <a:t> (Vibration/sec)</a:t>
                          </a:r>
                        </a:p>
                      </a:txBody>
                      <a:tcPr>
                        <a:cell3D prstMaterial="dkEdge">
                          <a:bevel prst="relaxedInset"/>
                          <a:lightRig rig="flood" dir="t"/>
                        </a:cell3D>
                        <a:solidFill>
                          <a:schemeClr val="accent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cell3D prstMaterial="dkEdge">
                          <a:bevel prst="relaxedInset"/>
                          <a:lightRig rig="flood" dir="t"/>
                        </a:cell3D>
                        <a:blipFill>
                          <a:blip r:embed="rId3"/>
                          <a:stretch>
                            <a:fillRect l="-827778" t="-456" r="-1235" b="-927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45211961"/>
                      </a:ext>
                    </a:extLst>
                  </a:tr>
                  <a:tr h="823562"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>
                                <a:lumMod val="50000"/>
                              </a:schemeClr>
                            </a:solidFill>
                          </a:endParaRPr>
                        </a:p>
                        <a:p>
                          <a:pPr algn="ctr"/>
                          <a:r>
                            <a:rPr lang="en-US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cell3D prstMaterial="dkEdge">
                          <a:bevel prst="relaxedInset"/>
                          <a:lightRig rig="flood" dir="t"/>
                        </a:cell3D>
                        <a:solidFill>
                          <a:schemeClr val="accent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>
                                <a:lumMod val="50000"/>
                              </a:schemeClr>
                            </a:solidFill>
                          </a:endParaRPr>
                        </a:p>
                        <a:p>
                          <a:pPr algn="ctr"/>
                          <a:r>
                            <a:rPr lang="en-US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</a:rPr>
                            <a:t>4</a:t>
                          </a:r>
                        </a:p>
                      </a:txBody>
                      <a:tcPr>
                        <a:cell3D prstMaterial="dkEdge">
                          <a:bevel prst="relaxedInset"/>
                          <a:lightRig rig="flood" dir="t"/>
                        </a:cell3D>
                        <a:solidFill>
                          <a:schemeClr val="accent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effectLst>
                              <a:innerShdw blurRad="114300">
                                <a:prstClr val="black"/>
                              </a:innerShdw>
                            </a:effectLst>
                          </a:endParaRPr>
                        </a:p>
                        <a:p>
                          <a:pPr algn="ctr"/>
                          <a:r>
                            <a:rPr lang="en-US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>
                                <a:innerShdw blurRad="114300">
                                  <a:prstClr val="black"/>
                                </a:innerShdw>
                              </a:effectLst>
                            </a:rPr>
                            <a:t>0</a:t>
                          </a:r>
                        </a:p>
                      </a:txBody>
                      <a:tcPr>
                        <a:cell3D prstMaterial="dkEdge">
                          <a:bevel prst="relaxedInset"/>
                          <a:lightRig rig="flood" dir="t"/>
                        </a:cell3D>
                        <a:solidFill>
                          <a:schemeClr val="accent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>
                                <a:lumMod val="50000"/>
                              </a:schemeClr>
                            </a:solidFill>
                          </a:endParaRPr>
                        </a:p>
                        <a:p>
                          <a:pPr algn="ctr"/>
                          <a:r>
                            <a:rPr lang="en-US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</a:rPr>
                            <a:t>22246</a:t>
                          </a:r>
                        </a:p>
                      </a:txBody>
                      <a:tcPr>
                        <a:cell3D prstMaterial="dkEdge">
                          <a:bevel prst="relaxedInset"/>
                          <a:lightRig rig="flood" dir="t"/>
                        </a:cell3D>
                        <a:solidFill>
                          <a:schemeClr val="accent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>
                                <a:lumMod val="50000"/>
                              </a:schemeClr>
                            </a:solidFill>
                          </a:endParaRPr>
                        </a:p>
                        <a:p>
                          <a:pPr algn="ctr"/>
                          <a:r>
                            <a:rPr lang="en-US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</a:rPr>
                            <a:t>82</a:t>
                          </a:r>
                        </a:p>
                      </a:txBody>
                      <a:tcPr>
                        <a:cell3D prstMaterial="dkEdge">
                          <a:bevel prst="relaxedInset"/>
                          <a:lightRig rig="flood" dir="t"/>
                        </a:cell3D>
                        <a:solidFill>
                          <a:schemeClr val="accent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>
                                <a:lumMod val="50000"/>
                              </a:schemeClr>
                            </a:solidFill>
                          </a:endParaRPr>
                        </a:p>
                        <a:p>
                          <a:pPr algn="ctr"/>
                          <a:r>
                            <a:rPr lang="en-US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</a:rPr>
                            <a:t>4</a:t>
                          </a:r>
                        </a:p>
                      </a:txBody>
                      <a:tcPr>
                        <a:cell3D prstMaterial="dkEdge">
                          <a:bevel prst="relaxedInset"/>
                          <a:lightRig rig="flood" dir="t"/>
                        </a:cell3D>
                        <a:solidFill>
                          <a:schemeClr val="accent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>
                                <a:lumMod val="50000"/>
                              </a:schemeClr>
                            </a:solidFill>
                          </a:endParaRPr>
                        </a:p>
                        <a:p>
                          <a:pPr algn="ctr"/>
                          <a:r>
                            <a:rPr lang="en-US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</a:rPr>
                            <a:t>20.5</a:t>
                          </a:r>
                        </a:p>
                      </a:txBody>
                      <a:tcPr>
                        <a:cell3D prstMaterial="dkEdge">
                          <a:bevel prst="relaxedInset"/>
                          <a:lightRig rig="flood" dir="t"/>
                        </a:cell3D>
                        <a:solidFill>
                          <a:schemeClr val="accent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>
                                <a:lumMod val="50000"/>
                              </a:schemeClr>
                            </a:solidFill>
                          </a:endParaRPr>
                        </a:p>
                        <a:p>
                          <a:pPr algn="ctr"/>
                          <a:r>
                            <a:rPr lang="en-US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</a:rPr>
                            <a:t>45.11</a:t>
                          </a:r>
                        </a:p>
                      </a:txBody>
                      <a:tcPr>
                        <a:cell3D prstMaterial="dkEdge">
                          <a:bevel prst="relaxedInset"/>
                          <a:lightRig rig="flood" dir="t"/>
                        </a:cell3D>
                        <a:solidFill>
                          <a:schemeClr val="accent3"/>
                        </a:solidFill>
                      </a:tcPr>
                    </a:tc>
                    <a:tc rowSpan="3"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>
                                <a:lumMod val="50000"/>
                              </a:schemeClr>
                            </a:solidFill>
                          </a:endParaRPr>
                        </a:p>
                        <a:p>
                          <a:pPr algn="ctr"/>
                          <a:endParaRPr lang="en-US" dirty="0">
                            <a:solidFill>
                              <a:schemeClr val="tx1">
                                <a:lumMod val="50000"/>
                              </a:schemeClr>
                            </a:solidFill>
                          </a:endParaRPr>
                        </a:p>
                        <a:p>
                          <a:pPr algn="ctr"/>
                          <a:endParaRPr lang="en-US" dirty="0">
                            <a:solidFill>
                              <a:schemeClr val="tx1">
                                <a:lumMod val="50000"/>
                              </a:schemeClr>
                            </a:solidFill>
                          </a:endParaRPr>
                        </a:p>
                        <a:p>
                          <a:pPr algn="ctr"/>
                          <a:endParaRPr lang="en-US" dirty="0">
                            <a:solidFill>
                              <a:schemeClr val="tx1">
                                <a:lumMod val="50000"/>
                              </a:schemeClr>
                            </a:solidFill>
                          </a:endParaRPr>
                        </a:p>
                        <a:p>
                          <a:pPr algn="ctr"/>
                          <a:endParaRPr lang="en-US" dirty="0">
                            <a:solidFill>
                              <a:schemeClr val="tx1">
                                <a:lumMod val="50000"/>
                              </a:schemeClr>
                            </a:solidFill>
                          </a:endParaRPr>
                        </a:p>
                        <a:p>
                          <a:pPr algn="ctr"/>
                          <a:r>
                            <a:rPr lang="en-US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</a:rPr>
                            <a:t>44.51</a:t>
                          </a:r>
                        </a:p>
                      </a:txBody>
                      <a:tcPr>
                        <a:cell3D prstMaterial="dkEdge">
                          <a:bevel prst="relaxedInset"/>
                          <a:lightRig rig="flood" dir="t"/>
                        </a:cell3D>
                        <a:solidFill>
                          <a:schemeClr val="accent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>
                                <a:lumMod val="50000"/>
                              </a:schemeClr>
                            </a:solidFill>
                          </a:endParaRPr>
                        </a:p>
                        <a:p>
                          <a:pPr algn="ctr"/>
                          <a:r>
                            <a:rPr lang="en-US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</a:rPr>
                            <a:t>52.94</a:t>
                          </a:r>
                        </a:p>
                      </a:txBody>
                      <a:tcPr>
                        <a:cell3D prstMaterial="dkEdge">
                          <a:bevel prst="relaxedInset"/>
                          <a:lightRig rig="flood" dir="t"/>
                        </a:cell3D>
                        <a:solidFill>
                          <a:schemeClr val="accent3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2960628"/>
                      </a:ext>
                    </a:extLst>
                  </a:tr>
                  <a:tr h="820790"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>
                                <a:lumMod val="50000"/>
                              </a:schemeClr>
                            </a:solidFill>
                          </a:endParaRPr>
                        </a:p>
                        <a:p>
                          <a:pPr algn="ctr"/>
                          <a:r>
                            <a:rPr lang="en-US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</a:rPr>
                            <a:t>2</a:t>
                          </a:r>
                        </a:p>
                      </a:txBody>
                      <a:tcPr>
                        <a:cell3D prstMaterial="dkEdge">
                          <a:bevel prst="relaxedInset"/>
                          <a:lightRig rig="flood" dir="t"/>
                        </a:cell3D>
                        <a:solidFill>
                          <a:schemeClr val="accent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>
                                <a:lumMod val="50000"/>
                              </a:schemeClr>
                            </a:solidFill>
                          </a:endParaRPr>
                        </a:p>
                        <a:p>
                          <a:pPr algn="ctr"/>
                          <a:r>
                            <a:rPr lang="en-US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</a:rPr>
                            <a:t>3</a:t>
                          </a:r>
                        </a:p>
                      </a:txBody>
                      <a:tcPr>
                        <a:cell3D prstMaterial="dkEdge">
                          <a:bevel prst="relaxedInset"/>
                          <a:lightRig rig="flood" dir="t"/>
                        </a:cell3D>
                        <a:solidFill>
                          <a:schemeClr val="accent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>
                                <a:lumMod val="50000"/>
                              </a:schemeClr>
                            </a:solidFill>
                          </a:endParaRPr>
                        </a:p>
                        <a:p>
                          <a:pPr algn="ctr"/>
                          <a:r>
                            <a:rPr lang="en-US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</a:rPr>
                            <a:t>10</a:t>
                          </a:r>
                        </a:p>
                      </a:txBody>
                      <a:tcPr>
                        <a:cell3D prstMaterial="dkEdge">
                          <a:bevel prst="relaxedInset"/>
                          <a:lightRig rig="flood" dir="t"/>
                        </a:cell3D>
                        <a:solidFill>
                          <a:schemeClr val="accent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>
                                <a:lumMod val="50000"/>
                              </a:schemeClr>
                            </a:solidFill>
                          </a:endParaRPr>
                        </a:p>
                        <a:p>
                          <a:pPr algn="ctr"/>
                          <a:r>
                            <a:rPr lang="en-US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</a:rPr>
                            <a:t>32046</a:t>
                          </a:r>
                        </a:p>
                      </a:txBody>
                      <a:tcPr>
                        <a:cell3D prstMaterial="dkEdge">
                          <a:bevel prst="relaxedInset"/>
                          <a:lightRig rig="flood" dir="t"/>
                        </a:cell3D>
                        <a:solidFill>
                          <a:schemeClr val="accent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>
                                <a:lumMod val="50000"/>
                              </a:schemeClr>
                            </a:solidFill>
                          </a:endParaRPr>
                        </a:p>
                        <a:p>
                          <a:pPr algn="ctr"/>
                          <a:r>
                            <a:rPr lang="en-US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</a:rPr>
                            <a:t>75</a:t>
                          </a:r>
                        </a:p>
                      </a:txBody>
                      <a:tcPr>
                        <a:cell3D prstMaterial="dkEdge">
                          <a:bevel prst="relaxedInset"/>
                          <a:lightRig rig="flood" dir="t"/>
                        </a:cell3D>
                        <a:solidFill>
                          <a:schemeClr val="accent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>
                                <a:lumMod val="50000"/>
                              </a:schemeClr>
                            </a:solidFill>
                          </a:endParaRPr>
                        </a:p>
                        <a:p>
                          <a:pPr algn="ctr"/>
                          <a:r>
                            <a:rPr lang="en-US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</a:rPr>
                            <a:t>3</a:t>
                          </a:r>
                        </a:p>
                      </a:txBody>
                      <a:tcPr>
                        <a:cell3D prstMaterial="dkEdge">
                          <a:bevel prst="relaxedInset"/>
                          <a:lightRig rig="flood" dir="t"/>
                        </a:cell3D>
                        <a:solidFill>
                          <a:schemeClr val="accent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>
                                <a:lumMod val="50000"/>
                              </a:schemeClr>
                            </a:solidFill>
                          </a:endParaRPr>
                        </a:p>
                        <a:p>
                          <a:pPr algn="ctr"/>
                          <a:r>
                            <a:rPr lang="en-US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</a:rPr>
                            <a:t>25</a:t>
                          </a:r>
                        </a:p>
                      </a:txBody>
                      <a:tcPr>
                        <a:cell3D prstMaterial="dkEdge">
                          <a:bevel prst="relaxedInset"/>
                          <a:lightRig rig="flood" dir="t"/>
                        </a:cell3D>
                        <a:solidFill>
                          <a:schemeClr val="accent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>
                                <a:lumMod val="50000"/>
                              </a:schemeClr>
                            </a:solidFill>
                          </a:endParaRPr>
                        </a:p>
                        <a:p>
                          <a:pPr algn="ctr"/>
                          <a:r>
                            <a:rPr lang="en-US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</a:rPr>
                            <a:t>44.39</a:t>
                          </a:r>
                        </a:p>
                      </a:txBody>
                      <a:tcPr>
                        <a:cell3D prstMaterial="dkEdge">
                          <a:bevel prst="relaxedInset"/>
                          <a:lightRig rig="flood" dir="t"/>
                        </a:cell3D>
                        <a:solidFill>
                          <a:schemeClr val="accent3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cell3D prstMaterial="dkEdge">
                          <a:bevel prst="relaxedInset"/>
                          <a:lightRig rig="flood" dir="t"/>
                        </a:cell3D>
                        <a:solidFill>
                          <a:schemeClr val="accent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>
                                <a:lumMod val="50000"/>
                              </a:schemeClr>
                            </a:solidFill>
                          </a:endParaRPr>
                        </a:p>
                        <a:p>
                          <a:pPr algn="ctr"/>
                          <a:r>
                            <a:rPr lang="en-US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</a:rPr>
                            <a:t>51.27</a:t>
                          </a:r>
                        </a:p>
                      </a:txBody>
                      <a:tcPr>
                        <a:cell3D prstMaterial="dkEdge">
                          <a:bevel prst="relaxedInset"/>
                          <a:lightRig rig="flood" dir="t"/>
                        </a:cell3D>
                        <a:solidFill>
                          <a:schemeClr val="accent3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97626474"/>
                      </a:ext>
                    </a:extLst>
                  </a:tr>
                  <a:tr h="823562"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>
                                <a:lumMod val="50000"/>
                              </a:schemeClr>
                            </a:solidFill>
                          </a:endParaRPr>
                        </a:p>
                        <a:p>
                          <a:pPr algn="ctr"/>
                          <a:r>
                            <a:rPr lang="en-US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</a:rPr>
                            <a:t>3</a:t>
                          </a:r>
                        </a:p>
                      </a:txBody>
                      <a:tcPr>
                        <a:cell3D prstMaterial="dkEdge">
                          <a:bevel prst="relaxedInset"/>
                          <a:lightRig rig="flood" dir="t"/>
                        </a:cell3D>
                        <a:solidFill>
                          <a:schemeClr val="accent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>
                                <a:lumMod val="50000"/>
                              </a:schemeClr>
                            </a:solidFill>
                          </a:endParaRPr>
                        </a:p>
                        <a:p>
                          <a:pPr algn="ctr"/>
                          <a:r>
                            <a:rPr lang="en-US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</a:rPr>
                            <a:t>2</a:t>
                          </a:r>
                        </a:p>
                      </a:txBody>
                      <a:tcPr>
                        <a:cell3D prstMaterial="dkEdge">
                          <a:bevel prst="relaxedInset"/>
                          <a:lightRig rig="flood" dir="t"/>
                        </a:cell3D>
                        <a:solidFill>
                          <a:schemeClr val="accent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>
                                <a:lumMod val="50000"/>
                              </a:schemeClr>
                            </a:solidFill>
                          </a:endParaRPr>
                        </a:p>
                        <a:p>
                          <a:pPr algn="ctr"/>
                          <a:r>
                            <a:rPr lang="en-US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</a:rPr>
                            <a:t>30</a:t>
                          </a:r>
                        </a:p>
                      </a:txBody>
                      <a:tcPr>
                        <a:cell3D prstMaterial="dkEdge">
                          <a:bevel prst="relaxedInset"/>
                          <a:lightRig rig="flood" dir="t"/>
                        </a:cell3D>
                        <a:solidFill>
                          <a:schemeClr val="accent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>
                                <a:lumMod val="50000"/>
                              </a:schemeClr>
                            </a:solidFill>
                          </a:endParaRPr>
                        </a:p>
                        <a:p>
                          <a:pPr algn="ctr"/>
                          <a:r>
                            <a:rPr lang="en-US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</a:rPr>
                            <a:t>51646</a:t>
                          </a:r>
                        </a:p>
                      </a:txBody>
                      <a:tcPr>
                        <a:cell3D prstMaterial="dkEdge">
                          <a:bevel prst="relaxedInset"/>
                          <a:lightRig rig="flood" dir="t"/>
                        </a:cell3D>
                        <a:solidFill>
                          <a:schemeClr val="accent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>
                                <a:lumMod val="50000"/>
                              </a:schemeClr>
                            </a:solidFill>
                          </a:endParaRPr>
                        </a:p>
                        <a:p>
                          <a:pPr algn="ctr"/>
                          <a:r>
                            <a:rPr lang="en-US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</a:rPr>
                            <a:t>64</a:t>
                          </a:r>
                        </a:p>
                      </a:txBody>
                      <a:tcPr>
                        <a:cell3D prstMaterial="dkEdge">
                          <a:bevel prst="relaxedInset"/>
                          <a:lightRig rig="flood" dir="t"/>
                        </a:cell3D>
                        <a:solidFill>
                          <a:schemeClr val="accent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>
                                <a:lumMod val="50000"/>
                              </a:schemeClr>
                            </a:solidFill>
                          </a:endParaRPr>
                        </a:p>
                        <a:p>
                          <a:pPr algn="ctr"/>
                          <a:r>
                            <a:rPr lang="en-US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</a:rPr>
                            <a:t>2</a:t>
                          </a:r>
                        </a:p>
                      </a:txBody>
                      <a:tcPr>
                        <a:cell3D prstMaterial="dkEdge">
                          <a:bevel prst="relaxedInset"/>
                          <a:lightRig rig="flood" dir="t"/>
                        </a:cell3D>
                        <a:solidFill>
                          <a:schemeClr val="accent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>
                                <a:lumMod val="50000"/>
                              </a:schemeClr>
                            </a:solidFill>
                          </a:endParaRPr>
                        </a:p>
                        <a:p>
                          <a:pPr algn="ctr"/>
                          <a:r>
                            <a:rPr lang="en-US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</a:rPr>
                            <a:t>32</a:t>
                          </a:r>
                        </a:p>
                      </a:txBody>
                      <a:tcPr>
                        <a:cell3D prstMaterial="dkEdge">
                          <a:bevel prst="relaxedInset"/>
                          <a:lightRig rig="flood" dir="t"/>
                        </a:cell3D>
                        <a:solidFill>
                          <a:schemeClr val="accent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n-US" dirty="0">
                            <a:solidFill>
                              <a:schemeClr val="tx1">
                                <a:lumMod val="50000"/>
                              </a:schemeClr>
                            </a:solidFill>
                          </a:endParaRP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</a:rPr>
                            <a:t>44.03</a:t>
                          </a:r>
                        </a:p>
                        <a:p>
                          <a:pPr algn="ctr"/>
                          <a:endParaRPr lang="en-US" dirty="0">
                            <a:solidFill>
                              <a:schemeClr val="tx1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>
                        <a:cell3D prstMaterial="dkEdge">
                          <a:bevel prst="relaxedInset"/>
                          <a:lightRig rig="flood" dir="t"/>
                        </a:cell3D>
                        <a:solidFill>
                          <a:schemeClr val="accent3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cell3D prstMaterial="dkEdge">
                          <a:bevel prst="relaxedInset"/>
                          <a:lightRig rig="flood" dir="t"/>
                        </a:cell3D>
                        <a:solidFill>
                          <a:schemeClr val="accent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>
                                <a:lumMod val="50000"/>
                              </a:schemeClr>
                            </a:solidFill>
                          </a:endParaRPr>
                        </a:p>
                        <a:p>
                          <a:pPr algn="ctr"/>
                          <a:r>
                            <a:rPr lang="en-US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</a:rPr>
                            <a:t>50.47</a:t>
                          </a:r>
                        </a:p>
                      </a:txBody>
                      <a:tcPr>
                        <a:cell3D prstMaterial="dkEdge">
                          <a:bevel prst="relaxedInset"/>
                          <a:lightRig rig="flood" dir="t"/>
                        </a:cell3D>
                        <a:solidFill>
                          <a:schemeClr val="accent3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1932518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5142966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315B8-0170-EC0F-09EE-B2F53D5ED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9431" y="2537532"/>
            <a:ext cx="4076114" cy="804600"/>
          </a:xfrm>
        </p:spPr>
        <p:txBody>
          <a:bodyPr/>
          <a:lstStyle/>
          <a:p>
            <a:r>
              <a:rPr lang="en-US" sz="3200" b="1" dirty="0">
                <a:solidFill>
                  <a:schemeClr val="accent3">
                    <a:lumMod val="25000"/>
                  </a:schemeClr>
                </a:solidFill>
              </a:rPr>
              <a:t>Analysis and Calculation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22D8BD4-B945-F789-B473-21B159576F35}"/>
              </a:ext>
            </a:extLst>
          </p:cNvPr>
          <p:cNvSpPr>
            <a:spLocks noGrp="1"/>
          </p:cNvSpPr>
          <p:nvPr>
            <p:ph type="title" idx="2"/>
          </p:nvPr>
        </p:nvSpPr>
        <p:spPr>
          <a:xfrm>
            <a:off x="2970375" y="1295448"/>
            <a:ext cx="2967600" cy="1069800"/>
          </a:xfrm>
        </p:spPr>
        <p:txBody>
          <a:bodyPr/>
          <a:lstStyle/>
          <a:p>
            <a:r>
              <a:rPr lang="en-US" dirty="0"/>
              <a:t>5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CE1F2890-F1A4-EBA8-2E48-DA1CED414E1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417387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9" name="Google Shape;2309;p43"/>
          <p:cNvSpPr txBox="1"/>
          <p:nvPr/>
        </p:nvSpPr>
        <p:spPr>
          <a:xfrm>
            <a:off x="6372177" y="3145536"/>
            <a:ext cx="877800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0" dirty="0">
              <a:solidFill>
                <a:schemeClr val="accent3">
                  <a:lumMod val="25000"/>
                </a:schemeClr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sp>
        <p:nvSpPr>
          <p:cNvPr id="2317" name="Google Shape;2317;p43"/>
          <p:cNvSpPr txBox="1"/>
          <p:nvPr/>
        </p:nvSpPr>
        <p:spPr>
          <a:xfrm>
            <a:off x="6443161" y="1606398"/>
            <a:ext cx="877800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00" dirty="0">
              <a:solidFill>
                <a:schemeClr val="accent3">
                  <a:lumMod val="25000"/>
                </a:schemeClr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sp>
        <p:nvSpPr>
          <p:cNvPr id="2319" name="Google Shape;2319;p43"/>
          <p:cNvSpPr txBox="1"/>
          <p:nvPr/>
        </p:nvSpPr>
        <p:spPr>
          <a:xfrm>
            <a:off x="4498258" y="2136798"/>
            <a:ext cx="4059936" cy="2482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lang="en-US" sz="1600" dirty="0">
              <a:solidFill>
                <a:schemeClr val="accent3">
                  <a:lumMod val="25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55EB21E-4FCD-1EB2-5A5A-9F152A697149}"/>
                  </a:ext>
                </a:extLst>
              </p:cNvPr>
              <p:cNvSpPr txBox="1"/>
              <p:nvPr/>
            </p:nvSpPr>
            <p:spPr>
              <a:xfrm>
                <a:off x="976164" y="61960"/>
                <a:ext cx="7934922" cy="50195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800" b="1" dirty="0">
                    <a:solidFill>
                      <a:schemeClr val="accent3">
                        <a:lumMod val="2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(A)</a:t>
                </a: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Mass of the scale pan, 𝑤 = </a:t>
                </a:r>
                <a:r>
                  <a:rPr lang="en-US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22.7</a:t>
                </a: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𝑔𝑚 </a:t>
                </a:r>
              </a:p>
              <a:p>
                <a:endParaRPr 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1800" b="1" dirty="0">
                    <a:solidFill>
                      <a:schemeClr val="accent3">
                        <a:lumMod val="2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(B) </a:t>
                </a: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Length of the string, 𝐿 = </a:t>
                </a:r>
                <a:r>
                  <a:rPr lang="en-US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123</a:t>
                </a: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𝑐𝑚 </a:t>
                </a:r>
              </a:p>
              <a:p>
                <a:endParaRPr 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Mass of the string, 𝑀 =</a:t>
                </a:r>
                <a:r>
                  <a:rPr lang="en-US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0.8</a:t>
                </a: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𝑔𝑚 </a:t>
                </a:r>
              </a:p>
              <a:p>
                <a:endParaRPr 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So, the mass per unit length of the thread, </a:t>
                </a:r>
              </a:p>
              <a:p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    </a:t>
                </a:r>
              </a:p>
              <a:p>
                <a:r>
                  <a:rPr lang="en-US" sz="2000" dirty="0">
                    <a:solidFill>
                      <a:schemeClr val="accent2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       </a:t>
                </a:r>
                <a:r>
                  <a:rPr lang="en-US" sz="2800" dirty="0">
                    <a:solidFill>
                      <a:schemeClr val="accent2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𝜇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num>
                      <m:den>
                        <m:r>
                          <a:rPr lang="en-US" sz="2800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</m:oMath>
                </a14:m>
                <a:r>
                  <a:rPr lang="en-US" sz="2800" dirty="0">
                    <a:solidFill>
                      <a:schemeClr val="accent2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</a:t>
                </a:r>
                <a:r>
                  <a:rPr lang="en-US" sz="2800" dirty="0">
                    <a:solidFill>
                      <a:schemeClr val="accent2">
                        <a:lumMod val="5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0.8</m:t>
                        </m:r>
                      </m:num>
                      <m:den>
                        <m:r>
                          <a:rPr lang="en-US" sz="2800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123</m:t>
                        </m:r>
                      </m:den>
                    </m:f>
                  </m:oMath>
                </a14:m>
                <a:r>
                  <a:rPr lang="en-US" sz="2800" dirty="0">
                    <a:solidFill>
                      <a:schemeClr val="accent2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∴ 𝜇 =  </a:t>
                </a: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6.504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𝟏𝟎</m:t>
                        </m:r>
                      </m:e>
                      <m:sup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𝑔𝑚/𝑐𝑚</a:t>
                </a:r>
              </a:p>
              <a:p>
                <a:endParaRPr 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1800" b="1" dirty="0">
                    <a:solidFill>
                      <a:schemeClr val="accent3">
                        <a:lumMod val="2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(C) </a:t>
                </a: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Mean frequency of the fork ,</a:t>
                </a:r>
              </a:p>
              <a:p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      </a:t>
                </a:r>
              </a:p>
              <a:p>
                <a:r>
                  <a:rPr lang="en-US" sz="2800" dirty="0">
                    <a:solidFill>
                      <a:schemeClr val="accent2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𝑓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sz="2800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sz="2800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sz="2800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2+</m:t>
                        </m:r>
                        <m:r>
                          <a:rPr lang="en-US" sz="2800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sz="2800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2800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800" dirty="0">
                    <a:solidFill>
                      <a:schemeClr val="accent2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</a:t>
                </a:r>
                <a:r>
                  <a:rPr lang="en-US" sz="2800" dirty="0">
                    <a:solidFill>
                      <a:schemeClr val="accent2">
                        <a:lumMod val="5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45.11+44.39+44.03</m:t>
                        </m:r>
                      </m:num>
                      <m:den>
                        <m:r>
                          <a:rPr lang="en-US" sz="2800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2000" dirty="0">
                    <a:solidFill>
                      <a:schemeClr val="accent2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∴ 𝑓 = </a:t>
                </a: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44.51</a:t>
                </a: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𝑣𝑖𝑏𝑟𝑎𝑡𝑖𝑜𝑛/𝑠𝑒c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55EB21E-4FCD-1EB2-5A5A-9F152A6971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6164" y="61960"/>
                <a:ext cx="7934922" cy="5019579"/>
              </a:xfrm>
              <a:prstGeom prst="rect">
                <a:avLst/>
              </a:prstGeom>
              <a:blipFill>
                <a:blip r:embed="rId3"/>
                <a:stretch>
                  <a:fillRect l="-614" t="-728" b="-7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994004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5" name="Google Shape;2155;p38"/>
          <p:cNvSpPr txBox="1">
            <a:spLocks noGrp="1"/>
          </p:cNvSpPr>
          <p:nvPr>
            <p:ph type="title"/>
          </p:nvPr>
        </p:nvSpPr>
        <p:spPr>
          <a:xfrm>
            <a:off x="2638460" y="2571750"/>
            <a:ext cx="3740472" cy="125872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3200" b="1" dirty="0">
                <a:solidFill>
                  <a:schemeClr val="accent3">
                    <a:lumMod val="25000"/>
                  </a:schemeClr>
                </a:solidFill>
              </a:rPr>
              <a:t>Result </a:t>
            </a:r>
            <a:br>
              <a:rPr lang="en-US" sz="2400" dirty="0">
                <a:solidFill>
                  <a:schemeClr val="accent3">
                    <a:lumMod val="25000"/>
                  </a:schemeClr>
                </a:solidFill>
              </a:rPr>
            </a:br>
            <a:br>
              <a:rPr lang="en-US" sz="2400" dirty="0">
                <a:solidFill>
                  <a:schemeClr val="accent3">
                    <a:lumMod val="25000"/>
                  </a:schemeClr>
                </a:solidFill>
              </a:rPr>
            </a:br>
            <a:br>
              <a:rPr lang="en-US" sz="2400" dirty="0">
                <a:solidFill>
                  <a:schemeClr val="accent3">
                    <a:lumMod val="25000"/>
                  </a:schemeClr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</a:br>
            <a:endParaRPr sz="2400" dirty="0">
              <a:solidFill>
                <a:schemeClr val="accent3">
                  <a:lumMod val="25000"/>
                </a:schemeClr>
              </a:solidFill>
            </a:endParaRPr>
          </a:p>
        </p:txBody>
      </p:sp>
      <p:sp>
        <p:nvSpPr>
          <p:cNvPr id="2156" name="Google Shape;2156;p38"/>
          <p:cNvSpPr txBox="1">
            <a:spLocks noGrp="1"/>
          </p:cNvSpPr>
          <p:nvPr>
            <p:ph type="title" idx="2"/>
          </p:nvPr>
        </p:nvSpPr>
        <p:spPr>
          <a:xfrm>
            <a:off x="2971800" y="1161288"/>
            <a:ext cx="2967600" cy="106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06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281268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1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5" grpId="0"/>
      <p:bldP spid="215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A589589-BAC8-FEF1-04FB-B6492ADFC7C5}"/>
                  </a:ext>
                </a:extLst>
              </p:cNvPr>
              <p:cNvSpPr txBox="1"/>
              <p:nvPr/>
            </p:nvSpPr>
            <p:spPr>
              <a:xfrm>
                <a:off x="727364" y="1475508"/>
                <a:ext cx="8041882" cy="16004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chemeClr val="accent2">
                        <a:lumMod val="2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law of transverse vibration of string is verified by showing </a:t>
                </a:r>
                <a:r>
                  <a:rPr lang="en-US" sz="2400" i="0" dirty="0">
                    <a:solidFill>
                      <a:schemeClr val="accent2">
                        <a:lumMod val="25000"/>
                      </a:schemeClr>
                    </a:solidFill>
                    <a:effectLst/>
                    <a:highlight>
                      <a:srgbClr val="FFFFFF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𝜏/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 smtClean="0">
                            <a:solidFill>
                              <a:schemeClr val="accent2">
                                <a:lumMod val="25000"/>
                              </a:schemeClr>
                            </a:solidFill>
                            <a:effectLst/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dirty="0" smtClean="0">
                            <a:solidFill>
                              <a:schemeClr val="accent2">
                                <a:lumMod val="25000"/>
                              </a:schemeClr>
                            </a:solidFill>
                            <a:effectLst/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p>
                        <m:r>
                          <a:rPr lang="en-US" sz="2400" b="0" i="1" dirty="0" smtClean="0">
                            <a:solidFill>
                              <a:schemeClr val="accent2">
                                <a:lumMod val="25000"/>
                              </a:schemeClr>
                            </a:solidFill>
                            <a:effectLst/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dirty="0" smtClean="0">
                        <a:solidFill>
                          <a:schemeClr val="accent2">
                            <a:lumMod val="25000"/>
                          </a:schemeClr>
                        </a:solidFill>
                        <a:effectLst/>
                        <a:highlight>
                          <a:srgbClr val="FFFFFF"/>
                        </a:highlight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solidFill>
                      <a:schemeClr val="accent2">
                        <a:lumMod val="2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𝑐𝑜𝑛𝑠𝑡𝑎𝑛𝑡 and the frequency of the tuning fork is   </a:t>
                </a:r>
                <a:r>
                  <a:rPr lang="en-US" sz="3600" b="1" dirty="0">
                    <a:solidFill>
                      <a:schemeClr val="tx1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44.51</a:t>
                </a:r>
                <a:r>
                  <a:rPr lang="en-US" sz="2400" dirty="0">
                    <a:solidFill>
                      <a:schemeClr val="accent2">
                        <a:lumMod val="2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Vibration/sec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A589589-BAC8-FEF1-04FB-B6492ADFC7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364" y="1475508"/>
                <a:ext cx="8041882" cy="1600438"/>
              </a:xfrm>
              <a:prstGeom prst="rect">
                <a:avLst/>
              </a:prstGeom>
              <a:blipFill>
                <a:blip r:embed="rId2"/>
                <a:stretch>
                  <a:fillRect l="-2273" t="-3042" r="-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762190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4EE62-0D61-7367-F288-25114E0A7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5949" y="2036850"/>
            <a:ext cx="3502152" cy="1069800"/>
          </a:xfrm>
        </p:spPr>
        <p:txBody>
          <a:bodyPr/>
          <a:lstStyle/>
          <a:p>
            <a:r>
              <a:rPr lang="en-US" sz="3200" b="1" dirty="0">
                <a:solidFill>
                  <a:schemeClr val="accent3">
                    <a:lumMod val="25000"/>
                  </a:schemeClr>
                </a:solidFill>
              </a:rPr>
              <a:t>Discussion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CB79EE2-4092-DC37-5818-96DDB5D48C9C}"/>
              </a:ext>
            </a:extLst>
          </p:cNvPr>
          <p:cNvSpPr>
            <a:spLocks noGrp="1"/>
          </p:cNvSpPr>
          <p:nvPr>
            <p:ph type="title" idx="2"/>
          </p:nvPr>
        </p:nvSpPr>
        <p:spPr>
          <a:xfrm>
            <a:off x="2973225" y="1379004"/>
            <a:ext cx="2967600" cy="1069800"/>
          </a:xfrm>
        </p:spPr>
        <p:txBody>
          <a:bodyPr/>
          <a:lstStyle/>
          <a:p>
            <a:r>
              <a:rPr lang="en-US" dirty="0"/>
              <a:t>7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9EEBFE73-7166-DB0E-5F46-839F118E1D7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275769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9" name="Google Shape;2309;p43"/>
          <p:cNvSpPr txBox="1"/>
          <p:nvPr/>
        </p:nvSpPr>
        <p:spPr>
          <a:xfrm>
            <a:off x="6372177" y="3145536"/>
            <a:ext cx="877800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45K</a:t>
            </a:r>
            <a:endParaRPr sz="3000">
              <a:solidFill>
                <a:schemeClr val="l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sp>
        <p:nvSpPr>
          <p:cNvPr id="2317" name="Google Shape;2317;p43"/>
          <p:cNvSpPr txBox="1"/>
          <p:nvPr/>
        </p:nvSpPr>
        <p:spPr>
          <a:xfrm>
            <a:off x="6697588" y="1806406"/>
            <a:ext cx="877800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 dirty="0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$20K</a:t>
            </a:r>
            <a:endParaRPr sz="2700" dirty="0">
              <a:solidFill>
                <a:schemeClr val="l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sp>
        <p:nvSpPr>
          <p:cNvPr id="2319" name="Google Shape;2319;p43"/>
          <p:cNvSpPr txBox="1"/>
          <p:nvPr/>
        </p:nvSpPr>
        <p:spPr>
          <a:xfrm>
            <a:off x="6375459" y="3144442"/>
            <a:ext cx="8793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10%</a:t>
            </a:r>
            <a:endParaRPr sz="2700">
              <a:solidFill>
                <a:schemeClr val="l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FFED197-8A91-F990-2331-7AEF52484217}"/>
              </a:ext>
            </a:extLst>
          </p:cNvPr>
          <p:cNvSpPr txBox="1"/>
          <p:nvPr/>
        </p:nvSpPr>
        <p:spPr>
          <a:xfrm>
            <a:off x="964819" y="1448365"/>
            <a:ext cx="761807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lang="en-US" sz="2000" b="0" i="0" dirty="0">
                <a:solidFill>
                  <a:schemeClr val="accent3">
                    <a:lumMod val="25000"/>
                  </a:schemeClr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Experiment determined tuning fork frequency</a:t>
            </a:r>
            <a:r>
              <a:rPr lang="en-US" sz="2000" dirty="0">
                <a:solidFill>
                  <a:schemeClr val="accent3">
                    <a:lumMod val="25000"/>
                  </a:schemeClr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0" dirty="0">
                <a:solidFill>
                  <a:schemeClr val="tx1">
                    <a:lumMod val="50000"/>
                  </a:schemeClr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45.78</a:t>
            </a:r>
            <a:r>
              <a:rPr lang="en-US" sz="2000" b="0" i="0" dirty="0">
                <a:solidFill>
                  <a:schemeClr val="accent3">
                    <a:lumMod val="25000"/>
                  </a:schemeClr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Hz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2000" b="0" i="0" dirty="0">
                <a:solidFill>
                  <a:schemeClr val="accent3">
                    <a:lumMod val="25000"/>
                  </a:schemeClr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lang="en-US" sz="2000" b="0" i="0" dirty="0">
                <a:solidFill>
                  <a:schemeClr val="accent3">
                    <a:lumMod val="25000"/>
                  </a:schemeClr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Verified laws of transverse vibration with </a:t>
            </a:r>
            <a:r>
              <a:rPr lang="en-US" sz="2000" b="0" i="0" dirty="0" err="1">
                <a:solidFill>
                  <a:schemeClr val="accent3">
                    <a:lumMod val="25000"/>
                  </a:schemeClr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Melde's</a:t>
            </a:r>
            <a:r>
              <a:rPr lang="en-US" sz="2000" b="0" i="0" dirty="0">
                <a:solidFill>
                  <a:schemeClr val="accent3">
                    <a:lumMod val="25000"/>
                  </a:schemeClr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experiment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sz="2000" b="0" i="0" dirty="0">
              <a:solidFill>
                <a:schemeClr val="accent3">
                  <a:lumMod val="25000"/>
                </a:schemeClr>
              </a:solidFill>
              <a:effectLst/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lang="en-US" sz="2000" b="0" i="0" dirty="0">
                <a:solidFill>
                  <a:schemeClr val="accent3">
                    <a:lumMod val="25000"/>
                  </a:schemeClr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Learned about nodes, loops, and resonant frequencies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2000" b="0" i="0" dirty="0">
                <a:solidFill>
                  <a:schemeClr val="accent3">
                    <a:lumMod val="25000"/>
                  </a:schemeClr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lang="en-US" sz="2000" b="0" i="0" dirty="0">
                <a:solidFill>
                  <a:schemeClr val="accent3">
                    <a:lumMod val="25000"/>
                  </a:schemeClr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Used careful ruler positioning to minimize measurement errors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accent3">
                  <a:lumMod val="2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25592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64075-05E1-A4FD-ED71-983D6C626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chemeClr val="accent3">
                    <a:lumMod val="25000"/>
                  </a:schemeClr>
                </a:solidFill>
              </a:rPr>
              <a:t>Resources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F4EF52C-B9DC-879C-0E6B-9A8B61560E31}"/>
              </a:ext>
            </a:extLst>
          </p:cNvPr>
          <p:cNvSpPr>
            <a:spLocks noGrp="1"/>
          </p:cNvSpPr>
          <p:nvPr>
            <p:ph type="title" idx="2"/>
          </p:nvPr>
        </p:nvSpPr>
        <p:spPr>
          <a:xfrm>
            <a:off x="3088200" y="1280136"/>
            <a:ext cx="2967600" cy="1069800"/>
          </a:xfrm>
        </p:spPr>
        <p:txBody>
          <a:bodyPr/>
          <a:lstStyle/>
          <a:p>
            <a:r>
              <a:rPr lang="en-US" dirty="0"/>
              <a:t>8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2E53B4B2-4EE9-2A57-9A6E-5138C349462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6907399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781C637-9F42-9EE5-B443-23A486F666F6}"/>
              </a:ext>
            </a:extLst>
          </p:cNvPr>
          <p:cNvSpPr txBox="1"/>
          <p:nvPr/>
        </p:nvSpPr>
        <p:spPr>
          <a:xfrm>
            <a:off x="975360" y="1353312"/>
            <a:ext cx="7363968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b="1" dirty="0">
                <a:solidFill>
                  <a:schemeClr val="accent3">
                    <a:lumMod val="2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Fundamental of Physics </a:t>
            </a:r>
          </a:p>
          <a:p>
            <a:endParaRPr lang="en-US" sz="1800" b="1" dirty="0">
              <a:solidFill>
                <a:schemeClr val="accent3">
                  <a:lumMod val="25000"/>
                </a:schemeClr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b="1" dirty="0">
                <a:solidFill>
                  <a:schemeClr val="accent3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Wikipedia Resources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800" b="1" dirty="0">
              <a:solidFill>
                <a:schemeClr val="accent3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b="1" dirty="0">
                <a:solidFill>
                  <a:schemeClr val="accent3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Khan Academy Physics ( You Tube )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800" b="1" dirty="0">
              <a:solidFill>
                <a:schemeClr val="accent3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b="1" dirty="0">
                <a:solidFill>
                  <a:schemeClr val="accent3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Academic Lecture Materials </a:t>
            </a:r>
            <a:endParaRPr lang="en-US" sz="1800" dirty="0">
              <a:solidFill>
                <a:schemeClr val="accent3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solidFill>
                <a:schemeClr val="accent3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23973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Thank you placard concept illustration">
            <a:extLst>
              <a:ext uri="{FF2B5EF4-FFF2-40B4-BE49-F238E27FC236}">
                <a16:creationId xmlns:a16="http://schemas.microsoft.com/office/drawing/2014/main" id="{CC81A553-AD21-F0C6-F490-43FAAB7937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5964" y="105303"/>
            <a:ext cx="7405254" cy="49328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3946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chnology Consulting by Slidesgo">
  <a:themeElements>
    <a:clrScheme name="Simple Light">
      <a:dk1>
        <a:srgbClr val="3D3D3D"/>
      </a:dk1>
      <a:lt1>
        <a:srgbClr val="FFFFFF"/>
      </a:lt1>
      <a:dk2>
        <a:srgbClr val="494949"/>
      </a:dk2>
      <a:lt2>
        <a:srgbClr val="EEEEEE"/>
      </a:lt2>
      <a:accent1>
        <a:srgbClr val="77C6FC"/>
      </a:accent1>
      <a:accent2>
        <a:srgbClr val="BBE3FE"/>
      </a:accent2>
      <a:accent3>
        <a:srgbClr val="D6EEFE"/>
      </a:accent3>
      <a:accent4>
        <a:srgbClr val="BEBEBE"/>
      </a:accent4>
      <a:accent5>
        <a:srgbClr val="477797"/>
      </a:accent5>
      <a:accent6>
        <a:srgbClr val="9E9E9E"/>
      </a:accent6>
      <a:hlink>
        <a:srgbClr val="77C6F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1849</TotalTime>
  <Words>850</Words>
  <Application>Microsoft Office PowerPoint</Application>
  <PresentationFormat>On-screen Show (16:9)</PresentationFormat>
  <Paragraphs>245</Paragraphs>
  <Slides>20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2" baseType="lpstr">
      <vt:lpstr>Söhne</vt:lpstr>
      <vt:lpstr>Barlow Semi Condensed</vt:lpstr>
      <vt:lpstr>Fjalla One</vt:lpstr>
      <vt:lpstr>Roboto Condensed Light</vt:lpstr>
      <vt:lpstr>Arial</vt:lpstr>
      <vt:lpstr>KaTeX_Main</vt:lpstr>
      <vt:lpstr>Wingdings</vt:lpstr>
      <vt:lpstr>Barlow Semi Condensed Medium</vt:lpstr>
      <vt:lpstr>Times New Roman</vt:lpstr>
      <vt:lpstr>Segoe UI Historic</vt:lpstr>
      <vt:lpstr>Cambria Math</vt:lpstr>
      <vt:lpstr>Technology Consulting by Slidesgo</vt:lpstr>
      <vt:lpstr> </vt:lpstr>
      <vt:lpstr>Presented By</vt:lpstr>
      <vt:lpstr>Table of Contents</vt:lpstr>
      <vt:lpstr> Theory </vt:lpstr>
      <vt:lpstr>PowerPoint Presentation</vt:lpstr>
      <vt:lpstr> </vt:lpstr>
      <vt:lpstr>PowerPoint Presentation</vt:lpstr>
      <vt:lpstr>Procedure   </vt:lpstr>
      <vt:lpstr>PowerPoint Presentation</vt:lpstr>
      <vt:lpstr>Experimental Data</vt:lpstr>
      <vt:lpstr>PowerPoint Presentation</vt:lpstr>
      <vt:lpstr>Analysis and Calculation</vt:lpstr>
      <vt:lpstr>PowerPoint Presentation</vt:lpstr>
      <vt:lpstr>Result    </vt:lpstr>
      <vt:lpstr>PowerPoint Presentation</vt:lpstr>
      <vt:lpstr>Discussion</vt:lpstr>
      <vt:lpstr>PowerPoint Presentation</vt:lpstr>
      <vt:lpstr>Resources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Technology Consulting</dc:title>
  <dc:creator>USER</dc:creator>
  <cp:lastModifiedBy>MD.TAWFIQUL ISLAM TAMAL</cp:lastModifiedBy>
  <cp:revision>47</cp:revision>
  <dcterms:modified xsi:type="dcterms:W3CDTF">2024-04-22T14:41:48Z</dcterms:modified>
</cp:coreProperties>
</file>