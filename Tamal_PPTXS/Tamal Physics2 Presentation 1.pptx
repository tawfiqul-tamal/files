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6"/>
  </p:notesMasterIdLst>
  <p:sldIdLst>
    <p:sldId id="256" r:id="rId2"/>
    <p:sldId id="326" r:id="rId3"/>
    <p:sldId id="258" r:id="rId4"/>
    <p:sldId id="259" r:id="rId5"/>
    <p:sldId id="322" r:id="rId6"/>
    <p:sldId id="304" r:id="rId7"/>
    <p:sldId id="264" r:id="rId8"/>
    <p:sldId id="306" r:id="rId9"/>
    <p:sldId id="311" r:id="rId10"/>
    <p:sldId id="312" r:id="rId11"/>
    <p:sldId id="313" r:id="rId12"/>
    <p:sldId id="325" r:id="rId13"/>
    <p:sldId id="319" r:id="rId14"/>
    <p:sldId id="314" r:id="rId15"/>
    <p:sldId id="307" r:id="rId16"/>
    <p:sldId id="323" r:id="rId17"/>
    <p:sldId id="324" r:id="rId18"/>
    <p:sldId id="309" r:id="rId19"/>
    <p:sldId id="315" r:id="rId20"/>
    <p:sldId id="316" r:id="rId21"/>
    <p:sldId id="308" r:id="rId22"/>
    <p:sldId id="317" r:id="rId23"/>
    <p:sldId id="318" r:id="rId24"/>
    <p:sldId id="270" r:id="rId25"/>
  </p:sldIdLst>
  <p:sldSz cx="9144000" cy="5143500" type="screen16x9"/>
  <p:notesSz cx="6858000" cy="9144000"/>
  <p:embeddedFontLst>
    <p:embeddedFont>
      <p:font typeface="Barlow Semi Condensed" panose="00000506000000000000" pitchFamily="2" charset="0"/>
      <p:regular r:id="rId27"/>
      <p:bold r:id="rId28"/>
      <p:italic r:id="rId29"/>
      <p:boldItalic r:id="rId30"/>
    </p:embeddedFont>
    <p:embeddedFont>
      <p:font typeface="Barlow Semi Condensed Medium" panose="00000606000000000000" pitchFamily="2" charset="0"/>
      <p:regular r:id="rId31"/>
      <p:bold r:id="rId32"/>
      <p:italic r:id="rId33"/>
      <p:boldItalic r:id="rId34"/>
    </p:embeddedFont>
    <p:embeddedFont>
      <p:font typeface="Cambria Math" panose="02040503050406030204" pitchFamily="18" charset="0"/>
      <p:regular r:id="rId35"/>
    </p:embeddedFont>
    <p:embeddedFont>
      <p:font typeface="Fjalla One" panose="02000506040000020004" pitchFamily="2" charset="0"/>
      <p:regular r:id="rId36"/>
    </p:embeddedFont>
    <p:embeddedFont>
      <p:font typeface="Roboto Condensed Light" panose="02000000000000000000" pitchFamily="2" charset="0"/>
      <p:regular r:id="rId37"/>
      <p:italic r:id="rId38"/>
    </p:embeddedFont>
    <p:embeddedFont>
      <p:font typeface="Segoe UI Historic" panose="020B0502040204020203" pitchFamily="34" charset="0"/>
      <p:regular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B5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A3990FA-8B5C-4F49-9BA2-A84EE1CBF54A}">
  <a:tblStyle styleId="{DA3990FA-8B5C-4F49-9BA2-A84EE1CBF54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265" autoAdjust="0"/>
    <p:restoredTop sz="69281" autoAdjust="0"/>
  </p:normalViewPr>
  <p:slideViewPr>
    <p:cSldViewPr snapToGrid="0">
      <p:cViewPr varScale="1">
        <p:scale>
          <a:sx n="75" d="100"/>
          <a:sy n="75" d="100"/>
        </p:scale>
        <p:origin x="108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50668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7021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Here is our table of contents of our presentation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656979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8932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in the theory part the starting with ohms law </a:t>
            </a:r>
          </a:p>
          <a:p>
            <a:r>
              <a:rPr lang="en-US" dirty="0"/>
              <a:t>For unknown resistance Rx tools are </a:t>
            </a:r>
          </a:p>
          <a:p>
            <a:r>
              <a:rPr lang="en-US" b="0" i="0" dirty="0">
                <a:solidFill>
                  <a:srgbClr val="FFFFFF"/>
                </a:solidFill>
                <a:effectLst/>
                <a:latin typeface="Segoe UI Historic" panose="020B0502040204020203" pitchFamily="34" charset="0"/>
              </a:rPr>
              <a:t>For series resistance the formula is </a:t>
            </a:r>
            <a:r>
              <a:rPr lang="en-US" dirty="0">
                <a:solidFill>
                  <a:schemeClr val="accent3">
                    <a:lumMod val="25000"/>
                  </a:schemeClr>
                </a:solidFill>
                <a:effectLst/>
              </a:rPr>
              <a:t>Rs = R1 + R2 + ... + RN</a:t>
            </a:r>
            <a:endParaRPr lang="en-US" dirty="0"/>
          </a:p>
          <a:p>
            <a:r>
              <a:rPr lang="en-US" b="0" i="0" dirty="0">
                <a:solidFill>
                  <a:srgbClr val="FFFFFF"/>
                </a:solidFill>
                <a:effectLst/>
                <a:latin typeface="Segoe UI Historic" panose="020B0502040204020203" pitchFamily="34" charset="0"/>
              </a:rPr>
              <a:t>For series resistance Insight Total resistance in series is the sum of individual resistances.</a:t>
            </a:r>
            <a:endParaRPr lang="en-US" dirty="0"/>
          </a:p>
          <a:p>
            <a:r>
              <a:rPr lang="en-US" dirty="0"/>
              <a:t>5th is illustrations here is the diagrams for two resistors </a:t>
            </a:r>
          </a:p>
        </p:txBody>
      </p:sp>
    </p:spTree>
    <p:extLst>
      <p:ext uri="{BB962C8B-B14F-4D97-AF65-F5344CB8AC3E}">
        <p14:creationId xmlns:p14="http://schemas.microsoft.com/office/powerpoint/2010/main" val="13239396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13923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" name="Google Shape;2304;g86fa6133bc_4_21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5" name="Google Shape;2305;g86fa6133bc_4_21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46890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60972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</a:t>
            </a:r>
            <a:r>
              <a:rPr lang="en-US" dirty="0" err="1"/>
              <a:t>Jarifur</a:t>
            </a:r>
            <a:r>
              <a:rPr lang="en-US" dirty="0"/>
              <a:t> Rahman for giving me opportunity to explain the next part of our presentation which is experimental data.</a:t>
            </a:r>
          </a:p>
        </p:txBody>
      </p:sp>
    </p:spTree>
    <p:extLst>
      <p:ext uri="{BB962C8B-B14F-4D97-AF65-F5344CB8AC3E}">
        <p14:creationId xmlns:p14="http://schemas.microsoft.com/office/powerpoint/2010/main" val="11261163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dirty="0"/>
              <a:t>In the slide we can see that  we measured the temperature for water and liquid . We measured the temperature within 45 min. </a:t>
            </a:r>
          </a:p>
          <a:p>
            <a:r>
              <a:rPr lang="en-US" dirty="0"/>
              <a:t>For </a:t>
            </a:r>
            <a:r>
              <a:rPr lang="en-US" dirty="0" err="1"/>
              <a:t>obs</a:t>
            </a:r>
            <a:r>
              <a:rPr lang="en-US" dirty="0"/>
              <a:t> no. 1 . Time taken is o the water temp is 75 and liquid temp is also 75 </a:t>
            </a:r>
          </a:p>
          <a:p>
            <a:r>
              <a:rPr lang="en-US" dirty="0"/>
              <a:t>For </a:t>
            </a:r>
            <a:r>
              <a:rPr lang="en-US" dirty="0" err="1"/>
              <a:t>obs</a:t>
            </a:r>
            <a:r>
              <a:rPr lang="en-US" dirty="0"/>
              <a:t> no. 11 . Time taken is 10 the water temp is 64 and liquid temp is also 60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6048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45 min later the water temp is 47 and liquid temp is 41 </a:t>
            </a:r>
          </a:p>
        </p:txBody>
      </p:sp>
    </p:spTree>
    <p:extLst>
      <p:ext uri="{BB962C8B-B14F-4D97-AF65-F5344CB8AC3E}">
        <p14:creationId xmlns:p14="http://schemas.microsoft.com/office/powerpoint/2010/main" val="908937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next slide we can see that here is a graph temperature VS time  in the x axis we take time in min and in the y axis we take temperature in degree Celsius  </a:t>
            </a:r>
          </a:p>
          <a:p>
            <a:r>
              <a:rPr lang="en-US" dirty="0"/>
              <a:t>the blue curve is for water and the orange curve is for liquid </a:t>
            </a:r>
          </a:p>
          <a:p>
            <a:r>
              <a:rPr lang="en-US" dirty="0"/>
              <a:t>Here t1 is </a:t>
            </a: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 taken to cool the liquid from temperature 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t2 is Time taken to cool the water from temperature 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That’s all from side now I would like to request my group member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Samiul</a:t>
            </a:r>
            <a:r>
              <a:rPr lang="en-US" b="0" i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Alim </a:t>
            </a: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Siam to complete the next part of our presentation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9041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" name="Google Shape;2304;g86fa6133bc_4_21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5" name="Google Shape;2305;g86fa6133bc_4_21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11691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17056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" name="Google Shape;2304;g86fa6133bc_4_21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5" name="Google Shape;2305;g86fa6133bc_4_21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6203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1" name="Google Shape;2691;g8714a43093_1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2" name="Google Shape;2692;g8714a43093_1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278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title" idx="2" hasCustomPrompt="1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1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>
            <a:spLocks noGrp="1"/>
          </p:cNvSpPr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>
            <a:spLocks noGrp="1"/>
          </p:cNvSpPr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13"/>
          <p:cNvSpPr txBox="1">
            <a:spLocks noGrp="1"/>
          </p:cNvSpPr>
          <p:nvPr>
            <p:ph type="subTitle" idx="1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6" name="Google Shape;626;p13"/>
          <p:cNvSpPr txBox="1">
            <a:spLocks noGrp="1"/>
          </p:cNvSpPr>
          <p:nvPr>
            <p:ph type="subTitle" idx="2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7" name="Google Shape;627;p13"/>
          <p:cNvSpPr txBox="1">
            <a:spLocks noGrp="1"/>
          </p:cNvSpPr>
          <p:nvPr>
            <p:ph type="subTitle" idx="3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8" name="Google Shape;628;p13"/>
          <p:cNvSpPr txBox="1">
            <a:spLocks noGrp="1"/>
          </p:cNvSpPr>
          <p:nvPr>
            <p:ph type="subTitle" idx="4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9" name="Google Shape;629;p13"/>
          <p:cNvSpPr txBox="1">
            <a:spLocks noGrp="1"/>
          </p:cNvSpPr>
          <p:nvPr>
            <p:ph type="subTitle" idx="5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0" name="Google Shape;630;p13"/>
          <p:cNvSpPr txBox="1">
            <a:spLocks noGrp="1"/>
          </p:cNvSpPr>
          <p:nvPr>
            <p:ph type="subTitle" idx="6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1" name="Google Shape;631;p13"/>
          <p:cNvSpPr txBox="1">
            <a:spLocks noGrp="1"/>
          </p:cNvSpPr>
          <p:nvPr>
            <p:ph type="subTitle" idx="7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2" name="Google Shape;632;p13"/>
          <p:cNvSpPr txBox="1">
            <a:spLocks noGrp="1"/>
          </p:cNvSpPr>
          <p:nvPr>
            <p:ph type="subTitle" idx="8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3" name="Google Shape;633;p13"/>
          <p:cNvSpPr txBox="1">
            <a:spLocks noGrp="1"/>
          </p:cNvSpPr>
          <p:nvPr>
            <p:ph type="title" idx="9" hasCustomPrompt="1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>
            <a:spLocks noGrp="1"/>
          </p:cNvSpPr>
          <p:nvPr>
            <p:ph type="title" idx="13" hasCustomPrompt="1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>
            <a:spLocks noGrp="1"/>
          </p:cNvSpPr>
          <p:nvPr>
            <p:ph type="title" idx="14" hasCustomPrompt="1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>
            <a:spLocks noGrp="1"/>
          </p:cNvSpPr>
          <p:nvPr>
            <p:ph type="title" idx="15" hasCustomPrompt="1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"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41" name="Google Shape;1141;p23"/>
          <p:cNvSpPr txBox="1">
            <a:spLocks noGrp="1"/>
          </p:cNvSpPr>
          <p:nvPr>
            <p:ph type="body" idx="1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3" name="Google Shape;1143;p23"/>
          <p:cNvCxnSpPr/>
          <p:nvPr/>
        </p:nvCxnSpPr>
        <p:spPr>
          <a:xfrm rot="10800000" flipH="1">
            <a:off x="0" y="4332550"/>
            <a:ext cx="446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5" r:id="rId4"/>
    <p:sldLayoutId id="2147483658" r:id="rId5"/>
    <p:sldLayoutId id="2147483659" r:id="rId6"/>
    <p:sldLayoutId id="2147483669" r:id="rId7"/>
    <p:sldLayoutId id="2147483673" r:id="rId8"/>
    <p:sldLayoutId id="2147483674" r:id="rId9"/>
    <p:sldLayoutId id="2147483675" r:id="rId10"/>
    <p:sldLayoutId id="2147483676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35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br>
              <a:rPr lang="en-US" sz="2000" dirty="0"/>
            </a:br>
            <a:endParaRPr sz="2000" dirty="0">
              <a:solidFill>
                <a:schemeClr val="dk2"/>
              </a:solidFill>
            </a:endParaRPr>
          </a:p>
        </p:txBody>
      </p:sp>
      <p:sp>
        <p:nvSpPr>
          <p:cNvPr id="1885" name="Google Shape;1885;p35"/>
          <p:cNvSpPr txBox="1">
            <a:spLocks noGrp="1"/>
          </p:cNvSpPr>
          <p:nvPr>
            <p:ph type="subTitle" idx="1"/>
          </p:nvPr>
        </p:nvSpPr>
        <p:spPr>
          <a:xfrm>
            <a:off x="4646176" y="2990989"/>
            <a:ext cx="3264300" cy="12066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chemeClr val="tx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537A9B-5540-3499-4C12-B114328CED74}"/>
              </a:ext>
            </a:extLst>
          </p:cNvPr>
          <p:cNvSpPr txBox="1"/>
          <p:nvPr/>
        </p:nvSpPr>
        <p:spPr>
          <a:xfrm>
            <a:off x="4089460" y="2002536"/>
            <a:ext cx="4818184" cy="207428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sz="2400" b="1" i="1" dirty="0">
              <a:solidFill>
                <a:schemeClr val="tx1">
                  <a:lumMod val="5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026" name="Picture 2" descr="Calorimeter Diagram">
            <a:extLst>
              <a:ext uri="{FF2B5EF4-FFF2-40B4-BE49-F238E27FC236}">
                <a16:creationId xmlns:a16="http://schemas.microsoft.com/office/drawing/2014/main" id="{EB11FE9A-73E6-C9E5-9129-6CAEDB4D76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89" t="5076" r="15932" b="2064"/>
          <a:stretch/>
        </p:blipFill>
        <p:spPr bwMode="auto">
          <a:xfrm>
            <a:off x="59563" y="1151352"/>
            <a:ext cx="3785995" cy="28407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BFC8C8-F2BE-152D-BD0A-52EC7CAFAEB3}"/>
              </a:ext>
            </a:extLst>
          </p:cNvPr>
          <p:cNvSpPr txBox="1"/>
          <p:nvPr/>
        </p:nvSpPr>
        <p:spPr>
          <a:xfrm>
            <a:off x="4282752" y="2347179"/>
            <a:ext cx="46848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“To determine the specific heat of a liquid by the method of cooling”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4ECD8-A491-237C-0A62-A57D87362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spc="-87" dirty="0">
                <a:solidFill>
                  <a:schemeClr val="tx1"/>
                </a:solidFill>
                <a:latin typeface="+mj-lt"/>
                <a:ea typeface="adonis-web" pitchFamily="34" charset="-122"/>
              </a:rPr>
              <a:t>Presented By</a:t>
            </a:r>
            <a:endParaRPr 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81216CF-2250-760E-3092-1F9F282A8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01892"/>
              </p:ext>
            </p:extLst>
          </p:nvPr>
        </p:nvGraphicFramePr>
        <p:xfrm>
          <a:off x="620617" y="1385668"/>
          <a:ext cx="8031013" cy="31019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36557">
                  <a:extLst>
                    <a:ext uri="{9D8B030D-6E8A-4147-A177-3AD203B41FA5}">
                      <a16:colId xmlns:a16="http://schemas.microsoft.com/office/drawing/2014/main" val="3751843084"/>
                    </a:ext>
                  </a:extLst>
                </a:gridCol>
                <a:gridCol w="2994456">
                  <a:extLst>
                    <a:ext uri="{9D8B030D-6E8A-4147-A177-3AD203B41FA5}">
                      <a16:colId xmlns:a16="http://schemas.microsoft.com/office/drawing/2014/main" val="2514763476"/>
                    </a:ext>
                  </a:extLst>
                </a:gridCol>
              </a:tblGrid>
              <a:tr h="53067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dirty="0">
                          <a:effectLst/>
                        </a:rPr>
                        <a:t>Name</a:t>
                      </a:r>
                      <a:endParaRPr lang="en-US" sz="27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345" marR="154345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>
                          <a:effectLst/>
                        </a:rPr>
                        <a:t>ID</a:t>
                      </a:r>
                      <a:endParaRPr lang="en-US" sz="2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345" marR="154345" marT="0" marB="0"/>
                </a:tc>
                <a:extLst>
                  <a:ext uri="{0D108BD9-81ED-4DB2-BD59-A6C34878D82A}">
                    <a16:rowId xmlns:a16="http://schemas.microsoft.com/office/drawing/2014/main" val="1624409778"/>
                  </a:ext>
                </a:extLst>
              </a:tr>
              <a:tr h="530677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1. Md. Tawfiqul Islam Tamal</a:t>
                      </a:r>
                    </a:p>
                  </a:txBody>
                  <a:tcPr marL="154345" marR="154345" marT="0" marB="0"/>
                </a:tc>
                <a:tc>
                  <a:txBody>
                    <a:bodyPr/>
                    <a:lstStyle/>
                    <a:p>
                      <a:pPr marL="0" marR="0" lvl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23-52978-3</a:t>
                      </a:r>
                    </a:p>
                  </a:txBody>
                  <a:tcPr marL="154345" marR="154345" marT="0" marB="0"/>
                </a:tc>
                <a:extLst>
                  <a:ext uri="{0D108BD9-81ED-4DB2-BD59-A6C34878D82A}">
                    <a16:rowId xmlns:a16="http://schemas.microsoft.com/office/drawing/2014/main" val="4191742534"/>
                  </a:ext>
                </a:extLst>
              </a:tr>
              <a:tr h="530677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2.</a:t>
                      </a:r>
                      <a:r>
                        <a:rPr lang="en-US" sz="2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 Md. </a:t>
                      </a:r>
                      <a:r>
                        <a:rPr lang="en-US" sz="240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Jarifur</a:t>
                      </a:r>
                      <a:r>
                        <a:rPr lang="en-US" sz="2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 Rahman </a:t>
                      </a:r>
                      <a:endParaRPr lang="en-US" sz="24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154345" marR="154345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23-55463-3</a:t>
                      </a:r>
                      <a:endParaRPr lang="en-US" sz="24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4345" marR="154345" marT="0" marB="0"/>
                </a:tc>
                <a:extLst>
                  <a:ext uri="{0D108BD9-81ED-4DB2-BD59-A6C34878D82A}">
                    <a16:rowId xmlns:a16="http://schemas.microsoft.com/office/drawing/2014/main" val="2210841517"/>
                  </a:ext>
                </a:extLst>
              </a:tr>
              <a:tr h="530677">
                <a:tc>
                  <a:txBody>
                    <a:bodyPr/>
                    <a:lstStyle/>
                    <a:p>
                      <a:pPr algn="l" defTabSz="768096" fontAlgn="t">
                        <a:spcAft>
                          <a:spcPts val="600"/>
                        </a:spcAft>
                      </a:pPr>
                      <a:r>
                        <a:rPr lang="en-US" sz="24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3.</a:t>
                      </a:r>
                      <a:r>
                        <a:rPr lang="en-US" sz="2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Aftabul</a:t>
                      </a:r>
                      <a:r>
                        <a:rPr lang="en-US" sz="2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Kanzan</a:t>
                      </a:r>
                      <a:endParaRPr lang="en-US" sz="2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154345" marR="154345" marT="0" marB="0"/>
                </a:tc>
                <a:tc>
                  <a:txBody>
                    <a:bodyPr/>
                    <a:lstStyle/>
                    <a:p>
                      <a:pPr algn="l" defTabSz="768096" fontAlgn="t">
                        <a:spcAft>
                          <a:spcPts val="600"/>
                        </a:spcAft>
                      </a:pPr>
                      <a:r>
                        <a:rPr lang="en-US" sz="24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23-55305-3</a:t>
                      </a:r>
                      <a:endParaRPr lang="en-US" sz="24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54345" marR="154345" marT="0" marB="0"/>
                </a:tc>
                <a:extLst>
                  <a:ext uri="{0D108BD9-81ED-4DB2-BD59-A6C34878D82A}">
                    <a16:rowId xmlns:a16="http://schemas.microsoft.com/office/drawing/2014/main" val="3565489027"/>
                  </a:ext>
                </a:extLst>
              </a:tr>
              <a:tr h="4485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4.</a:t>
                      </a:r>
                      <a:r>
                        <a:rPr lang="en-US" sz="2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Dipro</a:t>
                      </a:r>
                      <a:endParaRPr lang="en-US" sz="2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Roboto" panose="02000000000000000000" pitchFamily="2" charset="0"/>
                        <a:cs typeface="Times New Roman" panose="02020603050405020304" pitchFamily="18" charset="0"/>
                      </a:endParaRPr>
                    </a:p>
                  </a:txBody>
                  <a:tcPr marL="154345" marR="154345" marT="0" marB="0"/>
                </a:tc>
                <a:tc>
                  <a:txBody>
                    <a:bodyPr/>
                    <a:lstStyle/>
                    <a:p>
                      <a:pPr algn="l" defTabSz="768096" fontAlgn="t">
                        <a:spcAft>
                          <a:spcPts val="600"/>
                        </a:spcAft>
                      </a:pPr>
                      <a:r>
                        <a:rPr lang="en-US" sz="24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23-50440-1</a:t>
                      </a:r>
                      <a:endParaRPr lang="en-US" sz="24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54345" marR="154345" marT="0" marB="0"/>
                </a:tc>
                <a:extLst>
                  <a:ext uri="{0D108BD9-81ED-4DB2-BD59-A6C34878D82A}">
                    <a16:rowId xmlns:a16="http://schemas.microsoft.com/office/drawing/2014/main" val="2949877781"/>
                  </a:ext>
                </a:extLst>
              </a:tr>
              <a:tr h="530677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5. </a:t>
                      </a:r>
                      <a:r>
                        <a:rPr lang="en-US" sz="24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Samiul</a:t>
                      </a:r>
                      <a:r>
                        <a:rPr lang="en-US" sz="24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Roboto" panose="02000000000000000000" pitchFamily="2" charset="0"/>
                          <a:cs typeface="Times New Roman" panose="02020603050405020304" pitchFamily="18" charset="0"/>
                        </a:rPr>
                        <a:t> Alim Siam</a:t>
                      </a:r>
                    </a:p>
                  </a:txBody>
                  <a:tcPr marL="154345" marR="154345" marT="0" marB="0"/>
                </a:tc>
                <a:tc>
                  <a:txBody>
                    <a:bodyPr/>
                    <a:lstStyle/>
                    <a:p>
                      <a:pPr marL="0" marR="0" lvl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23-55309-3</a:t>
                      </a:r>
                    </a:p>
                  </a:txBody>
                  <a:tcPr marL="154345" marR="154345" marT="0" marB="0"/>
                </a:tc>
                <a:extLst>
                  <a:ext uri="{0D108BD9-81ED-4DB2-BD59-A6C34878D82A}">
                    <a16:rowId xmlns:a16="http://schemas.microsoft.com/office/drawing/2014/main" val="458365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7312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6" name="Google Shape;2106;p37"/>
          <p:cNvGrpSpPr/>
          <p:nvPr/>
        </p:nvGrpSpPr>
        <p:grpSpPr>
          <a:xfrm>
            <a:off x="801149" y="777348"/>
            <a:ext cx="628617" cy="640077"/>
            <a:chOff x="731647" y="573573"/>
            <a:chExt cx="635100" cy="734640"/>
          </a:xfrm>
        </p:grpSpPr>
        <p:grpSp>
          <p:nvGrpSpPr>
            <p:cNvPr id="2107" name="Google Shape;2107;p37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108" name="Google Shape;2108;p37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37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0" name="Google Shape;2110;p37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111" name="Google Shape;2111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2" name="Google Shape;2112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3" name="Google Shape;2113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14" name="Google Shape;2114;p37"/>
          <p:cNvGrpSpPr/>
          <p:nvPr/>
        </p:nvGrpSpPr>
        <p:grpSpPr>
          <a:xfrm>
            <a:off x="803991" y="1655351"/>
            <a:ext cx="628617" cy="619319"/>
            <a:chOff x="731647" y="1650460"/>
            <a:chExt cx="635100" cy="733490"/>
          </a:xfrm>
        </p:grpSpPr>
        <p:grpSp>
          <p:nvGrpSpPr>
            <p:cNvPr id="2115" name="Google Shape;2115;p37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2116" name="Google Shape;2116;p37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37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8" name="Google Shape;2118;p37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2119" name="Google Shape;2119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0" name="Google Shape;2120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1" name="Google Shape;2121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22" name="Google Shape;2122;p37"/>
          <p:cNvGrpSpPr/>
          <p:nvPr/>
        </p:nvGrpSpPr>
        <p:grpSpPr>
          <a:xfrm>
            <a:off x="790709" y="2654128"/>
            <a:ext cx="623034" cy="620047"/>
            <a:chOff x="731647" y="2728277"/>
            <a:chExt cx="635100" cy="734984"/>
          </a:xfrm>
        </p:grpSpPr>
        <p:grpSp>
          <p:nvGrpSpPr>
            <p:cNvPr id="2123" name="Google Shape;2123;p37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2124" name="Google Shape;2124;p37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37"/>
              <p:cNvSpPr/>
              <p:nvPr/>
            </p:nvSpPr>
            <p:spPr>
              <a:xfrm>
                <a:off x="1001931" y="2990252"/>
                <a:ext cx="465600" cy="465599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26" name="Google Shape;2126;p37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2127" name="Google Shape;2127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8" name="Google Shape;2128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9" name="Google Shape;2129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30" name="Google Shape;2130;p37"/>
          <p:cNvGrpSpPr/>
          <p:nvPr/>
        </p:nvGrpSpPr>
        <p:grpSpPr>
          <a:xfrm>
            <a:off x="793551" y="3608714"/>
            <a:ext cx="623034" cy="678139"/>
            <a:chOff x="731647" y="3806675"/>
            <a:chExt cx="635100" cy="734704"/>
          </a:xfrm>
        </p:grpSpPr>
        <p:grpSp>
          <p:nvGrpSpPr>
            <p:cNvPr id="2131" name="Google Shape;2131;p37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2132" name="Google Shape;2132;p37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37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34" name="Google Shape;2134;p37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2135" name="Google Shape;2135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6" name="Google Shape;2136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7" name="Google Shape;2137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2138" name="Google Shape;2138;p37"/>
          <p:cNvSpPr txBox="1">
            <a:spLocks noGrp="1"/>
          </p:cNvSpPr>
          <p:nvPr>
            <p:ph type="title"/>
          </p:nvPr>
        </p:nvSpPr>
        <p:spPr>
          <a:xfrm>
            <a:off x="2368282" y="-206156"/>
            <a:ext cx="4153099" cy="106157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Table of Contents</a:t>
            </a:r>
            <a:endParaRPr sz="3600" b="1" dirty="0">
              <a:solidFill>
                <a:schemeClr val="accent5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139" name="Google Shape;2139;p37"/>
          <p:cNvSpPr txBox="1">
            <a:spLocks noGrp="1"/>
          </p:cNvSpPr>
          <p:nvPr>
            <p:ph type="subTitle" idx="2"/>
          </p:nvPr>
        </p:nvSpPr>
        <p:spPr>
          <a:xfrm>
            <a:off x="1709905" y="767839"/>
            <a:ext cx="2615100" cy="7156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Theory</a:t>
            </a:r>
            <a:endParaRPr sz="1800" b="1" dirty="0">
              <a:solidFill>
                <a:schemeClr val="accent3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Barlow Semi Condensed"/>
            </a:endParaRPr>
          </a:p>
        </p:txBody>
      </p:sp>
      <p:sp>
        <p:nvSpPr>
          <p:cNvPr id="2142" name="Google Shape;2142;p37"/>
          <p:cNvSpPr txBox="1">
            <a:spLocks noGrp="1"/>
          </p:cNvSpPr>
          <p:nvPr>
            <p:ph type="subTitle" idx="4"/>
          </p:nvPr>
        </p:nvSpPr>
        <p:spPr>
          <a:xfrm>
            <a:off x="1709905" y="1669658"/>
            <a:ext cx="2615100" cy="7177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Apparatus</a:t>
            </a:r>
            <a:r>
              <a:rPr lang="en-US" sz="1800" b="1" dirty="0">
                <a:solidFill>
                  <a:schemeClr val="accent3">
                    <a:lumMod val="25000"/>
                  </a:schemeClr>
                </a:solidFill>
              </a:rPr>
              <a:t> </a:t>
            </a:r>
            <a:endParaRPr sz="1800" b="1" dirty="0">
              <a:solidFill>
                <a:schemeClr val="accent3">
                  <a:lumMod val="25000"/>
                </a:schemeClr>
              </a:solidFill>
            </a:endParaRPr>
          </a:p>
        </p:txBody>
      </p:sp>
      <p:sp>
        <p:nvSpPr>
          <p:cNvPr id="2144" name="Google Shape;2144;p37"/>
          <p:cNvSpPr txBox="1">
            <a:spLocks noGrp="1"/>
          </p:cNvSpPr>
          <p:nvPr>
            <p:ph type="subTitle" idx="6"/>
          </p:nvPr>
        </p:nvSpPr>
        <p:spPr>
          <a:xfrm>
            <a:off x="1669851" y="2657516"/>
            <a:ext cx="2615100" cy="7189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Procedure </a:t>
            </a:r>
            <a:br>
              <a:rPr lang="en-US" sz="1800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7" name="Google Shape;2147;p37"/>
          <p:cNvSpPr txBox="1">
            <a:spLocks noGrp="1"/>
          </p:cNvSpPr>
          <p:nvPr>
            <p:ph type="title" idx="9"/>
          </p:nvPr>
        </p:nvSpPr>
        <p:spPr>
          <a:xfrm>
            <a:off x="882845" y="879862"/>
            <a:ext cx="452676" cy="35085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148" name="Google Shape;2148;p37"/>
          <p:cNvSpPr txBox="1">
            <a:spLocks noGrp="1"/>
          </p:cNvSpPr>
          <p:nvPr>
            <p:ph type="title" idx="13"/>
          </p:nvPr>
        </p:nvSpPr>
        <p:spPr>
          <a:xfrm>
            <a:off x="877878" y="1843564"/>
            <a:ext cx="452676" cy="2016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149" name="Google Shape;2149;p37"/>
          <p:cNvSpPr txBox="1">
            <a:spLocks noGrp="1"/>
          </p:cNvSpPr>
          <p:nvPr>
            <p:ph type="title" idx="14"/>
          </p:nvPr>
        </p:nvSpPr>
        <p:spPr>
          <a:xfrm>
            <a:off x="872577" y="2815568"/>
            <a:ext cx="468357" cy="24221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150" name="Google Shape;2150;p37"/>
          <p:cNvSpPr txBox="1">
            <a:spLocks noGrp="1"/>
          </p:cNvSpPr>
          <p:nvPr>
            <p:ph type="title" idx="15"/>
          </p:nvPr>
        </p:nvSpPr>
        <p:spPr>
          <a:xfrm>
            <a:off x="834880" y="3708816"/>
            <a:ext cx="539481" cy="43371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261" name="Google Shape;2144;p37"/>
          <p:cNvSpPr txBox="1">
            <a:spLocks noGrp="1"/>
          </p:cNvSpPr>
          <p:nvPr>
            <p:ph type="subTitle" idx="6"/>
          </p:nvPr>
        </p:nvSpPr>
        <p:spPr>
          <a:xfrm>
            <a:off x="1709905" y="3678222"/>
            <a:ext cx="2615100" cy="6428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Data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oogle Shape;2106;p37">
            <a:extLst>
              <a:ext uri="{FF2B5EF4-FFF2-40B4-BE49-F238E27FC236}">
                <a16:creationId xmlns:a16="http://schemas.microsoft.com/office/drawing/2014/main" id="{F75E3AFE-0965-3A9E-6247-BA3D5DCF191F}"/>
              </a:ext>
            </a:extLst>
          </p:cNvPr>
          <p:cNvGrpSpPr/>
          <p:nvPr/>
        </p:nvGrpSpPr>
        <p:grpSpPr>
          <a:xfrm>
            <a:off x="5487242" y="3584724"/>
            <a:ext cx="593177" cy="634092"/>
            <a:chOff x="731647" y="573573"/>
            <a:chExt cx="635100" cy="734640"/>
          </a:xfrm>
        </p:grpSpPr>
        <p:grpSp>
          <p:nvGrpSpPr>
            <p:cNvPr id="11" name="Google Shape;2107;p37">
              <a:extLst>
                <a:ext uri="{FF2B5EF4-FFF2-40B4-BE49-F238E27FC236}">
                  <a16:creationId xmlns:a16="http://schemas.microsoft.com/office/drawing/2014/main" id="{B78E00F1-2B78-475E-3385-06012598B886}"/>
                </a:ext>
              </a:extLst>
            </p:cNvPr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16" name="Google Shape;2108;p37">
                <a:extLst>
                  <a:ext uri="{FF2B5EF4-FFF2-40B4-BE49-F238E27FC236}">
                    <a16:creationId xmlns:a16="http://schemas.microsoft.com/office/drawing/2014/main" id="{D7FB9FC4-4F16-DD97-E733-87C1B9F91517}"/>
                  </a:ext>
                </a:extLst>
              </p:cNvPr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2109;p37">
                <a:extLst>
                  <a:ext uri="{FF2B5EF4-FFF2-40B4-BE49-F238E27FC236}">
                    <a16:creationId xmlns:a16="http://schemas.microsoft.com/office/drawing/2014/main" id="{8D67AE75-9BE4-3DE3-776E-349444A566B4}"/>
                  </a:ext>
                </a:extLst>
              </p:cNvPr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" name="Google Shape;2110;p37">
              <a:extLst>
                <a:ext uri="{FF2B5EF4-FFF2-40B4-BE49-F238E27FC236}">
                  <a16:creationId xmlns:a16="http://schemas.microsoft.com/office/drawing/2014/main" id="{E6CE8EC9-CA86-E7E6-C171-BE4F39F47356}"/>
                </a:ext>
              </a:extLst>
            </p:cNvPr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13" name="Google Shape;2111;p37">
                <a:extLst>
                  <a:ext uri="{FF2B5EF4-FFF2-40B4-BE49-F238E27FC236}">
                    <a16:creationId xmlns:a16="http://schemas.microsoft.com/office/drawing/2014/main" id="{6DF9B924-304E-FDB2-B399-38F1D0DD6D22}"/>
                  </a:ext>
                </a:extLst>
              </p:cNvPr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4" name="Google Shape;2112;p37">
                <a:extLst>
                  <a:ext uri="{FF2B5EF4-FFF2-40B4-BE49-F238E27FC236}">
                    <a16:creationId xmlns:a16="http://schemas.microsoft.com/office/drawing/2014/main" id="{9ADCB623-3CDF-83FD-A46F-D92828AC858D}"/>
                  </a:ext>
                </a:extLst>
              </p:cNvPr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5" name="Google Shape;2113;p37">
                <a:extLst>
                  <a:ext uri="{FF2B5EF4-FFF2-40B4-BE49-F238E27FC236}">
                    <a16:creationId xmlns:a16="http://schemas.microsoft.com/office/drawing/2014/main" id="{987635F0-50F3-DA1B-0556-1294A928F91F}"/>
                  </a:ext>
                </a:extLst>
              </p:cNvPr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6" name="Google Shape;2106;p37">
            <a:extLst>
              <a:ext uri="{FF2B5EF4-FFF2-40B4-BE49-F238E27FC236}">
                <a16:creationId xmlns:a16="http://schemas.microsoft.com/office/drawing/2014/main" id="{7033B4BB-DB70-40F2-5D4B-FCDA36E49BB4}"/>
              </a:ext>
            </a:extLst>
          </p:cNvPr>
          <p:cNvGrpSpPr/>
          <p:nvPr/>
        </p:nvGrpSpPr>
        <p:grpSpPr>
          <a:xfrm>
            <a:off x="5505593" y="2626417"/>
            <a:ext cx="580820" cy="583461"/>
            <a:chOff x="731647" y="573573"/>
            <a:chExt cx="635100" cy="734640"/>
          </a:xfrm>
        </p:grpSpPr>
        <p:grpSp>
          <p:nvGrpSpPr>
            <p:cNvPr id="27" name="Google Shape;2107;p37">
              <a:extLst>
                <a:ext uri="{FF2B5EF4-FFF2-40B4-BE49-F238E27FC236}">
                  <a16:creationId xmlns:a16="http://schemas.microsoft.com/office/drawing/2014/main" id="{4825A9C0-C23C-4519-ACC3-CF0D40DD210F}"/>
                </a:ext>
              </a:extLst>
            </p:cNvPr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32" name="Google Shape;2108;p37">
                <a:extLst>
                  <a:ext uri="{FF2B5EF4-FFF2-40B4-BE49-F238E27FC236}">
                    <a16:creationId xmlns:a16="http://schemas.microsoft.com/office/drawing/2014/main" id="{EE6F72BB-9ADD-B6E9-3090-302421F234A5}"/>
                  </a:ext>
                </a:extLst>
              </p:cNvPr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2109;p37">
                <a:extLst>
                  <a:ext uri="{FF2B5EF4-FFF2-40B4-BE49-F238E27FC236}">
                    <a16:creationId xmlns:a16="http://schemas.microsoft.com/office/drawing/2014/main" id="{DBA931E1-790F-A5ED-7A5C-146F8A81AE81}"/>
                  </a:ext>
                </a:extLst>
              </p:cNvPr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" name="Google Shape;2110;p37">
              <a:extLst>
                <a:ext uri="{FF2B5EF4-FFF2-40B4-BE49-F238E27FC236}">
                  <a16:creationId xmlns:a16="http://schemas.microsoft.com/office/drawing/2014/main" id="{708C6695-8369-8CEB-1748-FFD2D7D75B72}"/>
                </a:ext>
              </a:extLst>
            </p:cNvPr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9" name="Google Shape;2111;p37">
                <a:extLst>
                  <a:ext uri="{FF2B5EF4-FFF2-40B4-BE49-F238E27FC236}">
                    <a16:creationId xmlns:a16="http://schemas.microsoft.com/office/drawing/2014/main" id="{1220A721-8C68-B7FD-AFCA-EDDF8E1114A5}"/>
                  </a:ext>
                </a:extLst>
              </p:cNvPr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30" name="Google Shape;2112;p37">
                <a:extLst>
                  <a:ext uri="{FF2B5EF4-FFF2-40B4-BE49-F238E27FC236}">
                    <a16:creationId xmlns:a16="http://schemas.microsoft.com/office/drawing/2014/main" id="{8FC09D34-C03A-A43F-3F79-C8527D924B3F}"/>
                  </a:ext>
                </a:extLst>
              </p:cNvPr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31" name="Google Shape;2113;p37">
                <a:extLst>
                  <a:ext uri="{FF2B5EF4-FFF2-40B4-BE49-F238E27FC236}">
                    <a16:creationId xmlns:a16="http://schemas.microsoft.com/office/drawing/2014/main" id="{00E825E3-4771-792B-42CC-C8DC1645F06E}"/>
                  </a:ext>
                </a:extLst>
              </p:cNvPr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34" name="Google Shape;2106;p37">
            <a:extLst>
              <a:ext uri="{FF2B5EF4-FFF2-40B4-BE49-F238E27FC236}">
                <a16:creationId xmlns:a16="http://schemas.microsoft.com/office/drawing/2014/main" id="{9CF5E892-56FF-E384-2E4A-9AE81A5797B8}"/>
              </a:ext>
            </a:extLst>
          </p:cNvPr>
          <p:cNvGrpSpPr/>
          <p:nvPr/>
        </p:nvGrpSpPr>
        <p:grpSpPr>
          <a:xfrm>
            <a:off x="5487242" y="734424"/>
            <a:ext cx="580820" cy="622238"/>
            <a:chOff x="731647" y="573573"/>
            <a:chExt cx="635100" cy="734640"/>
          </a:xfrm>
        </p:grpSpPr>
        <p:grpSp>
          <p:nvGrpSpPr>
            <p:cNvPr id="35" name="Google Shape;2107;p37">
              <a:extLst>
                <a:ext uri="{FF2B5EF4-FFF2-40B4-BE49-F238E27FC236}">
                  <a16:creationId xmlns:a16="http://schemas.microsoft.com/office/drawing/2014/main" id="{1DE4F0B5-DA10-B178-FF90-5F3FC7F4293D}"/>
                </a:ext>
              </a:extLst>
            </p:cNvPr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40" name="Google Shape;2108;p37">
                <a:extLst>
                  <a:ext uri="{FF2B5EF4-FFF2-40B4-BE49-F238E27FC236}">
                    <a16:creationId xmlns:a16="http://schemas.microsoft.com/office/drawing/2014/main" id="{05B118EB-12B3-E6EC-E413-2C4B443E8DCA}"/>
                  </a:ext>
                </a:extLst>
              </p:cNvPr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2109;p37">
                <a:extLst>
                  <a:ext uri="{FF2B5EF4-FFF2-40B4-BE49-F238E27FC236}">
                    <a16:creationId xmlns:a16="http://schemas.microsoft.com/office/drawing/2014/main" id="{D048237C-6FFA-948A-5363-F73B27229DEC}"/>
                  </a:ext>
                </a:extLst>
              </p:cNvPr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" name="Google Shape;2110;p37">
              <a:extLst>
                <a:ext uri="{FF2B5EF4-FFF2-40B4-BE49-F238E27FC236}">
                  <a16:creationId xmlns:a16="http://schemas.microsoft.com/office/drawing/2014/main" id="{6CF59A31-91BA-1160-2A3C-EBCDFB5BFB1E}"/>
                </a:ext>
              </a:extLst>
            </p:cNvPr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37" name="Google Shape;2111;p37">
                <a:extLst>
                  <a:ext uri="{FF2B5EF4-FFF2-40B4-BE49-F238E27FC236}">
                    <a16:creationId xmlns:a16="http://schemas.microsoft.com/office/drawing/2014/main" id="{64CE9B75-B0EC-494C-5604-51B3087D2C51}"/>
                  </a:ext>
                </a:extLst>
              </p:cNvPr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38" name="Google Shape;2112;p37">
                <a:extLst>
                  <a:ext uri="{FF2B5EF4-FFF2-40B4-BE49-F238E27FC236}">
                    <a16:creationId xmlns:a16="http://schemas.microsoft.com/office/drawing/2014/main" id="{CA09FB98-26E7-4023-8094-0FF6664DA295}"/>
                  </a:ext>
                </a:extLst>
              </p:cNvPr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39" name="Google Shape;2113;p37">
                <a:extLst>
                  <a:ext uri="{FF2B5EF4-FFF2-40B4-BE49-F238E27FC236}">
                    <a16:creationId xmlns:a16="http://schemas.microsoft.com/office/drawing/2014/main" id="{217FE4E0-C278-A7F7-1A29-9A83A5184D0D}"/>
                  </a:ext>
                </a:extLst>
              </p:cNvPr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42" name="Google Shape;2106;p37">
            <a:extLst>
              <a:ext uri="{FF2B5EF4-FFF2-40B4-BE49-F238E27FC236}">
                <a16:creationId xmlns:a16="http://schemas.microsoft.com/office/drawing/2014/main" id="{E8DFC056-4B70-9061-38EC-6A20AE75BFF0}"/>
              </a:ext>
            </a:extLst>
          </p:cNvPr>
          <p:cNvGrpSpPr/>
          <p:nvPr/>
        </p:nvGrpSpPr>
        <p:grpSpPr>
          <a:xfrm>
            <a:off x="5493398" y="1634192"/>
            <a:ext cx="580820" cy="600039"/>
            <a:chOff x="731647" y="573573"/>
            <a:chExt cx="635100" cy="734640"/>
          </a:xfrm>
        </p:grpSpPr>
        <p:grpSp>
          <p:nvGrpSpPr>
            <p:cNvPr id="43" name="Google Shape;2107;p37">
              <a:extLst>
                <a:ext uri="{FF2B5EF4-FFF2-40B4-BE49-F238E27FC236}">
                  <a16:creationId xmlns:a16="http://schemas.microsoft.com/office/drawing/2014/main" id="{186A03FF-5455-BE3D-5401-6B34E828856B}"/>
                </a:ext>
              </a:extLst>
            </p:cNvPr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48" name="Google Shape;2108;p37">
                <a:extLst>
                  <a:ext uri="{FF2B5EF4-FFF2-40B4-BE49-F238E27FC236}">
                    <a16:creationId xmlns:a16="http://schemas.microsoft.com/office/drawing/2014/main" id="{B30B57A0-5468-E0F5-BDCD-31363BBD29FC}"/>
                  </a:ext>
                </a:extLst>
              </p:cNvPr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2109;p37">
                <a:extLst>
                  <a:ext uri="{FF2B5EF4-FFF2-40B4-BE49-F238E27FC236}">
                    <a16:creationId xmlns:a16="http://schemas.microsoft.com/office/drawing/2014/main" id="{AFCD7D35-C2D3-8F15-F2DD-144795751EA6}"/>
                  </a:ext>
                </a:extLst>
              </p:cNvPr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" name="Google Shape;2110;p37">
              <a:extLst>
                <a:ext uri="{FF2B5EF4-FFF2-40B4-BE49-F238E27FC236}">
                  <a16:creationId xmlns:a16="http://schemas.microsoft.com/office/drawing/2014/main" id="{7EC60CB9-1C55-4224-73FA-FDE3056C5C2E}"/>
                </a:ext>
              </a:extLst>
            </p:cNvPr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45" name="Google Shape;2111;p37">
                <a:extLst>
                  <a:ext uri="{FF2B5EF4-FFF2-40B4-BE49-F238E27FC236}">
                    <a16:creationId xmlns:a16="http://schemas.microsoft.com/office/drawing/2014/main" id="{FFA796AC-3407-9A35-C84F-2CAEAC6BB079}"/>
                  </a:ext>
                </a:extLst>
              </p:cNvPr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46" name="Google Shape;2112;p37">
                <a:extLst>
                  <a:ext uri="{FF2B5EF4-FFF2-40B4-BE49-F238E27FC236}">
                    <a16:creationId xmlns:a16="http://schemas.microsoft.com/office/drawing/2014/main" id="{18B6C90D-850D-CF69-8999-48F741C6AAFC}"/>
                  </a:ext>
                </a:extLst>
              </p:cNvPr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47" name="Google Shape;2113;p37">
                <a:extLst>
                  <a:ext uri="{FF2B5EF4-FFF2-40B4-BE49-F238E27FC236}">
                    <a16:creationId xmlns:a16="http://schemas.microsoft.com/office/drawing/2014/main" id="{0C104528-83A8-C5C5-31EB-38A1CD5D3372}"/>
                  </a:ext>
                </a:extLst>
              </p:cNvPr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637AF96E-52FE-E9D4-45AD-B72789AE17E5}"/>
              </a:ext>
            </a:extLst>
          </p:cNvPr>
          <p:cNvSpPr txBox="1"/>
          <p:nvPr/>
        </p:nvSpPr>
        <p:spPr>
          <a:xfrm>
            <a:off x="3479295" y="798117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bg1"/>
                </a:solidFill>
              </a:rPr>
              <a:t>05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0400D8F-6CD3-6BDC-69FC-33E54FEC544B}"/>
              </a:ext>
            </a:extLst>
          </p:cNvPr>
          <p:cNvSpPr txBox="1"/>
          <p:nvPr/>
        </p:nvSpPr>
        <p:spPr>
          <a:xfrm>
            <a:off x="3180603" y="1692193"/>
            <a:ext cx="5230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bg1"/>
                </a:solidFill>
              </a:rPr>
              <a:t>06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98D3272-3DD4-4ACC-EB71-FAE024E029BB}"/>
              </a:ext>
            </a:extLst>
          </p:cNvPr>
          <p:cNvSpPr txBox="1"/>
          <p:nvPr/>
        </p:nvSpPr>
        <p:spPr>
          <a:xfrm>
            <a:off x="3103168" y="2673212"/>
            <a:ext cx="538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bg1"/>
                </a:solidFill>
              </a:rPr>
              <a:t>07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480C6D-B420-74CE-6817-2C9EF9321532}"/>
              </a:ext>
            </a:extLst>
          </p:cNvPr>
          <p:cNvSpPr txBox="1"/>
          <p:nvPr/>
        </p:nvSpPr>
        <p:spPr>
          <a:xfrm>
            <a:off x="3079187" y="3657853"/>
            <a:ext cx="542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bg1"/>
                </a:solidFill>
              </a:rPr>
              <a:t>08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50674E8-B7AF-688D-6DE8-9C669B0ABDA7}"/>
              </a:ext>
            </a:extLst>
          </p:cNvPr>
          <p:cNvSpPr txBox="1"/>
          <p:nvPr/>
        </p:nvSpPr>
        <p:spPr>
          <a:xfrm>
            <a:off x="6426000" y="773488"/>
            <a:ext cx="543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and Calculation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371D31E-BCBC-F15D-D182-DA6DBE616512}"/>
              </a:ext>
            </a:extLst>
          </p:cNvPr>
          <p:cNvSpPr txBox="1"/>
          <p:nvPr/>
        </p:nvSpPr>
        <p:spPr>
          <a:xfrm>
            <a:off x="6426000" y="1620745"/>
            <a:ext cx="543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</a:t>
            </a:r>
            <a:b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ea typeface="Barlow Semi Condensed"/>
                <a:cs typeface="Times New Roman" panose="02020603050405020304" pitchFamily="18" charset="0"/>
                <a:sym typeface="Barlow Semi Condensed"/>
              </a:rPr>
            </a:br>
            <a:endParaRPr lang="en-US" sz="1800" b="1" dirty="0">
              <a:solidFill>
                <a:schemeClr val="accent3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20C62B0-53E7-7679-F013-7F9D9A5160BB}"/>
              </a:ext>
            </a:extLst>
          </p:cNvPr>
          <p:cNvSpPr txBox="1"/>
          <p:nvPr/>
        </p:nvSpPr>
        <p:spPr>
          <a:xfrm>
            <a:off x="6426000" y="2688451"/>
            <a:ext cx="543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</p:txBody>
      </p:sp>
      <p:sp>
        <p:nvSpPr>
          <p:cNvPr id="2049" name="TextBox 2048">
            <a:extLst>
              <a:ext uri="{FF2B5EF4-FFF2-40B4-BE49-F238E27FC236}">
                <a16:creationId xmlns:a16="http://schemas.microsoft.com/office/drawing/2014/main" id="{D074F0E1-B036-F9A4-304D-5069A9465E79}"/>
              </a:ext>
            </a:extLst>
          </p:cNvPr>
          <p:cNvSpPr txBox="1"/>
          <p:nvPr/>
        </p:nvSpPr>
        <p:spPr>
          <a:xfrm>
            <a:off x="6426000" y="3686893"/>
            <a:ext cx="543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endParaRPr lang="en-US" sz="1800" dirty="0">
              <a:solidFill>
                <a:schemeClr val="accent3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0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0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0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8" grpId="0"/>
      <p:bldP spid="2139" grpId="0" build="p"/>
      <p:bldP spid="2142" grpId="0" build="p"/>
      <p:bldP spid="2144" grpId="0" build="p"/>
      <p:bldP spid="2147" grpId="0"/>
      <p:bldP spid="2148" grpId="0"/>
      <p:bldP spid="2149" grpId="0"/>
      <p:bldP spid="2150" grpId="0"/>
      <p:bldP spid="261" grpId="0" build="p"/>
      <p:bldP spid="51" grpId="0"/>
      <p:bldP spid="53" grpId="0"/>
      <p:bldP spid="55" grpId="0"/>
      <p:bldP spid="57" grpId="0"/>
      <p:bldP spid="59" grpId="0"/>
      <p:bldP spid="61" grpId="0"/>
      <p:bldP spid="63" grpId="0"/>
      <p:bldP spid="204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/>
          <p:cNvSpPr txBox="1">
            <a:spLocks noGrp="1"/>
          </p:cNvSpPr>
          <p:nvPr>
            <p:ph type="title"/>
          </p:nvPr>
        </p:nvSpPr>
        <p:spPr>
          <a:xfrm>
            <a:off x="2382012" y="1988492"/>
            <a:ext cx="4379976" cy="1847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br>
              <a:rPr lang="en-US" sz="1000" dirty="0">
                <a:solidFill>
                  <a:schemeClr val="accent3">
                    <a:lumMod val="25000"/>
                  </a:schemeClr>
                </a:solidFill>
                <a:effectLst/>
              </a:rPr>
            </a:br>
            <a:r>
              <a:rPr lang="en-US" sz="3200" b="1" dirty="0">
                <a:solidFill>
                  <a:schemeClr val="accent3">
                    <a:lumMod val="25000"/>
                  </a:schemeClr>
                </a:solidFill>
              </a:rPr>
              <a:t>Theory</a:t>
            </a:r>
            <a:br>
              <a:rPr lang="en-US" sz="1800" dirty="0">
                <a:solidFill>
                  <a:schemeClr val="accent3">
                    <a:lumMod val="25000"/>
                  </a:schemeClr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</a:br>
            <a:endParaRPr sz="1800" dirty="0">
              <a:solidFill>
                <a:schemeClr val="accent3">
                  <a:lumMod val="25000"/>
                </a:schemeClr>
              </a:solidFill>
            </a:endParaRPr>
          </a:p>
        </p:txBody>
      </p:sp>
      <p:sp>
        <p:nvSpPr>
          <p:cNvPr id="2156" name="Google Shape;2156;p38"/>
          <p:cNvSpPr txBox="1">
            <a:spLocks noGrp="1"/>
          </p:cNvSpPr>
          <p:nvPr>
            <p:ph type="title" idx="2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5" grpId="0"/>
      <p:bldP spid="215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3F78E55-BB7F-D063-7C3D-51F42B23422D}"/>
                  </a:ext>
                </a:extLst>
              </p:cNvPr>
              <p:cNvSpPr txBox="1"/>
              <p:nvPr/>
            </p:nvSpPr>
            <p:spPr>
              <a:xfrm>
                <a:off x="-1" y="74611"/>
                <a:ext cx="8042402" cy="61973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rtl="0"/>
                <a:r>
                  <a:rPr lang="en-US" b="1" dirty="0">
                    <a:solidFill>
                      <a:schemeClr val="accent3">
                        <a:lumMod val="25000"/>
                      </a:schemeClr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1.Specific Heat ( S ): </a:t>
                </a:r>
                <a:r>
                  <a:rPr lang="en-US" dirty="0">
                    <a:solidFill>
                      <a:schemeClr val="tx1">
                        <a:lumMod val="50000"/>
                      </a:schemeClr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Heat needed to raise the temperature of 1 unit mass by 1°C.</a:t>
                </a:r>
              </a:p>
              <a:p>
                <a:pPr rtl="0"/>
                <a:endParaRPr lang="en-US" dirty="0">
                  <a:solidFill>
                    <a:schemeClr val="tx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rtl="0"/>
                <a:r>
                  <a:rPr lang="en-US" b="1" i="0" dirty="0">
                    <a:solidFill>
                      <a:schemeClr val="accent3">
                        <a:lumMod val="25000"/>
                      </a:schemeClr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2.Theory of Cooling</a:t>
                </a:r>
                <a:r>
                  <a:rPr lang="en-US" b="0" i="0" dirty="0">
                    <a:solidFill>
                      <a:schemeClr val="accent3">
                        <a:lumMod val="25000"/>
                      </a:schemeClr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b="0" i="0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Rate of cooling is directly proportional to the temperature difference between an object and its surroundings applicable for small temperature differences.</a:t>
                </a:r>
                <a:endParaRPr lang="en-US" dirty="0">
                  <a:solidFill>
                    <a:schemeClr val="accent3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rtl="0"/>
                <a:endParaRPr lang="en-US" dirty="0">
                  <a:solidFill>
                    <a:schemeClr val="accent3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:r>
                  <a:rPr lang="en-US" b="1" i="0" dirty="0">
                    <a:solidFill>
                      <a:schemeClr val="accent3">
                        <a:lumMod val="25000"/>
                      </a:schemeClr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3.Experimental Setup</a:t>
                </a:r>
                <a:r>
                  <a:rPr lang="en-US" b="0" i="0" dirty="0">
                    <a:solidFill>
                      <a:schemeClr val="accent3">
                        <a:lumMod val="25000"/>
                      </a:schemeClr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b="0" i="0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Calorimeter with stirrer (</a:t>
                </a:r>
                <a:r>
                  <a:rPr lang="en-US" b="0" i="1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b="0" i="0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kg) made of material with specific heat ,</a:t>
                </a:r>
                <a:r>
                  <a:rPr lang="en-US" b="0" i="1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S=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D0D0D"/>
                        </a:solidFill>
                        <a:effectLst/>
                        <a:latin typeface="Cambria Math" panose="02040503050406030204" pitchFamily="18" charset="0"/>
                      </a:rPr>
                      <m:t>𝐽𝑘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b="0" i="1" dirty="0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b="0" i="0" dirty="0">
                  <a:solidFill>
                    <a:srgbClr val="0D0D0D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b="0" i="0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Mass of liquid (</a:t>
                </a:r>
                <a:r>
                  <a:rPr lang="en-US" b="0" i="1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b="0" i="0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1​ kg) with specific heat </a:t>
                </a:r>
                <a:r>
                  <a:rPr lang="en-US" b="0" i="1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b="0" i="0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1​</a:t>
                </a:r>
                <a:r>
                  <a:rPr lang="en-US" dirty="0">
                    <a:solidFill>
                      <a:srgbClr val="0D0D0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b="0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D0D0D"/>
                        </a:solidFill>
                        <a:effectLst/>
                        <a:latin typeface="Cambria Math" panose="02040503050406030204" pitchFamily="18" charset="0"/>
                      </a:rPr>
                      <m:t>𝐽𝑘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b="0" i="1" dirty="0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b="0" i="0" dirty="0">
                  <a:solidFill>
                    <a:srgbClr val="0D0D0D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b="0" i="0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Mass of water (</a:t>
                </a:r>
                <a:r>
                  <a:rPr lang="en-US" b="0" i="1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b="0" i="0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2​ kg) with specific heat </a:t>
                </a:r>
                <a:r>
                  <a:rPr lang="en-US" b="0" i="1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b="0" i="0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2​</a:t>
                </a:r>
                <a:r>
                  <a:rPr lang="en-US" dirty="0">
                    <a:solidFill>
                      <a:srgbClr val="0D0D0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b="0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D0D0D"/>
                        </a:solidFill>
                        <a:effectLst/>
                        <a:latin typeface="Cambria Math" panose="02040503050406030204" pitchFamily="18" charset="0"/>
                      </a:rPr>
                      <m:t>𝐽𝑘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b="0" i="1" dirty="0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b="0" i="0" dirty="0">
                  <a:solidFill>
                    <a:srgbClr val="0D0D0D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0" i="0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taken to cool the liquid from temperature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b="0" i="1" dirty="0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b="0" i="1" dirty="0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l-GR" b="0" i="1" dirty="0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0" i="0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l-GR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l-GR" i="1" dirty="0">
                        <a:solidFill>
                          <a:srgbClr val="0D0D0D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b="0" i="0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= </a:t>
                </a:r>
                <a:r>
                  <a:rPr lang="en-US" b="0" i="1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1200" b="0" i="0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b="0" i="0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sec.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0" i="0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taken to cool water from temperatures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l-GR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l-GR" i="1" dirty="0">
                        <a:solidFill>
                          <a:srgbClr val="0D0D0D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i="0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b="0" i="1" dirty="0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b="0" i="1" dirty="0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l-GR" b="0" i="1" dirty="0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l-GR" b="0" i="1" dirty="0" smtClean="0">
                        <a:solidFill>
                          <a:srgbClr val="0D0D0D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b="0" i="0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= </a:t>
                </a:r>
                <a:r>
                  <a:rPr lang="en-US" b="0" i="1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1200" b="0" i="0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b="0" i="0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sec.</a:t>
                </a:r>
              </a:p>
              <a:p>
                <a:pPr algn="l"/>
                <a:endParaRPr lang="en-US" dirty="0">
                  <a:solidFill>
                    <a:srgbClr val="0D0D0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:r>
                  <a:rPr lang="en-US" b="1" dirty="0">
                    <a:solidFill>
                      <a:schemeClr val="accent3">
                        <a:lumMod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b="1" i="0" dirty="0">
                    <a:solidFill>
                      <a:schemeClr val="accent3">
                        <a:lumMod val="25000"/>
                      </a:schemeClr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.Rate of Cooling Equations</a:t>
                </a:r>
                <a:r>
                  <a:rPr lang="en-US" b="0" i="0" dirty="0">
                    <a:solidFill>
                      <a:schemeClr val="accent3">
                        <a:lumMod val="25000"/>
                      </a:schemeClr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b="0" i="0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Rate of cooling of the liquid: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1" i="1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1" i="1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1600" b="1" i="1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sz="1600" b="1" i="1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1" i="1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b="1" i="1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1600" b="1" i="1" smtClean="0">
                        <a:solidFill>
                          <a:srgbClr val="0D0D0D"/>
                        </a:solidFill>
                        <a:effectLst/>
                        <a:latin typeface="Cambria Math" panose="02040503050406030204" pitchFamily="18" charset="0"/>
                      </a:rPr>
                      <m:t>𝑐𝑎𝑙</m:t>
                    </m:r>
                    <m:sSup>
                      <m:sSupPr>
                        <m:ctrlPr>
                          <a:rPr lang="en-US" sz="16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dirty="0" smtClean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16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1600" b="0" i="0" dirty="0">
                  <a:solidFill>
                    <a:srgbClr val="0D0D0D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b="0" i="0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Rate of cooling of water:</a:t>
                </a:r>
                <a:r>
                  <a:rPr lang="en-US" b="1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1600" b="1" i="1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1" i="1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1600" b="1" i="1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sz="1600" b="1" i="1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1" i="1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b="1" i="1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sz="1600" b="1" i="1" smtClean="0">
                        <a:solidFill>
                          <a:srgbClr val="0D0D0D"/>
                        </a:solidFill>
                        <a:effectLst/>
                        <a:latin typeface="Cambria Math" panose="02040503050406030204" pitchFamily="18" charset="0"/>
                      </a:rPr>
                      <m:t>𝑐𝑎𝑙</m:t>
                    </m:r>
                    <m:sSup>
                      <m:sSupPr>
                        <m:ctrlPr>
                          <a:rPr lang="en-US" sz="16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dirty="0" smtClean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1600" i="1" dirty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1600" b="0" i="0" dirty="0">
                  <a:solidFill>
                    <a:srgbClr val="0D0D0D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i="0" dirty="0">
                    <a:solidFill>
                      <a:schemeClr val="accent3">
                        <a:lumMod val="25000"/>
                      </a:schemeClr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5.Application of Newton’s Law of Cooling</a:t>
                </a:r>
                <a:r>
                  <a:rPr lang="en-US" b="0" i="0" dirty="0">
                    <a:solidFill>
                      <a:schemeClr val="accent3">
                        <a:lumMod val="25000"/>
                      </a:schemeClr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b="0" i="0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According to Newton’s law of cooling, the rate of cooling in both cases is equal.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0" i="0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1" i="1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1" i="1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1600" b="1" i="1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sz="1600" b="1" i="1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1" i="1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b="1" i="1" smtClean="0">
                            <a:solidFill>
                              <a:srgbClr val="0D0D0D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1" i="1" smtClean="0">
                                <a:solidFill>
                                  <a:srgbClr val="0D0D0D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1600" b="1" i="1" smtClean="0">
                        <a:solidFill>
                          <a:srgbClr val="0D0D0D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 b="0" i="0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sz="16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1600" b="1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1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1600" b="1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sz="1600" b="1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1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6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b="1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sz="16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den>
                    </m:f>
                  </m:oMath>
                </a14:m>
                <a:endParaRPr lang="en-US" sz="1600" b="0" i="0" dirty="0">
                  <a:solidFill>
                    <a:srgbClr val="0D0D0D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i="0" dirty="0">
                    <a:solidFill>
                      <a:schemeClr val="accent3">
                        <a:lumMod val="25000"/>
                      </a:schemeClr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6.Derivation for </a:t>
                </a:r>
                <a:r>
                  <a:rPr lang="en-US" b="1" i="1" dirty="0">
                    <a:solidFill>
                      <a:schemeClr val="accent3">
                        <a:lumMod val="25000"/>
                      </a:schemeClr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1200" b="1" i="0" dirty="0">
                    <a:solidFill>
                      <a:schemeClr val="accent3">
                        <a:lumMod val="25000"/>
                      </a:schemeClr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1​</a:t>
                </a:r>
                <a:r>
                  <a:rPr lang="en-US" b="0" i="0" dirty="0">
                    <a:solidFill>
                      <a:schemeClr val="accent3">
                        <a:lumMod val="25000"/>
                      </a:schemeClr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rgbClr val="0D0D0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sz="1600" b="0" i="1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1200" b="0" i="0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1600" b="0" i="0" dirty="0">
                    <a:solidFill>
                      <a:srgbClr val="0D0D0D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1600" b="1" dirty="0">
                    <a:solidFill>
                      <a:srgbClr val="0D0D0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sz="16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rgbClr val="0D0D0D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​</m:t>
                        </m:r>
                        <m:sSub>
                          <m:sSubPr>
                            <m:ctrlPr>
                              <a:rPr lang="en-US" sz="1600" i="1" dirty="0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dirty="0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dirty="0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1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1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1600" b="1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sz="1600" b="1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sz="16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1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600" b="1" i="1" smtClean="0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sz="16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b="1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sz="16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den>
                    </m:f>
                  </m:oMath>
                </a14:m>
                <a:endParaRPr lang="en-US" sz="1600" b="0" i="0" dirty="0">
                  <a:solidFill>
                    <a:srgbClr val="0D0D0D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:endParaRPr lang="en-US" dirty="0">
                  <a:solidFill>
                    <a:srgbClr val="0D0D0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:endParaRPr lang="en-US" b="0" i="0" dirty="0">
                  <a:solidFill>
                    <a:srgbClr val="0D0D0D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:endParaRPr lang="en-US" dirty="0">
                  <a:solidFill>
                    <a:srgbClr val="0D0D0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:endParaRPr lang="en-US" b="0" i="0" dirty="0">
                  <a:solidFill>
                    <a:srgbClr val="0D0D0D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rtl="0">
                  <a:buFont typeface="+mj-lt"/>
                  <a:buAutoNum type="arabicPeriod"/>
                </a:pPr>
                <a:endParaRPr lang="en-US" dirty="0">
                  <a:solidFill>
                    <a:schemeClr val="accent3">
                      <a:lumMod val="25000"/>
                    </a:schemeClr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3F78E55-BB7F-D063-7C3D-51F42B2342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74611"/>
                <a:ext cx="8042402" cy="6197338"/>
              </a:xfrm>
              <a:prstGeom prst="rect">
                <a:avLst/>
              </a:prstGeom>
              <a:blipFill>
                <a:blip r:embed="rId3"/>
                <a:stretch>
                  <a:fillRect l="-303" t="-197" r="-2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F129E8F-76FF-3D5D-B664-A56B334F43B8}"/>
              </a:ext>
            </a:extLst>
          </p:cNvPr>
          <p:cNvSpPr txBox="1"/>
          <p:nvPr/>
        </p:nvSpPr>
        <p:spPr>
          <a:xfrm>
            <a:off x="7325577" y="1360751"/>
            <a:ext cx="4845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815144-1103-D04B-131D-E9461D944473}"/>
              </a:ext>
            </a:extLst>
          </p:cNvPr>
          <p:cNvSpPr/>
          <p:nvPr/>
        </p:nvSpPr>
        <p:spPr>
          <a:xfrm>
            <a:off x="6878750" y="1386130"/>
            <a:ext cx="328450" cy="1538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C73F4C4-85F4-08CD-58CB-6E03692CF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599" y="1201244"/>
            <a:ext cx="3200009" cy="246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06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/>
          <p:cNvSpPr txBox="1">
            <a:spLocks noGrp="1"/>
          </p:cNvSpPr>
          <p:nvPr>
            <p:ph type="title"/>
          </p:nvPr>
        </p:nvSpPr>
        <p:spPr>
          <a:xfrm>
            <a:off x="3093862" y="2518954"/>
            <a:ext cx="3200400" cy="9435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br>
              <a:rPr lang="en-US" sz="18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</a:br>
            <a:endParaRPr sz="1800" dirty="0"/>
          </a:p>
        </p:txBody>
      </p:sp>
      <p:sp>
        <p:nvSpPr>
          <p:cNvPr id="2156" name="Google Shape;2156;p38"/>
          <p:cNvSpPr txBox="1">
            <a:spLocks noGrp="1"/>
          </p:cNvSpPr>
          <p:nvPr>
            <p:ph type="title" idx="2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3295849" y="2518954"/>
            <a:ext cx="25523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sz="3200" b="1" dirty="0">
                <a:solidFill>
                  <a:schemeClr val="accent3">
                    <a:lumMod val="25000"/>
                  </a:schemeClr>
                </a:solidFill>
              </a:rPr>
              <a:t>  Apparatus </a:t>
            </a:r>
            <a:endParaRPr lang="en-US" sz="3200" b="1" dirty="0">
              <a:solidFill>
                <a:schemeClr val="accent3">
                  <a:lumMod val="25000"/>
                </a:schemeClr>
              </a:solidFill>
              <a:latin typeface="Fjalla On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0430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5" grpId="0"/>
      <p:bldP spid="2156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Google Shape;2309;p43"/>
          <p:cNvSpPr txBox="1"/>
          <p:nvPr/>
        </p:nvSpPr>
        <p:spPr>
          <a:xfrm>
            <a:off x="6372177" y="3145536"/>
            <a:ext cx="8778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45K</a:t>
            </a:r>
            <a:endParaRPr sz="30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317" name="Google Shape;2317;p43"/>
          <p:cNvSpPr txBox="1"/>
          <p:nvPr/>
        </p:nvSpPr>
        <p:spPr>
          <a:xfrm>
            <a:off x="6372177" y="1362456"/>
            <a:ext cx="8778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$20K</a:t>
            </a:r>
            <a:endParaRPr sz="2700" dirty="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319" name="Google Shape;2319;p43"/>
          <p:cNvSpPr txBox="1"/>
          <p:nvPr/>
        </p:nvSpPr>
        <p:spPr>
          <a:xfrm>
            <a:off x="6375459" y="3144442"/>
            <a:ext cx="8793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10%</a:t>
            </a:r>
            <a:endParaRPr sz="27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2" name="Text 3"/>
          <p:cNvSpPr/>
          <p:nvPr/>
        </p:nvSpPr>
        <p:spPr>
          <a:xfrm>
            <a:off x="977226" y="1037690"/>
            <a:ext cx="2608455" cy="10594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960"/>
              </a:lnSpc>
              <a:buNone/>
            </a:pPr>
            <a:endParaRPr lang="en-US" sz="1225" dirty="0"/>
          </a:p>
        </p:txBody>
      </p:sp>
      <p:sp>
        <p:nvSpPr>
          <p:cNvPr id="24" name="Text 7"/>
          <p:cNvSpPr/>
          <p:nvPr/>
        </p:nvSpPr>
        <p:spPr>
          <a:xfrm>
            <a:off x="4786577" y="1083144"/>
            <a:ext cx="3401926" cy="4974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ts val="1960"/>
              </a:lnSpc>
              <a:buNone/>
            </a:pPr>
            <a:endParaRPr lang="en-US" sz="1225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691807-5684-5EC6-BD6E-02048EF72927}"/>
              </a:ext>
            </a:extLst>
          </p:cNvPr>
          <p:cNvSpPr txBox="1"/>
          <p:nvPr/>
        </p:nvSpPr>
        <p:spPr>
          <a:xfrm>
            <a:off x="1344902" y="832812"/>
            <a:ext cx="5905075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calorimeter with a stirrer,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chamber having two walls, 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sensitive thermometer,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Balance,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Burner, 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Stop-watch 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/>
          <p:cNvSpPr txBox="1">
            <a:spLocks noGrp="1"/>
          </p:cNvSpPr>
          <p:nvPr>
            <p:ph type="title"/>
          </p:nvPr>
        </p:nvSpPr>
        <p:spPr>
          <a:xfrm>
            <a:off x="2615802" y="2359914"/>
            <a:ext cx="3912396" cy="162229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3200" b="1" dirty="0">
                <a:solidFill>
                  <a:schemeClr val="accent3">
                    <a:lumMod val="25000"/>
                  </a:schemeClr>
                </a:solidFill>
              </a:rPr>
              <a:t>Procedure </a:t>
            </a:r>
            <a:br>
              <a:rPr lang="en-US" sz="2400" dirty="0">
                <a:solidFill>
                  <a:schemeClr val="accent3">
                    <a:lumMod val="25000"/>
                  </a:schemeClr>
                </a:solidFill>
              </a:rPr>
            </a:br>
            <a:br>
              <a:rPr lang="en-US" sz="2400" dirty="0">
                <a:solidFill>
                  <a:schemeClr val="accent3">
                    <a:lumMod val="25000"/>
                  </a:schemeClr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</a:br>
            <a:endParaRPr sz="2400" dirty="0">
              <a:solidFill>
                <a:schemeClr val="accent3">
                  <a:lumMod val="25000"/>
                </a:schemeClr>
              </a:solidFill>
            </a:endParaRPr>
          </a:p>
        </p:txBody>
      </p:sp>
      <p:sp>
        <p:nvSpPr>
          <p:cNvPr id="2156" name="Google Shape;2156;p38"/>
          <p:cNvSpPr txBox="1">
            <a:spLocks noGrp="1"/>
          </p:cNvSpPr>
          <p:nvPr>
            <p:ph type="title" idx="2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259506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5" grpId="0"/>
      <p:bldP spid="215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4A28E9-2148-DBEA-BBC0-8233FF0284CF}"/>
              </a:ext>
            </a:extLst>
          </p:cNvPr>
          <p:cNvSpPr txBox="1"/>
          <p:nvPr/>
        </p:nvSpPr>
        <p:spPr>
          <a:xfrm>
            <a:off x="870712" y="309592"/>
            <a:ext cx="74025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1800" b="0" i="0" dirty="0">
                <a:solidFill>
                  <a:schemeClr val="accent3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Weighing the dry calorimeter with stirrer (m).</a:t>
            </a:r>
          </a:p>
          <a:p>
            <a:pPr algn="l"/>
            <a:endParaRPr lang="en-US" sz="1800" b="0" i="0" dirty="0">
              <a:solidFill>
                <a:schemeClr val="accent3">
                  <a:lumMod val="2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1800" b="0" i="0" dirty="0">
                <a:solidFill>
                  <a:schemeClr val="accent3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Pouring heated water into the calorimeter up to a mark.</a:t>
            </a:r>
          </a:p>
          <a:p>
            <a:pPr algn="l"/>
            <a:endParaRPr lang="en-US" sz="1800" b="0" i="0" dirty="0">
              <a:solidFill>
                <a:schemeClr val="accent3">
                  <a:lumMod val="2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1800" b="0" i="0" dirty="0">
                <a:solidFill>
                  <a:schemeClr val="accent3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Recording temperature as it cools at 1°C intervals.</a:t>
            </a:r>
          </a:p>
          <a:p>
            <a:pPr algn="l"/>
            <a:endParaRPr lang="en-US" sz="1800" b="0" i="0" dirty="0">
              <a:solidFill>
                <a:schemeClr val="accent3">
                  <a:lumMod val="2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1800" b="0" i="0" dirty="0">
                <a:solidFill>
                  <a:schemeClr val="accent3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Taking 20-25 temperature readings.</a:t>
            </a:r>
          </a:p>
          <a:p>
            <a:pPr algn="l"/>
            <a:endParaRPr lang="en-US" sz="1800" b="0" i="0" dirty="0">
              <a:solidFill>
                <a:schemeClr val="accent3">
                  <a:lumMod val="2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1800" b="0" i="0" dirty="0">
                <a:solidFill>
                  <a:schemeClr val="accent3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Weighing the calorimeter with water to find water weight (M2 - m).</a:t>
            </a:r>
          </a:p>
          <a:p>
            <a:pPr algn="l"/>
            <a:endParaRPr lang="en-US" sz="1800" b="0" i="0" dirty="0">
              <a:solidFill>
                <a:schemeClr val="accent3">
                  <a:lumMod val="2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1800" b="0" i="0" dirty="0">
                <a:solidFill>
                  <a:schemeClr val="accent3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Cleaning and drying the calorimeter.</a:t>
            </a:r>
          </a:p>
          <a:p>
            <a:pPr algn="l"/>
            <a:endParaRPr lang="en-US" sz="1800" b="0" i="0" dirty="0">
              <a:solidFill>
                <a:schemeClr val="accent3">
                  <a:lumMod val="2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1800" b="0" i="0" dirty="0">
                <a:solidFill>
                  <a:schemeClr val="accent3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Pouring heated experimental liquid into the calorimeter.</a:t>
            </a:r>
          </a:p>
          <a:p>
            <a:pPr algn="l"/>
            <a:endParaRPr lang="en-US" sz="1800" b="0" i="0" dirty="0">
              <a:solidFill>
                <a:schemeClr val="accent3">
                  <a:lumMod val="2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1800" b="0" i="0" dirty="0">
                <a:solidFill>
                  <a:schemeClr val="accent3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Placing calorimeter with liquid inside the chamber.</a:t>
            </a:r>
          </a:p>
          <a:p>
            <a:endParaRPr lang="en-US" sz="1800" dirty="0">
              <a:solidFill>
                <a:schemeClr val="accent3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611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B9651-54DD-833E-B916-B32B08E0C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7900" y="1746504"/>
            <a:ext cx="4648200" cy="1938528"/>
          </a:xfrm>
        </p:spPr>
        <p:txBody>
          <a:bodyPr/>
          <a:lstStyle/>
          <a:p>
            <a:r>
              <a:rPr lang="en-US" sz="3200" b="1" dirty="0">
                <a:solidFill>
                  <a:schemeClr val="accent3">
                    <a:lumMod val="25000"/>
                  </a:schemeClr>
                </a:solidFill>
              </a:rPr>
              <a:t>Experimental Data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2C936E-38BC-BF3D-5F9B-4A99C6BAA289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63B7003-8CF3-F5C6-61BA-D250F128D9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80948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34C90E9-AD1A-1F17-07D8-2AEF0DF70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648653"/>
              </p:ext>
            </p:extLst>
          </p:nvPr>
        </p:nvGraphicFramePr>
        <p:xfrm>
          <a:off x="706818" y="259660"/>
          <a:ext cx="7730364" cy="4624180"/>
        </p:xfrm>
        <a:graphic>
          <a:graphicData uri="http://schemas.openxmlformats.org/drawingml/2006/table">
            <a:tbl>
              <a:tblPr>
                <a:tableStyleId>{DA3990FA-8B5C-4F49-9BA2-A84EE1CBF54A}</a:tableStyleId>
              </a:tblPr>
              <a:tblGrid>
                <a:gridCol w="1899582">
                  <a:extLst>
                    <a:ext uri="{9D8B030D-6E8A-4147-A177-3AD203B41FA5}">
                      <a16:colId xmlns:a16="http://schemas.microsoft.com/office/drawing/2014/main" val="1824603499"/>
                    </a:ext>
                  </a:extLst>
                </a:gridCol>
                <a:gridCol w="1460028">
                  <a:extLst>
                    <a:ext uri="{9D8B030D-6E8A-4147-A177-3AD203B41FA5}">
                      <a16:colId xmlns:a16="http://schemas.microsoft.com/office/drawing/2014/main" val="3434189639"/>
                    </a:ext>
                  </a:extLst>
                </a:gridCol>
                <a:gridCol w="1951554">
                  <a:extLst>
                    <a:ext uri="{9D8B030D-6E8A-4147-A177-3AD203B41FA5}">
                      <a16:colId xmlns:a16="http://schemas.microsoft.com/office/drawing/2014/main" val="2927260256"/>
                    </a:ext>
                  </a:extLst>
                </a:gridCol>
                <a:gridCol w="2419200">
                  <a:extLst>
                    <a:ext uri="{9D8B030D-6E8A-4147-A177-3AD203B41FA5}">
                      <a16:colId xmlns:a16="http://schemas.microsoft.com/office/drawing/2014/main" val="1347205330"/>
                    </a:ext>
                  </a:extLst>
                </a:gridCol>
              </a:tblGrid>
              <a:tr h="447114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400" b="1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 of observation</a:t>
                      </a:r>
                      <a:endParaRPr lang="en-US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400" b="1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Time(min)</a:t>
                      </a:r>
                      <a:endParaRPr lang="en-US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Temperature(°C)</a:t>
                      </a:r>
                      <a:endParaRPr lang="en-US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926729"/>
                  </a:ext>
                </a:extLst>
              </a:tr>
              <a:tr h="39173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</a:t>
                      </a:r>
                      <a:endParaRPr lang="en-US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Liquid</a:t>
                      </a:r>
                      <a:endParaRPr lang="en-US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4836386"/>
                  </a:ext>
                </a:extLst>
              </a:tr>
              <a:tr h="2840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3129386"/>
                  </a:ext>
                </a:extLst>
              </a:tr>
              <a:tr h="3035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40500602"/>
                  </a:ext>
                </a:extLst>
              </a:tr>
              <a:tr h="2840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26890352"/>
                  </a:ext>
                </a:extLst>
              </a:tr>
              <a:tr h="2742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66968622"/>
                  </a:ext>
                </a:extLst>
              </a:tr>
              <a:tr h="34790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5460332"/>
                  </a:ext>
                </a:extLst>
              </a:tr>
              <a:tr h="3819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9025918"/>
                  </a:ext>
                </a:extLst>
              </a:tr>
              <a:tr h="2937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8669997"/>
                  </a:ext>
                </a:extLst>
              </a:tr>
              <a:tr h="4602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81894291"/>
                  </a:ext>
                </a:extLst>
              </a:tr>
              <a:tr h="4211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91103806"/>
                  </a:ext>
                </a:extLst>
              </a:tr>
              <a:tr h="40152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63903644"/>
                  </a:ext>
                </a:extLst>
              </a:tr>
              <a:tr h="3329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99053542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FC8F460B-C3EE-06D1-C49D-7D7A50058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9275" y="140811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296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D0D9BA-E1C5-91D9-2F52-6050508EA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895254"/>
              </p:ext>
            </p:extLst>
          </p:nvPr>
        </p:nvGraphicFramePr>
        <p:xfrm>
          <a:off x="668213" y="231561"/>
          <a:ext cx="7702064" cy="4738037"/>
        </p:xfrm>
        <a:graphic>
          <a:graphicData uri="http://schemas.openxmlformats.org/drawingml/2006/table">
            <a:tbl>
              <a:tblPr>
                <a:tableStyleId>{DA3990FA-8B5C-4F49-9BA2-A84EE1CBF54A}</a:tableStyleId>
              </a:tblPr>
              <a:tblGrid>
                <a:gridCol w="2078157">
                  <a:extLst>
                    <a:ext uri="{9D8B030D-6E8A-4147-A177-3AD203B41FA5}">
                      <a16:colId xmlns:a16="http://schemas.microsoft.com/office/drawing/2014/main" val="2417921482"/>
                    </a:ext>
                  </a:extLst>
                </a:gridCol>
                <a:gridCol w="1248502">
                  <a:extLst>
                    <a:ext uri="{9D8B030D-6E8A-4147-A177-3AD203B41FA5}">
                      <a16:colId xmlns:a16="http://schemas.microsoft.com/office/drawing/2014/main" val="3961773216"/>
                    </a:ext>
                  </a:extLst>
                </a:gridCol>
                <a:gridCol w="1853611">
                  <a:extLst>
                    <a:ext uri="{9D8B030D-6E8A-4147-A177-3AD203B41FA5}">
                      <a16:colId xmlns:a16="http://schemas.microsoft.com/office/drawing/2014/main" val="201690437"/>
                    </a:ext>
                  </a:extLst>
                </a:gridCol>
                <a:gridCol w="2521794">
                  <a:extLst>
                    <a:ext uri="{9D8B030D-6E8A-4147-A177-3AD203B41FA5}">
                      <a16:colId xmlns:a16="http://schemas.microsoft.com/office/drawing/2014/main" val="1254899476"/>
                    </a:ext>
                  </a:extLst>
                </a:gridCol>
              </a:tblGrid>
              <a:tr h="405821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400" b="1" kern="1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 of observation</a:t>
                      </a:r>
                      <a:endParaRPr lang="en-US" sz="14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kern="1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Time(min)</a:t>
                      </a:r>
                      <a:endParaRPr lang="en-US" sz="14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kern="1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Temperature(°C)</a:t>
                      </a:r>
                      <a:endParaRPr lang="en-US" sz="14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407658"/>
                  </a:ext>
                </a:extLst>
              </a:tr>
              <a:tr h="30625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kern="1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</a:t>
                      </a:r>
                      <a:endParaRPr lang="en-US" sz="14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kern="1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Liquid</a:t>
                      </a:r>
                      <a:endParaRPr lang="en-US" sz="1400" b="1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extLst>
                  <a:ext uri="{0D108BD9-81ED-4DB2-BD59-A6C34878D82A}">
                    <a16:rowId xmlns:a16="http://schemas.microsoft.com/office/drawing/2014/main" val="560410884"/>
                  </a:ext>
                </a:extLst>
              </a:tr>
              <a:tr h="2218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S" sz="1400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S" sz="1400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extLst>
                  <a:ext uri="{0D108BD9-81ED-4DB2-BD59-A6C34878D82A}">
                    <a16:rowId xmlns:a16="http://schemas.microsoft.com/office/drawing/2014/main" val="3088159563"/>
                  </a:ext>
                </a:extLst>
              </a:tr>
              <a:tr h="23697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US" sz="1400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1400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</a:t>
                      </a:r>
                      <a:endParaRPr lang="en-US" sz="1400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extLst>
                  <a:ext uri="{0D108BD9-81ED-4DB2-BD59-A6C34878D82A}">
                    <a16:rowId xmlns:a16="http://schemas.microsoft.com/office/drawing/2014/main" val="3971814751"/>
                  </a:ext>
                </a:extLst>
              </a:tr>
              <a:tr h="2218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en-US" sz="1400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extLst>
                  <a:ext uri="{0D108BD9-81ED-4DB2-BD59-A6C34878D82A}">
                    <a16:rowId xmlns:a16="http://schemas.microsoft.com/office/drawing/2014/main" val="436076791"/>
                  </a:ext>
                </a:extLst>
              </a:tr>
              <a:tr h="2142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US" sz="1400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</a:t>
                      </a:r>
                      <a:endParaRPr lang="en-US" sz="1400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extLst>
                  <a:ext uri="{0D108BD9-81ED-4DB2-BD59-A6C34878D82A}">
                    <a16:rowId xmlns:a16="http://schemas.microsoft.com/office/drawing/2014/main" val="4149327735"/>
                  </a:ext>
                </a:extLst>
              </a:tr>
              <a:tr h="3609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</a:t>
                      </a:r>
                      <a:endParaRPr lang="en-US" sz="1400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extLst>
                  <a:ext uri="{0D108BD9-81ED-4DB2-BD59-A6C34878D82A}">
                    <a16:rowId xmlns:a16="http://schemas.microsoft.com/office/drawing/2014/main" val="2214867183"/>
                  </a:ext>
                </a:extLst>
              </a:tr>
              <a:tr h="2986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en-US" sz="1400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</a:t>
                      </a:r>
                      <a:endParaRPr lang="en-US" sz="1400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extLst>
                  <a:ext uri="{0D108BD9-81ED-4DB2-BD59-A6C34878D82A}">
                    <a16:rowId xmlns:a16="http://schemas.microsoft.com/office/drawing/2014/main" val="2256523576"/>
                  </a:ext>
                </a:extLst>
              </a:tr>
              <a:tr h="2294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55.5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US" sz="1400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extLst>
                  <a:ext uri="{0D108BD9-81ED-4DB2-BD59-A6C34878D82A}">
                    <a16:rowId xmlns:a16="http://schemas.microsoft.com/office/drawing/2014/main" val="3641780903"/>
                  </a:ext>
                </a:extLst>
              </a:tr>
              <a:tr h="3598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54.5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en-US" sz="1400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extLst>
                  <a:ext uri="{0D108BD9-81ED-4DB2-BD59-A6C34878D82A}">
                    <a16:rowId xmlns:a16="http://schemas.microsoft.com/office/drawing/2014/main" val="907555184"/>
                  </a:ext>
                </a:extLst>
              </a:tr>
              <a:tr h="3289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53.5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lang="en-US" sz="1400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extLst>
                  <a:ext uri="{0D108BD9-81ED-4DB2-BD59-A6C34878D82A}">
                    <a16:rowId xmlns:a16="http://schemas.microsoft.com/office/drawing/2014/main" val="3439926026"/>
                  </a:ext>
                </a:extLst>
              </a:tr>
              <a:tr h="3138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</a:t>
                      </a:r>
                      <a:endParaRPr lang="en-US" sz="1400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extLst>
                  <a:ext uri="{0D108BD9-81ED-4DB2-BD59-A6C34878D82A}">
                    <a16:rowId xmlns:a16="http://schemas.microsoft.com/office/drawing/2014/main" val="3073461874"/>
                  </a:ext>
                </a:extLst>
              </a:tr>
              <a:tr h="26026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</a:t>
                      </a:r>
                      <a:endParaRPr lang="en-US" sz="1400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extLst>
                  <a:ext uri="{0D108BD9-81ED-4DB2-BD59-A6C34878D82A}">
                    <a16:rowId xmlns:a16="http://schemas.microsoft.com/office/drawing/2014/main" val="396649816"/>
                  </a:ext>
                </a:extLst>
              </a:tr>
              <a:tr h="1573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</a:t>
                      </a:r>
                      <a:endParaRPr lang="en-US" sz="1400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extLst>
                  <a:ext uri="{0D108BD9-81ED-4DB2-BD59-A6C34878D82A}">
                    <a16:rowId xmlns:a16="http://schemas.microsoft.com/office/drawing/2014/main" val="4179181771"/>
                  </a:ext>
                </a:extLst>
              </a:tr>
              <a:tr h="2620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  <a:endParaRPr lang="en-US" sz="1400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extLst>
                  <a:ext uri="{0D108BD9-81ED-4DB2-BD59-A6C34878D82A}">
                    <a16:rowId xmlns:a16="http://schemas.microsoft.com/office/drawing/2014/main" val="2237513894"/>
                  </a:ext>
                </a:extLst>
              </a:tr>
              <a:tr h="1804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</a:t>
                      </a:r>
                      <a:endParaRPr lang="en-US" sz="1400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extLst>
                  <a:ext uri="{0D108BD9-81ED-4DB2-BD59-A6C34878D82A}">
                    <a16:rowId xmlns:a16="http://schemas.microsoft.com/office/drawing/2014/main" val="2664333377"/>
                  </a:ext>
                </a:extLst>
              </a:tr>
              <a:tr h="2911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</a:t>
                      </a:r>
                      <a:endParaRPr lang="en-US" sz="1400" kern="10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en-US" sz="1400" kern="1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342" marR="43342" marT="0" marB="0" anchor="ctr"/>
                </a:tc>
                <a:extLst>
                  <a:ext uri="{0D108BD9-81ED-4DB2-BD59-A6C34878D82A}">
                    <a16:rowId xmlns:a16="http://schemas.microsoft.com/office/drawing/2014/main" val="16046406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6453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187C35-A9A9-7ED9-11A9-8BCD951EC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363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315B8-0170-EC0F-09EE-B2F53D5ED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9431" y="2537532"/>
            <a:ext cx="4076114" cy="804600"/>
          </a:xfrm>
        </p:spPr>
        <p:txBody>
          <a:bodyPr/>
          <a:lstStyle/>
          <a:p>
            <a:r>
              <a:rPr lang="en-US" sz="3200" b="1" dirty="0">
                <a:solidFill>
                  <a:schemeClr val="accent3">
                    <a:lumMod val="25000"/>
                  </a:schemeClr>
                </a:solidFill>
              </a:rPr>
              <a:t>Analysis and Calculation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22D8BD4-B945-F789-B473-21B159576F35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2970375" y="1295448"/>
            <a:ext cx="2967600" cy="1069800"/>
          </a:xfrm>
        </p:spPr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E1F2890-F1A4-EBA8-2E48-DA1CED414E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41738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Google Shape;2309;p43"/>
          <p:cNvSpPr txBox="1"/>
          <p:nvPr/>
        </p:nvSpPr>
        <p:spPr>
          <a:xfrm>
            <a:off x="6372177" y="3145536"/>
            <a:ext cx="8778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chemeClr val="accent3">
                  <a:lumMod val="25000"/>
                </a:schemeClr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317" name="Google Shape;2317;p43"/>
          <p:cNvSpPr txBox="1"/>
          <p:nvPr/>
        </p:nvSpPr>
        <p:spPr>
          <a:xfrm>
            <a:off x="6443161" y="1606398"/>
            <a:ext cx="8778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dirty="0">
              <a:solidFill>
                <a:schemeClr val="accent3">
                  <a:lumMod val="25000"/>
                </a:schemeClr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319" name="Google Shape;2319;p43"/>
          <p:cNvSpPr txBox="1"/>
          <p:nvPr/>
        </p:nvSpPr>
        <p:spPr>
          <a:xfrm>
            <a:off x="4498258" y="2136798"/>
            <a:ext cx="4059936" cy="2482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lang="en-US" sz="1600" dirty="0">
              <a:solidFill>
                <a:schemeClr val="accent3">
                  <a:lumMod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5EB21E-4FCD-1EB2-5A5A-9F152A697149}"/>
              </a:ext>
            </a:extLst>
          </p:cNvPr>
          <p:cNvSpPr txBox="1"/>
          <p:nvPr/>
        </p:nvSpPr>
        <p:spPr>
          <a:xfrm>
            <a:off x="1381678" y="1066800"/>
            <a:ext cx="62331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Mass of the calorimeter + stirrer, m= 78.7 grams</a:t>
            </a:r>
          </a:p>
          <a:p>
            <a:endParaRPr lang="en-US" sz="1800" dirty="0">
              <a:solidFill>
                <a:schemeClr val="accent3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Specific heat of the material of the calorimeter, s = 0.0909   cal·g-1 ·℃-1 </a:t>
            </a:r>
          </a:p>
          <a:p>
            <a:endParaRPr lang="en-US" sz="1800" dirty="0">
              <a:solidFill>
                <a:schemeClr val="accent3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Mass of calorimeter + stirrer + water, 𝑚2 = 163.1 grams</a:t>
            </a:r>
          </a:p>
          <a:p>
            <a:endParaRPr lang="en-US" sz="1800" dirty="0">
              <a:solidFill>
                <a:schemeClr val="accent3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Mass of water, 𝑀2 = 𝑚2 − 𝑚 = 84.4 grams</a:t>
            </a:r>
          </a:p>
          <a:p>
            <a:endParaRPr lang="en-US" sz="1800" dirty="0">
              <a:solidFill>
                <a:schemeClr val="accent3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 Mass of calorimeter + stirrer + liquid, 𝑚1 = 161.7 grams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9400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B096D8-08B2-F248-2825-02252A607D4C}"/>
              </a:ext>
            </a:extLst>
          </p:cNvPr>
          <p:cNvSpPr txBox="1"/>
          <p:nvPr/>
        </p:nvSpPr>
        <p:spPr>
          <a:xfrm>
            <a:off x="1055370" y="1417588"/>
            <a:ext cx="70332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vi. Mass of experimental liquid, 𝑀1 = 𝑚1 − 𝑚 = 83 grams</a:t>
            </a:r>
          </a:p>
          <a:p>
            <a:endParaRPr lang="en-US" sz="1800" dirty="0">
              <a:solidFill>
                <a:schemeClr val="accent3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vii. Time taken to cool by the liquid, t1=720 sec </a:t>
            </a:r>
          </a:p>
          <a:p>
            <a:endParaRPr lang="en-US" sz="1800" dirty="0">
              <a:solidFill>
                <a:schemeClr val="accent3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viii. Time taken to cool by the water, t2 = 1200 sec</a:t>
            </a:r>
          </a:p>
          <a:p>
            <a:endParaRPr lang="en-US" sz="1800" dirty="0">
              <a:solidFill>
                <a:schemeClr val="accent3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ix. Specific heat of water, 𝑆2= 1 </a:t>
            </a:r>
            <a:r>
              <a:rPr lang="en-US" sz="1800" dirty="0" err="1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</a:t>
            </a: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/g-℃ </a:t>
            </a:r>
          </a:p>
          <a:p>
            <a:endParaRPr lang="en-US" sz="1800" dirty="0">
              <a:solidFill>
                <a:schemeClr val="accent3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0548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BCF1BF3-1ACF-7481-C58E-5D7A6B34BA44}"/>
                  </a:ext>
                </a:extLst>
              </p:cNvPr>
              <p:cNvSpPr txBox="1"/>
              <p:nvPr/>
            </p:nvSpPr>
            <p:spPr>
              <a:xfrm>
                <a:off x="1492567" y="1302186"/>
                <a:ext cx="6158865" cy="1213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b="0" i="0" dirty="0">
                    <a:solidFill>
                      <a:schemeClr val="accent3">
                        <a:lumMod val="25000"/>
                      </a:schemeClr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So, the specific heat of liquid, S₁</a:t>
                </a:r>
                <a:r>
                  <a:rPr lang="en-US" sz="1800" dirty="0">
                    <a:solidFill>
                      <a:schemeClr val="accent3">
                        <a:lumMod val="25000"/>
                      </a:schemeClr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8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 smtClean="0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8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sz="18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sz="18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srgbClr val="0D0D0D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​</m:t>
                        </m:r>
                        <m:sSub>
                          <m:sSubPr>
                            <m:ctrlPr>
                              <a:rPr lang="en-US" sz="1800" i="1" dirty="0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dirty="0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800" dirty="0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1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b="1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1800" b="1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sz="1800" b="1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smtClean="0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sz="18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1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800" b="1" i="1" smtClean="0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smtClean="0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sz="18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b="1" i="1">
                            <a:solidFill>
                              <a:srgbClr val="0D0D0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sz="18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8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18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800" b="1" i="1">
                                <a:solidFill>
                                  <a:srgbClr val="0D0D0D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den>
                    </m:f>
                  </m:oMath>
                </a14:m>
                <a:endParaRPr lang="en-US" sz="1800" b="1" i="0" dirty="0">
                  <a:solidFill>
                    <a:srgbClr val="0D0D0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                                            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84.4×78.7×0.0909(720−1200)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83×1200</m:t>
                        </m:r>
                      </m:den>
                    </m:f>
                  </m:oMath>
                </a14:m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0.5756 </m:t>
                    </m:r>
                  </m:oMath>
                </a14:m>
                <a:r>
                  <a:rPr lang="en-US" sz="1800" dirty="0">
                    <a:solidFill>
                      <a:schemeClr val="tx1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cal/g-℃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BCF1BF3-1ACF-7481-C58E-5D7A6B34BA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567" y="1302186"/>
                <a:ext cx="6158865" cy="1213537"/>
              </a:xfrm>
              <a:prstGeom prst="rect">
                <a:avLst/>
              </a:prstGeom>
              <a:blipFill>
                <a:blip r:embed="rId2"/>
                <a:stretch>
                  <a:fillRect l="-891" b="-7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0772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/>
          <p:cNvSpPr txBox="1">
            <a:spLocks noGrp="1"/>
          </p:cNvSpPr>
          <p:nvPr>
            <p:ph type="title"/>
          </p:nvPr>
        </p:nvSpPr>
        <p:spPr>
          <a:xfrm>
            <a:off x="2638460" y="2571750"/>
            <a:ext cx="3740472" cy="125872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3200" b="1" dirty="0">
                <a:solidFill>
                  <a:schemeClr val="accent3">
                    <a:lumMod val="25000"/>
                  </a:schemeClr>
                </a:solidFill>
              </a:rPr>
              <a:t>Result </a:t>
            </a:r>
            <a:br>
              <a:rPr lang="en-US" sz="2400" dirty="0">
                <a:solidFill>
                  <a:schemeClr val="accent3">
                    <a:lumMod val="25000"/>
                  </a:schemeClr>
                </a:solidFill>
              </a:rPr>
            </a:br>
            <a:br>
              <a:rPr lang="en-US" sz="2400" dirty="0">
                <a:solidFill>
                  <a:schemeClr val="accent3">
                    <a:lumMod val="25000"/>
                  </a:schemeClr>
                </a:solidFill>
              </a:rPr>
            </a:br>
            <a:br>
              <a:rPr lang="en-US" sz="2400" dirty="0">
                <a:solidFill>
                  <a:schemeClr val="accent3">
                    <a:lumMod val="25000"/>
                  </a:schemeClr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</a:br>
            <a:endParaRPr sz="2400" dirty="0">
              <a:solidFill>
                <a:schemeClr val="accent3">
                  <a:lumMod val="25000"/>
                </a:schemeClr>
              </a:solidFill>
            </a:endParaRPr>
          </a:p>
        </p:txBody>
      </p:sp>
      <p:sp>
        <p:nvSpPr>
          <p:cNvPr id="2156" name="Google Shape;2156;p38"/>
          <p:cNvSpPr txBox="1">
            <a:spLocks noGrp="1"/>
          </p:cNvSpPr>
          <p:nvPr>
            <p:ph type="title" idx="2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28126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5" grpId="0"/>
      <p:bldP spid="215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A6095157-A48C-6FDF-9EAF-C23B20B88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65283" y="763876"/>
            <a:ext cx="18105861" cy="477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11BC86-6ED9-A815-6A1D-0ACCDC670252}"/>
              </a:ext>
            </a:extLst>
          </p:cNvPr>
          <p:cNvSpPr txBox="1"/>
          <p:nvPr/>
        </p:nvSpPr>
        <p:spPr>
          <a:xfrm>
            <a:off x="1581150" y="2248584"/>
            <a:ext cx="5981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specific heat of liquid is 0.5756 </a:t>
            </a:r>
            <a:r>
              <a:rPr lang="en-US" sz="1800" dirty="0" err="1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</a:t>
            </a:r>
            <a:r>
              <a:rPr lang="en-US" sz="1800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/g-℃ </a:t>
            </a:r>
          </a:p>
          <a:p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3805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4EE62-0D61-7367-F288-25114E0A7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949" y="2036850"/>
            <a:ext cx="3502152" cy="1069800"/>
          </a:xfrm>
        </p:spPr>
        <p:txBody>
          <a:bodyPr/>
          <a:lstStyle/>
          <a:p>
            <a:r>
              <a:rPr lang="en-US" sz="3200" b="1" dirty="0">
                <a:solidFill>
                  <a:schemeClr val="accent3">
                    <a:lumMod val="25000"/>
                  </a:schemeClr>
                </a:solidFill>
              </a:rPr>
              <a:t>Discussion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B79EE2-4092-DC37-5818-96DDB5D48C9C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2973225" y="1379004"/>
            <a:ext cx="2967600" cy="1069800"/>
          </a:xfrm>
        </p:spPr>
        <p:txBody>
          <a:bodyPr/>
          <a:lstStyle/>
          <a:p>
            <a:r>
              <a:rPr lang="en-US" dirty="0"/>
              <a:t>7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EEBFE73-7166-DB0E-5F46-839F118E1D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27576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Google Shape;2309;p43"/>
          <p:cNvSpPr txBox="1"/>
          <p:nvPr/>
        </p:nvSpPr>
        <p:spPr>
          <a:xfrm>
            <a:off x="6372177" y="3145536"/>
            <a:ext cx="8778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45K</a:t>
            </a:r>
            <a:endParaRPr sz="30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317" name="Google Shape;2317;p43"/>
          <p:cNvSpPr txBox="1"/>
          <p:nvPr/>
        </p:nvSpPr>
        <p:spPr>
          <a:xfrm>
            <a:off x="6697588" y="1806406"/>
            <a:ext cx="8778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$20K</a:t>
            </a:r>
            <a:endParaRPr sz="2700" dirty="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319" name="Google Shape;2319;p43"/>
          <p:cNvSpPr txBox="1"/>
          <p:nvPr/>
        </p:nvSpPr>
        <p:spPr>
          <a:xfrm>
            <a:off x="6375459" y="3144442"/>
            <a:ext cx="8793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10%</a:t>
            </a:r>
            <a:endParaRPr sz="27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FED197-8A91-F990-2331-7AEF52484217}"/>
              </a:ext>
            </a:extLst>
          </p:cNvPr>
          <p:cNvSpPr txBox="1"/>
          <p:nvPr/>
        </p:nvSpPr>
        <p:spPr>
          <a:xfrm>
            <a:off x="1186493" y="863590"/>
            <a:ext cx="651732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accent3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volume of the liquid in the calorimeter were the same.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accent3">
                  <a:lumMod val="2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accent3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outer surface of the calorimeter must remain the same so that liquids were heated outside the calorimeter.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accent3">
                  <a:lumMod val="2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accent3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experiment was started in a fix Suren own surrounding.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accent3">
                  <a:lumMod val="2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accent3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calorimeter was made of good condition material so didn't face any problem measuring the temperature.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accent3">
                  <a:lumMod val="2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accent3">
                    <a:lumMod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thermometers were in good condition as well so finished the experiment swiftly.</a:t>
            </a:r>
          </a:p>
        </p:txBody>
      </p:sp>
    </p:spTree>
    <p:extLst>
      <p:ext uri="{BB962C8B-B14F-4D97-AF65-F5344CB8AC3E}">
        <p14:creationId xmlns:p14="http://schemas.microsoft.com/office/powerpoint/2010/main" val="562559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64075-05E1-A4FD-ED71-983D6C626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3">
                    <a:lumMod val="25000"/>
                  </a:schemeClr>
                </a:solidFill>
              </a:rPr>
              <a:t>Resources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4EF52C-B9DC-879C-0E6B-9A8B61560E31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3088200" y="1280136"/>
            <a:ext cx="2967600" cy="1069800"/>
          </a:xfrm>
        </p:spPr>
        <p:txBody>
          <a:bodyPr/>
          <a:lstStyle/>
          <a:p>
            <a:r>
              <a:rPr lang="en-US" dirty="0"/>
              <a:t>8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E53B4B2-4EE9-2A57-9A6E-5138C34946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6907399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81C637-9F42-9EE5-B443-23A486F666F6}"/>
              </a:ext>
            </a:extLst>
          </p:cNvPr>
          <p:cNvSpPr txBox="1"/>
          <p:nvPr/>
        </p:nvSpPr>
        <p:spPr>
          <a:xfrm>
            <a:off x="975360" y="1353312"/>
            <a:ext cx="7363968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Fundamental of Physics </a:t>
            </a:r>
          </a:p>
          <a:p>
            <a:endParaRPr lang="en-US" sz="1800" b="1" dirty="0">
              <a:solidFill>
                <a:schemeClr val="accent3">
                  <a:lumMod val="2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Wikipedia Resources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b="1" dirty="0">
              <a:solidFill>
                <a:schemeClr val="accent3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Khan Academy Physics ( You Tube )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b="1" dirty="0">
              <a:solidFill>
                <a:schemeClr val="accent3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accent3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Lecture Materials </a:t>
            </a:r>
            <a:endParaRPr lang="en-US" sz="1800" dirty="0">
              <a:solidFill>
                <a:schemeClr val="accent3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solidFill>
                <a:schemeClr val="accent3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397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4" name="Google Shape;2724;p49"/>
          <p:cNvSpPr txBox="1"/>
          <p:nvPr/>
        </p:nvSpPr>
        <p:spPr>
          <a:xfrm>
            <a:off x="1762947" y="2723910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Day 1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726" name="Google Shape;2726;p49"/>
          <p:cNvSpPr txBox="1"/>
          <p:nvPr/>
        </p:nvSpPr>
        <p:spPr>
          <a:xfrm>
            <a:off x="5038747" y="2744235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Day 3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C31680-23C3-C86C-F775-821D20B3ED94}"/>
              </a:ext>
            </a:extLst>
          </p:cNvPr>
          <p:cNvSpPr txBox="1"/>
          <p:nvPr/>
        </p:nvSpPr>
        <p:spPr>
          <a:xfrm>
            <a:off x="2467347" y="2148927"/>
            <a:ext cx="64373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accent3">
                    <a:lumMod val="25000"/>
                  </a:schemeClr>
                </a:solidFill>
              </a:rPr>
              <a:t>Thank You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1587</TotalTime>
  <Words>1085</Words>
  <Application>Microsoft Office PowerPoint</Application>
  <PresentationFormat>On-screen Show (16:9)</PresentationFormat>
  <Paragraphs>278</Paragraphs>
  <Slides>24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Cambria Math</vt:lpstr>
      <vt:lpstr>Fjalla One</vt:lpstr>
      <vt:lpstr>Arial</vt:lpstr>
      <vt:lpstr>Barlow Semi Condensed</vt:lpstr>
      <vt:lpstr>Times New Roman</vt:lpstr>
      <vt:lpstr>Wingdings</vt:lpstr>
      <vt:lpstr>Roboto Condensed Light</vt:lpstr>
      <vt:lpstr>Barlow Semi Condensed Medium</vt:lpstr>
      <vt:lpstr>Segoe UI Historic</vt:lpstr>
      <vt:lpstr>Technology Consulting by Slidesgo</vt:lpstr>
      <vt:lpstr> </vt:lpstr>
      <vt:lpstr>Presented By</vt:lpstr>
      <vt:lpstr>Table of Contents</vt:lpstr>
      <vt:lpstr> Theory </vt:lpstr>
      <vt:lpstr>PowerPoint Presentation</vt:lpstr>
      <vt:lpstr> </vt:lpstr>
      <vt:lpstr>PowerPoint Presentation</vt:lpstr>
      <vt:lpstr>Procedure   </vt:lpstr>
      <vt:lpstr>PowerPoint Presentation</vt:lpstr>
      <vt:lpstr>Experimental Data</vt:lpstr>
      <vt:lpstr>PowerPoint Presentation</vt:lpstr>
      <vt:lpstr>PowerPoint Presentation</vt:lpstr>
      <vt:lpstr>PowerPoint Presentation</vt:lpstr>
      <vt:lpstr>Analysis and Calculation</vt:lpstr>
      <vt:lpstr>PowerPoint Presentation</vt:lpstr>
      <vt:lpstr>PowerPoint Presentation</vt:lpstr>
      <vt:lpstr>PowerPoint Presentation</vt:lpstr>
      <vt:lpstr>Result    </vt:lpstr>
      <vt:lpstr>PowerPoint Presentation</vt:lpstr>
      <vt:lpstr>Discussion</vt:lpstr>
      <vt:lpstr>PowerPoint Presentation</vt:lpstr>
      <vt:lpstr>Resources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Consulting</dc:title>
  <dc:creator>USER</dc:creator>
  <cp:lastModifiedBy>Md. Tawfiqul Islam Tamal</cp:lastModifiedBy>
  <cp:revision>44</cp:revision>
  <dcterms:modified xsi:type="dcterms:W3CDTF">2024-03-02T09:48:44Z</dcterms:modified>
</cp:coreProperties>
</file>