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y="6858000" cx="9144000"/>
  <p:notesSz cx="6858000" cy="9144000"/>
  <p:embeddedFontLst>
    <p:embeddedFont>
      <p:font typeface="Corbel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1" roundtripDataSignature="AMtx7mhMimFWfyE0Xtgj7zMgpWW72yYX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05BC81-1BB4-40E3-B7F6-D5C64D509D01}">
  <a:tblStyle styleId="{5E05BC81-1BB4-40E3-B7F6-D5C64D509D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Corbel-boldItalic.fntdata"/><Relationship Id="rId81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font" Target="fonts/Corbel-regular.fntdata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font" Target="fonts/Corbel-italic.fntdata"/><Relationship Id="rId34" Type="http://schemas.openxmlformats.org/officeDocument/2006/relationships/slide" Target="slides/slide27.xml"/><Relationship Id="rId78" Type="http://schemas.openxmlformats.org/officeDocument/2006/relationships/font" Target="fonts/Corbel-bold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e2eb76139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8e2eb761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8e2eb7613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015fb0ac5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a015fb0ac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a015fb0ac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5" name="Google Shape;625;p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9ac0bd2cb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g39ac0bd2cb2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bca3fabd02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3bca3fabd02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ca3fabd02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bca3fabd0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bca3fabd02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bca3fabd0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bca3fabd02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bca3fabd02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ca3fabd02_0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g3bca3fabd0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bca3fabd02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bca3fabd02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ca3fabd02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g3bca3fabd0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bca3fabd02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bca3fabd02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ca3fabd02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g3bca3fabd0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ca3fabd02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g3bca3fabd02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ca3fabd02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bca3fabd02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ca3fabd0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6" name="Google Shape;716;g3bca3fabd02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11e59fb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2" name="Google Shape;722;g3a11e59fbb3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9ac0bd2cb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g39ac0bd2cb2_2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9ac8d8753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9ac8d8753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9ac8d8753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g39ac8d87536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9ac8d87536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g39ac8d87536_0_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9ac8d8753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g39ac8d87536_0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ac8d8753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9ac8d87536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9ac8d8753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9ac8d87536_0_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9ac8d8753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3" name="Google Shape;773;g39ac8d87536_0_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9ac8d87536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9" name="Google Shape;779;g39ac8d87536_0_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9ac8d87536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9ac8d87536_0_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9ac8d87536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g39ac8d87536_0_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9ac8d87536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g39ac8d87536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9ac0bd2cb2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g39ac0bd2cb2_2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407595c62d6a856b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407595c62d6a856b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a23bcd7ed2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3a23bcd7ed2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8" name="Google Shape;818;g3a23bcd7ed2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a23bcd7ed2_0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3a23bcd7ed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a23bcd7ed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407595c62d6a856b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407595c62d6a856b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3" name="Google Shape;833;g407595c62d6a856b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9955e53e58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39955e53e5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g39955e53e5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85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" name="Google Shape;20;p85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21" name="Google Shape;21;p8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8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8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24;p85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5"/>
          <p:cNvSpPr txBox="1"/>
          <p:nvPr>
            <p:ph idx="1" type="subTitle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5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IUB logo" id="27" name="Google Shape;27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8596" y="459899"/>
            <a:ext cx="1419654" cy="142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" name="Google Shape;30;p8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31" name="Google Shape;31;p86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8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86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34;p86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6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36" name="Google Shape;36;p8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6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" name="Google Shape;42;p87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43" name="Google Shape;43;p8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87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8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 result for AIUB logo" id="46" name="Google Shape;4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9374" y="55844"/>
            <a:ext cx="1279161" cy="128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8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8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8"/>
          <p:cNvSpPr/>
          <p:nvPr>
            <p:ph idx="2" type="pic"/>
          </p:nvPr>
        </p:nvSpPr>
        <p:spPr>
          <a:xfrm>
            <a:off x="284162" y="2017058"/>
            <a:ext cx="8574087" cy="4377391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88"/>
          <p:cNvSpPr txBox="1"/>
          <p:nvPr>
            <p:ph idx="1" type="subTitle"/>
          </p:nvPr>
        </p:nvSpPr>
        <p:spPr>
          <a:xfrm>
            <a:off x="472420" y="1532965"/>
            <a:ext cx="7754284" cy="48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4" name="Google Shape;54;p88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55" name="Google Shape;55;p8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8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8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8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8"/>
          <p:cNvSpPr txBox="1"/>
          <p:nvPr>
            <p:ph type="ctrTitle"/>
          </p:nvPr>
        </p:nvSpPr>
        <p:spPr>
          <a:xfrm>
            <a:off x="418633" y="444728"/>
            <a:ext cx="7810967" cy="1088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9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62" name="Google Shape;62;p89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63" name="Google Shape;63;p8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8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89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89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9"/>
          <p:cNvSpPr txBox="1"/>
          <p:nvPr>
            <p:ph type="title"/>
          </p:nvPr>
        </p:nvSpPr>
        <p:spPr>
          <a:xfrm>
            <a:off x="429768" y="4814125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9"/>
          <p:cNvSpPr txBox="1"/>
          <p:nvPr>
            <p:ph idx="1" type="body"/>
          </p:nvPr>
        </p:nvSpPr>
        <p:spPr>
          <a:xfrm>
            <a:off x="475488" y="5861304"/>
            <a:ext cx="77358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8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Picture">
  <p:cSld name="Section with Pictur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0"/>
          <p:cNvSpPr/>
          <p:nvPr>
            <p:ph idx="2" type="pic"/>
          </p:nvPr>
        </p:nvSpPr>
        <p:spPr>
          <a:xfrm>
            <a:off x="284162" y="443754"/>
            <a:ext cx="8574087" cy="4370293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9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90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78" name="Google Shape;78;p90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79" name="Google Shape;79;p9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9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9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90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0"/>
          <p:cNvSpPr txBox="1"/>
          <p:nvPr>
            <p:ph type="title"/>
          </p:nvPr>
        </p:nvSpPr>
        <p:spPr>
          <a:xfrm>
            <a:off x="430306" y="4814047"/>
            <a:ext cx="7772400" cy="10488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0"/>
          <p:cNvSpPr txBox="1"/>
          <p:nvPr>
            <p:ph idx="1" type="body"/>
          </p:nvPr>
        </p:nvSpPr>
        <p:spPr>
          <a:xfrm>
            <a:off x="470647" y="5862918"/>
            <a:ext cx="7732059" cy="40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1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91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8" name="Google Shape;88;p9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91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9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91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1"/>
          <p:cNvSpPr txBox="1"/>
          <p:nvPr>
            <p:ph idx="1" type="body"/>
          </p:nvPr>
        </p:nvSpPr>
        <p:spPr>
          <a:xfrm>
            <a:off x="403412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93" name="Google Shape;93;p91"/>
          <p:cNvSpPr txBox="1"/>
          <p:nvPr>
            <p:ph idx="2" type="body"/>
          </p:nvPr>
        </p:nvSpPr>
        <p:spPr>
          <a:xfrm>
            <a:off x="4778188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94" name="Google Shape;94;p91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1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1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2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92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0" name="Google Shape;100;p92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9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92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92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2"/>
          <p:cNvSpPr txBox="1"/>
          <p:nvPr>
            <p:ph idx="1" type="body"/>
          </p:nvPr>
        </p:nvSpPr>
        <p:spPr>
          <a:xfrm>
            <a:off x="403412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5" name="Google Shape;105;p92"/>
          <p:cNvSpPr txBox="1"/>
          <p:nvPr>
            <p:ph idx="2" type="body"/>
          </p:nvPr>
        </p:nvSpPr>
        <p:spPr>
          <a:xfrm>
            <a:off x="403412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6pPr>
            <a:lvl7pPr indent="-32003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7pPr>
            <a:lvl8pPr indent="-32004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8pPr>
            <a:lvl9pPr indent="-32004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9pPr>
          </a:lstStyle>
          <a:p/>
        </p:txBody>
      </p:sp>
      <p:sp>
        <p:nvSpPr>
          <p:cNvPr id="106" name="Google Shape;106;p92"/>
          <p:cNvSpPr txBox="1"/>
          <p:nvPr>
            <p:ph idx="3" type="body"/>
          </p:nvPr>
        </p:nvSpPr>
        <p:spPr>
          <a:xfrm>
            <a:off x="4779495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7" name="Google Shape;107;p92"/>
          <p:cNvSpPr txBox="1"/>
          <p:nvPr>
            <p:ph idx="4" type="body"/>
          </p:nvPr>
        </p:nvSpPr>
        <p:spPr>
          <a:xfrm>
            <a:off x="4779495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6pPr>
            <a:lvl7pPr indent="-32003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7pPr>
            <a:lvl8pPr indent="-32004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8pPr>
            <a:lvl9pPr indent="-32004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9pPr>
          </a:lstStyle>
          <a:p/>
        </p:txBody>
      </p:sp>
      <p:sp>
        <p:nvSpPr>
          <p:cNvPr id="108" name="Google Shape;108;p92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2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2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3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93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14" name="Google Shape;114;p93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93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9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93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93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3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3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4"/>
          <p:cNvSpPr txBox="1"/>
          <p:nvPr>
            <p:ph type="title"/>
          </p:nvPr>
        </p:nvSpPr>
        <p:spPr>
          <a:xfrm>
            <a:off x="268941" y="1298762"/>
            <a:ext cx="406908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rbel"/>
              <a:buNone/>
              <a:defRPr b="1" sz="3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94"/>
          <p:cNvSpPr txBox="1"/>
          <p:nvPr>
            <p:ph idx="1" type="body"/>
          </p:nvPr>
        </p:nvSpPr>
        <p:spPr>
          <a:xfrm>
            <a:off x="4783567" y="914400"/>
            <a:ext cx="406908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124" name="Google Shape;124;p94"/>
          <p:cNvSpPr txBox="1"/>
          <p:nvPr>
            <p:ph idx="2" type="body"/>
          </p:nvPr>
        </p:nvSpPr>
        <p:spPr>
          <a:xfrm>
            <a:off x="268941" y="2456329"/>
            <a:ext cx="4069080" cy="31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25" name="Google Shape;125;p9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8" name="Google Shape;128;p94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129" name="Google Shape;129;p94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94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94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5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4" name="Google Shape;134;p95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35" name="Google Shape;135;p9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9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95"/>
          <p:cNvSpPr txBox="1"/>
          <p:nvPr>
            <p:ph type="title"/>
          </p:nvPr>
        </p:nvSpPr>
        <p:spPr>
          <a:xfrm>
            <a:off x="363071" y="4800600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95"/>
          <p:cNvSpPr/>
          <p:nvPr>
            <p:ph idx="2" type="pic"/>
          </p:nvPr>
        </p:nvSpPr>
        <p:spPr>
          <a:xfrm>
            <a:off x="284163" y="457199"/>
            <a:ext cx="85770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95"/>
          <p:cNvSpPr txBox="1"/>
          <p:nvPr>
            <p:ph idx="1" type="body"/>
          </p:nvPr>
        </p:nvSpPr>
        <p:spPr>
          <a:xfrm>
            <a:off x="419099" y="5367338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41" name="Google Shape;141;p9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9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, Alt.">
  <p:cSld name="Picture with Caption, Alt.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6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46" name="Google Shape;146;p96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9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96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96"/>
          <p:cNvSpPr txBox="1"/>
          <p:nvPr>
            <p:ph type="title"/>
          </p:nvPr>
        </p:nvSpPr>
        <p:spPr>
          <a:xfrm>
            <a:off x="363071" y="4778189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rbel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96"/>
          <p:cNvSpPr/>
          <p:nvPr>
            <p:ph idx="2" type="pic"/>
          </p:nvPr>
        </p:nvSpPr>
        <p:spPr>
          <a:xfrm>
            <a:off x="284163" y="457200"/>
            <a:ext cx="8577072" cy="3822192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96"/>
          <p:cNvSpPr txBox="1"/>
          <p:nvPr>
            <p:ph idx="1" type="body"/>
          </p:nvPr>
        </p:nvSpPr>
        <p:spPr>
          <a:xfrm>
            <a:off x="419099" y="5344927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52" name="Google Shape;152;p9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6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, Picture, and Caption">
  <p:cSld name="Content, Picture, and Ca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7"/>
          <p:cNvSpPr txBox="1"/>
          <p:nvPr>
            <p:ph idx="1" type="body"/>
          </p:nvPr>
        </p:nvSpPr>
        <p:spPr>
          <a:xfrm>
            <a:off x="3657600" y="914400"/>
            <a:ext cx="5195047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157" name="Google Shape;157;p9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9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97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97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1" name="Google Shape;161;p97"/>
          <p:cNvSpPr txBox="1"/>
          <p:nvPr>
            <p:ph idx="2" type="body"/>
          </p:nvPr>
        </p:nvSpPr>
        <p:spPr>
          <a:xfrm>
            <a:off x="419101" y="4953001"/>
            <a:ext cx="2472017" cy="1246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62" name="Google Shape;162;p97"/>
          <p:cNvSpPr txBox="1"/>
          <p:nvPr>
            <p:ph type="title"/>
          </p:nvPr>
        </p:nvSpPr>
        <p:spPr>
          <a:xfrm>
            <a:off x="410764" y="4419600"/>
            <a:ext cx="2475395" cy="510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97"/>
          <p:cNvSpPr/>
          <p:nvPr>
            <p:ph idx="3" type="pic"/>
          </p:nvPr>
        </p:nvSpPr>
        <p:spPr>
          <a:xfrm>
            <a:off x="284164" y="594360"/>
            <a:ext cx="2743200" cy="36758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4" name="Google Shape;164;p97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5" name="Google Shape;165;p97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97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9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8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rgbClr val="262626">
              <a:alpha val="84313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70" name="Google Shape;170;p9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71" name="Google Shape;171;p9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9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9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98"/>
          <p:cNvSpPr txBox="1"/>
          <p:nvPr>
            <p:ph type="title"/>
          </p:nvPr>
        </p:nvSpPr>
        <p:spPr>
          <a:xfrm>
            <a:off x="3031661" y="4800600"/>
            <a:ext cx="569165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98"/>
          <p:cNvSpPr/>
          <p:nvPr>
            <p:ph idx="2" type="pic"/>
          </p:nvPr>
        </p:nvSpPr>
        <p:spPr>
          <a:xfrm>
            <a:off x="3021014" y="457199"/>
            <a:ext cx="58338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98"/>
          <p:cNvSpPr txBox="1"/>
          <p:nvPr>
            <p:ph idx="1" type="body"/>
          </p:nvPr>
        </p:nvSpPr>
        <p:spPr>
          <a:xfrm>
            <a:off x="3069805" y="5367338"/>
            <a:ext cx="5653507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77" name="Google Shape;177;p9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9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9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98"/>
          <p:cNvSpPr/>
          <p:nvPr>
            <p:ph idx="3" type="pic"/>
          </p:nvPr>
        </p:nvSpPr>
        <p:spPr>
          <a:xfrm>
            <a:off x="284164" y="457200"/>
            <a:ext cx="2736850" cy="2907792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98"/>
          <p:cNvSpPr/>
          <p:nvPr>
            <p:ph idx="4" type="pic"/>
          </p:nvPr>
        </p:nvSpPr>
        <p:spPr>
          <a:xfrm>
            <a:off x="284164" y="3364992"/>
            <a:ext cx="2736850" cy="28986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99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85" name="Google Shape;185;p9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9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99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99"/>
          <p:cNvSpPr txBox="1"/>
          <p:nvPr>
            <p:ph idx="1" type="body"/>
          </p:nvPr>
        </p:nvSpPr>
        <p:spPr>
          <a:xfrm rot="5400000">
            <a:off x="2564607" y="-146843"/>
            <a:ext cx="4013200" cy="857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190" name="Google Shape;190;p9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9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9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0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0"/>
          <p:cNvSpPr txBox="1"/>
          <p:nvPr>
            <p:ph type="title"/>
          </p:nvPr>
        </p:nvSpPr>
        <p:spPr>
          <a:xfrm rot="5400000">
            <a:off x="5219069" y="2949131"/>
            <a:ext cx="5921375" cy="969264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orbe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00"/>
          <p:cNvSpPr txBox="1"/>
          <p:nvPr>
            <p:ph idx="1" type="body"/>
          </p:nvPr>
        </p:nvSpPr>
        <p:spPr>
          <a:xfrm rot="5400000">
            <a:off x="564357" y="177007"/>
            <a:ext cx="5937250" cy="649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197" name="Google Shape;197;p10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0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0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0" name="Google Shape;200;p100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201" name="Google Shape;201;p100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0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0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ca3fabd02_0_323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bca3fabd02_0_323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bca3fabd02_0_323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g3bca3fabd02_0_323"/>
          <p:cNvSpPr/>
          <p:nvPr/>
        </p:nvSpPr>
        <p:spPr>
          <a:xfrm>
            <a:off x="284163" y="444728"/>
            <a:ext cx="8574000" cy="14685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15" name="Google Shape;215;g3bca3fabd02_0_323"/>
          <p:cNvGrpSpPr/>
          <p:nvPr/>
        </p:nvGrpSpPr>
        <p:grpSpPr>
          <a:xfrm>
            <a:off x="284163" y="1906542"/>
            <a:ext cx="8576301" cy="137400"/>
            <a:chOff x="284163" y="1759424"/>
            <a:chExt cx="8576301" cy="137400"/>
          </a:xfrm>
        </p:grpSpPr>
        <p:sp>
          <p:nvSpPr>
            <p:cNvPr id="216" name="Google Shape;216;g3bca3fabd02_0_323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bca3fabd02_0_323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bca3fabd02_0_323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bca3fabd02_0_323"/>
          <p:cNvSpPr txBox="1"/>
          <p:nvPr>
            <p:ph type="ctrTitle"/>
          </p:nvPr>
        </p:nvSpPr>
        <p:spPr>
          <a:xfrm>
            <a:off x="421341" y="449005"/>
            <a:ext cx="78090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bca3fabd02_0_323"/>
          <p:cNvSpPr txBox="1"/>
          <p:nvPr>
            <p:ph idx="1" type="subTitle"/>
          </p:nvPr>
        </p:nvSpPr>
        <p:spPr>
          <a:xfrm>
            <a:off x="476205" y="1532427"/>
            <a:ext cx="77541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1" name="Google Shape;221;g3bca3fabd02_0_323"/>
          <p:cNvSpPr/>
          <p:nvPr/>
        </p:nvSpPr>
        <p:spPr>
          <a:xfrm>
            <a:off x="284163" y="6227064"/>
            <a:ext cx="8574000" cy="1737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IUB logo" id="222" name="Google Shape;222;g3bca3fabd02_0_3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8596" y="459899"/>
            <a:ext cx="1419654" cy="142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ca3fabd02_0_336"/>
          <p:cNvSpPr/>
          <p:nvPr/>
        </p:nvSpPr>
        <p:spPr>
          <a:xfrm>
            <a:off x="284163" y="455773"/>
            <a:ext cx="8574000" cy="11340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g3bca3fabd02_0_336"/>
          <p:cNvGrpSpPr/>
          <p:nvPr/>
        </p:nvGrpSpPr>
        <p:grpSpPr>
          <a:xfrm>
            <a:off x="284163" y="1577847"/>
            <a:ext cx="8576301" cy="137400"/>
            <a:chOff x="284163" y="1577847"/>
            <a:chExt cx="8576301" cy="137400"/>
          </a:xfrm>
        </p:grpSpPr>
        <p:sp>
          <p:nvSpPr>
            <p:cNvPr id="226" name="Google Shape;226;g3bca3fabd02_0_33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bca3fabd02_0_33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bca3fabd02_0_33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g3bca3fabd02_0_336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bca3fabd02_0_336"/>
          <p:cNvSpPr txBox="1"/>
          <p:nvPr>
            <p:ph idx="1" type="body"/>
          </p:nvPr>
        </p:nvSpPr>
        <p:spPr>
          <a:xfrm>
            <a:off x="1781503" y="2133600"/>
            <a:ext cx="70767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231" name="Google Shape;231;g3bca3fabd02_0_336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bca3fabd02_0_336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bca3fabd02_0_336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ca3fabd02_0_347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bca3fabd02_0_347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7" name="Google Shape;237;g3bca3fabd02_0_347"/>
          <p:cNvGrpSpPr/>
          <p:nvPr/>
        </p:nvGrpSpPr>
        <p:grpSpPr>
          <a:xfrm>
            <a:off x="284170" y="452718"/>
            <a:ext cx="7365327" cy="137400"/>
            <a:chOff x="284163" y="1577847"/>
            <a:chExt cx="8576301" cy="137400"/>
          </a:xfrm>
        </p:grpSpPr>
        <p:sp>
          <p:nvSpPr>
            <p:cNvPr id="238" name="Google Shape;238;g3bca3fabd02_0_347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bca3fabd02_0_347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bca3fabd02_0_347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 result for AIUB logo" id="241" name="Google Shape;241;g3bca3fabd02_0_3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9374" y="55844"/>
            <a:ext cx="1279161" cy="128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ca3fabd02_0_355"/>
          <p:cNvSpPr/>
          <p:nvPr/>
        </p:nvSpPr>
        <p:spPr>
          <a:xfrm>
            <a:off x="284163" y="444728"/>
            <a:ext cx="8574000" cy="14685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4" name="Google Shape;244;g3bca3fabd02_0_355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g3bca3fabd02_0_355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3bca3fabd02_0_355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g3bca3fabd02_0_355"/>
          <p:cNvSpPr/>
          <p:nvPr>
            <p:ph idx="2" type="pic"/>
          </p:nvPr>
        </p:nvSpPr>
        <p:spPr>
          <a:xfrm>
            <a:off x="284162" y="2017058"/>
            <a:ext cx="8574000" cy="43773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g3bca3fabd02_0_355"/>
          <p:cNvSpPr txBox="1"/>
          <p:nvPr>
            <p:ph idx="1" type="subTitle"/>
          </p:nvPr>
        </p:nvSpPr>
        <p:spPr>
          <a:xfrm>
            <a:off x="472420" y="1532965"/>
            <a:ext cx="77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49" name="Google Shape;249;g3bca3fabd02_0_355"/>
          <p:cNvGrpSpPr/>
          <p:nvPr/>
        </p:nvGrpSpPr>
        <p:grpSpPr>
          <a:xfrm>
            <a:off x="284163" y="1906542"/>
            <a:ext cx="8576301" cy="137400"/>
            <a:chOff x="284163" y="1759424"/>
            <a:chExt cx="8576301" cy="137400"/>
          </a:xfrm>
        </p:grpSpPr>
        <p:sp>
          <p:nvSpPr>
            <p:cNvPr id="250" name="Google Shape;250;g3bca3fabd02_0_355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g3bca3fabd02_0_355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bca3fabd02_0_355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g3bca3fabd02_0_355"/>
          <p:cNvSpPr txBox="1"/>
          <p:nvPr/>
        </p:nvSpPr>
        <p:spPr>
          <a:xfrm>
            <a:off x="8230889" y="444728"/>
            <a:ext cx="5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bca3fabd02_0_355"/>
          <p:cNvSpPr txBox="1"/>
          <p:nvPr>
            <p:ph type="ctrTitle"/>
          </p:nvPr>
        </p:nvSpPr>
        <p:spPr>
          <a:xfrm>
            <a:off x="418633" y="444728"/>
            <a:ext cx="78111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ca3fabd02_0_368"/>
          <p:cNvSpPr/>
          <p:nvPr/>
        </p:nvSpPr>
        <p:spPr>
          <a:xfrm>
            <a:off x="284163" y="4801575"/>
            <a:ext cx="8574000" cy="14685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57" name="Google Shape;257;g3bca3fabd02_0_368"/>
          <p:cNvGrpSpPr/>
          <p:nvPr/>
        </p:nvGrpSpPr>
        <p:grpSpPr>
          <a:xfrm>
            <a:off x="284163" y="6263389"/>
            <a:ext cx="8576301" cy="137400"/>
            <a:chOff x="284163" y="1759424"/>
            <a:chExt cx="8576301" cy="137400"/>
          </a:xfrm>
        </p:grpSpPr>
        <p:sp>
          <p:nvSpPr>
            <p:cNvPr id="258" name="Google Shape;258;g3bca3fabd02_0_368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bca3fabd02_0_368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g3bca3fabd02_0_368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bca3fabd02_0_368"/>
          <p:cNvSpPr txBox="1"/>
          <p:nvPr/>
        </p:nvSpPr>
        <p:spPr>
          <a:xfrm>
            <a:off x="8230889" y="4801575"/>
            <a:ext cx="5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bca3fabd02_0_368"/>
          <p:cNvSpPr txBox="1"/>
          <p:nvPr>
            <p:ph type="title"/>
          </p:nvPr>
        </p:nvSpPr>
        <p:spPr>
          <a:xfrm>
            <a:off x="429768" y="4814125"/>
            <a:ext cx="7772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3bca3fabd02_0_368"/>
          <p:cNvSpPr txBox="1"/>
          <p:nvPr>
            <p:ph idx="1" type="body"/>
          </p:nvPr>
        </p:nvSpPr>
        <p:spPr>
          <a:xfrm>
            <a:off x="475488" y="5861304"/>
            <a:ext cx="7735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4" name="Google Shape;264;g3bca3fabd02_0_368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bca3fabd02_0_368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3bca3fabd02_0_368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Picture">
  <p:cSld name="Section with Picture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ca3fabd02_0_380"/>
          <p:cNvSpPr/>
          <p:nvPr>
            <p:ph idx="2" type="pic"/>
          </p:nvPr>
        </p:nvSpPr>
        <p:spPr>
          <a:xfrm>
            <a:off x="284162" y="443754"/>
            <a:ext cx="8574000" cy="43704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g3bca3fabd02_0_380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3bca3fabd02_0_380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bca3fabd02_0_380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g3bca3fabd02_0_380"/>
          <p:cNvSpPr/>
          <p:nvPr/>
        </p:nvSpPr>
        <p:spPr>
          <a:xfrm>
            <a:off x="284163" y="4801575"/>
            <a:ext cx="8574000" cy="14685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73" name="Google Shape;273;g3bca3fabd02_0_380"/>
          <p:cNvGrpSpPr/>
          <p:nvPr/>
        </p:nvGrpSpPr>
        <p:grpSpPr>
          <a:xfrm>
            <a:off x="284163" y="6263389"/>
            <a:ext cx="8576301" cy="137400"/>
            <a:chOff x="284163" y="1759424"/>
            <a:chExt cx="8576301" cy="137400"/>
          </a:xfrm>
        </p:grpSpPr>
        <p:sp>
          <p:nvSpPr>
            <p:cNvPr id="274" name="Google Shape;274;g3bca3fabd02_0_380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g3bca3fabd02_0_380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g3bca3fabd02_0_380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g3bca3fabd02_0_380"/>
          <p:cNvSpPr txBox="1"/>
          <p:nvPr/>
        </p:nvSpPr>
        <p:spPr>
          <a:xfrm>
            <a:off x="8230889" y="4801575"/>
            <a:ext cx="58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bca3fabd02_0_380"/>
          <p:cNvSpPr txBox="1"/>
          <p:nvPr>
            <p:ph type="title"/>
          </p:nvPr>
        </p:nvSpPr>
        <p:spPr>
          <a:xfrm>
            <a:off x="430306" y="4814047"/>
            <a:ext cx="77724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bca3fabd02_0_380"/>
          <p:cNvSpPr txBox="1"/>
          <p:nvPr>
            <p:ph idx="1" type="body"/>
          </p:nvPr>
        </p:nvSpPr>
        <p:spPr>
          <a:xfrm>
            <a:off x="470647" y="5862918"/>
            <a:ext cx="77322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ca3fabd02_0_393"/>
          <p:cNvSpPr/>
          <p:nvPr/>
        </p:nvSpPr>
        <p:spPr>
          <a:xfrm>
            <a:off x="284163" y="455773"/>
            <a:ext cx="8574000" cy="11340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Google Shape;282;g3bca3fabd02_0_393"/>
          <p:cNvGrpSpPr/>
          <p:nvPr/>
        </p:nvGrpSpPr>
        <p:grpSpPr>
          <a:xfrm>
            <a:off x="284163" y="1577847"/>
            <a:ext cx="8576301" cy="137400"/>
            <a:chOff x="284163" y="1577847"/>
            <a:chExt cx="8576301" cy="137400"/>
          </a:xfrm>
        </p:grpSpPr>
        <p:sp>
          <p:nvSpPr>
            <p:cNvPr id="283" name="Google Shape;283;g3bca3fabd02_0_39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g3bca3fabd02_0_39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g3bca3fabd02_0_39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g3bca3fabd02_0_393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g3bca3fabd02_0_393"/>
          <p:cNvSpPr txBox="1"/>
          <p:nvPr>
            <p:ph idx="1" type="body"/>
          </p:nvPr>
        </p:nvSpPr>
        <p:spPr>
          <a:xfrm>
            <a:off x="403412" y="2151063"/>
            <a:ext cx="3931800" cy="3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288" name="Google Shape;288;g3bca3fabd02_0_393"/>
          <p:cNvSpPr txBox="1"/>
          <p:nvPr>
            <p:ph idx="2" type="body"/>
          </p:nvPr>
        </p:nvSpPr>
        <p:spPr>
          <a:xfrm>
            <a:off x="4778188" y="2151063"/>
            <a:ext cx="3931800" cy="3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289" name="Google Shape;289;g3bca3fabd02_0_393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g3bca3fabd02_0_393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g3bca3fabd02_0_393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ca3fabd02_0_405"/>
          <p:cNvSpPr/>
          <p:nvPr/>
        </p:nvSpPr>
        <p:spPr>
          <a:xfrm>
            <a:off x="284163" y="455773"/>
            <a:ext cx="8574000" cy="11340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g3bca3fabd02_0_405"/>
          <p:cNvGrpSpPr/>
          <p:nvPr/>
        </p:nvGrpSpPr>
        <p:grpSpPr>
          <a:xfrm>
            <a:off x="284163" y="1577847"/>
            <a:ext cx="8576301" cy="137400"/>
            <a:chOff x="284163" y="1577847"/>
            <a:chExt cx="8576301" cy="137400"/>
          </a:xfrm>
        </p:grpSpPr>
        <p:sp>
          <p:nvSpPr>
            <p:cNvPr id="295" name="Google Shape;295;g3bca3fabd02_0_40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bca3fabd02_0_40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g3bca3fabd02_0_40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g3bca3fabd02_0_405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g3bca3fabd02_0_405"/>
          <p:cNvSpPr txBox="1"/>
          <p:nvPr>
            <p:ph idx="1" type="body"/>
          </p:nvPr>
        </p:nvSpPr>
        <p:spPr>
          <a:xfrm>
            <a:off x="403412" y="1735138"/>
            <a:ext cx="39318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300" name="Google Shape;300;g3bca3fabd02_0_405"/>
          <p:cNvSpPr txBox="1"/>
          <p:nvPr>
            <p:ph idx="2" type="body"/>
          </p:nvPr>
        </p:nvSpPr>
        <p:spPr>
          <a:xfrm>
            <a:off x="403412" y="2590800"/>
            <a:ext cx="3931800" cy="3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6pPr>
            <a:lvl7pPr indent="-32003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7pPr>
            <a:lvl8pPr indent="-32004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8pPr>
            <a:lvl9pPr indent="-32004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9pPr>
          </a:lstStyle>
          <a:p/>
        </p:txBody>
      </p:sp>
      <p:sp>
        <p:nvSpPr>
          <p:cNvPr id="301" name="Google Shape;301;g3bca3fabd02_0_405"/>
          <p:cNvSpPr txBox="1"/>
          <p:nvPr>
            <p:ph idx="3" type="body"/>
          </p:nvPr>
        </p:nvSpPr>
        <p:spPr>
          <a:xfrm>
            <a:off x="4779495" y="1735138"/>
            <a:ext cx="39318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302" name="Google Shape;302;g3bca3fabd02_0_405"/>
          <p:cNvSpPr txBox="1"/>
          <p:nvPr>
            <p:ph idx="4" type="body"/>
          </p:nvPr>
        </p:nvSpPr>
        <p:spPr>
          <a:xfrm>
            <a:off x="4779495" y="2590800"/>
            <a:ext cx="3931800" cy="3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6pPr>
            <a:lvl7pPr indent="-32003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7pPr>
            <a:lvl8pPr indent="-32004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8pPr>
            <a:lvl9pPr indent="-32004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  <a:defRPr sz="1600"/>
            </a:lvl9pPr>
          </a:lstStyle>
          <a:p/>
        </p:txBody>
      </p:sp>
      <p:sp>
        <p:nvSpPr>
          <p:cNvPr id="303" name="Google Shape;303;g3bca3fabd02_0_405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g3bca3fabd02_0_405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g3bca3fabd02_0_405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ca3fabd02_0_419"/>
          <p:cNvSpPr/>
          <p:nvPr/>
        </p:nvSpPr>
        <p:spPr>
          <a:xfrm>
            <a:off x="284163" y="455773"/>
            <a:ext cx="8574000" cy="11340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g3bca3fabd02_0_419"/>
          <p:cNvGrpSpPr/>
          <p:nvPr/>
        </p:nvGrpSpPr>
        <p:grpSpPr>
          <a:xfrm>
            <a:off x="284163" y="1577847"/>
            <a:ext cx="8576301" cy="137400"/>
            <a:chOff x="284163" y="1577847"/>
            <a:chExt cx="8576301" cy="137400"/>
          </a:xfrm>
        </p:grpSpPr>
        <p:sp>
          <p:nvSpPr>
            <p:cNvPr id="309" name="Google Shape;309;g3bca3fabd02_0_419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bca3fabd02_0_419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g3bca3fabd02_0_419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3bca3fabd02_0_419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g3bca3fabd02_0_419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g3bca3fabd02_0_419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g3bca3fabd02_0_419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ca3fabd02_0_429"/>
          <p:cNvSpPr txBox="1"/>
          <p:nvPr>
            <p:ph type="title"/>
          </p:nvPr>
        </p:nvSpPr>
        <p:spPr>
          <a:xfrm>
            <a:off x="268941" y="1298762"/>
            <a:ext cx="4069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rbel"/>
              <a:buNone/>
              <a:defRPr b="1" sz="3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g3bca3fabd02_0_429"/>
          <p:cNvSpPr txBox="1"/>
          <p:nvPr>
            <p:ph idx="1" type="body"/>
          </p:nvPr>
        </p:nvSpPr>
        <p:spPr>
          <a:xfrm>
            <a:off x="4783567" y="914400"/>
            <a:ext cx="4069200" cy="52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319" name="Google Shape;319;g3bca3fabd02_0_429"/>
          <p:cNvSpPr txBox="1"/>
          <p:nvPr>
            <p:ph idx="2" type="body"/>
          </p:nvPr>
        </p:nvSpPr>
        <p:spPr>
          <a:xfrm>
            <a:off x="268941" y="2456329"/>
            <a:ext cx="40692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320" name="Google Shape;320;g3bca3fabd02_0_429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g3bca3fabd02_0_429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g3bca3fabd02_0_429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3" name="Google Shape;323;g3bca3fabd02_0_429"/>
          <p:cNvGrpSpPr/>
          <p:nvPr/>
        </p:nvGrpSpPr>
        <p:grpSpPr>
          <a:xfrm>
            <a:off x="284163" y="452718"/>
            <a:ext cx="8576301" cy="137400"/>
            <a:chOff x="284163" y="1577847"/>
            <a:chExt cx="8576301" cy="137400"/>
          </a:xfrm>
        </p:grpSpPr>
        <p:sp>
          <p:nvSpPr>
            <p:cNvPr id="324" name="Google Shape;324;g3bca3fabd02_0_429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g3bca3fabd02_0_429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g3bca3fabd02_0_429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ca3fabd02_0_440"/>
          <p:cNvSpPr/>
          <p:nvPr/>
        </p:nvSpPr>
        <p:spPr>
          <a:xfrm>
            <a:off x="284163" y="4801575"/>
            <a:ext cx="8574000" cy="14685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29" name="Google Shape;329;g3bca3fabd02_0_440"/>
          <p:cNvGrpSpPr/>
          <p:nvPr/>
        </p:nvGrpSpPr>
        <p:grpSpPr>
          <a:xfrm>
            <a:off x="284163" y="6263389"/>
            <a:ext cx="8576301" cy="137400"/>
            <a:chOff x="284163" y="1759424"/>
            <a:chExt cx="8576301" cy="137400"/>
          </a:xfrm>
        </p:grpSpPr>
        <p:sp>
          <p:nvSpPr>
            <p:cNvPr id="330" name="Google Shape;330;g3bca3fabd02_0_440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g3bca3fabd02_0_440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g3bca3fabd02_0_440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g3bca3fabd02_0_440"/>
          <p:cNvSpPr txBox="1"/>
          <p:nvPr>
            <p:ph type="title"/>
          </p:nvPr>
        </p:nvSpPr>
        <p:spPr>
          <a:xfrm>
            <a:off x="363071" y="4800600"/>
            <a:ext cx="83601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g3bca3fabd02_0_440"/>
          <p:cNvSpPr/>
          <p:nvPr>
            <p:ph idx="2" type="pic"/>
          </p:nvPr>
        </p:nvSpPr>
        <p:spPr>
          <a:xfrm>
            <a:off x="284163" y="457199"/>
            <a:ext cx="8577000" cy="43524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g3bca3fabd02_0_440"/>
          <p:cNvSpPr txBox="1"/>
          <p:nvPr>
            <p:ph idx="1" type="body"/>
          </p:nvPr>
        </p:nvSpPr>
        <p:spPr>
          <a:xfrm>
            <a:off x="419099" y="5367338"/>
            <a:ext cx="83043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336" name="Google Shape;336;g3bca3fabd02_0_440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g3bca3fabd02_0_440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g3bca3fabd02_0_440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, Alt.">
  <p:cSld name="Picture with Caption, Alt.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g3bca3fabd02_0_452"/>
          <p:cNvGrpSpPr/>
          <p:nvPr/>
        </p:nvGrpSpPr>
        <p:grpSpPr>
          <a:xfrm>
            <a:off x="284163" y="4280647"/>
            <a:ext cx="8576301" cy="137400"/>
            <a:chOff x="284163" y="1759424"/>
            <a:chExt cx="8576301" cy="137400"/>
          </a:xfrm>
        </p:grpSpPr>
        <p:sp>
          <p:nvSpPr>
            <p:cNvPr id="341" name="Google Shape;341;g3bca3fabd02_0_452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g3bca3fabd02_0_452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g3bca3fabd02_0_452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g3bca3fabd02_0_452"/>
          <p:cNvSpPr txBox="1"/>
          <p:nvPr>
            <p:ph type="title"/>
          </p:nvPr>
        </p:nvSpPr>
        <p:spPr>
          <a:xfrm>
            <a:off x="363071" y="4778189"/>
            <a:ext cx="83601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rbel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g3bca3fabd02_0_452"/>
          <p:cNvSpPr/>
          <p:nvPr>
            <p:ph idx="2" type="pic"/>
          </p:nvPr>
        </p:nvSpPr>
        <p:spPr>
          <a:xfrm>
            <a:off x="284163" y="457200"/>
            <a:ext cx="8577000" cy="38223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g3bca3fabd02_0_452"/>
          <p:cNvSpPr txBox="1"/>
          <p:nvPr>
            <p:ph idx="1" type="body"/>
          </p:nvPr>
        </p:nvSpPr>
        <p:spPr>
          <a:xfrm>
            <a:off x="419099" y="5344927"/>
            <a:ext cx="83043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347" name="Google Shape;347;g3bca3fabd02_0_452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g3bca3fabd02_0_452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g3bca3fabd02_0_452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, Picture, and Caption">
  <p:cSld name="Content, Picture, and 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ca3fabd02_0_463"/>
          <p:cNvSpPr txBox="1"/>
          <p:nvPr>
            <p:ph idx="1" type="body"/>
          </p:nvPr>
        </p:nvSpPr>
        <p:spPr>
          <a:xfrm>
            <a:off x="3657600" y="914400"/>
            <a:ext cx="5195100" cy="52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Char char="?"/>
              <a:defRPr sz="22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 sz="2000"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 sz="1800"/>
            </a:lvl9pPr>
          </a:lstStyle>
          <a:p/>
        </p:txBody>
      </p:sp>
      <p:sp>
        <p:nvSpPr>
          <p:cNvPr id="352" name="Google Shape;352;g3bca3fabd02_0_463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g3bca3fabd02_0_463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g3bca3fabd02_0_463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g3bca3fabd02_0_463"/>
          <p:cNvSpPr/>
          <p:nvPr/>
        </p:nvSpPr>
        <p:spPr>
          <a:xfrm>
            <a:off x="284163" y="4267200"/>
            <a:ext cx="2743200" cy="21201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6" name="Google Shape;356;g3bca3fabd02_0_463"/>
          <p:cNvSpPr txBox="1"/>
          <p:nvPr>
            <p:ph idx="2" type="body"/>
          </p:nvPr>
        </p:nvSpPr>
        <p:spPr>
          <a:xfrm>
            <a:off x="419101" y="4953001"/>
            <a:ext cx="24720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357" name="Google Shape;357;g3bca3fabd02_0_463"/>
          <p:cNvSpPr txBox="1"/>
          <p:nvPr>
            <p:ph type="title"/>
          </p:nvPr>
        </p:nvSpPr>
        <p:spPr>
          <a:xfrm>
            <a:off x="410764" y="4419600"/>
            <a:ext cx="24753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g3bca3fabd02_0_463"/>
          <p:cNvSpPr/>
          <p:nvPr>
            <p:ph idx="3" type="pic"/>
          </p:nvPr>
        </p:nvSpPr>
        <p:spPr>
          <a:xfrm>
            <a:off x="284164" y="594360"/>
            <a:ext cx="2743200" cy="3675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59" name="Google Shape;359;g3bca3fabd02_0_463"/>
          <p:cNvGrpSpPr/>
          <p:nvPr/>
        </p:nvGrpSpPr>
        <p:grpSpPr>
          <a:xfrm>
            <a:off x="284163" y="461682"/>
            <a:ext cx="8576301" cy="137400"/>
            <a:chOff x="284163" y="1759424"/>
            <a:chExt cx="8576301" cy="137400"/>
          </a:xfrm>
        </p:grpSpPr>
        <p:sp>
          <p:nvSpPr>
            <p:cNvPr id="360" name="Google Shape;360;g3bca3fabd02_0_463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g3bca3fabd02_0_463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g3bca3fabd02_0_463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ca3fabd02_0_476"/>
          <p:cNvSpPr/>
          <p:nvPr/>
        </p:nvSpPr>
        <p:spPr>
          <a:xfrm>
            <a:off x="3021013" y="4801575"/>
            <a:ext cx="5837100" cy="1468500"/>
          </a:xfrm>
          <a:prstGeom prst="rect">
            <a:avLst/>
          </a:prstGeom>
          <a:solidFill>
            <a:srgbClr val="262626">
              <a:alpha val="83920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65" name="Google Shape;365;g3bca3fabd02_0_476"/>
          <p:cNvGrpSpPr/>
          <p:nvPr/>
        </p:nvGrpSpPr>
        <p:grpSpPr>
          <a:xfrm>
            <a:off x="284163" y="6263389"/>
            <a:ext cx="8576301" cy="137400"/>
            <a:chOff x="284163" y="1759424"/>
            <a:chExt cx="8576301" cy="137400"/>
          </a:xfrm>
        </p:grpSpPr>
        <p:sp>
          <p:nvSpPr>
            <p:cNvPr id="366" name="Google Shape;366;g3bca3fabd02_0_476"/>
            <p:cNvSpPr/>
            <p:nvPr/>
          </p:nvSpPr>
          <p:spPr>
            <a:xfrm>
              <a:off x="284163" y="1759424"/>
              <a:ext cx="2743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g3bca3fabd02_0_476"/>
            <p:cNvSpPr/>
            <p:nvPr/>
          </p:nvSpPr>
          <p:spPr>
            <a:xfrm>
              <a:off x="3026392" y="1759424"/>
              <a:ext cx="1600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g3bca3fabd02_0_476"/>
            <p:cNvSpPr/>
            <p:nvPr/>
          </p:nvSpPr>
          <p:spPr>
            <a:xfrm>
              <a:off x="4626864" y="1759424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" name="Google Shape;369;g3bca3fabd02_0_476"/>
          <p:cNvSpPr txBox="1"/>
          <p:nvPr>
            <p:ph type="title"/>
          </p:nvPr>
        </p:nvSpPr>
        <p:spPr>
          <a:xfrm>
            <a:off x="3031661" y="4800600"/>
            <a:ext cx="56916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g3bca3fabd02_0_476"/>
          <p:cNvSpPr/>
          <p:nvPr>
            <p:ph idx="2" type="pic"/>
          </p:nvPr>
        </p:nvSpPr>
        <p:spPr>
          <a:xfrm>
            <a:off x="3021014" y="457199"/>
            <a:ext cx="5833800" cy="43524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g3bca3fabd02_0_476"/>
          <p:cNvSpPr txBox="1"/>
          <p:nvPr>
            <p:ph idx="1" type="body"/>
          </p:nvPr>
        </p:nvSpPr>
        <p:spPr>
          <a:xfrm>
            <a:off x="3069805" y="5367338"/>
            <a:ext cx="56535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372" name="Google Shape;372;g3bca3fabd02_0_476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g3bca3fabd02_0_476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g3bca3fabd02_0_476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g3bca3fabd02_0_476"/>
          <p:cNvSpPr/>
          <p:nvPr>
            <p:ph idx="3" type="pic"/>
          </p:nvPr>
        </p:nvSpPr>
        <p:spPr>
          <a:xfrm>
            <a:off x="284164" y="457200"/>
            <a:ext cx="2736900" cy="29079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g3bca3fabd02_0_476"/>
          <p:cNvSpPr/>
          <p:nvPr>
            <p:ph idx="4" type="pic"/>
          </p:nvPr>
        </p:nvSpPr>
        <p:spPr>
          <a:xfrm>
            <a:off x="284164" y="3364992"/>
            <a:ext cx="2736900" cy="289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ca3fabd02_0_490"/>
          <p:cNvSpPr/>
          <p:nvPr/>
        </p:nvSpPr>
        <p:spPr>
          <a:xfrm>
            <a:off x="284163" y="455773"/>
            <a:ext cx="8574000" cy="11340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" name="Google Shape;379;g3bca3fabd02_0_490"/>
          <p:cNvGrpSpPr/>
          <p:nvPr/>
        </p:nvGrpSpPr>
        <p:grpSpPr>
          <a:xfrm>
            <a:off x="284163" y="1577847"/>
            <a:ext cx="8576301" cy="137400"/>
            <a:chOff x="284163" y="1577847"/>
            <a:chExt cx="8576301" cy="137400"/>
          </a:xfrm>
        </p:grpSpPr>
        <p:sp>
          <p:nvSpPr>
            <p:cNvPr id="380" name="Google Shape;380;g3bca3fabd02_0_490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g3bca3fabd02_0_490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g3bca3fabd02_0_490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g3bca3fabd02_0_490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g3bca3fabd02_0_490"/>
          <p:cNvSpPr txBox="1"/>
          <p:nvPr>
            <p:ph idx="1" type="body"/>
          </p:nvPr>
        </p:nvSpPr>
        <p:spPr>
          <a:xfrm rot="5400000">
            <a:off x="2564701" y="-146849"/>
            <a:ext cx="4013100" cy="8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385" name="Google Shape;385;g3bca3fabd02_0_490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g3bca3fabd02_0_490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g3bca3fabd02_0_490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ca3fabd02_0_501"/>
          <p:cNvSpPr/>
          <p:nvPr/>
        </p:nvSpPr>
        <p:spPr>
          <a:xfrm rot="5400000">
            <a:off x="5313864" y="2857502"/>
            <a:ext cx="5934600" cy="11340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bca3fabd02_0_501"/>
          <p:cNvSpPr txBox="1"/>
          <p:nvPr>
            <p:ph type="title"/>
          </p:nvPr>
        </p:nvSpPr>
        <p:spPr>
          <a:xfrm rot="5400000">
            <a:off x="5219038" y="2949125"/>
            <a:ext cx="5921400" cy="9693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orbe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g3bca3fabd02_0_501"/>
          <p:cNvSpPr txBox="1"/>
          <p:nvPr>
            <p:ph idx="1" type="body"/>
          </p:nvPr>
        </p:nvSpPr>
        <p:spPr>
          <a:xfrm rot="5400000">
            <a:off x="564301" y="177000"/>
            <a:ext cx="5937300" cy="6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Char char="?"/>
              <a:defRPr/>
            </a:lvl1pPr>
            <a:lvl2pPr indent="-33146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2pPr>
            <a:lvl3pPr indent="-33146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5pPr>
            <a:lvl6pPr indent="-33147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6pPr>
            <a:lvl7pPr indent="-33147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7pPr>
            <a:lvl8pPr indent="-33147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8pPr>
            <a:lvl9pPr indent="-33147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  <a:defRPr/>
            </a:lvl9pPr>
          </a:lstStyle>
          <a:p/>
        </p:txBody>
      </p:sp>
      <p:sp>
        <p:nvSpPr>
          <p:cNvPr id="392" name="Google Shape;392;g3bca3fabd02_0_501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g3bca3fabd02_0_501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g3bca3fabd02_0_501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5" name="Google Shape;395;g3bca3fabd02_0_501"/>
          <p:cNvGrpSpPr/>
          <p:nvPr/>
        </p:nvGrpSpPr>
        <p:grpSpPr>
          <a:xfrm rot="5400000">
            <a:off x="4658557" y="3355914"/>
            <a:ext cx="5934800" cy="137400"/>
            <a:chOff x="284163" y="1577847"/>
            <a:chExt cx="8576301" cy="137400"/>
          </a:xfrm>
        </p:grpSpPr>
        <p:sp>
          <p:nvSpPr>
            <p:cNvPr id="396" name="Google Shape;396;g3bca3fabd02_0_501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g3bca3fabd02_0_501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g3bca3fabd02_0_501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576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🡽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980"/>
              <a:buFont typeface="Noto Sans Symbols"/>
              <a:buChar char="🡽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🡽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6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84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ca3fabd02_0_317"/>
          <p:cNvSpPr txBox="1"/>
          <p:nvPr>
            <p:ph idx="1" type="body"/>
          </p:nvPr>
        </p:nvSpPr>
        <p:spPr>
          <a:xfrm>
            <a:off x="1781503" y="2133600"/>
            <a:ext cx="70767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5760" lvl="0" marL="457200" marR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🡽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980"/>
              <a:buFont typeface="Noto Sans Symbols"/>
              <a:buChar char="🡽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🡽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69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g3bca3fabd02_0_317"/>
          <p:cNvSpPr txBox="1"/>
          <p:nvPr>
            <p:ph idx="10" type="dt"/>
          </p:nvPr>
        </p:nvSpPr>
        <p:spPr>
          <a:xfrm>
            <a:off x="6794936" y="643703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g3bca3fabd02_0_317"/>
          <p:cNvSpPr txBox="1"/>
          <p:nvPr>
            <p:ph idx="11" type="ftr"/>
          </p:nvPr>
        </p:nvSpPr>
        <p:spPr>
          <a:xfrm>
            <a:off x="199698" y="6437032"/>
            <a:ext cx="612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g3bca3fabd02_0_317"/>
          <p:cNvSpPr txBox="1"/>
          <p:nvPr>
            <p:ph idx="12" type="sldNum"/>
          </p:nvPr>
        </p:nvSpPr>
        <p:spPr>
          <a:xfrm>
            <a:off x="8306459" y="167347"/>
            <a:ext cx="6306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bca3fabd02_0_317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"/>
          <p:cNvSpPr txBox="1"/>
          <p:nvPr>
            <p:ph type="ctrTitle"/>
          </p:nvPr>
        </p:nvSpPr>
        <p:spPr>
          <a:xfrm>
            <a:off x="593869" y="2599157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Solving Problem by Searching :</a:t>
            </a:r>
            <a:br>
              <a:rPr lang="en-US"/>
            </a:br>
            <a:r>
              <a:rPr lang="en-US"/>
              <a:t>Uninformed Search</a:t>
            </a:r>
            <a:endParaRPr/>
          </a:p>
        </p:txBody>
      </p:sp>
      <p:sp>
        <p:nvSpPr>
          <p:cNvPr id="404" name="Google Shape;404;p1"/>
          <p:cNvSpPr txBox="1"/>
          <p:nvPr/>
        </p:nvSpPr>
        <p:spPr>
          <a:xfrm>
            <a:off x="2786003" y="3444977"/>
            <a:ext cx="523257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 Title: 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Artificial Intelligence and Expert System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"/>
          <p:cNvSpPr txBox="1"/>
          <p:nvPr/>
        </p:nvSpPr>
        <p:spPr>
          <a:xfrm>
            <a:off x="229371" y="2599157"/>
            <a:ext cx="90246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Science and Technology</a:t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6" name="Google Shape;406;p1"/>
          <p:cNvGraphicFramePr/>
          <p:nvPr/>
        </p:nvGraphicFramePr>
        <p:xfrm>
          <a:off x="395703" y="5244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{5E05BC81-1BB4-40E3-B7F6-D5C64D509D01}</a:tableStyleId>
              </a:tblPr>
              <a:tblGrid>
                <a:gridCol w="1483225"/>
                <a:gridCol w="1397725"/>
                <a:gridCol w="1227900"/>
                <a:gridCol w="795025"/>
                <a:gridCol w="1396175"/>
                <a:gridCol w="2035725"/>
              </a:tblGrid>
              <a:tr h="3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Lecture No: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No: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Semester: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pring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202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Lecturer: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Prof. Dr. Firoz Ahmed </a:t>
                      </a:r>
                      <a:r>
                        <a:rPr i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</a:t>
                      </a:r>
                      <a:r>
                        <a:rPr i="1" lang="en-US" sz="1800" u="none" cap="none" strike="noStrike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fahmed@aiub.edu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407" name="Google Shape;407;p1"/>
          <p:cNvSpPr txBox="1"/>
          <p:nvPr/>
        </p:nvSpPr>
        <p:spPr>
          <a:xfrm>
            <a:off x="445383" y="1111188"/>
            <a:ext cx="419853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Course Code:  </a:t>
            </a:r>
            <a:r>
              <a:rPr b="1" i="0" lang="en-US" sz="3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CSC4226 </a:t>
            </a:r>
            <a:endParaRPr b="0" i="0" sz="3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1"/>
          <p:cNvSpPr txBox="1"/>
          <p:nvPr/>
        </p:nvSpPr>
        <p:spPr>
          <a:xfrm>
            <a:off x="441889" y="718004"/>
            <a:ext cx="849662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52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Solving Problem by Searching: Uninformed Search </a:t>
            </a:r>
            <a:br>
              <a:rPr b="1" i="0" lang="en-US" sz="28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"/>
          <p:cNvSpPr txBox="1"/>
          <p:nvPr>
            <p:ph idx="1" type="subTitle"/>
          </p:nvPr>
        </p:nvSpPr>
        <p:spPr>
          <a:xfrm>
            <a:off x="486697" y="2363928"/>
            <a:ext cx="7754112" cy="3009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Problem-Solving Agents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Problems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for Solutions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Uninformed Search Strategies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2"/>
          <p:cNvSpPr txBox="1"/>
          <p:nvPr/>
        </p:nvSpPr>
        <p:spPr>
          <a:xfrm>
            <a:off x="203854" y="385816"/>
            <a:ext cx="5869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r>
              <a:rPr b="1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"/>
          <p:cNvSpPr txBox="1"/>
          <p:nvPr>
            <p:ph idx="1" type="body"/>
          </p:nvPr>
        </p:nvSpPr>
        <p:spPr>
          <a:xfrm>
            <a:off x="319177" y="1708030"/>
            <a:ext cx="8539073" cy="4418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⮚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problem-solving agent performs precisely by defining problems and its several solutions.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90"/>
              <a:buFont typeface="Noto Sans Symbols"/>
              <a:buChar char="⮚"/>
            </a:pPr>
            <a:r>
              <a:rPr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psychology, “a problem-solving refers to a state where we wish to reach to a definite goal from a present state or condition.”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90"/>
              <a:buFont typeface="Noto Sans Symbols"/>
              <a:buChar char="⮚"/>
            </a:pPr>
            <a:r>
              <a:rPr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computer science, a problem-solving is a part of artificial intelligence which encompasses a number of techniques such as algorithms, heuristics to solve a problem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Font typeface="Noto Sans Symbols"/>
              <a:buChar char="⮚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a problem-solving agent is a goal-driven agent and focuses on satisfying the goal.</a:t>
            </a:r>
            <a:endParaRPr/>
          </a:p>
          <a:p>
            <a:pPr indent="-31686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"/>
          <p:cNvSpPr txBox="1"/>
          <p:nvPr/>
        </p:nvSpPr>
        <p:spPr>
          <a:xfrm>
            <a:off x="203854" y="385816"/>
            <a:ext cx="5869141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Solving Agent</a:t>
            </a:r>
            <a:r>
              <a:rPr b="1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"/>
          <p:cNvSpPr/>
          <p:nvPr/>
        </p:nvSpPr>
        <p:spPr>
          <a:xfrm>
            <a:off x="246184" y="2032059"/>
            <a:ext cx="863052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Steps in problem solving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"/>
          <p:cNvSpPr txBox="1"/>
          <p:nvPr>
            <p:ph idx="1" type="body"/>
          </p:nvPr>
        </p:nvSpPr>
        <p:spPr>
          <a:xfrm>
            <a:off x="310551" y="1716658"/>
            <a:ext cx="8547699" cy="4409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⮚"/>
            </a:pPr>
            <a:r>
              <a:rPr b="1" i="0" lang="en-US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Formulation: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🗹"/>
            </a:pPr>
            <a:r>
              <a:rPr b="0" i="0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first and simplest step in problem-solving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🗹"/>
            </a:pPr>
            <a:r>
              <a:rPr b="0" i="0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organizes the steps/sequence required to formulate one goal out of multiple goals as well as actions to achieve that goal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🗹"/>
            </a:pPr>
            <a:r>
              <a:rPr b="0" i="0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formulation is based on the current situation and the agent’s performance measure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7"/>
          <p:cNvSpPr txBox="1"/>
          <p:nvPr/>
        </p:nvSpPr>
        <p:spPr>
          <a:xfrm>
            <a:off x="203855" y="385816"/>
            <a:ext cx="430776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 Formation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8e2eb76139_0_0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454025" lvl="0" marL="454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0000"/>
              <a:buFont typeface="Arial"/>
              <a:buNone/>
            </a:pPr>
            <a: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 Formation</a:t>
            </a:r>
            <a:endParaRPr sz="4000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7619"/>
              <a:buNone/>
            </a:pPr>
            <a:r>
              <a:t/>
            </a:r>
            <a:endParaRPr/>
          </a:p>
        </p:txBody>
      </p:sp>
      <p:sp>
        <p:nvSpPr>
          <p:cNvPr id="439" name="Google Shape;439;g38e2eb76139_0_0"/>
          <p:cNvSpPr txBox="1"/>
          <p:nvPr>
            <p:ph idx="1" type="body"/>
          </p:nvPr>
        </p:nvSpPr>
        <p:spPr>
          <a:xfrm>
            <a:off x="1781503" y="2133600"/>
            <a:ext cx="70767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pic>
        <p:nvPicPr>
          <p:cNvPr id="440" name="Google Shape;440;g38e2eb7613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459" y="1771575"/>
            <a:ext cx="8573999" cy="501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015fb0ac5_0_0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47" name="Google Shape;447;g3a015fb0ac5_0_0"/>
          <p:cNvSpPr txBox="1"/>
          <p:nvPr>
            <p:ph idx="1" type="body"/>
          </p:nvPr>
        </p:nvSpPr>
        <p:spPr>
          <a:xfrm>
            <a:off x="1781503" y="2133600"/>
            <a:ext cx="70767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</p:txBody>
      </p:sp>
      <p:pic>
        <p:nvPicPr>
          <p:cNvPr id="448" name="Google Shape;448;g3a015fb0ac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54" y="1799928"/>
            <a:ext cx="8454075" cy="430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a015fb0ac5_0_0"/>
          <p:cNvSpPr txBox="1"/>
          <p:nvPr>
            <p:ph type="title"/>
          </p:nvPr>
        </p:nvSpPr>
        <p:spPr>
          <a:xfrm>
            <a:off x="284163" y="630382"/>
            <a:ext cx="8574000" cy="967800"/>
          </a:xfrm>
          <a:prstGeom prst="rect">
            <a:avLst/>
          </a:prstGeom>
          <a:solidFill>
            <a:srgbClr val="262626">
              <a:alpha val="6941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454025" lvl="0" marL="454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0000"/>
              <a:buFont typeface="Arial"/>
              <a:buNone/>
            </a:pPr>
            <a: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 Formation</a:t>
            </a:r>
            <a:endParaRPr sz="4000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761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9"/>
          <p:cNvSpPr txBox="1"/>
          <p:nvPr>
            <p:ph idx="1" type="body"/>
          </p:nvPr>
        </p:nvSpPr>
        <p:spPr>
          <a:xfrm>
            <a:off x="327805" y="1716657"/>
            <a:ext cx="8530446" cy="4873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most important step of problem-solving which decides what actions should be taken to achieve the formulated goal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following five components involved in problem formulation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0"/>
              <a:buFont typeface="Noto Sans Symbols"/>
              <a:buChar char="✔"/>
            </a:pPr>
            <a:r>
              <a:rPr b="1" i="0"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State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Noto Sans Symbols"/>
              <a:buChar char="✔"/>
            </a:pPr>
            <a:r>
              <a:rPr b="0" i="0"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starting state or initial step of the agent towards its goal </a:t>
            </a:r>
            <a:endParaRPr b="0" i="0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Noto Sans Symbols"/>
              <a:buChar char="✔"/>
            </a:pPr>
            <a:r>
              <a:rPr b="0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if a taxi agent needs to get to location(B) but the taxi is currently at location(A) then the initial state of the problem would be location(A)</a:t>
            </a:r>
            <a:endParaRPr b="0" i="0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0"/>
              <a:buFont typeface="Noto Sans Symbols"/>
              <a:buChar char="✔"/>
            </a:pPr>
            <a:r>
              <a:rPr b="1" i="0"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Noto Sans Symbols"/>
              <a:buChar char="✔"/>
            </a:pPr>
            <a:r>
              <a:rPr b="0" i="0"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description of the possible actions available to the agent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Noto Sans Symbols"/>
              <a:buChar char="✔"/>
            </a:pPr>
            <a:r>
              <a:rPr b="0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state </a:t>
            </a:r>
            <a:r>
              <a:rPr b="0" i="1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b="1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Actions(s)</a:t>
            </a:r>
            <a:r>
              <a:rPr b="0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returns the set of actions that can be executed in </a:t>
            </a:r>
            <a:r>
              <a:rPr b="0" i="1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Noto Sans Symbols"/>
              <a:buChar char="✔"/>
            </a:pPr>
            <a:r>
              <a:rPr b="0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say that each of these actions is </a:t>
            </a:r>
            <a:r>
              <a:rPr b="1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applicable</a:t>
            </a:r>
            <a:r>
              <a:rPr b="0" i="0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 </a:t>
            </a:r>
            <a:r>
              <a:rPr b="0" i="1" lang="en-US" sz="1800">
                <a:solidFill>
                  <a:srgbClr val="2424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615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9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9"/>
          <p:cNvSpPr txBox="1"/>
          <p:nvPr/>
        </p:nvSpPr>
        <p:spPr>
          <a:xfrm>
            <a:off x="203854" y="385816"/>
            <a:ext cx="4954741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Formation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"/>
          <p:cNvSpPr txBox="1"/>
          <p:nvPr>
            <p:ph idx="1" type="body"/>
          </p:nvPr>
        </p:nvSpPr>
        <p:spPr>
          <a:xfrm>
            <a:off x="327805" y="1716657"/>
            <a:ext cx="8530446" cy="4873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1" i="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Model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b="0" i="0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describes what each action does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specified by a function </a:t>
            </a:r>
            <a:r>
              <a:rPr b="1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Result(s, a) </a:t>
            </a: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returns the state that results from doing action </a:t>
            </a:r>
            <a:r>
              <a:rPr b="0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 state </a:t>
            </a:r>
            <a:r>
              <a:rPr b="0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1" i="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Test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b="0" i="0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determines if the given state is a goal state.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1" i="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cost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assigns a numeric cost to each path that follows the goal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problem-solving agent selects a cost function, which reflects its performance measure</a:t>
            </a:r>
            <a:endParaRPr/>
          </a:p>
          <a:p>
            <a:pPr indent="-346075" lvl="2" marL="12604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b="0"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Remembe</a:t>
            </a:r>
            <a:r>
              <a:rPr i="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r, an optimal solution has the lowest path cost among all the solutions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203854" y="385816"/>
            <a:ext cx="520490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Formation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"/>
          <p:cNvSpPr txBox="1"/>
          <p:nvPr>
            <p:ph idx="1" type="body"/>
          </p:nvPr>
        </p:nvSpPr>
        <p:spPr>
          <a:xfrm>
            <a:off x="284163" y="1708030"/>
            <a:ext cx="8574087" cy="476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i="0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Problem Formulation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90"/>
              <a:buFont typeface="Noto Sans Symbols"/>
              <a:buChar char="✔"/>
            </a:pPr>
            <a:r>
              <a:rPr b="0" i="0"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us take the example of vacuum world that was introduced in the starting of this series, There is a vacuum cleaner agent and it can move left or right and its jump is to suck up the dirt from the floor</a:t>
            </a:r>
            <a:endParaRPr/>
          </a:p>
          <a:p>
            <a:pPr indent="-31686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7" name="Google Shape;4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477" y="3260789"/>
            <a:ext cx="5510033" cy="318973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1"/>
          <p:cNvSpPr txBox="1"/>
          <p:nvPr/>
        </p:nvSpPr>
        <p:spPr>
          <a:xfrm>
            <a:off x="203855" y="385816"/>
            <a:ext cx="427325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Formation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"/>
          <p:cNvSpPr txBox="1"/>
          <p:nvPr>
            <p:ph idx="1" type="body"/>
          </p:nvPr>
        </p:nvSpPr>
        <p:spPr>
          <a:xfrm>
            <a:off x="284175" y="1745425"/>
            <a:ext cx="8574000" cy="53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40"/>
              <a:buFont typeface="Noto Sans Symbols"/>
              <a:buChar char="⮚"/>
            </a:pPr>
            <a:r>
              <a:rPr b="0" baseline="-25000" i="0" lang="en-US" sz="3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for vacuum world can be formulated as follows:</a:t>
            </a:r>
            <a:endParaRPr/>
          </a:p>
          <a:p>
            <a:pPr indent="-4572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80"/>
              <a:buFont typeface="Noto Sans Symbols"/>
              <a:buChar char="⮚"/>
            </a:pPr>
            <a:r>
              <a:rPr b="1" baseline="-25000" i="0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States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state is determined by both the agent location and the dirt location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agent is in one of two locations, each of which might or might not contain dirt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there are 2 x 2</a:t>
            </a:r>
            <a:r>
              <a:rPr b="1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 = 8 </a:t>
            </a:r>
            <a:r>
              <a:rPr b="0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world states.</a:t>
            </a:r>
            <a:endParaRPr/>
          </a:p>
          <a:p>
            <a:pPr indent="-339725" lvl="3" marL="1600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larger environment would have n x 2 to the power of n states.</a:t>
            </a:r>
            <a:endParaRPr/>
          </a:p>
          <a:p>
            <a:pPr indent="-4572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80"/>
              <a:buFont typeface="Noto Sans Symbols"/>
              <a:buChar char="⮚"/>
            </a:pPr>
            <a:r>
              <a:rPr b="1" baseline="-25000" i="0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State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state can be assigned as the initial state in this case.</a:t>
            </a:r>
            <a:endParaRPr/>
          </a:p>
          <a:p>
            <a:pPr indent="-4572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80"/>
              <a:buFont typeface="Noto Sans Symbols"/>
              <a:buChar char="⮚"/>
            </a:pPr>
            <a:r>
              <a:rPr b="1" baseline="-25000" i="0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environment there are three actions, </a:t>
            </a:r>
            <a:r>
              <a:rPr b="0" baseline="-25000" i="1" lang="en-US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Left , Move Right , Suck up the dirt.</a:t>
            </a:r>
            <a:endParaRPr b="0" baseline="-25000" i="0" sz="2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203854" y="385816"/>
            <a:ext cx="4161111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Formation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"/>
          <p:cNvSpPr txBox="1"/>
          <p:nvPr>
            <p:ph idx="1" type="body"/>
          </p:nvPr>
        </p:nvSpPr>
        <p:spPr>
          <a:xfrm>
            <a:off x="284163" y="1745430"/>
            <a:ext cx="8574087" cy="4922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Char char="⮚"/>
            </a:pPr>
            <a:r>
              <a:rPr b="0" baseline="-25000" i="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for vacuum world can be formulated as follows:</a:t>
            </a:r>
            <a:endParaRPr/>
          </a:p>
          <a:p>
            <a:pPr indent="-4572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1" baseline="-2500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Model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aseline="-25000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actions have expected effects, except for when the agent is in leftmost square and the action is </a:t>
            </a:r>
            <a:r>
              <a:rPr baseline="-25000" i="1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aseline="-25000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when the agent is in rightmost square and the action is </a:t>
            </a:r>
            <a:r>
              <a:rPr baseline="-25000" i="1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 </a:t>
            </a:r>
            <a:r>
              <a:rPr baseline="-25000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square is clean when the action is to </a:t>
            </a:r>
            <a:r>
              <a:rPr baseline="-25000" i="1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Suck.</a:t>
            </a:r>
            <a:endParaRPr baseline="-25000" sz="2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1" baseline="-2500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Test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aseline="-25000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test checks whether all the squares are clean.</a:t>
            </a:r>
            <a:endParaRPr/>
          </a:p>
          <a:p>
            <a:pPr indent="-457200" lvl="1" marL="9144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="1" baseline="-25000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Cost</a:t>
            </a:r>
            <a:endParaRPr/>
          </a:p>
          <a:p>
            <a:pPr indent="-346075" lvl="2" marL="126047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✔"/>
            </a:pPr>
            <a:r>
              <a:rPr baseline="-25000"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step costs 1, so the path cost is the number of steps in the path.</a:t>
            </a:r>
            <a:endParaRPr/>
          </a:p>
          <a:p>
            <a:pPr indent="-454025" lvl="1" marL="4540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⮚"/>
            </a:pP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vacuum world problem is a toy problem and involves only discrete locations, discrete dirt etc. Therefore, this problem is a </a:t>
            </a:r>
            <a:r>
              <a:rPr b="1"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Toy Problem</a:t>
            </a:r>
            <a:endParaRPr/>
          </a:p>
          <a:p>
            <a:pPr indent="-454025" lvl="1" marL="4540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⮚"/>
            </a:pP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many </a:t>
            </a:r>
            <a:r>
              <a:rPr b="1"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Problems</a:t>
            </a: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like the automated taxi world</a:t>
            </a:r>
            <a:endParaRPr/>
          </a:p>
          <a:p>
            <a:pPr indent="-454025" lvl="1" marL="4540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⮚"/>
            </a:pP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to formulate problems of real world and see what would be the states be and what actions could be chosen etc</a:t>
            </a:r>
            <a:endParaRPr/>
          </a:p>
          <a:p>
            <a:pPr indent="-294005" lvl="0" marL="454025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0"/>
              <a:buFont typeface="Noto Sans Symbols"/>
              <a:buNone/>
            </a:pPr>
            <a:r>
              <a:t/>
            </a:r>
            <a:endParaRPr b="0" baseline="-25000" i="0" sz="2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13"/>
          <p:cNvSpPr txBox="1"/>
          <p:nvPr/>
        </p:nvSpPr>
        <p:spPr>
          <a:xfrm>
            <a:off x="203854" y="385816"/>
            <a:ext cx="541194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Formation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4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identifies all the best possible sequence of actions to reach the goal state from the current state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takes a problem as an input and returns solution as its output. 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finds the best algorithm out of various algorithms, which may be proven as the best optimal solution. 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Font typeface="Noto Sans Symbols"/>
              <a:buChar char="❖"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executes the best optimal solution from the searching algorithms to reach the goal state from the current state. </a:t>
            </a:r>
            <a:endParaRPr/>
          </a:p>
        </p:txBody>
      </p:sp>
      <p:sp>
        <p:nvSpPr>
          <p:cNvPr id="487" name="Google Shape;487;p14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Steps in problem solving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7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SEARCH STRATEGY</a:t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203982" y="2164030"/>
            <a:ext cx="89400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essence of search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—following up one option now and putting the others aside for later, in case the first choice does not lead to a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203982" y="3177600"/>
            <a:ext cx="89400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set of all leaf nodes available for expansion at any given point is called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frontier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203983" y="3931867"/>
            <a:ext cx="894001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expanding nodes on the frontier continues until either a solution is found or there are no more states to expand.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203984" y="4738188"/>
            <a:ext cx="894001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algorithms all share this basic structure; they vary primarily according to how they choose which state to expand next    —the so-called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strategy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0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FRONTIER [FRINGE]</a:t>
            </a:r>
            <a:endParaRPr/>
          </a:p>
        </p:txBody>
      </p:sp>
      <p:sp>
        <p:nvSpPr>
          <p:cNvPr id="502" name="Google Shape;502;p30"/>
          <p:cNvSpPr/>
          <p:nvPr/>
        </p:nvSpPr>
        <p:spPr>
          <a:xfrm>
            <a:off x="232116" y="2086646"/>
            <a:ext cx="861646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frontier needs to be stored in such a way that the search algorithm can easily choose the next node to expand</a:t>
            </a: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its preferred strategy. The appropriate data structure for this is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232116" y="4405159"/>
            <a:ext cx="881341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Queues are characterized by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which they store the inserted nodes. Three common variants are 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first-in, first-out </a:t>
            </a:r>
            <a: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FIFO queue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pops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oldest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of the queue;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last-in, first-out 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LIFO queue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(also known as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which pops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newest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of the queue;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queue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232116" y="3204830"/>
            <a:ext cx="881341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operations on a queue are as follows: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MPTY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(queue)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true only if there are no more elements in the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(queue)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removes the first element of the queue and returns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NSERT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(element, queue)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inserts an element and returns the resulting queue.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1"/>
          <p:cNvSpPr txBox="1"/>
          <p:nvPr>
            <p:ph type="ctrTitle"/>
          </p:nvPr>
        </p:nvSpPr>
        <p:spPr>
          <a:xfrm>
            <a:off x="294732" y="660020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b="1" lang="en-US"/>
              <a:t>MEASURING PROBLEM-SOLVING PERFORMANCE</a:t>
            </a:r>
            <a:endParaRPr/>
          </a:p>
        </p:txBody>
      </p:sp>
      <p:pic>
        <p:nvPicPr>
          <p:cNvPr id="510" name="Google Shape;5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10" y="2099248"/>
            <a:ext cx="8713846" cy="1889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2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SEARCH ALGORITHMS</a:t>
            </a:r>
            <a:endParaRPr/>
          </a:p>
        </p:txBody>
      </p:sp>
      <p:pic>
        <p:nvPicPr>
          <p:cNvPr id="516" name="Google Shape;5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11680"/>
            <a:ext cx="9144000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"/>
          <p:cNvSpPr txBox="1"/>
          <p:nvPr>
            <p:ph type="ctrTitle"/>
          </p:nvPr>
        </p:nvSpPr>
        <p:spPr>
          <a:xfrm>
            <a:off x="224394" y="660021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UNINFORMED </a:t>
            </a:r>
            <a:br>
              <a:rPr lang="en-US"/>
            </a:br>
            <a:r>
              <a:rPr lang="en-US"/>
              <a:t>SEARCH STRATEGIES</a:t>
            </a:r>
            <a:endParaRPr/>
          </a:p>
        </p:txBody>
      </p:sp>
      <p:pic>
        <p:nvPicPr>
          <p:cNvPr id="522" name="Google Shape;5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768" y="2110155"/>
            <a:ext cx="8231080" cy="4333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search is the most common search strategy for traversing a tree or graph</a:t>
            </a:r>
            <a:endParaRPr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searches breadthwise in a tree or graph, so it is called breadth-first search.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algorithm starts searching from the root node of the tree and expands all successor node at the current level before moving to nodes of next level.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breadth-first search algorithm is an example of a general-graph search algorithm.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search implemented using FIFO queue data structure.</a:t>
            </a:r>
            <a:endParaRPr/>
          </a:p>
          <a:p>
            <a:pPr indent="-316865" lvl="0" marL="454025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-331469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35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Breadth-First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S---&gt; A---&gt;B----&gt;C---&gt;D----&gt;G---&gt;H---&gt;E----&gt;F----&gt;I----&gt;K 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36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Breadth-First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5" name="Google Shape;5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379" y="2209916"/>
            <a:ext cx="6411373" cy="4590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 of BFS algorithm can be obtained by the number of nodes traversed in BFS until the shallowest Node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d= depth of shallowest solution and b is a node at every state.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(b) = 1+b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+b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+.......+ b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O (b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 of BFS algorithm is given by the Memory size of frontier which is O(b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is complete, which means if the shallowest goal node is at some finite depth, then BFS will find a solution.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is optimal if path cost is a non-decreasing function of the depth of the node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br>
              <a:rPr lang="en-US" sz="2000">
                <a:solidFill>
                  <a:schemeClr val="dk1"/>
                </a:solidFill>
              </a:rPr>
            </a:b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32004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sz="2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37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Breadth-First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1"/>
          <p:cNvSpPr txBox="1"/>
          <p:nvPr>
            <p:ph type="ctrTitle"/>
          </p:nvPr>
        </p:nvSpPr>
        <p:spPr>
          <a:xfrm>
            <a:off x="322867" y="688156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BREADTH-FIRST SEARCH:</a:t>
            </a:r>
            <a:br>
              <a:rPr lang="en-US"/>
            </a:br>
            <a:r>
              <a:rPr lang="en-US"/>
              <a:t>MEMORY REQUIREMENTS</a:t>
            </a:r>
            <a:endParaRPr/>
          </a:p>
        </p:txBody>
      </p:sp>
      <p:pic>
        <p:nvPicPr>
          <p:cNvPr id="547" name="Google Shape;54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99" y="2101508"/>
            <a:ext cx="8951755" cy="406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Uniform-cost search is a searching algorithm used for traversing a weighted tree or graph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comes into play when a different cost is available for each edge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goal of the uniform-cost search is to find a path to the goal node which has the lowest cumulative cost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Uniform-cost search expands nodes according to their path costs form the root node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to solve any graph/tree where the optimal cost is in demand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uniform-cost search algorithm is implemented by the priority queue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gives maximum priority to the lowest cumulative cost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cost search is equivalent to BFS algorithm if the path cost of all edges is the same.</a:t>
            </a:r>
            <a:endParaRPr/>
          </a:p>
          <a:p>
            <a:pPr indent="-339725" lvl="0" marL="4540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429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42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Uniform Cost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3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Uniform Cost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9" name="Google Shape;5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6943" y="1760706"/>
            <a:ext cx="5827179" cy="511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4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Uniform-cost search is complete, such as if there is a solution, UCS will find it.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C* is Cost of the optimal solution, and ε is each step to get closer to the goal node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number of steps is = C*/ε+1. Here we have taken +1, as we start from state 0 and end to C*/ε.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the worst-case time complexity of Uniform-cost search isO(b1 + [C*/ε])/.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same logic is for space complexity so, the worst-case space complexity of Uniform-cost search is O(b1 + [C*/ε]).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Uniform-cost search is always optimal as it only selects a path with the lowest path cost.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b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44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Uniform Cost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2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search is a recursive algorithm for traversing a tree or graph data structure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called the depth-first search because it starts from the root node and follows each path to its greatest depth node before moving to the next path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uses a stack data structure for its implementation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of the DFS algorithm is similar to the BFS algorithm.</a:t>
            </a:r>
            <a:endParaRPr/>
          </a:p>
          <a:p>
            <a:pPr indent="-32829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454025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-331469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52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Depth-First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3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Root node---&gt;Left node ----&gt; right node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will start searching from root node S, and traverse A, then B, then D and E, after traversing E, it will backtrack the tree as E has no other successor and still goal node is not found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backtracking it will traverse node C and then G, and here it will terminate as it found goal node.</a:t>
            </a:r>
            <a:endParaRPr/>
          </a:p>
          <a:p>
            <a:pPr indent="-3397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53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Depth-First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8" name="Google Shape;57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650" y="3762986"/>
            <a:ext cx="5115533" cy="304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4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 of DFS will be equivalent to the node traversed by the algorithm. It is given by: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T(n)= 1+ n2+ n3 +.........+ nm=O(nm)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Where, m= maximum depth of any node and this can be much larger than d (Shallowest solution depth)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 of BFS algorithm is given by the Memory size of frontier which is O(b</a:t>
            </a:r>
            <a:r>
              <a:rPr baseline="30000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).\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algorithm needs to store only single path from the root node, hence space complexity of DFS is equivalent to the size of the fringe set, which is O(bm).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search algorithm is complete within finite state space as it will expand every node within a limited search tree.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search algorithm is non-optimal, as it may generate a large number of steps or high cost to reach to the goal node.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</a:pPr>
            <a:br>
              <a:rPr lang="en-US" sz="1600">
                <a:solidFill>
                  <a:schemeClr val="dk1"/>
                </a:solidFill>
              </a:rPr>
            </a:b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35433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Noto Sans Symbols"/>
              <a:buNone/>
            </a:pPr>
            <a:r>
              <a:t/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54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Depth-First Sea</a:t>
            </a:r>
            <a:r>
              <a:rPr lang="en-US" sz="40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2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depth-limited search algorithm is similar to depth-first search with a predetermined limit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Depth-limited search can solve the drawback of the infinite path in the Depth-first search. In this algorithm, the node at the depth limit will treat as it has no successor nodes further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Depth-limited search can be terminated with two Conditions of failure: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failure value: It indicates that problem does not have any solution.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Cutoff failure value: It defines no solution for the problem within a given depth limit.</a:t>
            </a:r>
            <a:endParaRPr/>
          </a:p>
          <a:p>
            <a:pPr indent="-32829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29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454025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-331469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62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Depth-Limited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3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63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Depth-Limited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7" name="Google Shape;59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961" y="1791622"/>
            <a:ext cx="7675691" cy="439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 of DFS will be equivalent to the node traversed by the algorithm. It is given by: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T(n)= 1+ n2+ n3 +.........+ nm=O(nm)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Where, m= maximum depth of any node and this can be much larger than d (Shallowest solution depth)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 of BFS algorithm is given by the Memory size of frontier which is O(b</a:t>
            </a:r>
            <a:r>
              <a:rPr baseline="30000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).\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algorithm needs to store only single path from the root node, hence space complexity of DFS is equivalent to the size of the fringe set, which is O(bm).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search algorithm is complete within finite state space as it will expand every node within a limited search tree.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?"/>
            </a:pP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?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search algorithm is non-optimal, as it may generate a large number of steps or high cost to reach to the goal node.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</a:pPr>
            <a:br>
              <a:rPr lang="en-US" sz="1600">
                <a:solidFill>
                  <a:schemeClr val="dk1"/>
                </a:solidFill>
              </a:rPr>
            </a:b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35433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Noto Sans Symbols"/>
              <a:buNone/>
            </a:pPr>
            <a:r>
              <a:t/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64"/>
          <p:cNvSpPr txBox="1"/>
          <p:nvPr/>
        </p:nvSpPr>
        <p:spPr>
          <a:xfrm>
            <a:off x="203854" y="385816"/>
            <a:ext cx="544644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Depth-Limited Search</a:t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8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iterative deepening algorithm is a combination of DFS and BFS algorithms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9000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search algorithm finds out the best depth limit and does it by gradually increasing the limit until a goal is found.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9000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performs depth-first search up to a certain "depth limit", and it keeps increasing the depth limit after each iteration until the goal node is found.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9000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Search algorithm combines the benefits of Breadth-first search's fast search and depth-first search's memory efficiency.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90000"/>
              <a:buFont typeface="Noto Sans Symbols"/>
              <a:buChar char="❖"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iterative search algorithm is useful uninformed search when search space is large, and depth of goal node is unknown.</a:t>
            </a:r>
            <a:endParaRPr/>
          </a:p>
          <a:p>
            <a:pPr indent="-337724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90000"/>
              <a:buFont typeface="Noto Sans Symbols"/>
              <a:buNone/>
            </a:pPr>
            <a:r>
              <a:t/>
            </a:r>
            <a:endParaRPr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151" lvl="0" marL="454025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90000"/>
              <a:buFont typeface="Noto Sans Symbols"/>
              <a:buNone/>
            </a:pPr>
            <a:r>
              <a:t/>
            </a:r>
            <a:endParaRPr/>
          </a:p>
          <a:p>
            <a:pPr indent="-340899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Noto Sans Symbols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68"/>
          <p:cNvSpPr txBox="1"/>
          <p:nvPr/>
        </p:nvSpPr>
        <p:spPr>
          <a:xfrm>
            <a:off x="203853" y="385816"/>
            <a:ext cx="8492675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Iterative Deepening Depth-First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454025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9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1'st Iteration-----&gt; A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2'nd Iteration----&gt; A, B, C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3'rd Iteration------&gt;A, B, D, E, C, F, G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4'th Iteration------&gt;A, B, D, H, I, E, C, F, K, G</a:t>
            </a:r>
            <a:endParaRPr/>
          </a:p>
        </p:txBody>
      </p:sp>
      <p:sp>
        <p:nvSpPr>
          <p:cNvPr id="615" name="Google Shape;615;p69"/>
          <p:cNvSpPr txBox="1"/>
          <p:nvPr/>
        </p:nvSpPr>
        <p:spPr>
          <a:xfrm>
            <a:off x="203853" y="385816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Iterative Deepening Depth-First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454025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6" name="Google Shape;61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9762" y="3444815"/>
            <a:ext cx="532447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0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Let's suppose b is the branching factor and depth is d then the worst-case time complexity is O(bd).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space complexity of IDDFS will be O(bd).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is complete is if the branching factor is finite.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IDDFS algorithm is optimal if path cost is a non- decreasing function of the depth of the node.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</a:pPr>
            <a:br>
              <a:rPr lang="en-US" sz="2000">
                <a:solidFill>
                  <a:schemeClr val="dk1"/>
                </a:solidFill>
              </a:rPr>
            </a:b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32004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sz="2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70"/>
          <p:cNvSpPr txBox="1"/>
          <p:nvPr/>
        </p:nvSpPr>
        <p:spPr>
          <a:xfrm>
            <a:off x="203854" y="385816"/>
            <a:ext cx="8654396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Iterative Deepening Depth-First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454025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6"/>
          <p:cNvSpPr txBox="1"/>
          <p:nvPr>
            <p:ph idx="1" type="body"/>
          </p:nvPr>
        </p:nvSpPr>
        <p:spPr>
          <a:xfrm>
            <a:off x="284163" y="1725284"/>
            <a:ext cx="8574087" cy="4400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0"/>
              <a:buChar char="?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Bidirectional search algorithm runs two simultaneous searches, one form initial state called as forward-search and other from goal node called as backward-search, to find the goal node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90"/>
              <a:buChar char="?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Bidirectional search replaces one single search graph with two small subgraphs in which one starts the search from an initial vertex and other starts from goal vertex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90"/>
              <a:buChar char="?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search stops when these two graphs intersect each other.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90"/>
              <a:buChar char="?"/>
            </a:pPr>
            <a:r>
              <a:rPr lang="en-US" sz="21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Bidirectional search can use search techniques such as BFS, DFS, DLS, etc</a:t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010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90"/>
              <a:buFont typeface="Noto Sans Symbols"/>
              <a:buNone/>
            </a:pPr>
            <a:r>
              <a:t/>
            </a:r>
            <a:endParaRPr sz="21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29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 sz="2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454025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/>
          </a:p>
          <a:p>
            <a:pPr indent="-331469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80"/>
              <a:buFont typeface="Noto Sans Symbols"/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p76"/>
          <p:cNvSpPr txBox="1"/>
          <p:nvPr/>
        </p:nvSpPr>
        <p:spPr>
          <a:xfrm>
            <a:off x="203853" y="385816"/>
            <a:ext cx="8492675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Bidirectional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454025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7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below search tree, bidirectional search algorithm is applied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divides one graph/tree into two sub-graphs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starts traversing from node 1 in the forward direction and starts from goal node 16 in the backward direction.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terminates at node 9 where two searches meet.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00"/>
              <a:buChar char="?"/>
            </a:pPr>
            <a:b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77"/>
          <p:cNvSpPr txBox="1"/>
          <p:nvPr/>
        </p:nvSpPr>
        <p:spPr>
          <a:xfrm>
            <a:off x="203853" y="385816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Bidirectional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454025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5" name="Google Shape;635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629" y="3618165"/>
            <a:ext cx="4078726" cy="3155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8"/>
          <p:cNvSpPr txBox="1"/>
          <p:nvPr>
            <p:ph idx="1" type="body"/>
          </p:nvPr>
        </p:nvSpPr>
        <p:spPr>
          <a:xfrm>
            <a:off x="284163" y="1725284"/>
            <a:ext cx="8574087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Let's suppose b is the branching factor and depth is d then the worst-case time complexity is O(bd).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space complexity of IDDFS will be O(bd).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is complete is if the branching factor is finite.</a:t>
            </a:r>
            <a:endParaRPr/>
          </a:p>
          <a:p>
            <a:pPr indent="-454025" lvl="0" marL="45402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?"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IDDFS algorithm is optimal if path cost is a non- decreasing function of the depth of the node.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</a:pPr>
            <a:br>
              <a:rPr lang="en-US" sz="2000">
                <a:solidFill>
                  <a:schemeClr val="dk1"/>
                </a:solidFill>
              </a:rPr>
            </a:b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-320040" lvl="1" marL="9144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Noto Sans Symbols"/>
              <a:buNone/>
            </a:pPr>
            <a:r>
              <a:t/>
            </a:r>
            <a:endParaRPr sz="24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78"/>
          <p:cNvSpPr txBox="1"/>
          <p:nvPr/>
        </p:nvSpPr>
        <p:spPr>
          <a:xfrm>
            <a:off x="203854" y="385816"/>
            <a:ext cx="8654396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4025" lvl="0" marL="454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Bidirectional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454025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9ac0bd2cb2_1_0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g39ac0bd2cb2_1_0"/>
          <p:cNvSpPr txBox="1"/>
          <p:nvPr/>
        </p:nvSpPr>
        <p:spPr>
          <a:xfrm>
            <a:off x="553175" y="1036525"/>
            <a:ext cx="8437200" cy="1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completeness and optimality of BFS, DFS.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the “Optimality” properties of the depth-first search algorithm.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an example where breadth first search(BFS) will give optimal result.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g3bca3fabd02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25165"/>
            <a:ext cx="8793726" cy="539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bca3fabd02_0_257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ca3fabd02_0_262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9" name="Google Shape;659;g3bca3fabd02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25" y="1459450"/>
            <a:ext cx="8803350" cy="47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bca3fabd02_0_267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5" name="Google Shape;665;g3bca3fabd02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50" y="1499500"/>
            <a:ext cx="8803700" cy="49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ca3fabd02_0_272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1" name="Google Shape;671;g3bca3fabd02_0_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6645082" cy="583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bca3fabd02_0_277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7" name="Google Shape;677;g3bca3fabd02_0_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3697125" cy="58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bca3fabd02_0_282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3" name="Google Shape;683;g3bca3fabd02_0_2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4759381" cy="583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bca3fabd02_0_287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9" name="Google Shape;689;g3bca3fabd02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6129803" cy="58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bca3fabd02_0_292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5" name="Google Shape;695;g3bca3fabd02_0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2400"/>
            <a:ext cx="6561280" cy="583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ca3fabd02_0_297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1" name="Google Shape;701;g3bca3fabd02_0_2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25" y="1459500"/>
            <a:ext cx="8845951" cy="27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g3bca3fabd02_0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50" y="1526675"/>
            <a:ext cx="8787075" cy="32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3bca3fabd02_0_302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g3bca3fabd02_0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99" y="1379924"/>
            <a:ext cx="8991599" cy="2429132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bca3fabd02_0_307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ca3fabd02_0_312"/>
          <p:cNvSpPr txBox="1"/>
          <p:nvPr/>
        </p:nvSpPr>
        <p:spPr>
          <a:xfrm>
            <a:off x="290275" y="1113825"/>
            <a:ext cx="8777400" cy="3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that you must design a vacuum-cleaner robot, which will operate in an apartment with 3 rooms in a row. It has the following allowed actions with the associated costs: move left (L: 5), move right (R: 10), and clean (C: 15). Initially, only the middle room was clean, the robot was there, and the other rooms were dirty. The goal of the agent is to make all the rooms clean.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1430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the complete state space graph.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114300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solution (sequence of actions) using Uniform Cost Search (use graph search algorithm).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g3bca3fabd02_0_312"/>
          <p:cNvSpPr txBox="1"/>
          <p:nvPr/>
        </p:nvSpPr>
        <p:spPr>
          <a:xfrm>
            <a:off x="0" y="0"/>
            <a:ext cx="7665300" cy="7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4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a11e59fbb3_0_0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g3a11e59fbb3_0_0"/>
          <p:cNvSpPr txBox="1"/>
          <p:nvPr/>
        </p:nvSpPr>
        <p:spPr>
          <a:xfrm>
            <a:off x="553175" y="1190144"/>
            <a:ext cx="84372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you are designing an artificially intelligent wall-painting robot. The wall is divided into 144 squares, arranged in a 12 × 12 grid. The robot can paint one square per action and then move its arm to the next square to continue painting. The task is complete when the entire wall is painted.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formal description of this task as a search problem (specifying the components: initial state, actions, transition model, goal test, and path cost).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the size of the state space.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whether the agent’s environment is: Single-agent or Multi-agent, Fully observable or Partially observable, Episodic or Sequential, Static or Dynamic, Deterministic or Stochastic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g3a11e59fbb3_0_0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9ac0bd2cb2_2_0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g39ac0bd2cb2_2_0"/>
          <p:cNvSpPr txBox="1"/>
          <p:nvPr/>
        </p:nvSpPr>
        <p:spPr>
          <a:xfrm>
            <a:off x="553175" y="1190144"/>
            <a:ext cx="84372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you are designing a robot which must navigate through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maze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3x3 Maze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to reach a specific destination. In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3x3 grid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robot can move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Up, Right, Down, Left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will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in location S(2,1)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is location G(3,3)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Find the solution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actions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using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Search (Graph Search Algorithm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[Show frontier, explore set, expanded tree].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3" name="Google Shape;733;g39ac0bd2cb2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1637" y="3988984"/>
            <a:ext cx="2873500" cy="25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9ac8d87536_0_0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g39ac8d87536_0_0"/>
          <p:cNvSpPr txBox="1"/>
          <p:nvPr/>
        </p:nvSpPr>
        <p:spPr>
          <a:xfrm>
            <a:off x="288125" y="593800"/>
            <a:ext cx="8702400" cy="46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the robot can move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Up, Right, Down, Left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we expand successors in that order (Up → Right → Down → Left)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show the frontier as a queue (front → back), the explored set, which node was expanded, and the parent used to build the tree. Stop when the goal is reached.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Labels / coordinates used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(1,1), B = (1,2), C = (1,3)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(2,1), E = (2,2), D = (2,3)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= (3,1), F = (3,2), G = (3,3)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Start: S. Frontier is a FIFO queue.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9ac8d87536_0_7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g39ac8d87536_0_7"/>
          <p:cNvSpPr txBox="1"/>
          <p:nvPr/>
        </p:nvSpPr>
        <p:spPr>
          <a:xfrm>
            <a:off x="288125" y="593800"/>
            <a:ext cx="8702400" cy="57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steps (frontier shown front → back)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S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Explored: {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S: none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(Up,Right,Down,Left) → A, E, H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A, E, H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A←S, E←S, H←S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A (front of queue)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→ B (S is already explored)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E, H, B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B←A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9ac8d87536_0_17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g39ac8d87536_0_17"/>
          <p:cNvSpPr txBox="1"/>
          <p:nvPr/>
        </p:nvSpPr>
        <p:spPr>
          <a:xfrm>
            <a:off x="288125" y="593800"/>
            <a:ext cx="8702400" cy="59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E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→ B (already in frontier), D, F, S (explored)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H, B, D, F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D←E, F←E (B already has parent A)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4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E, H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→ S (explored), F (already in frontier)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B, D, F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5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B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E, H, B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→ C (others explored)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D, F, C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C←B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9ac8d87536_0_28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g39ac8d87536_0_28"/>
          <p:cNvSpPr txBox="1"/>
          <p:nvPr/>
        </p:nvSpPr>
        <p:spPr>
          <a:xfrm>
            <a:off x="288125" y="593800"/>
            <a:ext cx="8702400" cy="57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6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E, H, B, D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→ C (already in frontier), G ← goal found as successor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 after enqueuing G: [ F, C, G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G←D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pointers (summary)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S: none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← S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← E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← D</a:t>
            </a:r>
            <a:b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(Other parents: A ← S, B ← A, C ← B, F ← E, H ← S)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shortest path (from S to G)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 parents from G → D → E → S. Reverse: S → E → D → G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ac8d87536_0_22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g39ac8d87536_0_22"/>
          <p:cNvSpPr txBox="1"/>
          <p:nvPr/>
        </p:nvSpPr>
        <p:spPr>
          <a:xfrm>
            <a:off x="288125" y="593800"/>
            <a:ext cx="8702400" cy="6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actions for the robot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(S → E)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(E → D)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 (D → G)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action sequence is: Right, Right, Down.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Expanded tree (parent-child style)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 A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  └─ B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     └─ C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 E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  ├─ D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  │  └─ G  ← goal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  └─ F</a:t>
            </a:r>
            <a:endParaRPr b="0" i="0" sz="2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└─ 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9ac8d87536_0_34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g39ac8d87536_0_34"/>
          <p:cNvSpPr txBox="1"/>
          <p:nvPr/>
        </p:nvSpPr>
        <p:spPr>
          <a:xfrm>
            <a:off x="553175" y="1190144"/>
            <a:ext cx="84372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you are designing a robot which must navigate through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maze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3x3 Maze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to reach a specific destination. In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3x3 grid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robot can move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up,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right,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down, and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will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in location S(2,1)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is location G(3,3)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Find the solution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actions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using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Search (Graph Search Algorithm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[Show frontier, explore set, expanded tree].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0" name="Google Shape;770;g39ac8d87536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1637" y="3988984"/>
            <a:ext cx="2873500" cy="25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9ac8d87536_0_40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g39ac8d87536_0_40"/>
          <p:cNvSpPr txBox="1"/>
          <p:nvPr/>
        </p:nvSpPr>
        <p:spPr>
          <a:xfrm>
            <a:off x="288125" y="593800"/>
            <a:ext cx="87024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Coordinates / labels: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AutoNum type="alphaL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A=(1,1), B=(1,2), C=(1,3)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AutoNum type="alphaL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S=(2,1), E=(2,2), D=(2,3)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AutoNum type="alphaL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H=(3,1), F=(3,2), G=(3,3)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 (direction) order we intend to explore: Up → Right → Down → Left.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DFS implementation that uses a stack, to visit Up first we push successors onto the stack in reverse order (Left, Down, Right, Up).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Graph-search: do not add a successor if it is already in the explored set or already in the frontier (stack).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(frontier) — show as [ bottom , … , top ] with the rightmost element being the top.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Frontier: [ S ] (top = S)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Explored: {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Arial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Parents: S: none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9ac8d87536_0_46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g39ac8d87536_0_46"/>
          <p:cNvSpPr txBox="1"/>
          <p:nvPr/>
        </p:nvSpPr>
        <p:spPr>
          <a:xfrm>
            <a:off x="288125" y="593800"/>
            <a:ext cx="87024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DFS (expand → generate successors → push in reverse so Up explored first)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Expand S (pop top = 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(Up,Right,Down,Left) = A, E, H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reverse: H, E, A (skip none)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 (stack) = [ H, E, A ] (top = A)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Parents: A ← S, E ← S, H ← S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Expand A (pop top = A)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= B (S is already explored)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reverse [B] → Frontier = [ H, E, B ] (top = B)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B ← A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9ac8d87536_0_57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g39ac8d87536_0_57"/>
          <p:cNvSpPr txBox="1"/>
          <p:nvPr/>
        </p:nvSpPr>
        <p:spPr>
          <a:xfrm>
            <a:off x="288125" y="493500"/>
            <a:ext cx="87024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Expand B (pop top = B)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B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= (Up none, Right C, Down E, Left A) → list [C, E, A]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 push order = [ A, E, C ] but skip A (explored) and skip E because E is already in frontier. So only push C.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 = [ H, E, C ] (top = C)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C ← B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Expand C (pop top = C)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B, C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= (Up none, Right none, Down D, Left B) → [D, B]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 push order = [ B, D ] — skip B (explored), push D.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 = [ H, E, D ] (top = D)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D ← C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9ac8d87536_0_52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g39ac8d87536_0_52"/>
          <p:cNvSpPr txBox="1"/>
          <p:nvPr/>
        </p:nvSpPr>
        <p:spPr>
          <a:xfrm>
            <a:off x="288125" y="493500"/>
            <a:ext cx="87024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3.5. Expand D (pop top = D)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B, C, D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Successors = (Up C, Right none, Down G, Left E) → [C, G, E]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 push order = [ E, G, C ]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600"/>
              <a:buFont typeface="Times New Roman"/>
              <a:buChar char="○"/>
            </a:pPr>
            <a:r>
              <a:rPr b="0" i="0" lang="en-US" sz="19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is in frontier already → skip</a:t>
            </a:r>
            <a:endParaRPr b="0" i="0" sz="1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600"/>
              <a:buFont typeface="Times New Roman"/>
              <a:buChar char="○"/>
            </a:pPr>
            <a:r>
              <a:rPr b="0" i="0" lang="en-US" sz="19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is not yet in frontier/explored → push G</a:t>
            </a:r>
            <a:endParaRPr b="0" i="0" sz="1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1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600"/>
              <a:buFont typeface="Times New Roman"/>
              <a:buChar char="○"/>
            </a:pPr>
            <a:r>
              <a:rPr b="0" i="0" lang="en-US" sz="19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explored → skip</a:t>
            </a:r>
            <a:endParaRPr b="0" i="0" sz="19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 = [ H, E, G ] (top = G)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Parent: G ← 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Expand G (pop top = G)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← { S, A, B, C, D, G }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8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found. Stop.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9ac8d87536_0_62"/>
          <p:cNvSpPr txBox="1"/>
          <p:nvPr/>
        </p:nvSpPr>
        <p:spPr>
          <a:xfrm>
            <a:off x="2566294" y="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g39ac8d87536_0_62"/>
          <p:cNvSpPr txBox="1"/>
          <p:nvPr/>
        </p:nvSpPr>
        <p:spPr>
          <a:xfrm>
            <a:off x="288125" y="493500"/>
            <a:ext cx="8702400" cy="6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/ path reconstruction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Parents collected while generating: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← S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← S, H ← S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← A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← B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← C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← D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 back from G: G ← D ← C ← B ← A ← S → reverse →</a:t>
            </a:r>
            <a:b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found by DFS: S → A → B → C → D → G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actions (moves)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coordinates: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S(2,1) → A(1,1) = Up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A(1,1) → B(1,2) = Right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B(1,2) → C(1,3) = Right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C(1,3) → D(2,3) = Down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00"/>
              <a:buFont typeface="Times New Roman"/>
              <a:buAutoNum type="arabicPeriod"/>
            </a:pPr>
            <a:r>
              <a:rPr b="0" i="0" lang="en-US" sz="2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D(2,3) → G(3,3) = Down</a:t>
            </a:r>
            <a:endParaRPr b="0" i="0" sz="2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sequence: Up, Right, Right, Down, Down (5 moves)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9ac0bd2cb2_2_6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g39ac0bd2cb2_2_6"/>
          <p:cNvSpPr txBox="1"/>
          <p:nvPr/>
        </p:nvSpPr>
        <p:spPr>
          <a:xfrm>
            <a:off x="553175" y="1299872"/>
            <a:ext cx="84372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R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you are designing a robot that must navigate through a 3×3 maze (see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3×3 Maze) to reach a designated goal. The robot can move in four directions: up, right, down, and left.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robot starts at location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goal is at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Solve the problem using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Search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(DFS).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show the following: Frontier (Queue) updates at each step, Explored set, Expanded tree structure, Final path from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7" name="Google Shape;807;g39ac0bd2cb2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500" y="4559825"/>
            <a:ext cx="2320100" cy="22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407595c62d6a856b_4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g407595c62d6a856b_4"/>
          <p:cNvSpPr txBox="1"/>
          <p:nvPr/>
        </p:nvSpPr>
        <p:spPr>
          <a:xfrm>
            <a:off x="330216" y="1245008"/>
            <a:ext cx="8682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right-side graph to solve this problem where S is the start node and G is the goal node. Note that the edges in this graph are directed. For this problem, find the goal node using Breadth-First Search and Depth-First Search strategies. At the end of each search, show the path found by the algorithm to reach the goal node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4" name="Google Shape;814;g407595c62d6a856b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6900" y="3213800"/>
            <a:ext cx="6070200" cy="2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a23bcd7ed2_0_7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1" name="Google Shape;821;g3a23bcd7ed2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6149"/>
            <a:ext cx="8882537" cy="533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g3a23bcd7ed2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50064"/>
            <a:ext cx="8901874" cy="35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g3a23bcd7ed2_0_13"/>
          <p:cNvSpPr txBox="1"/>
          <p:nvPr/>
        </p:nvSpPr>
        <p:spPr>
          <a:xfrm>
            <a:off x="335494" y="595100"/>
            <a:ext cx="3232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9" name="Google Shape;829;g3a23bcd7ed2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5835" y="5041148"/>
            <a:ext cx="3657275" cy="18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g407595c62d6a856b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250" y="892300"/>
            <a:ext cx="4914900" cy="53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g39955e53e58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175" y="673801"/>
            <a:ext cx="6721625" cy="60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ctrum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ectrum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2018-12-10T17:20:29Z</dcterms:created>
  <dc:creator>Mahbubul Syeed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0x0101001F810BBF67D7AB47AE77F6C7A7504E11</vt:lpwstr>
  </property>
</Properties>
</file>