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9144000"/>
  <p:notesSz cx="6858000" cy="9144000"/>
  <p:embeddedFontLst>
    <p:embeddedFont>
      <p:font typeface="Corbel"/>
      <p:regular r:id="rId45"/>
      <p:bold r:id="rId46"/>
      <p:italic r:id="rId47"/>
      <p:boldItalic r:id="rId48"/>
    </p:embeddedFont>
    <p:embeddedFont>
      <p:font typeface="Helvetica Neue"/>
      <p:regular r:id="rId49"/>
      <p:bold r:id="rId50"/>
      <p:italic r:id="rId51"/>
      <p:boldItalic r:id="rId52"/>
    </p:embeddedFont>
    <p:embeddedFont>
      <p:font typeface="Old Standard TT"/>
      <p:regular r:id="rId53"/>
      <p:bold r:id="rId54"/>
      <p: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gxBAY8p7o+79fq1tNkSepN2/A3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72E52B-95F2-4958-9A9B-9B70D56B7E0A}">
  <a:tblStyle styleId="{7772E52B-95F2-4958-9A9B-9B70D56B7E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Corbel-bold.fntdata"/><Relationship Id="rId45" Type="http://schemas.openxmlformats.org/officeDocument/2006/relationships/font" Target="fonts/Corbel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orbel-boldItalic.fntdata"/><Relationship Id="rId47" Type="http://schemas.openxmlformats.org/officeDocument/2006/relationships/font" Target="fonts/Corbel-italic.fntdata"/><Relationship Id="rId49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italic.fntdata"/><Relationship Id="rId50" Type="http://schemas.openxmlformats.org/officeDocument/2006/relationships/font" Target="fonts/HelveticaNeue-bold.fntdata"/><Relationship Id="rId53" Type="http://schemas.openxmlformats.org/officeDocument/2006/relationships/font" Target="fonts/OldStandardTT-regular.fntdata"/><Relationship Id="rId52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55" Type="http://schemas.openxmlformats.org/officeDocument/2006/relationships/font" Target="fonts/OldStandardTT-italic.fntdata"/><Relationship Id="rId10" Type="http://schemas.openxmlformats.org/officeDocument/2006/relationships/slide" Target="slides/slide4.xml"/><Relationship Id="rId54" Type="http://schemas.openxmlformats.org/officeDocument/2006/relationships/font" Target="fonts/OldStandardT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fd6ca325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6fd6ca32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fd6ca325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6fd6ca325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fd6ca325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6fd6ca325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8dc8590a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98dc8590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8dc8590a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98dc8590a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8dc8590a1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98dc8590a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8dc8590a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98dc8590a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8dc8590a1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98dc8590a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8c9688cf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98c9688c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8c9688cf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98c9688c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8c9688cf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98c9688c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8c9688cf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98c9688cf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8c9688cf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98c9688cf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98c9688cf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98c9688cf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98c9688cf1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98c9688cf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98c9688cf1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98c9688cf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98c9688cf1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98c9688cf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8c9688cf1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98c9688cf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98c9688cf1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98c9688cf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3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3921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6" name="Google Shape;16;p23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7" name="Google Shape;17;p23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3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3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23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IUB logo" id="23" name="Google Shape;2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8596" y="459899"/>
            <a:ext cx="1419654" cy="1428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" name="Google Shape;27;p2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28" name="Google Shape;28;p24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4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4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 result for AIUB logo" id="31" name="Google Shape;3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9374" y="55844"/>
            <a:ext cx="1279161" cy="1287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25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35" name="Google Shape;35;p2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5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5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25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3921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" name="Google Shape;45;p26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6"/>
          <p:cNvSpPr/>
          <p:nvPr>
            <p:ph idx="2" type="pic"/>
          </p:nvPr>
        </p:nvSpPr>
        <p:spPr>
          <a:xfrm>
            <a:off x="284162" y="2017058"/>
            <a:ext cx="8574087" cy="437739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6"/>
          <p:cNvSpPr txBox="1"/>
          <p:nvPr>
            <p:ph idx="1" type="subTitle"/>
          </p:nvPr>
        </p:nvSpPr>
        <p:spPr>
          <a:xfrm>
            <a:off x="472420" y="1532965"/>
            <a:ext cx="7754284" cy="484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50" name="Google Shape;50;p2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51" name="Google Shape;51;p26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6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26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6"/>
          <p:cNvSpPr txBox="1"/>
          <p:nvPr>
            <p:ph type="ctrTitle"/>
          </p:nvPr>
        </p:nvSpPr>
        <p:spPr>
          <a:xfrm>
            <a:off x="418633" y="444728"/>
            <a:ext cx="7810967" cy="1088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3921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8" name="Google Shape;58;p2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59" name="Google Shape;59;p27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7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27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7"/>
          <p:cNvSpPr txBox="1"/>
          <p:nvPr>
            <p:ph type="title"/>
          </p:nvPr>
        </p:nvSpPr>
        <p:spPr>
          <a:xfrm>
            <a:off x="429768" y="4814125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475488" y="5861304"/>
            <a:ext cx="77358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Picture">
  <p:cSld name="Section with Pictur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/>
          <p:nvPr>
            <p:ph idx="2" type="pic"/>
          </p:nvPr>
        </p:nvSpPr>
        <p:spPr>
          <a:xfrm>
            <a:off x="284162" y="443754"/>
            <a:ext cx="8574087" cy="4370293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8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8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3921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74" name="Google Shape;74;p2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75" name="Google Shape;75;p2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8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8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28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8"/>
          <p:cNvSpPr txBox="1"/>
          <p:nvPr>
            <p:ph type="title"/>
          </p:nvPr>
        </p:nvSpPr>
        <p:spPr>
          <a:xfrm>
            <a:off x="430306" y="4814047"/>
            <a:ext cx="7772400" cy="10488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>
            <a:off x="470647" y="5862918"/>
            <a:ext cx="7732059" cy="40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29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4" name="Google Shape;84;p2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29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403412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89" name="Google Shape;89;p29"/>
          <p:cNvSpPr txBox="1"/>
          <p:nvPr>
            <p:ph idx="2" type="body"/>
          </p:nvPr>
        </p:nvSpPr>
        <p:spPr>
          <a:xfrm>
            <a:off x="4778188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90" name="Google Shape;90;p29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3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6" name="Google Shape;96;p30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3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30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0"/>
          <p:cNvSpPr txBox="1"/>
          <p:nvPr>
            <p:ph idx="1" type="body"/>
          </p:nvPr>
        </p:nvSpPr>
        <p:spPr>
          <a:xfrm>
            <a:off x="403412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101" name="Google Shape;101;p30"/>
          <p:cNvSpPr txBox="1"/>
          <p:nvPr>
            <p:ph idx="2" type="body"/>
          </p:nvPr>
        </p:nvSpPr>
        <p:spPr>
          <a:xfrm>
            <a:off x="403412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6pPr>
            <a:lvl7pPr indent="-32003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7pPr>
            <a:lvl8pPr indent="-32004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8pPr>
            <a:lvl9pPr indent="-32004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9pPr>
          </a:lstStyle>
          <a:p/>
        </p:txBody>
      </p:sp>
      <p:sp>
        <p:nvSpPr>
          <p:cNvPr id="102" name="Google Shape;102;p30"/>
          <p:cNvSpPr txBox="1"/>
          <p:nvPr>
            <p:ph idx="3" type="body"/>
          </p:nvPr>
        </p:nvSpPr>
        <p:spPr>
          <a:xfrm>
            <a:off x="4779495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103" name="Google Shape;103;p30"/>
          <p:cNvSpPr txBox="1"/>
          <p:nvPr>
            <p:ph idx="4" type="body"/>
          </p:nvPr>
        </p:nvSpPr>
        <p:spPr>
          <a:xfrm>
            <a:off x="4779495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6pPr>
            <a:lvl7pPr indent="-32003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7pPr>
            <a:lvl8pPr indent="-32004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8pPr>
            <a:lvl9pPr indent="-32004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9pPr>
          </a:lstStyle>
          <a:p/>
        </p:txBody>
      </p:sp>
      <p:sp>
        <p:nvSpPr>
          <p:cNvPr id="104" name="Google Shape;104;p30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0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0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31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10" name="Google Shape;110;p3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1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31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1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2"/>
          <p:cNvSpPr txBox="1"/>
          <p:nvPr>
            <p:ph type="title"/>
          </p:nvPr>
        </p:nvSpPr>
        <p:spPr>
          <a:xfrm>
            <a:off x="268941" y="1298762"/>
            <a:ext cx="406908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rbel"/>
              <a:buNone/>
              <a:defRPr b="1" sz="32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1" type="body"/>
          </p:nvPr>
        </p:nvSpPr>
        <p:spPr>
          <a:xfrm>
            <a:off x="4783567" y="914400"/>
            <a:ext cx="406908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120" name="Google Shape;120;p32"/>
          <p:cNvSpPr txBox="1"/>
          <p:nvPr>
            <p:ph idx="2" type="body"/>
          </p:nvPr>
        </p:nvSpPr>
        <p:spPr>
          <a:xfrm>
            <a:off x="268941" y="2456329"/>
            <a:ext cx="4069080" cy="31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21" name="Google Shape;121;p32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2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2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4" name="Google Shape;124;p32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125" name="Google Shape;125;p32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2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3921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30" name="Google Shape;130;p33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31" name="Google Shape;131;p33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3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3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3"/>
          <p:cNvSpPr txBox="1"/>
          <p:nvPr>
            <p:ph type="title"/>
          </p:nvPr>
        </p:nvSpPr>
        <p:spPr>
          <a:xfrm>
            <a:off x="363071" y="4800600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>
            <p:ph idx="2" type="pic"/>
          </p:nvPr>
        </p:nvSpPr>
        <p:spPr>
          <a:xfrm>
            <a:off x="284163" y="457199"/>
            <a:ext cx="85770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3"/>
          <p:cNvSpPr txBox="1"/>
          <p:nvPr>
            <p:ph idx="1" type="body"/>
          </p:nvPr>
        </p:nvSpPr>
        <p:spPr>
          <a:xfrm>
            <a:off x="419099" y="5367338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37" name="Google Shape;137;p33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3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3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, Alt.">
  <p:cSld name="Picture with Caption, Alt.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34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42" name="Google Shape;142;p34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4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4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34"/>
          <p:cNvSpPr txBox="1"/>
          <p:nvPr>
            <p:ph type="title"/>
          </p:nvPr>
        </p:nvSpPr>
        <p:spPr>
          <a:xfrm>
            <a:off x="363071" y="4778189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rbel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4"/>
          <p:cNvSpPr/>
          <p:nvPr>
            <p:ph idx="2" type="pic"/>
          </p:nvPr>
        </p:nvSpPr>
        <p:spPr>
          <a:xfrm>
            <a:off x="284163" y="457200"/>
            <a:ext cx="8577072" cy="3822192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419099" y="5344927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48" name="Google Shape;148;p34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, Picture, and Caption">
  <p:cSld name="Content, Picture, and Capti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3657600" y="914400"/>
            <a:ext cx="5195047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153" name="Google Shape;153;p35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35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rgbClr val="262626">
              <a:alpha val="83921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7" name="Google Shape;157;p35"/>
          <p:cNvSpPr txBox="1"/>
          <p:nvPr>
            <p:ph idx="2" type="body"/>
          </p:nvPr>
        </p:nvSpPr>
        <p:spPr>
          <a:xfrm>
            <a:off x="419101" y="4953001"/>
            <a:ext cx="2472017" cy="1246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58" name="Google Shape;158;p35"/>
          <p:cNvSpPr txBox="1"/>
          <p:nvPr>
            <p:ph type="title"/>
          </p:nvPr>
        </p:nvSpPr>
        <p:spPr>
          <a:xfrm>
            <a:off x="410764" y="4419600"/>
            <a:ext cx="2475395" cy="5109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rbel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5"/>
          <p:cNvSpPr/>
          <p:nvPr>
            <p:ph idx="3" type="pic"/>
          </p:nvPr>
        </p:nvSpPr>
        <p:spPr>
          <a:xfrm>
            <a:off x="284164" y="594360"/>
            <a:ext cx="2743200" cy="36758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0" name="Google Shape;160;p35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1" name="Google Shape;161;p3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5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5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rgbClr val="262626">
              <a:alpha val="83921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66" name="Google Shape;166;p36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67" name="Google Shape;167;p36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6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36"/>
          <p:cNvSpPr txBox="1"/>
          <p:nvPr>
            <p:ph type="title"/>
          </p:nvPr>
        </p:nvSpPr>
        <p:spPr>
          <a:xfrm>
            <a:off x="3031661" y="4800600"/>
            <a:ext cx="569165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6"/>
          <p:cNvSpPr/>
          <p:nvPr>
            <p:ph idx="2" type="pic"/>
          </p:nvPr>
        </p:nvSpPr>
        <p:spPr>
          <a:xfrm>
            <a:off x="3021014" y="457199"/>
            <a:ext cx="58338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6"/>
          <p:cNvSpPr txBox="1"/>
          <p:nvPr>
            <p:ph idx="1" type="body"/>
          </p:nvPr>
        </p:nvSpPr>
        <p:spPr>
          <a:xfrm>
            <a:off x="3069805" y="5367338"/>
            <a:ext cx="5653507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73" name="Google Shape;173;p36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6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6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6"/>
          <p:cNvSpPr/>
          <p:nvPr>
            <p:ph idx="3" type="pic"/>
          </p:nvPr>
        </p:nvSpPr>
        <p:spPr>
          <a:xfrm>
            <a:off x="284164" y="457200"/>
            <a:ext cx="2736850" cy="2907792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6"/>
          <p:cNvSpPr/>
          <p:nvPr>
            <p:ph idx="4" type="pic"/>
          </p:nvPr>
        </p:nvSpPr>
        <p:spPr>
          <a:xfrm>
            <a:off x="284164" y="3364992"/>
            <a:ext cx="2736850" cy="28986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3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81" name="Google Shape;181;p3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7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37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7"/>
          <p:cNvSpPr txBox="1"/>
          <p:nvPr>
            <p:ph idx="1" type="body"/>
          </p:nvPr>
        </p:nvSpPr>
        <p:spPr>
          <a:xfrm rot="5400000">
            <a:off x="2564607" y="-146843"/>
            <a:ext cx="4013200" cy="857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186" name="Google Shape;186;p37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7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8"/>
          <p:cNvSpPr txBox="1"/>
          <p:nvPr>
            <p:ph type="title"/>
          </p:nvPr>
        </p:nvSpPr>
        <p:spPr>
          <a:xfrm rot="5400000">
            <a:off x="5219069" y="2949131"/>
            <a:ext cx="5921375" cy="969264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orbe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8"/>
          <p:cNvSpPr txBox="1"/>
          <p:nvPr>
            <p:ph idx="1" type="body"/>
          </p:nvPr>
        </p:nvSpPr>
        <p:spPr>
          <a:xfrm rot="5400000">
            <a:off x="564357" y="177007"/>
            <a:ext cx="5937250" cy="649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193" name="Google Shape;193;p38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8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8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6" name="Google Shape;196;p38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197" name="Google Shape;197;p3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8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idx="1" type="body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576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🡽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433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980"/>
              <a:buFont typeface="Noto Sans Symbols"/>
              <a:buChar char="🡽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🡽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6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22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"/>
          <p:cNvSpPr txBox="1"/>
          <p:nvPr>
            <p:ph type="ctrTitle"/>
          </p:nvPr>
        </p:nvSpPr>
        <p:spPr>
          <a:xfrm>
            <a:off x="421341" y="599704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Times New Roman"/>
              <a:buNone/>
            </a:pPr>
            <a:r>
              <a:rPr lang="en-US" sz="40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INFORMED (HEURISTIC) </a:t>
            </a:r>
            <a:br>
              <a:rPr lang="en-US" sz="40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SEARCH STRATEGIES</a:t>
            </a:r>
            <a:endParaRPr/>
          </a:p>
        </p:txBody>
      </p:sp>
      <p:sp>
        <p:nvSpPr>
          <p:cNvPr id="205" name="Google Shape;205;p1"/>
          <p:cNvSpPr txBox="1"/>
          <p:nvPr>
            <p:ph idx="1" type="subTitle"/>
          </p:nvPr>
        </p:nvSpPr>
        <p:spPr>
          <a:xfrm>
            <a:off x="466373" y="1620915"/>
            <a:ext cx="278950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Course Code: 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CSC4226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Science and Technology</a:t>
            </a:r>
            <a:endParaRPr b="1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7" name="Google Shape;207;p1"/>
          <p:cNvGraphicFramePr/>
          <p:nvPr/>
        </p:nvGraphicFramePr>
        <p:xfrm>
          <a:off x="476205" y="51860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{7772E52B-95F2-4958-9A9B-9B70D56B7E0A}</a:tableStyleId>
              </a:tblPr>
              <a:tblGrid>
                <a:gridCol w="1483225"/>
                <a:gridCol w="1397725"/>
                <a:gridCol w="1227900"/>
                <a:gridCol w="1166800"/>
                <a:gridCol w="1081550"/>
                <a:gridCol w="1978575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Lecture No: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Four (4)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No: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Four (4)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Semester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Summer-2023-24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Lecturer: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Prof. Dr. Firoz Ahmed</a:t>
                      </a:r>
                      <a:r>
                        <a:rPr i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		       </a:t>
                      </a:r>
                      <a:r>
                        <a:rPr i="1" lang="en-US" sz="1800" u="none" cap="none" strike="noStrike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fahmed@aiub.edu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208" name="Google Shape;208;p1"/>
          <p:cNvSpPr txBox="1"/>
          <p:nvPr/>
        </p:nvSpPr>
        <p:spPr>
          <a:xfrm>
            <a:off x="3238287" y="1622632"/>
            <a:ext cx="523257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ct val="900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Title:  </a:t>
            </a: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and Expert System 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LECTURE OUTLINE</a:t>
            </a:r>
            <a:endParaRPr/>
          </a:p>
        </p:txBody>
      </p:sp>
      <p:sp>
        <p:nvSpPr>
          <p:cNvPr id="214" name="Google Shape;214;p2"/>
          <p:cNvSpPr txBox="1"/>
          <p:nvPr>
            <p:ph idx="1" type="subTitle"/>
          </p:nvPr>
        </p:nvSpPr>
        <p:spPr>
          <a:xfrm>
            <a:off x="486697" y="2363928"/>
            <a:ext cx="7754112" cy="3009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BEST-FIRST SEARCH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GREEDY BEST-FIRST SEARCH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A* SEARCH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CONDITIONS FOR OPTIMALITY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OPTIMALITY OF A*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"/>
          <p:cNvSpPr txBox="1"/>
          <p:nvPr>
            <p:ph type="ctrTitle"/>
          </p:nvPr>
        </p:nvSpPr>
        <p:spPr>
          <a:xfrm>
            <a:off x="210325" y="518182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"/>
              <a:buNone/>
            </a:pPr>
            <a:r>
              <a:rPr b="1" lang="en-US" sz="3600">
                <a:latin typeface="Times"/>
                <a:ea typeface="Times"/>
                <a:cs typeface="Times"/>
                <a:sym typeface="Times"/>
              </a:rPr>
              <a:t>INFORMED 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3600">
                <a:latin typeface="Times"/>
                <a:ea typeface="Times"/>
                <a:cs typeface="Times"/>
                <a:sym typeface="Times"/>
              </a:rPr>
              <a:t>SEARCH </a:t>
            </a:r>
            <a:r>
              <a:rPr lang="en-US" sz="3600">
                <a:latin typeface="Times"/>
                <a:ea typeface="Times"/>
                <a:cs typeface="Times"/>
                <a:sym typeface="Times"/>
              </a:rPr>
              <a:t>STRATEGY</a:t>
            </a:r>
            <a:endParaRPr sz="3600"/>
          </a:p>
        </p:txBody>
      </p:sp>
      <p:sp>
        <p:nvSpPr>
          <p:cNvPr id="220" name="Google Shape;220;p3"/>
          <p:cNvSpPr/>
          <p:nvPr/>
        </p:nvSpPr>
        <p:spPr>
          <a:xfrm>
            <a:off x="210324" y="2151017"/>
            <a:ext cx="780897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that uses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problem-specific knowledge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beyond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the problem itself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find solutions more efficiently than can an uninformed strategy.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210324" y="4436373"/>
            <a:ext cx="82132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problem-specific knowledge  is the extra bit of information the program uses rather than the problem formulation, thus known as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Informed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BEST-FIRST SEARCH</a:t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232115" y="2205503"/>
            <a:ext cx="81381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general approach to informed search is called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best-first search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232115" y="2690336"/>
            <a:ext cx="87852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Best-first search is an instance of the general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EARCH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RAPH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EARCH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in which a node is selected for expansion based on an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function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232115" y="3474071"/>
            <a:ext cx="87852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evaluation function is construed as a cost estimate, so the node with the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is expanded 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232115" y="4475093"/>
            <a:ext cx="87852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implementation of best-first graph search is identical to that for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uniform-cost search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except for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of f instead of g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order the priority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246183" y="5526854"/>
            <a:ext cx="54557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choice of f determines the search strategy.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"/>
          <p:cNvSpPr txBox="1"/>
          <p:nvPr>
            <p:ph type="ctrTitle"/>
          </p:nvPr>
        </p:nvSpPr>
        <p:spPr>
          <a:xfrm>
            <a:off x="421341" y="702224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HEURISTIC SEARCH COMPARED</a:t>
            </a:r>
            <a:br>
              <a:rPr lang="en-US"/>
            </a:br>
            <a:r>
              <a:rPr lang="en-US"/>
              <a:t>WITH BLIND SEARCH</a:t>
            </a:r>
            <a:endParaRPr/>
          </a:p>
        </p:txBody>
      </p:sp>
      <p:pic>
        <p:nvPicPr>
          <p:cNvPr id="237" name="Google Shape;2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123" y="2115843"/>
            <a:ext cx="7675418" cy="3876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HEURISTIC FUNCTION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98477" y="2090616"/>
            <a:ext cx="88907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choice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f(evaluation function)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determines the search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98477" y="2592434"/>
            <a:ext cx="904552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Best-first algorithms include as a component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 function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98476" y="3354496"/>
            <a:ext cx="88907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 = estimated cost of the cheapest path from the state at node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 goal state.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98476" y="4026573"/>
            <a:ext cx="90625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 takes a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input, but, unlike g(n), it depends only on the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that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98476" y="4758726"/>
            <a:ext cx="88907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 functions are the most common form in which additional knowledge of the problem is imparted to the search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98477" y="5497270"/>
            <a:ext cx="88907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them to be arbitrary, nonnegative, problem-specific functions, with one constraint: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 is a goal node, then h(n)=0.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"/>
          <p:cNvSpPr txBox="1"/>
          <p:nvPr>
            <p:ph type="ctrTitle"/>
          </p:nvPr>
        </p:nvSpPr>
        <p:spPr>
          <a:xfrm>
            <a:off x="421341" y="449005"/>
            <a:ext cx="7060114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lang="en-US" sz="4400"/>
              <a:t>GREEDY BEST-FIRST SEARCH</a:t>
            </a:r>
            <a:endParaRPr sz="4400"/>
          </a:p>
        </p:txBody>
      </p:sp>
      <p:sp>
        <p:nvSpPr>
          <p:cNvPr id="254" name="Google Shape;254;p7"/>
          <p:cNvSpPr/>
          <p:nvPr/>
        </p:nvSpPr>
        <p:spPr>
          <a:xfrm>
            <a:off x="203981" y="2089854"/>
            <a:ext cx="87852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Greedy best-first search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tries to expand the node that is closest to the goal, on the grounds that this is likely to lead to a solution quickly.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03980" y="3334942"/>
            <a:ext cx="87852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Thus, it evaluates nodes by using just the heuristic function; that is,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f(n) = h(n)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b="1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200478" y="4167413"/>
            <a:ext cx="86481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“greedy”—at each step it tries to get as close to the goal as it can.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03982" y="4828962"/>
            <a:ext cx="84617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Its search cost is minimal. It is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not optimal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03982" y="5372968"/>
            <a:ext cx="878527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Greedy best-first tree search is also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incomplete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even in a finite state space, much like depth-first search.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fd6ca325a_0_0"/>
          <p:cNvSpPr txBox="1"/>
          <p:nvPr>
            <p:ph type="ctrTitle"/>
          </p:nvPr>
        </p:nvSpPr>
        <p:spPr>
          <a:xfrm>
            <a:off x="421341" y="491778"/>
            <a:ext cx="7809000" cy="10881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SzPct val="106060"/>
              <a:buNone/>
            </a:pPr>
            <a:r>
              <a:rPr b="1"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BEST-FIRST SEARCH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g36fd6ca325a_0_0"/>
          <p:cNvSpPr txBox="1"/>
          <p:nvPr>
            <p:ph idx="1" type="subTitle"/>
          </p:nvPr>
        </p:nvSpPr>
        <p:spPr>
          <a:xfrm>
            <a:off x="476205" y="1532427"/>
            <a:ext cx="77541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pic>
        <p:nvPicPr>
          <p:cNvPr id="265" name="Google Shape;265;g36fd6ca325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939" y="2083780"/>
            <a:ext cx="7620610" cy="4536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g36fd6ca325a_0_0"/>
          <p:cNvCxnSpPr/>
          <p:nvPr/>
        </p:nvCxnSpPr>
        <p:spPr>
          <a:xfrm>
            <a:off x="9427250" y="2115850"/>
            <a:ext cx="1368600" cy="13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/>
          <p:nvPr>
            <p:ph type="ctrTitle"/>
          </p:nvPr>
        </p:nvSpPr>
        <p:spPr>
          <a:xfrm>
            <a:off x="421341" y="786630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STRAIGHT-LINE DISTANCE HEURISTIC</a:t>
            </a:r>
            <a:endParaRPr/>
          </a:p>
        </p:txBody>
      </p:sp>
      <p:pic>
        <p:nvPicPr>
          <p:cNvPr id="272" name="Google Shape;2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505" y="2369993"/>
            <a:ext cx="8241928" cy="347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 txBox="1"/>
          <p:nvPr>
            <p:ph type="ctrTitle"/>
          </p:nvPr>
        </p:nvSpPr>
        <p:spPr>
          <a:xfrm>
            <a:off x="322867" y="716291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GREEDY BEST-FIRST </a:t>
            </a:r>
            <a:br>
              <a:rPr lang="en-US"/>
            </a:br>
            <a:r>
              <a:rPr lang="en-US"/>
              <a:t>TREE SEARCH</a:t>
            </a:r>
            <a:endParaRPr/>
          </a:p>
        </p:txBody>
      </p:sp>
      <p:pic>
        <p:nvPicPr>
          <p:cNvPr id="278" name="Google Shape;2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054" y="2133598"/>
            <a:ext cx="8444779" cy="4191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 txBox="1"/>
          <p:nvPr>
            <p:ph type="ctrTitle"/>
          </p:nvPr>
        </p:nvSpPr>
        <p:spPr>
          <a:xfrm>
            <a:off x="322867" y="716291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GREEDY BEST-FIRST </a:t>
            </a:r>
            <a:br>
              <a:rPr lang="en-US"/>
            </a:br>
            <a:r>
              <a:rPr lang="en-US"/>
              <a:t>TREE SEARCH</a:t>
            </a:r>
            <a:endParaRPr/>
          </a:p>
        </p:txBody>
      </p:sp>
      <p:pic>
        <p:nvPicPr>
          <p:cNvPr id="284" name="Google Shape;2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" y="2178500"/>
            <a:ext cx="872490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 txBox="1"/>
          <p:nvPr>
            <p:ph type="ctrTitle"/>
          </p:nvPr>
        </p:nvSpPr>
        <p:spPr>
          <a:xfrm>
            <a:off x="421341" y="772562"/>
            <a:ext cx="8300628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lang="en-US"/>
              <a:t>A* SEARCH: </a:t>
            </a:r>
            <a:br>
              <a:rPr b="1" lang="en-US"/>
            </a:br>
            <a:r>
              <a:rPr b="1" lang="en-US" sz="2700"/>
              <a:t>MINIMIZING THE TOTAL ESTIMATED SOLUTION COST</a:t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189913" y="2008555"/>
            <a:ext cx="881340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widely known form of best-first search is called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30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89912" y="2387706"/>
            <a:ext cx="867273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evaluates nodes by combining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g(n), the cost to reach the node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h(n), the cost to get from the node to the goal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f(n) = g(n) + h(n) .</a:t>
            </a:r>
            <a:endParaRPr b="1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89912" y="3612669"/>
            <a:ext cx="89540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g(n) gives the path cost from the start node to node n,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h(n) is the estimated cost of the cheapest path from n to the goal,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f(n) = estimated cost of the cheapest solution through n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89913" y="4920324"/>
            <a:ext cx="867273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A∗ search is both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complete and optimal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algorithm is identical to UNIFORM-COST-SEARCH except that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A∗ uses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+ h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fd6ca325a_0_7"/>
          <p:cNvSpPr txBox="1"/>
          <p:nvPr>
            <p:ph type="ctrTitle"/>
          </p:nvPr>
        </p:nvSpPr>
        <p:spPr>
          <a:xfrm>
            <a:off x="421341" y="449005"/>
            <a:ext cx="78090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/>
          </a:p>
        </p:txBody>
      </p:sp>
      <p:sp>
        <p:nvSpPr>
          <p:cNvPr id="299" name="Google Shape;299;g36fd6ca325a_0_7"/>
          <p:cNvSpPr txBox="1"/>
          <p:nvPr>
            <p:ph idx="1" type="subTitle"/>
          </p:nvPr>
        </p:nvSpPr>
        <p:spPr>
          <a:xfrm>
            <a:off x="476205" y="1532427"/>
            <a:ext cx="77541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pic>
        <p:nvPicPr>
          <p:cNvPr id="300" name="Google Shape;300;g36fd6ca325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845" y="2041007"/>
            <a:ext cx="8072898" cy="453627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6fd6ca325a_0_7"/>
          <p:cNvSpPr txBox="1"/>
          <p:nvPr>
            <p:ph type="ctrTitle"/>
          </p:nvPr>
        </p:nvSpPr>
        <p:spPr>
          <a:xfrm>
            <a:off x="421341" y="491778"/>
            <a:ext cx="7809000" cy="10881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4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A* Search Algorithm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fd6ca325a_0_14"/>
          <p:cNvSpPr txBox="1"/>
          <p:nvPr>
            <p:ph type="ctrTitle"/>
          </p:nvPr>
        </p:nvSpPr>
        <p:spPr>
          <a:xfrm>
            <a:off x="421341" y="449005"/>
            <a:ext cx="78090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/>
          </a:p>
        </p:txBody>
      </p:sp>
      <p:sp>
        <p:nvSpPr>
          <p:cNvPr id="307" name="Google Shape;307;g36fd6ca325a_0_14"/>
          <p:cNvSpPr txBox="1"/>
          <p:nvPr>
            <p:ph idx="1" type="subTitle"/>
          </p:nvPr>
        </p:nvSpPr>
        <p:spPr>
          <a:xfrm>
            <a:off x="476205" y="1532427"/>
            <a:ext cx="77541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pic>
        <p:nvPicPr>
          <p:cNvPr id="308" name="Google Shape;308;g36fd6ca325a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978" y="2112296"/>
            <a:ext cx="8561738" cy="453627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6fd6ca325a_0_14"/>
          <p:cNvSpPr txBox="1"/>
          <p:nvPr>
            <p:ph type="ctrTitle"/>
          </p:nvPr>
        </p:nvSpPr>
        <p:spPr>
          <a:xfrm>
            <a:off x="421341" y="491778"/>
            <a:ext cx="7809000" cy="10881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3759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A* Search Algorithm (Admissibility)</a:t>
            </a:r>
            <a:endParaRPr sz="358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A∗ SEARCH FOR BUCHAREST</a:t>
            </a:r>
            <a:endParaRPr/>
          </a:p>
        </p:txBody>
      </p:sp>
      <p:pic>
        <p:nvPicPr>
          <p:cNvPr id="315" name="Google Shape;3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92" y="2142693"/>
            <a:ext cx="74009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A∗ SEARCH FOR BUCHAREST</a:t>
            </a:r>
            <a:endParaRPr/>
          </a:p>
        </p:txBody>
      </p:sp>
      <p:pic>
        <p:nvPicPr>
          <p:cNvPr id="321" name="Google Shape;3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342" y="2092038"/>
            <a:ext cx="7419975" cy="448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A∗ SEARCH FOR BUCHAREST</a:t>
            </a:r>
            <a:endParaRPr/>
          </a:p>
        </p:txBody>
      </p:sp>
      <p:pic>
        <p:nvPicPr>
          <p:cNvPr id="327" name="Google Shape;3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40" y="2154815"/>
            <a:ext cx="8822765" cy="3899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/>
          <p:nvPr>
            <p:ph type="ctrTitle"/>
          </p:nvPr>
        </p:nvSpPr>
        <p:spPr>
          <a:xfrm>
            <a:off x="403437" y="7938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lang="en-US"/>
              <a:t>CONDITIONS FOR OPTIMALITY: </a:t>
            </a:r>
            <a:r>
              <a:rPr b="1" lang="en-US" sz="4000"/>
              <a:t>ADMISSIBILITY AND CONSISTENCY</a:t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154054" y="2064826"/>
            <a:ext cx="869452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condition we require for optimality is that h(n) be an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admissible heuristic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175501" y="2819946"/>
            <a:ext cx="869452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admissible heuristic is one that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never overestimates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cost to reach the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175501" y="3764320"/>
            <a:ext cx="879299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g(n) is the actual cost to reach n along the current path, and f(n)=g(n) + h(n), we have as an immediate consequence that f(n) never overestimates the true cost of a solution along the current path through 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75501" y="5333980"/>
            <a:ext cx="869452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Admissible heuristics are by nature optimistic because they think the cost of solving the problem is less than it actually 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ADMISSIBILITY</a:t>
            </a:r>
            <a:endParaRPr/>
          </a:p>
        </p:txBody>
      </p:sp>
      <p:pic>
        <p:nvPicPr>
          <p:cNvPr id="342" name="Google Shape;3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016" y="2128035"/>
            <a:ext cx="8834510" cy="4337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imes"/>
              <a:buNone/>
            </a:pPr>
            <a:r>
              <a:rPr b="1" lang="en-US">
                <a:latin typeface="Times"/>
                <a:ea typeface="Times"/>
                <a:cs typeface="Times"/>
                <a:sym typeface="Times"/>
              </a:rPr>
              <a:t>CONSISTENCY</a:t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232116" y="1972880"/>
            <a:ext cx="872900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second, slightly stronger condition  called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consistency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(or sometimes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monotonicity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required only for applications of A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∗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graph search.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232115" y="3176058"/>
            <a:ext cx="872900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heuristic h(n) is consistent if, for every node n and every successor n’ of n generated by any action a, the estimated cost of reaching the goal from n is no greater than the step cost of getting to n’ plus the estimated cost of reaching the goal from n’ :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 ≤ c(n, a, n’) + h(n’).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232117" y="5152773"/>
            <a:ext cx="87290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form of the general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triangle inequality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stipulates that each side of a triangle cannot be longer than the sum of the other two sides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b="1" lang="en-US"/>
              <a:t>OPTIMALITY OF A*</a:t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147711" y="2043222"/>
            <a:ext cx="885561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A∗ has the following properties: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tree-search version of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∗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optimal 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admissible, while the graph-search version is optimal 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consistent.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47710" y="2977853"/>
            <a:ext cx="899628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consistent, then the values of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along any path are nondecreasing.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proof follows directly from the definition of consistency. Suppose n  is a successor of n; then g(n’)=g(n) + c(n, a, n’) for some action a, and we have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f(n’) = g(n’) + h(n’)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= </a:t>
            </a:r>
            <a:r>
              <a:rPr b="1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g(n) + c(n, a, n’)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h(n’) because g(n’) = </a:t>
            </a:r>
            <a:r>
              <a:rPr b="1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g(n) + c(n, a, n’)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≥ g(n) + h(n)   because </a:t>
            </a:r>
            <a:r>
              <a:rPr b="1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c(n, a, n’)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h(n’) &gt;= h(n)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= f(n)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f(n’) &gt;= f(n)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b="1" lang="en-US"/>
              <a:t>OPTIMALITY OF A*</a:t>
            </a:r>
            <a:endParaRPr/>
          </a:p>
        </p:txBody>
      </p:sp>
      <p:sp>
        <p:nvSpPr>
          <p:cNvPr id="363" name="Google Shape;363;p19"/>
          <p:cNvSpPr/>
          <p:nvPr/>
        </p:nvSpPr>
        <p:spPr>
          <a:xfrm>
            <a:off x="688039" y="2854296"/>
            <a:ext cx="709821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next step is to prove that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whenever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∗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selects a node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expansion, the optimal path to that node has been found.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this not the case, there would have to be another frontier node n’ on the optimal path from the start node to n; because f is nondecreasing along any path, n’  would have lower f-cost than n and would have been selected first.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8dc8590a1_0_0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g398dc8590a1_0_0"/>
          <p:cNvSpPr txBox="1"/>
          <p:nvPr/>
        </p:nvSpPr>
        <p:spPr>
          <a:xfrm>
            <a:off x="168800" y="1423025"/>
            <a:ext cx="8975100" cy="54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difference between a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Search algorithm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Search algorithm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you are designing a part picking robot that can pick up different machinery parts from a moving conveyor belt, categorize it and place is in its designated bin.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1430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PEAS description of the task environment of the part picking robot.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1430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Characterize the agent’s environment as Fully vs. Partially Observable, Deterministic vs. Stochastic, Episodic vs. Sequential and Single vs. Multiagent.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1430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you want to use A* search to solve the above maze solving problem. What can be used as an admissible heuristic function?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8dc8590a1_0_6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5" name="Google Shape;375;g398dc8590a1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96" y="1341675"/>
            <a:ext cx="8917825" cy="35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8dc8590a1_0_11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1" name="Google Shape;381;g398dc8590a1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75" y="1346000"/>
            <a:ext cx="8967425" cy="51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8dc8590a1_0_17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7" name="Google Shape;387;g398dc8590a1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79400"/>
            <a:ext cx="8682950" cy="52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g398dc8590a1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25" y="1358200"/>
            <a:ext cx="8949351" cy="33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98dc8590a1_0_30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8c9688cf1_0_0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9" name="Google Shape;399;g398c9688cf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00" y="1379820"/>
            <a:ext cx="8795100" cy="52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g398c9688cf1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0228"/>
            <a:ext cx="4089300" cy="58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98c9688cf1_0_5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g398c9688cf1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225" y="826025"/>
            <a:ext cx="7415022" cy="603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98c9688cf1_0_10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8c9688cf1_0_17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7" name="Google Shape;417;g398c9688cf1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2400"/>
            <a:ext cx="8350725" cy="52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98c9688cf1_0_27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3" name="Google Shape;423;g398c9688cf1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2400"/>
            <a:ext cx="7512900" cy="341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g398c9688cf1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83" y="1446800"/>
            <a:ext cx="8917825" cy="357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98c9688cf1_0_33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8c9688cf1_0_38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5" name="Google Shape;435;g398c9688cf1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96" y="1347270"/>
            <a:ext cx="8991600" cy="2827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8c9688cf1_0_44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1" name="Google Shape;441;g398c9688cf1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13" y="1391443"/>
            <a:ext cx="8900676" cy="42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8c9688cf1_0_50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g398c9688cf1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61965"/>
            <a:ext cx="4928600" cy="60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8c9688cf1_0_56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3" name="Google Shape;453;g398c9688cf1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06139"/>
            <a:ext cx="6011625" cy="598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98c9688cf1_0_62"/>
          <p:cNvSpPr txBox="1"/>
          <p:nvPr>
            <p:ph idx="4294967295" type="ctrTitle"/>
          </p:nvPr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9" name="Google Shape;459;g398c9688cf1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2400"/>
            <a:ext cx="7446525" cy="57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ctrum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2018-12-10T17:20:29Z</dcterms:created>
  <dc:creator>Mahbubul Syeed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0x0101001F810BBF67D7AB47AE77F6C7A7504E11</vt:lpwstr>
  </property>
</Properties>
</file>