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iluvlSZJ9LmAmfUjKS+f6ahdj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1DD24-94CB-44E1-977B-E630803B569D}">
  <a:tblStyle styleId="{2931DD24-94CB-44E1-977B-E630803B569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e2f2743a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ae2f2743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e2f2743a8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e2f2743a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e36937f9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ae36937f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e36937f9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ae36937f9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e36937f9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ae36937f9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e36937f9e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ae36937f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e36937f9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ae36937f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59db1c1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ae59db1c1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59db1c12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e59db1c1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e59db1c12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ae59db1c1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36937f9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ae36937f9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e59db1c1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ae59db1c1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59db1c12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ae59db1c1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e59db1c1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ae59db1c1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e59db1c12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ae59db1c1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605e4ce6a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605e4ce6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59db1c12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ae59db1c1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605e4ce6a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a605e4ce6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605e4ce6a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a605e4ce6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605e4ce6a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a605e4ce6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605e4ce6a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a605e4ce6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48f2dbe6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b48f2dbe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48f2dbe6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b48f2dbe6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48f2dbe65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b48f2dbe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48f2dbe6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b48f2dbe6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6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26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26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6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6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35" name="Google Shape;35;p28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0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" name="Google Shape;50;p30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51" name="Google Shape;51;p3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0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31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9" name="Google Shape;59;p31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0" name="Google Shape;60;p3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33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3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33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3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4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34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3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34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34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4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  <a:defRPr b="0" i="0" sz="5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25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25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5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2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051550" y="1432225"/>
            <a:ext cx="9966900" cy="22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en-US" sz="6700"/>
              <a:t>HILL CLIMBING SEARCH</a:t>
            </a:r>
            <a:endParaRPr sz="6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1069848" y="484632"/>
            <a:ext cx="10058400" cy="1881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WHAT IS HILL CLIMBING SEARCH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1069848" y="2828040"/>
            <a:ext cx="10058400" cy="3344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Hill climbing algorithm is a local search algorithm which continuously moves in the direction of increasing elevation/value to find the peak of the mountain or best solution to the problem. It terminates when it reaches a peak value where no neighbor has a higher value. Hill climbing algorithm is a technique which is used for optimizing the mathematical problems.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/>
              <a:t>One of the widely discussed examples of Hill climbing algorithm is Traveling-salesman Problem in which we need to minimize the distance traveled by the salesman.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FEATURES OF HILL CLIMBING: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69848" y="2498102"/>
            <a:ext cx="10058400" cy="3674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Greedy approach: </a:t>
            </a:r>
            <a:r>
              <a:rPr lang="en-US"/>
              <a:t>Hill-climbing algorithm search moves in the direction which optimizes the cost.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No backtracking: </a:t>
            </a:r>
            <a:r>
              <a:rPr lang="en-US"/>
              <a:t>It does not backtrack the search space, as it does not remember the previous states.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Generate and Test variant: </a:t>
            </a:r>
            <a:r>
              <a:rPr lang="en-US"/>
              <a:t>Hill Climbing is the variant of Generate and Test method. The Generate and Test method produce feedback which helps to decide which direction to move in the search space.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Local Search:</a:t>
            </a:r>
            <a:endParaRPr>
              <a:solidFill>
                <a:schemeClr val="accent2"/>
              </a:solidFill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069848" y="484632"/>
            <a:ext cx="10058400" cy="5936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60"/>
              <a:buFont typeface="Rockwell"/>
              <a:buNone/>
            </a:pPr>
            <a:r>
              <a:rPr lang="en-US" sz="4500">
                <a:solidFill>
                  <a:schemeClr val="accent2"/>
                </a:solidFill>
              </a:rPr>
              <a:t>FEATURES OF HILL CLIMBING</a:t>
            </a:r>
            <a:endParaRPr sz="4500">
              <a:solidFill>
                <a:schemeClr val="accent2"/>
              </a:solidFill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163" y="1142305"/>
            <a:ext cx="3749255" cy="3031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506" y="4233017"/>
            <a:ext cx="4674966" cy="2443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5460" y="1075610"/>
            <a:ext cx="3753658" cy="31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TYPES OF HILL CLIMBING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Simple Hill climbing: </a:t>
            </a:r>
            <a:r>
              <a:rPr lang="en-US"/>
              <a:t>It examines the neighboring nodes one by one and selects the first neighboring node which optimizes the current cost as the next node.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Steepest-Ascent Hill climbing: </a:t>
            </a:r>
            <a:r>
              <a:rPr lang="en-US"/>
              <a:t>It first examines all the neighboring nodes and then selects the node closest to the solution state as of the next node.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b="1" lang="en-US"/>
              <a:t>Stochastic hill climbing: </a:t>
            </a:r>
            <a:r>
              <a:rPr lang="en-US"/>
              <a:t>It does not examine all the neighboring nodes before deciding which node to select. It just selects a neighboring node at random and decides (based on the amount of improvement in that neighbor) whether to move to that neighbor or to examine another.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1069848" y="484632"/>
            <a:ext cx="10058400" cy="1119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Rockwell"/>
              <a:buNone/>
            </a:pPr>
            <a:r>
              <a:rPr lang="en-US" sz="4000">
                <a:solidFill>
                  <a:schemeClr val="accent2"/>
                </a:solidFill>
              </a:rPr>
              <a:t>ALGORITHM FOR SIMPLE HILL CLIMBING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1066798" y="21359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US" u="sng"/>
              <a:t>Pseudocode</a:t>
            </a:r>
            <a:endParaRPr b="1" u="sng">
              <a:solidFill>
                <a:srgbClr val="0000FF"/>
              </a:solidFill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1. Start with an initial state (current_state).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2. Loop until a stopping condition is met: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a) Evaluate the current_state.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 b) Generate a successor (neighbor) of the current_state.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 c) If the successor is better than current_state: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        Move to the successor (current_state = successor).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    Else: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            Stop and return current_state (local maximum reached).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>
                <a:solidFill>
                  <a:srgbClr val="0000FF"/>
                </a:solidFill>
              </a:rPr>
              <a:t>3. End.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Stopping Conditions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No better neighbor exists (local maximum/plateau).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Goal state is reached.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Predefined number of steps/iterations completed.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Characteristics of Simple Hill-Climbing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b="1" lang="en-US">
                <a:solidFill>
                  <a:srgbClr val="0000FF"/>
                </a:solidFill>
              </a:rPr>
              <a:t>Greedy approach</a:t>
            </a:r>
            <a:r>
              <a:rPr lang="en-US">
                <a:solidFill>
                  <a:srgbClr val="0000FF"/>
                </a:solidFill>
              </a:rPr>
              <a:t> → immediately accepts the first better neighbor it finds.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b="1" lang="en-US">
                <a:solidFill>
                  <a:srgbClr val="0000FF"/>
                </a:solidFill>
              </a:rPr>
              <a:t>Does not compare all neighbors</a:t>
            </a:r>
            <a:r>
              <a:rPr lang="en-US">
                <a:solidFill>
                  <a:srgbClr val="0000FF"/>
                </a:solidFill>
              </a:rPr>
              <a:t> (unlike steepest-ascent).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Very fast, but can get stuck in:</a:t>
            </a:r>
            <a:endParaRPr/>
          </a:p>
          <a:p>
            <a:pPr indent="-182879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b="1" lang="en-US">
                <a:solidFill>
                  <a:srgbClr val="0000FF"/>
                </a:solidFill>
              </a:rPr>
              <a:t>Local maxima</a:t>
            </a:r>
            <a:endParaRPr>
              <a:solidFill>
                <a:srgbClr val="0000FF"/>
              </a:solidFill>
            </a:endParaRPr>
          </a:p>
          <a:p>
            <a:pPr indent="-182879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b="1" lang="en-US">
                <a:solidFill>
                  <a:srgbClr val="0000FF"/>
                </a:solidFill>
              </a:rPr>
              <a:t>Plateaus</a:t>
            </a:r>
            <a:endParaRPr>
              <a:solidFill>
                <a:srgbClr val="0000FF"/>
              </a:solidFill>
            </a:endParaRPr>
          </a:p>
          <a:p>
            <a:pPr indent="-182879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b="1" lang="en-US">
                <a:solidFill>
                  <a:srgbClr val="0000FF"/>
                </a:solidFill>
              </a:rPr>
              <a:t>Ridges</a:t>
            </a:r>
            <a:endParaRPr>
              <a:solidFill>
                <a:srgbClr val="0000FF"/>
              </a:solidFill>
            </a:endParaRPr>
          </a:p>
          <a:p>
            <a:pPr indent="-74928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1075606" y="481764"/>
            <a:ext cx="10058400" cy="10796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14606"/>
              <a:buFont typeface="Rockwell"/>
              <a:buNone/>
            </a:pPr>
            <a:r>
              <a:rPr b="0" i="0" lang="en-US" sz="4711" u="none" cap="none" strike="noStrik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ALGORITHM FOR SIMPLE HILL CLIMBING</a:t>
            </a:r>
            <a:r>
              <a:rPr b="0" i="0" lang="en-US" sz="5400" u="none" cap="none" strike="noStrik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b="0" i="0" sz="5400" u="none" cap="none" strike="noStrike"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Stopping Conditions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No neighbor is better than the current state (local maximum/plateau).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Goal state is reached.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Predefined number of iterations completed.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Characteristics</a:t>
            </a:r>
            <a:endParaRPr b="1"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b="1" lang="en-US">
                <a:solidFill>
                  <a:srgbClr val="0000FF"/>
                </a:solidFill>
              </a:rPr>
              <a:t>Checks all neighbors</a:t>
            </a:r>
            <a:r>
              <a:rPr lang="en-US">
                <a:solidFill>
                  <a:srgbClr val="0000FF"/>
                </a:solidFill>
              </a:rPr>
              <a:t> and picks the best one (unlike Simple Hill Climbing which picks the first better one).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More thorough, less likely to stop early.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But more </a:t>
            </a:r>
            <a:r>
              <a:rPr b="1" lang="en-US">
                <a:solidFill>
                  <a:srgbClr val="0000FF"/>
                </a:solidFill>
              </a:rPr>
              <a:t>computationally expensive</a:t>
            </a:r>
            <a:r>
              <a:rPr lang="en-US">
                <a:solidFill>
                  <a:srgbClr val="0000FF"/>
                </a:solidFill>
              </a:rPr>
              <a:t> (since all neighbors must be evaluated).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1069848" y="484633"/>
            <a:ext cx="10058400" cy="8955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Rockwell"/>
              <a:buNone/>
            </a:pPr>
            <a:r>
              <a:rPr b="0" i="0" lang="en-US" sz="3100" u="none" cap="none" strike="noStrik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ALGORITHM FOR STEEPEST-ASCENT HILL CLIMBING</a:t>
            </a:r>
            <a:endParaRPr b="0" i="0" sz="3100" u="none" cap="none" strike="noStrike"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1069850" y="484629"/>
            <a:ext cx="10058400" cy="579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60"/>
              <a:buFont typeface="Times New Roman"/>
              <a:buNone/>
            </a:pPr>
            <a:r>
              <a:rPr b="1" lang="en-US" sz="446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Comparison</a:t>
            </a:r>
            <a:endParaRPr sz="4460"/>
          </a:p>
        </p:txBody>
      </p:sp>
      <p:graphicFrame>
        <p:nvGraphicFramePr>
          <p:cNvPr id="154" name="Google Shape;154;p12"/>
          <p:cNvGraphicFramePr/>
          <p:nvPr/>
        </p:nvGraphicFramePr>
        <p:xfrm>
          <a:off x="1121433" y="1940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{2931DD24-94CB-44E1-977B-E630803B569D}</a:tableStyleId>
              </a:tblPr>
              <a:tblGrid>
                <a:gridCol w="3347050"/>
                <a:gridCol w="3347050"/>
                <a:gridCol w="33470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Hill Climbing</a:t>
                      </a:r>
                      <a:endParaRPr sz="24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Steepest-Ascent Hill Climbing</a:t>
                      </a:r>
                      <a:endParaRPr sz="24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Neighbor selection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better neighbor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among all neighbors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Slower (checks all)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of local maxima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 (but still possible)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2207007"/>
            <a:ext cx="89725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 txBox="1"/>
          <p:nvPr/>
        </p:nvSpPr>
        <p:spPr>
          <a:xfrm>
            <a:off x="1069848" y="484632"/>
            <a:ext cx="10058400" cy="8438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60"/>
              <a:buFont typeface="Rockwell"/>
              <a:buNone/>
            </a:pPr>
            <a:r>
              <a:rPr b="0" i="0" lang="en-US" sz="3459" u="none" cap="none" strike="noStrik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ALGORITHM FOR STOCHASTIC HILL CLIMBING</a:t>
            </a:r>
            <a:endParaRPr b="0" i="0" sz="3459" u="none" cap="none" strike="noStrike"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1069848" y="484632"/>
            <a:ext cx="10058400" cy="8438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Rockwell"/>
              <a:buNone/>
            </a:pPr>
            <a:r>
              <a:rPr lang="en-US" sz="3300">
                <a:solidFill>
                  <a:schemeClr val="accent2"/>
                </a:solidFill>
              </a:rPr>
              <a:t>ALGORITHM FOR STOCHASTIC HILL CLIMBING</a:t>
            </a:r>
            <a:endParaRPr sz="3300">
              <a:solidFill>
                <a:schemeClr val="accent2"/>
              </a:solidFill>
            </a:endParaRPr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1069848" y="1570008"/>
            <a:ext cx="10058400" cy="503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Unlike </a:t>
            </a:r>
            <a:r>
              <a:rPr b="1" lang="en-US"/>
              <a:t>Simple</a:t>
            </a:r>
            <a:r>
              <a:rPr lang="en-US"/>
              <a:t> or </a:t>
            </a:r>
            <a:r>
              <a:rPr b="1" lang="en-US"/>
              <a:t>Steepest-Ascent</a:t>
            </a:r>
            <a:r>
              <a:rPr lang="en-US"/>
              <a:t>, this variant chooses </a:t>
            </a:r>
            <a:r>
              <a:rPr b="1" lang="en-US"/>
              <a:t>randomly</a:t>
            </a:r>
            <a:r>
              <a:rPr lang="en-US"/>
              <a:t> among better neighbors instead of always picking the first or the best.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This randomness helps the search escape plateaus and ridges.</a:t>
            </a:r>
            <a:endParaRPr>
              <a:solidFill>
                <a:srgbClr val="0000FF"/>
              </a:solidFill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en-US" u="sng"/>
              <a:t>Pseudocode</a:t>
            </a:r>
            <a:endParaRPr b="1" u="sng">
              <a:solidFill>
                <a:srgbClr val="0000FF"/>
              </a:solidFill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1. Start with an initial state (current_state).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2. Loop until a stopping condition is met: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a) Evaluate the current_state.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b) Generate all successors (neighbors) of current_state.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c) From the set of neighbors that are better than current_state: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       Randomly select one neighbor.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d) If such a neighbor exists: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       Move to that neighbor (current_state = selected_neighbor).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   Else: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            Stop and return current_state (local maximum reached).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>
                <a:solidFill>
                  <a:srgbClr val="0000FF"/>
                </a:solidFill>
              </a:rPr>
              <a:t>3. End.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Stopping Conditions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No better neighbor exists.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Goal state reached.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Maximum number of iterations.</a:t>
            </a:r>
            <a:endParaRPr>
              <a:solidFill>
                <a:srgbClr val="0000FF"/>
              </a:solidFill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700"/>
              <a:buChar char="▪"/>
            </a:pPr>
            <a:r>
              <a:rPr b="1" lang="en-US">
                <a:solidFill>
                  <a:srgbClr val="0000FF"/>
                </a:solidFill>
              </a:rPr>
              <a:t>Characteristics</a:t>
            </a:r>
            <a:endParaRPr b="1"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Uses </a:t>
            </a:r>
            <a:r>
              <a:rPr b="1" lang="en-US">
                <a:solidFill>
                  <a:srgbClr val="0000FF"/>
                </a:solidFill>
              </a:rPr>
              <a:t>randomness</a:t>
            </a:r>
            <a:r>
              <a:rPr lang="en-US">
                <a:solidFill>
                  <a:srgbClr val="0000FF"/>
                </a:solidFill>
              </a:rPr>
              <a:t> in selecting neighbors.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Less greedy → can explore more than simple hill climbing.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Still </a:t>
            </a:r>
            <a:r>
              <a:rPr b="1" lang="en-US">
                <a:solidFill>
                  <a:srgbClr val="0000FF"/>
                </a:solidFill>
              </a:rPr>
              <a:t>local search</a:t>
            </a:r>
            <a:r>
              <a:rPr lang="en-US">
                <a:solidFill>
                  <a:srgbClr val="0000FF"/>
                </a:solidFill>
              </a:rPr>
              <a:t> (keeps only the current state).</a:t>
            </a:r>
            <a:endParaRPr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530"/>
              <a:buChar char="▪"/>
            </a:pPr>
            <a:r>
              <a:rPr lang="en-US">
                <a:solidFill>
                  <a:srgbClr val="0000FF"/>
                </a:solidFill>
              </a:rPr>
              <a:t>Can still get stuck in local maxima, but less than simple hill climbing.</a:t>
            </a:r>
            <a:endParaRPr>
              <a:solidFill>
                <a:srgbClr val="0000FF"/>
              </a:solidFill>
            </a:endParaRPr>
          </a:p>
          <a:p>
            <a:pPr indent="-85725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1069848" y="484632"/>
            <a:ext cx="10058400" cy="8438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Rockwell"/>
              <a:buNone/>
            </a:pPr>
            <a:r>
              <a:rPr b="0" i="0" lang="en-US" sz="3300" u="none" cap="none" strike="noStrik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ALGORITHM FOR STOCHASTIC HILL CLIMBING</a:t>
            </a:r>
            <a:endParaRPr b="0" i="0" sz="3300" u="none" cap="none" strike="noStrike"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STATE SPACE DIAGRAM FOR HILL CLIMBING</a:t>
            </a:r>
            <a:endParaRPr/>
          </a:p>
        </p:txBody>
      </p:sp>
      <p:pic>
        <p:nvPicPr>
          <p:cNvPr id="179" name="Google Shape;17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2290714"/>
            <a:ext cx="5180123" cy="369530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>
            <p:ph idx="2" type="body"/>
          </p:nvPr>
        </p:nvSpPr>
        <p:spPr>
          <a:xfrm>
            <a:off x="6589336" y="2194560"/>
            <a:ext cx="4529768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 state space is a landscape or a region which describes the relation between cost function and various algorithms.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/>
              <a:t>X-axis</a:t>
            </a:r>
            <a:r>
              <a:rPr lang="en-US"/>
              <a:t>: denotes the state space ie states or configuration our algorithm may reach.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US"/>
              <a:t>Y-axis</a:t>
            </a:r>
            <a:r>
              <a:rPr lang="en-US"/>
              <a:t>: denotes the values of objective function corresponding to a particular state.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DIFFERENT REGIONS IN THE STATE SPACE DIAGRAM: 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 state-space diagram consists of various regions that can be explained as follows;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Local maximum</a:t>
            </a:r>
            <a:r>
              <a:rPr lang="en-US"/>
              <a:t>:  A local maximum is a solution that surpasses other neighboring solutions or states but is not the best possible solution.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Global maximum</a:t>
            </a:r>
            <a:r>
              <a:rPr lang="en-US"/>
              <a:t>:  This is the best possible solution achieved by the algorithm.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Current state</a:t>
            </a:r>
            <a:r>
              <a:rPr lang="en-US"/>
              <a:t>:  This is the existing or present state.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Flat local maximum</a:t>
            </a:r>
            <a:r>
              <a:rPr lang="en-US"/>
              <a:t>:  This is a flat region where the neighboring solutions attain the same value.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Shoulder</a:t>
            </a:r>
            <a:r>
              <a:rPr lang="en-US"/>
              <a:t>:  This is a plateau whose edge is stretching upwards.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1069848" y="484632"/>
            <a:ext cx="10058400" cy="759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PROBLEMS WITH HILL CLIMBING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1069848" y="1470581"/>
            <a:ext cx="10058400" cy="470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There are three regions in which a hill-climbing algorithm cannot attain a global maximum or the optimal solution: local maximum, ridge, and plateau.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Local maximum</a:t>
            </a:r>
            <a:r>
              <a:rPr lang="en-US"/>
              <a:t>: At a local maximum all neighboring states have a value that is worse than the current state. Since hill-climbing uses a greedy approach, it will not move to the worse state and terminate itself. The process will end even though a better solution may exist.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Plateau</a:t>
            </a:r>
            <a:r>
              <a:rPr lang="en-US"/>
              <a:t>: On the plateau, all neighbors have the same value. Hence, it is not possible to select the best direction.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Ridge:</a:t>
            </a:r>
            <a:r>
              <a:rPr lang="en-US"/>
              <a:t> Any point on a ridge can look like a peak because movement in all possible directions is downward. Hence the algorithm stops when it reaches this state.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1069848" y="484632"/>
            <a:ext cx="10058400" cy="628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Rockwell"/>
              <a:buNone/>
            </a:pPr>
            <a:r>
              <a:rPr lang="en-US">
                <a:solidFill>
                  <a:schemeClr val="accent2"/>
                </a:solidFill>
              </a:rPr>
              <a:t>PROBLEMS WITH HILL CLIMBING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1069848" y="1470581"/>
            <a:ext cx="10058400" cy="470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713" y="1478248"/>
            <a:ext cx="4600575" cy="4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1069848" y="484632"/>
            <a:ext cx="10058400" cy="1410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OVERCOMING THE PROBLEMS WITH HILL CLIMBING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To overcome the local maximum problem</a:t>
            </a:r>
            <a:r>
              <a:rPr lang="en-US"/>
              <a:t>: Utilize the backtracking technique. Maintain a list of visited states. If the search reaches an undesirable state, it can backtrack to the previous configuration and explore a new path.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To overcome plateaus</a:t>
            </a:r>
            <a:r>
              <a:rPr lang="en-US"/>
              <a:t>: Make a big jump. Randomly select a state far away from the current state. Chances are that we will land in a non-plateau region.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To overcome Ridge</a:t>
            </a:r>
            <a:r>
              <a:rPr lang="en-US"/>
              <a:t>: In this kind of obstacle, use two or more rules before testing. It implies moving in several directions at once.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HILL CLIMBING ALGORITHM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928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i="0">
              <a:solidFill>
                <a:srgbClr val="0A0B09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i="0" lang="en-US">
                <a:solidFill>
                  <a:srgbClr val="0A0B09"/>
                </a:solidFill>
              </a:rPr>
              <a:t>Marketing: </a:t>
            </a:r>
            <a:r>
              <a:rPr i="0" lang="en-US">
                <a:solidFill>
                  <a:srgbClr val="0A0B09"/>
                </a:solidFill>
              </a:rPr>
              <a:t>A hill-climbing algorithm can help a marketing manager to develop the best marketing plans. This algorithm is widely used in solving Traveling-Salesman problems.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Robotics: </a:t>
            </a:r>
            <a:r>
              <a:rPr lang="en-US"/>
              <a:t>Hill climbing is useful in the effective operation of robotics. It enhances the coordination of different systems and components in robots.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en-US"/>
              <a:t>Job Scheduling: </a:t>
            </a:r>
            <a:r>
              <a:rPr lang="en-US"/>
              <a:t>Job scheduling is achieved through the migration of jobs from one node to a neighboring node. A hill-climbing technique helps establish the right migration route.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e2f2743a8_1_0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ae2f2743a8_1_0"/>
          <p:cNvSpPr txBox="1"/>
          <p:nvPr>
            <p:ph idx="1" type="body"/>
          </p:nvPr>
        </p:nvSpPr>
        <p:spPr>
          <a:xfrm>
            <a:off x="1069850" y="5871332"/>
            <a:ext cx="10058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2702"/>
              <a:buNone/>
            </a:pPr>
            <a:r>
              <a:t/>
            </a:r>
            <a:endParaRPr/>
          </a:p>
        </p:txBody>
      </p:sp>
      <p:pic>
        <p:nvPicPr>
          <p:cNvPr id="218" name="Google Shape;218;g3ae2f2743a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50" y="626421"/>
            <a:ext cx="11992501" cy="33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2f2743a8_1_6"/>
          <p:cNvSpPr txBox="1"/>
          <p:nvPr>
            <p:ph type="title"/>
          </p:nvPr>
        </p:nvSpPr>
        <p:spPr>
          <a:xfrm>
            <a:off x="1069850" y="94769"/>
            <a:ext cx="100584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t/>
            </a:r>
            <a:endParaRPr/>
          </a:p>
        </p:txBody>
      </p:sp>
      <p:sp>
        <p:nvSpPr>
          <p:cNvPr id="224" name="Google Shape;224;g3ae2f2743a8_1_6"/>
          <p:cNvSpPr txBox="1"/>
          <p:nvPr>
            <p:ph idx="1" type="body"/>
          </p:nvPr>
        </p:nvSpPr>
        <p:spPr>
          <a:xfrm>
            <a:off x="44750" y="721450"/>
            <a:ext cx="11083500" cy="5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Goal layout (for reference)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_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7 6 5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Initial state (blank = </a:t>
            </a: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_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7 5 4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Compute h = number of tiles not in their goal positions (ignore blank).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Tiles out of place: 6, 5, 4 → initial h=3.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Neighbors of the initial state (blank at (2,3))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Move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blank with 3) →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_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7 5 4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Misplaced tiles: 3,6,5,4 → h=4.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ae2f2743a8_1_6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e36937f9e_0_1"/>
          <p:cNvSpPr txBox="1"/>
          <p:nvPr>
            <p:ph type="title"/>
          </p:nvPr>
        </p:nvSpPr>
        <p:spPr>
          <a:xfrm>
            <a:off x="1069850" y="94769"/>
            <a:ext cx="100584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t/>
            </a:r>
            <a:endParaRPr/>
          </a:p>
        </p:txBody>
      </p:sp>
      <p:sp>
        <p:nvSpPr>
          <p:cNvPr id="231" name="Google Shape;231;g3ae36937f9e_0_1"/>
          <p:cNvSpPr txBox="1"/>
          <p:nvPr>
            <p:ph idx="1" type="body"/>
          </p:nvPr>
        </p:nvSpPr>
        <p:spPr>
          <a:xfrm>
            <a:off x="44750" y="721450"/>
            <a:ext cx="11083500" cy="5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Move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blank with 6) →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_ 6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7 5 4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Misplaced tiles: 6,5,4 → h=3.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Move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Down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blank with 4) →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5 _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Misplaced tiles: 6,5 → h=2.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Smallest h is 2 from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Down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, so hill climb picks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Down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Step 1 → State after Down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State: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5 _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h=2.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ae36937f9e_0_1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e36937f9e_0_7"/>
          <p:cNvSpPr txBox="1"/>
          <p:nvPr>
            <p:ph type="title"/>
          </p:nvPr>
        </p:nvSpPr>
        <p:spPr>
          <a:xfrm>
            <a:off x="1069850" y="94769"/>
            <a:ext cx="100584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t/>
            </a:r>
            <a:endParaRPr/>
          </a:p>
        </p:txBody>
      </p:sp>
      <p:sp>
        <p:nvSpPr>
          <p:cNvPr id="238" name="Google Shape;238;g3ae36937f9e_0_7"/>
          <p:cNvSpPr txBox="1"/>
          <p:nvPr>
            <p:ph idx="1" type="body"/>
          </p:nvPr>
        </p:nvSpPr>
        <p:spPr>
          <a:xfrm>
            <a:off x="44750" y="721450"/>
            <a:ext cx="11083500" cy="5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Neighbors (blank at (3,3)):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with 4) → returns to initial, h=3.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with 5) →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_ 5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Misplaced tiles: only 5 → h=1.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Pick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(smallest h=1).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Step 2 → State after Left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State: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8 6 4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_ 5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h=1.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g3ae36937f9e_0_7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e36937f9e_0_13"/>
          <p:cNvSpPr txBox="1"/>
          <p:nvPr>
            <p:ph type="title"/>
          </p:nvPr>
        </p:nvSpPr>
        <p:spPr>
          <a:xfrm>
            <a:off x="1069850" y="94769"/>
            <a:ext cx="100584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t/>
            </a:r>
            <a:endParaRPr/>
          </a:p>
        </p:txBody>
      </p:sp>
      <p:sp>
        <p:nvSpPr>
          <p:cNvPr id="245" name="Google Shape;245;g3ae36937f9e_0_13"/>
          <p:cNvSpPr txBox="1"/>
          <p:nvPr>
            <p:ph idx="1" type="body"/>
          </p:nvPr>
        </p:nvSpPr>
        <p:spPr>
          <a:xfrm>
            <a:off x="44750" y="721450"/>
            <a:ext cx="11083500" cy="5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Neighbors (blank at (3,2)):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with 6) →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1 2 3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_ 4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7 6 5</a:t>
            </a:r>
            <a:endParaRPr sz="2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This is the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, h=0.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with 7) → would give a different state with higher h.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(swap with 5) → returns previous state with h=2.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Pick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(goal, h=0).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Full result / summary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Moves (directions):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Down → Left → Up</a:t>
            </a:r>
            <a:b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(equivalently: move tile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4 up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, then tile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5 left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, then tile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6 down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Heuristic values along path: 3→2→1→0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Number of moves: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 state reached is exactly the goal.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g3ae36937f9e_0_13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ae36937f9e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6" y="679373"/>
            <a:ext cx="12001850" cy="383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ae36937f9e_0_19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e36937f9e_0_24"/>
          <p:cNvSpPr txBox="1"/>
          <p:nvPr>
            <p:ph idx="1" type="body"/>
          </p:nvPr>
        </p:nvSpPr>
        <p:spPr>
          <a:xfrm>
            <a:off x="73633" y="692056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30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Solution by Hill Climbing Search</a:t>
            </a:r>
            <a:endParaRPr b="1" sz="2300">
              <a:solidFill>
                <a:srgbClr val="0000F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 u="sng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Heuristic Calculation</a:t>
            </a:r>
            <a:br>
              <a:rPr b="1" lang="en-US" sz="2100" u="sng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heuristic </a:t>
            </a:r>
            <a:r>
              <a:rPr i="1"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for any cell (r,c) to the goal (3,3) is the Manhattan distance: h=∣3−r∣+∣3−c∣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Calculations for relevant states: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 u="sng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Heuristic (Manhattan) for every cell — show the arithmetic</a:t>
            </a:r>
            <a:endParaRPr b="1" sz="2100" u="sng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h(1,1)=∣3−1∣+∣3−1∣=2+2=4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h(1,2)=∣3−1∣+∣3−2∣=2+1=3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h(2,1)=∣3−2∣+∣3−1∣=1+2=3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h(2,2)=∣3−2∣+∣3−2∣=1+1=2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h(3,1)=∣3−3∣+∣3−1∣=0+2=2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h(3,2)=∣3−3∣+∣3−2∣=0+1=1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Char char="●"/>
            </a:pPr>
            <a:r>
              <a:rPr i="1"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(3,3)=∣3−3∣+∣3−3∣=0+0=0 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3ae36937f9e_0_24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g3ae36937f9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175" y="2675867"/>
            <a:ext cx="8568825" cy="3600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e59db1c12_0_47"/>
          <p:cNvSpPr txBox="1"/>
          <p:nvPr>
            <p:ph idx="1" type="body"/>
          </p:nvPr>
        </p:nvSpPr>
        <p:spPr>
          <a:xfrm>
            <a:off x="73625" y="692047"/>
            <a:ext cx="10058400" cy="6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100" u="sng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Expanded Tree Structure (Hill-climbing steps and tie-break)</a:t>
            </a:r>
            <a:endParaRPr b="1" sz="2100" u="sng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Hill-climbing at each state inspects the neighbours (up/down/left/right) and moves to the neighbour with the lowest h. If there is a tie, hill-climbing needs a tie-break rule — here I’ll assume we pick the first best neighbour encountered in the order Right, Down, Left, Up (you can of course pick another tie rule; I’ll note alternatives later).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Start: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(1,1), h=4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 Neighbours: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Right (1,2): h=3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Down (2,1): h=3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Both equal (3). By our tie rule choose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Right (1,2)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(1,2), h=3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 Neighbours: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Right (1,3): h=2 ← best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Down (2,2): h=2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Left (1,1): h=4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Pick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(1,3)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(first best).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(1,3), h=2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 Neighbours: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Down (2,3): h=1 ← best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Left (1,2): h=3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Pick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(2,3)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g3ae59db1c12_0_47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e59db1c12_0_55"/>
          <p:cNvSpPr txBox="1"/>
          <p:nvPr>
            <p:ph idx="1" type="body"/>
          </p:nvPr>
        </p:nvSpPr>
        <p:spPr>
          <a:xfrm>
            <a:off x="73625" y="692047"/>
            <a:ext cx="10058400" cy="6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(2,3), h=1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 Neighbours: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Down (3,3): h=0 ← goal &amp; best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Up (1,3): h=2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Left (2,2): h=2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Pick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(3,3)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goal reached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So the hill-climbing path (with chosen tie breaks) is: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Font typeface="Times New Roman"/>
              <a:buAutoNum type="arabicPeriod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(1,1)  (h=4)  →  (1,2)  (h=3)  →  (1,3)  (h=2)  →  (2,3)  (h=1)  →  (3,3)  (h=0)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3ae59db1c12_0_55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e59db1c12_0_67"/>
          <p:cNvSpPr txBox="1"/>
          <p:nvPr>
            <p:ph idx="1" type="body"/>
          </p:nvPr>
        </p:nvSpPr>
        <p:spPr>
          <a:xfrm>
            <a:off x="73625" y="692047"/>
            <a:ext cx="10058400" cy="6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1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Expanded tree structure (showing, at each expanded node, the neighbours inspected and their h)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Root: (1,1) h=4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(1,2) h=3 ← chosen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└─ (2,1) h=3 (also inspected but not chosen)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Then expand (1,2) h=3: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(1,3) h=2 ← chosen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(2,2) h=2 (inspected, equal but not chosen)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└─ (1,1) h=4 (back to parent)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Then expand (1,3) h=2: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(2,3) h=1 ← chosen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└─ (1,2) h=3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Then expand (2,3) h=1: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(3,3) h=0 ← chosen (goal)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├─ (1,3) h=2</a:t>
            </a:r>
            <a:b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└─ (2,2) h=2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Finally (3,3) h=0 → goal, stop.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3ae59db1c12_0_67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e36937f9e_0_43"/>
          <p:cNvSpPr txBox="1"/>
          <p:nvPr>
            <p:ph idx="1" type="body"/>
          </p:nvPr>
        </p:nvSpPr>
        <p:spPr>
          <a:xfrm>
            <a:off x="232450" y="706494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What is the difference between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Hill climbing search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Differentiate between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Classical Search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Search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g3ae36937f9e_0_43"/>
          <p:cNvSpPr txBox="1"/>
          <p:nvPr>
            <p:ph type="title"/>
          </p:nvPr>
        </p:nvSpPr>
        <p:spPr>
          <a:xfrm>
            <a:off x="44759" y="14415"/>
            <a:ext cx="10058400" cy="61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e59db1c12_0_27"/>
          <p:cNvSpPr txBox="1"/>
          <p:nvPr>
            <p:ph idx="1" type="body"/>
          </p:nvPr>
        </p:nvSpPr>
        <p:spPr>
          <a:xfrm>
            <a:off x="77475" y="1129023"/>
            <a:ext cx="120081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Beam Search is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search algorithm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that keeps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best states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(called beams) at each step, instead of just one state like hill climbing.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Definition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Beam Search starts with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random initial states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At each iteration: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Generate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all successors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the k states.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Evaluate all successors.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Select the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best successors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These become the next beam of states.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process continues until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found or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stop condition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occurs.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Key Idea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Instead of climbing from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one hill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LBS climbs from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hills simultaneously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.If one path gets stuck, another may lead to the goal.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ae59db1c12_0_2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i="0" lang="en-US" sz="4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59db1c12_0_80"/>
          <p:cNvSpPr txBox="1"/>
          <p:nvPr>
            <p:ph idx="1" type="body"/>
          </p:nvPr>
        </p:nvSpPr>
        <p:spPr>
          <a:xfrm>
            <a:off x="77475" y="1129023"/>
            <a:ext cx="120081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Algorithm (Pseudo-code)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LocalBeamSearch(problem, k):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states ← k randomly generated states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loop until goal found: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successors ← all successors of all states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states ← k best successors from the list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Example (Illustrative)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Suppose we choose beam width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= 3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Initial beam: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A: h = 7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B: h = 5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C: h = 6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ae59db1c12_0_80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i="0" lang="en-US" sz="4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59db1c12_0_85"/>
          <p:cNvSpPr txBox="1"/>
          <p:nvPr>
            <p:ph idx="1" type="body"/>
          </p:nvPr>
        </p:nvSpPr>
        <p:spPr>
          <a:xfrm>
            <a:off x="77475" y="1129023"/>
            <a:ext cx="120081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Generate successors: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A1, A2, A3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B1, B2, B3</a:t>
            </a:r>
            <a:endParaRPr sz="24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C1, C2, C3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Evaluate all 9 states.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Choose the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3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Those 3 become the next beam.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Repeat until goal is found.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Why is it better than simple Hill Climbing?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Hill Climbing: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Keeps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only 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current state → gets stuck easily.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Beam Search: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Keeps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 states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→ less chance of getting stuck.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Information is shared among states.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Moves toward promising areas of the search space.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ae59db1c12_0_85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i="0" lang="en-US" sz="4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59db1c12_0_90"/>
          <p:cNvSpPr txBox="1"/>
          <p:nvPr>
            <p:ph idx="1" type="body"/>
          </p:nvPr>
        </p:nvSpPr>
        <p:spPr>
          <a:xfrm>
            <a:off x="77475" y="1129023"/>
            <a:ext cx="120081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Better exploration than hill climbing.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Less chance of getting stuck in: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maxima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plateaus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ridges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multiple starting points.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Disadvantages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Still possible to converge prematurely.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Requires choosing a good value of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More computation per step.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ae59db1c12_0_90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i="0" lang="en-US" sz="4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605e4ce6a_1_17"/>
          <p:cNvSpPr txBox="1"/>
          <p:nvPr>
            <p:ph idx="1" type="body"/>
          </p:nvPr>
        </p:nvSpPr>
        <p:spPr>
          <a:xfrm>
            <a:off x="44749" y="1052999"/>
            <a:ext cx="12013800" cy="5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Classical Search vs Local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1. Classical Search (Systematic Search)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Classical Search algorithms search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systematically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through a state space from an initial state until the goal is found.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Characteristics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Starts from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initial state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expands nodes using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frontier/queue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from start → goal.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Keeps memory of explored states.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well when: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State space is not too large.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Path to goal matters.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Typically guarantees finding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(often the optimal one, depending on the algorithm).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g3a605e4ce6a_1_1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and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59db1c12_0_37"/>
          <p:cNvSpPr txBox="1"/>
          <p:nvPr>
            <p:ph idx="1" type="body"/>
          </p:nvPr>
        </p:nvSpPr>
        <p:spPr>
          <a:xfrm>
            <a:off x="44749" y="1081862"/>
            <a:ext cx="12013800" cy="5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Examples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Breadth-First Search (BFS)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Depth-First Search (DFS)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Uniform Cost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A*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Greedy Best-First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guarantee: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(finds solution if one exists)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(e.g., BFS, UCS, A*)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the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transition model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(actions and results).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Disadvantages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Often uses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high memory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(must store frontier + explored list).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be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slow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for huge search spaces.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g3ae59db1c12_0_3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and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605e4ce6a_1_22"/>
          <p:cNvSpPr txBox="1"/>
          <p:nvPr>
            <p:ph idx="1" type="body"/>
          </p:nvPr>
        </p:nvSpPr>
        <p:spPr>
          <a:xfrm>
            <a:off x="44749" y="1052999"/>
            <a:ext cx="12013800" cy="5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search algorithms search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using a single current state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moving to a "neighbor" state. They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do not track the 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only improve the current configuration.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Characteristics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one current node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not a frontier.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 memory of visited states (usually).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Designed for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optimization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problems.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Does NOT guarantee optimal solution.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get stuck in: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maxima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Plateaus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Ridges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g3a605e4ce6a_1_22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and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605e4ce6a_1_27"/>
          <p:cNvSpPr txBox="1"/>
          <p:nvPr>
            <p:ph idx="1" type="body"/>
          </p:nvPr>
        </p:nvSpPr>
        <p:spPr>
          <a:xfrm>
            <a:off x="44749" y="1052999"/>
            <a:ext cx="12013800" cy="5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Examples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Hill Climbing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Simulated Annealing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Genetic Algorithms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Beam Search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very little memory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well for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large/infinite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state spaces.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Useful when path is unimportant; only the final state matters (e.g., N-Queens).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✔ Disadvantages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get stuck; no guarantee of: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g3a605e4ce6a_1_2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and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605e4ce6a_1_32"/>
          <p:cNvSpPr txBox="1"/>
          <p:nvPr>
            <p:ph idx="1" type="body"/>
          </p:nvPr>
        </p:nvSpPr>
        <p:spPr>
          <a:xfrm>
            <a:off x="44749" y="1052999"/>
            <a:ext cx="12013800" cy="5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Key Differences (Table)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Simple Example Comparison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Classical Search Example — BFS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Finds shortest path to goal.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Expands nodes level by level.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well when branching factor is small.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Search Example — Hill Climbing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Start at a state.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Move to neighbor with better heuristic value.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reach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global optimum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or get stuck in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local optimum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3a605e4ce6a_1_32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and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605e4ce6a_1_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3" name="Google Shape;343;g3a605e4ce6a_1_7"/>
          <p:cNvGraphicFramePr/>
          <p:nvPr/>
        </p:nvGraphicFramePr>
        <p:xfrm>
          <a:off x="181260" y="1105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{2931DD24-94CB-44E1-977B-E630803B569D}</a:tableStyleId>
              </a:tblPr>
              <a:tblGrid>
                <a:gridCol w="2440050"/>
                <a:gridCol w="4145725"/>
                <a:gridCol w="542497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Classical Search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Search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States stored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Many (frontier + explored)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current state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usage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low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 to goal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Important &amp; returned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important; usually not returned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 type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 a goal state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Optimization (best state)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Guarantees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Often complete &amp; optimal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complete, not optimal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best for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Small/medium state spaces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large/continuous spaces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Examples</a:t>
                      </a:r>
                      <a:endParaRPr b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BFS, DFS, A*, UCS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Hill Climbing, SA, GA</a:t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g3a605e4ce6a_1_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 vs Local Search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48f2dbe65_0_6"/>
          <p:cNvSpPr txBox="1"/>
          <p:nvPr>
            <p:ph idx="1" type="body"/>
          </p:nvPr>
        </p:nvSpPr>
        <p:spPr>
          <a:xfrm>
            <a:off x="-1" y="1209553"/>
            <a:ext cx="12013800" cy="5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▪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Shortly discuss about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Hill climbing, Random walk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Search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▪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Hill Climbing Search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Hill climbing is a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local search algorithm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that starts with an initial state and repeatedly moves to a neighboring state with a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better heuristic value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It aims to improve the solution step by step until no better neighbor exists.</a:t>
            </a:r>
            <a:b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It can get stuck in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local maxima, plateaus, or ridges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, so it may fail to find the global optimum.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▪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Random Walk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Random walk is a simple strategy where the algorithm moves to a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random neighboring state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, regardless of whether it improves the solution or not.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It helps in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escaping local optima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but is inefficient because it lacks direction and may take a long time to reach a good solution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▪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Simulated Annealing Search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Simulated annealing is an improved hill-climbing method inspired by the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annealing process in metallurgy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It sometimes accepts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worse solutions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with a probability that decreases over time (controlled by a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temperature parameter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▪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This allows it to escape local maxima early and gradually converge to a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near-optimal or global solution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g3b48f2dbe65_0_6"/>
          <p:cNvSpPr txBox="1"/>
          <p:nvPr>
            <p:ph type="title"/>
          </p:nvPr>
        </p:nvSpPr>
        <p:spPr>
          <a:xfrm>
            <a:off x="7" y="1090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sz="3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Hill climbing, Random walk and Simulated Annealing Search</a:t>
            </a:r>
            <a:endParaRPr sz="3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48f2dbe65_0_17"/>
          <p:cNvSpPr txBox="1"/>
          <p:nvPr>
            <p:ph idx="1" type="body"/>
          </p:nvPr>
        </p:nvSpPr>
        <p:spPr>
          <a:xfrm>
            <a:off x="44749" y="1096328"/>
            <a:ext cx="12013800" cy="5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g3b48f2dbe65_0_17"/>
          <p:cNvSpPr txBox="1"/>
          <p:nvPr>
            <p:ph type="title"/>
          </p:nvPr>
        </p:nvSpPr>
        <p:spPr>
          <a:xfrm>
            <a:off x="44625" y="43325"/>
            <a:ext cx="120138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4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7" name="Google Shape;357;g3b48f2dbe65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47" y="1184628"/>
            <a:ext cx="11704026" cy="5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48f2dbe65_0_29"/>
          <p:cNvSpPr txBox="1"/>
          <p:nvPr>
            <p:ph idx="1" type="body"/>
          </p:nvPr>
        </p:nvSpPr>
        <p:spPr>
          <a:xfrm>
            <a:off x="44749" y="1096328"/>
            <a:ext cx="12013800" cy="5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3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b48f2dbe65_0_29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4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g3b48f2dbe65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3225" y="1053164"/>
            <a:ext cx="6305550" cy="57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48f2dbe65_0_37"/>
          <p:cNvSpPr txBox="1"/>
          <p:nvPr>
            <p:ph idx="1" type="body"/>
          </p:nvPr>
        </p:nvSpPr>
        <p:spPr>
          <a:xfrm>
            <a:off x="44749" y="1096328"/>
            <a:ext cx="12013800" cy="5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3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g3b48f2dbe65_0_37"/>
          <p:cNvSpPr txBox="1"/>
          <p:nvPr>
            <p:ph type="title"/>
          </p:nvPr>
        </p:nvSpPr>
        <p:spPr>
          <a:xfrm>
            <a:off x="17332" y="43314"/>
            <a:ext cx="11196300" cy="100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4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1" name="Google Shape;371;g3b48f2dbe65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74" y="1197327"/>
            <a:ext cx="4729564" cy="479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g3b48f2dbe65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9574" y="1226266"/>
            <a:ext cx="3130087" cy="479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3" name="Google Shape;373;g3b48f2dbe65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6725" y="1197325"/>
            <a:ext cx="2962050" cy="479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4" name="Google Shape;374;g3b48f2dbe65_0_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57325" y="5143575"/>
            <a:ext cx="2396800" cy="14573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2022-06-09T03:57:37Z</dcterms:created>
  <dc:creator>Rokon Bhuiyan</dc:creator>
</cp:coreProperties>
</file>