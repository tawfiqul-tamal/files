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301" r:id="rId2"/>
    <p:sldId id="257" r:id="rId3"/>
    <p:sldId id="266" r:id="rId4"/>
    <p:sldId id="268" r:id="rId5"/>
    <p:sldId id="271" r:id="rId6"/>
    <p:sldId id="303" r:id="rId7"/>
    <p:sldId id="284" r:id="rId8"/>
    <p:sldId id="302" r:id="rId9"/>
    <p:sldId id="304" r:id="rId10"/>
    <p:sldId id="286" r:id="rId11"/>
    <p:sldId id="287" r:id="rId12"/>
    <p:sldId id="289" r:id="rId13"/>
    <p:sldId id="285" r:id="rId14"/>
    <p:sldId id="282" r:id="rId15"/>
    <p:sldId id="281" r:id="rId16"/>
    <p:sldId id="280" r:id="rId17"/>
    <p:sldId id="279" r:id="rId18"/>
    <p:sldId id="265" r:id="rId19"/>
    <p:sldId id="30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AE9B7-AA9D-41BB-B7B9-0AE7F0589838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60A16-1C54-4A2D-920F-47E6ED130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945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18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Variable Length Subnet Mask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883F79A-768F-45DD-BCFB-B565FE97F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67013"/>
              </p:ext>
            </p:extLst>
          </p:nvPr>
        </p:nvGraphicFramePr>
        <p:xfrm>
          <a:off x="476205" y="5186042"/>
          <a:ext cx="8335798" cy="45275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335003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452758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Lab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Fall 2021-22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067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Perpetua" panose="02020502060401020303" pitchFamily="18" charset="0"/>
              </a:rPr>
              <a:t>Introduction</a:t>
            </a:r>
          </a:p>
          <a:p>
            <a:pPr marL="342900" indent="-342900"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Perpetua" panose="02020502060401020303" pitchFamily="18" charset="0"/>
              </a:rPr>
              <a:t>VLSM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Steps of VLSM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Example 1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Example 2</a:t>
            </a:r>
          </a:p>
          <a:p>
            <a:r>
              <a:rPr lang="en-US" sz="2800" dirty="0">
                <a:solidFill>
                  <a:schemeClr val="tx1"/>
                </a:solidFill>
                <a:latin typeface="Perpetua" panose="02020502060401020303" pitchFamily="18" charset="0"/>
              </a:rPr>
              <a:t>3.   Homework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21341" y="3023335"/>
            <a:ext cx="814647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A large network is difficult to manage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Less security as each host of the network can reach all other hosts.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Huge broadcast domain, thereby large bandwidth consumption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Waste of unused IP addresses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58326B-CE85-460E-86CF-026CB5FFDE44}"/>
              </a:ext>
            </a:extLst>
          </p:cNvPr>
          <p:cNvSpPr txBox="1"/>
          <p:nvPr/>
        </p:nvSpPr>
        <p:spPr>
          <a:xfrm>
            <a:off x="500743" y="2471057"/>
            <a:ext cx="3577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Problems of Large Network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64296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dirty="0"/>
              <a:t>Introduction….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199" y="3258280"/>
            <a:ext cx="681445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Perpetua" panose="02020502060401020303" pitchFamily="18" charset="0"/>
              </a:rPr>
              <a:t>Dividing a large network into several smaller networks, called subdivided networks or subnets.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8FCA95-371A-4D09-8A80-717ED0E61AE1}"/>
              </a:ext>
            </a:extLst>
          </p:cNvPr>
          <p:cNvSpPr/>
          <p:nvPr/>
        </p:nvSpPr>
        <p:spPr>
          <a:xfrm>
            <a:off x="487333" y="2602077"/>
            <a:ext cx="469564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solidFill>
                  <a:srgbClr val="C00000"/>
                </a:solidFill>
              </a:rPr>
              <a:t>How to overcome the  problems?</a:t>
            </a:r>
          </a:p>
        </p:txBody>
      </p:sp>
    </p:spTree>
    <p:extLst>
      <p:ext uri="{BB962C8B-B14F-4D97-AF65-F5344CB8AC3E}">
        <p14:creationId xmlns:p14="http://schemas.microsoft.com/office/powerpoint/2010/main" val="3961101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DCE62B-B0DB-4CB0-A02C-499547A82F28}"/>
              </a:ext>
            </a:extLst>
          </p:cNvPr>
          <p:cNvSpPr txBox="1"/>
          <p:nvPr/>
        </p:nvSpPr>
        <p:spPr>
          <a:xfrm>
            <a:off x="5889792" y="2104950"/>
            <a:ext cx="31407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Perpetua" panose="02020502060401020303" pitchFamily="18" charset="0"/>
              </a:rPr>
              <a:t>For classful  addressing</a:t>
            </a:r>
          </a:p>
        </p:txBody>
      </p:sp>
      <p:graphicFrame>
        <p:nvGraphicFramePr>
          <p:cNvPr id="6" name="Table 17">
            <a:extLst>
              <a:ext uri="{FF2B5EF4-FFF2-40B4-BE49-F238E27FC236}">
                <a16:creationId xmlns:a16="http://schemas.microsoft.com/office/drawing/2014/main" id="{09D77A9D-E5AC-4CE6-8489-92DF94EA1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769299"/>
              </p:ext>
            </p:extLst>
          </p:nvPr>
        </p:nvGraphicFramePr>
        <p:xfrm>
          <a:off x="6056738" y="2675902"/>
          <a:ext cx="2973850" cy="3474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86925">
                  <a:extLst>
                    <a:ext uri="{9D8B030D-6E8A-4147-A177-3AD203B41FA5}">
                      <a16:colId xmlns:a16="http://schemas.microsoft.com/office/drawing/2014/main" val="2614695856"/>
                    </a:ext>
                  </a:extLst>
                </a:gridCol>
                <a:gridCol w="1486925">
                  <a:extLst>
                    <a:ext uri="{9D8B030D-6E8A-4147-A177-3AD203B41FA5}">
                      <a16:colId xmlns:a16="http://schemas.microsoft.com/office/drawing/2014/main" val="754840342"/>
                    </a:ext>
                  </a:extLst>
                </a:gridCol>
              </a:tblGrid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 of IP addresses allocated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839107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887013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860945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800172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608553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638387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358199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254789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712C5337-0CBB-4257-8A0A-B5174C50B699}"/>
              </a:ext>
            </a:extLst>
          </p:cNvPr>
          <p:cNvGrpSpPr/>
          <p:nvPr/>
        </p:nvGrpSpPr>
        <p:grpSpPr>
          <a:xfrm>
            <a:off x="232309" y="2570797"/>
            <a:ext cx="5983088" cy="2627243"/>
            <a:chOff x="964763" y="2637182"/>
            <a:chExt cx="5983088" cy="26272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AC584DD-9D17-4EFF-BD70-1884E260C1FB}"/>
                </a:ext>
              </a:extLst>
            </p:cNvPr>
            <p:cNvGrpSpPr/>
            <p:nvPr/>
          </p:nvGrpSpPr>
          <p:grpSpPr>
            <a:xfrm>
              <a:off x="964763" y="2637182"/>
              <a:ext cx="4879446" cy="2627243"/>
              <a:chOff x="1037758" y="2580861"/>
              <a:chExt cx="5922532" cy="291465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FFEC3183-D3D7-4CF2-B991-EA1047E976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9755"/>
              <a:stretch/>
            </p:blipFill>
            <p:spPr>
              <a:xfrm>
                <a:off x="1037758" y="2580861"/>
                <a:ext cx="5922532" cy="2914650"/>
              </a:xfrm>
              <a:prstGeom prst="rect">
                <a:avLst/>
              </a:prstGeom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E6B939-067B-4AC0-A18B-8AC3D5CC1AD7}"/>
                  </a:ext>
                </a:extLst>
              </p:cNvPr>
              <p:cNvSpPr/>
              <p:nvPr/>
            </p:nvSpPr>
            <p:spPr>
              <a:xfrm>
                <a:off x="1037758" y="4038187"/>
                <a:ext cx="181442" cy="5052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0E6F277-C889-435F-B896-3DAFD7B0E86F}"/>
                  </a:ext>
                </a:extLst>
              </p:cNvPr>
              <p:cNvSpPr/>
              <p:nvPr/>
            </p:nvSpPr>
            <p:spPr>
              <a:xfrm>
                <a:off x="6003235" y="2987952"/>
                <a:ext cx="864290" cy="6033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C934F4A-8A40-4824-96B4-46E38F7163B0}"/>
                  </a:ext>
                </a:extLst>
              </p:cNvPr>
              <p:cNvSpPr/>
              <p:nvPr/>
            </p:nvSpPr>
            <p:spPr>
              <a:xfrm>
                <a:off x="6003235" y="3940037"/>
                <a:ext cx="864290" cy="6033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28865A0-26FE-4B2C-B2CB-FA45ADE271B4}"/>
                  </a:ext>
                </a:extLst>
              </p:cNvPr>
              <p:cNvSpPr/>
              <p:nvPr/>
            </p:nvSpPr>
            <p:spPr>
              <a:xfrm>
                <a:off x="6003235" y="4830210"/>
                <a:ext cx="864290" cy="6033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7C62D66-EED1-4503-B0AF-BB395BA43003}"/>
                </a:ext>
              </a:extLst>
            </p:cNvPr>
            <p:cNvSpPr txBox="1"/>
            <p:nvPr/>
          </p:nvSpPr>
          <p:spPr>
            <a:xfrm>
              <a:off x="5055711" y="2975113"/>
              <a:ext cx="17426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Network: E</a:t>
              </a:r>
            </a:p>
            <a:p>
              <a:r>
                <a:rPr lang="en-US" dirty="0"/>
                <a:t>Required IP: 5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6E8EC2B-E37C-4882-A15B-4FEB27FC0AE4}"/>
                </a:ext>
              </a:extLst>
            </p:cNvPr>
            <p:cNvSpPr txBox="1"/>
            <p:nvPr/>
          </p:nvSpPr>
          <p:spPr>
            <a:xfrm>
              <a:off x="964763" y="3154392"/>
              <a:ext cx="1816303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Network: A</a:t>
              </a:r>
            </a:p>
            <a:p>
              <a:r>
                <a:rPr lang="en-US" dirty="0"/>
                <a:t>Required IP: 56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1E22469-62D5-4EF4-8B64-B04B8BDE3E8A}"/>
                </a:ext>
              </a:extLst>
            </p:cNvPr>
            <p:cNvSpPr txBox="1"/>
            <p:nvPr/>
          </p:nvSpPr>
          <p:spPr>
            <a:xfrm>
              <a:off x="5205198" y="3727454"/>
              <a:ext cx="17426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Network: F</a:t>
              </a:r>
            </a:p>
            <a:p>
              <a:r>
                <a:rPr lang="en-US" dirty="0"/>
                <a:t>Required IP: 21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81EE8E-9F2B-4B10-AD42-FFD812039994}"/>
                </a:ext>
              </a:extLst>
            </p:cNvPr>
            <p:cNvSpPr txBox="1"/>
            <p:nvPr/>
          </p:nvSpPr>
          <p:spPr>
            <a:xfrm>
              <a:off x="5138535" y="4601529"/>
              <a:ext cx="17426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Network: G</a:t>
              </a:r>
            </a:p>
            <a:p>
              <a:r>
                <a:rPr lang="en-US" dirty="0"/>
                <a:t>Required IP: 26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D419F2-01E6-4E4B-BFBF-39470F04661A}"/>
                </a:ext>
              </a:extLst>
            </p:cNvPr>
            <p:cNvSpPr txBox="1"/>
            <p:nvPr/>
          </p:nvSpPr>
          <p:spPr>
            <a:xfrm>
              <a:off x="2707416" y="3340095"/>
              <a:ext cx="340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4768E0D-8631-4B18-87C3-B138BCB15D17}"/>
                </a:ext>
              </a:extLst>
            </p:cNvPr>
            <p:cNvSpPr txBox="1"/>
            <p:nvPr/>
          </p:nvSpPr>
          <p:spPr>
            <a:xfrm>
              <a:off x="3066880" y="3673264"/>
              <a:ext cx="340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C41D29-BF2F-47BA-8353-A01842207231}"/>
                </a:ext>
              </a:extLst>
            </p:cNvPr>
            <p:cNvSpPr txBox="1"/>
            <p:nvPr/>
          </p:nvSpPr>
          <p:spPr>
            <a:xfrm>
              <a:off x="2536929" y="4305853"/>
              <a:ext cx="340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6ADF34B-A235-4343-8AB5-27EB957227D4}"/>
                </a:ext>
              </a:extLst>
            </p:cNvPr>
            <p:cNvSpPr/>
            <p:nvPr/>
          </p:nvSpPr>
          <p:spPr>
            <a:xfrm>
              <a:off x="3935896" y="2637182"/>
              <a:ext cx="2076879" cy="2935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0857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E7CEB1-9A7A-4EDB-8505-C5E5E5B47E2D}"/>
              </a:ext>
            </a:extLst>
          </p:cNvPr>
          <p:cNvSpPr txBox="1"/>
          <p:nvPr/>
        </p:nvSpPr>
        <p:spPr>
          <a:xfrm>
            <a:off x="584792" y="871870"/>
            <a:ext cx="8250865" cy="524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192.168.5.0/24-255..255.255.0</a:t>
            </a:r>
          </a:p>
          <a:p>
            <a:r>
              <a:rPr lang="en-US" dirty="0">
                <a:highlight>
                  <a:srgbClr val="FFFF00"/>
                </a:highlight>
              </a:rPr>
              <a:t>For Host: 56</a:t>
            </a:r>
          </a:p>
          <a:p>
            <a:r>
              <a:rPr lang="en-US" dirty="0"/>
              <a:t>192.168.5.0/26</a:t>
            </a:r>
          </a:p>
          <a:p>
            <a:r>
              <a:rPr lang="en-US" dirty="0"/>
              <a:t>11111111.11111111.11111111.</a:t>
            </a:r>
            <a:r>
              <a:rPr lang="en-US" dirty="0">
                <a:solidFill>
                  <a:srgbClr val="0070C0"/>
                </a:solidFill>
              </a:rPr>
              <a:t>00</a:t>
            </a:r>
            <a:r>
              <a:rPr lang="en-US" dirty="0">
                <a:solidFill>
                  <a:srgbClr val="FF0000"/>
                </a:solidFill>
              </a:rPr>
              <a:t>000000-0-192.168.5.0/26[1-62]</a:t>
            </a:r>
          </a:p>
          <a:p>
            <a:r>
              <a:rPr lang="en-US" dirty="0"/>
              <a:t>11111111.11111111.11111111.</a:t>
            </a:r>
            <a:r>
              <a:rPr lang="en-US" dirty="0">
                <a:solidFill>
                  <a:srgbClr val="0070C0"/>
                </a:solidFill>
              </a:rPr>
              <a:t>00</a:t>
            </a:r>
            <a:r>
              <a:rPr lang="en-US" dirty="0">
                <a:solidFill>
                  <a:srgbClr val="FF0000"/>
                </a:solidFill>
              </a:rPr>
              <a:t>111111-63-192.168.5.63/26</a:t>
            </a:r>
          </a:p>
          <a:p>
            <a:r>
              <a:rPr lang="en-US" dirty="0"/>
              <a:t>255.255.255.192</a:t>
            </a:r>
          </a:p>
          <a:p>
            <a:r>
              <a:rPr lang="en-US" dirty="0"/>
              <a:t>For Host :26</a:t>
            </a:r>
          </a:p>
          <a:p>
            <a:r>
              <a:rPr lang="en-US" dirty="0"/>
              <a:t>192.168.5.0/27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800" b="1" dirty="0"/>
              <a:t>11111111.11111111.11111111.</a:t>
            </a:r>
            <a:r>
              <a:rPr lang="pt-BR" sz="1800" b="1" dirty="0">
                <a:solidFill>
                  <a:srgbClr val="0070C0"/>
                </a:solidFill>
              </a:rPr>
              <a:t>000</a:t>
            </a:r>
            <a:r>
              <a:rPr lang="pt-BR" sz="1800" b="1" dirty="0">
                <a:solidFill>
                  <a:srgbClr val="FF0000"/>
                </a:solidFill>
              </a:rPr>
              <a:t>xxxxx--0</a:t>
            </a:r>
            <a:endParaRPr lang="pt-BR" sz="1800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800" b="1" dirty="0"/>
              <a:t>11111111.11111111.11111111.</a:t>
            </a:r>
            <a:r>
              <a:rPr lang="pt-BR" sz="1800" b="1" dirty="0">
                <a:solidFill>
                  <a:srgbClr val="0070C0"/>
                </a:solidFill>
              </a:rPr>
              <a:t>001</a:t>
            </a:r>
            <a:r>
              <a:rPr lang="pt-BR" sz="1800" b="1" dirty="0">
                <a:solidFill>
                  <a:srgbClr val="FF0000"/>
                </a:solidFill>
              </a:rPr>
              <a:t>xxxxx--32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800" b="1" dirty="0">
                <a:highlight>
                  <a:srgbClr val="00FF00"/>
                </a:highlight>
              </a:rPr>
              <a:t>11111111.11111111.11111111.</a:t>
            </a:r>
            <a:r>
              <a:rPr lang="pt-BR" sz="1800" b="1" dirty="0">
                <a:solidFill>
                  <a:srgbClr val="0070C0"/>
                </a:solidFill>
                <a:highlight>
                  <a:srgbClr val="00FF00"/>
                </a:highlight>
              </a:rPr>
              <a:t>010</a:t>
            </a:r>
            <a:r>
              <a:rPr lang="pt-BR" sz="1800" b="1" dirty="0">
                <a:solidFill>
                  <a:srgbClr val="FF0000"/>
                </a:solidFill>
                <a:highlight>
                  <a:srgbClr val="00FF00"/>
                </a:highlight>
              </a:rPr>
              <a:t>xxxxx—64-95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800" b="1" dirty="0"/>
              <a:t>11111111.11111111.11111111.</a:t>
            </a:r>
            <a:r>
              <a:rPr lang="pt-BR" sz="1800" b="1" dirty="0">
                <a:solidFill>
                  <a:srgbClr val="0070C0"/>
                </a:solidFill>
              </a:rPr>
              <a:t>011</a:t>
            </a:r>
            <a:r>
              <a:rPr lang="pt-BR" sz="1800" b="1" dirty="0">
                <a:solidFill>
                  <a:srgbClr val="FF0000"/>
                </a:solidFill>
              </a:rPr>
              <a:t>xxxxx--96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800" b="1" dirty="0"/>
              <a:t>11111111.11111111.11111111.</a:t>
            </a:r>
            <a:r>
              <a:rPr lang="pt-BR" sz="1800" b="1" dirty="0">
                <a:solidFill>
                  <a:srgbClr val="0070C0"/>
                </a:solidFill>
              </a:rPr>
              <a:t>100</a:t>
            </a:r>
            <a:r>
              <a:rPr lang="pt-BR" sz="1800" b="1" dirty="0">
                <a:solidFill>
                  <a:srgbClr val="FF0000"/>
                </a:solidFill>
              </a:rPr>
              <a:t>xxxxx--128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800" b="1" dirty="0"/>
              <a:t>11111111.11111111.11111111.</a:t>
            </a:r>
            <a:r>
              <a:rPr lang="pt-BR" sz="1800" b="1" dirty="0">
                <a:solidFill>
                  <a:srgbClr val="0070C0"/>
                </a:solidFill>
              </a:rPr>
              <a:t>101</a:t>
            </a:r>
            <a:r>
              <a:rPr lang="pt-BR" sz="1800" b="1" dirty="0">
                <a:solidFill>
                  <a:srgbClr val="FF0000"/>
                </a:solidFill>
              </a:rPr>
              <a:t>xxxxx--160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800" b="1" dirty="0"/>
              <a:t>11111111.11111111.11111111.</a:t>
            </a:r>
            <a:r>
              <a:rPr lang="pt-BR" sz="1800" b="1" dirty="0">
                <a:solidFill>
                  <a:srgbClr val="0070C0"/>
                </a:solidFill>
              </a:rPr>
              <a:t>110</a:t>
            </a:r>
            <a:r>
              <a:rPr lang="pt-BR" sz="1800" b="1" dirty="0">
                <a:solidFill>
                  <a:srgbClr val="FF0000"/>
                </a:solidFill>
              </a:rPr>
              <a:t>xxxxx--192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800" b="1" dirty="0"/>
              <a:t>11111111.11111111.11111111.</a:t>
            </a:r>
            <a:r>
              <a:rPr lang="pt-BR" sz="1800" b="1" dirty="0">
                <a:solidFill>
                  <a:srgbClr val="0070C0"/>
                </a:solidFill>
              </a:rPr>
              <a:t>111</a:t>
            </a:r>
            <a:r>
              <a:rPr lang="pt-BR" sz="1800" b="1" dirty="0">
                <a:solidFill>
                  <a:srgbClr val="FF0000"/>
                </a:solidFill>
              </a:rPr>
              <a:t>xxxxx--224</a:t>
            </a:r>
            <a:endParaRPr lang="pt-BR" sz="18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071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97A879E-318A-43B2-885F-4071DC771612}"/>
                  </a:ext>
                </a:extLst>
              </p:cNvPr>
              <p:cNvSpPr/>
              <p:nvPr/>
            </p:nvSpPr>
            <p:spPr>
              <a:xfrm>
                <a:off x="421341" y="2312197"/>
                <a:ext cx="8191590" cy="1956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marR="0" lvl="0" indent="-228600" defTabSz="91440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 panose="02020502060401020303" pitchFamily="18" charset="0"/>
                  </a:rPr>
                  <a:t>Required IPs: 56+5+21+26+4+4+4=120</a:t>
                </a:r>
              </a:p>
              <a:p>
                <a:pPr marL="228600" marR="0" lvl="0" indent="-228600" defTabSz="91440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erpetua" panose="02020502060401020303" pitchFamily="18" charset="0"/>
                  </a:rPr>
                  <a:t>Classful address</a:t>
                </a:r>
              </a:p>
              <a:p>
                <a:pPr marL="685800" marR="0" lvl="1" indent="-228600" defTabSz="91440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 panose="02020502060401020303" pitchFamily="18" charset="0"/>
                  </a:rPr>
                  <a:t>No. o allocated IPs: 256×7=1792 IP</a:t>
                </a:r>
              </a:p>
              <a:p>
                <a:pPr marL="685800" marR="0" lvl="1" indent="-228600" defTabSz="91440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 panose="02020502060401020303" pitchFamily="18" charset="0"/>
                  </a:rPr>
                  <a:t>Percentage of unused IP=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(1792−120)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×100</m:t>
                        </m:r>
                      </m:num>
                      <m:den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1792</m:t>
                        </m:r>
                      </m:den>
                    </m:f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 panose="02020502060401020303" pitchFamily="18" charset="0"/>
                  </a:rPr>
                  <a:t>93% (approx.)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97A879E-318A-43B2-885F-4071DC7716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41" y="2312197"/>
                <a:ext cx="8191590" cy="1956882"/>
              </a:xfrm>
              <a:prstGeom prst="rect">
                <a:avLst/>
              </a:prstGeom>
              <a:blipFill>
                <a:blip r:embed="rId2"/>
                <a:stretch>
                  <a:fillRect l="-1339" t="-5296" b="-34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759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9CB9BD5-73E1-4E42-8BDF-E7DD5AD4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DF4467-93B2-45DF-ACFF-A727C9019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3600" b="1" dirty="0">
                <a:highlight>
                  <a:srgbClr val="FFFF00"/>
                </a:highlight>
              </a:rPr>
              <a:t>101.168.16.0/27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3600" b="1" dirty="0"/>
              <a:t>1. H=56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3600" b="1" dirty="0">
                <a:highlight>
                  <a:srgbClr val="FFFF00"/>
                </a:highlight>
              </a:rPr>
              <a:t>192.168.16.0/26----255.255.255.192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3600" b="1" dirty="0"/>
              <a:t>11111111.11111111.11111111.</a:t>
            </a:r>
            <a:r>
              <a:rPr lang="pt-BR" sz="3600" b="1" dirty="0">
                <a:solidFill>
                  <a:srgbClr val="0070C0"/>
                </a:solidFill>
              </a:rPr>
              <a:t>00</a:t>
            </a:r>
            <a:r>
              <a:rPr lang="pt-BR" sz="3600" b="1" dirty="0">
                <a:solidFill>
                  <a:srgbClr val="FF0000"/>
                </a:solidFill>
              </a:rPr>
              <a:t>000000---0</a:t>
            </a:r>
            <a:endParaRPr lang="pt-BR" sz="3600" b="1" dirty="0">
              <a:highlight>
                <a:srgbClr val="FFFF00"/>
              </a:highlight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3600" b="1" dirty="0"/>
              <a:t>11111111.11111111.11111111.</a:t>
            </a:r>
            <a:r>
              <a:rPr lang="pt-BR" sz="3600" b="1" dirty="0">
                <a:solidFill>
                  <a:srgbClr val="0070C0"/>
                </a:solidFill>
              </a:rPr>
              <a:t>00</a:t>
            </a:r>
            <a:r>
              <a:rPr lang="pt-BR" sz="3600" b="1" dirty="0">
                <a:solidFill>
                  <a:srgbClr val="FF0000"/>
                </a:solidFill>
              </a:rPr>
              <a:t>1111111---63[1-56]</a:t>
            </a:r>
            <a:endParaRPr lang="pt-BR" sz="3600" b="1" dirty="0">
              <a:highlight>
                <a:srgbClr val="FFFF00"/>
              </a:highlight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3600" b="1" dirty="0"/>
              <a:t>2. G H=26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3600" b="1" dirty="0">
                <a:highlight>
                  <a:srgbClr val="FFFF00"/>
                </a:highlight>
              </a:rPr>
              <a:t>192.168.16.0/27----255.255.255.224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3600" b="1" dirty="0"/>
              <a:t>11111111.11111111.11111111.</a:t>
            </a:r>
            <a:r>
              <a:rPr lang="pt-BR" sz="3600" b="1" dirty="0">
                <a:solidFill>
                  <a:srgbClr val="0070C0"/>
                </a:solidFill>
              </a:rPr>
              <a:t>000</a:t>
            </a:r>
            <a:r>
              <a:rPr lang="pt-BR" sz="3600" b="1" dirty="0">
                <a:solidFill>
                  <a:srgbClr val="FF0000"/>
                </a:solidFill>
              </a:rPr>
              <a:t>xxxxx--0</a:t>
            </a:r>
            <a:endParaRPr lang="pt-BR" sz="3600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3600" b="1" dirty="0"/>
              <a:t>11111111.11111111.11111111.</a:t>
            </a:r>
            <a:r>
              <a:rPr lang="pt-BR" sz="3600" b="1" dirty="0">
                <a:solidFill>
                  <a:srgbClr val="0070C0"/>
                </a:solidFill>
              </a:rPr>
              <a:t>001</a:t>
            </a:r>
            <a:r>
              <a:rPr lang="pt-BR" sz="3600" b="1" dirty="0">
                <a:solidFill>
                  <a:srgbClr val="FF0000"/>
                </a:solidFill>
              </a:rPr>
              <a:t>xxxxx--32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3600" b="1" dirty="0">
                <a:highlight>
                  <a:srgbClr val="00FF00"/>
                </a:highlight>
              </a:rPr>
              <a:t>11111111.11111111.11111111.</a:t>
            </a:r>
            <a:r>
              <a:rPr lang="pt-BR" sz="3600" b="1" dirty="0">
                <a:solidFill>
                  <a:srgbClr val="0070C0"/>
                </a:solidFill>
                <a:highlight>
                  <a:srgbClr val="00FF00"/>
                </a:highlight>
              </a:rPr>
              <a:t>010</a:t>
            </a:r>
            <a:r>
              <a:rPr lang="pt-BR" sz="3600" b="1" dirty="0">
                <a:solidFill>
                  <a:srgbClr val="FF0000"/>
                </a:solidFill>
                <a:highlight>
                  <a:srgbClr val="00FF00"/>
                </a:highlight>
              </a:rPr>
              <a:t>xxxxx—64-95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3600" b="1" dirty="0">
                <a:highlight>
                  <a:srgbClr val="00FFFF"/>
                </a:highlight>
              </a:rPr>
              <a:t>11111111.11111111.11111111.</a:t>
            </a:r>
            <a:r>
              <a:rPr lang="pt-BR" sz="3600" b="1" dirty="0">
                <a:solidFill>
                  <a:srgbClr val="0070C0"/>
                </a:solidFill>
                <a:highlight>
                  <a:srgbClr val="00FFFF"/>
                </a:highlight>
              </a:rPr>
              <a:t>011</a:t>
            </a:r>
            <a:r>
              <a:rPr lang="pt-BR" sz="3600" b="1" dirty="0">
                <a:solidFill>
                  <a:srgbClr val="FF0000"/>
                </a:solidFill>
                <a:highlight>
                  <a:srgbClr val="00FFFF"/>
                </a:highlight>
              </a:rPr>
              <a:t>xxxxx—96-127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3600" b="1" dirty="0"/>
              <a:t>11111111.11111111.11111111.</a:t>
            </a:r>
            <a:r>
              <a:rPr lang="pt-BR" sz="3600" b="1" dirty="0">
                <a:solidFill>
                  <a:srgbClr val="0070C0"/>
                </a:solidFill>
              </a:rPr>
              <a:t>100</a:t>
            </a:r>
            <a:r>
              <a:rPr lang="pt-BR" sz="3600" b="1" dirty="0">
                <a:solidFill>
                  <a:srgbClr val="FF0000"/>
                </a:solidFill>
              </a:rPr>
              <a:t>xxxxx--128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3600" b="1" dirty="0"/>
              <a:t>11111111.11111111.11111111.</a:t>
            </a:r>
            <a:r>
              <a:rPr lang="pt-BR" sz="3600" b="1" dirty="0">
                <a:solidFill>
                  <a:srgbClr val="0070C0"/>
                </a:solidFill>
              </a:rPr>
              <a:t>101</a:t>
            </a:r>
            <a:r>
              <a:rPr lang="pt-BR" sz="3600" b="1" dirty="0">
                <a:solidFill>
                  <a:srgbClr val="FF0000"/>
                </a:solidFill>
              </a:rPr>
              <a:t>xxxxx--160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3600" b="1" dirty="0"/>
              <a:t>11111111.11111111.11111111.</a:t>
            </a:r>
            <a:r>
              <a:rPr lang="pt-BR" sz="3600" b="1" dirty="0">
                <a:solidFill>
                  <a:srgbClr val="0070C0"/>
                </a:solidFill>
              </a:rPr>
              <a:t>110</a:t>
            </a:r>
            <a:r>
              <a:rPr lang="pt-BR" sz="3600" b="1" dirty="0">
                <a:solidFill>
                  <a:srgbClr val="FF0000"/>
                </a:solidFill>
              </a:rPr>
              <a:t>xxxxx--192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3600" b="1" dirty="0"/>
              <a:t>11111111.11111111.11111111.</a:t>
            </a:r>
            <a:r>
              <a:rPr lang="pt-BR" sz="3600" b="1" dirty="0">
                <a:solidFill>
                  <a:srgbClr val="0070C0"/>
                </a:solidFill>
              </a:rPr>
              <a:t>111</a:t>
            </a:r>
            <a:r>
              <a:rPr lang="pt-BR" sz="3600" b="1" dirty="0">
                <a:solidFill>
                  <a:srgbClr val="FF0000"/>
                </a:solidFill>
              </a:rPr>
              <a:t>xxxxx--224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3647710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0623B-B127-486B-97A8-AD62BBEFB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03BFC-6350-4FBA-A3B7-A4F4FF67F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587" y="2133600"/>
            <a:ext cx="8209664" cy="3992563"/>
          </a:xfrm>
        </p:spPr>
        <p:txBody>
          <a:bodyPr/>
          <a:lstStyle/>
          <a:p>
            <a:r>
              <a:rPr lang="en-US" dirty="0"/>
              <a:t>Host: 5 </a:t>
            </a:r>
          </a:p>
          <a:p>
            <a:r>
              <a:rPr lang="en-US" dirty="0"/>
              <a:t>192.168.5.0/29 h-8</a:t>
            </a:r>
          </a:p>
          <a:p>
            <a:r>
              <a:rPr lang="en-US" dirty="0"/>
              <a:t>255.255.255.?</a:t>
            </a:r>
          </a:p>
          <a:p>
            <a:r>
              <a:rPr lang="en-US" dirty="0"/>
              <a:t>Range </a:t>
            </a:r>
            <a:r>
              <a:rPr lang="en-US" dirty="0" err="1"/>
              <a:t>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989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3573AA-C7D3-4541-9F5F-D84123DEAEE8}"/>
              </a:ext>
            </a:extLst>
          </p:cNvPr>
          <p:cNvSpPr/>
          <p:nvPr/>
        </p:nvSpPr>
        <p:spPr>
          <a:xfrm>
            <a:off x="1234286" y="2478782"/>
            <a:ext cx="6026485" cy="991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 panose="02020502060401020303" pitchFamily="18" charset="0"/>
              </a:rPr>
              <a:t>Is there any way to further reduce the  unused IP addresses?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CB7A09-A440-47F1-B93A-311F6094CB48}"/>
              </a:ext>
            </a:extLst>
          </p:cNvPr>
          <p:cNvSpPr txBox="1"/>
          <p:nvPr/>
        </p:nvSpPr>
        <p:spPr>
          <a:xfrm>
            <a:off x="768631" y="4160989"/>
            <a:ext cx="7353743" cy="15696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Perpetua" panose="02020502060401020303" pitchFamily="18" charset="0"/>
              </a:rPr>
              <a:t>Yup!</a:t>
            </a:r>
          </a:p>
          <a:p>
            <a:pPr algn="ctr"/>
            <a:r>
              <a:rPr lang="en-US" sz="2400" dirty="0">
                <a:latin typeface="Perpetua" panose="02020502060401020303" pitchFamily="18" charset="0"/>
              </a:rPr>
              <a:t>Instead of giving the same number of IP addresses to all subnets, </a:t>
            </a:r>
          </a:p>
          <a:p>
            <a:pPr algn="ctr"/>
            <a:r>
              <a:rPr lang="en-US" sz="2400" dirty="0">
                <a:latin typeface="Perpetua" panose="02020502060401020303" pitchFamily="18" charset="0"/>
              </a:rPr>
              <a:t>allocate different number of IP addresses depending</a:t>
            </a:r>
          </a:p>
          <a:p>
            <a:pPr algn="ctr"/>
            <a:r>
              <a:rPr lang="en-US" sz="2400" dirty="0">
                <a:latin typeface="Perpetua" panose="02020502060401020303" pitchFamily="18" charset="0"/>
              </a:rPr>
              <a:t> on the each subnet’s needs.</a:t>
            </a:r>
          </a:p>
        </p:txBody>
      </p:sp>
    </p:spTree>
    <p:extLst>
      <p:ext uri="{BB962C8B-B14F-4D97-AF65-F5344CB8AC3E}">
        <p14:creationId xmlns:p14="http://schemas.microsoft.com/office/powerpoint/2010/main" val="366180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VLSM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A32231-8A64-4D19-A1CE-07228932AE7F}"/>
              </a:ext>
            </a:extLst>
          </p:cNvPr>
          <p:cNvSpPr/>
          <p:nvPr/>
        </p:nvSpPr>
        <p:spPr>
          <a:xfrm>
            <a:off x="366477" y="2620563"/>
            <a:ext cx="8301318" cy="20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Variable Length Subnet Mask (VLSM)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Instead of allocating the same number of IP addresses to all networks, the number of IP addresses allocated to network depends on the network’s need.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Different network is provided with different number of IPs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985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VLSM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Steps of VLSM</a:t>
            </a:r>
            <a:endParaRPr lang="x-non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E715D0-CF21-4439-B9FA-2FEF3EC2A37F}"/>
              </a:ext>
            </a:extLst>
          </p:cNvPr>
          <p:cNvSpPr/>
          <p:nvPr/>
        </p:nvSpPr>
        <p:spPr>
          <a:xfrm>
            <a:off x="302033" y="2243984"/>
            <a:ext cx="8330338" cy="3929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Step 1: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Write the networks’ names and IP requirements in descending 	order of IP requirements.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	A (56), G(26), F(21), E(5), B(4), C(4), D(4) </a:t>
            </a:r>
          </a:p>
          <a:p>
            <a:pPr marL="228600" marR="0" lvl="0" indent="-22860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Step 2: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Find the number of host bits needed to satisfy the IP 		requirement of each subnet?</a:t>
            </a:r>
          </a:p>
          <a:p>
            <a:pPr marL="228600" marR="0" lvl="0" indent="-22860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Step 3: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Based on the number of host bits, find the subnet mask for 	each subnet.</a:t>
            </a:r>
          </a:p>
          <a:p>
            <a:pPr marL="228600" marR="0" lvl="0" indent="-22860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Step 4: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Allocate IPs to each subnet starting from the beginning of the 	IP block. Allocate IPs to subnet sequentially according to the 	sorted network sequence found in Step 1.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509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11070"/>
            <a:ext cx="7808976" cy="1088136"/>
          </a:xfrm>
        </p:spPr>
        <p:txBody>
          <a:bodyPr/>
          <a:lstStyle/>
          <a:p>
            <a:r>
              <a:rPr lang="en-US" dirty="0"/>
              <a:t>VLSM….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x-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4">
                <a:extLst>
                  <a:ext uri="{FF2B5EF4-FFF2-40B4-BE49-F238E27FC236}">
                    <a16:creationId xmlns:a16="http://schemas.microsoft.com/office/drawing/2014/main" id="{4B53D606-AD6B-4D4D-8CE2-48FC5B5A64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9304864"/>
                  </p:ext>
                </p:extLst>
              </p:nvPr>
            </p:nvGraphicFramePr>
            <p:xfrm>
              <a:off x="241837" y="2895600"/>
              <a:ext cx="8660325" cy="3962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0597">
                      <a:extLst>
                        <a:ext uri="{9D8B030D-6E8A-4147-A177-3AD203B41FA5}">
                          <a16:colId xmlns:a16="http://schemas.microsoft.com/office/drawing/2014/main" val="2479607265"/>
                        </a:ext>
                      </a:extLst>
                    </a:gridCol>
                    <a:gridCol w="886740">
                      <a:extLst>
                        <a:ext uri="{9D8B030D-6E8A-4147-A177-3AD203B41FA5}">
                          <a16:colId xmlns:a16="http://schemas.microsoft.com/office/drawing/2014/main" val="1958488658"/>
                        </a:ext>
                      </a:extLst>
                    </a:gridCol>
                    <a:gridCol w="1526017">
                      <a:extLst>
                        <a:ext uri="{9D8B030D-6E8A-4147-A177-3AD203B41FA5}">
                          <a16:colId xmlns:a16="http://schemas.microsoft.com/office/drawing/2014/main" val="2076053058"/>
                        </a:ext>
                      </a:extLst>
                    </a:gridCol>
                    <a:gridCol w="1109686">
                      <a:extLst>
                        <a:ext uri="{9D8B030D-6E8A-4147-A177-3AD203B41FA5}">
                          <a16:colId xmlns:a16="http://schemas.microsoft.com/office/drawing/2014/main" val="152421295"/>
                        </a:ext>
                      </a:extLst>
                    </a:gridCol>
                    <a:gridCol w="1540369">
                      <a:extLst>
                        <a:ext uri="{9D8B030D-6E8A-4147-A177-3AD203B41FA5}">
                          <a16:colId xmlns:a16="http://schemas.microsoft.com/office/drawing/2014/main" val="232409214"/>
                        </a:ext>
                      </a:extLst>
                    </a:gridCol>
                    <a:gridCol w="1377151">
                      <a:extLst>
                        <a:ext uri="{9D8B030D-6E8A-4147-A177-3AD203B41FA5}">
                          <a16:colId xmlns:a16="http://schemas.microsoft.com/office/drawing/2014/main" val="1378388828"/>
                        </a:ext>
                      </a:extLst>
                    </a:gridCol>
                    <a:gridCol w="1509765">
                      <a:extLst>
                        <a:ext uri="{9D8B030D-6E8A-4147-A177-3AD203B41FA5}">
                          <a16:colId xmlns:a16="http://schemas.microsoft.com/office/drawing/2014/main" val="514142988"/>
                        </a:ext>
                      </a:extLst>
                    </a:gridCol>
                  </a:tblGrid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Subnet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No. of IPs</a:t>
                          </a:r>
                        </a:p>
                        <a:p>
                          <a:r>
                            <a:rPr lang="en-US" sz="1400" dirty="0"/>
                            <a:t>required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How many bits to borrow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No. of allocated IPs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No. of host bits</a:t>
                          </a:r>
                        </a:p>
                        <a:p>
                          <a:r>
                            <a:rPr lang="en-US" sz="1400" dirty="0"/>
                            <a:t>No. of net bits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Subnet mask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Allocated IP range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76758713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56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&gt;56&gt;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64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=6, </m:t>
                                </m:r>
                              </m:oMath>
                            </m:oMathPara>
                          </a14:m>
                          <a:endParaRPr lang="en-US" sz="14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=32−6=26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255.255.255.192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highlight>
                                <a:srgbClr val="FFFF00"/>
                              </a:highlight>
                            </a:rPr>
                            <a:t>192.168.5.0-192.168.5.63/26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15077911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G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&gt;26&gt;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32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=5, </m:t>
                                </m:r>
                              </m:oMath>
                            </m:oMathPara>
                          </a14:m>
                          <a:endParaRPr lang="en-US" sz="14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=32−5=27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255.255.255.224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highlight>
                                <a:srgbClr val="00FF00"/>
                              </a:highlight>
                            </a:rPr>
                            <a:t>192.168.5.64-192.168.5.95/27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04741152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&gt;21&gt;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32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=5, </m:t>
                                </m:r>
                              </m:oMath>
                            </m:oMathPara>
                          </a14:m>
                          <a:endParaRPr lang="en-US" sz="14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=32−5=27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255.255.255.224</a:t>
                          </a:r>
                        </a:p>
                        <a:p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highlight>
                                <a:srgbClr val="FFFF00"/>
                              </a:highlight>
                            </a:rPr>
                            <a:t>192.168.5.96-192.168.5.127/27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694946647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E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&gt;5&gt;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8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=3, </m:t>
                                </m:r>
                              </m:oMath>
                            </m:oMathPara>
                          </a14:m>
                          <a:endParaRPr lang="en-US" sz="14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=32−3=29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255.255.255.248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192.168.5.128-192.168.5.135/29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740947710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B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=2, </m:t>
                                </m:r>
                              </m:oMath>
                            </m:oMathPara>
                          </a14:m>
                          <a:endParaRPr lang="en-US" sz="14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=32−2=30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255.255.255.252</a:t>
                          </a:r>
                        </a:p>
                        <a:p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192.168.5.136-192.168.5.139/30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197635949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=2, </m:t>
                                </m:r>
                              </m:oMath>
                            </m:oMathPara>
                          </a14:m>
                          <a:endParaRPr lang="en-US" sz="14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=32−2=30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255.255.255.252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192.168.5.140-192.168.5.143/30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357187358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=2, </m:t>
                                </m:r>
                              </m:oMath>
                            </m:oMathPara>
                          </a14:m>
                          <a:endParaRPr lang="en-US" sz="14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=32−2=30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255.255.255.252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192.168.5.144-192.168.5.147/30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186479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4">
                <a:extLst>
                  <a:ext uri="{FF2B5EF4-FFF2-40B4-BE49-F238E27FC236}">
                    <a16:creationId xmlns:a16="http://schemas.microsoft.com/office/drawing/2014/main" id="{4B53D606-AD6B-4D4D-8CE2-48FC5B5A64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9304864"/>
                  </p:ext>
                </p:extLst>
              </p:nvPr>
            </p:nvGraphicFramePr>
            <p:xfrm>
              <a:off x="241837" y="2895600"/>
              <a:ext cx="8660325" cy="3962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0597">
                      <a:extLst>
                        <a:ext uri="{9D8B030D-6E8A-4147-A177-3AD203B41FA5}">
                          <a16:colId xmlns:a16="http://schemas.microsoft.com/office/drawing/2014/main" val="2479607265"/>
                        </a:ext>
                      </a:extLst>
                    </a:gridCol>
                    <a:gridCol w="886740">
                      <a:extLst>
                        <a:ext uri="{9D8B030D-6E8A-4147-A177-3AD203B41FA5}">
                          <a16:colId xmlns:a16="http://schemas.microsoft.com/office/drawing/2014/main" val="1958488658"/>
                        </a:ext>
                      </a:extLst>
                    </a:gridCol>
                    <a:gridCol w="1526017">
                      <a:extLst>
                        <a:ext uri="{9D8B030D-6E8A-4147-A177-3AD203B41FA5}">
                          <a16:colId xmlns:a16="http://schemas.microsoft.com/office/drawing/2014/main" val="2076053058"/>
                        </a:ext>
                      </a:extLst>
                    </a:gridCol>
                    <a:gridCol w="1109686">
                      <a:extLst>
                        <a:ext uri="{9D8B030D-6E8A-4147-A177-3AD203B41FA5}">
                          <a16:colId xmlns:a16="http://schemas.microsoft.com/office/drawing/2014/main" val="152421295"/>
                        </a:ext>
                      </a:extLst>
                    </a:gridCol>
                    <a:gridCol w="1540369">
                      <a:extLst>
                        <a:ext uri="{9D8B030D-6E8A-4147-A177-3AD203B41FA5}">
                          <a16:colId xmlns:a16="http://schemas.microsoft.com/office/drawing/2014/main" val="232409214"/>
                        </a:ext>
                      </a:extLst>
                    </a:gridCol>
                    <a:gridCol w="1377151">
                      <a:extLst>
                        <a:ext uri="{9D8B030D-6E8A-4147-A177-3AD203B41FA5}">
                          <a16:colId xmlns:a16="http://schemas.microsoft.com/office/drawing/2014/main" val="1378388828"/>
                        </a:ext>
                      </a:extLst>
                    </a:gridCol>
                    <a:gridCol w="1509765">
                      <a:extLst>
                        <a:ext uri="{9D8B030D-6E8A-4147-A177-3AD203B41FA5}">
                          <a16:colId xmlns:a16="http://schemas.microsoft.com/office/drawing/2014/main" val="514142988"/>
                        </a:ext>
                      </a:extLst>
                    </a:gridCol>
                  </a:tblGrid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Subnet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No. of IPs</a:t>
                          </a:r>
                        </a:p>
                        <a:p>
                          <a:r>
                            <a:rPr lang="en-US" sz="1400" dirty="0"/>
                            <a:t>required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How many bits to borrow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No. of allocated IPs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No. of host bits</a:t>
                          </a:r>
                        </a:p>
                        <a:p>
                          <a:r>
                            <a:rPr lang="en-US" sz="1400" dirty="0"/>
                            <a:t>No. of net bits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Subnet mask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Allocated IP range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76758713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56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103659" r="-363745" b="-608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64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103659" r="-188933" b="-608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255.255.255.192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highlight>
                                <a:srgbClr val="FFFF00"/>
                              </a:highlight>
                            </a:rPr>
                            <a:t>192.168.5.0-192.168.5.63/26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15077911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G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206173" r="-363745" b="-516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32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206173" r="-188933" b="-516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255.255.255.224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highlight>
                                <a:srgbClr val="00FF00"/>
                              </a:highlight>
                            </a:rPr>
                            <a:t>192.168.5.64-192.168.5.95/27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04741152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306173" r="-363745" b="-416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32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306173" r="-188933" b="-416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255.255.255.224</a:t>
                          </a:r>
                        </a:p>
                        <a:p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highlight>
                                <a:srgbClr val="FFFF00"/>
                              </a:highlight>
                            </a:rPr>
                            <a:t>192.168.5.96-192.168.5.127/27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694946647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E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406173" r="-363745" b="-316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8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406173" r="-188933" b="-316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255.255.255.248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192.168.5.128-192.168.5.135/29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740947710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B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500000" r="-363745" b="-2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500000" r="-188933" b="-2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255.255.255.252</a:t>
                          </a:r>
                        </a:p>
                        <a:p>
                          <a:endParaRPr lang="en-US" sz="1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192.168.5.136-192.168.5.139/30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197635949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607407" r="-363745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607407" r="-18893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255.255.255.252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192.168.5.140-192.168.5.143/30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357187358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707407" r="-363745" b="-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707407" r="-188933" b="-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255.255.255.252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192.168.5.144-192.168.5.147/30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1864792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EBE50965-C02B-4F27-AAE7-10E82285C8D0}"/>
              </a:ext>
            </a:extLst>
          </p:cNvPr>
          <p:cNvGrpSpPr/>
          <p:nvPr/>
        </p:nvGrpSpPr>
        <p:grpSpPr>
          <a:xfrm>
            <a:off x="2383232" y="1962426"/>
            <a:ext cx="4341420" cy="1237365"/>
            <a:chOff x="2842062" y="404267"/>
            <a:chExt cx="5639329" cy="164982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F5E7D00-FA82-4B0F-826C-77DCCB67BEBA}"/>
                </a:ext>
              </a:extLst>
            </p:cNvPr>
            <p:cNvCxnSpPr>
              <a:cxnSpLocks/>
            </p:cNvCxnSpPr>
            <p:nvPr/>
          </p:nvCxnSpPr>
          <p:spPr>
            <a:xfrm>
              <a:off x="6467061" y="587554"/>
              <a:ext cx="2014330" cy="14665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D0211A5-6A46-4B8E-8A7B-37911C8E2A68}"/>
                </a:ext>
              </a:extLst>
            </p:cNvPr>
            <p:cNvGrpSpPr/>
            <p:nvPr/>
          </p:nvGrpSpPr>
          <p:grpSpPr>
            <a:xfrm>
              <a:off x="2842062" y="404267"/>
              <a:ext cx="5592419" cy="918345"/>
              <a:chOff x="2842062" y="404267"/>
              <a:chExt cx="5592419" cy="918345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403EF41-EE8C-4F95-B443-7AE873E128BE}"/>
                  </a:ext>
                </a:extLst>
              </p:cNvPr>
              <p:cNvSpPr txBox="1"/>
              <p:nvPr/>
            </p:nvSpPr>
            <p:spPr>
              <a:xfrm>
                <a:off x="2842062" y="404267"/>
                <a:ext cx="5592419" cy="8617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11111111. 11111111. 11111111. 11000000</a:t>
                </a:r>
              </a:p>
            </p:txBody>
          </p:sp>
          <p:sp>
            <p:nvSpPr>
              <p:cNvPr id="18" name="Left Brace 17">
                <a:extLst>
                  <a:ext uri="{FF2B5EF4-FFF2-40B4-BE49-F238E27FC236}">
                    <a16:creationId xmlns:a16="http://schemas.microsoft.com/office/drawing/2014/main" id="{052926EE-72D3-4E46-8EEE-D0536057AE17}"/>
                  </a:ext>
                </a:extLst>
              </p:cNvPr>
              <p:cNvSpPr/>
              <p:nvPr/>
            </p:nvSpPr>
            <p:spPr>
              <a:xfrm rot="16200000">
                <a:off x="5029214" y="-1477602"/>
                <a:ext cx="251759" cy="4532245"/>
              </a:xfrm>
              <a:prstGeom prst="lef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19" name="Left Brace 18">
                <a:extLst>
                  <a:ext uri="{FF2B5EF4-FFF2-40B4-BE49-F238E27FC236}">
                    <a16:creationId xmlns:a16="http://schemas.microsoft.com/office/drawing/2014/main" id="{0C9AB082-2BEC-458F-A4A6-98A1ADC9A579}"/>
                  </a:ext>
                </a:extLst>
              </p:cNvPr>
              <p:cNvSpPr/>
              <p:nvPr/>
            </p:nvSpPr>
            <p:spPr>
              <a:xfrm rot="16200000">
                <a:off x="7795609" y="317234"/>
                <a:ext cx="251759" cy="894525"/>
              </a:xfrm>
              <a:prstGeom prst="leftBrace">
                <a:avLst/>
              </a:prstGeom>
              <a:ln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22EE994-805C-4BAA-9DF6-C735A2A4594A}"/>
                  </a:ext>
                </a:extLst>
              </p:cNvPr>
              <p:cNvSpPr txBox="1"/>
              <p:nvPr/>
            </p:nvSpPr>
            <p:spPr>
              <a:xfrm>
                <a:off x="4945742" y="922503"/>
                <a:ext cx="481328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26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840A90-DDA9-4DA8-89B3-572E3DD8D29A}"/>
                  </a:ext>
                </a:extLst>
              </p:cNvPr>
              <p:cNvSpPr txBox="1"/>
              <p:nvPr/>
            </p:nvSpPr>
            <p:spPr>
              <a:xfrm>
                <a:off x="7720730" y="890376"/>
                <a:ext cx="363776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7180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VLSM….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Example 1</a:t>
            </a:r>
            <a:endParaRPr lang="x-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40BFA97-F1C6-49A6-B002-837690D0D601}"/>
                  </a:ext>
                </a:extLst>
              </p:cNvPr>
              <p:cNvSpPr/>
              <p:nvPr/>
            </p:nvSpPr>
            <p:spPr>
              <a:xfrm>
                <a:off x="345141" y="2099790"/>
                <a:ext cx="8298116" cy="1206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  <a:latin typeface="Perpetua" panose="02020502060401020303" pitchFamily="18" charset="0"/>
                  </a:rPr>
                  <a:t>VLSM</a:t>
                </a:r>
              </a:p>
              <a:p>
                <a:pPr lvl="1"/>
                <a:r>
                  <a:rPr lang="en-US" dirty="0">
                    <a:latin typeface="Perpetua" panose="02020502060401020303" pitchFamily="18" charset="0"/>
                  </a:rPr>
                  <a:t>No. of allocated IPs: 64+32+32+8+4+4+4=148 IP</a:t>
                </a:r>
              </a:p>
              <a:p>
                <a:pPr lvl="1"/>
                <a:r>
                  <a:rPr lang="en-US" dirty="0">
                    <a:latin typeface="Perpetua" panose="02020502060401020303" pitchFamily="18" charset="0"/>
                  </a:rPr>
                  <a:t>Percentage of unused IP=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(148−120)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×100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148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lang="en-US" dirty="0">
                    <a:latin typeface="Perpetua" panose="02020502060401020303" pitchFamily="18" charset="0"/>
                  </a:rPr>
                  <a:t>% (approx.)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40BFA97-F1C6-49A6-B002-837690D0D6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41" y="2099790"/>
                <a:ext cx="8298116" cy="1206099"/>
              </a:xfrm>
              <a:prstGeom prst="rect">
                <a:avLst/>
              </a:prstGeom>
              <a:blipFill>
                <a:blip r:embed="rId2"/>
                <a:stretch>
                  <a:fillRect l="-1543" t="-5051" b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CD52C7B3-FC49-4120-A396-B1F6A7E07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337952"/>
              </p:ext>
            </p:extLst>
          </p:nvPr>
        </p:nvGraphicFramePr>
        <p:xfrm>
          <a:off x="1418772" y="4305771"/>
          <a:ext cx="541866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575248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3546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Classful Addressing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VLSM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235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081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CD5A471-4D80-4C4D-ABE8-8AC761405A22}"/>
              </a:ext>
            </a:extLst>
          </p:cNvPr>
          <p:cNvSpPr txBox="1"/>
          <p:nvPr/>
        </p:nvSpPr>
        <p:spPr>
          <a:xfrm>
            <a:off x="686653" y="3757580"/>
            <a:ext cx="74317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Perpetua" panose="02020502060401020303" pitchFamily="18" charset="0"/>
              </a:rPr>
              <a:t>Percentage of unused IP address (for the given network)</a:t>
            </a:r>
          </a:p>
        </p:txBody>
      </p:sp>
    </p:spTree>
    <p:extLst>
      <p:ext uri="{BB962C8B-B14F-4D97-AF65-F5344CB8AC3E}">
        <p14:creationId xmlns:p14="http://schemas.microsoft.com/office/powerpoint/2010/main" val="30529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VLSM….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170E791-FD3B-4568-AF67-EA6A9C30D260}"/>
              </a:ext>
            </a:extLst>
          </p:cNvPr>
          <p:cNvSpPr txBox="1">
            <a:spLocks/>
          </p:cNvSpPr>
          <p:nvPr/>
        </p:nvSpPr>
        <p:spPr>
          <a:xfrm>
            <a:off x="160682" y="2288977"/>
            <a:ext cx="8822635" cy="135421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latin typeface="Perpetua" panose="02020502060401020303" pitchFamily="18" charset="0"/>
            </a:endParaRPr>
          </a:p>
          <a:p>
            <a:endParaRPr lang="en-US" dirty="0">
              <a:latin typeface="Perpetua" panose="02020502060401020303" pitchFamily="18" charset="0"/>
            </a:endParaRPr>
          </a:p>
          <a:p>
            <a:pPr algn="ctr"/>
            <a:r>
              <a:rPr lang="en-US" sz="3600" dirty="0">
                <a:solidFill>
                  <a:srgbClr val="FF0000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Is it possible to further reduce the unused IP?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85AA8-E769-4CE8-8435-FEA19E2C0149}"/>
              </a:ext>
            </a:extLst>
          </p:cNvPr>
          <p:cNvSpPr txBox="1"/>
          <p:nvPr/>
        </p:nvSpPr>
        <p:spPr>
          <a:xfrm>
            <a:off x="1298240" y="3722238"/>
            <a:ext cx="6462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Perpetua" panose="02020502060401020303" pitchFamily="18" charset="0"/>
              </a:rPr>
              <a:t>Spend your time to propose a new subnetting technique.</a:t>
            </a:r>
          </a:p>
        </p:txBody>
      </p:sp>
    </p:spTree>
    <p:extLst>
      <p:ext uri="{BB962C8B-B14F-4D97-AF65-F5344CB8AC3E}">
        <p14:creationId xmlns:p14="http://schemas.microsoft.com/office/powerpoint/2010/main" val="63335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VLSM….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x-non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094104-C254-41E6-9FD6-BB62EC9CE3B5}"/>
              </a:ext>
            </a:extLst>
          </p:cNvPr>
          <p:cNvSpPr/>
          <p:nvPr/>
        </p:nvSpPr>
        <p:spPr>
          <a:xfrm>
            <a:off x="421341" y="2219438"/>
            <a:ext cx="8319888" cy="109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erpetua" panose="02020502060401020303" pitchFamily="18" charset="0"/>
              </a:rPr>
              <a:t>Suppose that we have three networks: A, B and C with IP requirements 50, 4 and 28. If You are given an IP block 130.3.0.0, allocate IPs performing subnetting.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3E9F345-D3C3-4C75-8D22-A481AE3D51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8813142"/>
                  </p:ext>
                </p:extLst>
              </p:nvPr>
            </p:nvGraphicFramePr>
            <p:xfrm>
              <a:off x="421341" y="3539801"/>
              <a:ext cx="8348043" cy="1981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4973">
                      <a:extLst>
                        <a:ext uri="{9D8B030D-6E8A-4147-A177-3AD203B41FA5}">
                          <a16:colId xmlns:a16="http://schemas.microsoft.com/office/drawing/2014/main" val="2479607265"/>
                        </a:ext>
                      </a:extLst>
                    </a:gridCol>
                    <a:gridCol w="854765">
                      <a:extLst>
                        <a:ext uri="{9D8B030D-6E8A-4147-A177-3AD203B41FA5}">
                          <a16:colId xmlns:a16="http://schemas.microsoft.com/office/drawing/2014/main" val="1958488658"/>
                        </a:ext>
                      </a:extLst>
                    </a:gridCol>
                    <a:gridCol w="1470991">
                      <a:extLst>
                        <a:ext uri="{9D8B030D-6E8A-4147-A177-3AD203B41FA5}">
                          <a16:colId xmlns:a16="http://schemas.microsoft.com/office/drawing/2014/main" val="2076053058"/>
                        </a:ext>
                      </a:extLst>
                    </a:gridCol>
                    <a:gridCol w="1182757">
                      <a:extLst>
                        <a:ext uri="{9D8B030D-6E8A-4147-A177-3AD203B41FA5}">
                          <a16:colId xmlns:a16="http://schemas.microsoft.com/office/drawing/2014/main" val="152421295"/>
                        </a:ext>
                      </a:extLst>
                    </a:gridCol>
                    <a:gridCol w="1510748">
                      <a:extLst>
                        <a:ext uri="{9D8B030D-6E8A-4147-A177-3AD203B41FA5}">
                          <a16:colId xmlns:a16="http://schemas.microsoft.com/office/drawing/2014/main" val="232409214"/>
                        </a:ext>
                      </a:extLst>
                    </a:gridCol>
                    <a:gridCol w="1331843">
                      <a:extLst>
                        <a:ext uri="{9D8B030D-6E8A-4147-A177-3AD203B41FA5}">
                          <a16:colId xmlns:a16="http://schemas.microsoft.com/office/drawing/2014/main" val="1378388828"/>
                        </a:ext>
                      </a:extLst>
                    </a:gridCol>
                    <a:gridCol w="1311966">
                      <a:extLst>
                        <a:ext uri="{9D8B030D-6E8A-4147-A177-3AD203B41FA5}">
                          <a16:colId xmlns:a16="http://schemas.microsoft.com/office/drawing/2014/main" val="514142988"/>
                        </a:ext>
                      </a:extLst>
                    </a:gridCol>
                  </a:tblGrid>
                  <a:tr h="480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Subnet</a:t>
                          </a:r>
                          <a:endParaRPr lang="en-US" sz="1400" b="1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No. of IPs</a:t>
                          </a:r>
                        </a:p>
                        <a:p>
                          <a:pPr algn="ctr"/>
                          <a:r>
                            <a:rPr lang="en-US" sz="1400" b="1" dirty="0"/>
                            <a:t>required</a:t>
                          </a:r>
                          <a:endParaRPr lang="en-US" sz="1400" b="1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How many bits to borrow</a:t>
                          </a:r>
                          <a:endParaRPr lang="en-US" sz="1400" b="1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No. of allocated IPs</a:t>
                          </a:r>
                          <a:endParaRPr lang="en-US" sz="1400" b="1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No. of host bits</a:t>
                          </a:r>
                        </a:p>
                        <a:p>
                          <a:pPr algn="ctr"/>
                          <a:r>
                            <a:rPr lang="en-US" sz="1400" b="1" dirty="0"/>
                            <a:t>No. of net bits</a:t>
                          </a:r>
                          <a:endParaRPr lang="en-US" sz="1400" b="1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Subnet mask</a:t>
                          </a:r>
                          <a:endParaRPr lang="en-US" sz="1400" b="1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Allocated IP range</a:t>
                          </a:r>
                          <a:endParaRPr lang="en-US" sz="1400" b="1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76758713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50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&gt;50&gt;</m:t>
                                </m:r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64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=6, 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=32−6=26</m:t>
                                </m:r>
                              </m:oMath>
                            </m:oMathPara>
                          </a14:m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255.255.255.192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130.3.0.0-130.3.0.63/26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15077911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28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&gt;28&gt;</m:t>
                                </m:r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32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=5, 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=32−5=27</m:t>
                                </m:r>
                              </m:oMath>
                            </m:oMathPara>
                          </a14:m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255.255.255.224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130.3.0.64-130.3.0.95/27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04741152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B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=2, 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=32−2=29</m:t>
                                </m:r>
                              </m:oMath>
                            </m:oMathPara>
                          </a14:m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255.255.255.252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130.3.0.96-130.3.0.99/30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186479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3E9F345-D3C3-4C75-8D22-A481AE3D51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8813142"/>
                  </p:ext>
                </p:extLst>
              </p:nvPr>
            </p:nvGraphicFramePr>
            <p:xfrm>
              <a:off x="421341" y="3539801"/>
              <a:ext cx="8348043" cy="1981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4973">
                      <a:extLst>
                        <a:ext uri="{9D8B030D-6E8A-4147-A177-3AD203B41FA5}">
                          <a16:colId xmlns:a16="http://schemas.microsoft.com/office/drawing/2014/main" val="2479607265"/>
                        </a:ext>
                      </a:extLst>
                    </a:gridCol>
                    <a:gridCol w="854765">
                      <a:extLst>
                        <a:ext uri="{9D8B030D-6E8A-4147-A177-3AD203B41FA5}">
                          <a16:colId xmlns:a16="http://schemas.microsoft.com/office/drawing/2014/main" val="1958488658"/>
                        </a:ext>
                      </a:extLst>
                    </a:gridCol>
                    <a:gridCol w="1470991">
                      <a:extLst>
                        <a:ext uri="{9D8B030D-6E8A-4147-A177-3AD203B41FA5}">
                          <a16:colId xmlns:a16="http://schemas.microsoft.com/office/drawing/2014/main" val="2076053058"/>
                        </a:ext>
                      </a:extLst>
                    </a:gridCol>
                    <a:gridCol w="1182757">
                      <a:extLst>
                        <a:ext uri="{9D8B030D-6E8A-4147-A177-3AD203B41FA5}">
                          <a16:colId xmlns:a16="http://schemas.microsoft.com/office/drawing/2014/main" val="152421295"/>
                        </a:ext>
                      </a:extLst>
                    </a:gridCol>
                    <a:gridCol w="1510748">
                      <a:extLst>
                        <a:ext uri="{9D8B030D-6E8A-4147-A177-3AD203B41FA5}">
                          <a16:colId xmlns:a16="http://schemas.microsoft.com/office/drawing/2014/main" val="232409214"/>
                        </a:ext>
                      </a:extLst>
                    </a:gridCol>
                    <a:gridCol w="1331843">
                      <a:extLst>
                        <a:ext uri="{9D8B030D-6E8A-4147-A177-3AD203B41FA5}">
                          <a16:colId xmlns:a16="http://schemas.microsoft.com/office/drawing/2014/main" val="1378388828"/>
                        </a:ext>
                      </a:extLst>
                    </a:gridCol>
                    <a:gridCol w="1311966">
                      <a:extLst>
                        <a:ext uri="{9D8B030D-6E8A-4147-A177-3AD203B41FA5}">
                          <a16:colId xmlns:a16="http://schemas.microsoft.com/office/drawing/2014/main" val="514142988"/>
                        </a:ext>
                      </a:extLst>
                    </a:gridCol>
                  </a:tblGrid>
                  <a:tr h="495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Subnet</a:t>
                          </a:r>
                          <a:endParaRPr lang="en-US" sz="1400" b="1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No. of IPs</a:t>
                          </a:r>
                        </a:p>
                        <a:p>
                          <a:pPr algn="ctr"/>
                          <a:r>
                            <a:rPr lang="en-US" sz="1400" b="1" dirty="0"/>
                            <a:t>required</a:t>
                          </a:r>
                          <a:endParaRPr lang="en-US" sz="1400" b="1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How many bits to borrow</a:t>
                          </a:r>
                          <a:endParaRPr lang="en-US" sz="1400" b="1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No. of allocated IPs</a:t>
                          </a:r>
                          <a:endParaRPr lang="en-US" sz="1400" b="1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No. of host bits</a:t>
                          </a:r>
                        </a:p>
                        <a:p>
                          <a:pPr algn="ctr"/>
                          <a:r>
                            <a:rPr lang="en-US" sz="1400" b="1" dirty="0"/>
                            <a:t>No. of net bits</a:t>
                          </a:r>
                          <a:endParaRPr lang="en-US" sz="1400" b="1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Subnet mask</a:t>
                          </a:r>
                          <a:endParaRPr lang="en-US" sz="1400" b="1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Allocated IP range</a:t>
                          </a:r>
                          <a:endParaRPr lang="en-US" sz="1400" b="1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76758713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50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5394" t="-106173" r="-364315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64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7823" t="-106173" r="-175806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255.255.255.192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130.3.0.0-130.3.0.63/26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15077911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28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5394" t="-203659" r="-364315" b="-1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32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7823" t="-203659" r="-175806" b="-1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255.255.255.224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130.3.0.64-130.3.0.95/27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04741152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B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5394" t="-307407" r="-364315" b="-135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7823" t="-307407" r="-175806" b="-135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255.255.255.252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130.3.0.96-130.3.0.99/30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186479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9440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853146-6F38-4267-9158-057280E2E0F3}"/>
              </a:ext>
            </a:extLst>
          </p:cNvPr>
          <p:cNvSpPr/>
          <p:nvPr/>
        </p:nvSpPr>
        <p:spPr>
          <a:xfrm>
            <a:off x="373956" y="2233422"/>
            <a:ext cx="8396088" cy="2684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marR="0" lvl="0" indent="-51435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Suppose that we have three networks: A, B and C with IP requirements 500, 4000 and 208, respectively. If You are given an IP block 130.3.0.0, allocate IPs performing subnetting.</a:t>
            </a:r>
          </a:p>
          <a:p>
            <a:pPr marL="514350" marR="0" lvl="0" indent="-51435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 panose="02020502060401020303" pitchFamily="18" charset="0"/>
            </a:endParaRPr>
          </a:p>
          <a:p>
            <a:pPr marL="514350" marR="0" lvl="0" indent="-51435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Suppose that we have six networks: A, B, C, D, E and F with IP requirements 120, 4 and 9, 4, 32, 7, respectively. If You are given an IP block 210.3.0.0, allocate IPs performing subnetting.</a:t>
            </a:r>
          </a:p>
        </p:txBody>
      </p:sp>
    </p:spTree>
    <p:extLst>
      <p:ext uri="{BB962C8B-B14F-4D97-AF65-F5344CB8AC3E}">
        <p14:creationId xmlns:p14="http://schemas.microsoft.com/office/powerpoint/2010/main" val="2899998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265715" y="2455165"/>
            <a:ext cx="1547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[No reference]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Recommended 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53" y="2175164"/>
            <a:ext cx="832573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14400" lvl="1" indent="-457200" algn="just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60033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0" ma:contentTypeDescription="Create a new document." ma:contentTypeScope="" ma:versionID="4ee3c3012e66d01170a3114f1b2e717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5FBDE7C-49C6-4E1E-9459-983C17A3DFE6}"/>
</file>

<file path=customXml/itemProps2.xml><?xml version="1.0" encoding="utf-8"?>
<ds:datastoreItem xmlns:ds="http://schemas.openxmlformats.org/officeDocument/2006/customXml" ds:itemID="{829F7637-75B3-49B3-B2E7-3456B79B5881}"/>
</file>

<file path=customXml/itemProps3.xml><?xml version="1.0" encoding="utf-8"?>
<ds:datastoreItem xmlns:ds="http://schemas.openxmlformats.org/officeDocument/2006/customXml" ds:itemID="{DFD9A89C-F862-492C-811C-2CA8DFAB8E8F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5559</TotalTime>
  <Words>1022</Words>
  <Application>Microsoft Office PowerPoint</Application>
  <PresentationFormat>On-screen Show (4:3)</PresentationFormat>
  <Paragraphs>251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Cambria Math</vt:lpstr>
      <vt:lpstr>Corbel</vt:lpstr>
      <vt:lpstr>Perpetua</vt:lpstr>
      <vt:lpstr>Times New Roman</vt:lpstr>
      <vt:lpstr>Wingdings</vt:lpstr>
      <vt:lpstr>Spectrum</vt:lpstr>
      <vt:lpstr>Variable Length Subnet Mask</vt:lpstr>
      <vt:lpstr>Lecture Outline</vt:lpstr>
      <vt:lpstr>Introduction</vt:lpstr>
      <vt:lpstr>Introduction….</vt:lpstr>
      <vt:lpstr>Introduction….</vt:lpstr>
      <vt:lpstr>PowerPoint Presentation</vt:lpstr>
      <vt:lpstr>Introduction</vt:lpstr>
      <vt:lpstr>PowerPoint Presentation</vt:lpstr>
      <vt:lpstr>PowerPoint Presentation</vt:lpstr>
      <vt:lpstr>Introduction</vt:lpstr>
      <vt:lpstr>VLSM</vt:lpstr>
      <vt:lpstr>VLSM</vt:lpstr>
      <vt:lpstr>VLSM….</vt:lpstr>
      <vt:lpstr>VLSM….</vt:lpstr>
      <vt:lpstr>VLSM….</vt:lpstr>
      <vt:lpstr>VLSM….</vt:lpstr>
      <vt:lpstr>Homework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Afsah Sharmin</cp:lastModifiedBy>
  <cp:revision>30</cp:revision>
  <dcterms:created xsi:type="dcterms:W3CDTF">2018-12-10T17:20:29Z</dcterms:created>
  <dcterms:modified xsi:type="dcterms:W3CDTF">2022-09-27T05:00:24Z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