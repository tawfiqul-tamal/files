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257" r:id="rId3"/>
    <p:sldId id="280" r:id="rId4"/>
    <p:sldId id="281" r:id="rId5"/>
    <p:sldId id="282" r:id="rId6"/>
    <p:sldId id="297" r:id="rId7"/>
    <p:sldId id="283" r:id="rId8"/>
    <p:sldId id="284" r:id="rId9"/>
    <p:sldId id="298" r:id="rId10"/>
    <p:sldId id="285" r:id="rId11"/>
    <p:sldId id="286" r:id="rId12"/>
    <p:sldId id="287" r:id="rId13"/>
    <p:sldId id="303" r:id="rId14"/>
    <p:sldId id="288" r:id="rId15"/>
    <p:sldId id="299" r:id="rId16"/>
    <p:sldId id="300" r:id="rId17"/>
    <p:sldId id="290" r:id="rId18"/>
    <p:sldId id="291" r:id="rId19"/>
    <p:sldId id="301" r:id="rId20"/>
    <p:sldId id="302" r:id="rId21"/>
    <p:sldId id="295" r:id="rId22"/>
    <p:sldId id="296" r:id="rId23"/>
    <p:sldId id="265" r:id="rId24"/>
    <p:sldId id="264"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81" d="100"/>
          <a:sy n="81" d="100"/>
        </p:scale>
        <p:origin x="1498"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4C0043-86B6-4995-AFCF-75742B2971FC}" type="datetimeFigureOut">
              <a:rPr lang="en-US" smtClean="0"/>
              <a:t>9/27/2022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F089EB-434E-4CCF-A285-C485F66DE1D3}" type="slidenum">
              <a:rPr lang="en-US" smtClean="0"/>
              <a:t>‹#›</a:t>
            </a:fld>
            <a:endParaRPr lang="en-US"/>
          </a:p>
        </p:txBody>
      </p:sp>
    </p:spTree>
    <p:extLst>
      <p:ext uri="{BB962C8B-B14F-4D97-AF65-F5344CB8AC3E}">
        <p14:creationId xmlns:p14="http://schemas.microsoft.com/office/powerpoint/2010/main" val="52353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3</a:t>
            </a:fld>
            <a:endParaRPr lang="en-US"/>
          </a:p>
        </p:txBody>
      </p:sp>
    </p:spTree>
    <p:extLst>
      <p:ext uri="{BB962C8B-B14F-4D97-AF65-F5344CB8AC3E}">
        <p14:creationId xmlns:p14="http://schemas.microsoft.com/office/powerpoint/2010/main" val="9851994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4</a:t>
            </a:fld>
            <a:endParaRPr lang="en-US"/>
          </a:p>
        </p:txBody>
      </p:sp>
    </p:spTree>
    <p:extLst>
      <p:ext uri="{BB962C8B-B14F-4D97-AF65-F5344CB8AC3E}">
        <p14:creationId xmlns:p14="http://schemas.microsoft.com/office/powerpoint/2010/main" val="29420058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5</a:t>
            </a:fld>
            <a:endParaRPr lang="en-US"/>
          </a:p>
        </p:txBody>
      </p:sp>
    </p:spTree>
    <p:extLst>
      <p:ext uri="{BB962C8B-B14F-4D97-AF65-F5344CB8AC3E}">
        <p14:creationId xmlns:p14="http://schemas.microsoft.com/office/powerpoint/2010/main" val="8115216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7</a:t>
            </a:fld>
            <a:endParaRPr lang="en-US"/>
          </a:p>
        </p:txBody>
      </p:sp>
    </p:spTree>
    <p:extLst>
      <p:ext uri="{BB962C8B-B14F-4D97-AF65-F5344CB8AC3E}">
        <p14:creationId xmlns:p14="http://schemas.microsoft.com/office/powerpoint/2010/main" val="25993956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8</a:t>
            </a:fld>
            <a:endParaRPr lang="en-US"/>
          </a:p>
        </p:txBody>
      </p:sp>
    </p:spTree>
    <p:extLst>
      <p:ext uri="{BB962C8B-B14F-4D97-AF65-F5344CB8AC3E}">
        <p14:creationId xmlns:p14="http://schemas.microsoft.com/office/powerpoint/2010/main" val="25477930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10</a:t>
            </a:fld>
            <a:endParaRPr lang="en-US"/>
          </a:p>
        </p:txBody>
      </p:sp>
    </p:spTree>
    <p:extLst>
      <p:ext uri="{BB962C8B-B14F-4D97-AF65-F5344CB8AC3E}">
        <p14:creationId xmlns:p14="http://schemas.microsoft.com/office/powerpoint/2010/main" val="27966935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11</a:t>
            </a:fld>
            <a:endParaRPr lang="en-US"/>
          </a:p>
        </p:txBody>
      </p:sp>
    </p:spTree>
    <p:extLst>
      <p:ext uri="{BB962C8B-B14F-4D97-AF65-F5344CB8AC3E}">
        <p14:creationId xmlns:p14="http://schemas.microsoft.com/office/powerpoint/2010/main" val="3391413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12</a:t>
            </a:fld>
            <a:endParaRPr lang="en-US"/>
          </a:p>
        </p:txBody>
      </p:sp>
    </p:spTree>
    <p:extLst>
      <p:ext uri="{BB962C8B-B14F-4D97-AF65-F5344CB8AC3E}">
        <p14:creationId xmlns:p14="http://schemas.microsoft.com/office/powerpoint/2010/main" val="41062014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top-level domain</a:t>
            </a:r>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14</a:t>
            </a:fld>
            <a:endParaRPr lang="en-US"/>
          </a:p>
        </p:txBody>
      </p:sp>
    </p:spTree>
    <p:extLst>
      <p:ext uri="{BB962C8B-B14F-4D97-AF65-F5344CB8AC3E}">
        <p14:creationId xmlns:p14="http://schemas.microsoft.com/office/powerpoint/2010/main" val="36425473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17</a:t>
            </a:fld>
            <a:endParaRPr lang="en-US"/>
          </a:p>
        </p:txBody>
      </p:sp>
    </p:spTree>
    <p:extLst>
      <p:ext uri="{BB962C8B-B14F-4D97-AF65-F5344CB8AC3E}">
        <p14:creationId xmlns:p14="http://schemas.microsoft.com/office/powerpoint/2010/main" val="31267823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18</a:t>
            </a:fld>
            <a:endParaRPr lang="en-US"/>
          </a:p>
        </p:txBody>
      </p:sp>
    </p:spTree>
    <p:extLst>
      <p:ext uri="{BB962C8B-B14F-4D97-AF65-F5344CB8AC3E}">
        <p14:creationId xmlns:p14="http://schemas.microsoft.com/office/powerpoint/2010/main" val="41724897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21</a:t>
            </a:fld>
            <a:endParaRPr lang="en-US"/>
          </a:p>
        </p:txBody>
      </p:sp>
    </p:spTree>
    <p:extLst>
      <p:ext uri="{BB962C8B-B14F-4D97-AF65-F5344CB8AC3E}">
        <p14:creationId xmlns:p14="http://schemas.microsoft.com/office/powerpoint/2010/main" val="9455427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22</a:t>
            </a:fld>
            <a:endParaRPr lang="en-US"/>
          </a:p>
        </p:txBody>
      </p:sp>
    </p:spTree>
    <p:extLst>
      <p:ext uri="{BB962C8B-B14F-4D97-AF65-F5344CB8AC3E}">
        <p14:creationId xmlns:p14="http://schemas.microsoft.com/office/powerpoint/2010/main" val="5545850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9/27/2022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9/27/2022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9/27/2022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9/27/2022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9/27/2022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9/27/2022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9/27/2022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9/27/2022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9/27/2022</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9/27/2022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9/27/2022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9/27/2022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9/27/2022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9/27/2022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9/27/2022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9/27/2022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9/27/2022</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jpg"/></Relationships>
</file>

<file path=ppt/slides/_rels/slide23.xml.rels><?xml version="1.0" encoding="UTF-8" standalone="yes"?>
<Relationships xmlns="http://schemas.openxmlformats.org/package/2006/relationships"><Relationship Id="rId3" Type="http://schemas.openxmlformats.org/officeDocument/2006/relationships/hyperlink" Target="https://www.tutorialspoint.com/computer_fundamentals/computer_networking.htm" TargetMode="External"/><Relationship Id="rId2" Type="http://schemas.openxmlformats.org/officeDocument/2006/relationships/hyperlink" Target="https://www.geeksforgeeks.org/basics-computer-networking/" TargetMode="Externa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400" spc="-325" dirty="0"/>
              <a:t>Application Layer Protocols</a:t>
            </a:r>
            <a:endParaRPr lang="en-US" dirty="0"/>
          </a:p>
        </p:txBody>
      </p:sp>
      <p:sp>
        <p:nvSpPr>
          <p:cNvPr id="3" name="Subtitle 2"/>
          <p:cNvSpPr>
            <a:spLocks noGrp="1"/>
          </p:cNvSpPr>
          <p:nvPr>
            <p:ph type="subTitle" idx="1"/>
          </p:nvPr>
        </p:nvSpPr>
        <p:spPr>
          <a:xfrm>
            <a:off x="476205" y="1532427"/>
            <a:ext cx="2789509" cy="484632"/>
          </a:xfrm>
        </p:spPr>
        <p:txBody>
          <a:bodyPr/>
          <a:lstStyle/>
          <a:p>
            <a:r>
              <a:rPr lang="en-US" dirty="0"/>
              <a:t>Course Code: CSC 3116</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1497935691"/>
              </p:ext>
            </p:extLst>
          </p:nvPr>
        </p:nvGraphicFramePr>
        <p:xfrm>
          <a:off x="476205" y="5186042"/>
          <a:ext cx="8335798" cy="378736"/>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358537">
                  <a:extLst>
                    <a:ext uri="{9D8B030D-6E8A-4147-A177-3AD203B41FA5}">
                      <a16:colId xmlns:a16="http://schemas.microsoft.com/office/drawing/2014/main" val="1762131981"/>
                    </a:ext>
                  </a:extLst>
                </a:gridCol>
                <a:gridCol w="1288473">
                  <a:extLst>
                    <a:ext uri="{9D8B030D-6E8A-4147-A177-3AD203B41FA5}">
                      <a16:colId xmlns:a16="http://schemas.microsoft.com/office/drawing/2014/main" val="445458238"/>
                    </a:ext>
                  </a:extLst>
                </a:gridCol>
                <a:gridCol w="1579930">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2</a:t>
                      </a:r>
                    </a:p>
                  </a:txBody>
                  <a:tcPr/>
                </a:tc>
                <a:tc>
                  <a:txBody>
                    <a:bodyPr/>
                    <a:lstStyle/>
                    <a:p>
                      <a:r>
                        <a:rPr lang="en-US" dirty="0"/>
                        <a:t>Week No:</a:t>
                      </a:r>
                    </a:p>
                  </a:txBody>
                  <a:tcPr/>
                </a:tc>
                <a:tc>
                  <a:txBody>
                    <a:bodyPr/>
                    <a:lstStyle/>
                    <a:p>
                      <a:r>
                        <a:rPr lang="en-US" dirty="0"/>
                        <a:t>2</a:t>
                      </a:r>
                    </a:p>
                  </a:txBody>
                  <a:tcPr/>
                </a:tc>
                <a:tc>
                  <a:txBody>
                    <a:bodyPr/>
                    <a:lstStyle/>
                    <a:p>
                      <a:r>
                        <a:rPr lang="en-US" dirty="0"/>
                        <a:t>Semester:</a:t>
                      </a:r>
                    </a:p>
                  </a:txBody>
                  <a:tcPr/>
                </a:tc>
                <a:tc>
                  <a:txBody>
                    <a:bodyPr/>
                    <a:lstStyle/>
                    <a:p>
                      <a:r>
                        <a:rPr lang="en-US" dirty="0"/>
                        <a:t>spring 21-22</a:t>
                      </a:r>
                    </a:p>
                  </a:txBody>
                  <a:tcPr/>
                </a:tc>
                <a:extLst>
                  <a:ext uri="{0D108BD9-81ED-4DB2-BD59-A6C34878D82A}">
                    <a16:rowId xmlns:a16="http://schemas.microsoft.com/office/drawing/2014/main" val="2197040212"/>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Computer Networks</a:t>
            </a:r>
          </a:p>
          <a:p>
            <a:endParaRPr lang="en-US" dirty="0"/>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5" name="TextBox 4"/>
          <p:cNvSpPr txBox="1"/>
          <p:nvPr/>
        </p:nvSpPr>
        <p:spPr>
          <a:xfrm>
            <a:off x="735007" y="2923309"/>
            <a:ext cx="7495310" cy="2616101"/>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1. Different layers of Protocol</a:t>
            </a:r>
          </a:p>
          <a:p>
            <a:r>
              <a:rPr lang="en-US" sz="3200" dirty="0">
                <a:latin typeface="Times New Roman" panose="02020603050405020304" pitchFamily="18" charset="0"/>
                <a:cs typeface="Times New Roman" panose="02020603050405020304" pitchFamily="18" charset="0"/>
              </a:rPr>
              <a:t>2. Protocol Types</a:t>
            </a:r>
          </a:p>
          <a:p>
            <a:r>
              <a:rPr lang="en-US" sz="3200" dirty="0">
                <a:latin typeface="Times New Roman" panose="02020603050405020304" pitchFamily="18" charset="0"/>
                <a:cs typeface="Times New Roman" panose="02020603050405020304" pitchFamily="18" charset="0"/>
              </a:rPr>
              <a:t>3. HTTP</a:t>
            </a:r>
          </a:p>
          <a:p>
            <a:r>
              <a:rPr lang="en-US" sz="3200" dirty="0">
                <a:latin typeface="Times New Roman" panose="02020603050405020304" pitchFamily="18" charset="0"/>
                <a:cs typeface="Times New Roman" panose="02020603050405020304" pitchFamily="18" charset="0"/>
              </a:rPr>
              <a:t>4. DNS</a:t>
            </a:r>
          </a:p>
          <a:p>
            <a:endParaRPr lang="en-US" dirty="0"/>
          </a:p>
          <a:p>
            <a:pPr marL="342900" indent="-342900">
              <a:buAutoNum type="arabicPeriod"/>
            </a:pPr>
            <a:endParaRPr lang="en-US" dirty="0"/>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504424"/>
            <a:ext cx="7808976" cy="1088136"/>
          </a:xfrm>
        </p:spPr>
        <p:txBody>
          <a:bodyPr>
            <a:normAutofit/>
          </a:bodyPr>
          <a:lstStyle/>
          <a:p>
            <a:r>
              <a:rPr lang="en-US" sz="4000" spc="-215" dirty="0"/>
              <a:t>What </a:t>
            </a:r>
            <a:r>
              <a:rPr lang="en-US" sz="4000" spc="-305" dirty="0"/>
              <a:t>is </a:t>
            </a:r>
            <a:r>
              <a:rPr lang="en-US" sz="4000" spc="-550" dirty="0"/>
              <a:t> </a:t>
            </a:r>
            <a:r>
              <a:rPr lang="en-US" sz="4000" spc="-270" dirty="0"/>
              <a:t>Protocol?	</a:t>
            </a:r>
            <a:endParaRPr lang="en-US" sz="4000" dirty="0"/>
          </a:p>
        </p:txBody>
      </p:sp>
      <p:sp>
        <p:nvSpPr>
          <p:cNvPr id="4" name="object 5"/>
          <p:cNvSpPr txBox="1"/>
          <p:nvPr/>
        </p:nvSpPr>
        <p:spPr>
          <a:xfrm>
            <a:off x="151087" y="2218173"/>
            <a:ext cx="8618840" cy="4634089"/>
          </a:xfrm>
          <a:prstGeom prst="rect">
            <a:avLst/>
          </a:prstGeom>
        </p:spPr>
        <p:txBody>
          <a:bodyPr vert="horz" wrap="square" lIns="0" tIns="43180" rIns="0" bIns="0" rtlCol="0">
            <a:spAutoFit/>
          </a:bodyPr>
          <a:lstStyle/>
          <a:p>
            <a:pPr marL="12700" marR="5080" algn="just">
              <a:lnSpc>
                <a:spcPct val="90000"/>
              </a:lnSpc>
              <a:spcBef>
                <a:spcPts val="340"/>
              </a:spcBef>
            </a:pPr>
            <a:r>
              <a:rPr sz="2000" b="1" spc="-100" dirty="0">
                <a:latin typeface="Trebuchet MS"/>
                <a:cs typeface="Trebuchet MS"/>
              </a:rPr>
              <a:t>Protocol</a:t>
            </a:r>
            <a:r>
              <a:rPr sz="2000" spc="-100" dirty="0">
                <a:latin typeface="Arial"/>
                <a:cs typeface="Arial"/>
              </a:rPr>
              <a:t>: </a:t>
            </a:r>
            <a:endParaRPr lang="en-US" sz="2000" spc="-100" dirty="0">
              <a:latin typeface="Arial"/>
              <a:cs typeface="Arial"/>
            </a:endParaRPr>
          </a:p>
          <a:p>
            <a:pPr marL="355600" marR="5080" indent="-342900" algn="just">
              <a:lnSpc>
                <a:spcPct val="90000"/>
              </a:lnSpc>
              <a:spcBef>
                <a:spcPts val="340"/>
              </a:spcBef>
              <a:buFont typeface="Wingdings" panose="05000000000000000000" pitchFamily="2" charset="2"/>
              <a:buChar char="§"/>
            </a:pPr>
            <a:r>
              <a:rPr sz="2800" spc="-65" dirty="0">
                <a:latin typeface="Times New Roman" panose="02020603050405020304" pitchFamily="18" charset="0"/>
                <a:cs typeface="Times New Roman" panose="02020603050405020304" pitchFamily="18" charset="0"/>
              </a:rPr>
              <a:t>In </a:t>
            </a:r>
            <a:r>
              <a:rPr sz="2800" spc="-55" dirty="0">
                <a:latin typeface="Times New Roman" panose="02020603050405020304" pitchFamily="18" charset="0"/>
                <a:cs typeface="Times New Roman" panose="02020603050405020304" pitchFamily="18" charset="0"/>
              </a:rPr>
              <a:t>computer </a:t>
            </a:r>
            <a:r>
              <a:rPr sz="2800" spc="-65" dirty="0">
                <a:latin typeface="Times New Roman" panose="02020603050405020304" pitchFamily="18" charset="0"/>
                <a:cs typeface="Times New Roman" panose="02020603050405020304" pitchFamily="18" charset="0"/>
              </a:rPr>
              <a:t>networks, communication </a:t>
            </a:r>
            <a:r>
              <a:rPr sz="2800" spc="-114" dirty="0">
                <a:latin typeface="Times New Roman" panose="02020603050405020304" pitchFamily="18" charset="0"/>
                <a:cs typeface="Times New Roman" panose="02020603050405020304" pitchFamily="18" charset="0"/>
              </a:rPr>
              <a:t>occurs </a:t>
            </a:r>
            <a:r>
              <a:rPr sz="2800" spc="-60" dirty="0">
                <a:latin typeface="Times New Roman" panose="02020603050405020304" pitchFamily="18" charset="0"/>
                <a:cs typeface="Times New Roman" panose="02020603050405020304" pitchFamily="18" charset="0"/>
              </a:rPr>
              <a:t>between </a:t>
            </a:r>
            <a:r>
              <a:rPr sz="2800" spc="-35" dirty="0">
                <a:latin typeface="Times New Roman" panose="02020603050405020304" pitchFamily="18" charset="0"/>
                <a:cs typeface="Times New Roman" panose="02020603050405020304" pitchFamily="18" charset="0"/>
              </a:rPr>
              <a:t>entities </a:t>
            </a:r>
            <a:r>
              <a:rPr sz="2800" spc="-25" dirty="0">
                <a:latin typeface="Times New Roman" panose="02020603050405020304" pitchFamily="18" charset="0"/>
                <a:cs typeface="Times New Roman" panose="02020603050405020304" pitchFamily="18" charset="0"/>
              </a:rPr>
              <a:t>in different </a:t>
            </a:r>
            <a:r>
              <a:rPr sz="2800" spc="-125" dirty="0">
                <a:latin typeface="Times New Roman" panose="02020603050405020304" pitchFamily="18" charset="0"/>
                <a:cs typeface="Times New Roman" panose="02020603050405020304" pitchFamily="18" charset="0"/>
              </a:rPr>
              <a:t>systems.  </a:t>
            </a:r>
            <a:endParaRPr lang="en-US" sz="2800" spc="-125" dirty="0">
              <a:latin typeface="Times New Roman" panose="02020603050405020304" pitchFamily="18" charset="0"/>
              <a:cs typeface="Times New Roman" panose="02020603050405020304" pitchFamily="18" charset="0"/>
            </a:endParaRPr>
          </a:p>
          <a:p>
            <a:pPr marL="355600" marR="5080" indent="-342900" algn="just">
              <a:lnSpc>
                <a:spcPct val="90000"/>
              </a:lnSpc>
              <a:spcBef>
                <a:spcPts val="340"/>
              </a:spcBef>
              <a:buFont typeface="Wingdings" panose="05000000000000000000" pitchFamily="2" charset="2"/>
              <a:buChar char="§"/>
            </a:pPr>
            <a:r>
              <a:rPr sz="2800" spc="-110" dirty="0">
                <a:latin typeface="Times New Roman" panose="02020603050405020304" pitchFamily="18" charset="0"/>
                <a:cs typeface="Times New Roman" panose="02020603050405020304" pitchFamily="18" charset="0"/>
              </a:rPr>
              <a:t>However, </a:t>
            </a:r>
            <a:r>
              <a:rPr sz="2800" spc="5" dirty="0">
                <a:highlight>
                  <a:srgbClr val="FFFF00"/>
                </a:highlight>
                <a:latin typeface="Times New Roman" panose="02020603050405020304" pitchFamily="18" charset="0"/>
                <a:cs typeface="Times New Roman" panose="02020603050405020304" pitchFamily="18" charset="0"/>
              </a:rPr>
              <a:t>two </a:t>
            </a:r>
            <a:r>
              <a:rPr sz="2800" spc="-35" dirty="0">
                <a:highlight>
                  <a:srgbClr val="FFFF00"/>
                </a:highlight>
                <a:latin typeface="Times New Roman" panose="02020603050405020304" pitchFamily="18" charset="0"/>
                <a:cs typeface="Times New Roman" panose="02020603050405020304" pitchFamily="18" charset="0"/>
              </a:rPr>
              <a:t>entities </a:t>
            </a:r>
            <a:r>
              <a:rPr sz="2800" spc="-125" dirty="0">
                <a:highlight>
                  <a:srgbClr val="FFFF00"/>
                </a:highlight>
                <a:latin typeface="Times New Roman" panose="02020603050405020304" pitchFamily="18" charset="0"/>
                <a:cs typeface="Times New Roman" panose="02020603050405020304" pitchFamily="18" charset="0"/>
              </a:rPr>
              <a:t>can </a:t>
            </a:r>
            <a:r>
              <a:rPr sz="2800" spc="-5" dirty="0">
                <a:highlight>
                  <a:srgbClr val="FFFF00"/>
                </a:highlight>
                <a:latin typeface="Times New Roman" panose="02020603050405020304" pitchFamily="18" charset="0"/>
                <a:cs typeface="Times New Roman" panose="02020603050405020304" pitchFamily="18" charset="0"/>
              </a:rPr>
              <a:t>not </a:t>
            </a:r>
            <a:r>
              <a:rPr sz="2800" spc="-75" dirty="0">
                <a:highlight>
                  <a:srgbClr val="FFFF00"/>
                </a:highlight>
                <a:latin typeface="Times New Roman" panose="02020603050405020304" pitchFamily="18" charset="0"/>
                <a:cs typeface="Times New Roman" panose="02020603050405020304" pitchFamily="18" charset="0"/>
              </a:rPr>
              <a:t>simply </a:t>
            </a:r>
            <a:r>
              <a:rPr sz="2800" spc="-120" dirty="0">
                <a:highlight>
                  <a:srgbClr val="FFFF00"/>
                </a:highlight>
                <a:latin typeface="Times New Roman" panose="02020603050405020304" pitchFamily="18" charset="0"/>
                <a:cs typeface="Times New Roman" panose="02020603050405020304" pitchFamily="18" charset="0"/>
              </a:rPr>
              <a:t>send </a:t>
            </a:r>
            <a:r>
              <a:rPr sz="2800" spc="20" dirty="0">
                <a:highlight>
                  <a:srgbClr val="FFFF00"/>
                </a:highlight>
                <a:latin typeface="Times New Roman" panose="02020603050405020304" pitchFamily="18" charset="0"/>
                <a:cs typeface="Times New Roman" panose="02020603050405020304" pitchFamily="18" charset="0"/>
              </a:rPr>
              <a:t>bit </a:t>
            </a:r>
            <a:r>
              <a:rPr sz="2800" spc="-100" dirty="0">
                <a:highlight>
                  <a:srgbClr val="FFFF00"/>
                </a:highlight>
                <a:latin typeface="Times New Roman" panose="02020603050405020304" pitchFamily="18" charset="0"/>
                <a:cs typeface="Times New Roman" panose="02020603050405020304" pitchFamily="18" charset="0"/>
              </a:rPr>
              <a:t>streams </a:t>
            </a:r>
            <a:r>
              <a:rPr sz="2800" spc="15" dirty="0">
                <a:highlight>
                  <a:srgbClr val="FFFF00"/>
                </a:highlight>
                <a:latin typeface="Times New Roman" panose="02020603050405020304" pitchFamily="18" charset="0"/>
                <a:cs typeface="Times New Roman" panose="02020603050405020304" pitchFamily="18" charset="0"/>
              </a:rPr>
              <a:t>to </a:t>
            </a:r>
            <a:r>
              <a:rPr sz="2800" spc="-120" dirty="0">
                <a:highlight>
                  <a:srgbClr val="FFFF00"/>
                </a:highlight>
                <a:latin typeface="Times New Roman" panose="02020603050405020304" pitchFamily="18" charset="0"/>
                <a:cs typeface="Times New Roman" panose="02020603050405020304" pitchFamily="18" charset="0"/>
              </a:rPr>
              <a:t>each </a:t>
            </a:r>
            <a:r>
              <a:rPr sz="2800" spc="-25" dirty="0">
                <a:highlight>
                  <a:srgbClr val="FFFF00"/>
                </a:highlight>
                <a:latin typeface="Times New Roman" panose="02020603050405020304" pitchFamily="18" charset="0"/>
                <a:cs typeface="Times New Roman" panose="02020603050405020304" pitchFamily="18" charset="0"/>
              </a:rPr>
              <a:t>other</a:t>
            </a:r>
            <a:r>
              <a:rPr sz="2800" spc="-25" dirty="0">
                <a:latin typeface="Times New Roman" panose="02020603050405020304" pitchFamily="18" charset="0"/>
                <a:cs typeface="Times New Roman" panose="02020603050405020304" pitchFamily="18" charset="0"/>
              </a:rPr>
              <a:t> </a:t>
            </a:r>
            <a:r>
              <a:rPr sz="2800" spc="-95" dirty="0">
                <a:latin typeface="Times New Roman" panose="02020603050405020304" pitchFamily="18" charset="0"/>
                <a:cs typeface="Times New Roman" panose="02020603050405020304" pitchFamily="18" charset="0"/>
              </a:rPr>
              <a:t>and </a:t>
            </a:r>
            <a:r>
              <a:rPr sz="2800" spc="-90" dirty="0">
                <a:latin typeface="Times New Roman" panose="02020603050405020304" pitchFamily="18" charset="0"/>
                <a:cs typeface="Times New Roman" panose="02020603050405020304" pitchFamily="18" charset="0"/>
              </a:rPr>
              <a:t>expect </a:t>
            </a:r>
            <a:r>
              <a:rPr sz="2800" spc="15" dirty="0">
                <a:latin typeface="Times New Roman" panose="02020603050405020304" pitchFamily="18" charset="0"/>
                <a:cs typeface="Times New Roman" panose="02020603050405020304" pitchFamily="18" charset="0"/>
              </a:rPr>
              <a:t>to </a:t>
            </a:r>
            <a:r>
              <a:rPr sz="2800" spc="-90" dirty="0">
                <a:latin typeface="Times New Roman" panose="02020603050405020304" pitchFamily="18" charset="0"/>
                <a:cs typeface="Times New Roman" panose="02020603050405020304" pitchFamily="18" charset="0"/>
              </a:rPr>
              <a:t>be  </a:t>
            </a:r>
            <a:r>
              <a:rPr sz="2800" spc="-65" dirty="0">
                <a:latin typeface="Times New Roman" panose="02020603050405020304" pitchFamily="18" charset="0"/>
                <a:cs typeface="Times New Roman" panose="02020603050405020304" pitchFamily="18" charset="0"/>
              </a:rPr>
              <a:t>understood. </a:t>
            </a:r>
            <a:endParaRPr lang="en-US" sz="2800" spc="-65" dirty="0">
              <a:latin typeface="Times New Roman" panose="02020603050405020304" pitchFamily="18" charset="0"/>
              <a:cs typeface="Times New Roman" panose="02020603050405020304" pitchFamily="18" charset="0"/>
            </a:endParaRPr>
          </a:p>
          <a:p>
            <a:pPr marL="355600" marR="5080" indent="-342900" algn="just">
              <a:lnSpc>
                <a:spcPct val="90000"/>
              </a:lnSpc>
              <a:spcBef>
                <a:spcPts val="340"/>
              </a:spcBef>
              <a:buFont typeface="Wingdings" panose="05000000000000000000" pitchFamily="2" charset="2"/>
              <a:buChar char="§"/>
            </a:pPr>
            <a:r>
              <a:rPr sz="2800" spc="-125" dirty="0">
                <a:latin typeface="Times New Roman" panose="02020603050405020304" pitchFamily="18" charset="0"/>
                <a:cs typeface="Times New Roman" panose="02020603050405020304" pitchFamily="18" charset="0"/>
              </a:rPr>
              <a:t>For </a:t>
            </a:r>
            <a:r>
              <a:rPr sz="2800" spc="-65" dirty="0">
                <a:latin typeface="Times New Roman" panose="02020603050405020304" pitchFamily="18" charset="0"/>
                <a:cs typeface="Times New Roman" panose="02020603050405020304" pitchFamily="18" charset="0"/>
              </a:rPr>
              <a:t>communication </a:t>
            </a:r>
            <a:r>
              <a:rPr sz="2800" spc="15" dirty="0">
                <a:latin typeface="Times New Roman" panose="02020603050405020304" pitchFamily="18" charset="0"/>
                <a:cs typeface="Times New Roman" panose="02020603050405020304" pitchFamily="18" charset="0"/>
              </a:rPr>
              <a:t>to </a:t>
            </a:r>
            <a:r>
              <a:rPr sz="2800" spc="-110" dirty="0">
                <a:latin typeface="Times New Roman" panose="02020603050405020304" pitchFamily="18" charset="0"/>
                <a:cs typeface="Times New Roman" panose="02020603050405020304" pitchFamily="18" charset="0"/>
              </a:rPr>
              <a:t>occur, </a:t>
            </a:r>
            <a:r>
              <a:rPr sz="2800" spc="-30" dirty="0">
                <a:highlight>
                  <a:srgbClr val="00FF00"/>
                </a:highlight>
                <a:latin typeface="Times New Roman" panose="02020603050405020304" pitchFamily="18" charset="0"/>
                <a:cs typeface="Times New Roman" panose="02020603050405020304" pitchFamily="18" charset="0"/>
              </a:rPr>
              <a:t>the </a:t>
            </a:r>
            <a:r>
              <a:rPr sz="2800" spc="-35" dirty="0">
                <a:highlight>
                  <a:srgbClr val="00FF00"/>
                </a:highlight>
                <a:latin typeface="Times New Roman" panose="02020603050405020304" pitchFamily="18" charset="0"/>
                <a:cs typeface="Times New Roman" panose="02020603050405020304" pitchFamily="18" charset="0"/>
              </a:rPr>
              <a:t>entities </a:t>
            </a:r>
            <a:r>
              <a:rPr sz="2800" spc="-65" dirty="0">
                <a:highlight>
                  <a:srgbClr val="00FF00"/>
                </a:highlight>
                <a:latin typeface="Times New Roman" panose="02020603050405020304" pitchFamily="18" charset="0"/>
                <a:cs typeface="Times New Roman" panose="02020603050405020304" pitchFamily="18" charset="0"/>
              </a:rPr>
              <a:t>must </a:t>
            </a:r>
            <a:r>
              <a:rPr sz="2800" spc="-110" dirty="0">
                <a:highlight>
                  <a:srgbClr val="00FF00"/>
                </a:highlight>
                <a:latin typeface="Times New Roman" panose="02020603050405020304" pitchFamily="18" charset="0"/>
                <a:cs typeface="Times New Roman" panose="02020603050405020304" pitchFamily="18" charset="0"/>
              </a:rPr>
              <a:t>agree </a:t>
            </a:r>
            <a:r>
              <a:rPr sz="2800" spc="-60" dirty="0">
                <a:highlight>
                  <a:srgbClr val="00FF00"/>
                </a:highlight>
                <a:latin typeface="Times New Roman" panose="02020603050405020304" pitchFamily="18" charset="0"/>
                <a:cs typeface="Times New Roman" panose="02020603050405020304" pitchFamily="18" charset="0"/>
              </a:rPr>
              <a:t>on </a:t>
            </a:r>
            <a:r>
              <a:rPr sz="2800" spc="-155" dirty="0">
                <a:highlight>
                  <a:srgbClr val="00FF00"/>
                </a:highlight>
                <a:latin typeface="Times New Roman" panose="02020603050405020304" pitchFamily="18" charset="0"/>
                <a:cs typeface="Times New Roman" panose="02020603050405020304" pitchFamily="18" charset="0"/>
              </a:rPr>
              <a:t>a </a:t>
            </a:r>
            <a:r>
              <a:rPr sz="2800" spc="-40" dirty="0">
                <a:highlight>
                  <a:srgbClr val="00FF00"/>
                </a:highlight>
                <a:latin typeface="Times New Roman" panose="02020603050405020304" pitchFamily="18" charset="0"/>
                <a:cs typeface="Times New Roman" panose="02020603050405020304" pitchFamily="18" charset="0"/>
              </a:rPr>
              <a:t>protocol. </a:t>
            </a:r>
            <a:endParaRPr lang="en-US" sz="2800" spc="-40" dirty="0">
              <a:highlight>
                <a:srgbClr val="00FF00"/>
              </a:highlight>
              <a:latin typeface="Times New Roman" panose="02020603050405020304" pitchFamily="18" charset="0"/>
              <a:cs typeface="Times New Roman" panose="02020603050405020304" pitchFamily="18" charset="0"/>
            </a:endParaRPr>
          </a:p>
          <a:p>
            <a:pPr marL="355600" marR="5080" indent="-342900" algn="just">
              <a:lnSpc>
                <a:spcPct val="90000"/>
              </a:lnSpc>
              <a:spcBef>
                <a:spcPts val="340"/>
              </a:spcBef>
              <a:buFont typeface="Wingdings" panose="05000000000000000000" pitchFamily="2" charset="2"/>
              <a:buChar char="§"/>
            </a:pPr>
            <a:r>
              <a:rPr sz="2800" spc="-175" dirty="0">
                <a:latin typeface="Times New Roman" panose="02020603050405020304" pitchFamily="18" charset="0"/>
                <a:cs typeface="Times New Roman" panose="02020603050405020304" pitchFamily="18" charset="0"/>
              </a:rPr>
              <a:t>A </a:t>
            </a:r>
            <a:r>
              <a:rPr sz="2800" spc="-40" dirty="0">
                <a:latin typeface="Times New Roman" panose="02020603050405020304" pitchFamily="18" charset="0"/>
                <a:cs typeface="Times New Roman" panose="02020603050405020304" pitchFamily="18" charset="0"/>
              </a:rPr>
              <a:t>protocol </a:t>
            </a:r>
            <a:r>
              <a:rPr sz="2800" spc="-105" dirty="0">
                <a:latin typeface="Times New Roman" panose="02020603050405020304" pitchFamily="18" charset="0"/>
                <a:cs typeface="Times New Roman" panose="02020603050405020304" pitchFamily="18" charset="0"/>
              </a:rPr>
              <a:t>is </a:t>
            </a:r>
            <a:r>
              <a:rPr sz="2800" spc="-155" dirty="0">
                <a:latin typeface="Times New Roman" panose="02020603050405020304" pitchFamily="18" charset="0"/>
                <a:cs typeface="Times New Roman" panose="02020603050405020304" pitchFamily="18" charset="0"/>
              </a:rPr>
              <a:t>a  </a:t>
            </a:r>
            <a:r>
              <a:rPr sz="2800" spc="-85" dirty="0">
                <a:highlight>
                  <a:srgbClr val="00FF00"/>
                </a:highlight>
                <a:latin typeface="Times New Roman" panose="02020603050405020304" pitchFamily="18" charset="0"/>
                <a:cs typeface="Times New Roman" panose="02020603050405020304" pitchFamily="18" charset="0"/>
              </a:rPr>
              <a:t>set </a:t>
            </a:r>
            <a:r>
              <a:rPr sz="2800" spc="-5" dirty="0">
                <a:highlight>
                  <a:srgbClr val="00FF00"/>
                </a:highlight>
                <a:latin typeface="Times New Roman" panose="02020603050405020304" pitchFamily="18" charset="0"/>
                <a:cs typeface="Times New Roman" panose="02020603050405020304" pitchFamily="18" charset="0"/>
              </a:rPr>
              <a:t>of </a:t>
            </a:r>
            <a:r>
              <a:rPr sz="2800" spc="-75" dirty="0">
                <a:highlight>
                  <a:srgbClr val="00FF00"/>
                </a:highlight>
                <a:latin typeface="Times New Roman" panose="02020603050405020304" pitchFamily="18" charset="0"/>
                <a:cs typeface="Times New Roman" panose="02020603050405020304" pitchFamily="18" charset="0"/>
              </a:rPr>
              <a:t>rules </a:t>
            </a:r>
            <a:r>
              <a:rPr sz="2800" dirty="0">
                <a:latin typeface="Times New Roman" panose="02020603050405020304" pitchFamily="18" charset="0"/>
                <a:cs typeface="Times New Roman" panose="02020603050405020304" pitchFamily="18" charset="0"/>
              </a:rPr>
              <a:t>that </a:t>
            </a:r>
            <a:r>
              <a:rPr sz="2800" spc="-90" dirty="0">
                <a:latin typeface="Times New Roman" panose="02020603050405020304" pitchFamily="18" charset="0"/>
                <a:cs typeface="Times New Roman" panose="02020603050405020304" pitchFamily="18" charset="0"/>
              </a:rPr>
              <a:t>govern </a:t>
            </a:r>
            <a:r>
              <a:rPr sz="2800" spc="-80" dirty="0">
                <a:latin typeface="Times New Roman" panose="02020603050405020304" pitchFamily="18" charset="0"/>
                <a:cs typeface="Times New Roman" panose="02020603050405020304" pitchFamily="18" charset="0"/>
              </a:rPr>
              <a:t>data </a:t>
            </a:r>
            <a:r>
              <a:rPr sz="2800" spc="-75" dirty="0">
                <a:latin typeface="Times New Roman" panose="02020603050405020304" pitchFamily="18" charset="0"/>
                <a:cs typeface="Times New Roman" panose="02020603050405020304" pitchFamily="18" charset="0"/>
              </a:rPr>
              <a:t>communications.</a:t>
            </a:r>
            <a:endParaRPr lang="en-US" sz="2800" spc="-75" dirty="0">
              <a:latin typeface="Times New Roman" panose="02020603050405020304" pitchFamily="18" charset="0"/>
              <a:cs typeface="Times New Roman" panose="02020603050405020304" pitchFamily="18" charset="0"/>
            </a:endParaRPr>
          </a:p>
          <a:p>
            <a:pPr marL="355600" marR="5080" indent="-342900" algn="just">
              <a:lnSpc>
                <a:spcPct val="90000"/>
              </a:lnSpc>
              <a:spcBef>
                <a:spcPts val="340"/>
              </a:spcBef>
              <a:buFont typeface="Wingdings" panose="05000000000000000000" pitchFamily="2" charset="2"/>
              <a:buChar char="§"/>
            </a:pPr>
            <a:r>
              <a:rPr sz="2800" spc="-75" dirty="0">
                <a:latin typeface="Times New Roman" panose="02020603050405020304" pitchFamily="18" charset="0"/>
                <a:cs typeface="Times New Roman" panose="02020603050405020304" pitchFamily="18" charset="0"/>
              </a:rPr>
              <a:t> </a:t>
            </a:r>
            <a:r>
              <a:rPr sz="2800" spc="-175" dirty="0">
                <a:latin typeface="Times New Roman" panose="02020603050405020304" pitchFamily="18" charset="0"/>
                <a:cs typeface="Times New Roman" panose="02020603050405020304" pitchFamily="18" charset="0"/>
              </a:rPr>
              <a:t>A </a:t>
            </a:r>
            <a:r>
              <a:rPr sz="2800" spc="-45" dirty="0">
                <a:latin typeface="Times New Roman" panose="02020603050405020304" pitchFamily="18" charset="0"/>
                <a:cs typeface="Times New Roman" panose="02020603050405020304" pitchFamily="18" charset="0"/>
              </a:rPr>
              <a:t>protocol </a:t>
            </a:r>
            <a:r>
              <a:rPr sz="2800" spc="-80" dirty="0">
                <a:latin typeface="Times New Roman" panose="02020603050405020304" pitchFamily="18" charset="0"/>
                <a:cs typeface="Times New Roman" panose="02020603050405020304" pitchFamily="18" charset="0"/>
              </a:rPr>
              <a:t>defines </a:t>
            </a:r>
            <a:r>
              <a:rPr sz="2800" spc="-35" dirty="0">
                <a:highlight>
                  <a:srgbClr val="00FF00"/>
                </a:highlight>
                <a:latin typeface="Times New Roman" panose="02020603050405020304" pitchFamily="18" charset="0"/>
                <a:cs typeface="Times New Roman" panose="02020603050405020304" pitchFamily="18" charset="0"/>
              </a:rPr>
              <a:t>what </a:t>
            </a:r>
            <a:r>
              <a:rPr sz="2800" spc="-105" dirty="0">
                <a:highlight>
                  <a:srgbClr val="00FF00"/>
                </a:highlight>
                <a:latin typeface="Times New Roman" panose="02020603050405020304" pitchFamily="18" charset="0"/>
                <a:cs typeface="Times New Roman" panose="02020603050405020304" pitchFamily="18" charset="0"/>
              </a:rPr>
              <a:t>is </a:t>
            </a:r>
            <a:r>
              <a:rPr sz="2800" spc="-75" dirty="0">
                <a:highlight>
                  <a:srgbClr val="00FF00"/>
                </a:highlight>
                <a:latin typeface="Times New Roman" panose="02020603050405020304" pitchFamily="18" charset="0"/>
                <a:cs typeface="Times New Roman" panose="02020603050405020304" pitchFamily="18" charset="0"/>
              </a:rPr>
              <a:t>communicated, </a:t>
            </a:r>
            <a:r>
              <a:rPr sz="2800" spc="-55" dirty="0">
                <a:highlight>
                  <a:srgbClr val="00FF00"/>
                </a:highlight>
                <a:latin typeface="Times New Roman" panose="02020603050405020304" pitchFamily="18" charset="0"/>
                <a:cs typeface="Times New Roman" panose="02020603050405020304" pitchFamily="18" charset="0"/>
              </a:rPr>
              <a:t>how </a:t>
            </a:r>
            <a:r>
              <a:rPr sz="2800" spc="60" dirty="0">
                <a:highlight>
                  <a:srgbClr val="00FF00"/>
                </a:highlight>
                <a:latin typeface="Times New Roman" panose="02020603050405020304" pitchFamily="18" charset="0"/>
                <a:cs typeface="Times New Roman" panose="02020603050405020304" pitchFamily="18" charset="0"/>
              </a:rPr>
              <a:t>it  </a:t>
            </a:r>
            <a:r>
              <a:rPr sz="2800" spc="-105" dirty="0">
                <a:highlight>
                  <a:srgbClr val="00FF00"/>
                </a:highlight>
                <a:latin typeface="Times New Roman" panose="02020603050405020304" pitchFamily="18" charset="0"/>
                <a:cs typeface="Times New Roman" panose="02020603050405020304" pitchFamily="18" charset="0"/>
              </a:rPr>
              <a:t>is </a:t>
            </a:r>
            <a:r>
              <a:rPr sz="2800" spc="-75" dirty="0">
                <a:highlight>
                  <a:srgbClr val="00FF00"/>
                </a:highlight>
                <a:latin typeface="Times New Roman" panose="02020603050405020304" pitchFamily="18" charset="0"/>
                <a:cs typeface="Times New Roman" panose="02020603050405020304" pitchFamily="18" charset="0"/>
              </a:rPr>
              <a:t>communicated, </a:t>
            </a:r>
            <a:r>
              <a:rPr sz="2800" spc="-95" dirty="0">
                <a:highlight>
                  <a:srgbClr val="00FF00"/>
                </a:highlight>
                <a:latin typeface="Times New Roman" panose="02020603050405020304" pitchFamily="18" charset="0"/>
                <a:cs typeface="Times New Roman" panose="02020603050405020304" pitchFamily="18" charset="0"/>
              </a:rPr>
              <a:t>and </a:t>
            </a:r>
            <a:r>
              <a:rPr sz="2800" spc="-65" dirty="0">
                <a:highlight>
                  <a:srgbClr val="00FF00"/>
                </a:highlight>
                <a:latin typeface="Times New Roman" panose="02020603050405020304" pitchFamily="18" charset="0"/>
                <a:cs typeface="Times New Roman" panose="02020603050405020304" pitchFamily="18" charset="0"/>
              </a:rPr>
              <a:t>when </a:t>
            </a:r>
            <a:r>
              <a:rPr sz="2800" spc="60" dirty="0">
                <a:highlight>
                  <a:srgbClr val="00FF00"/>
                </a:highlight>
                <a:latin typeface="Times New Roman" panose="02020603050405020304" pitchFamily="18" charset="0"/>
                <a:cs typeface="Times New Roman" panose="02020603050405020304" pitchFamily="18" charset="0"/>
              </a:rPr>
              <a:t>it </a:t>
            </a:r>
            <a:r>
              <a:rPr sz="2800" spc="-105" dirty="0">
                <a:highlight>
                  <a:srgbClr val="00FF00"/>
                </a:highlight>
                <a:latin typeface="Times New Roman" panose="02020603050405020304" pitchFamily="18" charset="0"/>
                <a:cs typeface="Times New Roman" panose="02020603050405020304" pitchFamily="18" charset="0"/>
              </a:rPr>
              <a:t>is</a:t>
            </a:r>
            <a:r>
              <a:rPr sz="2800" spc="-355" dirty="0">
                <a:highlight>
                  <a:srgbClr val="00FF00"/>
                </a:highlight>
                <a:latin typeface="Times New Roman" panose="02020603050405020304" pitchFamily="18" charset="0"/>
                <a:cs typeface="Times New Roman" panose="02020603050405020304" pitchFamily="18" charset="0"/>
              </a:rPr>
              <a:t> </a:t>
            </a:r>
            <a:r>
              <a:rPr sz="2800" spc="-75" dirty="0">
                <a:highlight>
                  <a:srgbClr val="00FF00"/>
                </a:highlight>
                <a:latin typeface="Times New Roman" panose="02020603050405020304" pitchFamily="18" charset="0"/>
                <a:cs typeface="Times New Roman" panose="02020603050405020304" pitchFamily="18" charset="0"/>
              </a:rPr>
              <a:t>communicated</a:t>
            </a:r>
            <a:r>
              <a:rPr sz="2800" spc="-75" dirty="0">
                <a:latin typeface="Times New Roman" panose="02020603050405020304" pitchFamily="18" charset="0"/>
                <a:cs typeface="Times New Roman" panose="02020603050405020304" pitchFamily="18" charset="0"/>
              </a:rPr>
              <a:t>.</a:t>
            </a:r>
            <a:endParaRPr sz="2800" dirty="0">
              <a:latin typeface="Times New Roman" panose="02020603050405020304" pitchFamily="18" charset="0"/>
              <a:cs typeface="Times New Roman" panose="02020603050405020304" pitchFamily="18" charset="0"/>
            </a:endParaRPr>
          </a:p>
          <a:p>
            <a:pPr>
              <a:lnSpc>
                <a:spcPct val="100000"/>
              </a:lnSpc>
              <a:spcBef>
                <a:spcPts val="5"/>
              </a:spcBef>
            </a:pPr>
            <a:endParaRPr sz="2100" dirty="0">
              <a:latin typeface="Times New Roman" panose="02020603050405020304" pitchFamily="18" charset="0"/>
              <a:cs typeface="Times New Roman" panose="02020603050405020304" pitchFamily="18" charset="0"/>
            </a:endParaRPr>
          </a:p>
          <a:p>
            <a:pPr marL="12700" algn="just">
              <a:lnSpc>
                <a:spcPct val="100000"/>
              </a:lnSpc>
            </a:pPr>
            <a:r>
              <a:rPr sz="2000" spc="-120" dirty="0">
                <a:latin typeface="Times New Roman" panose="02020603050405020304" pitchFamily="18" charset="0"/>
                <a:cs typeface="Times New Roman" panose="02020603050405020304" pitchFamily="18" charset="0"/>
              </a:rPr>
              <a:t>Example: </a:t>
            </a:r>
            <a:r>
              <a:rPr sz="2000" spc="-265" dirty="0">
                <a:latin typeface="Times New Roman" panose="02020603050405020304" pitchFamily="18" charset="0"/>
                <a:cs typeface="Times New Roman" panose="02020603050405020304" pitchFamily="18" charset="0"/>
              </a:rPr>
              <a:t>HTTP, </a:t>
            </a:r>
            <a:r>
              <a:rPr sz="2000" spc="-295" dirty="0">
                <a:latin typeface="Times New Roman" panose="02020603050405020304" pitchFamily="18" charset="0"/>
                <a:cs typeface="Times New Roman" panose="02020603050405020304" pitchFamily="18" charset="0"/>
              </a:rPr>
              <a:t>FTP, </a:t>
            </a:r>
            <a:r>
              <a:rPr sz="2000" spc="-275" dirty="0">
                <a:latin typeface="Times New Roman" panose="02020603050405020304" pitchFamily="18" charset="0"/>
                <a:cs typeface="Times New Roman" panose="02020603050405020304" pitchFamily="18" charset="0"/>
              </a:rPr>
              <a:t>TCP,IP</a:t>
            </a:r>
            <a:r>
              <a:rPr sz="2000" spc="-265" dirty="0">
                <a:latin typeface="Times New Roman" panose="02020603050405020304" pitchFamily="18" charset="0"/>
                <a:cs typeface="Times New Roman" panose="02020603050405020304" pitchFamily="18" charset="0"/>
              </a:rPr>
              <a:t> </a:t>
            </a:r>
            <a:r>
              <a:rPr sz="2000" spc="-60" dirty="0">
                <a:latin typeface="Times New Roman" panose="02020603050405020304" pitchFamily="18" charset="0"/>
                <a:cs typeface="Times New Roman" panose="02020603050405020304" pitchFamily="18" charset="0"/>
              </a:rPr>
              <a:t>etc.</a:t>
            </a:r>
            <a:endParaRP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2732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504424"/>
            <a:ext cx="7808976" cy="1088136"/>
          </a:xfrm>
        </p:spPr>
        <p:txBody>
          <a:bodyPr>
            <a:normAutofit/>
          </a:bodyPr>
          <a:lstStyle/>
          <a:p>
            <a:r>
              <a:rPr lang="en-US" sz="4000" spc="-175" dirty="0"/>
              <a:t>Different </a:t>
            </a:r>
            <a:r>
              <a:rPr lang="en-US" sz="4000" spc="-440" dirty="0"/>
              <a:t>Layers</a:t>
            </a:r>
            <a:r>
              <a:rPr lang="en-US" sz="4000" spc="-565" dirty="0"/>
              <a:t>  </a:t>
            </a:r>
            <a:r>
              <a:rPr lang="en-US" sz="4000" spc="-245" dirty="0"/>
              <a:t>Protocol</a:t>
            </a:r>
            <a:endParaRPr lang="en-US" sz="4000" dirty="0"/>
          </a:p>
        </p:txBody>
      </p:sp>
      <p:sp>
        <p:nvSpPr>
          <p:cNvPr id="5" name="object 6"/>
          <p:cNvSpPr/>
          <p:nvPr/>
        </p:nvSpPr>
        <p:spPr>
          <a:xfrm>
            <a:off x="1500169" y="2119746"/>
            <a:ext cx="5949696" cy="4009920"/>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958798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504424"/>
            <a:ext cx="7808976" cy="1088136"/>
          </a:xfrm>
        </p:spPr>
        <p:txBody>
          <a:bodyPr>
            <a:normAutofit/>
          </a:bodyPr>
          <a:lstStyle/>
          <a:p>
            <a:r>
              <a:rPr lang="en-US" sz="4000" spc="-245" dirty="0"/>
              <a:t>Protocol</a:t>
            </a:r>
            <a:r>
              <a:rPr lang="en-US" sz="4000" spc="-440" dirty="0"/>
              <a:t>  </a:t>
            </a:r>
            <a:r>
              <a:rPr lang="en-US" sz="4000" spc="-475" dirty="0"/>
              <a:t>Types	</a:t>
            </a:r>
            <a:endParaRPr lang="en-US" sz="4000" dirty="0"/>
          </a:p>
        </p:txBody>
      </p:sp>
      <p:sp>
        <p:nvSpPr>
          <p:cNvPr id="4" name="object 5"/>
          <p:cNvSpPr txBox="1"/>
          <p:nvPr/>
        </p:nvSpPr>
        <p:spPr>
          <a:xfrm>
            <a:off x="115067" y="2330738"/>
            <a:ext cx="8668716" cy="3569182"/>
          </a:xfrm>
          <a:prstGeom prst="rect">
            <a:avLst/>
          </a:prstGeom>
        </p:spPr>
        <p:txBody>
          <a:bodyPr vert="horz" wrap="square" lIns="0" tIns="43180" rIns="0" bIns="0" rtlCol="0">
            <a:spAutoFit/>
          </a:bodyPr>
          <a:lstStyle/>
          <a:p>
            <a:pPr marL="469899" marR="5080" indent="-457200" algn="just">
              <a:lnSpc>
                <a:spcPct val="90000"/>
              </a:lnSpc>
              <a:spcBef>
                <a:spcPts val="340"/>
              </a:spcBef>
              <a:buClr>
                <a:srgbClr val="9DBEBD"/>
              </a:buClr>
              <a:buFont typeface="Wingdings" panose="05000000000000000000" pitchFamily="2" charset="2"/>
              <a:buChar char="§"/>
              <a:tabLst>
                <a:tab pos="271780" algn="l"/>
              </a:tabLst>
            </a:pPr>
            <a:r>
              <a:rPr sz="3200" b="1" spc="-90" dirty="0">
                <a:latin typeface="Times New Roman" panose="02020603050405020304" pitchFamily="18" charset="0"/>
                <a:cs typeface="Times New Roman" panose="02020603050405020304" pitchFamily="18" charset="0"/>
              </a:rPr>
              <a:t>PUSH </a:t>
            </a:r>
            <a:r>
              <a:rPr sz="3200" b="1" spc="-120" dirty="0">
                <a:latin typeface="Times New Roman" panose="02020603050405020304" pitchFamily="18" charset="0"/>
                <a:cs typeface="Times New Roman" panose="02020603050405020304" pitchFamily="18" charset="0"/>
              </a:rPr>
              <a:t>protocol: </a:t>
            </a:r>
            <a:endParaRPr lang="en-US" sz="3200" b="1" spc="-120" dirty="0">
              <a:latin typeface="Times New Roman" panose="02020603050405020304" pitchFamily="18" charset="0"/>
              <a:cs typeface="Times New Roman" panose="02020603050405020304" pitchFamily="18" charset="0"/>
            </a:endParaRPr>
          </a:p>
          <a:p>
            <a:pPr marL="469899" marR="5080" indent="-457200" algn="just">
              <a:lnSpc>
                <a:spcPct val="90000"/>
              </a:lnSpc>
              <a:spcBef>
                <a:spcPts val="340"/>
              </a:spcBef>
              <a:buClr>
                <a:srgbClr val="9DBEBD"/>
              </a:buClr>
              <a:buFont typeface="Wingdings" panose="05000000000000000000" pitchFamily="2" charset="2"/>
              <a:buChar char="§"/>
              <a:tabLst>
                <a:tab pos="271780" algn="l"/>
              </a:tabLst>
            </a:pPr>
            <a:r>
              <a:rPr sz="3200" spc="-65" dirty="0">
                <a:latin typeface="Times New Roman" panose="02020603050405020304" pitchFamily="18" charset="0"/>
                <a:cs typeface="Times New Roman" panose="02020603050405020304" pitchFamily="18" charset="0"/>
              </a:rPr>
              <a:t>In </a:t>
            </a:r>
            <a:r>
              <a:rPr sz="3200" spc="-100" dirty="0">
                <a:latin typeface="Times New Roman" panose="02020603050405020304" pitchFamily="18" charset="0"/>
                <a:cs typeface="Times New Roman" panose="02020603050405020304" pitchFamily="18" charset="0"/>
              </a:rPr>
              <a:t>push </a:t>
            </a:r>
            <a:r>
              <a:rPr sz="3200" spc="-65" dirty="0">
                <a:latin typeface="Times New Roman" panose="02020603050405020304" pitchFamily="18" charset="0"/>
                <a:cs typeface="Times New Roman" panose="02020603050405020304" pitchFamily="18" charset="0"/>
              </a:rPr>
              <a:t>protocols, </a:t>
            </a:r>
            <a:r>
              <a:rPr sz="3200" spc="-20" dirty="0">
                <a:latin typeface="Times New Roman" panose="02020603050405020304" pitchFamily="18" charset="0"/>
                <a:cs typeface="Times New Roman" panose="02020603050405020304" pitchFamily="18" charset="0"/>
              </a:rPr>
              <a:t>the </a:t>
            </a:r>
            <a:r>
              <a:rPr sz="3200" spc="-35" dirty="0">
                <a:highlight>
                  <a:srgbClr val="00FF00"/>
                </a:highlight>
                <a:latin typeface="Times New Roman" panose="02020603050405020304" pitchFamily="18" charset="0"/>
                <a:cs typeface="Times New Roman" panose="02020603050405020304" pitchFamily="18" charset="0"/>
              </a:rPr>
              <a:t>client </a:t>
            </a:r>
            <a:r>
              <a:rPr sz="3200" spc="-110" dirty="0">
                <a:highlight>
                  <a:srgbClr val="00FF00"/>
                </a:highlight>
                <a:latin typeface="Times New Roman" panose="02020603050405020304" pitchFamily="18" charset="0"/>
                <a:cs typeface="Times New Roman" panose="02020603050405020304" pitchFamily="18" charset="0"/>
              </a:rPr>
              <a:t>opens </a:t>
            </a:r>
            <a:r>
              <a:rPr sz="3200" spc="-155" dirty="0">
                <a:highlight>
                  <a:srgbClr val="00FF00"/>
                </a:highlight>
                <a:latin typeface="Times New Roman" panose="02020603050405020304" pitchFamily="18" charset="0"/>
                <a:cs typeface="Times New Roman" panose="02020603050405020304" pitchFamily="18" charset="0"/>
              </a:rPr>
              <a:t>a </a:t>
            </a:r>
            <a:r>
              <a:rPr sz="3200" spc="-65" dirty="0">
                <a:highlight>
                  <a:srgbClr val="00FF00"/>
                </a:highlight>
                <a:latin typeface="Times New Roman" panose="02020603050405020304" pitchFamily="18" charset="0"/>
                <a:cs typeface="Times New Roman" panose="02020603050405020304" pitchFamily="18" charset="0"/>
              </a:rPr>
              <a:t>connection </a:t>
            </a:r>
            <a:r>
              <a:rPr sz="3200" spc="15" dirty="0">
                <a:highlight>
                  <a:srgbClr val="00FF00"/>
                </a:highlight>
                <a:latin typeface="Times New Roman" panose="02020603050405020304" pitchFamily="18" charset="0"/>
                <a:cs typeface="Times New Roman" panose="02020603050405020304" pitchFamily="18" charset="0"/>
              </a:rPr>
              <a:t>to </a:t>
            </a:r>
            <a:r>
              <a:rPr sz="3200" spc="-25" dirty="0">
                <a:highlight>
                  <a:srgbClr val="00FF00"/>
                </a:highlight>
                <a:latin typeface="Times New Roman" panose="02020603050405020304" pitchFamily="18" charset="0"/>
                <a:cs typeface="Times New Roman" panose="02020603050405020304" pitchFamily="18" charset="0"/>
              </a:rPr>
              <a:t>the </a:t>
            </a:r>
            <a:r>
              <a:rPr sz="3200" spc="-85" dirty="0">
                <a:highlight>
                  <a:srgbClr val="00FF00"/>
                </a:highlight>
                <a:latin typeface="Times New Roman" panose="02020603050405020304" pitchFamily="18" charset="0"/>
                <a:cs typeface="Times New Roman" panose="02020603050405020304" pitchFamily="18" charset="0"/>
              </a:rPr>
              <a:t>server </a:t>
            </a:r>
            <a:r>
              <a:rPr sz="3200" spc="-95" dirty="0">
                <a:highlight>
                  <a:srgbClr val="00FF00"/>
                </a:highlight>
                <a:latin typeface="Times New Roman" panose="02020603050405020304" pitchFamily="18" charset="0"/>
                <a:cs typeface="Times New Roman" panose="02020603050405020304" pitchFamily="18" charset="0"/>
              </a:rPr>
              <a:t>and </a:t>
            </a:r>
            <a:r>
              <a:rPr sz="3200" spc="-140" dirty="0">
                <a:highlight>
                  <a:srgbClr val="00FF00"/>
                </a:highlight>
                <a:latin typeface="Times New Roman" panose="02020603050405020304" pitchFamily="18" charset="0"/>
                <a:cs typeface="Times New Roman" panose="02020603050405020304" pitchFamily="18" charset="0"/>
              </a:rPr>
              <a:t>keeps </a:t>
            </a:r>
            <a:r>
              <a:rPr sz="3200" spc="60" dirty="0">
                <a:highlight>
                  <a:srgbClr val="00FF00"/>
                </a:highlight>
                <a:latin typeface="Times New Roman" panose="02020603050405020304" pitchFamily="18" charset="0"/>
                <a:cs typeface="Times New Roman" panose="02020603050405020304" pitchFamily="18" charset="0"/>
              </a:rPr>
              <a:t>it  </a:t>
            </a:r>
            <a:r>
              <a:rPr sz="3200" spc="-65" dirty="0">
                <a:highlight>
                  <a:srgbClr val="00FF00"/>
                </a:highlight>
                <a:latin typeface="Times New Roman" panose="02020603050405020304" pitchFamily="18" charset="0"/>
                <a:cs typeface="Times New Roman" panose="02020603050405020304" pitchFamily="18" charset="0"/>
              </a:rPr>
              <a:t>constantly </a:t>
            </a:r>
            <a:r>
              <a:rPr sz="3200" spc="-70" dirty="0">
                <a:highlight>
                  <a:srgbClr val="00FF00"/>
                </a:highlight>
                <a:latin typeface="Times New Roman" panose="02020603050405020304" pitchFamily="18" charset="0"/>
                <a:cs typeface="Times New Roman" panose="02020603050405020304" pitchFamily="18" charset="0"/>
              </a:rPr>
              <a:t>active</a:t>
            </a:r>
            <a:r>
              <a:rPr sz="3200" spc="-70" dirty="0">
                <a:latin typeface="Times New Roman" panose="02020603050405020304" pitchFamily="18" charset="0"/>
                <a:cs typeface="Times New Roman" panose="02020603050405020304" pitchFamily="18" charset="0"/>
              </a:rPr>
              <a:t>. </a:t>
            </a:r>
            <a:endParaRPr lang="en-US" sz="3200" spc="-70" dirty="0">
              <a:latin typeface="Times New Roman" panose="02020603050405020304" pitchFamily="18" charset="0"/>
              <a:cs typeface="Times New Roman" panose="02020603050405020304" pitchFamily="18" charset="0"/>
            </a:endParaRPr>
          </a:p>
          <a:p>
            <a:pPr marL="469899" marR="5080" indent="-457200" algn="just">
              <a:lnSpc>
                <a:spcPct val="90000"/>
              </a:lnSpc>
              <a:spcBef>
                <a:spcPts val="340"/>
              </a:spcBef>
              <a:buClr>
                <a:srgbClr val="9DBEBD"/>
              </a:buClr>
              <a:buFont typeface="Wingdings" panose="05000000000000000000" pitchFamily="2" charset="2"/>
              <a:buChar char="§"/>
              <a:tabLst>
                <a:tab pos="271780" algn="l"/>
              </a:tabLst>
            </a:pPr>
            <a:r>
              <a:rPr sz="3200" spc="-145" dirty="0">
                <a:latin typeface="Times New Roman" panose="02020603050405020304" pitchFamily="18" charset="0"/>
                <a:cs typeface="Times New Roman" panose="02020603050405020304" pitchFamily="18" charset="0"/>
              </a:rPr>
              <a:t>The </a:t>
            </a:r>
            <a:r>
              <a:rPr sz="3200" spc="-85" dirty="0">
                <a:latin typeface="Times New Roman" panose="02020603050405020304" pitchFamily="18" charset="0"/>
                <a:cs typeface="Times New Roman" panose="02020603050405020304" pitchFamily="18" charset="0"/>
              </a:rPr>
              <a:t>server </a:t>
            </a:r>
            <a:r>
              <a:rPr sz="3200" spc="5" dirty="0">
                <a:highlight>
                  <a:srgbClr val="00FFFF"/>
                </a:highlight>
                <a:latin typeface="Times New Roman" panose="02020603050405020304" pitchFamily="18" charset="0"/>
                <a:cs typeface="Times New Roman" panose="02020603050405020304" pitchFamily="18" charset="0"/>
              </a:rPr>
              <a:t>will </a:t>
            </a:r>
            <a:r>
              <a:rPr sz="3200" spc="-114" dirty="0">
                <a:highlight>
                  <a:srgbClr val="00FFFF"/>
                </a:highlight>
                <a:latin typeface="Times New Roman" panose="02020603050405020304" pitchFamily="18" charset="0"/>
                <a:cs typeface="Times New Roman" panose="02020603050405020304" pitchFamily="18" charset="0"/>
              </a:rPr>
              <a:t>send </a:t>
            </a:r>
            <a:r>
              <a:rPr sz="3200" spc="-90" dirty="0">
                <a:highlight>
                  <a:srgbClr val="00FFFF"/>
                </a:highlight>
                <a:latin typeface="Times New Roman" panose="02020603050405020304" pitchFamily="18" charset="0"/>
                <a:cs typeface="Times New Roman" panose="02020603050405020304" pitchFamily="18" charset="0"/>
              </a:rPr>
              <a:t>(push) </a:t>
            </a:r>
            <a:r>
              <a:rPr sz="3200" spc="-45" dirty="0">
                <a:highlight>
                  <a:srgbClr val="00FFFF"/>
                </a:highlight>
                <a:latin typeface="Times New Roman" panose="02020603050405020304" pitchFamily="18" charset="0"/>
                <a:cs typeface="Times New Roman" panose="02020603050405020304" pitchFamily="18" charset="0"/>
              </a:rPr>
              <a:t>all </a:t>
            </a:r>
            <a:r>
              <a:rPr sz="3200" spc="-75" dirty="0">
                <a:highlight>
                  <a:srgbClr val="00FFFF"/>
                </a:highlight>
                <a:latin typeface="Times New Roman" panose="02020603050405020304" pitchFamily="18" charset="0"/>
                <a:cs typeface="Times New Roman" panose="02020603050405020304" pitchFamily="18" charset="0"/>
              </a:rPr>
              <a:t>new </a:t>
            </a:r>
            <a:r>
              <a:rPr sz="3200" spc="-95" dirty="0">
                <a:highlight>
                  <a:srgbClr val="00FFFF"/>
                </a:highlight>
                <a:latin typeface="Times New Roman" panose="02020603050405020304" pitchFamily="18" charset="0"/>
                <a:cs typeface="Times New Roman" panose="02020603050405020304" pitchFamily="18" charset="0"/>
              </a:rPr>
              <a:t>events </a:t>
            </a:r>
            <a:r>
              <a:rPr sz="3200" spc="15" dirty="0">
                <a:highlight>
                  <a:srgbClr val="00FFFF"/>
                </a:highlight>
                <a:latin typeface="Times New Roman" panose="02020603050405020304" pitchFamily="18" charset="0"/>
                <a:cs typeface="Times New Roman" panose="02020603050405020304" pitchFamily="18" charset="0"/>
              </a:rPr>
              <a:t>to </a:t>
            </a:r>
            <a:r>
              <a:rPr sz="3200" spc="-20" dirty="0">
                <a:highlight>
                  <a:srgbClr val="00FFFF"/>
                </a:highlight>
                <a:latin typeface="Times New Roman" panose="02020603050405020304" pitchFamily="18" charset="0"/>
                <a:cs typeface="Times New Roman" panose="02020603050405020304" pitchFamily="18" charset="0"/>
              </a:rPr>
              <a:t>the </a:t>
            </a:r>
            <a:r>
              <a:rPr sz="3200" spc="-40" dirty="0">
                <a:highlight>
                  <a:srgbClr val="00FFFF"/>
                </a:highlight>
                <a:latin typeface="Times New Roman" panose="02020603050405020304" pitchFamily="18" charset="0"/>
                <a:cs typeface="Times New Roman" panose="02020603050405020304" pitchFamily="18" charset="0"/>
              </a:rPr>
              <a:t>client </a:t>
            </a:r>
            <a:r>
              <a:rPr sz="3200" spc="-100" dirty="0">
                <a:highlight>
                  <a:srgbClr val="00FFFF"/>
                </a:highlight>
                <a:latin typeface="Times New Roman" panose="02020603050405020304" pitchFamily="18" charset="0"/>
                <a:cs typeface="Times New Roman" panose="02020603050405020304" pitchFamily="18" charset="0"/>
              </a:rPr>
              <a:t>using </a:t>
            </a:r>
            <a:r>
              <a:rPr sz="3200" spc="-5" dirty="0">
                <a:highlight>
                  <a:srgbClr val="00FFFF"/>
                </a:highlight>
                <a:latin typeface="Times New Roman" panose="02020603050405020304" pitchFamily="18" charset="0"/>
                <a:cs typeface="Times New Roman" panose="02020603050405020304" pitchFamily="18" charset="0"/>
              </a:rPr>
              <a:t>that  </a:t>
            </a:r>
            <a:r>
              <a:rPr sz="3200" spc="-95" dirty="0">
                <a:highlight>
                  <a:srgbClr val="00FFFF"/>
                </a:highlight>
                <a:latin typeface="Times New Roman" panose="02020603050405020304" pitchFamily="18" charset="0"/>
                <a:cs typeface="Times New Roman" panose="02020603050405020304" pitchFamily="18" charset="0"/>
              </a:rPr>
              <a:t>single </a:t>
            </a:r>
            <a:r>
              <a:rPr sz="3200" spc="-100" dirty="0">
                <a:highlight>
                  <a:srgbClr val="00FFFF"/>
                </a:highlight>
                <a:latin typeface="Times New Roman" panose="02020603050405020304" pitchFamily="18" charset="0"/>
                <a:cs typeface="Times New Roman" panose="02020603050405020304" pitchFamily="18" charset="0"/>
              </a:rPr>
              <a:t>always-on </a:t>
            </a:r>
            <a:r>
              <a:rPr sz="3200" spc="-65" dirty="0">
                <a:highlight>
                  <a:srgbClr val="00FFFF"/>
                </a:highlight>
                <a:latin typeface="Times New Roman" panose="02020603050405020304" pitchFamily="18" charset="0"/>
                <a:cs typeface="Times New Roman" panose="02020603050405020304" pitchFamily="18" charset="0"/>
              </a:rPr>
              <a:t>connection</a:t>
            </a:r>
            <a:r>
              <a:rPr sz="3200" spc="-65" dirty="0">
                <a:latin typeface="Times New Roman" panose="02020603050405020304" pitchFamily="18" charset="0"/>
                <a:cs typeface="Times New Roman" panose="02020603050405020304" pitchFamily="18" charset="0"/>
              </a:rPr>
              <a:t>. </a:t>
            </a:r>
            <a:endParaRPr lang="en-US" sz="3200" spc="-65" dirty="0">
              <a:latin typeface="Times New Roman" panose="02020603050405020304" pitchFamily="18" charset="0"/>
              <a:cs typeface="Times New Roman" panose="02020603050405020304" pitchFamily="18" charset="0"/>
            </a:endParaRPr>
          </a:p>
          <a:p>
            <a:pPr marL="469899" marR="5080" indent="-457200" algn="just">
              <a:lnSpc>
                <a:spcPct val="90000"/>
              </a:lnSpc>
              <a:spcBef>
                <a:spcPts val="340"/>
              </a:spcBef>
              <a:buClr>
                <a:srgbClr val="9DBEBD"/>
              </a:buClr>
              <a:buFont typeface="Wingdings" panose="05000000000000000000" pitchFamily="2" charset="2"/>
              <a:buChar char="§"/>
              <a:tabLst>
                <a:tab pos="271780" algn="l"/>
              </a:tabLst>
            </a:pPr>
            <a:r>
              <a:rPr sz="3200" spc="-65" dirty="0">
                <a:latin typeface="Times New Roman" panose="02020603050405020304" pitchFamily="18" charset="0"/>
                <a:cs typeface="Times New Roman" panose="02020603050405020304" pitchFamily="18" charset="0"/>
              </a:rPr>
              <a:t>In </a:t>
            </a:r>
            <a:r>
              <a:rPr sz="3200" spc="-25" dirty="0">
                <a:latin typeface="Times New Roman" panose="02020603050405020304" pitchFamily="18" charset="0"/>
                <a:cs typeface="Times New Roman" panose="02020603050405020304" pitchFamily="18" charset="0"/>
              </a:rPr>
              <a:t>other </a:t>
            </a:r>
            <a:r>
              <a:rPr sz="3200" spc="-80" dirty="0">
                <a:latin typeface="Times New Roman" panose="02020603050405020304" pitchFamily="18" charset="0"/>
                <a:cs typeface="Times New Roman" panose="02020603050405020304" pitchFamily="18" charset="0"/>
              </a:rPr>
              <a:t>words, </a:t>
            </a:r>
            <a:r>
              <a:rPr sz="3200" spc="-20" dirty="0">
                <a:highlight>
                  <a:srgbClr val="FFFF00"/>
                </a:highlight>
                <a:latin typeface="Times New Roman" panose="02020603050405020304" pitchFamily="18" charset="0"/>
                <a:cs typeface="Times New Roman" panose="02020603050405020304" pitchFamily="18" charset="0"/>
              </a:rPr>
              <a:t>the </a:t>
            </a:r>
            <a:r>
              <a:rPr sz="3200" spc="-85" dirty="0">
                <a:highlight>
                  <a:srgbClr val="FFFF00"/>
                </a:highlight>
                <a:latin typeface="Times New Roman" panose="02020603050405020304" pitchFamily="18" charset="0"/>
                <a:cs typeface="Times New Roman" panose="02020603050405020304" pitchFamily="18" charset="0"/>
              </a:rPr>
              <a:t>server </a:t>
            </a:r>
            <a:r>
              <a:rPr sz="3200" spc="-235" dirty="0">
                <a:highlight>
                  <a:srgbClr val="FFFF00"/>
                </a:highlight>
                <a:latin typeface="Times New Roman" panose="02020603050405020304" pitchFamily="18" charset="0"/>
                <a:cs typeface="Times New Roman" panose="02020603050405020304" pitchFamily="18" charset="0"/>
              </a:rPr>
              <a:t>PUSHes </a:t>
            </a:r>
            <a:r>
              <a:rPr sz="3200" spc="-20" dirty="0">
                <a:highlight>
                  <a:srgbClr val="FFFF00"/>
                </a:highlight>
                <a:latin typeface="Times New Roman" panose="02020603050405020304" pitchFamily="18" charset="0"/>
                <a:cs typeface="Times New Roman" panose="02020603050405020304" pitchFamily="18" charset="0"/>
              </a:rPr>
              <a:t>the </a:t>
            </a:r>
            <a:r>
              <a:rPr sz="3200" spc="-70" dirty="0">
                <a:highlight>
                  <a:srgbClr val="FFFF00"/>
                </a:highlight>
                <a:latin typeface="Times New Roman" panose="02020603050405020304" pitchFamily="18" charset="0"/>
                <a:cs typeface="Times New Roman" panose="02020603050405020304" pitchFamily="18" charset="0"/>
              </a:rPr>
              <a:t>new </a:t>
            </a:r>
            <a:r>
              <a:rPr sz="3200" spc="-95" dirty="0">
                <a:highlight>
                  <a:srgbClr val="FFFF00"/>
                </a:highlight>
                <a:latin typeface="Times New Roman" panose="02020603050405020304" pitchFamily="18" charset="0"/>
                <a:cs typeface="Times New Roman" panose="02020603050405020304" pitchFamily="18" charset="0"/>
              </a:rPr>
              <a:t>events </a:t>
            </a:r>
            <a:r>
              <a:rPr sz="3200" spc="15" dirty="0">
                <a:highlight>
                  <a:srgbClr val="FFFF00"/>
                </a:highlight>
                <a:latin typeface="Times New Roman" panose="02020603050405020304" pitchFamily="18" charset="0"/>
                <a:cs typeface="Times New Roman" panose="02020603050405020304" pitchFamily="18" charset="0"/>
              </a:rPr>
              <a:t>to </a:t>
            </a:r>
            <a:r>
              <a:rPr sz="3200" spc="-20" dirty="0">
                <a:highlight>
                  <a:srgbClr val="FFFF00"/>
                </a:highlight>
                <a:latin typeface="Times New Roman" panose="02020603050405020304" pitchFamily="18" charset="0"/>
                <a:cs typeface="Times New Roman" panose="02020603050405020304" pitchFamily="18" charset="0"/>
              </a:rPr>
              <a:t>the </a:t>
            </a:r>
            <a:r>
              <a:rPr sz="3200" spc="-40" dirty="0">
                <a:highlight>
                  <a:srgbClr val="FFFF00"/>
                </a:highlight>
                <a:latin typeface="Times New Roman" panose="02020603050405020304" pitchFamily="18" charset="0"/>
                <a:cs typeface="Times New Roman" panose="02020603050405020304" pitchFamily="18" charset="0"/>
              </a:rPr>
              <a:t>client.</a:t>
            </a:r>
            <a:r>
              <a:rPr sz="3200" spc="-40" dirty="0">
                <a:latin typeface="Times New Roman" panose="02020603050405020304" pitchFamily="18" charset="0"/>
                <a:cs typeface="Times New Roman" panose="02020603050405020304" pitchFamily="18" charset="0"/>
              </a:rPr>
              <a:t>  </a:t>
            </a:r>
            <a:r>
              <a:rPr sz="3200" spc="-120" dirty="0">
                <a:latin typeface="Times New Roman" panose="02020603050405020304" pitchFamily="18" charset="0"/>
                <a:cs typeface="Times New Roman" panose="02020603050405020304" pitchFamily="18" charset="0"/>
              </a:rPr>
              <a:t>Example:</a:t>
            </a:r>
            <a:r>
              <a:rPr sz="3200" spc="-114" dirty="0">
                <a:latin typeface="Times New Roman" panose="02020603050405020304" pitchFamily="18" charset="0"/>
                <a:cs typeface="Times New Roman" panose="02020603050405020304" pitchFamily="18" charset="0"/>
              </a:rPr>
              <a:t> </a:t>
            </a:r>
            <a:r>
              <a:rPr sz="3200" spc="-235" dirty="0">
                <a:latin typeface="Times New Roman" panose="02020603050405020304" pitchFamily="18" charset="0"/>
                <a:cs typeface="Times New Roman" panose="02020603050405020304" pitchFamily="18" charset="0"/>
              </a:rPr>
              <a:t>SMTP</a:t>
            </a:r>
            <a:endParaRPr sz="3200" dirty="0">
              <a:latin typeface="Times New Roman" panose="02020603050405020304" pitchFamily="18" charset="0"/>
              <a:cs typeface="Times New Roman" panose="02020603050405020304" pitchFamily="18" charset="0"/>
            </a:endParaRPr>
          </a:p>
          <a:p>
            <a:pPr>
              <a:lnSpc>
                <a:spcPct val="100000"/>
              </a:lnSpc>
              <a:buClr>
                <a:srgbClr val="9DBEBD"/>
              </a:buClr>
            </a:pPr>
            <a:endParaRPr sz="2000" dirty="0">
              <a:latin typeface="Times New Roman"/>
              <a:cs typeface="Times New Roman"/>
            </a:endParaRPr>
          </a:p>
        </p:txBody>
      </p:sp>
    </p:spTree>
    <p:extLst>
      <p:ext uri="{BB962C8B-B14F-4D97-AF65-F5344CB8AC3E}">
        <p14:creationId xmlns:p14="http://schemas.microsoft.com/office/powerpoint/2010/main" val="590903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7206C56-6D61-4ED1-9F42-E848B7F7CDF2}"/>
              </a:ext>
            </a:extLst>
          </p:cNvPr>
          <p:cNvSpPr>
            <a:spLocks noGrp="1"/>
          </p:cNvSpPr>
          <p:nvPr>
            <p:ph type="title"/>
          </p:nvPr>
        </p:nvSpPr>
        <p:spPr/>
        <p:txBody>
          <a:bodyPr/>
          <a:lstStyle/>
          <a:p>
            <a:r>
              <a:rPr lang="en-IN" b="1" spc="-175" dirty="0">
                <a:latin typeface="Trebuchet MS"/>
                <a:cs typeface="Trebuchet MS"/>
              </a:rPr>
              <a:t>PULL </a:t>
            </a:r>
            <a:r>
              <a:rPr lang="en-IN" b="1" spc="-114" dirty="0">
                <a:latin typeface="Trebuchet MS"/>
                <a:cs typeface="Trebuchet MS"/>
              </a:rPr>
              <a:t>protocol:</a:t>
            </a:r>
            <a:endParaRPr lang="en-US" dirty="0"/>
          </a:p>
        </p:txBody>
      </p:sp>
      <p:sp>
        <p:nvSpPr>
          <p:cNvPr id="9" name="Content Placeholder 8">
            <a:extLst>
              <a:ext uri="{FF2B5EF4-FFF2-40B4-BE49-F238E27FC236}">
                <a16:creationId xmlns:a16="http://schemas.microsoft.com/office/drawing/2014/main" id="{A65E7E39-3945-4A0E-AB87-8C7246558E0E}"/>
              </a:ext>
            </a:extLst>
          </p:cNvPr>
          <p:cNvSpPr>
            <a:spLocks noGrp="1"/>
          </p:cNvSpPr>
          <p:nvPr>
            <p:ph idx="1"/>
          </p:nvPr>
        </p:nvSpPr>
        <p:spPr>
          <a:xfrm>
            <a:off x="576158" y="1939636"/>
            <a:ext cx="7888969" cy="4488873"/>
          </a:xfrm>
        </p:spPr>
        <p:txBody>
          <a:bodyPr>
            <a:normAutofit lnSpcReduction="10000"/>
          </a:bodyPr>
          <a:lstStyle/>
          <a:p>
            <a:pPr>
              <a:buFont typeface="Wingdings" panose="05000000000000000000" pitchFamily="2" charset="2"/>
              <a:buChar char="§"/>
            </a:pPr>
            <a:r>
              <a:rPr lang="en-IN" sz="2800" spc="-60" dirty="0">
                <a:latin typeface="Times New Roman" panose="02020603050405020304" pitchFamily="18" charset="0"/>
                <a:cs typeface="Times New Roman" panose="02020603050405020304" pitchFamily="18" charset="0"/>
              </a:rPr>
              <a:t>In </a:t>
            </a:r>
            <a:r>
              <a:rPr lang="en-IN" sz="2800" spc="-25" dirty="0">
                <a:latin typeface="Times New Roman" panose="02020603050405020304" pitchFamily="18" charset="0"/>
                <a:cs typeface="Times New Roman" panose="02020603050405020304" pitchFamily="18" charset="0"/>
              </a:rPr>
              <a:t>pull </a:t>
            </a:r>
            <a:r>
              <a:rPr lang="en-IN" sz="2800" spc="-60" dirty="0">
                <a:latin typeface="Times New Roman" panose="02020603050405020304" pitchFamily="18" charset="0"/>
                <a:cs typeface="Times New Roman" panose="02020603050405020304" pitchFamily="18" charset="0"/>
              </a:rPr>
              <a:t>protocols, </a:t>
            </a:r>
            <a:r>
              <a:rPr lang="en-IN" sz="2800" spc="-20" dirty="0">
                <a:highlight>
                  <a:srgbClr val="FFFF00"/>
                </a:highlight>
                <a:latin typeface="Times New Roman" panose="02020603050405020304" pitchFamily="18" charset="0"/>
                <a:cs typeface="Times New Roman" panose="02020603050405020304" pitchFamily="18" charset="0"/>
              </a:rPr>
              <a:t>the </a:t>
            </a:r>
            <a:r>
              <a:rPr lang="en-IN" sz="2800" spc="-40" dirty="0">
                <a:highlight>
                  <a:srgbClr val="FFFF00"/>
                </a:highlight>
                <a:latin typeface="Times New Roman" panose="02020603050405020304" pitchFamily="18" charset="0"/>
                <a:cs typeface="Times New Roman" panose="02020603050405020304" pitchFamily="18" charset="0"/>
              </a:rPr>
              <a:t>client </a:t>
            </a:r>
            <a:r>
              <a:rPr lang="en-IN" sz="2800" spc="-55" dirty="0">
                <a:highlight>
                  <a:srgbClr val="FFFF00"/>
                </a:highlight>
                <a:latin typeface="Times New Roman" panose="02020603050405020304" pitchFamily="18" charset="0"/>
                <a:cs typeface="Times New Roman" panose="02020603050405020304" pitchFamily="18" charset="0"/>
              </a:rPr>
              <a:t>periodically </a:t>
            </a:r>
            <a:r>
              <a:rPr lang="en-IN" sz="2800" spc="-90" dirty="0">
                <a:highlight>
                  <a:srgbClr val="FFFF00"/>
                </a:highlight>
                <a:latin typeface="Times New Roman" panose="02020603050405020304" pitchFamily="18" charset="0"/>
                <a:cs typeface="Times New Roman" panose="02020603050405020304" pitchFamily="18" charset="0"/>
              </a:rPr>
              <a:t>connects </a:t>
            </a:r>
            <a:r>
              <a:rPr lang="en-IN" sz="2800" spc="15" dirty="0">
                <a:highlight>
                  <a:srgbClr val="FFFF00"/>
                </a:highlight>
                <a:latin typeface="Times New Roman" panose="02020603050405020304" pitchFamily="18" charset="0"/>
                <a:cs typeface="Times New Roman" panose="02020603050405020304" pitchFamily="18" charset="0"/>
              </a:rPr>
              <a:t>to </a:t>
            </a:r>
            <a:r>
              <a:rPr lang="en-IN" sz="2800" spc="-20" dirty="0">
                <a:highlight>
                  <a:srgbClr val="FFFF00"/>
                </a:highlight>
                <a:latin typeface="Times New Roman" panose="02020603050405020304" pitchFamily="18" charset="0"/>
                <a:cs typeface="Times New Roman" panose="02020603050405020304" pitchFamily="18" charset="0"/>
              </a:rPr>
              <a:t>the </a:t>
            </a:r>
            <a:r>
              <a:rPr lang="en-IN" sz="2800" spc="-110" dirty="0">
                <a:highlight>
                  <a:srgbClr val="FFFF00"/>
                </a:highlight>
                <a:latin typeface="Times New Roman" panose="02020603050405020304" pitchFamily="18" charset="0"/>
                <a:cs typeface="Times New Roman" panose="02020603050405020304" pitchFamily="18" charset="0"/>
              </a:rPr>
              <a:t>server</a:t>
            </a:r>
          </a:p>
          <a:p>
            <a:pPr>
              <a:buFont typeface="Wingdings" panose="05000000000000000000" pitchFamily="2" charset="2"/>
              <a:buChar char="§"/>
            </a:pPr>
            <a:r>
              <a:rPr lang="en-IN" sz="2800" spc="-110" dirty="0">
                <a:latin typeface="Times New Roman" panose="02020603050405020304" pitchFamily="18" charset="0"/>
                <a:cs typeface="Times New Roman" panose="02020603050405020304" pitchFamily="18" charset="0"/>
              </a:rPr>
              <a:t> And </a:t>
            </a:r>
            <a:r>
              <a:rPr lang="en-IN" sz="2800" spc="-135" dirty="0">
                <a:highlight>
                  <a:srgbClr val="FFFF00"/>
                </a:highlight>
                <a:latin typeface="Times New Roman" panose="02020603050405020304" pitchFamily="18" charset="0"/>
                <a:cs typeface="Times New Roman" panose="02020603050405020304" pitchFamily="18" charset="0"/>
              </a:rPr>
              <a:t>checks </a:t>
            </a:r>
            <a:r>
              <a:rPr lang="en-IN" sz="2800" spc="-5" dirty="0">
                <a:highlight>
                  <a:srgbClr val="FFFF00"/>
                </a:highlight>
                <a:latin typeface="Times New Roman" panose="02020603050405020304" pitchFamily="18" charset="0"/>
                <a:cs typeface="Times New Roman" panose="02020603050405020304" pitchFamily="18" charset="0"/>
              </a:rPr>
              <a:t>for </a:t>
            </a:r>
            <a:r>
              <a:rPr lang="en-IN" sz="2800" spc="-95" dirty="0">
                <a:highlight>
                  <a:srgbClr val="FFFF00"/>
                </a:highlight>
                <a:latin typeface="Times New Roman" panose="02020603050405020304" pitchFamily="18" charset="0"/>
                <a:cs typeface="Times New Roman" panose="02020603050405020304" pitchFamily="18" charset="0"/>
              </a:rPr>
              <a:t>and  </a:t>
            </a:r>
            <a:r>
              <a:rPr lang="en-IN" sz="2800" spc="-105" dirty="0">
                <a:highlight>
                  <a:srgbClr val="FFFF00"/>
                </a:highlight>
                <a:latin typeface="Times New Roman" panose="02020603050405020304" pitchFamily="18" charset="0"/>
                <a:cs typeface="Times New Roman" panose="02020603050405020304" pitchFamily="18" charset="0"/>
              </a:rPr>
              <a:t>gets </a:t>
            </a:r>
            <a:r>
              <a:rPr lang="en-IN" sz="2800" spc="-65" dirty="0">
                <a:highlight>
                  <a:srgbClr val="FFFF00"/>
                </a:highlight>
                <a:latin typeface="Times New Roman" panose="02020603050405020304" pitchFamily="18" charset="0"/>
                <a:cs typeface="Times New Roman" panose="02020603050405020304" pitchFamily="18" charset="0"/>
              </a:rPr>
              <a:t>(pulls)</a:t>
            </a:r>
            <a:r>
              <a:rPr lang="en-IN" sz="2800" spc="-100" dirty="0">
                <a:highlight>
                  <a:srgbClr val="FFFF00"/>
                </a:highlight>
                <a:latin typeface="Times New Roman" panose="02020603050405020304" pitchFamily="18" charset="0"/>
                <a:cs typeface="Times New Roman" panose="02020603050405020304" pitchFamily="18" charset="0"/>
              </a:rPr>
              <a:t> </a:t>
            </a:r>
            <a:r>
              <a:rPr lang="en-IN" sz="2800" spc="-60" dirty="0">
                <a:highlight>
                  <a:srgbClr val="FFFF00"/>
                </a:highlight>
                <a:latin typeface="Times New Roman" panose="02020603050405020304" pitchFamily="18" charset="0"/>
                <a:cs typeface="Times New Roman" panose="02020603050405020304" pitchFamily="18" charset="0"/>
              </a:rPr>
              <a:t>recent</a:t>
            </a:r>
            <a:r>
              <a:rPr lang="en-IN" sz="2800" spc="-105" dirty="0">
                <a:highlight>
                  <a:srgbClr val="FFFF00"/>
                </a:highlight>
                <a:latin typeface="Times New Roman" panose="02020603050405020304" pitchFamily="18" charset="0"/>
                <a:cs typeface="Times New Roman" panose="02020603050405020304" pitchFamily="18" charset="0"/>
              </a:rPr>
              <a:t> </a:t>
            </a:r>
            <a:r>
              <a:rPr lang="en-IN" sz="2800" spc="-95" dirty="0">
                <a:highlight>
                  <a:srgbClr val="FFFF00"/>
                </a:highlight>
                <a:latin typeface="Times New Roman" panose="02020603050405020304" pitchFamily="18" charset="0"/>
                <a:cs typeface="Times New Roman" panose="02020603050405020304" pitchFamily="18" charset="0"/>
              </a:rPr>
              <a:t>events</a:t>
            </a:r>
            <a:r>
              <a:rPr lang="en-IN" sz="2800" spc="-80" dirty="0">
                <a:highlight>
                  <a:srgbClr val="FFFF00"/>
                </a:highlight>
                <a:latin typeface="Times New Roman" panose="02020603050405020304" pitchFamily="18" charset="0"/>
                <a:cs typeface="Times New Roman" panose="02020603050405020304" pitchFamily="18" charset="0"/>
              </a:rPr>
              <a:t> </a:t>
            </a:r>
            <a:r>
              <a:rPr lang="en-IN" sz="2800" spc="-95" dirty="0">
                <a:latin typeface="Times New Roman" panose="02020603050405020304" pitchFamily="18" charset="0"/>
                <a:cs typeface="Times New Roman" panose="02020603050405020304" pitchFamily="18" charset="0"/>
              </a:rPr>
              <a:t>and</a:t>
            </a:r>
            <a:r>
              <a:rPr lang="en-IN" sz="2800" spc="-120" dirty="0">
                <a:latin typeface="Times New Roman" panose="02020603050405020304" pitchFamily="18" charset="0"/>
                <a:cs typeface="Times New Roman" panose="02020603050405020304" pitchFamily="18" charset="0"/>
              </a:rPr>
              <a:t> </a:t>
            </a:r>
            <a:r>
              <a:rPr lang="en-IN" sz="2800" spc="-30" dirty="0">
                <a:highlight>
                  <a:srgbClr val="00FF00"/>
                </a:highlight>
                <a:latin typeface="Times New Roman" panose="02020603050405020304" pitchFamily="18" charset="0"/>
                <a:cs typeface="Times New Roman" panose="02020603050405020304" pitchFamily="18" charset="0"/>
              </a:rPr>
              <a:t>then</a:t>
            </a:r>
            <a:r>
              <a:rPr lang="en-IN" sz="2800" spc="-100" dirty="0">
                <a:highlight>
                  <a:srgbClr val="00FF00"/>
                </a:highlight>
                <a:latin typeface="Times New Roman" panose="02020603050405020304" pitchFamily="18" charset="0"/>
                <a:cs typeface="Times New Roman" panose="02020603050405020304" pitchFamily="18" charset="0"/>
              </a:rPr>
              <a:t> </a:t>
            </a:r>
            <a:r>
              <a:rPr lang="en-IN" sz="2800" spc="-125" dirty="0">
                <a:highlight>
                  <a:srgbClr val="00FF00"/>
                </a:highlight>
                <a:latin typeface="Times New Roman" panose="02020603050405020304" pitchFamily="18" charset="0"/>
                <a:cs typeface="Times New Roman" panose="02020603050405020304" pitchFamily="18" charset="0"/>
              </a:rPr>
              <a:t>closes</a:t>
            </a:r>
            <a:r>
              <a:rPr lang="en-IN" sz="2800" spc="-95" dirty="0">
                <a:highlight>
                  <a:srgbClr val="00FF00"/>
                </a:highlight>
                <a:latin typeface="Times New Roman" panose="02020603050405020304" pitchFamily="18" charset="0"/>
                <a:cs typeface="Times New Roman" panose="02020603050405020304" pitchFamily="18" charset="0"/>
              </a:rPr>
              <a:t> </a:t>
            </a:r>
            <a:r>
              <a:rPr lang="en-IN" sz="2800" spc="-20" dirty="0">
                <a:highlight>
                  <a:srgbClr val="00FF00"/>
                </a:highlight>
                <a:latin typeface="Times New Roman" panose="02020603050405020304" pitchFamily="18" charset="0"/>
                <a:cs typeface="Times New Roman" panose="02020603050405020304" pitchFamily="18" charset="0"/>
              </a:rPr>
              <a:t>the</a:t>
            </a:r>
            <a:r>
              <a:rPr lang="en-IN" sz="2800" spc="-105" dirty="0">
                <a:highlight>
                  <a:srgbClr val="00FF00"/>
                </a:highlight>
                <a:latin typeface="Times New Roman" panose="02020603050405020304" pitchFamily="18" charset="0"/>
                <a:cs typeface="Times New Roman" panose="02020603050405020304" pitchFamily="18" charset="0"/>
              </a:rPr>
              <a:t> </a:t>
            </a:r>
            <a:r>
              <a:rPr lang="en-IN" sz="2800" spc="-60" dirty="0">
                <a:highlight>
                  <a:srgbClr val="00FF00"/>
                </a:highlight>
                <a:latin typeface="Times New Roman" panose="02020603050405020304" pitchFamily="18" charset="0"/>
                <a:cs typeface="Times New Roman" panose="02020603050405020304" pitchFamily="18" charset="0"/>
              </a:rPr>
              <a:t>connection</a:t>
            </a:r>
            <a:r>
              <a:rPr lang="en-IN" sz="2800" spc="-125" dirty="0">
                <a:latin typeface="Times New Roman" panose="02020603050405020304" pitchFamily="18" charset="0"/>
                <a:cs typeface="Times New Roman" panose="02020603050405020304" pitchFamily="18" charset="0"/>
              </a:rPr>
              <a:t> </a:t>
            </a:r>
            <a:r>
              <a:rPr lang="en-IN" sz="2800" spc="-95" dirty="0">
                <a:latin typeface="Times New Roman" panose="02020603050405020304" pitchFamily="18" charset="0"/>
                <a:cs typeface="Times New Roman" panose="02020603050405020304" pitchFamily="18" charset="0"/>
              </a:rPr>
              <a:t>and</a:t>
            </a:r>
            <a:r>
              <a:rPr lang="en-IN" sz="2800" spc="-120" dirty="0">
                <a:latin typeface="Times New Roman" panose="02020603050405020304" pitchFamily="18" charset="0"/>
                <a:cs typeface="Times New Roman" panose="02020603050405020304" pitchFamily="18" charset="0"/>
              </a:rPr>
              <a:t> </a:t>
            </a:r>
            <a:r>
              <a:rPr lang="en-IN" sz="2800" spc="-90" dirty="0">
                <a:latin typeface="Times New Roman" panose="02020603050405020304" pitchFamily="18" charset="0"/>
                <a:cs typeface="Times New Roman" panose="02020603050405020304" pitchFamily="18" charset="0"/>
              </a:rPr>
              <a:t>disconnects</a:t>
            </a:r>
            <a:r>
              <a:rPr lang="en-IN" sz="2800" spc="-114" dirty="0">
                <a:latin typeface="Times New Roman" panose="02020603050405020304" pitchFamily="18" charset="0"/>
                <a:cs typeface="Times New Roman" panose="02020603050405020304" pitchFamily="18" charset="0"/>
              </a:rPr>
              <a:t> </a:t>
            </a:r>
            <a:r>
              <a:rPr lang="en-IN" sz="2800" spc="-25" dirty="0">
                <a:latin typeface="Times New Roman" panose="02020603050405020304" pitchFamily="18" charset="0"/>
                <a:cs typeface="Times New Roman" panose="02020603050405020304" pitchFamily="18" charset="0"/>
              </a:rPr>
              <a:t>from</a:t>
            </a:r>
            <a:r>
              <a:rPr lang="en-IN" sz="2800" spc="-100" dirty="0">
                <a:latin typeface="Times New Roman" panose="02020603050405020304" pitchFamily="18" charset="0"/>
                <a:cs typeface="Times New Roman" panose="02020603050405020304" pitchFamily="18" charset="0"/>
              </a:rPr>
              <a:t> </a:t>
            </a:r>
            <a:r>
              <a:rPr lang="en-IN" sz="2800" spc="-20" dirty="0">
                <a:latin typeface="Times New Roman" panose="02020603050405020304" pitchFamily="18" charset="0"/>
                <a:cs typeface="Times New Roman" panose="02020603050405020304" pitchFamily="18" charset="0"/>
              </a:rPr>
              <a:t>the</a:t>
            </a:r>
            <a:r>
              <a:rPr lang="en-IN" sz="2800" spc="-105" dirty="0">
                <a:latin typeface="Times New Roman" panose="02020603050405020304" pitchFamily="18" charset="0"/>
                <a:cs typeface="Times New Roman" panose="02020603050405020304" pitchFamily="18" charset="0"/>
              </a:rPr>
              <a:t> </a:t>
            </a:r>
            <a:r>
              <a:rPr lang="en-IN" sz="2800" spc="-110" dirty="0">
                <a:latin typeface="Times New Roman" panose="02020603050405020304" pitchFamily="18" charset="0"/>
                <a:cs typeface="Times New Roman" panose="02020603050405020304" pitchFamily="18" charset="0"/>
              </a:rPr>
              <a:t>server.</a:t>
            </a:r>
            <a:r>
              <a:rPr lang="en-IN" sz="2800" spc="-95" dirty="0">
                <a:latin typeface="Times New Roman" panose="02020603050405020304" pitchFamily="18" charset="0"/>
                <a:cs typeface="Times New Roman" panose="02020603050405020304" pitchFamily="18" charset="0"/>
              </a:rPr>
              <a:t> </a:t>
            </a:r>
          </a:p>
          <a:p>
            <a:pPr>
              <a:buFont typeface="Wingdings" panose="05000000000000000000" pitchFamily="2" charset="2"/>
              <a:buChar char="§"/>
            </a:pPr>
            <a:r>
              <a:rPr lang="en-IN" sz="2800" spc="-145" dirty="0">
                <a:latin typeface="Times New Roman" panose="02020603050405020304" pitchFamily="18" charset="0"/>
                <a:cs typeface="Times New Roman" panose="02020603050405020304" pitchFamily="18" charset="0"/>
              </a:rPr>
              <a:t>The  </a:t>
            </a:r>
            <a:r>
              <a:rPr lang="en-IN" sz="2800" spc="-40" dirty="0">
                <a:highlight>
                  <a:srgbClr val="00FF00"/>
                </a:highlight>
                <a:latin typeface="Times New Roman" panose="02020603050405020304" pitchFamily="18" charset="0"/>
                <a:cs typeface="Times New Roman" panose="02020603050405020304" pitchFamily="18" charset="0"/>
              </a:rPr>
              <a:t>client</a:t>
            </a:r>
            <a:r>
              <a:rPr lang="en-IN" sz="2800" spc="-80" dirty="0">
                <a:highlight>
                  <a:srgbClr val="00FF00"/>
                </a:highlight>
                <a:latin typeface="Times New Roman" panose="02020603050405020304" pitchFamily="18" charset="0"/>
                <a:cs typeface="Times New Roman" panose="02020603050405020304" pitchFamily="18" charset="0"/>
              </a:rPr>
              <a:t> </a:t>
            </a:r>
            <a:r>
              <a:rPr lang="en-IN" sz="2800" spc="-85" dirty="0">
                <a:highlight>
                  <a:srgbClr val="00FF00"/>
                </a:highlight>
                <a:latin typeface="Times New Roman" panose="02020603050405020304" pitchFamily="18" charset="0"/>
                <a:cs typeface="Times New Roman" panose="02020603050405020304" pitchFamily="18" charset="0"/>
              </a:rPr>
              <a:t>repeats </a:t>
            </a:r>
            <a:r>
              <a:rPr lang="en-IN" sz="2800" spc="-40" dirty="0">
                <a:highlight>
                  <a:srgbClr val="00FF00"/>
                </a:highlight>
                <a:latin typeface="Times New Roman" panose="02020603050405020304" pitchFamily="18" charset="0"/>
                <a:cs typeface="Times New Roman" panose="02020603050405020304" pitchFamily="18" charset="0"/>
              </a:rPr>
              <a:t>this</a:t>
            </a:r>
            <a:r>
              <a:rPr lang="en-IN" sz="2800" spc="-85" dirty="0">
                <a:highlight>
                  <a:srgbClr val="00FF00"/>
                </a:highlight>
                <a:latin typeface="Times New Roman" panose="02020603050405020304" pitchFamily="18" charset="0"/>
                <a:cs typeface="Times New Roman" panose="02020603050405020304" pitchFamily="18" charset="0"/>
              </a:rPr>
              <a:t> </a:t>
            </a:r>
            <a:r>
              <a:rPr lang="en-IN" sz="2800" spc="-50" dirty="0">
                <a:highlight>
                  <a:srgbClr val="00FF00"/>
                </a:highlight>
                <a:latin typeface="Times New Roman" panose="02020603050405020304" pitchFamily="18" charset="0"/>
                <a:cs typeface="Times New Roman" panose="02020603050405020304" pitchFamily="18" charset="0"/>
              </a:rPr>
              <a:t>whole</a:t>
            </a:r>
            <a:r>
              <a:rPr lang="en-IN" sz="2800" spc="-110" dirty="0">
                <a:highlight>
                  <a:srgbClr val="00FF00"/>
                </a:highlight>
                <a:latin typeface="Times New Roman" panose="02020603050405020304" pitchFamily="18" charset="0"/>
                <a:cs typeface="Times New Roman" panose="02020603050405020304" pitchFamily="18" charset="0"/>
              </a:rPr>
              <a:t> </a:t>
            </a:r>
            <a:r>
              <a:rPr lang="en-IN" sz="2800" spc="-75" dirty="0">
                <a:highlight>
                  <a:srgbClr val="00FF00"/>
                </a:highlight>
                <a:latin typeface="Times New Roman" panose="02020603050405020304" pitchFamily="18" charset="0"/>
                <a:cs typeface="Times New Roman" panose="02020603050405020304" pitchFamily="18" charset="0"/>
              </a:rPr>
              <a:t>procedure</a:t>
            </a:r>
            <a:r>
              <a:rPr lang="en-IN" sz="2800" spc="-105" dirty="0">
                <a:highlight>
                  <a:srgbClr val="00FF00"/>
                </a:highlight>
                <a:latin typeface="Times New Roman" panose="02020603050405020304" pitchFamily="18" charset="0"/>
                <a:cs typeface="Times New Roman" panose="02020603050405020304" pitchFamily="18" charset="0"/>
              </a:rPr>
              <a:t> </a:t>
            </a:r>
            <a:r>
              <a:rPr lang="en-IN" sz="2800" spc="15" dirty="0">
                <a:highlight>
                  <a:srgbClr val="00FF00"/>
                </a:highlight>
                <a:latin typeface="Times New Roman" panose="02020603050405020304" pitchFamily="18" charset="0"/>
                <a:cs typeface="Times New Roman" panose="02020603050405020304" pitchFamily="18" charset="0"/>
              </a:rPr>
              <a:t>to</a:t>
            </a:r>
            <a:r>
              <a:rPr lang="en-IN" sz="2800" spc="-105" dirty="0">
                <a:highlight>
                  <a:srgbClr val="00FF00"/>
                </a:highlight>
                <a:latin typeface="Times New Roman" panose="02020603050405020304" pitchFamily="18" charset="0"/>
                <a:cs typeface="Times New Roman" panose="02020603050405020304" pitchFamily="18" charset="0"/>
              </a:rPr>
              <a:t> </a:t>
            </a:r>
            <a:r>
              <a:rPr lang="en-IN" sz="2800" spc="-65" dirty="0">
                <a:highlight>
                  <a:srgbClr val="00FF00"/>
                </a:highlight>
                <a:latin typeface="Times New Roman" panose="02020603050405020304" pitchFamily="18" charset="0"/>
                <a:cs typeface="Times New Roman" panose="02020603050405020304" pitchFamily="18" charset="0"/>
              </a:rPr>
              <a:t>get</a:t>
            </a:r>
            <a:r>
              <a:rPr lang="en-IN" sz="2800" spc="-105" dirty="0">
                <a:highlight>
                  <a:srgbClr val="00FF00"/>
                </a:highlight>
                <a:latin typeface="Times New Roman" panose="02020603050405020304" pitchFamily="18" charset="0"/>
                <a:cs typeface="Times New Roman" panose="02020603050405020304" pitchFamily="18" charset="0"/>
              </a:rPr>
              <a:t> </a:t>
            </a:r>
            <a:r>
              <a:rPr lang="en-IN" sz="2800" spc="-65" dirty="0">
                <a:highlight>
                  <a:srgbClr val="00FF00"/>
                </a:highlight>
                <a:latin typeface="Times New Roman" panose="02020603050405020304" pitchFamily="18" charset="0"/>
                <a:cs typeface="Times New Roman" panose="02020603050405020304" pitchFamily="18" charset="0"/>
              </a:rPr>
              <a:t>updated</a:t>
            </a:r>
            <a:r>
              <a:rPr lang="en-IN" sz="2800" spc="-100" dirty="0">
                <a:highlight>
                  <a:srgbClr val="00FF00"/>
                </a:highlight>
                <a:latin typeface="Times New Roman" panose="02020603050405020304" pitchFamily="18" charset="0"/>
                <a:cs typeface="Times New Roman" panose="02020603050405020304" pitchFamily="18" charset="0"/>
              </a:rPr>
              <a:t> </a:t>
            </a:r>
            <a:r>
              <a:rPr lang="en-IN" sz="2800" spc="-45" dirty="0">
                <a:highlight>
                  <a:srgbClr val="00FF00"/>
                </a:highlight>
                <a:latin typeface="Times New Roman" panose="02020603050405020304" pitchFamily="18" charset="0"/>
                <a:cs typeface="Times New Roman" panose="02020603050405020304" pitchFamily="18" charset="0"/>
              </a:rPr>
              <a:t>about</a:t>
            </a:r>
            <a:r>
              <a:rPr lang="en-IN" sz="2800" spc="-105" dirty="0">
                <a:highlight>
                  <a:srgbClr val="00FF00"/>
                </a:highlight>
                <a:latin typeface="Times New Roman" panose="02020603050405020304" pitchFamily="18" charset="0"/>
                <a:cs typeface="Times New Roman" panose="02020603050405020304" pitchFamily="18" charset="0"/>
              </a:rPr>
              <a:t> </a:t>
            </a:r>
            <a:r>
              <a:rPr lang="en-IN" sz="2800" spc="-70" dirty="0">
                <a:highlight>
                  <a:srgbClr val="00FF00"/>
                </a:highlight>
                <a:latin typeface="Times New Roman" panose="02020603050405020304" pitchFamily="18" charset="0"/>
                <a:cs typeface="Times New Roman" panose="02020603050405020304" pitchFamily="18" charset="0"/>
              </a:rPr>
              <a:t>new</a:t>
            </a:r>
            <a:r>
              <a:rPr lang="en-IN" sz="2800" spc="-110" dirty="0">
                <a:highlight>
                  <a:srgbClr val="00FF00"/>
                </a:highlight>
                <a:latin typeface="Times New Roman" panose="02020603050405020304" pitchFamily="18" charset="0"/>
                <a:cs typeface="Times New Roman" panose="02020603050405020304" pitchFamily="18" charset="0"/>
              </a:rPr>
              <a:t> </a:t>
            </a:r>
            <a:r>
              <a:rPr lang="en-IN" sz="2800" spc="-90" dirty="0">
                <a:highlight>
                  <a:srgbClr val="00FF00"/>
                </a:highlight>
                <a:latin typeface="Times New Roman" panose="02020603050405020304" pitchFamily="18" charset="0"/>
                <a:cs typeface="Times New Roman" panose="02020603050405020304" pitchFamily="18" charset="0"/>
              </a:rPr>
              <a:t>events.</a:t>
            </a:r>
          </a:p>
          <a:p>
            <a:pPr>
              <a:buFont typeface="Wingdings" panose="05000000000000000000" pitchFamily="2" charset="2"/>
              <a:buChar char="§"/>
            </a:pPr>
            <a:r>
              <a:rPr lang="en-IN" sz="2800" spc="-85" dirty="0">
                <a:latin typeface="Times New Roman" panose="02020603050405020304" pitchFamily="18" charset="0"/>
                <a:cs typeface="Times New Roman" panose="02020603050405020304" pitchFamily="18" charset="0"/>
              </a:rPr>
              <a:t> </a:t>
            </a:r>
            <a:r>
              <a:rPr lang="en-IN" sz="2800" spc="-60" dirty="0">
                <a:latin typeface="Times New Roman" panose="02020603050405020304" pitchFamily="18" charset="0"/>
                <a:cs typeface="Times New Roman" panose="02020603050405020304" pitchFamily="18" charset="0"/>
              </a:rPr>
              <a:t>In</a:t>
            </a:r>
            <a:r>
              <a:rPr lang="en-IN" sz="2800" spc="-90" dirty="0">
                <a:latin typeface="Times New Roman" panose="02020603050405020304" pitchFamily="18" charset="0"/>
                <a:cs typeface="Times New Roman" panose="02020603050405020304" pitchFamily="18" charset="0"/>
              </a:rPr>
              <a:t> </a:t>
            </a:r>
            <a:r>
              <a:rPr lang="en-IN" sz="2800" spc="-40" dirty="0">
                <a:latin typeface="Times New Roman" panose="02020603050405020304" pitchFamily="18" charset="0"/>
                <a:cs typeface="Times New Roman" panose="02020603050405020304" pitchFamily="18" charset="0"/>
              </a:rPr>
              <a:t>this</a:t>
            </a:r>
            <a:r>
              <a:rPr lang="en-IN" sz="2800" spc="-95" dirty="0">
                <a:latin typeface="Times New Roman" panose="02020603050405020304" pitchFamily="18" charset="0"/>
                <a:cs typeface="Times New Roman" panose="02020603050405020304" pitchFamily="18" charset="0"/>
              </a:rPr>
              <a:t> </a:t>
            </a:r>
            <a:r>
              <a:rPr lang="en-IN" sz="2800" spc="-75" dirty="0">
                <a:latin typeface="Times New Roman" panose="02020603050405020304" pitchFamily="18" charset="0"/>
                <a:cs typeface="Times New Roman" panose="02020603050405020304" pitchFamily="18" charset="0"/>
              </a:rPr>
              <a:t>mode,</a:t>
            </a:r>
            <a:r>
              <a:rPr lang="en-IN" sz="2800" spc="-105" dirty="0">
                <a:latin typeface="Times New Roman" panose="02020603050405020304" pitchFamily="18" charset="0"/>
                <a:cs typeface="Times New Roman" panose="02020603050405020304" pitchFamily="18" charset="0"/>
              </a:rPr>
              <a:t> </a:t>
            </a:r>
            <a:r>
              <a:rPr lang="en-IN" sz="2800" spc="-20" dirty="0">
                <a:highlight>
                  <a:srgbClr val="00FFFF"/>
                </a:highlight>
                <a:latin typeface="Times New Roman" panose="02020603050405020304" pitchFamily="18" charset="0"/>
                <a:cs typeface="Times New Roman" panose="02020603050405020304" pitchFamily="18" charset="0"/>
              </a:rPr>
              <a:t>the</a:t>
            </a:r>
            <a:r>
              <a:rPr lang="en-IN" sz="2800" spc="-95" dirty="0">
                <a:highlight>
                  <a:srgbClr val="00FFFF"/>
                </a:highlight>
                <a:latin typeface="Times New Roman" panose="02020603050405020304" pitchFamily="18" charset="0"/>
                <a:cs typeface="Times New Roman" panose="02020603050405020304" pitchFamily="18" charset="0"/>
              </a:rPr>
              <a:t> </a:t>
            </a:r>
            <a:r>
              <a:rPr lang="en-IN" sz="2800" spc="-65" dirty="0">
                <a:highlight>
                  <a:srgbClr val="00FFFF"/>
                </a:highlight>
                <a:latin typeface="Times New Roman" panose="02020603050405020304" pitchFamily="18" charset="0"/>
                <a:cs typeface="Times New Roman" panose="02020603050405020304" pitchFamily="18" charset="0"/>
              </a:rPr>
              <a:t>clients  </a:t>
            </a:r>
            <a:r>
              <a:rPr lang="en-IN" sz="2800" spc="-55" dirty="0">
                <a:highlight>
                  <a:srgbClr val="00FFFF"/>
                </a:highlight>
                <a:latin typeface="Times New Roman" panose="02020603050405020304" pitchFamily="18" charset="0"/>
                <a:cs typeface="Times New Roman" panose="02020603050405020304" pitchFamily="18" charset="0"/>
              </a:rPr>
              <a:t>periodically </a:t>
            </a:r>
            <a:r>
              <a:rPr lang="en-IN" sz="2800" spc="-245" dirty="0">
                <a:highlight>
                  <a:srgbClr val="00FFFF"/>
                </a:highlight>
                <a:latin typeface="Times New Roman" panose="02020603050405020304" pitchFamily="18" charset="0"/>
                <a:cs typeface="Times New Roman" panose="02020603050405020304" pitchFamily="18" charset="0"/>
              </a:rPr>
              <a:t>PULLs </a:t>
            </a:r>
            <a:r>
              <a:rPr lang="en-IN" sz="2800" spc="-20" dirty="0">
                <a:highlight>
                  <a:srgbClr val="00FFFF"/>
                </a:highlight>
                <a:latin typeface="Times New Roman" panose="02020603050405020304" pitchFamily="18" charset="0"/>
                <a:cs typeface="Times New Roman" panose="02020603050405020304" pitchFamily="18" charset="0"/>
              </a:rPr>
              <a:t>the </a:t>
            </a:r>
            <a:r>
              <a:rPr lang="en-IN" sz="2800" spc="-70" dirty="0">
                <a:highlight>
                  <a:srgbClr val="00FFFF"/>
                </a:highlight>
                <a:latin typeface="Times New Roman" panose="02020603050405020304" pitchFamily="18" charset="0"/>
                <a:cs typeface="Times New Roman" panose="02020603050405020304" pitchFamily="18" charset="0"/>
              </a:rPr>
              <a:t>new </a:t>
            </a:r>
            <a:r>
              <a:rPr lang="en-IN" sz="2800" spc="-95" dirty="0">
                <a:highlight>
                  <a:srgbClr val="00FFFF"/>
                </a:highlight>
                <a:latin typeface="Times New Roman" panose="02020603050405020304" pitchFamily="18" charset="0"/>
                <a:cs typeface="Times New Roman" panose="02020603050405020304" pitchFamily="18" charset="0"/>
              </a:rPr>
              <a:t>events </a:t>
            </a:r>
            <a:r>
              <a:rPr lang="en-IN" sz="2800" spc="-25" dirty="0">
                <a:highlight>
                  <a:srgbClr val="00FFFF"/>
                </a:highlight>
                <a:latin typeface="Times New Roman" panose="02020603050405020304" pitchFamily="18" charset="0"/>
                <a:cs typeface="Times New Roman" panose="02020603050405020304" pitchFamily="18" charset="0"/>
              </a:rPr>
              <a:t>from </a:t>
            </a:r>
            <a:r>
              <a:rPr lang="en-IN" sz="2800" spc="-20" dirty="0">
                <a:highlight>
                  <a:srgbClr val="00FFFF"/>
                </a:highlight>
                <a:latin typeface="Times New Roman" panose="02020603050405020304" pitchFamily="18" charset="0"/>
                <a:cs typeface="Times New Roman" panose="02020603050405020304" pitchFamily="18" charset="0"/>
              </a:rPr>
              <a:t>the </a:t>
            </a:r>
            <a:r>
              <a:rPr lang="en-IN" sz="2800" spc="-110" dirty="0">
                <a:highlight>
                  <a:srgbClr val="00FFFF"/>
                </a:highlight>
                <a:latin typeface="Times New Roman" panose="02020603050405020304" pitchFamily="18" charset="0"/>
                <a:cs typeface="Times New Roman" panose="02020603050405020304" pitchFamily="18" charset="0"/>
              </a:rPr>
              <a:t>server</a:t>
            </a:r>
            <a:r>
              <a:rPr lang="en-IN" sz="2800" spc="-110" dirty="0">
                <a:latin typeface="Times New Roman" panose="02020603050405020304" pitchFamily="18" charset="0"/>
                <a:cs typeface="Times New Roman" panose="02020603050405020304" pitchFamily="18" charset="0"/>
              </a:rPr>
              <a:t>. </a:t>
            </a:r>
            <a:r>
              <a:rPr lang="en-IN" sz="2800" spc="-120" dirty="0">
                <a:latin typeface="Times New Roman" panose="02020603050405020304" pitchFamily="18" charset="0"/>
                <a:cs typeface="Times New Roman" panose="02020603050405020304" pitchFamily="18" charset="0"/>
              </a:rPr>
              <a:t>Example:</a:t>
            </a:r>
            <a:r>
              <a:rPr lang="en-IN" sz="2800" spc="-295" dirty="0">
                <a:latin typeface="Times New Roman" panose="02020603050405020304" pitchFamily="18" charset="0"/>
                <a:cs typeface="Times New Roman" panose="02020603050405020304" pitchFamily="18" charset="0"/>
              </a:rPr>
              <a:t> </a:t>
            </a:r>
            <a:r>
              <a:rPr lang="en-IN" sz="2800" spc="-245" dirty="0">
                <a:latin typeface="Times New Roman" panose="02020603050405020304" pitchFamily="18" charset="0"/>
                <a:cs typeface="Times New Roman" panose="02020603050405020304" pitchFamily="18" charset="0"/>
              </a:rPr>
              <a:t>HTTP</a:t>
            </a:r>
            <a:endParaRPr lang="en-IN" sz="2800" dirty="0">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884252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504424"/>
            <a:ext cx="7808976" cy="1088136"/>
          </a:xfrm>
        </p:spPr>
        <p:txBody>
          <a:bodyPr>
            <a:normAutofit/>
          </a:bodyPr>
          <a:lstStyle/>
          <a:p>
            <a:r>
              <a:rPr lang="en-US" sz="4000" spc="-215" dirty="0"/>
              <a:t>Application </a:t>
            </a:r>
            <a:r>
              <a:rPr lang="en-US" sz="4000" spc="-390" dirty="0"/>
              <a:t>Layer  </a:t>
            </a:r>
            <a:r>
              <a:rPr lang="en-US" sz="4000" spc="-229" dirty="0"/>
              <a:t>Protocol:</a:t>
            </a:r>
            <a:r>
              <a:rPr lang="en-US" sz="4000" spc="-520" dirty="0"/>
              <a:t> </a:t>
            </a:r>
            <a:r>
              <a:rPr lang="en-US" sz="4000" spc="-645" dirty="0"/>
              <a:t>HTTP</a:t>
            </a:r>
            <a:endParaRPr lang="en-US" sz="4000" dirty="0"/>
          </a:p>
        </p:txBody>
      </p:sp>
      <p:sp>
        <p:nvSpPr>
          <p:cNvPr id="4" name="object 6"/>
          <p:cNvSpPr txBox="1"/>
          <p:nvPr/>
        </p:nvSpPr>
        <p:spPr>
          <a:xfrm>
            <a:off x="183166" y="2012083"/>
            <a:ext cx="8777668" cy="4111062"/>
          </a:xfrm>
          <a:prstGeom prst="rect">
            <a:avLst/>
          </a:prstGeom>
        </p:spPr>
        <p:txBody>
          <a:bodyPr vert="horz" wrap="square" lIns="0" tIns="47625" rIns="0" bIns="0" rtlCol="0">
            <a:spAutoFit/>
          </a:bodyPr>
          <a:lstStyle/>
          <a:p>
            <a:pPr marL="104139" marR="445770" indent="228600">
              <a:lnSpc>
                <a:spcPct val="75000"/>
              </a:lnSpc>
              <a:spcBef>
                <a:spcPts val="375"/>
              </a:spcBef>
              <a:buClr>
                <a:srgbClr val="9DBEBD"/>
              </a:buClr>
              <a:buChar char="•"/>
              <a:tabLst>
                <a:tab pos="218440" algn="l"/>
              </a:tabLst>
            </a:pPr>
            <a:r>
              <a:rPr sz="2400" spc="-245" dirty="0">
                <a:latin typeface="Times New Roman" panose="02020603050405020304" pitchFamily="18" charset="0"/>
                <a:cs typeface="Times New Roman" panose="02020603050405020304" pitchFamily="18" charset="0"/>
              </a:rPr>
              <a:t>HTTP </a:t>
            </a:r>
            <a:r>
              <a:rPr sz="2400" spc="-60" dirty="0">
                <a:latin typeface="Times New Roman" panose="02020603050405020304" pitchFamily="18" charset="0"/>
                <a:cs typeface="Times New Roman" panose="02020603050405020304" pitchFamily="18" charset="0"/>
              </a:rPr>
              <a:t>(Hypertext </a:t>
            </a:r>
            <a:r>
              <a:rPr sz="2400" spc="-114" dirty="0">
                <a:latin typeface="Times New Roman" panose="02020603050405020304" pitchFamily="18" charset="0"/>
                <a:cs typeface="Times New Roman" panose="02020603050405020304" pitchFamily="18" charset="0"/>
              </a:rPr>
              <a:t>Transfer </a:t>
            </a:r>
            <a:r>
              <a:rPr sz="2400" spc="-70" dirty="0">
                <a:latin typeface="Times New Roman" panose="02020603050405020304" pitchFamily="18" charset="0"/>
                <a:cs typeface="Times New Roman" panose="02020603050405020304" pitchFamily="18" charset="0"/>
              </a:rPr>
              <a:t>Protocol) </a:t>
            </a:r>
            <a:r>
              <a:rPr sz="2400" spc="-105" dirty="0">
                <a:latin typeface="Times New Roman" panose="02020603050405020304" pitchFamily="18" charset="0"/>
                <a:cs typeface="Times New Roman" panose="02020603050405020304" pitchFamily="18" charset="0"/>
              </a:rPr>
              <a:t>is </a:t>
            </a:r>
            <a:r>
              <a:rPr sz="2400" spc="-120" dirty="0">
                <a:latin typeface="Times New Roman" panose="02020603050405020304" pitchFamily="18" charset="0"/>
                <a:cs typeface="Times New Roman" panose="02020603050405020304" pitchFamily="18" charset="0"/>
              </a:rPr>
              <a:t>used </a:t>
            </a:r>
            <a:r>
              <a:rPr sz="2400" spc="-135" dirty="0">
                <a:highlight>
                  <a:srgbClr val="00FFFF"/>
                </a:highlight>
                <a:latin typeface="Times New Roman" panose="02020603050405020304" pitchFamily="18" charset="0"/>
                <a:cs typeface="Times New Roman" panose="02020603050405020304" pitchFamily="18" charset="0"/>
              </a:rPr>
              <a:t>across </a:t>
            </a:r>
            <a:r>
              <a:rPr sz="2400" spc="-20" dirty="0">
                <a:highlight>
                  <a:srgbClr val="00FFFF"/>
                </a:highlight>
                <a:latin typeface="Times New Roman" panose="02020603050405020304" pitchFamily="18" charset="0"/>
                <a:cs typeface="Times New Roman" panose="02020603050405020304" pitchFamily="18" charset="0"/>
              </a:rPr>
              <a:t>the </a:t>
            </a:r>
            <a:r>
              <a:rPr sz="2400" spc="-25" dirty="0">
                <a:highlight>
                  <a:srgbClr val="00FFFF"/>
                </a:highlight>
                <a:latin typeface="Times New Roman" panose="02020603050405020304" pitchFamily="18" charset="0"/>
                <a:cs typeface="Times New Roman" panose="02020603050405020304" pitchFamily="18" charset="0"/>
              </a:rPr>
              <a:t>world </a:t>
            </a:r>
            <a:r>
              <a:rPr sz="2400" spc="-50" dirty="0">
                <a:highlight>
                  <a:srgbClr val="00FFFF"/>
                </a:highlight>
                <a:latin typeface="Times New Roman" panose="02020603050405020304" pitchFamily="18" charset="0"/>
                <a:cs typeface="Times New Roman" panose="02020603050405020304" pitchFamily="18" charset="0"/>
              </a:rPr>
              <a:t>wide </a:t>
            </a:r>
            <a:r>
              <a:rPr sz="2400" spc="-70" dirty="0">
                <a:highlight>
                  <a:srgbClr val="00FFFF"/>
                </a:highlight>
                <a:latin typeface="Times New Roman" panose="02020603050405020304" pitchFamily="18" charset="0"/>
                <a:cs typeface="Times New Roman" panose="02020603050405020304" pitchFamily="18" charset="0"/>
              </a:rPr>
              <a:t>web </a:t>
            </a:r>
            <a:r>
              <a:rPr sz="2400" spc="-30" dirty="0">
                <a:highlight>
                  <a:srgbClr val="00FFFF"/>
                </a:highlight>
                <a:latin typeface="Times New Roman" panose="02020603050405020304" pitchFamily="18" charset="0"/>
                <a:cs typeface="Times New Roman" panose="02020603050405020304" pitchFamily="18" charset="0"/>
              </a:rPr>
              <a:t>(www) </a:t>
            </a:r>
            <a:r>
              <a:rPr sz="2400" spc="-5" dirty="0">
                <a:highlight>
                  <a:srgbClr val="00FFFF"/>
                </a:highlight>
                <a:latin typeface="Times New Roman" panose="02020603050405020304" pitchFamily="18" charset="0"/>
                <a:cs typeface="Times New Roman" panose="02020603050405020304" pitchFamily="18" charset="0"/>
              </a:rPr>
              <a:t>for </a:t>
            </a:r>
            <a:r>
              <a:rPr sz="2400" spc="-80" dirty="0">
                <a:highlight>
                  <a:srgbClr val="00FFFF"/>
                </a:highlight>
                <a:latin typeface="Times New Roman" panose="02020603050405020304" pitchFamily="18" charset="0"/>
                <a:cs typeface="Times New Roman" panose="02020603050405020304" pitchFamily="18" charset="0"/>
              </a:rPr>
              <a:t>data</a:t>
            </a:r>
            <a:r>
              <a:rPr sz="2400" spc="-385" dirty="0">
                <a:highlight>
                  <a:srgbClr val="00FFFF"/>
                </a:highlight>
                <a:latin typeface="Times New Roman" panose="02020603050405020304" pitchFamily="18" charset="0"/>
                <a:cs typeface="Times New Roman" panose="02020603050405020304" pitchFamily="18" charset="0"/>
              </a:rPr>
              <a:t> </a:t>
            </a:r>
            <a:r>
              <a:rPr sz="2400" spc="-55" dirty="0">
                <a:highlight>
                  <a:srgbClr val="00FFFF"/>
                </a:highlight>
                <a:latin typeface="Times New Roman" panose="02020603050405020304" pitchFamily="18" charset="0"/>
                <a:cs typeface="Times New Roman" panose="02020603050405020304" pitchFamily="18" charset="0"/>
              </a:rPr>
              <a:t>transfer  </a:t>
            </a:r>
            <a:r>
              <a:rPr sz="2400" spc="-95" dirty="0">
                <a:highlight>
                  <a:srgbClr val="00FFFF"/>
                </a:highlight>
                <a:latin typeface="Times New Roman" panose="02020603050405020304" pitchFamily="18" charset="0"/>
                <a:cs typeface="Times New Roman" panose="02020603050405020304" pitchFamily="18" charset="0"/>
              </a:rPr>
              <a:t>and </a:t>
            </a:r>
            <a:r>
              <a:rPr sz="2400" spc="-105" dirty="0">
                <a:highlight>
                  <a:srgbClr val="00FFFF"/>
                </a:highlight>
                <a:latin typeface="Times New Roman" panose="02020603050405020304" pitchFamily="18" charset="0"/>
                <a:cs typeface="Times New Roman" panose="02020603050405020304" pitchFamily="18" charset="0"/>
              </a:rPr>
              <a:t>is </a:t>
            </a:r>
            <a:r>
              <a:rPr sz="2400" spc="-80" dirty="0">
                <a:highlight>
                  <a:srgbClr val="00FFFF"/>
                </a:highlight>
                <a:latin typeface="Times New Roman" panose="02020603050405020304" pitchFamily="18" charset="0"/>
                <a:cs typeface="Times New Roman" panose="02020603050405020304" pitchFamily="18" charset="0"/>
              </a:rPr>
              <a:t>one </a:t>
            </a:r>
            <a:r>
              <a:rPr sz="2400" spc="-5" dirty="0">
                <a:highlight>
                  <a:srgbClr val="00FFFF"/>
                </a:highlight>
                <a:latin typeface="Times New Roman" panose="02020603050405020304" pitchFamily="18" charset="0"/>
                <a:cs typeface="Times New Roman" panose="02020603050405020304" pitchFamily="18" charset="0"/>
              </a:rPr>
              <a:t>of </a:t>
            </a:r>
            <a:r>
              <a:rPr sz="2400" spc="-20" dirty="0">
                <a:highlight>
                  <a:srgbClr val="00FFFF"/>
                </a:highlight>
                <a:latin typeface="Times New Roman" panose="02020603050405020304" pitchFamily="18" charset="0"/>
                <a:cs typeface="Times New Roman" panose="02020603050405020304" pitchFamily="18" charset="0"/>
              </a:rPr>
              <a:t>the </a:t>
            </a:r>
            <a:r>
              <a:rPr sz="2400" spc="-65" dirty="0">
                <a:highlight>
                  <a:srgbClr val="00FFFF"/>
                </a:highlight>
                <a:latin typeface="Times New Roman" panose="02020603050405020304" pitchFamily="18" charset="0"/>
                <a:cs typeface="Times New Roman" panose="02020603050405020304" pitchFamily="18" charset="0"/>
              </a:rPr>
              <a:t>most </a:t>
            </a:r>
            <a:r>
              <a:rPr sz="2400" spc="-120" dirty="0">
                <a:highlight>
                  <a:srgbClr val="00FFFF"/>
                </a:highlight>
                <a:latin typeface="Times New Roman" panose="02020603050405020304" pitchFamily="18" charset="0"/>
                <a:cs typeface="Times New Roman" panose="02020603050405020304" pitchFamily="18" charset="0"/>
              </a:rPr>
              <a:t>used </a:t>
            </a:r>
            <a:r>
              <a:rPr sz="2400" spc="-55" dirty="0">
                <a:highlight>
                  <a:srgbClr val="00FFFF"/>
                </a:highlight>
                <a:latin typeface="Times New Roman" panose="02020603050405020304" pitchFamily="18" charset="0"/>
                <a:cs typeface="Times New Roman" panose="02020603050405020304" pitchFamily="18" charset="0"/>
              </a:rPr>
              <a:t>application</a:t>
            </a:r>
            <a:r>
              <a:rPr sz="2400" spc="-385" dirty="0">
                <a:highlight>
                  <a:srgbClr val="00FFFF"/>
                </a:highlight>
                <a:latin typeface="Times New Roman" panose="02020603050405020304" pitchFamily="18" charset="0"/>
                <a:cs typeface="Times New Roman" panose="02020603050405020304" pitchFamily="18" charset="0"/>
              </a:rPr>
              <a:t> </a:t>
            </a:r>
            <a:r>
              <a:rPr sz="2400" spc="-60" dirty="0">
                <a:highlight>
                  <a:srgbClr val="00FFFF"/>
                </a:highlight>
                <a:latin typeface="Times New Roman" panose="02020603050405020304" pitchFamily="18" charset="0"/>
                <a:cs typeface="Times New Roman" panose="02020603050405020304" pitchFamily="18" charset="0"/>
              </a:rPr>
              <a:t>protocols</a:t>
            </a:r>
            <a:r>
              <a:rPr sz="2400" spc="-6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104139" marR="5080" indent="228600">
              <a:lnSpc>
                <a:spcPct val="75000"/>
              </a:lnSpc>
              <a:spcBef>
                <a:spcPts val="1405"/>
              </a:spcBef>
              <a:buClr>
                <a:srgbClr val="9DBEBD"/>
              </a:buClr>
              <a:buChar char="•"/>
              <a:tabLst>
                <a:tab pos="220345" algn="l"/>
              </a:tabLst>
            </a:pPr>
            <a:r>
              <a:rPr sz="2400" spc="-245" dirty="0">
                <a:latin typeface="Times New Roman" panose="02020603050405020304" pitchFamily="18" charset="0"/>
                <a:cs typeface="Times New Roman" panose="02020603050405020304" pitchFamily="18" charset="0"/>
              </a:rPr>
              <a:t>HTTP</a:t>
            </a:r>
            <a:r>
              <a:rPr sz="2400" spc="65" dirty="0">
                <a:latin typeface="Times New Roman" panose="02020603050405020304" pitchFamily="18" charset="0"/>
                <a:cs typeface="Times New Roman" panose="02020603050405020304" pitchFamily="18" charset="0"/>
              </a:rPr>
              <a:t> </a:t>
            </a:r>
            <a:r>
              <a:rPr sz="2400" spc="-90" dirty="0">
                <a:latin typeface="Times New Roman" panose="02020603050405020304" pitchFamily="18" charset="0"/>
                <a:cs typeface="Times New Roman" panose="02020603050405020304" pitchFamily="18" charset="0"/>
              </a:rPr>
              <a:t>specifies </a:t>
            </a:r>
            <a:r>
              <a:rPr sz="2400" spc="-155" dirty="0">
                <a:latin typeface="Times New Roman" panose="02020603050405020304" pitchFamily="18" charset="0"/>
                <a:cs typeface="Times New Roman" panose="02020603050405020304" pitchFamily="18" charset="0"/>
              </a:rPr>
              <a:t>a </a:t>
            </a:r>
            <a:r>
              <a:rPr sz="2400" spc="-70" dirty="0">
                <a:highlight>
                  <a:srgbClr val="00FF00"/>
                </a:highlight>
                <a:latin typeface="Times New Roman" panose="02020603050405020304" pitchFamily="18" charset="0"/>
                <a:cs typeface="Times New Roman" panose="02020603050405020304" pitchFamily="18" charset="0"/>
              </a:rPr>
              <a:t>request/response </a:t>
            </a:r>
            <a:r>
              <a:rPr sz="2400" spc="-45" dirty="0">
                <a:highlight>
                  <a:srgbClr val="00FF00"/>
                </a:highlight>
                <a:latin typeface="Times New Roman" panose="02020603050405020304" pitchFamily="18" charset="0"/>
                <a:cs typeface="Times New Roman" panose="02020603050405020304" pitchFamily="18" charset="0"/>
              </a:rPr>
              <a:t>protocol</a:t>
            </a:r>
            <a:r>
              <a:rPr sz="2400" spc="-45" dirty="0">
                <a:latin typeface="Times New Roman" panose="02020603050405020304" pitchFamily="18" charset="0"/>
                <a:cs typeface="Times New Roman" panose="02020603050405020304" pitchFamily="18" charset="0"/>
              </a:rPr>
              <a:t>.</a:t>
            </a:r>
            <a:endParaRPr lang="en-US" sz="2400" spc="-45" dirty="0">
              <a:latin typeface="Times New Roman" panose="02020603050405020304" pitchFamily="18" charset="0"/>
              <a:cs typeface="Times New Roman" panose="02020603050405020304" pitchFamily="18" charset="0"/>
            </a:endParaRPr>
          </a:p>
          <a:p>
            <a:pPr marL="104139" marR="5080" indent="228600">
              <a:lnSpc>
                <a:spcPct val="75000"/>
              </a:lnSpc>
              <a:spcBef>
                <a:spcPts val="1405"/>
              </a:spcBef>
              <a:buClr>
                <a:srgbClr val="9DBEBD"/>
              </a:buClr>
              <a:buChar char="•"/>
              <a:tabLst>
                <a:tab pos="220345" algn="l"/>
              </a:tabLst>
            </a:pPr>
            <a:r>
              <a:rPr sz="2400" spc="-45" dirty="0">
                <a:latin typeface="Times New Roman" panose="02020603050405020304" pitchFamily="18" charset="0"/>
                <a:cs typeface="Times New Roman" panose="02020603050405020304" pitchFamily="18" charset="0"/>
              </a:rPr>
              <a:t> </a:t>
            </a:r>
            <a:r>
              <a:rPr sz="2400" spc="-90" dirty="0">
                <a:latin typeface="Times New Roman" panose="02020603050405020304" pitchFamily="18" charset="0"/>
                <a:cs typeface="Times New Roman" panose="02020603050405020304" pitchFamily="18" charset="0"/>
              </a:rPr>
              <a:t>When </a:t>
            </a:r>
            <a:r>
              <a:rPr sz="2400" spc="-155" dirty="0">
                <a:latin typeface="Times New Roman" panose="02020603050405020304" pitchFamily="18" charset="0"/>
                <a:cs typeface="Times New Roman" panose="02020603050405020304" pitchFamily="18" charset="0"/>
              </a:rPr>
              <a:t>a </a:t>
            </a:r>
            <a:r>
              <a:rPr sz="2400" spc="-40" dirty="0">
                <a:latin typeface="Times New Roman" panose="02020603050405020304" pitchFamily="18" charset="0"/>
                <a:cs typeface="Times New Roman" panose="02020603050405020304" pitchFamily="18" charset="0"/>
              </a:rPr>
              <a:t>client, </a:t>
            </a:r>
            <a:r>
              <a:rPr sz="2400" spc="-50" dirty="0">
                <a:highlight>
                  <a:srgbClr val="00FF00"/>
                </a:highlight>
                <a:latin typeface="Times New Roman" panose="02020603050405020304" pitchFamily="18" charset="0"/>
                <a:cs typeface="Times New Roman" panose="02020603050405020304" pitchFamily="18" charset="0"/>
              </a:rPr>
              <a:t>typically </a:t>
            </a:r>
            <a:r>
              <a:rPr sz="2400" spc="-155" dirty="0">
                <a:highlight>
                  <a:srgbClr val="00FF00"/>
                </a:highlight>
                <a:latin typeface="Times New Roman" panose="02020603050405020304" pitchFamily="18" charset="0"/>
                <a:cs typeface="Times New Roman" panose="02020603050405020304" pitchFamily="18" charset="0"/>
              </a:rPr>
              <a:t>a </a:t>
            </a:r>
            <a:r>
              <a:rPr sz="2400" spc="-70" dirty="0">
                <a:highlight>
                  <a:srgbClr val="00FF00"/>
                </a:highlight>
                <a:latin typeface="Times New Roman" panose="02020603050405020304" pitchFamily="18" charset="0"/>
                <a:cs typeface="Times New Roman" panose="02020603050405020304" pitchFamily="18" charset="0"/>
              </a:rPr>
              <a:t>web </a:t>
            </a:r>
            <a:r>
              <a:rPr sz="2400" spc="-90" dirty="0">
                <a:highlight>
                  <a:srgbClr val="00FF00"/>
                </a:highlight>
                <a:latin typeface="Times New Roman" panose="02020603050405020304" pitchFamily="18" charset="0"/>
                <a:cs typeface="Times New Roman" panose="02020603050405020304" pitchFamily="18" charset="0"/>
              </a:rPr>
              <a:t>browser</a:t>
            </a:r>
            <a:r>
              <a:rPr sz="2400" spc="-90" dirty="0">
                <a:latin typeface="Times New Roman" panose="02020603050405020304" pitchFamily="18" charset="0"/>
                <a:cs typeface="Times New Roman" panose="02020603050405020304" pitchFamily="18" charset="0"/>
              </a:rPr>
              <a:t>, </a:t>
            </a:r>
            <a:r>
              <a:rPr lang="en-US" sz="2400" spc="-90" dirty="0">
                <a:latin typeface="Times New Roman" panose="02020603050405020304" pitchFamily="18" charset="0"/>
                <a:cs typeface="Times New Roman" panose="02020603050405020304" pitchFamily="18" charset="0"/>
              </a:rPr>
              <a:t>it </a:t>
            </a:r>
            <a:r>
              <a:rPr sz="2400" spc="-140" dirty="0">
                <a:latin typeface="Times New Roman" panose="02020603050405020304" pitchFamily="18" charset="0"/>
                <a:cs typeface="Times New Roman" panose="02020603050405020304" pitchFamily="18" charset="0"/>
              </a:rPr>
              <a:t>sends </a:t>
            </a:r>
            <a:r>
              <a:rPr sz="2400" spc="-155" dirty="0">
                <a:latin typeface="Times New Roman" panose="02020603050405020304" pitchFamily="18" charset="0"/>
                <a:cs typeface="Times New Roman" panose="02020603050405020304" pitchFamily="18" charset="0"/>
              </a:rPr>
              <a:t>a  </a:t>
            </a:r>
            <a:r>
              <a:rPr sz="2400" spc="-70" dirty="0">
                <a:latin typeface="Times New Roman" panose="02020603050405020304" pitchFamily="18" charset="0"/>
                <a:cs typeface="Times New Roman" panose="02020603050405020304" pitchFamily="18" charset="0"/>
              </a:rPr>
              <a:t>request </a:t>
            </a:r>
            <a:r>
              <a:rPr sz="2400" spc="-150" dirty="0">
                <a:latin typeface="Times New Roman" panose="02020603050405020304" pitchFamily="18" charset="0"/>
                <a:cs typeface="Times New Roman" panose="02020603050405020304" pitchFamily="18" charset="0"/>
              </a:rPr>
              <a:t>message </a:t>
            </a:r>
            <a:r>
              <a:rPr sz="2400" spc="15" dirty="0">
                <a:latin typeface="Times New Roman" panose="02020603050405020304" pitchFamily="18" charset="0"/>
                <a:cs typeface="Times New Roman" panose="02020603050405020304" pitchFamily="18" charset="0"/>
              </a:rPr>
              <a:t>to </a:t>
            </a:r>
            <a:r>
              <a:rPr sz="2400" spc="-155" dirty="0">
                <a:latin typeface="Times New Roman" panose="02020603050405020304" pitchFamily="18" charset="0"/>
                <a:cs typeface="Times New Roman" panose="02020603050405020304" pitchFamily="18" charset="0"/>
              </a:rPr>
              <a:t>a </a:t>
            </a:r>
            <a:r>
              <a:rPr sz="2400" spc="-110" dirty="0">
                <a:latin typeface="Times New Roman" panose="02020603050405020304" pitchFamily="18" charset="0"/>
                <a:cs typeface="Times New Roman" panose="02020603050405020304" pitchFamily="18" charset="0"/>
              </a:rPr>
              <a:t>server,</a:t>
            </a:r>
            <a:endParaRPr lang="en-US" sz="2400" spc="-110" dirty="0">
              <a:latin typeface="Times New Roman" panose="02020603050405020304" pitchFamily="18" charset="0"/>
              <a:cs typeface="Times New Roman" panose="02020603050405020304" pitchFamily="18" charset="0"/>
            </a:endParaRPr>
          </a:p>
          <a:p>
            <a:pPr marL="104139" marR="5080" indent="228600">
              <a:lnSpc>
                <a:spcPct val="75000"/>
              </a:lnSpc>
              <a:spcBef>
                <a:spcPts val="1405"/>
              </a:spcBef>
              <a:buClr>
                <a:srgbClr val="9DBEBD"/>
              </a:buClr>
              <a:buChar char="•"/>
              <a:tabLst>
                <a:tab pos="220345" algn="l"/>
              </a:tabLst>
            </a:pPr>
            <a:r>
              <a:rPr sz="2400" spc="-110" dirty="0">
                <a:latin typeface="Times New Roman" panose="02020603050405020304" pitchFamily="18" charset="0"/>
                <a:cs typeface="Times New Roman" panose="02020603050405020304" pitchFamily="18" charset="0"/>
              </a:rPr>
              <a:t> </a:t>
            </a:r>
            <a:r>
              <a:rPr lang="en-US" sz="2400" spc="-110" dirty="0">
                <a:latin typeface="Times New Roman" panose="02020603050405020304" pitchFamily="18" charset="0"/>
                <a:cs typeface="Times New Roman" panose="02020603050405020304" pitchFamily="18" charset="0"/>
              </a:rPr>
              <a:t>T</a:t>
            </a:r>
            <a:r>
              <a:rPr sz="2400" spc="-20" dirty="0">
                <a:latin typeface="Times New Roman" panose="02020603050405020304" pitchFamily="18" charset="0"/>
                <a:cs typeface="Times New Roman" panose="02020603050405020304" pitchFamily="18" charset="0"/>
              </a:rPr>
              <a:t>he </a:t>
            </a:r>
            <a:r>
              <a:rPr sz="2400" spc="-245" dirty="0">
                <a:latin typeface="Times New Roman" panose="02020603050405020304" pitchFamily="18" charset="0"/>
                <a:cs typeface="Times New Roman" panose="02020603050405020304" pitchFamily="18" charset="0"/>
              </a:rPr>
              <a:t>HTTP</a:t>
            </a:r>
            <a:r>
              <a:rPr sz="2400" spc="65" dirty="0">
                <a:latin typeface="Times New Roman" panose="02020603050405020304" pitchFamily="18" charset="0"/>
                <a:cs typeface="Times New Roman" panose="02020603050405020304" pitchFamily="18" charset="0"/>
              </a:rPr>
              <a:t> </a:t>
            </a:r>
            <a:r>
              <a:rPr sz="2400" spc="-40" dirty="0">
                <a:latin typeface="Times New Roman" panose="02020603050405020304" pitchFamily="18" charset="0"/>
                <a:cs typeface="Times New Roman" panose="02020603050405020304" pitchFamily="18" charset="0"/>
              </a:rPr>
              <a:t>protocol </a:t>
            </a:r>
            <a:r>
              <a:rPr sz="2400" spc="-80" dirty="0">
                <a:highlight>
                  <a:srgbClr val="00FFFF"/>
                </a:highlight>
                <a:latin typeface="Times New Roman" panose="02020603050405020304" pitchFamily="18" charset="0"/>
                <a:cs typeface="Times New Roman" panose="02020603050405020304" pitchFamily="18" charset="0"/>
              </a:rPr>
              <a:t>defines </a:t>
            </a:r>
            <a:r>
              <a:rPr sz="2400" spc="-20" dirty="0">
                <a:highlight>
                  <a:srgbClr val="00FFFF"/>
                </a:highlight>
                <a:latin typeface="Times New Roman" panose="02020603050405020304" pitchFamily="18" charset="0"/>
                <a:cs typeface="Times New Roman" panose="02020603050405020304" pitchFamily="18" charset="0"/>
              </a:rPr>
              <a:t>the </a:t>
            </a:r>
            <a:r>
              <a:rPr sz="2400" spc="-155" dirty="0">
                <a:highlight>
                  <a:srgbClr val="00FFFF"/>
                </a:highlight>
                <a:latin typeface="Times New Roman" panose="02020603050405020304" pitchFamily="18" charset="0"/>
                <a:cs typeface="Times New Roman" panose="02020603050405020304" pitchFamily="18" charset="0"/>
              </a:rPr>
              <a:t>message </a:t>
            </a:r>
            <a:r>
              <a:rPr sz="2400" spc="-75" dirty="0">
                <a:highlight>
                  <a:srgbClr val="00FFFF"/>
                </a:highlight>
                <a:latin typeface="Times New Roman" panose="02020603050405020304" pitchFamily="18" charset="0"/>
                <a:cs typeface="Times New Roman" panose="02020603050405020304" pitchFamily="18" charset="0"/>
              </a:rPr>
              <a:t>types </a:t>
            </a:r>
            <a:r>
              <a:rPr lang="en-US" sz="2400" spc="-75" dirty="0">
                <a:highlight>
                  <a:srgbClr val="00FFFF"/>
                </a:highlight>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the </a:t>
            </a:r>
            <a:r>
              <a:rPr sz="2400" spc="-40" dirty="0">
                <a:highlight>
                  <a:srgbClr val="00FF00"/>
                </a:highlight>
                <a:latin typeface="Times New Roman" panose="02020603050405020304" pitchFamily="18" charset="0"/>
                <a:cs typeface="Times New Roman" panose="02020603050405020304" pitchFamily="18" charset="0"/>
              </a:rPr>
              <a:t>client </a:t>
            </a:r>
            <a:r>
              <a:rPr sz="2400" spc="-160" dirty="0">
                <a:highlight>
                  <a:srgbClr val="00FF00"/>
                </a:highlight>
                <a:latin typeface="Times New Roman" panose="02020603050405020304" pitchFamily="18" charset="0"/>
                <a:cs typeface="Times New Roman" panose="02020603050405020304" pitchFamily="18" charset="0"/>
              </a:rPr>
              <a:t>uses </a:t>
            </a:r>
            <a:r>
              <a:rPr sz="2400" spc="5" dirty="0">
                <a:highlight>
                  <a:srgbClr val="00FF00"/>
                </a:highlight>
                <a:latin typeface="Times New Roman" panose="02020603050405020304" pitchFamily="18" charset="0"/>
                <a:cs typeface="Times New Roman" panose="02020603050405020304" pitchFamily="18" charset="0"/>
              </a:rPr>
              <a:t>to  </a:t>
            </a:r>
            <a:r>
              <a:rPr sz="2400" spc="-70" dirty="0">
                <a:highlight>
                  <a:srgbClr val="00FF00"/>
                </a:highlight>
                <a:latin typeface="Times New Roman" panose="02020603050405020304" pitchFamily="18" charset="0"/>
                <a:cs typeface="Times New Roman" panose="02020603050405020304" pitchFamily="18" charset="0"/>
              </a:rPr>
              <a:t>request </a:t>
            </a:r>
            <a:r>
              <a:rPr sz="2400" spc="-20" dirty="0">
                <a:highlight>
                  <a:srgbClr val="00FF00"/>
                </a:highlight>
                <a:latin typeface="Times New Roman" panose="02020603050405020304" pitchFamily="18" charset="0"/>
                <a:cs typeface="Times New Roman" panose="02020603050405020304" pitchFamily="18" charset="0"/>
              </a:rPr>
              <a:t>the </a:t>
            </a:r>
            <a:r>
              <a:rPr sz="2400" spc="-70" dirty="0">
                <a:highlight>
                  <a:srgbClr val="00FF00"/>
                </a:highlight>
                <a:latin typeface="Times New Roman" panose="02020603050405020304" pitchFamily="18" charset="0"/>
                <a:cs typeface="Times New Roman" panose="02020603050405020304" pitchFamily="18" charset="0"/>
              </a:rPr>
              <a:t>web </a:t>
            </a:r>
            <a:r>
              <a:rPr sz="2400" spc="-130" dirty="0">
                <a:highlight>
                  <a:srgbClr val="00FF00"/>
                </a:highlight>
                <a:latin typeface="Times New Roman" panose="02020603050405020304" pitchFamily="18" charset="0"/>
                <a:cs typeface="Times New Roman" panose="02020603050405020304" pitchFamily="18" charset="0"/>
              </a:rPr>
              <a:t>page </a:t>
            </a:r>
            <a:r>
              <a:rPr sz="2400" spc="-95" dirty="0">
                <a:highlight>
                  <a:srgbClr val="00FF00"/>
                </a:highlight>
                <a:latin typeface="Times New Roman" panose="02020603050405020304" pitchFamily="18" charset="0"/>
                <a:cs typeface="Times New Roman" panose="02020603050405020304" pitchFamily="18" charset="0"/>
              </a:rPr>
              <a:t>and</a:t>
            </a:r>
            <a:endParaRPr lang="en-US" sz="2400" spc="-95" dirty="0">
              <a:highlight>
                <a:srgbClr val="00FF00"/>
              </a:highlight>
              <a:latin typeface="Times New Roman" panose="02020603050405020304" pitchFamily="18" charset="0"/>
              <a:cs typeface="Times New Roman" panose="02020603050405020304" pitchFamily="18" charset="0"/>
            </a:endParaRPr>
          </a:p>
          <a:p>
            <a:pPr marL="104139" marR="5080" indent="228600">
              <a:lnSpc>
                <a:spcPct val="75000"/>
              </a:lnSpc>
              <a:spcBef>
                <a:spcPts val="1405"/>
              </a:spcBef>
              <a:buClr>
                <a:srgbClr val="9DBEBD"/>
              </a:buClr>
              <a:buChar char="•"/>
              <a:tabLst>
                <a:tab pos="220345" algn="l"/>
              </a:tabLst>
            </a:pPr>
            <a:r>
              <a:rPr sz="2400" spc="-95" dirty="0">
                <a:latin typeface="Times New Roman" panose="02020603050405020304" pitchFamily="18" charset="0"/>
                <a:cs typeface="Times New Roman" panose="02020603050405020304" pitchFamily="18" charset="0"/>
              </a:rPr>
              <a:t> </a:t>
            </a:r>
            <a:r>
              <a:rPr lang="en-US" sz="2400" spc="-20" dirty="0">
                <a:latin typeface="Times New Roman" panose="02020603050405020304" pitchFamily="18" charset="0"/>
                <a:cs typeface="Times New Roman" panose="02020603050405020304" pitchFamily="18" charset="0"/>
              </a:rPr>
              <a:t>T</a:t>
            </a:r>
            <a:r>
              <a:rPr sz="2400" spc="-20" dirty="0">
                <a:latin typeface="Times New Roman" panose="02020603050405020304" pitchFamily="18" charset="0"/>
                <a:cs typeface="Times New Roman" panose="02020603050405020304" pitchFamily="18" charset="0"/>
              </a:rPr>
              <a:t>he </a:t>
            </a:r>
            <a:r>
              <a:rPr sz="2400" spc="-155" dirty="0">
                <a:latin typeface="Times New Roman" panose="02020603050405020304" pitchFamily="18" charset="0"/>
                <a:cs typeface="Times New Roman" panose="02020603050405020304" pitchFamily="18" charset="0"/>
              </a:rPr>
              <a:t>message </a:t>
            </a:r>
            <a:r>
              <a:rPr sz="2400" spc="-75" dirty="0">
                <a:latin typeface="Times New Roman" panose="02020603050405020304" pitchFamily="18" charset="0"/>
                <a:cs typeface="Times New Roman" panose="02020603050405020304" pitchFamily="18" charset="0"/>
              </a:rPr>
              <a:t>types </a:t>
            </a:r>
            <a:r>
              <a:rPr sz="2400" spc="-20" dirty="0">
                <a:highlight>
                  <a:srgbClr val="00FF00"/>
                </a:highlight>
                <a:latin typeface="Times New Roman" panose="02020603050405020304" pitchFamily="18" charset="0"/>
                <a:cs typeface="Times New Roman" panose="02020603050405020304" pitchFamily="18" charset="0"/>
              </a:rPr>
              <a:t>the </a:t>
            </a:r>
            <a:r>
              <a:rPr sz="2400" spc="-85" dirty="0">
                <a:highlight>
                  <a:srgbClr val="00FF00"/>
                </a:highlight>
                <a:latin typeface="Times New Roman" panose="02020603050405020304" pitchFamily="18" charset="0"/>
                <a:cs typeface="Times New Roman" panose="02020603050405020304" pitchFamily="18" charset="0"/>
              </a:rPr>
              <a:t>server </a:t>
            </a:r>
            <a:r>
              <a:rPr sz="2400" spc="-160" dirty="0">
                <a:highlight>
                  <a:srgbClr val="00FF00"/>
                </a:highlight>
                <a:latin typeface="Times New Roman" panose="02020603050405020304" pitchFamily="18" charset="0"/>
                <a:cs typeface="Times New Roman" panose="02020603050405020304" pitchFamily="18" charset="0"/>
              </a:rPr>
              <a:t>uses </a:t>
            </a:r>
            <a:r>
              <a:rPr sz="2400" spc="15" dirty="0">
                <a:highlight>
                  <a:srgbClr val="00FF00"/>
                </a:highlight>
                <a:latin typeface="Times New Roman" panose="02020603050405020304" pitchFamily="18" charset="0"/>
                <a:cs typeface="Times New Roman" panose="02020603050405020304" pitchFamily="18" charset="0"/>
              </a:rPr>
              <a:t>to</a:t>
            </a:r>
            <a:r>
              <a:rPr sz="2400" spc="-370" dirty="0">
                <a:highlight>
                  <a:srgbClr val="00FF00"/>
                </a:highlight>
                <a:latin typeface="Times New Roman" panose="02020603050405020304" pitchFamily="18" charset="0"/>
                <a:cs typeface="Times New Roman" panose="02020603050405020304" pitchFamily="18" charset="0"/>
              </a:rPr>
              <a:t> </a:t>
            </a:r>
            <a:r>
              <a:rPr sz="2400" spc="-85" dirty="0">
                <a:highlight>
                  <a:srgbClr val="00FF00"/>
                </a:highlight>
                <a:latin typeface="Times New Roman" panose="02020603050405020304" pitchFamily="18" charset="0"/>
                <a:cs typeface="Times New Roman" panose="02020603050405020304" pitchFamily="18" charset="0"/>
              </a:rPr>
              <a:t>respond</a:t>
            </a:r>
            <a:endParaRPr sz="2400" dirty="0">
              <a:highlight>
                <a:srgbClr val="00FF00"/>
              </a:highlight>
              <a:latin typeface="Times New Roman" panose="02020603050405020304" pitchFamily="18" charset="0"/>
              <a:cs typeface="Times New Roman" panose="02020603050405020304" pitchFamily="18" charset="0"/>
            </a:endParaRPr>
          </a:p>
          <a:p>
            <a:pPr marL="160020" indent="228600">
              <a:lnSpc>
                <a:spcPct val="75000"/>
              </a:lnSpc>
              <a:spcBef>
                <a:spcPts val="1120"/>
              </a:spcBef>
              <a:buClr>
                <a:srgbClr val="9DBEBD"/>
              </a:buClr>
              <a:buChar char="•"/>
              <a:tabLst>
                <a:tab pos="160655" algn="l"/>
              </a:tabLst>
            </a:pPr>
            <a:r>
              <a:rPr sz="2400" spc="-145" dirty="0">
                <a:latin typeface="Times New Roman" panose="02020603050405020304" pitchFamily="18" charset="0"/>
                <a:cs typeface="Times New Roman" panose="02020603050405020304" pitchFamily="18" charset="0"/>
              </a:rPr>
              <a:t>The </a:t>
            </a:r>
            <a:r>
              <a:rPr sz="2400" spc="-35" dirty="0">
                <a:latin typeface="Times New Roman" panose="02020603050405020304" pitchFamily="18" charset="0"/>
                <a:cs typeface="Times New Roman" panose="02020603050405020304" pitchFamily="18" charset="0"/>
              </a:rPr>
              <a:t>three </a:t>
            </a:r>
            <a:r>
              <a:rPr sz="2400" spc="-85" dirty="0">
                <a:latin typeface="Times New Roman" panose="02020603050405020304" pitchFamily="18" charset="0"/>
                <a:cs typeface="Times New Roman" panose="02020603050405020304" pitchFamily="18" charset="0"/>
              </a:rPr>
              <a:t>common </a:t>
            </a:r>
            <a:r>
              <a:rPr sz="2400" spc="-155" dirty="0">
                <a:latin typeface="Times New Roman" panose="02020603050405020304" pitchFamily="18" charset="0"/>
                <a:cs typeface="Times New Roman" panose="02020603050405020304" pitchFamily="18" charset="0"/>
              </a:rPr>
              <a:t>message </a:t>
            </a:r>
            <a:r>
              <a:rPr sz="2400" spc="-75" dirty="0">
                <a:latin typeface="Times New Roman" panose="02020603050405020304" pitchFamily="18" charset="0"/>
                <a:cs typeface="Times New Roman" panose="02020603050405020304" pitchFamily="18" charset="0"/>
              </a:rPr>
              <a:t>types</a:t>
            </a:r>
            <a:r>
              <a:rPr sz="2400" spc="-114" dirty="0">
                <a:latin typeface="Times New Roman" panose="02020603050405020304" pitchFamily="18" charset="0"/>
                <a:cs typeface="Times New Roman" panose="02020603050405020304" pitchFamily="18" charset="0"/>
              </a:rPr>
              <a:t> </a:t>
            </a:r>
            <a:r>
              <a:rPr sz="2400" spc="-75" dirty="0">
                <a:latin typeface="Times New Roman" panose="02020603050405020304" pitchFamily="18" charset="0"/>
                <a:cs typeface="Times New Roman" panose="02020603050405020304" pitchFamily="18" charset="0"/>
              </a:rPr>
              <a:t>are:</a:t>
            </a:r>
            <a:endParaRPr sz="2400" dirty="0">
              <a:latin typeface="Times New Roman" panose="02020603050405020304" pitchFamily="18" charset="0"/>
              <a:cs typeface="Times New Roman" panose="02020603050405020304" pitchFamily="18" charset="0"/>
            </a:endParaRPr>
          </a:p>
          <a:p>
            <a:pPr marL="315595" lvl="1" indent="228600">
              <a:lnSpc>
                <a:spcPct val="75000"/>
              </a:lnSpc>
              <a:spcBef>
                <a:spcPts val="1175"/>
              </a:spcBef>
              <a:buChar char="■"/>
              <a:tabLst>
                <a:tab pos="316230" algn="l"/>
              </a:tabLst>
            </a:pPr>
            <a:r>
              <a:rPr sz="2400" spc="-305" dirty="0">
                <a:highlight>
                  <a:srgbClr val="00FFFF"/>
                </a:highlight>
                <a:latin typeface="Times New Roman" panose="02020603050405020304" pitchFamily="18" charset="0"/>
                <a:cs typeface="Times New Roman" panose="02020603050405020304" pitchFamily="18" charset="0"/>
              </a:rPr>
              <a:t>GET</a:t>
            </a:r>
            <a:r>
              <a:rPr lang="en-US" sz="2400" spc="-305" dirty="0">
                <a:latin typeface="Times New Roman" panose="02020603050405020304" pitchFamily="18" charset="0"/>
                <a:cs typeface="Times New Roman" panose="02020603050405020304" pitchFamily="18" charset="0"/>
              </a:rPr>
              <a:t>     </a:t>
            </a:r>
            <a:r>
              <a:rPr sz="2400" spc="-300" dirty="0">
                <a:highlight>
                  <a:srgbClr val="00FF00"/>
                </a:highlight>
                <a:latin typeface="Times New Roman" panose="02020603050405020304" pitchFamily="18" charset="0"/>
                <a:cs typeface="Times New Roman" panose="02020603050405020304" pitchFamily="18" charset="0"/>
              </a:rPr>
              <a:t>POST</a:t>
            </a:r>
            <a:r>
              <a:rPr lang="en-US" sz="2400" spc="-300" dirty="0">
                <a:highlight>
                  <a:srgbClr val="00FF00"/>
                </a:highlight>
                <a:latin typeface="Times New Roman" panose="02020603050405020304" pitchFamily="18" charset="0"/>
                <a:cs typeface="Times New Roman" panose="02020603050405020304" pitchFamily="18" charset="0"/>
              </a:rPr>
              <a:t> </a:t>
            </a:r>
            <a:r>
              <a:rPr lang="en-US" sz="2400" spc="-300" dirty="0">
                <a:latin typeface="Times New Roman" panose="02020603050405020304" pitchFamily="18" charset="0"/>
                <a:cs typeface="Times New Roman" panose="02020603050405020304" pitchFamily="18" charset="0"/>
              </a:rPr>
              <a:t>   </a:t>
            </a:r>
            <a:r>
              <a:rPr sz="2400" spc="-240" dirty="0">
                <a:latin typeface="Times New Roman" panose="02020603050405020304" pitchFamily="18" charset="0"/>
                <a:cs typeface="Times New Roman" panose="02020603050405020304" pitchFamily="18" charset="0"/>
              </a:rPr>
              <a:t>PUT</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3982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504424"/>
            <a:ext cx="7808976" cy="1088136"/>
          </a:xfrm>
        </p:spPr>
        <p:txBody>
          <a:bodyPr>
            <a:normAutofit/>
          </a:bodyPr>
          <a:lstStyle/>
          <a:p>
            <a:r>
              <a:rPr lang="en-US" sz="4000" spc="-220" dirty="0"/>
              <a:t>Application </a:t>
            </a:r>
            <a:r>
              <a:rPr lang="en-US" sz="4000" spc="-390" dirty="0"/>
              <a:t>Layer  </a:t>
            </a:r>
            <a:r>
              <a:rPr lang="en-US" sz="4000" spc="-229" dirty="0"/>
              <a:t>Protocol:</a:t>
            </a:r>
            <a:r>
              <a:rPr lang="en-US" sz="4000" spc="-475" dirty="0"/>
              <a:t> </a:t>
            </a:r>
            <a:r>
              <a:rPr lang="en-US" sz="4000" spc="-645" dirty="0"/>
              <a:t>HTTP     (c  o  n  t   .)	</a:t>
            </a:r>
            <a:endParaRPr lang="en-US" sz="4000" dirty="0"/>
          </a:p>
        </p:txBody>
      </p:sp>
      <p:sp>
        <p:nvSpPr>
          <p:cNvPr id="4" name="object 5"/>
          <p:cNvSpPr txBox="1"/>
          <p:nvPr/>
        </p:nvSpPr>
        <p:spPr>
          <a:xfrm>
            <a:off x="164942" y="2233756"/>
            <a:ext cx="8798949" cy="4186274"/>
          </a:xfrm>
          <a:prstGeom prst="rect">
            <a:avLst/>
          </a:prstGeom>
        </p:spPr>
        <p:txBody>
          <a:bodyPr vert="horz" wrap="square" lIns="0" tIns="43180" rIns="0" bIns="0" rtlCol="0">
            <a:spAutoFit/>
          </a:bodyPr>
          <a:lstStyle/>
          <a:p>
            <a:pPr marL="469900" marR="5080" indent="-457200">
              <a:lnSpc>
                <a:spcPct val="90000"/>
              </a:lnSpc>
              <a:spcBef>
                <a:spcPts val="340"/>
              </a:spcBef>
              <a:buFont typeface="Wingdings" panose="05000000000000000000" pitchFamily="2" charset="2"/>
              <a:buChar char="§"/>
            </a:pPr>
            <a:r>
              <a:rPr sz="3200" spc="-265" dirty="0">
                <a:highlight>
                  <a:srgbClr val="00FF00"/>
                </a:highlight>
                <a:latin typeface="Times New Roman" panose="02020603050405020304" pitchFamily="18" charset="0"/>
                <a:cs typeface="Times New Roman" panose="02020603050405020304" pitchFamily="18" charset="0"/>
              </a:rPr>
              <a:t>GET: </a:t>
            </a:r>
            <a:r>
              <a:rPr sz="3200" spc="25" dirty="0">
                <a:latin typeface="Times New Roman" panose="02020603050405020304" pitchFamily="18" charset="0"/>
                <a:cs typeface="Times New Roman" panose="02020603050405020304" pitchFamily="18" charset="0"/>
              </a:rPr>
              <a:t>It </a:t>
            </a:r>
            <a:r>
              <a:rPr sz="3200" spc="-105" dirty="0">
                <a:latin typeface="Times New Roman" panose="02020603050405020304" pitchFamily="18" charset="0"/>
                <a:cs typeface="Times New Roman" panose="02020603050405020304" pitchFamily="18" charset="0"/>
              </a:rPr>
              <a:t>is </a:t>
            </a:r>
            <a:r>
              <a:rPr sz="3200" spc="-155" dirty="0">
                <a:latin typeface="Times New Roman" panose="02020603050405020304" pitchFamily="18" charset="0"/>
                <a:cs typeface="Times New Roman" panose="02020603050405020304" pitchFamily="18" charset="0"/>
              </a:rPr>
              <a:t>a </a:t>
            </a:r>
            <a:r>
              <a:rPr sz="3200" spc="-40" dirty="0">
                <a:latin typeface="Times New Roman" panose="02020603050405020304" pitchFamily="18" charset="0"/>
                <a:cs typeface="Times New Roman" panose="02020603050405020304" pitchFamily="18" charset="0"/>
              </a:rPr>
              <a:t>client </a:t>
            </a:r>
            <a:r>
              <a:rPr sz="3200" spc="-70" dirty="0">
                <a:latin typeface="Times New Roman" panose="02020603050405020304" pitchFamily="18" charset="0"/>
                <a:cs typeface="Times New Roman" panose="02020603050405020304" pitchFamily="18" charset="0"/>
              </a:rPr>
              <a:t>request </a:t>
            </a:r>
            <a:r>
              <a:rPr sz="3200" spc="-5" dirty="0">
                <a:latin typeface="Times New Roman" panose="02020603050405020304" pitchFamily="18" charset="0"/>
                <a:cs typeface="Times New Roman" panose="02020603050405020304" pitchFamily="18" charset="0"/>
              </a:rPr>
              <a:t>for </a:t>
            </a:r>
            <a:r>
              <a:rPr sz="3200" spc="-75" dirty="0">
                <a:latin typeface="Times New Roman" panose="02020603050405020304" pitchFamily="18" charset="0"/>
                <a:cs typeface="Times New Roman" panose="02020603050405020304" pitchFamily="18" charset="0"/>
              </a:rPr>
              <a:t>data.</a:t>
            </a:r>
            <a:endParaRPr lang="en-US" sz="3200" spc="-75" dirty="0">
              <a:latin typeface="Times New Roman" panose="02020603050405020304" pitchFamily="18" charset="0"/>
              <a:cs typeface="Times New Roman" panose="02020603050405020304" pitchFamily="18" charset="0"/>
            </a:endParaRPr>
          </a:p>
          <a:p>
            <a:pPr marL="469900" marR="5080" indent="-457200">
              <a:lnSpc>
                <a:spcPct val="90000"/>
              </a:lnSpc>
              <a:spcBef>
                <a:spcPts val="340"/>
              </a:spcBef>
              <a:buFont typeface="Wingdings" panose="05000000000000000000" pitchFamily="2" charset="2"/>
              <a:buChar char="§"/>
            </a:pPr>
            <a:r>
              <a:rPr sz="3200" spc="-75" dirty="0">
                <a:latin typeface="Times New Roman" panose="02020603050405020304" pitchFamily="18" charset="0"/>
                <a:cs typeface="Times New Roman" panose="02020603050405020304" pitchFamily="18" charset="0"/>
              </a:rPr>
              <a:t> </a:t>
            </a:r>
            <a:r>
              <a:rPr sz="3200" spc="-175" dirty="0">
                <a:latin typeface="Times New Roman" panose="02020603050405020304" pitchFamily="18" charset="0"/>
                <a:cs typeface="Times New Roman" panose="02020603050405020304" pitchFamily="18" charset="0"/>
              </a:rPr>
              <a:t>A </a:t>
            </a:r>
            <a:r>
              <a:rPr lang="en-US" sz="3200" spc="-175" dirty="0">
                <a:latin typeface="Times New Roman" panose="02020603050405020304" pitchFamily="18" charset="0"/>
                <a:cs typeface="Times New Roman" panose="02020603050405020304" pitchFamily="18" charset="0"/>
              </a:rPr>
              <a:t> </a:t>
            </a:r>
            <a:r>
              <a:rPr sz="3200" spc="-70" dirty="0">
                <a:latin typeface="Times New Roman" panose="02020603050405020304" pitchFamily="18" charset="0"/>
                <a:cs typeface="Times New Roman" panose="02020603050405020304" pitchFamily="18" charset="0"/>
              </a:rPr>
              <a:t>web browser </a:t>
            </a:r>
            <a:r>
              <a:rPr sz="3200" spc="-140" dirty="0">
                <a:latin typeface="Times New Roman" panose="02020603050405020304" pitchFamily="18" charset="0"/>
                <a:cs typeface="Times New Roman" panose="02020603050405020304" pitchFamily="18" charset="0"/>
              </a:rPr>
              <a:t>sends </a:t>
            </a:r>
            <a:r>
              <a:rPr sz="3200" spc="-20" dirty="0">
                <a:latin typeface="Times New Roman" panose="02020603050405020304" pitchFamily="18" charset="0"/>
                <a:cs typeface="Times New Roman" panose="02020603050405020304" pitchFamily="18" charset="0"/>
              </a:rPr>
              <a:t>the </a:t>
            </a:r>
            <a:r>
              <a:rPr sz="3200" spc="-300" dirty="0">
                <a:latin typeface="Times New Roman" panose="02020603050405020304" pitchFamily="18" charset="0"/>
                <a:cs typeface="Times New Roman" panose="02020603050405020304" pitchFamily="18" charset="0"/>
              </a:rPr>
              <a:t>GET </a:t>
            </a:r>
            <a:r>
              <a:rPr sz="3200" spc="-155" dirty="0">
                <a:latin typeface="Times New Roman" panose="02020603050405020304" pitchFamily="18" charset="0"/>
                <a:cs typeface="Times New Roman" panose="02020603050405020304" pitchFamily="18" charset="0"/>
              </a:rPr>
              <a:t>message </a:t>
            </a:r>
            <a:r>
              <a:rPr sz="3200" spc="15" dirty="0">
                <a:latin typeface="Times New Roman" panose="02020603050405020304" pitchFamily="18" charset="0"/>
                <a:cs typeface="Times New Roman" panose="02020603050405020304" pitchFamily="18" charset="0"/>
              </a:rPr>
              <a:t>to </a:t>
            </a:r>
            <a:r>
              <a:rPr sz="3200" spc="-70" dirty="0">
                <a:latin typeface="Times New Roman" panose="02020603050405020304" pitchFamily="18" charset="0"/>
                <a:cs typeface="Times New Roman" panose="02020603050405020304" pitchFamily="18" charset="0"/>
              </a:rPr>
              <a:t>request </a:t>
            </a:r>
            <a:r>
              <a:rPr sz="3200" spc="-150" dirty="0">
                <a:latin typeface="Times New Roman" panose="02020603050405020304" pitchFamily="18" charset="0"/>
                <a:cs typeface="Times New Roman" panose="02020603050405020304" pitchFamily="18" charset="0"/>
              </a:rPr>
              <a:t>pages </a:t>
            </a:r>
            <a:r>
              <a:rPr sz="3200" spc="-25" dirty="0">
                <a:latin typeface="Times New Roman" panose="02020603050405020304" pitchFamily="18" charset="0"/>
                <a:cs typeface="Times New Roman" panose="02020603050405020304" pitchFamily="18" charset="0"/>
              </a:rPr>
              <a:t>from  </a:t>
            </a:r>
            <a:r>
              <a:rPr sz="3200" spc="-155" dirty="0">
                <a:latin typeface="Times New Roman" panose="02020603050405020304" pitchFamily="18" charset="0"/>
                <a:cs typeface="Times New Roman" panose="02020603050405020304" pitchFamily="18" charset="0"/>
              </a:rPr>
              <a:t>a </a:t>
            </a:r>
            <a:r>
              <a:rPr sz="3200" spc="-70" dirty="0">
                <a:latin typeface="Times New Roman" panose="02020603050405020304" pitchFamily="18" charset="0"/>
                <a:cs typeface="Times New Roman" panose="02020603050405020304" pitchFamily="18" charset="0"/>
              </a:rPr>
              <a:t>web </a:t>
            </a:r>
            <a:r>
              <a:rPr sz="3200" spc="-110" dirty="0">
                <a:latin typeface="Times New Roman" panose="02020603050405020304" pitchFamily="18" charset="0"/>
                <a:cs typeface="Times New Roman" panose="02020603050405020304" pitchFamily="18" charset="0"/>
              </a:rPr>
              <a:t>server. </a:t>
            </a:r>
            <a:endParaRPr lang="en-US" sz="3200" spc="-110" dirty="0">
              <a:latin typeface="Times New Roman" panose="02020603050405020304" pitchFamily="18" charset="0"/>
              <a:cs typeface="Times New Roman" panose="02020603050405020304" pitchFamily="18" charset="0"/>
            </a:endParaRPr>
          </a:p>
          <a:p>
            <a:pPr marL="469900" marR="5080" indent="-457200">
              <a:lnSpc>
                <a:spcPct val="90000"/>
              </a:lnSpc>
              <a:spcBef>
                <a:spcPts val="340"/>
              </a:spcBef>
              <a:buFont typeface="Wingdings" panose="05000000000000000000" pitchFamily="2" charset="2"/>
              <a:buChar char="§"/>
            </a:pPr>
            <a:r>
              <a:rPr sz="3200" spc="-200" dirty="0">
                <a:latin typeface="Times New Roman" panose="02020603050405020304" pitchFamily="18" charset="0"/>
                <a:cs typeface="Times New Roman" panose="02020603050405020304" pitchFamily="18" charset="0"/>
              </a:rPr>
              <a:t>As </a:t>
            </a:r>
            <a:r>
              <a:rPr sz="3200" spc="-85" dirty="0">
                <a:latin typeface="Times New Roman" panose="02020603050405020304" pitchFamily="18" charset="0"/>
                <a:cs typeface="Times New Roman" panose="02020603050405020304" pitchFamily="18" charset="0"/>
              </a:rPr>
              <a:t>shown </a:t>
            </a:r>
            <a:r>
              <a:rPr sz="3200" spc="-25" dirty="0">
                <a:latin typeface="Times New Roman" panose="02020603050405020304" pitchFamily="18" charset="0"/>
                <a:cs typeface="Times New Roman" panose="02020603050405020304" pitchFamily="18" charset="0"/>
              </a:rPr>
              <a:t>in </a:t>
            </a:r>
            <a:r>
              <a:rPr sz="3200" spc="-100" dirty="0">
                <a:latin typeface="Times New Roman" panose="02020603050405020304" pitchFamily="18" charset="0"/>
                <a:cs typeface="Times New Roman" panose="02020603050405020304" pitchFamily="18" charset="0"/>
              </a:rPr>
              <a:t>Figure, </a:t>
            </a:r>
            <a:r>
              <a:rPr sz="3200" spc="-65" dirty="0">
                <a:latin typeface="Times New Roman" panose="02020603050405020304" pitchFamily="18" charset="0"/>
                <a:cs typeface="Times New Roman" panose="02020603050405020304" pitchFamily="18" charset="0"/>
              </a:rPr>
              <a:t>when </a:t>
            </a:r>
            <a:r>
              <a:rPr sz="3200" spc="-20" dirty="0">
                <a:latin typeface="Times New Roman" panose="02020603050405020304" pitchFamily="18" charset="0"/>
                <a:cs typeface="Times New Roman" panose="02020603050405020304" pitchFamily="18" charset="0"/>
              </a:rPr>
              <a:t>the </a:t>
            </a:r>
            <a:r>
              <a:rPr sz="3200" spc="-85" dirty="0">
                <a:latin typeface="Times New Roman" panose="02020603050405020304" pitchFamily="18" charset="0"/>
                <a:cs typeface="Times New Roman" panose="02020603050405020304" pitchFamily="18" charset="0"/>
              </a:rPr>
              <a:t>server </a:t>
            </a:r>
            <a:r>
              <a:rPr sz="3200" spc="-105" dirty="0">
                <a:latin typeface="Times New Roman" panose="02020603050405020304" pitchFamily="18" charset="0"/>
                <a:cs typeface="Times New Roman" panose="02020603050405020304" pitchFamily="18" charset="0"/>
              </a:rPr>
              <a:t>receives </a:t>
            </a:r>
            <a:r>
              <a:rPr sz="3200" spc="-20" dirty="0">
                <a:latin typeface="Times New Roman" panose="02020603050405020304" pitchFamily="18" charset="0"/>
                <a:cs typeface="Times New Roman" panose="02020603050405020304" pitchFamily="18" charset="0"/>
              </a:rPr>
              <a:t>the </a:t>
            </a:r>
            <a:r>
              <a:rPr sz="3200" spc="-300" dirty="0">
                <a:latin typeface="Times New Roman" panose="02020603050405020304" pitchFamily="18" charset="0"/>
                <a:cs typeface="Times New Roman" panose="02020603050405020304" pitchFamily="18" charset="0"/>
              </a:rPr>
              <a:t>GET </a:t>
            </a:r>
            <a:r>
              <a:rPr sz="3200" spc="-70" dirty="0">
                <a:latin typeface="Times New Roman" panose="02020603050405020304" pitchFamily="18" charset="0"/>
                <a:cs typeface="Times New Roman" panose="02020603050405020304" pitchFamily="18" charset="0"/>
              </a:rPr>
              <a:t>request,</a:t>
            </a:r>
            <a:endParaRPr lang="en-US" sz="3200" spc="-70" dirty="0">
              <a:latin typeface="Times New Roman" panose="02020603050405020304" pitchFamily="18" charset="0"/>
              <a:cs typeface="Times New Roman" panose="02020603050405020304" pitchFamily="18" charset="0"/>
            </a:endParaRPr>
          </a:p>
          <a:p>
            <a:pPr marL="469900" marR="5080" indent="-457200">
              <a:lnSpc>
                <a:spcPct val="90000"/>
              </a:lnSpc>
              <a:spcBef>
                <a:spcPts val="340"/>
              </a:spcBef>
              <a:buFont typeface="Wingdings" panose="05000000000000000000" pitchFamily="2" charset="2"/>
              <a:buChar char="§"/>
            </a:pPr>
            <a:r>
              <a:rPr sz="3200" spc="-70" dirty="0">
                <a:latin typeface="Times New Roman" panose="02020603050405020304" pitchFamily="18" charset="0"/>
                <a:cs typeface="Times New Roman" panose="02020603050405020304" pitchFamily="18" charset="0"/>
              </a:rPr>
              <a:t> </a:t>
            </a:r>
            <a:r>
              <a:rPr lang="en-US" sz="3200" spc="65" dirty="0">
                <a:latin typeface="Times New Roman" panose="02020603050405020304" pitchFamily="18" charset="0"/>
                <a:cs typeface="Times New Roman" panose="02020603050405020304" pitchFamily="18" charset="0"/>
              </a:rPr>
              <a:t>I</a:t>
            </a:r>
            <a:r>
              <a:rPr sz="3200" spc="65" dirty="0">
                <a:latin typeface="Times New Roman" panose="02020603050405020304" pitchFamily="18" charset="0"/>
                <a:cs typeface="Times New Roman" panose="02020603050405020304" pitchFamily="18" charset="0"/>
              </a:rPr>
              <a:t>t </a:t>
            </a:r>
            <a:r>
              <a:rPr sz="3200" spc="-100" dirty="0">
                <a:latin typeface="Times New Roman" panose="02020603050405020304" pitchFamily="18" charset="0"/>
                <a:cs typeface="Times New Roman" panose="02020603050405020304" pitchFamily="18" charset="0"/>
              </a:rPr>
              <a:t>responds </a:t>
            </a:r>
            <a:r>
              <a:rPr sz="3200" spc="10" dirty="0">
                <a:latin typeface="Times New Roman" panose="02020603050405020304" pitchFamily="18" charset="0"/>
                <a:cs typeface="Times New Roman" panose="02020603050405020304" pitchFamily="18" charset="0"/>
              </a:rPr>
              <a:t>with </a:t>
            </a:r>
            <a:r>
              <a:rPr sz="3200" spc="-155" dirty="0">
                <a:latin typeface="Times New Roman" panose="02020603050405020304" pitchFamily="18" charset="0"/>
                <a:cs typeface="Times New Roman" panose="02020603050405020304" pitchFamily="18" charset="0"/>
              </a:rPr>
              <a:t>a  </a:t>
            </a:r>
            <a:r>
              <a:rPr sz="3200" spc="-85" dirty="0">
                <a:latin typeface="Times New Roman" panose="02020603050405020304" pitchFamily="18" charset="0"/>
                <a:cs typeface="Times New Roman" panose="02020603050405020304" pitchFamily="18" charset="0"/>
              </a:rPr>
              <a:t>status </a:t>
            </a:r>
            <a:r>
              <a:rPr sz="3200" spc="-45" dirty="0">
                <a:latin typeface="Times New Roman" panose="02020603050405020304" pitchFamily="18" charset="0"/>
                <a:cs typeface="Times New Roman" panose="02020603050405020304" pitchFamily="18" charset="0"/>
              </a:rPr>
              <a:t>line, </a:t>
            </a:r>
            <a:r>
              <a:rPr sz="3200" spc="-130" dirty="0">
                <a:latin typeface="Times New Roman" panose="02020603050405020304" pitchFamily="18" charset="0"/>
                <a:cs typeface="Times New Roman" panose="02020603050405020304" pitchFamily="18" charset="0"/>
              </a:rPr>
              <a:t>such </a:t>
            </a:r>
            <a:r>
              <a:rPr sz="3200" spc="-185" dirty="0">
                <a:latin typeface="Times New Roman" panose="02020603050405020304" pitchFamily="18" charset="0"/>
                <a:cs typeface="Times New Roman" panose="02020603050405020304" pitchFamily="18" charset="0"/>
              </a:rPr>
              <a:t>as </a:t>
            </a:r>
            <a:r>
              <a:rPr sz="3200" spc="-145" dirty="0">
                <a:latin typeface="Times New Roman" panose="02020603050405020304" pitchFamily="18" charset="0"/>
                <a:cs typeface="Times New Roman" panose="02020603050405020304" pitchFamily="18" charset="0"/>
              </a:rPr>
              <a:t>HTTP/1.1 </a:t>
            </a:r>
            <a:r>
              <a:rPr sz="3200" spc="-95" dirty="0">
                <a:latin typeface="Times New Roman" panose="02020603050405020304" pitchFamily="18" charset="0"/>
                <a:cs typeface="Times New Roman" panose="02020603050405020304" pitchFamily="18" charset="0"/>
              </a:rPr>
              <a:t>200 </a:t>
            </a:r>
            <a:r>
              <a:rPr sz="3200" spc="-195" dirty="0">
                <a:latin typeface="Times New Roman" panose="02020603050405020304" pitchFamily="18" charset="0"/>
                <a:cs typeface="Times New Roman" panose="02020603050405020304" pitchFamily="18" charset="0"/>
              </a:rPr>
              <a:t>OK, </a:t>
            </a:r>
            <a:r>
              <a:rPr sz="3200" spc="-95" dirty="0">
                <a:latin typeface="Times New Roman" panose="02020603050405020304" pitchFamily="18" charset="0"/>
                <a:cs typeface="Times New Roman" panose="02020603050405020304" pitchFamily="18" charset="0"/>
              </a:rPr>
              <a:t>and </a:t>
            </a:r>
            <a:r>
              <a:rPr sz="3200" spc="-155" dirty="0">
                <a:latin typeface="Times New Roman" panose="02020603050405020304" pitchFamily="18" charset="0"/>
                <a:cs typeface="Times New Roman" panose="02020603050405020304" pitchFamily="18" charset="0"/>
              </a:rPr>
              <a:t>a message </a:t>
            </a:r>
            <a:r>
              <a:rPr sz="3200" spc="-5" dirty="0">
                <a:latin typeface="Times New Roman" panose="02020603050405020304" pitchFamily="18" charset="0"/>
                <a:cs typeface="Times New Roman" panose="02020603050405020304" pitchFamily="18" charset="0"/>
              </a:rPr>
              <a:t>of </a:t>
            </a:r>
            <a:r>
              <a:rPr sz="3200" spc="-30" dirty="0">
                <a:latin typeface="Times New Roman" panose="02020603050405020304" pitchFamily="18" charset="0"/>
                <a:cs typeface="Times New Roman" panose="02020603050405020304" pitchFamily="18" charset="0"/>
              </a:rPr>
              <a:t>its </a:t>
            </a:r>
            <a:r>
              <a:rPr sz="3200" spc="-50" dirty="0">
                <a:latin typeface="Times New Roman" panose="02020603050405020304" pitchFamily="18" charset="0"/>
                <a:cs typeface="Times New Roman" panose="02020603050405020304" pitchFamily="18" charset="0"/>
              </a:rPr>
              <a:t>own,</a:t>
            </a:r>
            <a:endParaRPr lang="en-US" sz="3200" spc="-50" dirty="0">
              <a:latin typeface="Times New Roman" panose="02020603050405020304" pitchFamily="18" charset="0"/>
              <a:cs typeface="Times New Roman" panose="02020603050405020304" pitchFamily="18" charset="0"/>
            </a:endParaRPr>
          </a:p>
          <a:p>
            <a:pPr marL="469900" marR="5080" indent="-457200">
              <a:lnSpc>
                <a:spcPct val="90000"/>
              </a:lnSpc>
              <a:spcBef>
                <a:spcPts val="340"/>
              </a:spcBef>
              <a:buFont typeface="Wingdings" panose="05000000000000000000" pitchFamily="2" charset="2"/>
              <a:buChar char="§"/>
            </a:pPr>
            <a:r>
              <a:rPr sz="3200" spc="-50" dirty="0">
                <a:latin typeface="Times New Roman" panose="02020603050405020304" pitchFamily="18" charset="0"/>
                <a:cs typeface="Times New Roman" panose="02020603050405020304" pitchFamily="18" charset="0"/>
              </a:rPr>
              <a:t> </a:t>
            </a:r>
            <a:r>
              <a:rPr lang="en-US" sz="3200" spc="-20" dirty="0">
                <a:latin typeface="Times New Roman" panose="02020603050405020304" pitchFamily="18" charset="0"/>
                <a:cs typeface="Times New Roman" panose="02020603050405020304" pitchFamily="18" charset="0"/>
              </a:rPr>
              <a:t>T</a:t>
            </a:r>
            <a:r>
              <a:rPr sz="3200" spc="-20" dirty="0">
                <a:latin typeface="Times New Roman" panose="02020603050405020304" pitchFamily="18" charset="0"/>
                <a:cs typeface="Times New Roman" panose="02020603050405020304" pitchFamily="18" charset="0"/>
              </a:rPr>
              <a:t>he </a:t>
            </a:r>
            <a:r>
              <a:rPr sz="3200" spc="-70" dirty="0">
                <a:latin typeface="Times New Roman" panose="02020603050405020304" pitchFamily="18" charset="0"/>
                <a:cs typeface="Times New Roman" panose="02020603050405020304" pitchFamily="18" charset="0"/>
              </a:rPr>
              <a:t>body </a:t>
            </a:r>
            <a:r>
              <a:rPr sz="3200" spc="-5" dirty="0">
                <a:latin typeface="Times New Roman" panose="02020603050405020304" pitchFamily="18" charset="0"/>
                <a:cs typeface="Times New Roman" panose="02020603050405020304" pitchFamily="18" charset="0"/>
              </a:rPr>
              <a:t>of </a:t>
            </a:r>
            <a:r>
              <a:rPr sz="3200" spc="-55" dirty="0">
                <a:latin typeface="Times New Roman" panose="02020603050405020304" pitchFamily="18" charset="0"/>
                <a:cs typeface="Times New Roman" panose="02020603050405020304" pitchFamily="18" charset="0"/>
              </a:rPr>
              <a:t>which </a:t>
            </a:r>
            <a:r>
              <a:rPr sz="3200" spc="-125" dirty="0">
                <a:latin typeface="Times New Roman" panose="02020603050405020304" pitchFamily="18" charset="0"/>
                <a:cs typeface="Times New Roman" panose="02020603050405020304" pitchFamily="18" charset="0"/>
              </a:rPr>
              <a:t>can </a:t>
            </a:r>
            <a:r>
              <a:rPr sz="3200" spc="-90" dirty="0">
                <a:latin typeface="Times New Roman" panose="02020603050405020304" pitchFamily="18" charset="0"/>
                <a:cs typeface="Times New Roman" panose="02020603050405020304" pitchFamily="18" charset="0"/>
              </a:rPr>
              <a:t>be </a:t>
            </a:r>
            <a:r>
              <a:rPr sz="3200" spc="-20" dirty="0">
                <a:latin typeface="Times New Roman" panose="02020603050405020304" pitchFamily="18" charset="0"/>
                <a:cs typeface="Times New Roman" panose="02020603050405020304" pitchFamily="18" charset="0"/>
              </a:rPr>
              <a:t>the  </a:t>
            </a:r>
            <a:r>
              <a:rPr sz="3200" spc="-75" dirty="0">
                <a:highlight>
                  <a:srgbClr val="00FF00"/>
                </a:highlight>
                <a:latin typeface="Times New Roman" panose="02020603050405020304" pitchFamily="18" charset="0"/>
                <a:cs typeface="Times New Roman" panose="02020603050405020304" pitchFamily="18" charset="0"/>
              </a:rPr>
              <a:t>requested </a:t>
            </a:r>
            <a:r>
              <a:rPr sz="3200" spc="-25" dirty="0">
                <a:highlight>
                  <a:srgbClr val="00FF00"/>
                </a:highlight>
                <a:latin typeface="Times New Roman" panose="02020603050405020304" pitchFamily="18" charset="0"/>
                <a:cs typeface="Times New Roman" panose="02020603050405020304" pitchFamily="18" charset="0"/>
              </a:rPr>
              <a:t>file, </a:t>
            </a:r>
            <a:r>
              <a:rPr sz="3200" spc="-110" dirty="0">
                <a:highlight>
                  <a:srgbClr val="00FF00"/>
                </a:highlight>
                <a:latin typeface="Times New Roman" panose="02020603050405020304" pitchFamily="18" charset="0"/>
                <a:cs typeface="Times New Roman" panose="02020603050405020304" pitchFamily="18" charset="0"/>
              </a:rPr>
              <a:t>an </a:t>
            </a:r>
            <a:r>
              <a:rPr sz="3200" spc="-30" dirty="0">
                <a:highlight>
                  <a:srgbClr val="00FF00"/>
                </a:highlight>
                <a:latin typeface="Times New Roman" panose="02020603050405020304" pitchFamily="18" charset="0"/>
                <a:cs typeface="Times New Roman" panose="02020603050405020304" pitchFamily="18" charset="0"/>
              </a:rPr>
              <a:t>error </a:t>
            </a:r>
            <a:r>
              <a:rPr sz="3200" spc="-145" dirty="0">
                <a:highlight>
                  <a:srgbClr val="00FF00"/>
                </a:highlight>
                <a:latin typeface="Times New Roman" panose="02020603050405020304" pitchFamily="18" charset="0"/>
                <a:cs typeface="Times New Roman" panose="02020603050405020304" pitchFamily="18" charset="0"/>
              </a:rPr>
              <a:t>message, </a:t>
            </a:r>
            <a:r>
              <a:rPr sz="3200" spc="-15" dirty="0">
                <a:highlight>
                  <a:srgbClr val="00FF00"/>
                </a:highlight>
                <a:latin typeface="Times New Roman" panose="02020603050405020304" pitchFamily="18" charset="0"/>
                <a:cs typeface="Times New Roman" panose="02020603050405020304" pitchFamily="18" charset="0"/>
              </a:rPr>
              <a:t>or </a:t>
            </a:r>
            <a:r>
              <a:rPr sz="3200" spc="-120" dirty="0">
                <a:highlight>
                  <a:srgbClr val="00FF00"/>
                </a:highlight>
                <a:latin typeface="Times New Roman" panose="02020603050405020304" pitchFamily="18" charset="0"/>
                <a:cs typeface="Times New Roman" panose="02020603050405020304" pitchFamily="18" charset="0"/>
              </a:rPr>
              <a:t>some </a:t>
            </a:r>
            <a:r>
              <a:rPr sz="3200" spc="-20" dirty="0">
                <a:highlight>
                  <a:srgbClr val="00FF00"/>
                </a:highlight>
                <a:latin typeface="Times New Roman" panose="02020603050405020304" pitchFamily="18" charset="0"/>
                <a:cs typeface="Times New Roman" panose="02020603050405020304" pitchFamily="18" charset="0"/>
              </a:rPr>
              <a:t>other</a:t>
            </a:r>
            <a:r>
              <a:rPr sz="3200" spc="-305" dirty="0">
                <a:highlight>
                  <a:srgbClr val="00FF00"/>
                </a:highlight>
                <a:latin typeface="Times New Roman" panose="02020603050405020304" pitchFamily="18" charset="0"/>
                <a:cs typeface="Times New Roman" panose="02020603050405020304" pitchFamily="18" charset="0"/>
              </a:rPr>
              <a:t> </a:t>
            </a:r>
            <a:r>
              <a:rPr sz="3200" spc="-35" dirty="0">
                <a:highlight>
                  <a:srgbClr val="00FF00"/>
                </a:highlight>
                <a:latin typeface="Times New Roman" panose="02020603050405020304" pitchFamily="18" charset="0"/>
                <a:cs typeface="Times New Roman" panose="02020603050405020304" pitchFamily="18" charset="0"/>
              </a:rPr>
              <a:t>information</a:t>
            </a:r>
            <a:r>
              <a:rPr sz="3200" spc="-35" dirty="0">
                <a:latin typeface="Times New Roman" panose="02020603050405020304" pitchFamily="18" charset="0"/>
                <a:cs typeface="Times New Roman" panose="02020603050405020304" pitchFamily="18" charset="0"/>
              </a:rPr>
              <a:t>.</a:t>
            </a:r>
            <a:endParaRPr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0133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EA9C7-8279-4CFA-8F61-9B189AC311F5}"/>
              </a:ext>
            </a:extLst>
          </p:cNvPr>
          <p:cNvSpPr>
            <a:spLocks noGrp="1"/>
          </p:cNvSpPr>
          <p:nvPr>
            <p:ph type="title"/>
          </p:nvPr>
        </p:nvSpPr>
        <p:spPr/>
        <p:txBody>
          <a:bodyPr/>
          <a:lstStyle/>
          <a:p>
            <a:r>
              <a:rPr lang="en-US" dirty="0"/>
              <a:t> </a:t>
            </a:r>
          </a:p>
        </p:txBody>
      </p:sp>
      <p:sp>
        <p:nvSpPr>
          <p:cNvPr id="4" name="object 6">
            <a:extLst>
              <a:ext uri="{FF2B5EF4-FFF2-40B4-BE49-F238E27FC236}">
                <a16:creationId xmlns:a16="http://schemas.microsoft.com/office/drawing/2014/main" id="{67D96CF2-3A61-4CD8-A0CA-FE74CA72C4D2}"/>
              </a:ext>
            </a:extLst>
          </p:cNvPr>
          <p:cNvSpPr>
            <a:spLocks noGrp="1"/>
          </p:cNvSpPr>
          <p:nvPr>
            <p:ph idx="1"/>
          </p:nvPr>
        </p:nvSpPr>
        <p:spPr>
          <a:xfrm>
            <a:off x="783647" y="2133600"/>
            <a:ext cx="7598353" cy="4364182"/>
          </a:xfrm>
          <a:prstGeom prst="rect">
            <a:avLst/>
          </a:prstGeom>
          <a:blipFill>
            <a:blip r:embed="rId2" cstate="print"/>
            <a:stretch>
              <a:fillRect/>
            </a:stretch>
          </a:blipFill>
        </p:spPr>
        <p:txBody>
          <a:bodyPr wrap="square" lIns="0" tIns="0" rIns="0" bIns="0" rtlCol="0"/>
          <a:lstStyle/>
          <a:p>
            <a:r>
              <a:rPr lang="en-US" dirty="0"/>
              <a:t> </a:t>
            </a:r>
          </a:p>
        </p:txBody>
      </p:sp>
    </p:spTree>
    <p:extLst>
      <p:ext uri="{BB962C8B-B14F-4D97-AF65-F5344CB8AC3E}">
        <p14:creationId xmlns:p14="http://schemas.microsoft.com/office/powerpoint/2010/main" val="4463017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504424"/>
            <a:ext cx="7808976" cy="1088136"/>
          </a:xfrm>
        </p:spPr>
        <p:txBody>
          <a:bodyPr>
            <a:normAutofit/>
          </a:bodyPr>
          <a:lstStyle/>
          <a:p>
            <a:r>
              <a:rPr lang="en-US" sz="4000" spc="-220" dirty="0"/>
              <a:t>Application </a:t>
            </a:r>
            <a:r>
              <a:rPr lang="en-US" sz="4000" spc="-390" dirty="0"/>
              <a:t>Layer  </a:t>
            </a:r>
            <a:r>
              <a:rPr lang="en-US" sz="4000" spc="-229" dirty="0"/>
              <a:t>Protocol:</a:t>
            </a:r>
            <a:r>
              <a:rPr lang="en-US" sz="4000" spc="-475" dirty="0"/>
              <a:t> </a:t>
            </a:r>
            <a:r>
              <a:rPr lang="en-US" sz="4000" spc="-645" dirty="0"/>
              <a:t>HTTP     (c  o  n  t   .)	</a:t>
            </a:r>
            <a:endParaRPr lang="en-US" sz="4000" dirty="0"/>
          </a:p>
        </p:txBody>
      </p:sp>
      <p:sp>
        <p:nvSpPr>
          <p:cNvPr id="5" name="object 5"/>
          <p:cNvSpPr txBox="1"/>
          <p:nvPr/>
        </p:nvSpPr>
        <p:spPr>
          <a:xfrm>
            <a:off x="128920" y="2391337"/>
            <a:ext cx="8779553" cy="2831544"/>
          </a:xfrm>
          <a:prstGeom prst="rect">
            <a:avLst/>
          </a:prstGeom>
        </p:spPr>
        <p:txBody>
          <a:bodyPr vert="horz" wrap="square" lIns="0" tIns="160020" rIns="0" bIns="0" rtlCol="0">
            <a:spAutoFit/>
          </a:bodyPr>
          <a:lstStyle/>
          <a:p>
            <a:pPr marL="274320" indent="-261620">
              <a:lnSpc>
                <a:spcPct val="100000"/>
              </a:lnSpc>
              <a:spcBef>
                <a:spcPts val="1260"/>
              </a:spcBef>
              <a:buClr>
                <a:srgbClr val="9DBEBD"/>
              </a:buClr>
              <a:buChar char="•"/>
              <a:tabLst>
                <a:tab pos="274320" algn="l"/>
                <a:tab pos="274955" algn="l"/>
              </a:tabLst>
            </a:pPr>
            <a:r>
              <a:rPr sz="3200" spc="-300" dirty="0">
                <a:latin typeface="Times New Roman" panose="02020603050405020304" pitchFamily="18" charset="0"/>
                <a:cs typeface="Times New Roman" panose="02020603050405020304" pitchFamily="18" charset="0"/>
              </a:rPr>
              <a:t>POST </a:t>
            </a:r>
            <a:r>
              <a:rPr sz="3200" spc="-95" dirty="0">
                <a:latin typeface="Times New Roman" panose="02020603050405020304" pitchFamily="18" charset="0"/>
                <a:cs typeface="Times New Roman" panose="02020603050405020304" pitchFamily="18" charset="0"/>
              </a:rPr>
              <a:t>and </a:t>
            </a:r>
            <a:r>
              <a:rPr sz="3200" spc="-240" dirty="0">
                <a:latin typeface="Times New Roman" panose="02020603050405020304" pitchFamily="18" charset="0"/>
                <a:cs typeface="Times New Roman" panose="02020603050405020304" pitchFamily="18" charset="0"/>
              </a:rPr>
              <a:t>PUT </a:t>
            </a:r>
            <a:r>
              <a:rPr sz="3200" spc="-90" dirty="0">
                <a:latin typeface="Times New Roman" panose="02020603050405020304" pitchFamily="18" charset="0"/>
                <a:cs typeface="Times New Roman" panose="02020603050405020304" pitchFamily="18" charset="0"/>
              </a:rPr>
              <a:t>are </a:t>
            </a:r>
            <a:r>
              <a:rPr sz="3200" spc="-120" dirty="0">
                <a:latin typeface="Times New Roman" panose="02020603050405020304" pitchFamily="18" charset="0"/>
                <a:cs typeface="Times New Roman" panose="02020603050405020304" pitchFamily="18" charset="0"/>
              </a:rPr>
              <a:t>used </a:t>
            </a:r>
            <a:r>
              <a:rPr sz="3200" spc="15" dirty="0">
                <a:latin typeface="Times New Roman" panose="02020603050405020304" pitchFamily="18" charset="0"/>
                <a:cs typeface="Times New Roman" panose="02020603050405020304" pitchFamily="18" charset="0"/>
              </a:rPr>
              <a:t>to </a:t>
            </a:r>
            <a:r>
              <a:rPr sz="3200" spc="-120" dirty="0">
                <a:highlight>
                  <a:srgbClr val="00FF00"/>
                </a:highlight>
                <a:latin typeface="Times New Roman" panose="02020603050405020304" pitchFamily="18" charset="0"/>
                <a:cs typeface="Times New Roman" panose="02020603050405020304" pitchFamily="18" charset="0"/>
              </a:rPr>
              <a:t>send </a:t>
            </a:r>
            <a:r>
              <a:rPr sz="3200" spc="-165" dirty="0">
                <a:highlight>
                  <a:srgbClr val="00FF00"/>
                </a:highlight>
                <a:latin typeface="Times New Roman" panose="02020603050405020304" pitchFamily="18" charset="0"/>
                <a:cs typeface="Times New Roman" panose="02020603050405020304" pitchFamily="18" charset="0"/>
              </a:rPr>
              <a:t>messages </a:t>
            </a:r>
            <a:r>
              <a:rPr sz="3200" spc="-5" dirty="0">
                <a:highlight>
                  <a:srgbClr val="00FF00"/>
                </a:highlight>
                <a:latin typeface="Times New Roman" panose="02020603050405020304" pitchFamily="18" charset="0"/>
                <a:cs typeface="Times New Roman" panose="02020603050405020304" pitchFamily="18" charset="0"/>
              </a:rPr>
              <a:t>that </a:t>
            </a:r>
            <a:r>
              <a:rPr sz="3200" spc="-65" dirty="0">
                <a:highlight>
                  <a:srgbClr val="00FF00"/>
                </a:highlight>
                <a:latin typeface="Times New Roman" panose="02020603050405020304" pitchFamily="18" charset="0"/>
                <a:cs typeface="Times New Roman" panose="02020603050405020304" pitchFamily="18" charset="0"/>
              </a:rPr>
              <a:t>upload </a:t>
            </a:r>
            <a:r>
              <a:rPr sz="3200" spc="-80" dirty="0">
                <a:highlight>
                  <a:srgbClr val="00FF00"/>
                </a:highlight>
                <a:latin typeface="Times New Roman" panose="02020603050405020304" pitchFamily="18" charset="0"/>
                <a:cs typeface="Times New Roman" panose="02020603050405020304" pitchFamily="18" charset="0"/>
              </a:rPr>
              <a:t>data </a:t>
            </a:r>
            <a:r>
              <a:rPr sz="3200" spc="15" dirty="0">
                <a:highlight>
                  <a:srgbClr val="00FF00"/>
                </a:highlight>
                <a:latin typeface="Times New Roman" panose="02020603050405020304" pitchFamily="18" charset="0"/>
                <a:cs typeface="Times New Roman" panose="02020603050405020304" pitchFamily="18" charset="0"/>
              </a:rPr>
              <a:t>to </a:t>
            </a:r>
            <a:r>
              <a:rPr sz="3200" spc="-20" dirty="0">
                <a:highlight>
                  <a:srgbClr val="00FF00"/>
                </a:highlight>
                <a:latin typeface="Times New Roman" panose="02020603050405020304" pitchFamily="18" charset="0"/>
                <a:cs typeface="Times New Roman" panose="02020603050405020304" pitchFamily="18" charset="0"/>
              </a:rPr>
              <a:t>the </a:t>
            </a:r>
            <a:r>
              <a:rPr sz="3200" spc="-70" dirty="0">
                <a:highlight>
                  <a:srgbClr val="00FF00"/>
                </a:highlight>
                <a:latin typeface="Times New Roman" panose="02020603050405020304" pitchFamily="18" charset="0"/>
                <a:cs typeface="Times New Roman" panose="02020603050405020304" pitchFamily="18" charset="0"/>
              </a:rPr>
              <a:t>web</a:t>
            </a:r>
            <a:r>
              <a:rPr sz="3200" spc="-185" dirty="0">
                <a:highlight>
                  <a:srgbClr val="00FF00"/>
                </a:highlight>
                <a:latin typeface="Times New Roman" panose="02020603050405020304" pitchFamily="18" charset="0"/>
                <a:cs typeface="Times New Roman" panose="02020603050405020304" pitchFamily="18" charset="0"/>
              </a:rPr>
              <a:t> </a:t>
            </a:r>
            <a:r>
              <a:rPr sz="3200" spc="-110" dirty="0">
                <a:highlight>
                  <a:srgbClr val="00FF00"/>
                </a:highlight>
                <a:latin typeface="Times New Roman" panose="02020603050405020304" pitchFamily="18" charset="0"/>
                <a:cs typeface="Times New Roman" panose="02020603050405020304" pitchFamily="18" charset="0"/>
              </a:rPr>
              <a:t>server.</a:t>
            </a:r>
            <a:endParaRPr sz="3200" dirty="0">
              <a:highlight>
                <a:srgbClr val="00FF00"/>
              </a:highlight>
              <a:latin typeface="Times New Roman" panose="02020603050405020304" pitchFamily="18" charset="0"/>
              <a:cs typeface="Times New Roman" panose="02020603050405020304" pitchFamily="18" charset="0"/>
            </a:endParaRPr>
          </a:p>
          <a:p>
            <a:pPr marL="276225" indent="-263525">
              <a:lnSpc>
                <a:spcPts val="2280"/>
              </a:lnSpc>
              <a:spcBef>
                <a:spcPts val="1165"/>
              </a:spcBef>
              <a:buClr>
                <a:srgbClr val="9DBEBD"/>
              </a:buClr>
              <a:buChar char="•"/>
              <a:tabLst>
                <a:tab pos="276225" algn="l"/>
                <a:tab pos="276860" algn="l"/>
              </a:tabLst>
            </a:pPr>
            <a:r>
              <a:rPr sz="3200" spc="-120" dirty="0">
                <a:latin typeface="Times New Roman" panose="02020603050405020304" pitchFamily="18" charset="0"/>
                <a:cs typeface="Times New Roman" panose="02020603050405020304" pitchFamily="18" charset="0"/>
              </a:rPr>
              <a:t>For </a:t>
            </a:r>
            <a:r>
              <a:rPr sz="3200" spc="-100" dirty="0">
                <a:latin typeface="Times New Roman" panose="02020603050405020304" pitchFamily="18" charset="0"/>
                <a:cs typeface="Times New Roman" panose="02020603050405020304" pitchFamily="18" charset="0"/>
              </a:rPr>
              <a:t>example, </a:t>
            </a:r>
            <a:r>
              <a:rPr sz="3200" spc="-65" dirty="0">
                <a:latin typeface="Times New Roman" panose="02020603050405020304" pitchFamily="18" charset="0"/>
                <a:cs typeface="Times New Roman" panose="02020603050405020304" pitchFamily="18" charset="0"/>
              </a:rPr>
              <a:t>when </a:t>
            </a:r>
            <a:r>
              <a:rPr sz="3200" spc="-30" dirty="0">
                <a:latin typeface="Times New Roman" panose="02020603050405020304" pitchFamily="18" charset="0"/>
                <a:cs typeface="Times New Roman" panose="02020603050405020304" pitchFamily="18" charset="0"/>
              </a:rPr>
              <a:t>the </a:t>
            </a:r>
            <a:r>
              <a:rPr sz="3200" spc="-95" dirty="0">
                <a:latin typeface="Times New Roman" panose="02020603050405020304" pitchFamily="18" charset="0"/>
                <a:cs typeface="Times New Roman" panose="02020603050405020304" pitchFamily="18" charset="0"/>
              </a:rPr>
              <a:t>user </a:t>
            </a:r>
            <a:r>
              <a:rPr sz="3200" spc="-75" dirty="0">
                <a:latin typeface="Times New Roman" panose="02020603050405020304" pitchFamily="18" charset="0"/>
                <a:cs typeface="Times New Roman" panose="02020603050405020304" pitchFamily="18" charset="0"/>
              </a:rPr>
              <a:t>enters data </a:t>
            </a:r>
            <a:r>
              <a:rPr sz="3200" spc="-10" dirty="0">
                <a:latin typeface="Times New Roman" panose="02020603050405020304" pitchFamily="18" charset="0"/>
                <a:cs typeface="Times New Roman" panose="02020603050405020304" pitchFamily="18" charset="0"/>
              </a:rPr>
              <a:t>into </a:t>
            </a:r>
            <a:r>
              <a:rPr sz="3200" spc="-155" dirty="0">
                <a:latin typeface="Times New Roman" panose="02020603050405020304" pitchFamily="18" charset="0"/>
                <a:cs typeface="Times New Roman" panose="02020603050405020304" pitchFamily="18" charset="0"/>
              </a:rPr>
              <a:t>a </a:t>
            </a:r>
            <a:r>
              <a:rPr sz="3200" spc="-25" dirty="0">
                <a:latin typeface="Times New Roman" panose="02020603050405020304" pitchFamily="18" charset="0"/>
                <a:cs typeface="Times New Roman" panose="02020603050405020304" pitchFamily="18" charset="0"/>
              </a:rPr>
              <a:t>form </a:t>
            </a:r>
            <a:r>
              <a:rPr sz="3200" spc="-85" dirty="0">
                <a:latin typeface="Times New Roman" panose="02020603050405020304" pitchFamily="18" charset="0"/>
                <a:cs typeface="Times New Roman" panose="02020603050405020304" pitchFamily="18" charset="0"/>
              </a:rPr>
              <a:t>embedded </a:t>
            </a:r>
            <a:r>
              <a:rPr sz="3200" spc="-25" dirty="0">
                <a:latin typeface="Times New Roman" panose="02020603050405020304" pitchFamily="18" charset="0"/>
                <a:cs typeface="Times New Roman" panose="02020603050405020304" pitchFamily="18" charset="0"/>
              </a:rPr>
              <a:t>in </a:t>
            </a:r>
            <a:r>
              <a:rPr sz="3200" spc="-155" dirty="0">
                <a:latin typeface="Times New Roman" panose="02020603050405020304" pitchFamily="18" charset="0"/>
                <a:cs typeface="Times New Roman" panose="02020603050405020304" pitchFamily="18" charset="0"/>
              </a:rPr>
              <a:t>a </a:t>
            </a:r>
            <a:r>
              <a:rPr sz="3200" spc="-75" dirty="0">
                <a:latin typeface="Times New Roman" panose="02020603050405020304" pitchFamily="18" charset="0"/>
                <a:cs typeface="Times New Roman" panose="02020603050405020304" pitchFamily="18" charset="0"/>
              </a:rPr>
              <a:t>web </a:t>
            </a:r>
            <a:r>
              <a:rPr sz="3200" spc="-120" dirty="0">
                <a:latin typeface="Times New Roman" panose="02020603050405020304" pitchFamily="18" charset="0"/>
                <a:cs typeface="Times New Roman" panose="02020603050405020304" pitchFamily="18" charset="0"/>
              </a:rPr>
              <a:t>page, </a:t>
            </a:r>
            <a:r>
              <a:rPr sz="3200" spc="-300" dirty="0">
                <a:latin typeface="Times New Roman" panose="02020603050405020304" pitchFamily="18" charset="0"/>
                <a:cs typeface="Times New Roman" panose="02020603050405020304" pitchFamily="18" charset="0"/>
              </a:rPr>
              <a:t>POST</a:t>
            </a:r>
            <a:r>
              <a:rPr sz="3200" spc="-375" dirty="0">
                <a:latin typeface="Times New Roman" panose="02020603050405020304" pitchFamily="18" charset="0"/>
                <a:cs typeface="Times New Roman" panose="02020603050405020304" pitchFamily="18" charset="0"/>
              </a:rPr>
              <a:t> </a:t>
            </a:r>
            <a:r>
              <a:rPr sz="3200" spc="-80" dirty="0">
                <a:latin typeface="Times New Roman" panose="02020603050405020304" pitchFamily="18" charset="0"/>
                <a:cs typeface="Times New Roman" panose="02020603050405020304" pitchFamily="18" charset="0"/>
              </a:rPr>
              <a:t>includes</a:t>
            </a:r>
            <a:endParaRPr sz="3200" dirty="0">
              <a:latin typeface="Times New Roman" panose="02020603050405020304" pitchFamily="18" charset="0"/>
              <a:cs typeface="Times New Roman" panose="02020603050405020304" pitchFamily="18" charset="0"/>
            </a:endParaRPr>
          </a:p>
          <a:p>
            <a:pPr marL="103505">
              <a:lnSpc>
                <a:spcPts val="2280"/>
              </a:lnSpc>
            </a:pPr>
            <a:r>
              <a:rPr sz="3200" spc="-20" dirty="0">
                <a:latin typeface="Times New Roman" panose="02020603050405020304" pitchFamily="18" charset="0"/>
                <a:cs typeface="Times New Roman" panose="02020603050405020304" pitchFamily="18" charset="0"/>
              </a:rPr>
              <a:t>the</a:t>
            </a:r>
            <a:r>
              <a:rPr sz="3200" spc="-110" dirty="0">
                <a:latin typeface="Times New Roman" panose="02020603050405020304" pitchFamily="18" charset="0"/>
                <a:cs typeface="Times New Roman" panose="02020603050405020304" pitchFamily="18" charset="0"/>
              </a:rPr>
              <a:t> </a:t>
            </a:r>
            <a:r>
              <a:rPr sz="3200" spc="-75" dirty="0">
                <a:latin typeface="Times New Roman" panose="02020603050405020304" pitchFamily="18" charset="0"/>
                <a:cs typeface="Times New Roman" panose="02020603050405020304" pitchFamily="18" charset="0"/>
              </a:rPr>
              <a:t>data</a:t>
            </a:r>
            <a:r>
              <a:rPr sz="3200" spc="-105" dirty="0">
                <a:latin typeface="Times New Roman" panose="02020603050405020304" pitchFamily="18" charset="0"/>
                <a:cs typeface="Times New Roman" panose="02020603050405020304" pitchFamily="18" charset="0"/>
              </a:rPr>
              <a:t> </a:t>
            </a:r>
            <a:r>
              <a:rPr sz="3200" spc="-25" dirty="0">
                <a:latin typeface="Times New Roman" panose="02020603050405020304" pitchFamily="18" charset="0"/>
                <a:cs typeface="Times New Roman" panose="02020603050405020304" pitchFamily="18" charset="0"/>
              </a:rPr>
              <a:t>in</a:t>
            </a:r>
            <a:r>
              <a:rPr sz="3200" spc="-110" dirty="0">
                <a:latin typeface="Times New Roman" panose="02020603050405020304" pitchFamily="18" charset="0"/>
                <a:cs typeface="Times New Roman" panose="02020603050405020304" pitchFamily="18" charset="0"/>
              </a:rPr>
              <a:t> </a:t>
            </a:r>
            <a:r>
              <a:rPr sz="3200" spc="-20" dirty="0">
                <a:latin typeface="Times New Roman" panose="02020603050405020304" pitchFamily="18" charset="0"/>
                <a:cs typeface="Times New Roman" panose="02020603050405020304" pitchFamily="18" charset="0"/>
              </a:rPr>
              <a:t>the</a:t>
            </a:r>
            <a:r>
              <a:rPr sz="3200" spc="-105" dirty="0">
                <a:latin typeface="Times New Roman" panose="02020603050405020304" pitchFamily="18" charset="0"/>
                <a:cs typeface="Times New Roman" panose="02020603050405020304" pitchFamily="18" charset="0"/>
              </a:rPr>
              <a:t> </a:t>
            </a:r>
            <a:r>
              <a:rPr sz="3200" spc="-160" dirty="0">
                <a:latin typeface="Times New Roman" panose="02020603050405020304" pitchFamily="18" charset="0"/>
                <a:cs typeface="Times New Roman" panose="02020603050405020304" pitchFamily="18" charset="0"/>
              </a:rPr>
              <a:t>message</a:t>
            </a:r>
            <a:r>
              <a:rPr sz="3200" spc="-90" dirty="0">
                <a:latin typeface="Times New Roman" panose="02020603050405020304" pitchFamily="18" charset="0"/>
                <a:cs typeface="Times New Roman" panose="02020603050405020304" pitchFamily="18" charset="0"/>
              </a:rPr>
              <a:t> </a:t>
            </a:r>
            <a:r>
              <a:rPr sz="3200" spc="-80" dirty="0">
                <a:latin typeface="Times New Roman" panose="02020603050405020304" pitchFamily="18" charset="0"/>
                <a:cs typeface="Times New Roman" panose="02020603050405020304" pitchFamily="18" charset="0"/>
              </a:rPr>
              <a:t>sent</a:t>
            </a:r>
            <a:r>
              <a:rPr sz="3200" spc="-100" dirty="0">
                <a:latin typeface="Times New Roman" panose="02020603050405020304" pitchFamily="18" charset="0"/>
                <a:cs typeface="Times New Roman" panose="02020603050405020304" pitchFamily="18" charset="0"/>
              </a:rPr>
              <a:t> </a:t>
            </a:r>
            <a:r>
              <a:rPr sz="3200" spc="15" dirty="0">
                <a:latin typeface="Times New Roman" panose="02020603050405020304" pitchFamily="18" charset="0"/>
                <a:cs typeface="Times New Roman" panose="02020603050405020304" pitchFamily="18" charset="0"/>
              </a:rPr>
              <a:t>to</a:t>
            </a:r>
            <a:r>
              <a:rPr sz="3200" spc="-105" dirty="0">
                <a:latin typeface="Times New Roman" panose="02020603050405020304" pitchFamily="18" charset="0"/>
                <a:cs typeface="Times New Roman" panose="02020603050405020304" pitchFamily="18" charset="0"/>
              </a:rPr>
              <a:t> </a:t>
            </a:r>
            <a:r>
              <a:rPr sz="3200" spc="-20" dirty="0">
                <a:latin typeface="Times New Roman" panose="02020603050405020304" pitchFamily="18" charset="0"/>
                <a:cs typeface="Times New Roman" panose="02020603050405020304" pitchFamily="18" charset="0"/>
              </a:rPr>
              <a:t>the</a:t>
            </a:r>
            <a:r>
              <a:rPr sz="3200" spc="-114" dirty="0">
                <a:latin typeface="Times New Roman" panose="02020603050405020304" pitchFamily="18" charset="0"/>
                <a:cs typeface="Times New Roman" panose="02020603050405020304" pitchFamily="18" charset="0"/>
              </a:rPr>
              <a:t> </a:t>
            </a:r>
            <a:r>
              <a:rPr sz="3200" spc="-110" dirty="0">
                <a:latin typeface="Times New Roman" panose="02020603050405020304" pitchFamily="18" charset="0"/>
                <a:cs typeface="Times New Roman" panose="02020603050405020304" pitchFamily="18" charset="0"/>
              </a:rPr>
              <a:t>server.</a:t>
            </a:r>
            <a:endParaRPr sz="3200" dirty="0">
              <a:latin typeface="Times New Roman" panose="02020603050405020304" pitchFamily="18" charset="0"/>
              <a:cs typeface="Times New Roman" panose="02020603050405020304" pitchFamily="18" charset="0"/>
            </a:endParaRPr>
          </a:p>
          <a:p>
            <a:pPr marL="217804" indent="-205104">
              <a:lnSpc>
                <a:spcPct val="100000"/>
              </a:lnSpc>
              <a:spcBef>
                <a:spcPts val="1155"/>
              </a:spcBef>
              <a:buClr>
                <a:srgbClr val="9DBEBD"/>
              </a:buClr>
              <a:buChar char="•"/>
              <a:tabLst>
                <a:tab pos="218440" algn="l"/>
              </a:tabLst>
            </a:pPr>
            <a:r>
              <a:rPr sz="3200" spc="-240" dirty="0">
                <a:latin typeface="Times New Roman" panose="02020603050405020304" pitchFamily="18" charset="0"/>
                <a:cs typeface="Times New Roman" panose="02020603050405020304" pitchFamily="18" charset="0"/>
              </a:rPr>
              <a:t>PUT </a:t>
            </a:r>
            <a:r>
              <a:rPr sz="3200" spc="-85" dirty="0">
                <a:latin typeface="Times New Roman" panose="02020603050405020304" pitchFamily="18" charset="0"/>
                <a:cs typeface="Times New Roman" panose="02020603050405020304" pitchFamily="18" charset="0"/>
              </a:rPr>
              <a:t>uploads </a:t>
            </a:r>
            <a:r>
              <a:rPr sz="3200" spc="-105" dirty="0">
                <a:latin typeface="Times New Roman" panose="02020603050405020304" pitchFamily="18" charset="0"/>
                <a:cs typeface="Times New Roman" panose="02020603050405020304" pitchFamily="18" charset="0"/>
              </a:rPr>
              <a:t>resources </a:t>
            </a:r>
            <a:r>
              <a:rPr sz="3200" spc="-15" dirty="0">
                <a:latin typeface="Times New Roman" panose="02020603050405020304" pitchFamily="18" charset="0"/>
                <a:cs typeface="Times New Roman" panose="02020603050405020304" pitchFamily="18" charset="0"/>
              </a:rPr>
              <a:t>or </a:t>
            </a:r>
            <a:r>
              <a:rPr sz="3200" spc="-45" dirty="0">
                <a:latin typeface="Times New Roman" panose="02020603050405020304" pitchFamily="18" charset="0"/>
                <a:cs typeface="Times New Roman" panose="02020603050405020304" pitchFamily="18" charset="0"/>
              </a:rPr>
              <a:t>content </a:t>
            </a:r>
            <a:r>
              <a:rPr sz="3200" spc="15" dirty="0">
                <a:latin typeface="Times New Roman" panose="02020603050405020304" pitchFamily="18" charset="0"/>
                <a:cs typeface="Times New Roman" panose="02020603050405020304" pitchFamily="18" charset="0"/>
              </a:rPr>
              <a:t>to </a:t>
            </a:r>
            <a:r>
              <a:rPr sz="3200" spc="-20" dirty="0">
                <a:latin typeface="Times New Roman" panose="02020603050405020304" pitchFamily="18" charset="0"/>
                <a:cs typeface="Times New Roman" panose="02020603050405020304" pitchFamily="18" charset="0"/>
              </a:rPr>
              <a:t>the </a:t>
            </a:r>
            <a:r>
              <a:rPr sz="3200" spc="-70" dirty="0">
                <a:latin typeface="Times New Roman" panose="02020603050405020304" pitchFamily="18" charset="0"/>
                <a:cs typeface="Times New Roman" panose="02020603050405020304" pitchFamily="18" charset="0"/>
              </a:rPr>
              <a:t>web</a:t>
            </a:r>
            <a:r>
              <a:rPr sz="3200" spc="-385" dirty="0">
                <a:latin typeface="Times New Roman" panose="02020603050405020304" pitchFamily="18" charset="0"/>
                <a:cs typeface="Times New Roman" panose="02020603050405020304" pitchFamily="18" charset="0"/>
              </a:rPr>
              <a:t> </a:t>
            </a:r>
            <a:r>
              <a:rPr sz="3200" spc="-110" dirty="0">
                <a:latin typeface="Times New Roman" panose="02020603050405020304" pitchFamily="18" charset="0"/>
                <a:cs typeface="Times New Roman" panose="02020603050405020304" pitchFamily="18" charset="0"/>
              </a:rPr>
              <a:t>server.</a:t>
            </a:r>
            <a:endParaRPr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79765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504424"/>
            <a:ext cx="7808976" cy="1088136"/>
          </a:xfrm>
        </p:spPr>
        <p:txBody>
          <a:bodyPr>
            <a:normAutofit fontScale="90000"/>
          </a:bodyPr>
          <a:lstStyle/>
          <a:p>
            <a:r>
              <a:rPr lang="en-US" sz="4000" spc="-220" dirty="0"/>
              <a:t>Application </a:t>
            </a:r>
            <a:r>
              <a:rPr lang="en-US" sz="4000" spc="-390" dirty="0"/>
              <a:t>Layer  </a:t>
            </a:r>
            <a:r>
              <a:rPr lang="en-US" sz="4000" spc="-229" dirty="0"/>
              <a:t>Protocol: </a:t>
            </a:r>
            <a:r>
              <a:rPr lang="en-US" sz="4000" spc="-640" dirty="0"/>
              <a:t>HTTP       </a:t>
            </a:r>
            <a:r>
              <a:rPr lang="en-US" sz="4000" spc="-245" dirty="0"/>
              <a:t>runs </a:t>
            </a:r>
            <a:r>
              <a:rPr lang="en-US" sz="4000" spc="-195" dirty="0"/>
              <a:t>on  </a:t>
            </a:r>
            <a:r>
              <a:rPr lang="en-US" sz="4000" spc="-825" dirty="0"/>
              <a:t>T C       P	</a:t>
            </a:r>
            <a:endParaRPr lang="en-US" sz="4000" dirty="0"/>
          </a:p>
        </p:txBody>
      </p:sp>
      <p:sp>
        <p:nvSpPr>
          <p:cNvPr id="4" name="object 5"/>
          <p:cNvSpPr txBox="1"/>
          <p:nvPr/>
        </p:nvSpPr>
        <p:spPr>
          <a:xfrm>
            <a:off x="142776" y="1973515"/>
            <a:ext cx="8474752" cy="4424801"/>
          </a:xfrm>
          <a:prstGeom prst="rect">
            <a:avLst/>
          </a:prstGeom>
        </p:spPr>
        <p:txBody>
          <a:bodyPr vert="horz" wrap="square" lIns="0" tIns="43180" rIns="0" bIns="0" rtlCol="0">
            <a:spAutoFit/>
          </a:bodyPr>
          <a:lstStyle/>
          <a:p>
            <a:pPr marL="355599" marR="5080" indent="-342900" algn="just">
              <a:lnSpc>
                <a:spcPct val="90000"/>
              </a:lnSpc>
              <a:spcBef>
                <a:spcPts val="340"/>
              </a:spcBef>
              <a:buClr>
                <a:srgbClr val="9DBEBD"/>
              </a:buClr>
              <a:buSzPct val="95000"/>
              <a:buFont typeface="Wingdings" panose="05000000000000000000" pitchFamily="2" charset="2"/>
              <a:buChar char="§"/>
              <a:tabLst>
                <a:tab pos="215900" algn="l"/>
              </a:tabLst>
            </a:pPr>
            <a:r>
              <a:rPr sz="2800" spc="-145" dirty="0">
                <a:latin typeface="Times New Roman" panose="02020603050405020304" pitchFamily="18" charset="0"/>
                <a:cs typeface="Times New Roman" panose="02020603050405020304" pitchFamily="18" charset="0"/>
              </a:rPr>
              <a:t>The </a:t>
            </a:r>
            <a:r>
              <a:rPr sz="2800" spc="-55" dirty="0">
                <a:latin typeface="Times New Roman" panose="02020603050405020304" pitchFamily="18" charset="0"/>
                <a:cs typeface="Times New Roman" panose="02020603050405020304" pitchFamily="18" charset="0"/>
              </a:rPr>
              <a:t>transfer </a:t>
            </a:r>
            <a:r>
              <a:rPr sz="2800" spc="-40" dirty="0">
                <a:latin typeface="Times New Roman" panose="02020603050405020304" pitchFamily="18" charset="0"/>
                <a:cs typeface="Times New Roman" panose="02020603050405020304" pitchFamily="18" charset="0"/>
              </a:rPr>
              <a:t>protocol </a:t>
            </a:r>
            <a:r>
              <a:rPr sz="2800" spc="-120" dirty="0">
                <a:latin typeface="Times New Roman" panose="02020603050405020304" pitchFamily="18" charset="0"/>
                <a:cs typeface="Times New Roman" panose="02020603050405020304" pitchFamily="18" charset="0"/>
              </a:rPr>
              <a:t>used </a:t>
            </a:r>
            <a:r>
              <a:rPr sz="2800" spc="-35" dirty="0">
                <a:latin typeface="Times New Roman" panose="02020603050405020304" pitchFamily="18" charset="0"/>
                <a:cs typeface="Times New Roman" panose="02020603050405020304" pitchFamily="18" charset="0"/>
              </a:rPr>
              <a:t>throughout </a:t>
            </a:r>
            <a:r>
              <a:rPr sz="2800" spc="-30" dirty="0">
                <a:latin typeface="Times New Roman" panose="02020603050405020304" pitchFamily="18" charset="0"/>
                <a:cs typeface="Times New Roman" panose="02020603050405020304" pitchFamily="18" charset="0"/>
              </a:rPr>
              <a:t>the </a:t>
            </a:r>
            <a:r>
              <a:rPr sz="2800" spc="-55" dirty="0">
                <a:latin typeface="Times New Roman" panose="02020603050405020304" pitchFamily="18" charset="0"/>
                <a:cs typeface="Times New Roman" panose="02020603050405020304" pitchFamily="18" charset="0"/>
              </a:rPr>
              <a:t>World </a:t>
            </a:r>
            <a:r>
              <a:rPr sz="2800" spc="-70" dirty="0">
                <a:latin typeface="Times New Roman" panose="02020603050405020304" pitchFamily="18" charset="0"/>
                <a:cs typeface="Times New Roman" panose="02020603050405020304" pitchFamily="18" charset="0"/>
              </a:rPr>
              <a:t>Wide </a:t>
            </a:r>
            <a:r>
              <a:rPr sz="2800" spc="-120" dirty="0">
                <a:latin typeface="Times New Roman" panose="02020603050405020304" pitchFamily="18" charset="0"/>
                <a:cs typeface="Times New Roman" panose="02020603050405020304" pitchFamily="18" charset="0"/>
              </a:rPr>
              <a:t>Web </a:t>
            </a:r>
            <a:r>
              <a:rPr sz="2800" spc="-105" dirty="0">
                <a:latin typeface="Times New Roman" panose="02020603050405020304" pitchFamily="18" charset="0"/>
                <a:cs typeface="Times New Roman" panose="02020603050405020304" pitchFamily="18" charset="0"/>
              </a:rPr>
              <a:t>is </a:t>
            </a:r>
            <a:r>
              <a:rPr sz="2800" spc="-245" dirty="0">
                <a:latin typeface="Times New Roman" panose="02020603050405020304" pitchFamily="18" charset="0"/>
                <a:cs typeface="Times New Roman" panose="02020603050405020304" pitchFamily="18" charset="0"/>
              </a:rPr>
              <a:t>HTTP</a:t>
            </a:r>
            <a:r>
              <a:rPr sz="2800" spc="65" dirty="0">
                <a:latin typeface="Times New Roman" panose="02020603050405020304" pitchFamily="18" charset="0"/>
                <a:cs typeface="Times New Roman" panose="02020603050405020304" pitchFamily="18" charset="0"/>
              </a:rPr>
              <a:t> </a:t>
            </a:r>
            <a:r>
              <a:rPr sz="2800" spc="-85" dirty="0">
                <a:latin typeface="Times New Roman" panose="02020603050405020304" pitchFamily="18" charset="0"/>
                <a:cs typeface="Times New Roman" panose="02020603050405020304" pitchFamily="18" charset="0"/>
              </a:rPr>
              <a:t>(Hyper </a:t>
            </a:r>
            <a:r>
              <a:rPr sz="2800" spc="-155" dirty="0">
                <a:latin typeface="Times New Roman" panose="02020603050405020304" pitchFamily="18" charset="0"/>
                <a:cs typeface="Times New Roman" panose="02020603050405020304" pitchFamily="18" charset="0"/>
              </a:rPr>
              <a:t>Text </a:t>
            </a:r>
            <a:r>
              <a:rPr sz="2800" spc="-114" dirty="0">
                <a:latin typeface="Times New Roman" panose="02020603050405020304" pitchFamily="18" charset="0"/>
                <a:cs typeface="Times New Roman" panose="02020603050405020304" pitchFamily="18" charset="0"/>
              </a:rPr>
              <a:t>Transfer  </a:t>
            </a:r>
            <a:r>
              <a:rPr sz="2800" spc="-70" dirty="0">
                <a:latin typeface="Times New Roman" panose="02020603050405020304" pitchFamily="18" charset="0"/>
                <a:cs typeface="Times New Roman" panose="02020603050405020304" pitchFamily="18" charset="0"/>
              </a:rPr>
              <a:t>Protocol). </a:t>
            </a:r>
            <a:endParaRPr lang="en-US" sz="2800" spc="-70" dirty="0">
              <a:latin typeface="Times New Roman" panose="02020603050405020304" pitchFamily="18" charset="0"/>
              <a:cs typeface="Times New Roman" panose="02020603050405020304" pitchFamily="18" charset="0"/>
            </a:endParaRPr>
          </a:p>
          <a:p>
            <a:pPr marL="355599" marR="5080" indent="-342900" algn="just">
              <a:lnSpc>
                <a:spcPct val="90000"/>
              </a:lnSpc>
              <a:spcBef>
                <a:spcPts val="340"/>
              </a:spcBef>
              <a:buClr>
                <a:srgbClr val="9DBEBD"/>
              </a:buClr>
              <a:buSzPct val="95000"/>
              <a:buFont typeface="Wingdings" panose="05000000000000000000" pitchFamily="2" charset="2"/>
              <a:buChar char="§"/>
              <a:tabLst>
                <a:tab pos="215900" algn="l"/>
              </a:tabLst>
            </a:pPr>
            <a:r>
              <a:rPr sz="2800" spc="-325" dirty="0">
                <a:latin typeface="Times New Roman" panose="02020603050405020304" pitchFamily="18" charset="0"/>
                <a:cs typeface="Times New Roman" panose="02020603050405020304" pitchFamily="18" charset="0"/>
              </a:rPr>
              <a:t>TCP </a:t>
            </a:r>
            <a:r>
              <a:rPr sz="2800" spc="-80" dirty="0">
                <a:latin typeface="Times New Roman" panose="02020603050405020304" pitchFamily="18" charset="0"/>
                <a:cs typeface="Times New Roman" panose="02020603050405020304" pitchFamily="18" charset="0"/>
              </a:rPr>
              <a:t>provides </a:t>
            </a:r>
            <a:r>
              <a:rPr sz="2800" spc="-155" dirty="0">
                <a:latin typeface="Times New Roman" panose="02020603050405020304" pitchFamily="18" charset="0"/>
                <a:cs typeface="Times New Roman" panose="02020603050405020304" pitchFamily="18" charset="0"/>
              </a:rPr>
              <a:t>a </a:t>
            </a:r>
            <a:r>
              <a:rPr sz="2800" spc="-50" dirty="0">
                <a:highlight>
                  <a:srgbClr val="FFFF00"/>
                </a:highlight>
                <a:latin typeface="Times New Roman" panose="02020603050405020304" pitchFamily="18" charset="0"/>
                <a:cs typeface="Times New Roman" panose="02020603050405020304" pitchFamily="18" charset="0"/>
              </a:rPr>
              <a:t>reliable </a:t>
            </a:r>
            <a:r>
              <a:rPr sz="2800" spc="-80" dirty="0">
                <a:highlight>
                  <a:srgbClr val="FFFF00"/>
                </a:highlight>
                <a:latin typeface="Times New Roman" panose="02020603050405020304" pitchFamily="18" charset="0"/>
                <a:cs typeface="Times New Roman" panose="02020603050405020304" pitchFamily="18" charset="0"/>
              </a:rPr>
              <a:t>data </a:t>
            </a:r>
            <a:r>
              <a:rPr sz="2800" spc="-55" dirty="0">
                <a:highlight>
                  <a:srgbClr val="FFFF00"/>
                </a:highlight>
                <a:latin typeface="Times New Roman" panose="02020603050405020304" pitchFamily="18" charset="0"/>
                <a:cs typeface="Times New Roman" panose="02020603050405020304" pitchFamily="18" charset="0"/>
              </a:rPr>
              <a:t>transfer </a:t>
            </a:r>
            <a:r>
              <a:rPr sz="2800" spc="-95" dirty="0">
                <a:highlight>
                  <a:srgbClr val="FFFF00"/>
                </a:highlight>
                <a:latin typeface="Times New Roman" panose="02020603050405020304" pitchFamily="18" charset="0"/>
                <a:cs typeface="Times New Roman" panose="02020603050405020304" pitchFamily="18" charset="0"/>
              </a:rPr>
              <a:t>service </a:t>
            </a:r>
            <a:r>
              <a:rPr sz="2800" spc="15" dirty="0">
                <a:latin typeface="Times New Roman" panose="02020603050405020304" pitchFamily="18" charset="0"/>
                <a:cs typeface="Times New Roman" panose="02020603050405020304" pitchFamily="18" charset="0"/>
              </a:rPr>
              <a:t>to </a:t>
            </a:r>
            <a:r>
              <a:rPr sz="2800" spc="-265" dirty="0">
                <a:latin typeface="Times New Roman" panose="02020603050405020304" pitchFamily="18" charset="0"/>
                <a:cs typeface="Times New Roman" panose="02020603050405020304" pitchFamily="18" charset="0"/>
              </a:rPr>
              <a:t>HTTP, </a:t>
            </a:r>
            <a:r>
              <a:rPr lang="en-US" sz="2800" spc="-265" dirty="0">
                <a:latin typeface="Times New Roman" panose="02020603050405020304" pitchFamily="18" charset="0"/>
                <a:cs typeface="Times New Roman" panose="02020603050405020304" pitchFamily="18" charset="0"/>
              </a:rPr>
              <a:t> </a:t>
            </a:r>
            <a:r>
              <a:rPr sz="2800" spc="-105" dirty="0">
                <a:latin typeface="Times New Roman" panose="02020603050405020304" pitchFamily="18" charset="0"/>
                <a:cs typeface="Times New Roman" panose="02020603050405020304" pitchFamily="18" charset="0"/>
              </a:rPr>
              <a:t>using </a:t>
            </a:r>
            <a:r>
              <a:rPr sz="2800" spc="-330" dirty="0">
                <a:latin typeface="Times New Roman" panose="02020603050405020304" pitchFamily="18" charset="0"/>
                <a:cs typeface="Times New Roman" panose="02020603050405020304" pitchFamily="18" charset="0"/>
              </a:rPr>
              <a:t>TCP </a:t>
            </a:r>
            <a:r>
              <a:rPr sz="2800" dirty="0">
                <a:latin typeface="Times New Roman" panose="02020603050405020304" pitchFamily="18" charset="0"/>
                <a:cs typeface="Times New Roman" panose="02020603050405020304" pitchFamily="18" charset="0"/>
              </a:rPr>
              <a:t>port </a:t>
            </a:r>
            <a:r>
              <a:rPr sz="2800" spc="-85" dirty="0">
                <a:latin typeface="Times New Roman" panose="02020603050405020304" pitchFamily="18" charset="0"/>
                <a:cs typeface="Times New Roman" panose="02020603050405020304" pitchFamily="18" charset="0"/>
              </a:rPr>
              <a:t>80. </a:t>
            </a:r>
            <a:endParaRPr lang="en-US" sz="2800" spc="-85" dirty="0">
              <a:latin typeface="Times New Roman" panose="02020603050405020304" pitchFamily="18" charset="0"/>
              <a:cs typeface="Times New Roman" panose="02020603050405020304" pitchFamily="18" charset="0"/>
            </a:endParaRPr>
          </a:p>
          <a:p>
            <a:pPr marL="355599" marR="5080" indent="-342900" algn="just">
              <a:lnSpc>
                <a:spcPct val="90000"/>
              </a:lnSpc>
              <a:spcBef>
                <a:spcPts val="340"/>
              </a:spcBef>
              <a:buClr>
                <a:srgbClr val="9DBEBD"/>
              </a:buClr>
              <a:buSzPct val="95000"/>
              <a:buFont typeface="Wingdings" panose="05000000000000000000" pitchFamily="2" charset="2"/>
              <a:buChar char="§"/>
              <a:tabLst>
                <a:tab pos="215900" algn="l"/>
              </a:tabLst>
            </a:pPr>
            <a:r>
              <a:rPr sz="2800" spc="-135" dirty="0">
                <a:latin typeface="Times New Roman" panose="02020603050405020304" pitchFamily="18" charset="0"/>
                <a:cs typeface="Times New Roman" panose="02020603050405020304" pitchFamily="18" charset="0"/>
              </a:rPr>
              <a:t>This </a:t>
            </a:r>
            <a:r>
              <a:rPr sz="2800" spc="-60" dirty="0">
                <a:latin typeface="Times New Roman" panose="02020603050405020304" pitchFamily="18" charset="0"/>
                <a:cs typeface="Times New Roman" panose="02020603050405020304" pitchFamily="18" charset="0"/>
              </a:rPr>
              <a:t>implies  </a:t>
            </a:r>
            <a:r>
              <a:rPr sz="2800" spc="-5" dirty="0">
                <a:latin typeface="Times New Roman" panose="02020603050405020304" pitchFamily="18" charset="0"/>
                <a:cs typeface="Times New Roman" panose="02020603050405020304" pitchFamily="18" charset="0"/>
              </a:rPr>
              <a:t>that </a:t>
            </a:r>
            <a:r>
              <a:rPr sz="2800" spc="-120" dirty="0">
                <a:latin typeface="Times New Roman" panose="02020603050405020304" pitchFamily="18" charset="0"/>
                <a:cs typeface="Times New Roman" panose="02020603050405020304" pitchFamily="18" charset="0"/>
              </a:rPr>
              <a:t>each </a:t>
            </a:r>
            <a:r>
              <a:rPr sz="2800" spc="-245" dirty="0">
                <a:latin typeface="Times New Roman" panose="02020603050405020304" pitchFamily="18" charset="0"/>
                <a:cs typeface="Times New Roman" panose="02020603050405020304" pitchFamily="18" charset="0"/>
              </a:rPr>
              <a:t>HTTP </a:t>
            </a:r>
            <a:r>
              <a:rPr sz="2800" spc="-70" dirty="0">
                <a:latin typeface="Times New Roman" panose="02020603050405020304" pitchFamily="18" charset="0"/>
                <a:cs typeface="Times New Roman" panose="02020603050405020304" pitchFamily="18" charset="0"/>
              </a:rPr>
              <a:t>request </a:t>
            </a:r>
            <a:r>
              <a:rPr sz="2800" spc="-155" dirty="0">
                <a:latin typeface="Times New Roman" panose="02020603050405020304" pitchFamily="18" charset="0"/>
                <a:cs typeface="Times New Roman" panose="02020603050405020304" pitchFamily="18" charset="0"/>
              </a:rPr>
              <a:t>message </a:t>
            </a:r>
            <a:r>
              <a:rPr sz="2800" spc="-25" dirty="0">
                <a:highlight>
                  <a:srgbClr val="FFFF00"/>
                </a:highlight>
                <a:latin typeface="Times New Roman" panose="02020603050405020304" pitchFamily="18" charset="0"/>
                <a:cs typeface="Times New Roman" panose="02020603050405020304" pitchFamily="18" charset="0"/>
              </a:rPr>
              <a:t>emitted </a:t>
            </a:r>
            <a:r>
              <a:rPr sz="2800" spc="-85" dirty="0">
                <a:highlight>
                  <a:srgbClr val="FFFF00"/>
                </a:highlight>
                <a:latin typeface="Times New Roman" panose="02020603050405020304" pitchFamily="18" charset="0"/>
                <a:cs typeface="Times New Roman" panose="02020603050405020304" pitchFamily="18" charset="0"/>
              </a:rPr>
              <a:t>by </a:t>
            </a:r>
            <a:r>
              <a:rPr sz="2800" spc="-155" dirty="0">
                <a:highlight>
                  <a:srgbClr val="FFFF00"/>
                </a:highlight>
                <a:latin typeface="Times New Roman" panose="02020603050405020304" pitchFamily="18" charset="0"/>
                <a:cs typeface="Times New Roman" panose="02020603050405020304" pitchFamily="18" charset="0"/>
              </a:rPr>
              <a:t>a </a:t>
            </a:r>
            <a:r>
              <a:rPr sz="2800" spc="-40" dirty="0">
                <a:highlight>
                  <a:srgbClr val="FFFF00"/>
                </a:highlight>
                <a:latin typeface="Times New Roman" panose="02020603050405020304" pitchFamily="18" charset="0"/>
                <a:cs typeface="Times New Roman" panose="02020603050405020304" pitchFamily="18" charset="0"/>
              </a:rPr>
              <a:t>client </a:t>
            </a:r>
            <a:r>
              <a:rPr sz="2800" spc="-125" dirty="0">
                <a:highlight>
                  <a:srgbClr val="FFFF00"/>
                </a:highlight>
                <a:latin typeface="Times New Roman" panose="02020603050405020304" pitchFamily="18" charset="0"/>
                <a:cs typeface="Times New Roman" panose="02020603050405020304" pitchFamily="18" charset="0"/>
              </a:rPr>
              <a:t>process </a:t>
            </a:r>
            <a:r>
              <a:rPr sz="2800" spc="-60" dirty="0">
                <a:highlight>
                  <a:srgbClr val="FFFF00"/>
                </a:highlight>
                <a:latin typeface="Times New Roman" panose="02020603050405020304" pitchFamily="18" charset="0"/>
                <a:cs typeface="Times New Roman" panose="02020603050405020304" pitchFamily="18" charset="0"/>
              </a:rPr>
              <a:t>eventually </a:t>
            </a:r>
            <a:r>
              <a:rPr sz="2800" spc="-80" dirty="0">
                <a:highlight>
                  <a:srgbClr val="FFFF00"/>
                </a:highlight>
                <a:latin typeface="Times New Roman" panose="02020603050405020304" pitchFamily="18" charset="0"/>
                <a:cs typeface="Times New Roman" panose="02020603050405020304" pitchFamily="18" charset="0"/>
              </a:rPr>
              <a:t>arrives </a:t>
            </a:r>
            <a:r>
              <a:rPr sz="2800" spc="-25" dirty="0">
                <a:highlight>
                  <a:srgbClr val="FFFF00"/>
                </a:highlight>
                <a:latin typeface="Times New Roman" panose="02020603050405020304" pitchFamily="18" charset="0"/>
                <a:cs typeface="Times New Roman" panose="02020603050405020304" pitchFamily="18" charset="0"/>
              </a:rPr>
              <a:t>in </a:t>
            </a:r>
            <a:r>
              <a:rPr sz="2800" spc="-30" dirty="0">
                <a:highlight>
                  <a:srgbClr val="FFFF00"/>
                </a:highlight>
                <a:latin typeface="Times New Roman" panose="02020603050405020304" pitchFamily="18" charset="0"/>
                <a:cs typeface="Times New Roman" panose="02020603050405020304" pitchFamily="18" charset="0"/>
              </a:rPr>
              <a:t>tact </a:t>
            </a:r>
            <a:r>
              <a:rPr sz="2800" spc="-35" dirty="0">
                <a:highlight>
                  <a:srgbClr val="FFFF00"/>
                </a:highlight>
                <a:latin typeface="Times New Roman" panose="02020603050405020304" pitchFamily="18" charset="0"/>
                <a:cs typeface="Times New Roman" panose="02020603050405020304" pitchFamily="18" charset="0"/>
              </a:rPr>
              <a:t>at </a:t>
            </a:r>
            <a:r>
              <a:rPr sz="2800" spc="-20" dirty="0">
                <a:highlight>
                  <a:srgbClr val="FFFF00"/>
                </a:highlight>
                <a:latin typeface="Times New Roman" panose="02020603050405020304" pitchFamily="18" charset="0"/>
                <a:cs typeface="Times New Roman" panose="02020603050405020304" pitchFamily="18" charset="0"/>
              </a:rPr>
              <a:t>the  </a:t>
            </a:r>
            <a:r>
              <a:rPr sz="2800" spc="-75" dirty="0">
                <a:highlight>
                  <a:srgbClr val="FFFF00"/>
                </a:highlight>
                <a:latin typeface="Times New Roman" panose="02020603050405020304" pitchFamily="18" charset="0"/>
                <a:cs typeface="Times New Roman" panose="02020603050405020304" pitchFamily="18" charset="0"/>
              </a:rPr>
              <a:t>server</a:t>
            </a:r>
            <a:r>
              <a:rPr sz="2800" spc="-75" dirty="0">
                <a:latin typeface="Times New Roman" panose="02020603050405020304" pitchFamily="18" charset="0"/>
                <a:cs typeface="Times New Roman" panose="02020603050405020304" pitchFamily="18" charset="0"/>
              </a:rPr>
              <a:t>; </a:t>
            </a:r>
            <a:r>
              <a:rPr sz="2800" spc="-65" dirty="0">
                <a:latin typeface="Times New Roman" panose="02020603050405020304" pitchFamily="18" charset="0"/>
                <a:cs typeface="Times New Roman" panose="02020603050405020304" pitchFamily="18" charset="0"/>
              </a:rPr>
              <a:t>similarly, </a:t>
            </a:r>
            <a:r>
              <a:rPr sz="2800" spc="-120" dirty="0">
                <a:highlight>
                  <a:srgbClr val="00FF00"/>
                </a:highlight>
                <a:latin typeface="Times New Roman" panose="02020603050405020304" pitchFamily="18" charset="0"/>
                <a:cs typeface="Times New Roman" panose="02020603050405020304" pitchFamily="18" charset="0"/>
              </a:rPr>
              <a:t>each </a:t>
            </a:r>
            <a:r>
              <a:rPr sz="2800" spc="-245" dirty="0">
                <a:highlight>
                  <a:srgbClr val="00FF00"/>
                </a:highlight>
                <a:latin typeface="Times New Roman" panose="02020603050405020304" pitchFamily="18" charset="0"/>
                <a:cs typeface="Times New Roman" panose="02020603050405020304" pitchFamily="18" charset="0"/>
              </a:rPr>
              <a:t>HTTP </a:t>
            </a:r>
            <a:r>
              <a:rPr sz="2800" spc="-105" dirty="0">
                <a:highlight>
                  <a:srgbClr val="00FF00"/>
                </a:highlight>
                <a:latin typeface="Times New Roman" panose="02020603050405020304" pitchFamily="18" charset="0"/>
                <a:cs typeface="Times New Roman" panose="02020603050405020304" pitchFamily="18" charset="0"/>
              </a:rPr>
              <a:t>response </a:t>
            </a:r>
            <a:r>
              <a:rPr sz="2800" spc="-155" dirty="0">
                <a:highlight>
                  <a:srgbClr val="00FF00"/>
                </a:highlight>
                <a:latin typeface="Times New Roman" panose="02020603050405020304" pitchFamily="18" charset="0"/>
                <a:cs typeface="Times New Roman" panose="02020603050405020304" pitchFamily="18" charset="0"/>
              </a:rPr>
              <a:t>message </a:t>
            </a:r>
            <a:r>
              <a:rPr sz="2800" spc="-25" dirty="0">
                <a:highlight>
                  <a:srgbClr val="00FF00"/>
                </a:highlight>
                <a:latin typeface="Times New Roman" panose="02020603050405020304" pitchFamily="18" charset="0"/>
                <a:cs typeface="Times New Roman" panose="02020603050405020304" pitchFamily="18" charset="0"/>
              </a:rPr>
              <a:t>emitted </a:t>
            </a:r>
            <a:r>
              <a:rPr sz="2800" spc="-90" dirty="0">
                <a:highlight>
                  <a:srgbClr val="00FF00"/>
                </a:highlight>
                <a:latin typeface="Times New Roman" panose="02020603050405020304" pitchFamily="18" charset="0"/>
                <a:cs typeface="Times New Roman" panose="02020603050405020304" pitchFamily="18" charset="0"/>
              </a:rPr>
              <a:t>by </a:t>
            </a:r>
            <a:r>
              <a:rPr sz="2800" spc="-30" dirty="0">
                <a:highlight>
                  <a:srgbClr val="00FF00"/>
                </a:highlight>
                <a:latin typeface="Times New Roman" panose="02020603050405020304" pitchFamily="18" charset="0"/>
                <a:cs typeface="Times New Roman" panose="02020603050405020304" pitchFamily="18" charset="0"/>
              </a:rPr>
              <a:t>the </a:t>
            </a:r>
            <a:r>
              <a:rPr sz="2800" spc="-85" dirty="0">
                <a:highlight>
                  <a:srgbClr val="00FF00"/>
                </a:highlight>
                <a:latin typeface="Times New Roman" panose="02020603050405020304" pitchFamily="18" charset="0"/>
                <a:cs typeface="Times New Roman" panose="02020603050405020304" pitchFamily="18" charset="0"/>
              </a:rPr>
              <a:t>server </a:t>
            </a:r>
            <a:r>
              <a:rPr sz="2800" spc="-120" dirty="0">
                <a:highlight>
                  <a:srgbClr val="00FF00"/>
                </a:highlight>
                <a:latin typeface="Times New Roman" panose="02020603050405020304" pitchFamily="18" charset="0"/>
                <a:cs typeface="Times New Roman" panose="02020603050405020304" pitchFamily="18" charset="0"/>
              </a:rPr>
              <a:t>process </a:t>
            </a:r>
            <a:r>
              <a:rPr sz="2800" spc="-60" dirty="0">
                <a:highlight>
                  <a:srgbClr val="00FF00"/>
                </a:highlight>
                <a:latin typeface="Times New Roman" panose="02020603050405020304" pitchFamily="18" charset="0"/>
                <a:cs typeface="Times New Roman" panose="02020603050405020304" pitchFamily="18" charset="0"/>
              </a:rPr>
              <a:t>eventually </a:t>
            </a:r>
            <a:r>
              <a:rPr sz="2800" spc="-80" dirty="0">
                <a:highlight>
                  <a:srgbClr val="00FF00"/>
                </a:highlight>
                <a:latin typeface="Times New Roman" panose="02020603050405020304" pitchFamily="18" charset="0"/>
                <a:cs typeface="Times New Roman" panose="02020603050405020304" pitchFamily="18" charset="0"/>
              </a:rPr>
              <a:t>arrives  </a:t>
            </a:r>
            <a:r>
              <a:rPr sz="2800" spc="-25" dirty="0">
                <a:highlight>
                  <a:srgbClr val="00FF00"/>
                </a:highlight>
                <a:latin typeface="Times New Roman" panose="02020603050405020304" pitchFamily="18" charset="0"/>
                <a:cs typeface="Times New Roman" panose="02020603050405020304" pitchFamily="18" charset="0"/>
              </a:rPr>
              <a:t>in tact </a:t>
            </a:r>
            <a:r>
              <a:rPr sz="2800" spc="-35" dirty="0">
                <a:highlight>
                  <a:srgbClr val="00FF00"/>
                </a:highlight>
                <a:latin typeface="Times New Roman" panose="02020603050405020304" pitchFamily="18" charset="0"/>
                <a:cs typeface="Times New Roman" panose="02020603050405020304" pitchFamily="18" charset="0"/>
              </a:rPr>
              <a:t>at </a:t>
            </a:r>
            <a:r>
              <a:rPr sz="2800" spc="-20" dirty="0">
                <a:highlight>
                  <a:srgbClr val="00FF00"/>
                </a:highlight>
                <a:latin typeface="Times New Roman" panose="02020603050405020304" pitchFamily="18" charset="0"/>
                <a:cs typeface="Times New Roman" panose="02020603050405020304" pitchFamily="18" charset="0"/>
              </a:rPr>
              <a:t>the </a:t>
            </a:r>
            <a:r>
              <a:rPr sz="2800" spc="-40" dirty="0">
                <a:highlight>
                  <a:srgbClr val="00FF00"/>
                </a:highlight>
                <a:latin typeface="Times New Roman" panose="02020603050405020304" pitchFamily="18" charset="0"/>
                <a:cs typeface="Times New Roman" panose="02020603050405020304" pitchFamily="18" charset="0"/>
              </a:rPr>
              <a:t>clien</a:t>
            </a:r>
            <a:r>
              <a:rPr sz="2800" spc="-40" dirty="0">
                <a:latin typeface="Times New Roman" panose="02020603050405020304" pitchFamily="18" charset="0"/>
                <a:cs typeface="Times New Roman" panose="02020603050405020304" pitchFamily="18" charset="0"/>
              </a:rPr>
              <a:t>t. </a:t>
            </a:r>
            <a:endParaRPr lang="en-US" sz="2800" spc="-40" dirty="0">
              <a:latin typeface="Times New Roman" panose="02020603050405020304" pitchFamily="18" charset="0"/>
              <a:cs typeface="Times New Roman" panose="02020603050405020304" pitchFamily="18" charset="0"/>
            </a:endParaRPr>
          </a:p>
          <a:p>
            <a:pPr marL="355599" marR="5080" indent="-342900" algn="just">
              <a:lnSpc>
                <a:spcPct val="90000"/>
              </a:lnSpc>
              <a:spcBef>
                <a:spcPts val="340"/>
              </a:spcBef>
              <a:buClr>
                <a:srgbClr val="9DBEBD"/>
              </a:buClr>
              <a:buSzPct val="95000"/>
              <a:buFont typeface="Wingdings" panose="05000000000000000000" pitchFamily="2" charset="2"/>
              <a:buChar char="§"/>
              <a:tabLst>
                <a:tab pos="215900" algn="l"/>
              </a:tabLst>
            </a:pPr>
            <a:r>
              <a:rPr sz="2800" spc="-245" dirty="0">
                <a:highlight>
                  <a:srgbClr val="00FFFF"/>
                </a:highlight>
                <a:latin typeface="Times New Roman" panose="02020603050405020304" pitchFamily="18" charset="0"/>
                <a:cs typeface="Times New Roman" panose="02020603050405020304" pitchFamily="18" charset="0"/>
              </a:rPr>
              <a:t>HTTP </a:t>
            </a:r>
            <a:r>
              <a:rPr sz="2800" spc="-95" dirty="0">
                <a:highlight>
                  <a:srgbClr val="00FFFF"/>
                </a:highlight>
                <a:latin typeface="Times New Roman" panose="02020603050405020304" pitchFamily="18" charset="0"/>
                <a:cs typeface="Times New Roman" panose="02020603050405020304" pitchFamily="18" charset="0"/>
              </a:rPr>
              <a:t>need </a:t>
            </a:r>
            <a:r>
              <a:rPr sz="2800" spc="-5" dirty="0">
                <a:highlight>
                  <a:srgbClr val="00FFFF"/>
                </a:highlight>
                <a:latin typeface="Times New Roman" panose="02020603050405020304" pitchFamily="18" charset="0"/>
                <a:cs typeface="Times New Roman" panose="02020603050405020304" pitchFamily="18" charset="0"/>
              </a:rPr>
              <a:t>not </a:t>
            </a:r>
            <a:r>
              <a:rPr sz="2800" spc="-30" dirty="0">
                <a:highlight>
                  <a:srgbClr val="00FFFF"/>
                </a:highlight>
                <a:latin typeface="Times New Roman" panose="02020603050405020304" pitchFamily="18" charset="0"/>
                <a:cs typeface="Times New Roman" panose="02020603050405020304" pitchFamily="18" charset="0"/>
              </a:rPr>
              <a:t>worry </a:t>
            </a:r>
            <a:r>
              <a:rPr sz="2800" spc="-50" dirty="0">
                <a:highlight>
                  <a:srgbClr val="00FFFF"/>
                </a:highlight>
                <a:latin typeface="Times New Roman" panose="02020603050405020304" pitchFamily="18" charset="0"/>
                <a:cs typeface="Times New Roman" panose="02020603050405020304" pitchFamily="18" charset="0"/>
              </a:rPr>
              <a:t>about </a:t>
            </a:r>
            <a:r>
              <a:rPr sz="2800" spc="-45" dirty="0">
                <a:highlight>
                  <a:srgbClr val="00FFFF"/>
                </a:highlight>
                <a:latin typeface="Times New Roman" panose="02020603050405020304" pitchFamily="18" charset="0"/>
                <a:cs typeface="Times New Roman" panose="02020603050405020304" pitchFamily="18" charset="0"/>
              </a:rPr>
              <a:t>lost </a:t>
            </a:r>
            <a:r>
              <a:rPr sz="2800" spc="-75" dirty="0">
                <a:highlight>
                  <a:srgbClr val="00FFFF"/>
                </a:highlight>
                <a:latin typeface="Times New Roman" panose="02020603050405020304" pitchFamily="18" charset="0"/>
                <a:cs typeface="Times New Roman" panose="02020603050405020304" pitchFamily="18" charset="0"/>
              </a:rPr>
              <a:t>data</a:t>
            </a:r>
            <a:r>
              <a:rPr sz="2800" spc="-75" dirty="0">
                <a:latin typeface="Times New Roman" panose="02020603050405020304" pitchFamily="18" charset="0"/>
                <a:cs typeface="Times New Roman" panose="02020603050405020304" pitchFamily="18" charset="0"/>
              </a:rPr>
              <a:t>, </a:t>
            </a:r>
            <a:r>
              <a:rPr sz="2800" spc="-15" dirty="0">
                <a:latin typeface="Times New Roman" panose="02020603050405020304" pitchFamily="18" charset="0"/>
                <a:cs typeface="Times New Roman" panose="02020603050405020304" pitchFamily="18" charset="0"/>
              </a:rPr>
              <a:t>or </a:t>
            </a:r>
            <a:r>
              <a:rPr sz="2800" spc="-20" dirty="0">
                <a:latin typeface="Times New Roman" panose="02020603050405020304" pitchFamily="18" charset="0"/>
                <a:cs typeface="Times New Roman" panose="02020603050405020304" pitchFamily="18" charset="0"/>
              </a:rPr>
              <a:t>the </a:t>
            </a:r>
            <a:r>
              <a:rPr sz="2800" spc="-70" dirty="0">
                <a:latin typeface="Times New Roman" panose="02020603050405020304" pitchFamily="18" charset="0"/>
                <a:cs typeface="Times New Roman" panose="02020603050405020304" pitchFamily="18" charset="0"/>
              </a:rPr>
              <a:t>details </a:t>
            </a:r>
            <a:r>
              <a:rPr sz="2800" spc="-5" dirty="0">
                <a:latin typeface="Times New Roman" panose="02020603050405020304" pitchFamily="18" charset="0"/>
                <a:cs typeface="Times New Roman" panose="02020603050405020304" pitchFamily="18" charset="0"/>
              </a:rPr>
              <a:t>of </a:t>
            </a:r>
            <a:r>
              <a:rPr sz="2800" spc="-50" dirty="0">
                <a:latin typeface="Times New Roman" panose="02020603050405020304" pitchFamily="18" charset="0"/>
                <a:cs typeface="Times New Roman" panose="02020603050405020304" pitchFamily="18" charset="0"/>
              </a:rPr>
              <a:t>how </a:t>
            </a:r>
            <a:r>
              <a:rPr sz="2800" spc="-325" dirty="0">
                <a:latin typeface="Times New Roman" panose="02020603050405020304" pitchFamily="18" charset="0"/>
                <a:cs typeface="Times New Roman" panose="02020603050405020304" pitchFamily="18" charset="0"/>
              </a:rPr>
              <a:t>TCP </a:t>
            </a:r>
            <a:r>
              <a:rPr sz="2800" spc="-100" dirty="0">
                <a:latin typeface="Times New Roman" panose="02020603050405020304" pitchFamily="18" charset="0"/>
                <a:cs typeface="Times New Roman" panose="02020603050405020304" pitchFamily="18" charset="0"/>
              </a:rPr>
              <a:t>recovers  </a:t>
            </a:r>
            <a:r>
              <a:rPr sz="2800" spc="-25" dirty="0">
                <a:latin typeface="Times New Roman" panose="02020603050405020304" pitchFamily="18" charset="0"/>
                <a:cs typeface="Times New Roman" panose="02020603050405020304" pitchFamily="18" charset="0"/>
              </a:rPr>
              <a:t>from </a:t>
            </a:r>
            <a:r>
              <a:rPr sz="2800" spc="-125" dirty="0">
                <a:latin typeface="Times New Roman" panose="02020603050405020304" pitchFamily="18" charset="0"/>
                <a:cs typeface="Times New Roman" panose="02020603050405020304" pitchFamily="18" charset="0"/>
              </a:rPr>
              <a:t>loss </a:t>
            </a:r>
            <a:r>
              <a:rPr sz="2800" spc="-15" dirty="0">
                <a:latin typeface="Times New Roman" panose="02020603050405020304" pitchFamily="18" charset="0"/>
                <a:cs typeface="Times New Roman" panose="02020603050405020304" pitchFamily="18" charset="0"/>
              </a:rPr>
              <a:t>or </a:t>
            </a:r>
            <a:r>
              <a:rPr sz="2800" spc="-55" dirty="0">
                <a:latin typeface="Times New Roman" panose="02020603050405020304" pitchFamily="18" charset="0"/>
                <a:cs typeface="Times New Roman" panose="02020603050405020304" pitchFamily="18" charset="0"/>
              </a:rPr>
              <a:t>reordering </a:t>
            </a:r>
            <a:r>
              <a:rPr sz="2800" spc="-5" dirty="0">
                <a:latin typeface="Times New Roman" panose="02020603050405020304" pitchFamily="18" charset="0"/>
                <a:cs typeface="Times New Roman" panose="02020603050405020304" pitchFamily="18" charset="0"/>
              </a:rPr>
              <a:t>of </a:t>
            </a:r>
            <a:r>
              <a:rPr sz="2800" spc="-80" dirty="0">
                <a:latin typeface="Times New Roman" panose="02020603050405020304" pitchFamily="18" charset="0"/>
                <a:cs typeface="Times New Roman" panose="02020603050405020304" pitchFamily="18" charset="0"/>
              </a:rPr>
              <a:t>data </a:t>
            </a:r>
            <a:r>
              <a:rPr sz="2800" dirty="0">
                <a:latin typeface="Times New Roman" panose="02020603050405020304" pitchFamily="18" charset="0"/>
                <a:cs typeface="Times New Roman" panose="02020603050405020304" pitchFamily="18" charset="0"/>
              </a:rPr>
              <a:t>within </a:t>
            </a:r>
            <a:r>
              <a:rPr sz="2800" spc="-20" dirty="0">
                <a:latin typeface="Times New Roman" panose="02020603050405020304" pitchFamily="18" charset="0"/>
                <a:cs typeface="Times New Roman" panose="02020603050405020304" pitchFamily="18" charset="0"/>
              </a:rPr>
              <a:t>the </a:t>
            </a:r>
            <a:r>
              <a:rPr sz="2800" spc="-40" dirty="0">
                <a:latin typeface="Times New Roman" panose="02020603050405020304" pitchFamily="18" charset="0"/>
                <a:cs typeface="Times New Roman" panose="02020603050405020304" pitchFamily="18" charset="0"/>
              </a:rPr>
              <a:t>network. </a:t>
            </a:r>
            <a:endParaRPr lang="en-US" sz="2800" spc="-4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82469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163" y="630382"/>
            <a:ext cx="8574087" cy="967840"/>
          </a:xfrm>
        </p:spPr>
        <p:txBody>
          <a:bodyPr vert="horz" lIns="91440" tIns="45720" rIns="91440" bIns="45720" rtlCol="0" anchor="ctr">
            <a:normAutofit/>
          </a:bodyPr>
          <a:lstStyle/>
          <a:p>
            <a:r>
              <a:rPr lang="en-US" spc="-220"/>
              <a:t>Application </a:t>
            </a:r>
            <a:r>
              <a:rPr lang="en-US" spc="-390"/>
              <a:t>Layer  </a:t>
            </a:r>
            <a:r>
              <a:rPr lang="en-US" spc="-229"/>
              <a:t>Protocol:</a:t>
            </a:r>
            <a:r>
              <a:rPr lang="en-US" spc="-470"/>
              <a:t> </a:t>
            </a:r>
            <a:r>
              <a:rPr lang="en-US" spc="-700"/>
              <a:t>D   N    S	</a:t>
            </a:r>
            <a:endParaRPr lang="en-US"/>
          </a:p>
        </p:txBody>
      </p:sp>
      <p:sp>
        <p:nvSpPr>
          <p:cNvPr id="17" name="object 5"/>
          <p:cNvSpPr txBox="1"/>
          <p:nvPr/>
        </p:nvSpPr>
        <p:spPr>
          <a:xfrm>
            <a:off x="1" y="2133600"/>
            <a:ext cx="8858250" cy="4502727"/>
          </a:xfrm>
          <a:prstGeom prst="rect">
            <a:avLst/>
          </a:prstGeom>
        </p:spPr>
        <p:txBody>
          <a:bodyPr vert="horz" lIns="91440" tIns="45720" rIns="91440" bIns="45720" rtlCol="0">
            <a:normAutofit lnSpcReduction="10000"/>
          </a:bodyPr>
          <a:lstStyle/>
          <a:p>
            <a:pPr marL="103505">
              <a:lnSpc>
                <a:spcPct val="90000"/>
              </a:lnSpc>
              <a:spcBef>
                <a:spcPts val="1019"/>
              </a:spcBef>
              <a:buSzPct val="90000"/>
              <a:buFont typeface="Wingdings" pitchFamily="2" charset="2"/>
              <a:buChar char=""/>
            </a:pPr>
            <a:r>
              <a:rPr lang="en-IN" sz="2400" spc="-95" dirty="0">
                <a:solidFill>
                  <a:schemeClr val="tx1">
                    <a:lumMod val="85000"/>
                    <a:lumOff val="15000"/>
                  </a:schemeClr>
                </a:solidFill>
                <a:highlight>
                  <a:srgbClr val="FFFF00"/>
                </a:highlight>
                <a:latin typeface="Times New Roman" panose="02020603050405020304" pitchFamily="18" charset="0"/>
                <a:cs typeface="Times New Roman" panose="02020603050405020304" pitchFamily="18" charset="0"/>
              </a:rPr>
              <a:t>Domain </a:t>
            </a:r>
            <a:r>
              <a:rPr lang="en-IN" sz="2400" spc="-125" dirty="0">
                <a:solidFill>
                  <a:schemeClr val="tx1">
                    <a:lumMod val="85000"/>
                    <a:lumOff val="15000"/>
                  </a:schemeClr>
                </a:solidFill>
                <a:highlight>
                  <a:srgbClr val="FFFF00"/>
                </a:highlight>
                <a:latin typeface="Times New Roman" panose="02020603050405020304" pitchFamily="18" charset="0"/>
                <a:cs typeface="Times New Roman" panose="02020603050405020304" pitchFamily="18" charset="0"/>
              </a:rPr>
              <a:t>Name Service</a:t>
            </a:r>
            <a:r>
              <a:rPr lang="en-IN" sz="2400" spc="-95" dirty="0">
                <a:solidFill>
                  <a:schemeClr val="tx1">
                    <a:lumMod val="85000"/>
                    <a:lumOff val="15000"/>
                  </a:schemeClr>
                </a:solidFill>
                <a:highlight>
                  <a:srgbClr val="FFFF00"/>
                </a:highlight>
                <a:latin typeface="Times New Roman" panose="02020603050405020304" pitchFamily="18" charset="0"/>
                <a:cs typeface="Times New Roman" panose="02020603050405020304" pitchFamily="18" charset="0"/>
              </a:rPr>
              <a:t> </a:t>
            </a:r>
            <a:r>
              <a:rPr lang="en-IN" sz="2400" spc="-155" dirty="0">
                <a:solidFill>
                  <a:schemeClr val="tx1">
                    <a:lumMod val="85000"/>
                    <a:lumOff val="15000"/>
                  </a:schemeClr>
                </a:solidFill>
                <a:highlight>
                  <a:srgbClr val="FFFF00"/>
                </a:highlight>
                <a:latin typeface="Times New Roman" panose="02020603050405020304" pitchFamily="18" charset="0"/>
                <a:cs typeface="Times New Roman" panose="02020603050405020304" pitchFamily="18" charset="0"/>
              </a:rPr>
              <a:t>(DNS):DNS is a host name to IP address translation service</a:t>
            </a:r>
            <a:r>
              <a:rPr lang="en-IN" sz="2400" spc="-155"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IN" sz="2400" spc="-155" dirty="0">
                <a:solidFill>
                  <a:schemeClr val="tx1">
                    <a:lumMod val="85000"/>
                    <a:lumOff val="15000"/>
                  </a:schemeClr>
                </a:solidFill>
                <a:highlight>
                  <a:srgbClr val="FFFF00"/>
                </a:highlight>
                <a:latin typeface="Times New Roman" panose="02020603050405020304" pitchFamily="18" charset="0"/>
                <a:cs typeface="Times New Roman" panose="02020603050405020304" pitchFamily="18" charset="0"/>
              </a:rPr>
              <a:t>DNS is a distributed database implemented in a hierarchy of name servers. It is an application layer protocol for message exchange between clients and servers.</a:t>
            </a:r>
          </a:p>
          <a:p>
            <a:pPr marL="103505">
              <a:lnSpc>
                <a:spcPct val="90000"/>
              </a:lnSpc>
              <a:spcBef>
                <a:spcPts val="1019"/>
              </a:spcBef>
              <a:buSzPct val="90000"/>
              <a:buFont typeface="Wingdings" pitchFamily="2" charset="2"/>
              <a:buChar char=""/>
            </a:pPr>
            <a:r>
              <a:rPr lang="en-IN" sz="2400" dirty="0">
                <a:solidFill>
                  <a:schemeClr val="tx1">
                    <a:lumMod val="85000"/>
                    <a:lumOff val="15000"/>
                  </a:schemeClr>
                </a:solidFill>
                <a:latin typeface="Times New Roman" panose="02020603050405020304" pitchFamily="18" charset="0"/>
                <a:cs typeface="Times New Roman" panose="02020603050405020304" pitchFamily="18" charset="0"/>
              </a:rPr>
              <a:t>Every host is identified by the IP address but remembering numbers is very difficult for the people and also the IP addresses are not static therefore a mapping is required to change the domain name to IP address. So DNS is used to convert the domain name of the websites to their numerical IP address.</a:t>
            </a:r>
            <a:endParaRPr lang="en-IN" sz="2400" dirty="0">
              <a:solidFill>
                <a:schemeClr val="tx1">
                  <a:lumMod val="85000"/>
                  <a:lumOff val="15000"/>
                </a:schemeClr>
              </a:solidFill>
              <a:highlight>
                <a:srgbClr val="FFFF00"/>
              </a:highlight>
              <a:latin typeface="Times New Roman" panose="02020603050405020304" pitchFamily="18" charset="0"/>
              <a:cs typeface="Times New Roman" panose="02020603050405020304" pitchFamily="18" charset="0"/>
            </a:endParaRPr>
          </a:p>
          <a:p>
            <a:pPr marL="104139" marR="5080" indent="-91440">
              <a:lnSpc>
                <a:spcPct val="90000"/>
              </a:lnSpc>
              <a:spcBef>
                <a:spcPts val="1395"/>
              </a:spcBef>
              <a:buClr>
                <a:srgbClr val="9DBEBD"/>
              </a:buClr>
              <a:buSzPct val="90000"/>
              <a:buFont typeface="Wingdings" pitchFamily="2" charset="2"/>
              <a:buChar char=""/>
              <a:tabLst>
                <a:tab pos="471805" algn="l"/>
              </a:tabLst>
            </a:pPr>
            <a:r>
              <a:rPr lang="en-IN" sz="2400" spc="-114" dirty="0">
                <a:solidFill>
                  <a:schemeClr val="tx1">
                    <a:lumMod val="85000"/>
                    <a:lumOff val="15000"/>
                  </a:schemeClr>
                </a:solidFill>
                <a:latin typeface="Times New Roman" panose="02020603050405020304" pitchFamily="18" charset="0"/>
                <a:cs typeface="Times New Roman" panose="02020603050405020304" pitchFamily="18" charset="0"/>
              </a:rPr>
              <a:t>There </a:t>
            </a:r>
            <a:r>
              <a:rPr lang="en-IN" sz="2400" spc="-90" dirty="0">
                <a:solidFill>
                  <a:schemeClr val="tx1">
                    <a:lumMod val="85000"/>
                    <a:lumOff val="15000"/>
                  </a:schemeClr>
                </a:solidFill>
                <a:latin typeface="Times New Roman" panose="02020603050405020304" pitchFamily="18" charset="0"/>
                <a:cs typeface="Times New Roman" panose="02020603050405020304" pitchFamily="18" charset="0"/>
              </a:rPr>
              <a:t>are </a:t>
            </a:r>
            <a:r>
              <a:rPr lang="en-IN" sz="2400" spc="-40" dirty="0">
                <a:solidFill>
                  <a:schemeClr val="tx1">
                    <a:lumMod val="85000"/>
                    <a:lumOff val="15000"/>
                  </a:schemeClr>
                </a:solidFill>
                <a:latin typeface="Times New Roman" panose="02020603050405020304" pitchFamily="18" charset="0"/>
                <a:cs typeface="Times New Roman" panose="02020603050405020304" pitchFamily="18" charset="0"/>
              </a:rPr>
              <a:t>three </a:t>
            </a:r>
            <a:r>
              <a:rPr lang="en-IN" sz="2400" spc="-75" dirty="0">
                <a:solidFill>
                  <a:schemeClr val="tx1">
                    <a:lumMod val="85000"/>
                    <a:lumOff val="15000"/>
                  </a:schemeClr>
                </a:solidFill>
                <a:latin typeface="Times New Roman" panose="02020603050405020304" pitchFamily="18" charset="0"/>
                <a:cs typeface="Times New Roman" panose="02020603050405020304" pitchFamily="18" charset="0"/>
              </a:rPr>
              <a:t>types  </a:t>
            </a:r>
            <a:r>
              <a:rPr lang="en-IN" sz="2400" spc="-5" dirty="0">
                <a:solidFill>
                  <a:schemeClr val="tx1">
                    <a:lumMod val="85000"/>
                    <a:lumOff val="15000"/>
                  </a:schemeClr>
                </a:solidFill>
                <a:latin typeface="Times New Roman" panose="02020603050405020304" pitchFamily="18" charset="0"/>
                <a:cs typeface="Times New Roman" panose="02020603050405020304" pitchFamily="18" charset="0"/>
              </a:rPr>
              <a:t>of </a:t>
            </a:r>
            <a:r>
              <a:rPr lang="en-IN" sz="2400" spc="-105" dirty="0">
                <a:solidFill>
                  <a:schemeClr val="tx1">
                    <a:lumMod val="85000"/>
                    <a:lumOff val="15000"/>
                  </a:schemeClr>
                </a:solidFill>
                <a:highlight>
                  <a:srgbClr val="00FF00"/>
                </a:highlight>
                <a:latin typeface="Times New Roman" panose="02020603050405020304" pitchFamily="18" charset="0"/>
                <a:cs typeface="Times New Roman" panose="02020603050405020304" pitchFamily="18" charset="0"/>
              </a:rPr>
              <a:t>name</a:t>
            </a:r>
            <a:r>
              <a:rPr lang="en-IN" sz="2400" spc="-220" dirty="0">
                <a:solidFill>
                  <a:schemeClr val="tx1">
                    <a:lumMod val="85000"/>
                    <a:lumOff val="15000"/>
                  </a:schemeClr>
                </a:solidFill>
                <a:highlight>
                  <a:srgbClr val="00FF00"/>
                </a:highlight>
                <a:latin typeface="Times New Roman" panose="02020603050405020304" pitchFamily="18" charset="0"/>
                <a:cs typeface="Times New Roman" panose="02020603050405020304" pitchFamily="18" charset="0"/>
              </a:rPr>
              <a:t> </a:t>
            </a:r>
            <a:r>
              <a:rPr lang="en-IN" sz="2400" spc="-100" dirty="0">
                <a:solidFill>
                  <a:schemeClr val="tx1">
                    <a:lumMod val="85000"/>
                    <a:lumOff val="15000"/>
                  </a:schemeClr>
                </a:solidFill>
                <a:highlight>
                  <a:srgbClr val="00FF00"/>
                </a:highlight>
                <a:latin typeface="Times New Roman" panose="02020603050405020304" pitchFamily="18" charset="0"/>
                <a:cs typeface="Times New Roman" panose="02020603050405020304" pitchFamily="18" charset="0"/>
              </a:rPr>
              <a:t>servers</a:t>
            </a:r>
            <a:r>
              <a:rPr lang="en-IN" sz="2400" spc="-100" dirty="0">
                <a:solidFill>
                  <a:schemeClr val="tx1">
                    <a:lumMod val="85000"/>
                    <a:lumOff val="15000"/>
                  </a:schemeClr>
                </a:solidFill>
                <a:latin typeface="Times New Roman" panose="02020603050405020304" pitchFamily="18" charset="0"/>
                <a:cs typeface="Times New Roman" panose="02020603050405020304" pitchFamily="18" charset="0"/>
              </a:rPr>
              <a:t>:</a:t>
            </a:r>
            <a:endParaRPr lang="en-IN" sz="2400" dirty="0">
              <a:solidFill>
                <a:schemeClr val="tx1">
                  <a:lumMod val="85000"/>
                  <a:lumOff val="15000"/>
                </a:schemeClr>
              </a:solidFill>
              <a:latin typeface="Times New Roman" panose="02020603050405020304" pitchFamily="18" charset="0"/>
              <a:cs typeface="Times New Roman" panose="02020603050405020304" pitchFamily="18" charset="0"/>
            </a:endParaRPr>
          </a:p>
          <a:p>
            <a:pPr marL="469265" indent="-456565">
              <a:lnSpc>
                <a:spcPct val="90000"/>
              </a:lnSpc>
              <a:spcBef>
                <a:spcPts val="919"/>
              </a:spcBef>
              <a:buClr>
                <a:srgbClr val="9DBEBD"/>
              </a:buClr>
              <a:buSzPct val="90000"/>
              <a:buFont typeface="Wingdings" pitchFamily="2" charset="2"/>
              <a:buChar char=""/>
              <a:tabLst>
                <a:tab pos="469265" algn="l"/>
                <a:tab pos="469900" algn="l"/>
              </a:tabLst>
            </a:pPr>
            <a:r>
              <a:rPr lang="en-IN" sz="2400" b="1" spc="-90" dirty="0">
                <a:solidFill>
                  <a:schemeClr val="tx1">
                    <a:lumMod val="85000"/>
                    <a:lumOff val="15000"/>
                  </a:schemeClr>
                </a:solidFill>
                <a:highlight>
                  <a:srgbClr val="00FFFF"/>
                </a:highlight>
                <a:latin typeface="Times New Roman" panose="02020603050405020304" pitchFamily="18" charset="0"/>
                <a:cs typeface="Times New Roman" panose="02020603050405020304" pitchFamily="18" charset="0"/>
              </a:rPr>
              <a:t>Root </a:t>
            </a:r>
            <a:r>
              <a:rPr lang="en-IN" sz="2400" b="1" spc="-105" dirty="0">
                <a:solidFill>
                  <a:schemeClr val="tx1">
                    <a:lumMod val="85000"/>
                    <a:lumOff val="15000"/>
                  </a:schemeClr>
                </a:solidFill>
                <a:highlight>
                  <a:srgbClr val="00FFFF"/>
                </a:highlight>
                <a:latin typeface="Times New Roman" panose="02020603050405020304" pitchFamily="18" charset="0"/>
                <a:cs typeface="Times New Roman" panose="02020603050405020304" pitchFamily="18" charset="0"/>
              </a:rPr>
              <a:t>name</a:t>
            </a:r>
            <a:r>
              <a:rPr lang="en-IN" sz="2400" b="1" spc="-290" dirty="0">
                <a:solidFill>
                  <a:schemeClr val="tx1">
                    <a:lumMod val="85000"/>
                    <a:lumOff val="15000"/>
                  </a:schemeClr>
                </a:solidFill>
                <a:highlight>
                  <a:srgbClr val="00FFFF"/>
                </a:highlight>
                <a:latin typeface="Times New Roman" panose="02020603050405020304" pitchFamily="18" charset="0"/>
                <a:cs typeface="Times New Roman" panose="02020603050405020304" pitchFamily="18" charset="0"/>
              </a:rPr>
              <a:t> </a:t>
            </a:r>
            <a:r>
              <a:rPr lang="en-IN" sz="2400" b="1" spc="-125" dirty="0">
                <a:solidFill>
                  <a:schemeClr val="tx1">
                    <a:lumMod val="85000"/>
                    <a:lumOff val="15000"/>
                  </a:schemeClr>
                </a:solidFill>
                <a:highlight>
                  <a:srgbClr val="00FFFF"/>
                </a:highlight>
                <a:latin typeface="Times New Roman" panose="02020603050405020304" pitchFamily="18" charset="0"/>
                <a:cs typeface="Times New Roman" panose="02020603050405020304" pitchFamily="18" charset="0"/>
              </a:rPr>
              <a:t>servers</a:t>
            </a:r>
            <a:endParaRPr lang="en-IN" sz="2400" dirty="0">
              <a:solidFill>
                <a:schemeClr val="tx1">
                  <a:lumMod val="85000"/>
                  <a:lumOff val="15000"/>
                </a:schemeClr>
              </a:solidFill>
              <a:highlight>
                <a:srgbClr val="00FFFF"/>
              </a:highlight>
              <a:latin typeface="Times New Roman" panose="02020603050405020304" pitchFamily="18" charset="0"/>
              <a:cs typeface="Times New Roman" panose="02020603050405020304" pitchFamily="18" charset="0"/>
            </a:endParaRPr>
          </a:p>
          <a:p>
            <a:pPr marL="469265" indent="-456565">
              <a:lnSpc>
                <a:spcPct val="90000"/>
              </a:lnSpc>
              <a:spcBef>
                <a:spcPts val="925"/>
              </a:spcBef>
              <a:buClr>
                <a:srgbClr val="9DBEBD"/>
              </a:buClr>
              <a:buSzPct val="90000"/>
              <a:buFont typeface="Wingdings" pitchFamily="2" charset="2"/>
              <a:buChar char=""/>
              <a:tabLst>
                <a:tab pos="469265" algn="l"/>
                <a:tab pos="469900" algn="l"/>
              </a:tabLst>
            </a:pPr>
            <a:r>
              <a:rPr lang="en-IN" sz="2400" b="1" spc="-140" dirty="0">
                <a:solidFill>
                  <a:schemeClr val="tx1">
                    <a:lumMod val="85000"/>
                    <a:lumOff val="15000"/>
                  </a:schemeClr>
                </a:solidFill>
                <a:highlight>
                  <a:srgbClr val="00FFFF"/>
                </a:highlight>
                <a:latin typeface="Times New Roman" panose="02020603050405020304" pitchFamily="18" charset="0"/>
                <a:cs typeface="Times New Roman" panose="02020603050405020304" pitchFamily="18" charset="0"/>
              </a:rPr>
              <a:t>Local  </a:t>
            </a:r>
            <a:r>
              <a:rPr lang="en-IN" sz="2400" b="1" spc="-105" dirty="0">
                <a:solidFill>
                  <a:schemeClr val="tx1">
                    <a:lumMod val="85000"/>
                    <a:lumOff val="15000"/>
                  </a:schemeClr>
                </a:solidFill>
                <a:highlight>
                  <a:srgbClr val="00FFFF"/>
                </a:highlight>
                <a:latin typeface="Times New Roman" panose="02020603050405020304" pitchFamily="18" charset="0"/>
                <a:cs typeface="Times New Roman" panose="02020603050405020304" pitchFamily="18" charset="0"/>
              </a:rPr>
              <a:t>name</a:t>
            </a:r>
            <a:r>
              <a:rPr lang="en-IN" sz="2400" b="1" spc="-265" dirty="0">
                <a:solidFill>
                  <a:schemeClr val="tx1">
                    <a:lumMod val="85000"/>
                    <a:lumOff val="15000"/>
                  </a:schemeClr>
                </a:solidFill>
                <a:highlight>
                  <a:srgbClr val="00FFFF"/>
                </a:highlight>
                <a:latin typeface="Times New Roman" panose="02020603050405020304" pitchFamily="18" charset="0"/>
                <a:cs typeface="Times New Roman" panose="02020603050405020304" pitchFamily="18" charset="0"/>
              </a:rPr>
              <a:t> </a:t>
            </a:r>
            <a:r>
              <a:rPr lang="en-IN" sz="2400" b="1" spc="-130" dirty="0">
                <a:solidFill>
                  <a:schemeClr val="tx1">
                    <a:lumMod val="85000"/>
                    <a:lumOff val="15000"/>
                  </a:schemeClr>
                </a:solidFill>
                <a:highlight>
                  <a:srgbClr val="00FFFF"/>
                </a:highlight>
                <a:latin typeface="Times New Roman" panose="02020603050405020304" pitchFamily="18" charset="0"/>
                <a:cs typeface="Times New Roman" panose="02020603050405020304" pitchFamily="18" charset="0"/>
              </a:rPr>
              <a:t>server</a:t>
            </a:r>
            <a:endParaRPr lang="en-IN" sz="2400" dirty="0">
              <a:solidFill>
                <a:schemeClr val="tx1">
                  <a:lumMod val="85000"/>
                  <a:lumOff val="15000"/>
                </a:schemeClr>
              </a:solidFill>
              <a:highlight>
                <a:srgbClr val="00FFFF"/>
              </a:highlight>
              <a:latin typeface="Times New Roman" panose="02020603050405020304" pitchFamily="18" charset="0"/>
              <a:cs typeface="Times New Roman" panose="02020603050405020304" pitchFamily="18" charset="0"/>
            </a:endParaRPr>
          </a:p>
          <a:p>
            <a:pPr marL="469265" indent="-456565">
              <a:lnSpc>
                <a:spcPct val="90000"/>
              </a:lnSpc>
              <a:spcBef>
                <a:spcPts val="910"/>
              </a:spcBef>
              <a:buClr>
                <a:srgbClr val="9DBEBD"/>
              </a:buClr>
              <a:buSzPct val="90000"/>
              <a:buFont typeface="Wingdings" pitchFamily="2" charset="2"/>
              <a:buChar char=""/>
              <a:tabLst>
                <a:tab pos="469265" algn="l"/>
                <a:tab pos="469900" algn="l"/>
              </a:tabLst>
            </a:pPr>
            <a:r>
              <a:rPr lang="en-IN" sz="2000" b="1" spc="-110" dirty="0">
                <a:solidFill>
                  <a:schemeClr val="tx1">
                    <a:lumMod val="85000"/>
                    <a:lumOff val="15000"/>
                  </a:schemeClr>
                </a:solidFill>
                <a:highlight>
                  <a:srgbClr val="00FFFF"/>
                </a:highlight>
              </a:rPr>
              <a:t>Authoritative </a:t>
            </a:r>
            <a:r>
              <a:rPr lang="en-IN" sz="2000" b="1" spc="-105" dirty="0">
                <a:solidFill>
                  <a:schemeClr val="tx1">
                    <a:lumMod val="85000"/>
                    <a:lumOff val="15000"/>
                  </a:schemeClr>
                </a:solidFill>
                <a:highlight>
                  <a:srgbClr val="00FFFF"/>
                </a:highlight>
              </a:rPr>
              <a:t>name</a:t>
            </a:r>
            <a:r>
              <a:rPr lang="en-IN" sz="2000" b="1" spc="-229" dirty="0">
                <a:solidFill>
                  <a:schemeClr val="tx1">
                    <a:lumMod val="85000"/>
                    <a:lumOff val="15000"/>
                  </a:schemeClr>
                </a:solidFill>
                <a:highlight>
                  <a:srgbClr val="00FFFF"/>
                </a:highlight>
              </a:rPr>
              <a:t> </a:t>
            </a:r>
            <a:r>
              <a:rPr lang="en-IN" sz="2000" b="1" spc="-125" dirty="0">
                <a:solidFill>
                  <a:schemeClr val="tx1">
                    <a:lumMod val="85000"/>
                    <a:lumOff val="15000"/>
                  </a:schemeClr>
                </a:solidFill>
                <a:highlight>
                  <a:srgbClr val="00FFFF"/>
                </a:highlight>
              </a:rPr>
              <a:t>servers</a:t>
            </a:r>
            <a:endParaRPr lang="en-IN" sz="2000" dirty="0">
              <a:solidFill>
                <a:schemeClr val="tx1">
                  <a:lumMod val="85000"/>
                  <a:lumOff val="15000"/>
                </a:schemeClr>
              </a:solidFill>
              <a:highlight>
                <a:srgbClr val="00FFFF"/>
              </a:highlight>
            </a:endParaRPr>
          </a:p>
        </p:txBody>
      </p:sp>
    </p:spTree>
    <p:extLst>
      <p:ext uri="{BB962C8B-B14F-4D97-AF65-F5344CB8AC3E}">
        <p14:creationId xmlns:p14="http://schemas.microsoft.com/office/powerpoint/2010/main" val="33323228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909BF-7478-43E6-B928-6E95B4D01559}"/>
              </a:ext>
            </a:extLst>
          </p:cNvPr>
          <p:cNvSpPr>
            <a:spLocks noGrp="1"/>
          </p:cNvSpPr>
          <p:nvPr>
            <p:ph type="title"/>
          </p:nvPr>
        </p:nvSpPr>
        <p:spPr/>
        <p:txBody>
          <a:bodyPr/>
          <a:lstStyle/>
          <a:p>
            <a:r>
              <a:rPr lang="en-US" dirty="0"/>
              <a:t>DNS Contd..</a:t>
            </a:r>
          </a:p>
        </p:txBody>
      </p:sp>
      <p:pic>
        <p:nvPicPr>
          <p:cNvPr id="1026" name="Picture 2" descr="DNS_2">
            <a:extLst>
              <a:ext uri="{FF2B5EF4-FFF2-40B4-BE49-F238E27FC236}">
                <a16:creationId xmlns:a16="http://schemas.microsoft.com/office/drawing/2014/main" id="{CBEFBE97-CF80-4D65-A18C-3CB70814404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2185987"/>
            <a:ext cx="8938597" cy="35082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15245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504424"/>
            <a:ext cx="7808976" cy="1088136"/>
          </a:xfrm>
        </p:spPr>
        <p:txBody>
          <a:bodyPr>
            <a:normAutofit/>
          </a:bodyPr>
          <a:lstStyle/>
          <a:p>
            <a:r>
              <a:rPr lang="en-US" sz="4000" spc="-700" dirty="0"/>
              <a:t>D    N     S</a:t>
            </a:r>
            <a:r>
              <a:rPr lang="en-US" sz="4000" spc="-405" dirty="0"/>
              <a:t>  </a:t>
            </a:r>
            <a:r>
              <a:rPr lang="en-US" sz="4000" spc="-290" dirty="0"/>
              <a:t>Hierarchy	</a:t>
            </a:r>
            <a:endParaRPr lang="en-US" sz="4000" dirty="0"/>
          </a:p>
        </p:txBody>
      </p:sp>
      <p:sp>
        <p:nvSpPr>
          <p:cNvPr id="9" name="object 5"/>
          <p:cNvSpPr/>
          <p:nvPr/>
        </p:nvSpPr>
        <p:spPr>
          <a:xfrm>
            <a:off x="127462" y="2074024"/>
            <a:ext cx="8739447" cy="4014216"/>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8902648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01885DE-E546-4648-A25F-C9EDE02E545E}"/>
              </a:ext>
            </a:extLst>
          </p:cNvPr>
          <p:cNvSpPr txBox="1"/>
          <p:nvPr/>
        </p:nvSpPr>
        <p:spPr>
          <a:xfrm>
            <a:off x="360219" y="1000449"/>
            <a:ext cx="8063346" cy="4801314"/>
          </a:xfrm>
          <a:prstGeom prst="rect">
            <a:avLst/>
          </a:prstGeom>
          <a:noFill/>
        </p:spPr>
        <p:txBody>
          <a:bodyPr wrap="square" rtlCol="0">
            <a:spAutoFit/>
          </a:bodyPr>
          <a:lstStyle/>
          <a:p>
            <a:pPr algn="just" fontAlgn="base"/>
            <a:r>
              <a:rPr lang="en-IN" sz="2400" b="1" dirty="0">
                <a:latin typeface="Times New Roman" panose="02020603050405020304" pitchFamily="18" charset="0"/>
                <a:cs typeface="Times New Roman" panose="02020603050405020304" pitchFamily="18" charset="0"/>
              </a:rPr>
              <a:t>Root name servers </a:t>
            </a:r>
            <a:r>
              <a:rPr lang="en-IN" sz="2400" dirty="0">
                <a:latin typeface="Times New Roman" panose="02020603050405020304" pitchFamily="18" charset="0"/>
                <a:cs typeface="Times New Roman" panose="02020603050405020304" pitchFamily="18" charset="0"/>
              </a:rPr>
              <a:t>– </a:t>
            </a:r>
          </a:p>
          <a:p>
            <a:pPr marL="342900" indent="-342900" algn="just" fontAlgn="base">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It is contacted by name servers that can not resolve the name. </a:t>
            </a:r>
          </a:p>
          <a:p>
            <a:pPr marL="342900" indent="-342900" algn="just" fontAlgn="base">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It contacts authoritative name server if name mapping is not known. </a:t>
            </a:r>
          </a:p>
          <a:p>
            <a:pPr marL="342900" indent="-342900" algn="just" fontAlgn="base">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It then gets the mapping and return the IP address to the host.</a:t>
            </a:r>
          </a:p>
          <a:p>
            <a:pPr algn="just" fontAlgn="base"/>
            <a:endParaRPr lang="en-IN" sz="2400" b="1" dirty="0">
              <a:latin typeface="Times New Roman" panose="02020603050405020304" pitchFamily="18" charset="0"/>
              <a:cs typeface="Times New Roman" panose="02020603050405020304" pitchFamily="18" charset="0"/>
            </a:endParaRPr>
          </a:p>
          <a:p>
            <a:pPr algn="just" fontAlgn="base"/>
            <a:r>
              <a:rPr lang="en-IN" sz="2400" b="1" dirty="0">
                <a:latin typeface="Times New Roman" panose="02020603050405020304" pitchFamily="18" charset="0"/>
                <a:cs typeface="Times New Roman" panose="02020603050405020304" pitchFamily="18" charset="0"/>
              </a:rPr>
              <a:t>Top level server</a:t>
            </a:r>
            <a:r>
              <a:rPr lang="en-IN" sz="2400" dirty="0">
                <a:latin typeface="Times New Roman" panose="02020603050405020304" pitchFamily="18" charset="0"/>
                <a:cs typeface="Times New Roman" panose="02020603050405020304" pitchFamily="18" charset="0"/>
              </a:rPr>
              <a:t> –</a:t>
            </a:r>
          </a:p>
          <a:p>
            <a:pPr marL="342900" indent="-342900" algn="just" fontAlgn="base">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 It is responsible for com, org, </a:t>
            </a:r>
            <a:r>
              <a:rPr lang="en-IN" sz="2400" dirty="0" err="1">
                <a:latin typeface="Times New Roman" panose="02020603050405020304" pitchFamily="18" charset="0"/>
                <a:cs typeface="Times New Roman" panose="02020603050405020304" pitchFamily="18" charset="0"/>
              </a:rPr>
              <a:t>edu</a:t>
            </a:r>
            <a:r>
              <a:rPr lang="en-IN" sz="2400" dirty="0">
                <a:latin typeface="Times New Roman" panose="02020603050405020304" pitchFamily="18" charset="0"/>
                <a:cs typeface="Times New Roman" panose="02020603050405020304" pitchFamily="18" charset="0"/>
              </a:rPr>
              <a:t> etc and all top level country domains like </a:t>
            </a:r>
            <a:r>
              <a:rPr lang="en-IN" sz="2400" dirty="0" err="1">
                <a:latin typeface="Times New Roman" panose="02020603050405020304" pitchFamily="18" charset="0"/>
                <a:cs typeface="Times New Roman" panose="02020603050405020304" pitchFamily="18" charset="0"/>
              </a:rPr>
              <a:t>uk</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fr</a:t>
            </a:r>
            <a:r>
              <a:rPr lang="en-IN" sz="2400" dirty="0">
                <a:latin typeface="Times New Roman" panose="02020603050405020304" pitchFamily="18" charset="0"/>
                <a:cs typeface="Times New Roman" panose="02020603050405020304" pitchFamily="18" charset="0"/>
              </a:rPr>
              <a:t>, ca, in etc.</a:t>
            </a:r>
          </a:p>
          <a:p>
            <a:pPr marL="342900" indent="-342900" algn="just" fontAlgn="base">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 They have information about authoritative domain servers and know names and IP addresses of each authoritative name server for the second level domains.</a:t>
            </a:r>
          </a:p>
          <a:p>
            <a:pPr algn="just"/>
            <a:endParaRPr lang="en-US" dirty="0"/>
          </a:p>
        </p:txBody>
      </p:sp>
    </p:spTree>
    <p:extLst>
      <p:ext uri="{BB962C8B-B14F-4D97-AF65-F5344CB8AC3E}">
        <p14:creationId xmlns:p14="http://schemas.microsoft.com/office/powerpoint/2010/main" val="32887184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6DB0D9-F8D7-4C1D-B1B4-BBC1C110B75D}"/>
              </a:ext>
            </a:extLst>
          </p:cNvPr>
          <p:cNvSpPr txBox="1"/>
          <p:nvPr/>
        </p:nvSpPr>
        <p:spPr>
          <a:xfrm>
            <a:off x="886691" y="803564"/>
            <a:ext cx="6733309" cy="5170646"/>
          </a:xfrm>
          <a:prstGeom prst="rect">
            <a:avLst/>
          </a:prstGeom>
          <a:noFill/>
        </p:spPr>
        <p:txBody>
          <a:bodyPr wrap="square" rtlCol="0">
            <a:spAutoFit/>
          </a:bodyPr>
          <a:lstStyle/>
          <a:p>
            <a:pPr algn="just" fontAlgn="base"/>
            <a:r>
              <a:rPr lang="en-IN" sz="2400" b="1" dirty="0">
                <a:latin typeface="Times New Roman" panose="02020603050405020304" pitchFamily="18" charset="0"/>
                <a:cs typeface="Times New Roman" panose="02020603050405020304" pitchFamily="18" charset="0"/>
              </a:rPr>
              <a:t>Authoritative name servers</a:t>
            </a:r>
            <a:r>
              <a:rPr lang="en-IN" sz="2400" dirty="0">
                <a:latin typeface="Times New Roman" panose="02020603050405020304" pitchFamily="18" charset="0"/>
                <a:cs typeface="Times New Roman" panose="02020603050405020304" pitchFamily="18" charset="0"/>
              </a:rPr>
              <a:t> </a:t>
            </a:r>
          </a:p>
          <a:p>
            <a:pPr marL="342900" indent="-342900" algn="just" fontAlgn="base">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This is organization’s DNS server, providing authoritative host Name to IP mapping for organization servers. </a:t>
            </a:r>
          </a:p>
          <a:p>
            <a:pPr marL="342900" indent="-342900" algn="just" fontAlgn="base">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It can be maintained by organization or service provider. </a:t>
            </a:r>
          </a:p>
          <a:p>
            <a:pPr marL="342900" indent="-342900" algn="just" fontAlgn="base">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In order to reach cse.dtu.in we have to ask the root DNS server, then it will point out to the top level domain server and then to authoritative domain name server which actually contains the IP address. </a:t>
            </a:r>
          </a:p>
          <a:p>
            <a:pPr marL="342900" indent="-342900" algn="just" fontAlgn="base">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So the authoritative domain server will return the associative </a:t>
            </a:r>
            <a:r>
              <a:rPr lang="en-IN" sz="2400" dirty="0" err="1">
                <a:latin typeface="Times New Roman" panose="02020603050405020304" pitchFamily="18" charset="0"/>
                <a:cs typeface="Times New Roman" panose="02020603050405020304" pitchFamily="18" charset="0"/>
              </a:rPr>
              <a:t>ip</a:t>
            </a:r>
            <a:r>
              <a:rPr lang="en-IN" sz="2400" dirty="0">
                <a:latin typeface="Times New Roman" panose="02020603050405020304" pitchFamily="18" charset="0"/>
                <a:cs typeface="Times New Roman" panose="02020603050405020304" pitchFamily="18" charset="0"/>
              </a:rPr>
              <a:t> address.</a:t>
            </a:r>
          </a:p>
          <a:p>
            <a:endParaRPr lang="en-US" dirty="0"/>
          </a:p>
        </p:txBody>
      </p:sp>
    </p:spTree>
    <p:extLst>
      <p:ext uri="{BB962C8B-B14F-4D97-AF65-F5344CB8AC3E}">
        <p14:creationId xmlns:p14="http://schemas.microsoft.com/office/powerpoint/2010/main" val="653595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0218" y="564076"/>
            <a:ext cx="7808976" cy="1088136"/>
          </a:xfrm>
        </p:spPr>
        <p:txBody>
          <a:bodyPr>
            <a:normAutofit/>
          </a:bodyPr>
          <a:lstStyle/>
          <a:p>
            <a:r>
              <a:rPr lang="en-US" sz="4000" spc="-130" dirty="0"/>
              <a:t>Internet </a:t>
            </a:r>
            <a:r>
              <a:rPr lang="en-US" sz="4000" spc="-295" dirty="0"/>
              <a:t>Domain </a:t>
            </a:r>
            <a:r>
              <a:rPr lang="en-US" sz="4000" spc="-635" dirty="0"/>
              <a:t> </a:t>
            </a:r>
            <a:r>
              <a:rPr lang="en-US" sz="4000" spc="-415" dirty="0"/>
              <a:t>Names	</a:t>
            </a:r>
            <a:endParaRPr lang="en-US" sz="4000" dirty="0"/>
          </a:p>
        </p:txBody>
      </p:sp>
      <p:sp>
        <p:nvSpPr>
          <p:cNvPr id="5" name="object 5"/>
          <p:cNvSpPr txBox="1"/>
          <p:nvPr/>
        </p:nvSpPr>
        <p:spPr>
          <a:xfrm>
            <a:off x="235527" y="2388417"/>
            <a:ext cx="8908473" cy="2624436"/>
          </a:xfrm>
          <a:prstGeom prst="rect">
            <a:avLst/>
          </a:prstGeom>
        </p:spPr>
        <p:txBody>
          <a:bodyPr vert="horz" wrap="square" lIns="0" tIns="41275" rIns="0" bIns="0" rtlCol="0">
            <a:spAutoFit/>
          </a:bodyPr>
          <a:lstStyle/>
          <a:p>
            <a:pPr marL="104139" indent="-91440">
              <a:lnSpc>
                <a:spcPct val="100000"/>
              </a:lnSpc>
              <a:spcBef>
                <a:spcPts val="325"/>
              </a:spcBef>
              <a:buClr>
                <a:srgbClr val="9DBEBD"/>
              </a:buClr>
              <a:buSzPct val="95000"/>
              <a:buFont typeface="Wingdings"/>
              <a:buChar char=""/>
              <a:tabLst>
                <a:tab pos="215900" algn="l"/>
              </a:tabLst>
            </a:pPr>
            <a:r>
              <a:rPr sz="2000" spc="-200" dirty="0">
                <a:latin typeface="Arial"/>
                <a:cs typeface="Arial"/>
              </a:rPr>
              <a:t>As </a:t>
            </a:r>
            <a:r>
              <a:rPr sz="2000" spc="-110" dirty="0">
                <a:latin typeface="Arial"/>
                <a:cs typeface="Arial"/>
              </a:rPr>
              <a:t>an </a:t>
            </a:r>
            <a:r>
              <a:rPr sz="2000" spc="-100" dirty="0">
                <a:latin typeface="Arial"/>
                <a:cs typeface="Arial"/>
              </a:rPr>
              <a:t>example, </a:t>
            </a:r>
            <a:r>
              <a:rPr sz="2000" spc="-85" dirty="0">
                <a:latin typeface="Arial"/>
                <a:cs typeface="Arial"/>
              </a:rPr>
              <a:t>consider </a:t>
            </a:r>
            <a:r>
              <a:rPr sz="2000" spc="-155" dirty="0">
                <a:latin typeface="Arial"/>
                <a:cs typeface="Arial"/>
              </a:rPr>
              <a:t>a </a:t>
            </a:r>
            <a:r>
              <a:rPr sz="2000" spc="-125" dirty="0">
                <a:latin typeface="Arial"/>
                <a:cs typeface="Arial"/>
              </a:rPr>
              <a:t>namespace </a:t>
            </a:r>
            <a:r>
              <a:rPr sz="2000" spc="15" dirty="0">
                <a:latin typeface="Arial"/>
                <a:cs typeface="Arial"/>
              </a:rPr>
              <a:t>with </a:t>
            </a:r>
            <a:r>
              <a:rPr sz="2000" spc="-130" dirty="0">
                <a:latin typeface="Arial"/>
                <a:cs typeface="Arial"/>
              </a:rPr>
              <a:t>names </a:t>
            </a:r>
            <a:r>
              <a:rPr sz="2000" spc="-5" dirty="0">
                <a:latin typeface="Arial"/>
                <a:cs typeface="Arial"/>
              </a:rPr>
              <a:t>of </a:t>
            </a:r>
            <a:r>
              <a:rPr sz="2000" spc="-20" dirty="0">
                <a:latin typeface="Arial"/>
                <a:cs typeface="Arial"/>
              </a:rPr>
              <a:t>the</a:t>
            </a:r>
            <a:r>
              <a:rPr sz="2000" spc="-145" dirty="0">
                <a:latin typeface="Arial"/>
                <a:cs typeface="Arial"/>
              </a:rPr>
              <a:t> </a:t>
            </a:r>
            <a:r>
              <a:rPr sz="2000" spc="-25" dirty="0">
                <a:latin typeface="Arial"/>
                <a:cs typeface="Arial"/>
              </a:rPr>
              <a:t>form:</a:t>
            </a:r>
            <a:endParaRPr sz="2000" dirty="0">
              <a:latin typeface="Arial"/>
              <a:cs typeface="Arial"/>
            </a:endParaRPr>
          </a:p>
          <a:p>
            <a:pPr marL="4787900" lvl="1" indent="-182880">
              <a:lnSpc>
                <a:spcPct val="100000"/>
              </a:lnSpc>
              <a:spcBef>
                <a:spcPts val="200"/>
              </a:spcBef>
              <a:buClr>
                <a:srgbClr val="9DBEBD"/>
              </a:buClr>
              <a:buFont typeface="Arial"/>
              <a:buChar char="◦"/>
              <a:tabLst>
                <a:tab pos="4788535" algn="l"/>
              </a:tabLst>
            </a:pPr>
            <a:r>
              <a:rPr sz="1800" b="1" i="1" spc="-135" dirty="0">
                <a:latin typeface="Trebuchet MS"/>
                <a:cs typeface="Trebuchet MS"/>
              </a:rPr>
              <a:t>local.</a:t>
            </a:r>
            <a:r>
              <a:rPr sz="1800" b="1" i="1" spc="-170" dirty="0">
                <a:latin typeface="Trebuchet MS"/>
                <a:cs typeface="Trebuchet MS"/>
              </a:rPr>
              <a:t> </a:t>
            </a:r>
            <a:r>
              <a:rPr sz="1800" b="1" i="1" spc="-145" dirty="0">
                <a:latin typeface="Trebuchet MS"/>
                <a:cs typeface="Trebuchet MS"/>
              </a:rPr>
              <a:t>site</a:t>
            </a:r>
            <a:endParaRPr sz="1800" dirty="0">
              <a:latin typeface="Trebuchet MS"/>
              <a:cs typeface="Trebuchet MS"/>
            </a:endParaRPr>
          </a:p>
          <a:p>
            <a:pPr lvl="1">
              <a:lnSpc>
                <a:spcPct val="100000"/>
              </a:lnSpc>
              <a:spcBef>
                <a:spcPts val="10"/>
              </a:spcBef>
              <a:buClr>
                <a:srgbClr val="9DBEBD"/>
              </a:buClr>
              <a:buFont typeface="Arial"/>
              <a:buChar char="◦"/>
            </a:pPr>
            <a:endParaRPr sz="1400" dirty="0">
              <a:latin typeface="Times New Roman"/>
              <a:cs typeface="Times New Roman"/>
            </a:endParaRPr>
          </a:p>
          <a:p>
            <a:pPr marL="103505" marR="485775">
              <a:lnSpc>
                <a:spcPts val="2160"/>
              </a:lnSpc>
            </a:pPr>
            <a:r>
              <a:rPr sz="2000" spc="-60" dirty="0">
                <a:latin typeface="Arial"/>
                <a:cs typeface="Arial"/>
              </a:rPr>
              <a:t>where</a:t>
            </a:r>
            <a:r>
              <a:rPr sz="2000" spc="-100" dirty="0">
                <a:latin typeface="Arial"/>
                <a:cs typeface="Arial"/>
              </a:rPr>
              <a:t> </a:t>
            </a:r>
            <a:r>
              <a:rPr sz="2000" b="1" i="1" spc="-155" dirty="0">
                <a:latin typeface="Trebuchet MS"/>
                <a:cs typeface="Trebuchet MS"/>
              </a:rPr>
              <a:t>site</a:t>
            </a:r>
            <a:r>
              <a:rPr sz="2000" b="1" i="1" spc="-180" dirty="0">
                <a:latin typeface="Trebuchet MS"/>
                <a:cs typeface="Trebuchet MS"/>
              </a:rPr>
              <a:t> </a:t>
            </a:r>
            <a:r>
              <a:rPr sz="2000" spc="-105" dirty="0">
                <a:latin typeface="Arial"/>
                <a:cs typeface="Arial"/>
              </a:rPr>
              <a:t>is</a:t>
            </a:r>
            <a:r>
              <a:rPr sz="2000" spc="-95" dirty="0">
                <a:latin typeface="Arial"/>
                <a:cs typeface="Arial"/>
              </a:rPr>
              <a:t> </a:t>
            </a:r>
            <a:r>
              <a:rPr sz="2000" spc="-20" dirty="0">
                <a:latin typeface="Arial"/>
                <a:cs typeface="Arial"/>
              </a:rPr>
              <a:t>the</a:t>
            </a:r>
            <a:r>
              <a:rPr sz="2000" spc="-100" dirty="0">
                <a:latin typeface="Arial"/>
                <a:cs typeface="Arial"/>
              </a:rPr>
              <a:t> </a:t>
            </a:r>
            <a:r>
              <a:rPr sz="2000" spc="-65" dirty="0">
                <a:latin typeface="Arial"/>
                <a:cs typeface="Arial"/>
              </a:rPr>
              <a:t>site</a:t>
            </a:r>
            <a:r>
              <a:rPr sz="2000" spc="-80" dirty="0">
                <a:latin typeface="Arial"/>
                <a:cs typeface="Arial"/>
              </a:rPr>
              <a:t> </a:t>
            </a:r>
            <a:r>
              <a:rPr sz="2000" spc="-105" dirty="0">
                <a:latin typeface="Arial"/>
                <a:cs typeface="Arial"/>
              </a:rPr>
              <a:t>name</a:t>
            </a:r>
            <a:r>
              <a:rPr sz="2000" spc="-100" dirty="0">
                <a:latin typeface="Arial"/>
                <a:cs typeface="Arial"/>
              </a:rPr>
              <a:t> </a:t>
            </a:r>
            <a:r>
              <a:rPr sz="2000" spc="-65" dirty="0">
                <a:latin typeface="Arial"/>
                <a:cs typeface="Arial"/>
              </a:rPr>
              <a:t>authorized</a:t>
            </a:r>
            <a:r>
              <a:rPr sz="2000" spc="-105" dirty="0">
                <a:latin typeface="Arial"/>
                <a:cs typeface="Arial"/>
              </a:rPr>
              <a:t> </a:t>
            </a:r>
            <a:r>
              <a:rPr sz="2000" spc="-85" dirty="0">
                <a:latin typeface="Arial"/>
                <a:cs typeface="Arial"/>
              </a:rPr>
              <a:t>by</a:t>
            </a:r>
            <a:r>
              <a:rPr sz="2000" spc="-114" dirty="0">
                <a:latin typeface="Arial"/>
                <a:cs typeface="Arial"/>
              </a:rPr>
              <a:t> </a:t>
            </a:r>
            <a:r>
              <a:rPr sz="2000" spc="-20" dirty="0">
                <a:latin typeface="Arial"/>
                <a:cs typeface="Arial"/>
              </a:rPr>
              <a:t>the</a:t>
            </a:r>
            <a:r>
              <a:rPr sz="2000" spc="-100" dirty="0">
                <a:latin typeface="Arial"/>
                <a:cs typeface="Arial"/>
              </a:rPr>
              <a:t> </a:t>
            </a:r>
            <a:r>
              <a:rPr sz="2000" spc="-55" dirty="0">
                <a:latin typeface="Arial"/>
                <a:cs typeface="Arial"/>
              </a:rPr>
              <a:t>central</a:t>
            </a:r>
            <a:r>
              <a:rPr sz="2000" spc="-95" dirty="0">
                <a:latin typeface="Arial"/>
                <a:cs typeface="Arial"/>
              </a:rPr>
              <a:t> </a:t>
            </a:r>
            <a:r>
              <a:rPr sz="2000" spc="-40" dirty="0">
                <a:latin typeface="Arial"/>
                <a:cs typeface="Arial"/>
              </a:rPr>
              <a:t>authority</a:t>
            </a:r>
            <a:r>
              <a:rPr sz="2000" b="1" i="1" spc="-40" dirty="0">
                <a:latin typeface="Trebuchet MS"/>
                <a:cs typeface="Trebuchet MS"/>
              </a:rPr>
              <a:t>,</a:t>
            </a:r>
            <a:r>
              <a:rPr sz="2000" b="1" i="1" spc="-155" dirty="0">
                <a:latin typeface="Trebuchet MS"/>
                <a:cs typeface="Trebuchet MS"/>
              </a:rPr>
              <a:t> </a:t>
            </a:r>
            <a:r>
              <a:rPr sz="2000" b="1" i="1" spc="-140" dirty="0">
                <a:latin typeface="Trebuchet MS"/>
                <a:cs typeface="Trebuchet MS"/>
              </a:rPr>
              <a:t>local</a:t>
            </a:r>
            <a:r>
              <a:rPr sz="2000" b="1" i="1" spc="-180" dirty="0">
                <a:latin typeface="Trebuchet MS"/>
                <a:cs typeface="Trebuchet MS"/>
              </a:rPr>
              <a:t> </a:t>
            </a:r>
            <a:r>
              <a:rPr sz="2000" spc="-105" dirty="0">
                <a:latin typeface="Arial"/>
                <a:cs typeface="Arial"/>
              </a:rPr>
              <a:t>is</a:t>
            </a:r>
            <a:r>
              <a:rPr sz="2000" spc="-95" dirty="0">
                <a:latin typeface="Arial"/>
                <a:cs typeface="Arial"/>
              </a:rPr>
              <a:t> </a:t>
            </a:r>
            <a:r>
              <a:rPr sz="2000" spc="-20" dirty="0">
                <a:latin typeface="Arial"/>
                <a:cs typeface="Arial"/>
              </a:rPr>
              <a:t>the</a:t>
            </a:r>
            <a:r>
              <a:rPr sz="2000" spc="-105" dirty="0">
                <a:latin typeface="Arial"/>
                <a:cs typeface="Arial"/>
              </a:rPr>
              <a:t> </a:t>
            </a:r>
            <a:r>
              <a:rPr sz="2000" spc="-20" dirty="0">
                <a:latin typeface="Arial"/>
                <a:cs typeface="Arial"/>
              </a:rPr>
              <a:t>part</a:t>
            </a:r>
            <a:r>
              <a:rPr sz="2000" spc="-95" dirty="0">
                <a:latin typeface="Arial"/>
                <a:cs typeface="Arial"/>
              </a:rPr>
              <a:t> </a:t>
            </a:r>
            <a:r>
              <a:rPr sz="2000" spc="-5" dirty="0">
                <a:latin typeface="Arial"/>
                <a:cs typeface="Arial"/>
              </a:rPr>
              <a:t>of</a:t>
            </a:r>
            <a:r>
              <a:rPr sz="2000" spc="-100" dirty="0">
                <a:latin typeface="Arial"/>
                <a:cs typeface="Arial"/>
              </a:rPr>
              <a:t> </a:t>
            </a:r>
            <a:r>
              <a:rPr sz="2000" spc="-155" dirty="0">
                <a:latin typeface="Arial"/>
                <a:cs typeface="Arial"/>
              </a:rPr>
              <a:t>a</a:t>
            </a:r>
            <a:r>
              <a:rPr sz="2000" spc="-100" dirty="0">
                <a:latin typeface="Arial"/>
                <a:cs typeface="Arial"/>
              </a:rPr>
              <a:t> name  </a:t>
            </a:r>
            <a:r>
              <a:rPr sz="2000" spc="-45" dirty="0">
                <a:latin typeface="Arial"/>
                <a:cs typeface="Arial"/>
              </a:rPr>
              <a:t>controlled </a:t>
            </a:r>
            <a:r>
              <a:rPr sz="2000" spc="-80" dirty="0">
                <a:latin typeface="Arial"/>
                <a:cs typeface="Arial"/>
              </a:rPr>
              <a:t>by </a:t>
            </a:r>
            <a:r>
              <a:rPr sz="2000" spc="-20" dirty="0">
                <a:latin typeface="Arial"/>
                <a:cs typeface="Arial"/>
              </a:rPr>
              <a:t>the </a:t>
            </a:r>
            <a:r>
              <a:rPr sz="2000" spc="-60" dirty="0">
                <a:latin typeface="Arial"/>
                <a:cs typeface="Arial"/>
              </a:rPr>
              <a:t>site, </a:t>
            </a:r>
            <a:r>
              <a:rPr sz="2000" spc="-95" dirty="0">
                <a:latin typeface="Arial"/>
                <a:cs typeface="Arial"/>
              </a:rPr>
              <a:t>and </a:t>
            </a:r>
            <a:r>
              <a:rPr sz="2000" spc="-30" dirty="0">
                <a:latin typeface="Arial"/>
                <a:cs typeface="Arial"/>
              </a:rPr>
              <a:t>("</a:t>
            </a:r>
            <a:r>
              <a:rPr sz="2000" b="1" spc="-30" dirty="0">
                <a:latin typeface="Trebuchet MS"/>
                <a:cs typeface="Trebuchet MS"/>
              </a:rPr>
              <a:t>.</a:t>
            </a:r>
            <a:r>
              <a:rPr sz="2000" spc="-30" dirty="0">
                <a:latin typeface="Arial"/>
                <a:cs typeface="Arial"/>
              </a:rPr>
              <a:t>") </a:t>
            </a:r>
            <a:r>
              <a:rPr sz="2000" spc="-105" dirty="0">
                <a:latin typeface="Arial"/>
                <a:cs typeface="Arial"/>
              </a:rPr>
              <a:t>is </a:t>
            </a:r>
            <a:r>
              <a:rPr sz="2000" spc="-155" dirty="0">
                <a:latin typeface="Arial"/>
                <a:cs typeface="Arial"/>
              </a:rPr>
              <a:t>a </a:t>
            </a:r>
            <a:r>
              <a:rPr sz="2000" spc="-25" dirty="0">
                <a:latin typeface="Arial"/>
                <a:cs typeface="Arial"/>
              </a:rPr>
              <a:t>delimiter </a:t>
            </a:r>
            <a:r>
              <a:rPr sz="2000" spc="-120" dirty="0">
                <a:latin typeface="Arial"/>
                <a:cs typeface="Arial"/>
              </a:rPr>
              <a:t>used </a:t>
            </a:r>
            <a:r>
              <a:rPr sz="2000" spc="15" dirty="0">
                <a:latin typeface="Arial"/>
                <a:cs typeface="Arial"/>
              </a:rPr>
              <a:t>to</a:t>
            </a:r>
            <a:r>
              <a:rPr sz="2000" spc="-395" dirty="0">
                <a:latin typeface="Arial"/>
                <a:cs typeface="Arial"/>
              </a:rPr>
              <a:t> </a:t>
            </a:r>
            <a:r>
              <a:rPr sz="2000" spc="-100" dirty="0">
                <a:latin typeface="Arial"/>
                <a:cs typeface="Arial"/>
              </a:rPr>
              <a:t>separate </a:t>
            </a:r>
            <a:r>
              <a:rPr sz="2000" spc="-35" dirty="0">
                <a:latin typeface="Arial"/>
                <a:cs typeface="Arial"/>
              </a:rPr>
              <a:t>them.</a:t>
            </a:r>
            <a:endParaRPr sz="2000" dirty="0">
              <a:latin typeface="Arial"/>
              <a:cs typeface="Arial"/>
            </a:endParaRPr>
          </a:p>
          <a:p>
            <a:pPr marL="104139" marR="5080" indent="-91440">
              <a:lnSpc>
                <a:spcPts val="2160"/>
              </a:lnSpc>
              <a:spcBef>
                <a:spcPts val="1395"/>
              </a:spcBef>
              <a:buClr>
                <a:srgbClr val="9DBEBD"/>
              </a:buClr>
              <a:buSzPct val="95000"/>
              <a:buFont typeface="Wingdings"/>
              <a:buChar char=""/>
              <a:tabLst>
                <a:tab pos="215900" algn="l"/>
              </a:tabLst>
            </a:pPr>
            <a:r>
              <a:rPr sz="2000" spc="-80" dirty="0">
                <a:latin typeface="Arial"/>
                <a:cs typeface="Arial"/>
              </a:rPr>
              <a:t>adding</a:t>
            </a:r>
            <a:r>
              <a:rPr sz="2000" spc="-125" dirty="0">
                <a:latin typeface="Arial"/>
                <a:cs typeface="Arial"/>
              </a:rPr>
              <a:t> </a:t>
            </a:r>
            <a:r>
              <a:rPr sz="2000" spc="-155" dirty="0">
                <a:latin typeface="Arial"/>
                <a:cs typeface="Arial"/>
              </a:rPr>
              <a:t>a</a:t>
            </a:r>
            <a:r>
              <a:rPr sz="2000" spc="-100" dirty="0">
                <a:latin typeface="Arial"/>
                <a:cs typeface="Arial"/>
              </a:rPr>
              <a:t> </a:t>
            </a:r>
            <a:r>
              <a:rPr sz="2000" b="1" i="1" spc="-100" dirty="0">
                <a:latin typeface="Trebuchet MS"/>
                <a:cs typeface="Trebuchet MS"/>
              </a:rPr>
              <a:t>group</a:t>
            </a:r>
            <a:r>
              <a:rPr sz="2000" b="1" i="1" spc="-195" dirty="0">
                <a:latin typeface="Trebuchet MS"/>
                <a:cs typeface="Trebuchet MS"/>
              </a:rPr>
              <a:t> </a:t>
            </a:r>
            <a:r>
              <a:rPr sz="2000" spc="-75" dirty="0">
                <a:latin typeface="Arial"/>
                <a:cs typeface="Arial"/>
              </a:rPr>
              <a:t>subdivision</a:t>
            </a:r>
            <a:r>
              <a:rPr sz="2000" spc="-105" dirty="0">
                <a:latin typeface="Arial"/>
                <a:cs typeface="Arial"/>
              </a:rPr>
              <a:t> </a:t>
            </a:r>
            <a:r>
              <a:rPr sz="2000" spc="15" dirty="0">
                <a:latin typeface="Arial"/>
                <a:cs typeface="Arial"/>
              </a:rPr>
              <a:t>to</a:t>
            </a:r>
            <a:r>
              <a:rPr sz="2000" spc="-100" dirty="0">
                <a:latin typeface="Arial"/>
                <a:cs typeface="Arial"/>
              </a:rPr>
              <a:t> </a:t>
            </a:r>
            <a:r>
              <a:rPr sz="2000" spc="-125" dirty="0">
                <a:latin typeface="Arial"/>
                <a:cs typeface="Arial"/>
              </a:rPr>
              <a:t>names</a:t>
            </a:r>
            <a:r>
              <a:rPr sz="2000" spc="-105" dirty="0">
                <a:latin typeface="Arial"/>
                <a:cs typeface="Arial"/>
              </a:rPr>
              <a:t> </a:t>
            </a:r>
            <a:r>
              <a:rPr sz="2000" spc="-80" dirty="0">
                <a:latin typeface="Arial"/>
                <a:cs typeface="Arial"/>
              </a:rPr>
              <a:t>already</a:t>
            </a:r>
            <a:r>
              <a:rPr sz="2000" spc="-95" dirty="0">
                <a:latin typeface="Arial"/>
                <a:cs typeface="Arial"/>
              </a:rPr>
              <a:t> </a:t>
            </a:r>
            <a:r>
              <a:rPr sz="2000" spc="-20" dirty="0">
                <a:latin typeface="Arial"/>
                <a:cs typeface="Arial"/>
              </a:rPr>
              <a:t>partitioned</a:t>
            </a:r>
            <a:r>
              <a:rPr sz="2000" spc="-105" dirty="0">
                <a:latin typeface="Arial"/>
                <a:cs typeface="Arial"/>
              </a:rPr>
              <a:t> </a:t>
            </a:r>
            <a:r>
              <a:rPr sz="2000" spc="-80" dirty="0">
                <a:latin typeface="Arial"/>
                <a:cs typeface="Arial"/>
              </a:rPr>
              <a:t>by</a:t>
            </a:r>
            <a:r>
              <a:rPr sz="2000" spc="-120" dirty="0">
                <a:latin typeface="Arial"/>
                <a:cs typeface="Arial"/>
              </a:rPr>
              <a:t> </a:t>
            </a:r>
            <a:r>
              <a:rPr sz="2000" spc="-65" dirty="0">
                <a:latin typeface="Arial"/>
                <a:cs typeface="Arial"/>
              </a:rPr>
              <a:t>site</a:t>
            </a:r>
            <a:r>
              <a:rPr sz="2000" spc="-75" dirty="0">
                <a:latin typeface="Arial"/>
                <a:cs typeface="Arial"/>
              </a:rPr>
              <a:t> </a:t>
            </a:r>
            <a:r>
              <a:rPr sz="2000" spc="-95" dirty="0">
                <a:latin typeface="Arial"/>
                <a:cs typeface="Arial"/>
              </a:rPr>
              <a:t>produces</a:t>
            </a:r>
            <a:r>
              <a:rPr sz="2000" spc="-105" dirty="0">
                <a:latin typeface="Arial"/>
                <a:cs typeface="Arial"/>
              </a:rPr>
              <a:t> </a:t>
            </a:r>
            <a:r>
              <a:rPr sz="2000" spc="-20" dirty="0">
                <a:latin typeface="Arial"/>
                <a:cs typeface="Arial"/>
              </a:rPr>
              <a:t>the</a:t>
            </a:r>
            <a:r>
              <a:rPr sz="2000" spc="-100" dirty="0">
                <a:latin typeface="Arial"/>
                <a:cs typeface="Arial"/>
              </a:rPr>
              <a:t> </a:t>
            </a:r>
            <a:r>
              <a:rPr sz="2000" spc="-40" dirty="0">
                <a:latin typeface="Arial"/>
                <a:cs typeface="Arial"/>
              </a:rPr>
              <a:t>following</a:t>
            </a:r>
            <a:r>
              <a:rPr sz="2000" spc="-114" dirty="0">
                <a:latin typeface="Arial"/>
                <a:cs typeface="Arial"/>
              </a:rPr>
              <a:t> </a:t>
            </a:r>
            <a:r>
              <a:rPr sz="2000" spc="-105" dirty="0">
                <a:latin typeface="Arial"/>
                <a:cs typeface="Arial"/>
              </a:rPr>
              <a:t>name  </a:t>
            </a:r>
            <a:r>
              <a:rPr sz="2000" spc="-100" dirty="0">
                <a:latin typeface="Arial"/>
                <a:cs typeface="Arial"/>
              </a:rPr>
              <a:t>syntax:</a:t>
            </a:r>
            <a:endParaRPr sz="2000" dirty="0">
              <a:latin typeface="Arial"/>
              <a:cs typeface="Arial"/>
            </a:endParaRPr>
          </a:p>
          <a:p>
            <a:pPr marL="330200" algn="ctr">
              <a:lnSpc>
                <a:spcPct val="100000"/>
              </a:lnSpc>
              <a:spcBef>
                <a:spcPts val="1130"/>
              </a:spcBef>
            </a:pPr>
            <a:r>
              <a:rPr sz="2000" b="1" i="1" spc="-150" dirty="0">
                <a:latin typeface="Trebuchet MS"/>
                <a:cs typeface="Trebuchet MS"/>
              </a:rPr>
              <a:t>local. </a:t>
            </a:r>
            <a:r>
              <a:rPr sz="2000" b="1" i="1" spc="-114" dirty="0">
                <a:latin typeface="Trebuchet MS"/>
                <a:cs typeface="Trebuchet MS"/>
              </a:rPr>
              <a:t>group.</a:t>
            </a:r>
            <a:r>
              <a:rPr sz="2000" b="1" i="1" spc="-220" dirty="0">
                <a:latin typeface="Trebuchet MS"/>
                <a:cs typeface="Trebuchet MS"/>
              </a:rPr>
              <a:t> </a:t>
            </a:r>
            <a:r>
              <a:rPr sz="2000" b="1" i="1" spc="-155" dirty="0">
                <a:latin typeface="Trebuchet MS"/>
                <a:cs typeface="Trebuchet MS"/>
              </a:rPr>
              <a:t>site</a:t>
            </a:r>
            <a:endParaRPr sz="2000" dirty="0">
              <a:latin typeface="Trebuchet MS"/>
              <a:cs typeface="Trebuchet MS"/>
            </a:endParaRPr>
          </a:p>
        </p:txBody>
      </p:sp>
    </p:spTree>
    <p:extLst>
      <p:ext uri="{BB962C8B-B14F-4D97-AF65-F5344CB8AC3E}">
        <p14:creationId xmlns:p14="http://schemas.microsoft.com/office/powerpoint/2010/main" val="14411230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7818" y="711529"/>
            <a:ext cx="7808976" cy="1088136"/>
          </a:xfrm>
        </p:spPr>
        <p:txBody>
          <a:bodyPr>
            <a:normAutofit/>
          </a:bodyPr>
          <a:lstStyle/>
          <a:p>
            <a:r>
              <a:rPr lang="en-US" sz="4000" spc="-125" dirty="0"/>
              <a:t>Internet </a:t>
            </a:r>
            <a:r>
              <a:rPr lang="en-US" sz="4000" spc="-275" dirty="0"/>
              <a:t>Domain</a:t>
            </a:r>
            <a:r>
              <a:rPr lang="en-US" sz="4000" spc="-540" dirty="0"/>
              <a:t> </a:t>
            </a:r>
            <a:r>
              <a:rPr lang="en-US" sz="4000" spc="-380" dirty="0"/>
              <a:t>Names  (</a:t>
            </a:r>
            <a:r>
              <a:rPr lang="en-US" sz="4000" spc="-380" dirty="0" err="1"/>
              <a:t>cont</a:t>
            </a:r>
            <a:r>
              <a:rPr lang="en-US" sz="4000" spc="-380" dirty="0"/>
              <a:t> .)</a:t>
            </a:r>
            <a:endParaRPr lang="en-US" sz="4000" dirty="0"/>
          </a:p>
        </p:txBody>
      </p:sp>
      <p:sp>
        <p:nvSpPr>
          <p:cNvPr id="5" name="Rectangle 4"/>
          <p:cNvSpPr/>
          <p:nvPr/>
        </p:nvSpPr>
        <p:spPr>
          <a:xfrm>
            <a:off x="0" y="2005274"/>
            <a:ext cx="8936182" cy="1795363"/>
          </a:xfrm>
          <a:prstGeom prst="rect">
            <a:avLst/>
          </a:prstGeom>
        </p:spPr>
        <p:txBody>
          <a:bodyPr wrap="square">
            <a:spAutoFit/>
          </a:bodyPr>
          <a:lstStyle/>
          <a:p>
            <a:pPr marL="3670300">
              <a:lnSpc>
                <a:spcPct val="100000"/>
              </a:lnSpc>
              <a:spcBef>
                <a:spcPts val="1265"/>
              </a:spcBef>
            </a:pPr>
            <a:r>
              <a:rPr lang="en-US" spc="-120" dirty="0">
                <a:latin typeface="Times New Roman" panose="02020603050405020304" pitchFamily="18" charset="0"/>
                <a:cs typeface="Times New Roman" panose="02020603050405020304" pitchFamily="18" charset="0"/>
              </a:rPr>
              <a:t>Example: </a:t>
            </a:r>
            <a:r>
              <a:rPr lang="en-US" spc="-145" dirty="0" err="1">
                <a:latin typeface="Times New Roman" panose="02020603050405020304" pitchFamily="18" charset="0"/>
                <a:cs typeface="Times New Roman" panose="02020603050405020304" pitchFamily="18" charset="0"/>
              </a:rPr>
              <a:t>cs</a:t>
            </a:r>
            <a:r>
              <a:rPr lang="en-US" spc="-145" dirty="0">
                <a:latin typeface="Times New Roman" panose="02020603050405020304" pitchFamily="18" charset="0"/>
                <a:cs typeface="Times New Roman" panose="02020603050405020304" pitchFamily="18" charset="0"/>
              </a:rPr>
              <a:t> </a:t>
            </a:r>
            <a:r>
              <a:rPr lang="en-US" spc="-130" dirty="0">
                <a:latin typeface="Times New Roman" panose="02020603050405020304" pitchFamily="18" charset="0"/>
                <a:cs typeface="Times New Roman" panose="02020603050405020304" pitchFamily="18" charset="0"/>
              </a:rPr>
              <a:t>.</a:t>
            </a:r>
            <a:r>
              <a:rPr lang="en-US" spc="-130" dirty="0" err="1">
                <a:latin typeface="Times New Roman" panose="02020603050405020304" pitchFamily="18" charset="0"/>
                <a:cs typeface="Times New Roman" panose="02020603050405020304" pitchFamily="18" charset="0"/>
              </a:rPr>
              <a:t>purdue</a:t>
            </a:r>
            <a:r>
              <a:rPr lang="en-US" spc="-130" dirty="0">
                <a:latin typeface="Times New Roman" panose="02020603050405020304" pitchFamily="18" charset="0"/>
                <a:cs typeface="Times New Roman" panose="02020603050405020304" pitchFamily="18" charset="0"/>
              </a:rPr>
              <a:t> </a:t>
            </a:r>
            <a:r>
              <a:rPr lang="en-US" spc="-200" dirty="0">
                <a:latin typeface="Times New Roman" panose="02020603050405020304" pitchFamily="18" charset="0"/>
                <a:cs typeface="Times New Roman" panose="02020603050405020304" pitchFamily="18" charset="0"/>
              </a:rPr>
              <a:t>.</a:t>
            </a:r>
            <a:r>
              <a:rPr lang="en-US" spc="-225" dirty="0">
                <a:latin typeface="Times New Roman" panose="02020603050405020304" pitchFamily="18" charset="0"/>
                <a:cs typeface="Times New Roman" panose="02020603050405020304" pitchFamily="18" charset="0"/>
              </a:rPr>
              <a:t> </a:t>
            </a:r>
            <a:r>
              <a:rPr lang="en-US" spc="-110" dirty="0" err="1">
                <a:latin typeface="Times New Roman" panose="02020603050405020304" pitchFamily="18" charset="0"/>
                <a:cs typeface="Times New Roman" panose="02020603050405020304" pitchFamily="18" charset="0"/>
              </a:rPr>
              <a:t>edu</a:t>
            </a:r>
            <a:endParaRPr lang="en-US" spc="-110" dirty="0">
              <a:latin typeface="Times New Roman" panose="02020603050405020304" pitchFamily="18" charset="0"/>
              <a:cs typeface="Times New Roman" panose="02020603050405020304" pitchFamily="18" charset="0"/>
            </a:endParaRPr>
          </a:p>
          <a:p>
            <a:pPr marL="12700" marR="5080" algn="just">
              <a:lnSpc>
                <a:spcPct val="90000"/>
              </a:lnSpc>
              <a:spcBef>
                <a:spcPts val="1405"/>
              </a:spcBef>
            </a:pPr>
            <a:r>
              <a:rPr lang="en-US" spc="-80" dirty="0">
                <a:latin typeface="Times New Roman" panose="02020603050405020304" pitchFamily="18" charset="0"/>
                <a:cs typeface="Times New Roman" panose="02020603050405020304" pitchFamily="18" charset="0"/>
              </a:rPr>
              <a:t>contains </a:t>
            </a:r>
            <a:r>
              <a:rPr lang="en-US" spc="-35" dirty="0">
                <a:latin typeface="Times New Roman" panose="02020603050405020304" pitchFamily="18" charset="0"/>
                <a:cs typeface="Times New Roman" panose="02020603050405020304" pitchFamily="18" charset="0"/>
              </a:rPr>
              <a:t>three </a:t>
            </a:r>
            <a:r>
              <a:rPr lang="en-US" spc="-80" dirty="0">
                <a:latin typeface="Times New Roman" panose="02020603050405020304" pitchFamily="18" charset="0"/>
                <a:cs typeface="Times New Roman" panose="02020603050405020304" pitchFamily="18" charset="0"/>
              </a:rPr>
              <a:t>labels: </a:t>
            </a:r>
            <a:r>
              <a:rPr lang="en-US" spc="-170" dirty="0" err="1">
                <a:latin typeface="Times New Roman" panose="02020603050405020304" pitchFamily="18" charset="0"/>
                <a:cs typeface="Times New Roman" panose="02020603050405020304" pitchFamily="18" charset="0"/>
              </a:rPr>
              <a:t>cs</a:t>
            </a:r>
            <a:r>
              <a:rPr lang="en-US" spc="-170" dirty="0">
                <a:latin typeface="Times New Roman" panose="02020603050405020304" pitchFamily="18" charset="0"/>
                <a:cs typeface="Times New Roman" panose="02020603050405020304" pitchFamily="18" charset="0"/>
              </a:rPr>
              <a:t>, </a:t>
            </a:r>
            <a:r>
              <a:rPr lang="en-US" spc="-140" dirty="0" err="1">
                <a:latin typeface="Times New Roman" panose="02020603050405020304" pitchFamily="18" charset="0"/>
                <a:cs typeface="Times New Roman" panose="02020603050405020304" pitchFamily="18" charset="0"/>
              </a:rPr>
              <a:t>purdue</a:t>
            </a:r>
            <a:r>
              <a:rPr lang="en-US" spc="-140" dirty="0">
                <a:latin typeface="Times New Roman" panose="02020603050405020304" pitchFamily="18" charset="0"/>
                <a:cs typeface="Times New Roman" panose="02020603050405020304" pitchFamily="18" charset="0"/>
              </a:rPr>
              <a:t>, </a:t>
            </a:r>
            <a:r>
              <a:rPr lang="en-US" spc="-95" dirty="0">
                <a:latin typeface="Times New Roman" panose="02020603050405020304" pitchFamily="18" charset="0"/>
                <a:cs typeface="Times New Roman" panose="02020603050405020304" pitchFamily="18" charset="0"/>
              </a:rPr>
              <a:t>and </a:t>
            </a:r>
            <a:r>
              <a:rPr lang="en-US" spc="-135" dirty="0" err="1">
                <a:latin typeface="Times New Roman" panose="02020603050405020304" pitchFamily="18" charset="0"/>
                <a:cs typeface="Times New Roman" panose="02020603050405020304" pitchFamily="18" charset="0"/>
              </a:rPr>
              <a:t>edu</a:t>
            </a:r>
            <a:r>
              <a:rPr lang="en-US" spc="-135" dirty="0">
                <a:latin typeface="Times New Roman" panose="02020603050405020304" pitchFamily="18" charset="0"/>
                <a:cs typeface="Times New Roman" panose="02020603050405020304" pitchFamily="18" charset="0"/>
              </a:rPr>
              <a:t>. </a:t>
            </a:r>
            <a:r>
              <a:rPr lang="en-US" spc="-130" dirty="0">
                <a:latin typeface="Times New Roman" panose="02020603050405020304" pitchFamily="18" charset="0"/>
                <a:cs typeface="Times New Roman" panose="02020603050405020304" pitchFamily="18" charset="0"/>
              </a:rPr>
              <a:t>Any </a:t>
            </a:r>
            <a:r>
              <a:rPr lang="en-US" spc="-55" dirty="0">
                <a:latin typeface="Times New Roman" panose="02020603050405020304" pitchFamily="18" charset="0"/>
                <a:cs typeface="Times New Roman" panose="02020603050405020304" pitchFamily="18" charset="0"/>
              </a:rPr>
              <a:t>suffix </a:t>
            </a:r>
            <a:r>
              <a:rPr lang="en-US" spc="-5" dirty="0">
                <a:latin typeface="Times New Roman" panose="02020603050405020304" pitchFamily="18" charset="0"/>
                <a:cs typeface="Times New Roman" panose="02020603050405020304" pitchFamily="18" charset="0"/>
              </a:rPr>
              <a:t>of </a:t>
            </a:r>
            <a:r>
              <a:rPr lang="en-US" spc="-155" dirty="0">
                <a:latin typeface="Times New Roman" panose="02020603050405020304" pitchFamily="18" charset="0"/>
                <a:cs typeface="Times New Roman" panose="02020603050405020304" pitchFamily="18" charset="0"/>
              </a:rPr>
              <a:t>a </a:t>
            </a:r>
            <a:r>
              <a:rPr lang="en-US" spc="-65" dirty="0">
                <a:latin typeface="Times New Roman" panose="02020603050405020304" pitchFamily="18" charset="0"/>
                <a:cs typeface="Times New Roman" panose="02020603050405020304" pitchFamily="18" charset="0"/>
              </a:rPr>
              <a:t>label </a:t>
            </a:r>
            <a:r>
              <a:rPr lang="en-US" spc="-25" dirty="0">
                <a:latin typeface="Times New Roman" panose="02020603050405020304" pitchFamily="18" charset="0"/>
                <a:cs typeface="Times New Roman" panose="02020603050405020304" pitchFamily="18" charset="0"/>
              </a:rPr>
              <a:t>in </a:t>
            </a:r>
            <a:r>
              <a:rPr lang="en-US" spc="-155" dirty="0">
                <a:latin typeface="Times New Roman" panose="02020603050405020304" pitchFamily="18" charset="0"/>
                <a:cs typeface="Times New Roman" panose="02020603050405020304" pitchFamily="18" charset="0"/>
              </a:rPr>
              <a:t>a </a:t>
            </a:r>
            <a:r>
              <a:rPr lang="en-US" spc="-70" dirty="0">
                <a:latin typeface="Times New Roman" panose="02020603050405020304" pitchFamily="18" charset="0"/>
                <a:cs typeface="Times New Roman" panose="02020603050405020304" pitchFamily="18" charset="0"/>
              </a:rPr>
              <a:t>domain </a:t>
            </a:r>
            <a:r>
              <a:rPr lang="en-US" spc="-105" dirty="0">
                <a:latin typeface="Times New Roman" panose="02020603050405020304" pitchFamily="18" charset="0"/>
                <a:cs typeface="Times New Roman" panose="02020603050405020304" pitchFamily="18" charset="0"/>
              </a:rPr>
              <a:t>name is also </a:t>
            </a:r>
            <a:r>
              <a:rPr lang="en-US" spc="-80" dirty="0">
                <a:latin typeface="Times New Roman" panose="02020603050405020304" pitchFamily="18" charset="0"/>
                <a:cs typeface="Times New Roman" panose="02020603050405020304" pitchFamily="18" charset="0"/>
              </a:rPr>
              <a:t>called </a:t>
            </a:r>
            <a:r>
              <a:rPr lang="en-US" spc="-155" dirty="0">
                <a:latin typeface="Times New Roman" panose="02020603050405020304" pitchFamily="18" charset="0"/>
                <a:cs typeface="Times New Roman" panose="02020603050405020304" pitchFamily="18" charset="0"/>
              </a:rPr>
              <a:t>a  </a:t>
            </a:r>
            <a:r>
              <a:rPr lang="en-US" spc="-125" dirty="0">
                <a:latin typeface="Times New Roman" panose="02020603050405020304" pitchFamily="18" charset="0"/>
                <a:cs typeface="Times New Roman" panose="02020603050405020304" pitchFamily="18" charset="0"/>
              </a:rPr>
              <a:t>domain. </a:t>
            </a:r>
            <a:r>
              <a:rPr lang="en-US" spc="-60" dirty="0">
                <a:latin typeface="Times New Roman" panose="02020603050405020304" pitchFamily="18" charset="0"/>
                <a:cs typeface="Times New Roman" panose="02020603050405020304" pitchFamily="18" charset="0"/>
              </a:rPr>
              <a:t>In </a:t>
            </a:r>
            <a:r>
              <a:rPr lang="en-US" spc="-30" dirty="0">
                <a:latin typeface="Times New Roman" panose="02020603050405020304" pitchFamily="18" charset="0"/>
                <a:cs typeface="Times New Roman" panose="02020603050405020304" pitchFamily="18" charset="0"/>
              </a:rPr>
              <a:t>the </a:t>
            </a:r>
            <a:r>
              <a:rPr lang="en-US" spc="-105" dirty="0">
                <a:latin typeface="Times New Roman" panose="02020603050405020304" pitchFamily="18" charset="0"/>
                <a:cs typeface="Times New Roman" panose="02020603050405020304" pitchFamily="18" charset="0"/>
              </a:rPr>
              <a:t>above example </a:t>
            </a:r>
            <a:r>
              <a:rPr lang="en-US" spc="-20" dirty="0">
                <a:latin typeface="Times New Roman" panose="02020603050405020304" pitchFamily="18" charset="0"/>
                <a:cs typeface="Times New Roman" panose="02020603050405020304" pitchFamily="18" charset="0"/>
              </a:rPr>
              <a:t>the </a:t>
            </a:r>
            <a:r>
              <a:rPr lang="en-US" spc="-60" dirty="0">
                <a:latin typeface="Times New Roman" panose="02020603050405020304" pitchFamily="18" charset="0"/>
                <a:cs typeface="Times New Roman" panose="02020603050405020304" pitchFamily="18" charset="0"/>
              </a:rPr>
              <a:t>lowest </a:t>
            </a:r>
            <a:r>
              <a:rPr lang="en-US" spc="-65" dirty="0">
                <a:latin typeface="Times New Roman" panose="02020603050405020304" pitchFamily="18" charset="0"/>
                <a:cs typeface="Times New Roman" panose="02020603050405020304" pitchFamily="18" charset="0"/>
              </a:rPr>
              <a:t>level </a:t>
            </a:r>
            <a:r>
              <a:rPr lang="en-US" spc="-70" dirty="0">
                <a:latin typeface="Times New Roman" panose="02020603050405020304" pitchFamily="18" charset="0"/>
                <a:cs typeface="Times New Roman" panose="02020603050405020304" pitchFamily="18" charset="0"/>
              </a:rPr>
              <a:t>domain </a:t>
            </a:r>
            <a:r>
              <a:rPr lang="en-US" spc="-100" dirty="0">
                <a:latin typeface="Times New Roman" panose="02020603050405020304" pitchFamily="18" charset="0"/>
                <a:cs typeface="Times New Roman" panose="02020603050405020304" pitchFamily="18" charset="0"/>
              </a:rPr>
              <a:t>is </a:t>
            </a:r>
            <a:r>
              <a:rPr lang="en-US" spc="-145" dirty="0" err="1">
                <a:highlight>
                  <a:srgbClr val="00FFFF"/>
                </a:highlight>
                <a:latin typeface="Times New Roman" panose="02020603050405020304" pitchFamily="18" charset="0"/>
                <a:cs typeface="Times New Roman" panose="02020603050405020304" pitchFamily="18" charset="0"/>
              </a:rPr>
              <a:t>cs</a:t>
            </a:r>
            <a:r>
              <a:rPr lang="en-US" spc="-145" dirty="0">
                <a:highlight>
                  <a:srgbClr val="00FFFF"/>
                </a:highlight>
                <a:latin typeface="Times New Roman" panose="02020603050405020304" pitchFamily="18" charset="0"/>
                <a:cs typeface="Times New Roman" panose="02020603050405020304" pitchFamily="18" charset="0"/>
              </a:rPr>
              <a:t> .</a:t>
            </a:r>
            <a:r>
              <a:rPr lang="en-US" spc="-145" dirty="0" err="1">
                <a:highlight>
                  <a:srgbClr val="00FFFF"/>
                </a:highlight>
                <a:latin typeface="Times New Roman" panose="02020603050405020304" pitchFamily="18" charset="0"/>
                <a:cs typeface="Times New Roman" panose="02020603050405020304" pitchFamily="18" charset="0"/>
              </a:rPr>
              <a:t>purdue</a:t>
            </a:r>
            <a:r>
              <a:rPr lang="en-US" spc="-145" dirty="0">
                <a:highlight>
                  <a:srgbClr val="00FFFF"/>
                </a:highlight>
                <a:latin typeface="Times New Roman" panose="02020603050405020304" pitchFamily="18" charset="0"/>
                <a:cs typeface="Times New Roman" panose="02020603050405020304" pitchFamily="18" charset="0"/>
              </a:rPr>
              <a:t>. </a:t>
            </a:r>
            <a:r>
              <a:rPr lang="en-US" spc="-140" dirty="0" err="1">
                <a:highlight>
                  <a:srgbClr val="00FFFF"/>
                </a:highlight>
                <a:latin typeface="Times New Roman" panose="02020603050405020304" pitchFamily="18" charset="0"/>
                <a:cs typeface="Times New Roman" panose="02020603050405020304" pitchFamily="18" charset="0"/>
              </a:rPr>
              <a:t>edu</a:t>
            </a:r>
            <a:r>
              <a:rPr lang="en-US" spc="-140" dirty="0">
                <a:latin typeface="Times New Roman" panose="02020603050405020304" pitchFamily="18" charset="0"/>
                <a:cs typeface="Times New Roman" panose="02020603050405020304" pitchFamily="18" charset="0"/>
              </a:rPr>
              <a:t>, </a:t>
            </a:r>
            <a:r>
              <a:rPr lang="en-US" spc="-30" dirty="0">
                <a:latin typeface="Times New Roman" panose="02020603050405020304" pitchFamily="18" charset="0"/>
                <a:cs typeface="Times New Roman" panose="02020603050405020304" pitchFamily="18" charset="0"/>
              </a:rPr>
              <a:t>(the </a:t>
            </a:r>
            <a:r>
              <a:rPr lang="en-US" spc="-70" dirty="0">
                <a:latin typeface="Times New Roman" panose="02020603050405020304" pitchFamily="18" charset="0"/>
                <a:cs typeface="Times New Roman" panose="02020603050405020304" pitchFamily="18" charset="0"/>
              </a:rPr>
              <a:t>domain </a:t>
            </a:r>
            <a:r>
              <a:rPr lang="en-US" spc="-105" dirty="0">
                <a:latin typeface="Times New Roman" panose="02020603050405020304" pitchFamily="18" charset="0"/>
                <a:cs typeface="Times New Roman" panose="02020603050405020304" pitchFamily="18" charset="0"/>
              </a:rPr>
              <a:t>name </a:t>
            </a:r>
            <a:r>
              <a:rPr lang="en-US" spc="-10" dirty="0">
                <a:latin typeface="Times New Roman" panose="02020603050405020304" pitchFamily="18" charset="0"/>
                <a:cs typeface="Times New Roman" panose="02020603050405020304" pitchFamily="18" charset="0"/>
              </a:rPr>
              <a:t>for  </a:t>
            </a:r>
            <a:r>
              <a:rPr lang="en-US" spc="-20" dirty="0">
                <a:latin typeface="Times New Roman" panose="02020603050405020304" pitchFamily="18" charset="0"/>
                <a:cs typeface="Times New Roman" panose="02020603050405020304" pitchFamily="18" charset="0"/>
              </a:rPr>
              <a:t>the </a:t>
            </a:r>
            <a:r>
              <a:rPr lang="en-US" spc="-85" dirty="0">
                <a:latin typeface="Times New Roman" panose="02020603050405020304" pitchFamily="18" charset="0"/>
                <a:cs typeface="Times New Roman" panose="02020603050405020304" pitchFamily="18" charset="0"/>
              </a:rPr>
              <a:t>Computer </a:t>
            </a:r>
            <a:r>
              <a:rPr lang="en-US" spc="-145" dirty="0">
                <a:latin typeface="Times New Roman" panose="02020603050405020304" pitchFamily="18" charset="0"/>
                <a:cs typeface="Times New Roman" panose="02020603050405020304" pitchFamily="18" charset="0"/>
              </a:rPr>
              <a:t>Science </a:t>
            </a:r>
            <a:r>
              <a:rPr lang="en-US" spc="-60" dirty="0">
                <a:latin typeface="Times New Roman" panose="02020603050405020304" pitchFamily="18" charset="0"/>
                <a:cs typeface="Times New Roman" panose="02020603050405020304" pitchFamily="18" charset="0"/>
              </a:rPr>
              <a:t>Department </a:t>
            </a:r>
            <a:r>
              <a:rPr lang="en-US" spc="-35" dirty="0">
                <a:latin typeface="Times New Roman" panose="02020603050405020304" pitchFamily="18" charset="0"/>
                <a:cs typeface="Times New Roman" panose="02020603050405020304" pitchFamily="18" charset="0"/>
              </a:rPr>
              <a:t>at </a:t>
            </a:r>
            <a:r>
              <a:rPr lang="en-US" spc="-100" dirty="0">
                <a:latin typeface="Times New Roman" panose="02020603050405020304" pitchFamily="18" charset="0"/>
                <a:cs typeface="Times New Roman" panose="02020603050405020304" pitchFamily="18" charset="0"/>
              </a:rPr>
              <a:t>Purdue </a:t>
            </a:r>
            <a:r>
              <a:rPr lang="en-US" spc="-65" dirty="0">
                <a:latin typeface="Times New Roman" panose="02020603050405020304" pitchFamily="18" charset="0"/>
                <a:cs typeface="Times New Roman" panose="02020603050405020304" pitchFamily="18" charset="0"/>
              </a:rPr>
              <a:t>University), </a:t>
            </a:r>
            <a:r>
              <a:rPr lang="en-US" spc="-20" dirty="0">
                <a:latin typeface="Times New Roman" panose="02020603050405020304" pitchFamily="18" charset="0"/>
                <a:cs typeface="Times New Roman" panose="02020603050405020304" pitchFamily="18" charset="0"/>
              </a:rPr>
              <a:t>the </a:t>
            </a:r>
            <a:r>
              <a:rPr lang="en-US" spc="-120" dirty="0">
                <a:latin typeface="Times New Roman" panose="02020603050405020304" pitchFamily="18" charset="0"/>
                <a:cs typeface="Times New Roman" panose="02020603050405020304" pitchFamily="18" charset="0"/>
              </a:rPr>
              <a:t>second </a:t>
            </a:r>
            <a:r>
              <a:rPr lang="en-US" spc="-70" dirty="0">
                <a:latin typeface="Times New Roman" panose="02020603050405020304" pitchFamily="18" charset="0"/>
                <a:cs typeface="Times New Roman" panose="02020603050405020304" pitchFamily="18" charset="0"/>
              </a:rPr>
              <a:t>level domain </a:t>
            </a:r>
            <a:r>
              <a:rPr lang="en-US" spc="-105" dirty="0">
                <a:latin typeface="Times New Roman" panose="02020603050405020304" pitchFamily="18" charset="0"/>
                <a:cs typeface="Times New Roman" panose="02020603050405020304" pitchFamily="18" charset="0"/>
              </a:rPr>
              <a:t>is </a:t>
            </a:r>
            <a:r>
              <a:rPr lang="en-US" spc="-135" dirty="0" err="1">
                <a:latin typeface="Times New Roman" panose="02020603050405020304" pitchFamily="18" charset="0"/>
                <a:cs typeface="Times New Roman" panose="02020603050405020304" pitchFamily="18" charset="0"/>
              </a:rPr>
              <a:t>purdue</a:t>
            </a:r>
            <a:r>
              <a:rPr lang="en-US" spc="-135" dirty="0">
                <a:latin typeface="Times New Roman" panose="02020603050405020304" pitchFamily="18" charset="0"/>
                <a:cs typeface="Times New Roman" panose="02020603050405020304" pitchFamily="18" charset="0"/>
              </a:rPr>
              <a:t>.  </a:t>
            </a:r>
            <a:r>
              <a:rPr lang="en-US" i="1" spc="-110" dirty="0" err="1">
                <a:latin typeface="Times New Roman" panose="02020603050405020304" pitchFamily="18" charset="0"/>
                <a:cs typeface="Times New Roman" panose="02020603050405020304" pitchFamily="18" charset="0"/>
              </a:rPr>
              <a:t>edu</a:t>
            </a:r>
            <a:r>
              <a:rPr lang="en-US" i="1" spc="-110" dirty="0">
                <a:latin typeface="Times New Roman" panose="02020603050405020304" pitchFamily="18" charset="0"/>
                <a:cs typeface="Times New Roman" panose="02020603050405020304" pitchFamily="18" charset="0"/>
              </a:rPr>
              <a:t> </a:t>
            </a:r>
            <a:r>
              <a:rPr lang="en-US" spc="-35" dirty="0">
                <a:latin typeface="Times New Roman" panose="02020603050405020304" pitchFamily="18" charset="0"/>
                <a:cs typeface="Times New Roman" panose="02020603050405020304" pitchFamily="18" charset="0"/>
              </a:rPr>
              <a:t>(the </a:t>
            </a:r>
            <a:r>
              <a:rPr lang="en-US" spc="-70" dirty="0">
                <a:latin typeface="Times New Roman" panose="02020603050405020304" pitchFamily="18" charset="0"/>
                <a:cs typeface="Times New Roman" panose="02020603050405020304" pitchFamily="18" charset="0"/>
              </a:rPr>
              <a:t>domain </a:t>
            </a:r>
            <a:r>
              <a:rPr lang="en-US" spc="-105" dirty="0">
                <a:latin typeface="Times New Roman" panose="02020603050405020304" pitchFamily="18" charset="0"/>
                <a:cs typeface="Times New Roman" panose="02020603050405020304" pitchFamily="18" charset="0"/>
              </a:rPr>
              <a:t>name </a:t>
            </a:r>
            <a:r>
              <a:rPr lang="en-US" spc="-10" dirty="0">
                <a:latin typeface="Times New Roman" panose="02020603050405020304" pitchFamily="18" charset="0"/>
                <a:cs typeface="Times New Roman" panose="02020603050405020304" pitchFamily="18" charset="0"/>
              </a:rPr>
              <a:t>for </a:t>
            </a:r>
            <a:r>
              <a:rPr lang="en-US" spc="-100" dirty="0">
                <a:latin typeface="Times New Roman" panose="02020603050405020304" pitchFamily="18" charset="0"/>
                <a:cs typeface="Times New Roman" panose="02020603050405020304" pitchFamily="18" charset="0"/>
              </a:rPr>
              <a:t>Purdue </a:t>
            </a:r>
            <a:r>
              <a:rPr lang="en-US" spc="-65" dirty="0">
                <a:latin typeface="Times New Roman" panose="02020603050405020304" pitchFamily="18" charset="0"/>
                <a:cs typeface="Times New Roman" panose="02020603050405020304" pitchFamily="18" charset="0"/>
              </a:rPr>
              <a:t>University), </a:t>
            </a:r>
            <a:r>
              <a:rPr lang="en-US" spc="-95" dirty="0">
                <a:latin typeface="Times New Roman" panose="02020603050405020304" pitchFamily="18" charset="0"/>
                <a:cs typeface="Times New Roman" panose="02020603050405020304" pitchFamily="18" charset="0"/>
              </a:rPr>
              <a:t>and </a:t>
            </a:r>
            <a:r>
              <a:rPr lang="en-US" spc="-20" dirty="0">
                <a:latin typeface="Times New Roman" panose="02020603050405020304" pitchFamily="18" charset="0"/>
                <a:cs typeface="Times New Roman" panose="02020603050405020304" pitchFamily="18" charset="0"/>
              </a:rPr>
              <a:t>the </a:t>
            </a:r>
            <a:r>
              <a:rPr lang="en-US" spc="-50" dirty="0">
                <a:latin typeface="Times New Roman" panose="02020603050405020304" pitchFamily="18" charset="0"/>
                <a:cs typeface="Times New Roman" panose="02020603050405020304" pitchFamily="18" charset="0"/>
              </a:rPr>
              <a:t>top-level </a:t>
            </a:r>
            <a:r>
              <a:rPr lang="en-US" spc="-70" dirty="0">
                <a:latin typeface="Times New Roman" panose="02020603050405020304" pitchFamily="18" charset="0"/>
                <a:cs typeface="Times New Roman" panose="02020603050405020304" pitchFamily="18" charset="0"/>
              </a:rPr>
              <a:t>domain </a:t>
            </a:r>
            <a:r>
              <a:rPr lang="en-US" spc="-105" dirty="0">
                <a:latin typeface="Times New Roman" panose="02020603050405020304" pitchFamily="18" charset="0"/>
                <a:cs typeface="Times New Roman" panose="02020603050405020304" pitchFamily="18" charset="0"/>
              </a:rPr>
              <a:t>is </a:t>
            </a:r>
            <a:r>
              <a:rPr lang="en-US" spc="-110" dirty="0" err="1">
                <a:latin typeface="Times New Roman" panose="02020603050405020304" pitchFamily="18" charset="0"/>
                <a:cs typeface="Times New Roman" panose="02020603050405020304" pitchFamily="18" charset="0"/>
              </a:rPr>
              <a:t>edu</a:t>
            </a:r>
            <a:r>
              <a:rPr lang="en-US" spc="-110" dirty="0">
                <a:latin typeface="Times New Roman" panose="02020603050405020304" pitchFamily="18" charset="0"/>
                <a:cs typeface="Times New Roman" panose="02020603050405020304" pitchFamily="18" charset="0"/>
              </a:rPr>
              <a:t> </a:t>
            </a:r>
            <a:r>
              <a:rPr lang="en-US" spc="-35" dirty="0">
                <a:latin typeface="Times New Roman" panose="02020603050405020304" pitchFamily="18" charset="0"/>
                <a:cs typeface="Times New Roman" panose="02020603050405020304" pitchFamily="18" charset="0"/>
              </a:rPr>
              <a:t>(the </a:t>
            </a:r>
            <a:r>
              <a:rPr lang="en-US" spc="-70" dirty="0">
                <a:latin typeface="Times New Roman" panose="02020603050405020304" pitchFamily="18" charset="0"/>
                <a:cs typeface="Times New Roman" panose="02020603050405020304" pitchFamily="18" charset="0"/>
              </a:rPr>
              <a:t>domain  </a:t>
            </a:r>
            <a:r>
              <a:rPr lang="en-US" spc="-105" dirty="0">
                <a:latin typeface="Times New Roman" panose="02020603050405020304" pitchFamily="18" charset="0"/>
                <a:cs typeface="Times New Roman" panose="02020603050405020304" pitchFamily="18" charset="0"/>
              </a:rPr>
              <a:t>name </a:t>
            </a:r>
            <a:r>
              <a:rPr lang="en-US" spc="-5" dirty="0">
                <a:latin typeface="Times New Roman" panose="02020603050405020304" pitchFamily="18" charset="0"/>
                <a:cs typeface="Times New Roman" panose="02020603050405020304" pitchFamily="18" charset="0"/>
              </a:rPr>
              <a:t>for </a:t>
            </a:r>
            <a:r>
              <a:rPr lang="en-US" spc="-70" dirty="0">
                <a:latin typeface="Times New Roman" panose="02020603050405020304" pitchFamily="18" charset="0"/>
                <a:cs typeface="Times New Roman" panose="02020603050405020304" pitchFamily="18" charset="0"/>
              </a:rPr>
              <a:t>educational </a:t>
            </a:r>
            <a:r>
              <a:rPr lang="en-US" spc="-30" dirty="0">
                <a:latin typeface="Times New Roman" panose="02020603050405020304" pitchFamily="18" charset="0"/>
                <a:cs typeface="Times New Roman" panose="02020603050405020304" pitchFamily="18" charset="0"/>
              </a:rPr>
              <a:t>institutions). </a:t>
            </a:r>
            <a:r>
              <a:rPr lang="en-US" spc="-195" dirty="0">
                <a:latin typeface="Times New Roman" panose="02020603050405020304" pitchFamily="18" charset="0"/>
                <a:cs typeface="Times New Roman" panose="02020603050405020304" pitchFamily="18" charset="0"/>
              </a:rPr>
              <a:t>As </a:t>
            </a:r>
            <a:r>
              <a:rPr lang="en-US" spc="-20" dirty="0">
                <a:latin typeface="Times New Roman" panose="02020603050405020304" pitchFamily="18" charset="0"/>
                <a:cs typeface="Times New Roman" panose="02020603050405020304" pitchFamily="18" charset="0"/>
              </a:rPr>
              <a:t>the </a:t>
            </a:r>
            <a:r>
              <a:rPr lang="en-US" spc="-105" dirty="0">
                <a:latin typeface="Times New Roman" panose="02020603050405020304" pitchFamily="18" charset="0"/>
                <a:cs typeface="Times New Roman" panose="02020603050405020304" pitchFamily="18" charset="0"/>
              </a:rPr>
              <a:t>example </a:t>
            </a:r>
            <a:r>
              <a:rPr lang="en-US" spc="-114" dirty="0">
                <a:latin typeface="Times New Roman" panose="02020603050405020304" pitchFamily="18" charset="0"/>
                <a:cs typeface="Times New Roman" panose="02020603050405020304" pitchFamily="18" charset="0"/>
              </a:rPr>
              <a:t>shows, </a:t>
            </a:r>
            <a:r>
              <a:rPr lang="en-US" spc="-70" dirty="0">
                <a:latin typeface="Times New Roman" panose="02020603050405020304" pitchFamily="18" charset="0"/>
                <a:cs typeface="Times New Roman" panose="02020603050405020304" pitchFamily="18" charset="0"/>
              </a:rPr>
              <a:t>domain </a:t>
            </a:r>
            <a:r>
              <a:rPr lang="en-US" spc="-130" dirty="0">
                <a:latin typeface="Times New Roman" panose="02020603050405020304" pitchFamily="18" charset="0"/>
                <a:cs typeface="Times New Roman" panose="02020603050405020304" pitchFamily="18" charset="0"/>
              </a:rPr>
              <a:t>names </a:t>
            </a:r>
            <a:r>
              <a:rPr lang="en-US" spc="-90" dirty="0">
                <a:latin typeface="Times New Roman" panose="02020603050405020304" pitchFamily="18" charset="0"/>
                <a:cs typeface="Times New Roman" panose="02020603050405020304" pitchFamily="18" charset="0"/>
              </a:rPr>
              <a:t>are </a:t>
            </a:r>
            <a:r>
              <a:rPr lang="en-US" spc="5" dirty="0">
                <a:latin typeface="Times New Roman" panose="02020603050405020304" pitchFamily="18" charset="0"/>
                <a:cs typeface="Times New Roman" panose="02020603050405020304" pitchFamily="18" charset="0"/>
              </a:rPr>
              <a:t>written </a:t>
            </a:r>
            <a:r>
              <a:rPr lang="en-US" spc="10" dirty="0">
                <a:latin typeface="Times New Roman" panose="02020603050405020304" pitchFamily="18" charset="0"/>
                <a:cs typeface="Times New Roman" panose="02020603050405020304" pitchFamily="18" charset="0"/>
              </a:rPr>
              <a:t>with </a:t>
            </a:r>
            <a:r>
              <a:rPr lang="en-US" spc="-20" dirty="0">
                <a:latin typeface="Times New Roman" panose="02020603050405020304" pitchFamily="18" charset="0"/>
                <a:cs typeface="Times New Roman" panose="02020603050405020304" pitchFamily="18" charset="0"/>
              </a:rPr>
              <a:t>the  </a:t>
            </a:r>
            <a:r>
              <a:rPr lang="en-US" spc="-70" dirty="0">
                <a:latin typeface="Times New Roman" panose="02020603050405020304" pitchFamily="18" charset="0"/>
                <a:cs typeface="Times New Roman" panose="02020603050405020304" pitchFamily="18" charset="0"/>
              </a:rPr>
              <a:t>local </a:t>
            </a:r>
            <a:r>
              <a:rPr lang="en-US" spc="-60" dirty="0">
                <a:latin typeface="Times New Roman" panose="02020603050405020304" pitchFamily="18" charset="0"/>
                <a:cs typeface="Times New Roman" panose="02020603050405020304" pitchFamily="18" charset="0"/>
              </a:rPr>
              <a:t>label </a:t>
            </a:r>
            <a:r>
              <a:rPr lang="en-US" spc="-20" dirty="0">
                <a:latin typeface="Times New Roman" panose="02020603050405020304" pitchFamily="18" charset="0"/>
                <a:cs typeface="Times New Roman" panose="02020603050405020304" pitchFamily="18" charset="0"/>
              </a:rPr>
              <a:t>first </a:t>
            </a:r>
            <a:r>
              <a:rPr lang="en-US" spc="-95" dirty="0">
                <a:latin typeface="Times New Roman" panose="02020603050405020304" pitchFamily="18" charset="0"/>
                <a:cs typeface="Times New Roman" panose="02020603050405020304" pitchFamily="18" charset="0"/>
              </a:rPr>
              <a:t>and </a:t>
            </a:r>
            <a:r>
              <a:rPr lang="en-US" spc="-20" dirty="0">
                <a:latin typeface="Times New Roman" panose="02020603050405020304" pitchFamily="18" charset="0"/>
                <a:cs typeface="Times New Roman" panose="02020603050405020304" pitchFamily="18" charset="0"/>
              </a:rPr>
              <a:t>the </a:t>
            </a:r>
            <a:r>
              <a:rPr lang="en-US" spc="-10" dirty="0">
                <a:latin typeface="Times New Roman" panose="02020603050405020304" pitchFamily="18" charset="0"/>
                <a:cs typeface="Times New Roman" panose="02020603050405020304" pitchFamily="18" charset="0"/>
              </a:rPr>
              <a:t>top</a:t>
            </a:r>
            <a:r>
              <a:rPr lang="en-US" spc="-400" dirty="0">
                <a:latin typeface="Times New Roman" panose="02020603050405020304" pitchFamily="18" charset="0"/>
                <a:cs typeface="Times New Roman" panose="02020603050405020304" pitchFamily="18" charset="0"/>
              </a:rPr>
              <a:t> </a:t>
            </a:r>
            <a:r>
              <a:rPr lang="en-US" spc="-70" dirty="0">
                <a:latin typeface="Times New Roman" panose="02020603050405020304" pitchFamily="18" charset="0"/>
                <a:cs typeface="Times New Roman" panose="02020603050405020304" pitchFamily="18" charset="0"/>
              </a:rPr>
              <a:t>domain last.</a:t>
            </a:r>
          </a:p>
        </p:txBody>
      </p:sp>
      <p:sp>
        <p:nvSpPr>
          <p:cNvPr id="6" name="object 7"/>
          <p:cNvSpPr/>
          <p:nvPr/>
        </p:nvSpPr>
        <p:spPr>
          <a:xfrm>
            <a:off x="3357788" y="3939100"/>
            <a:ext cx="5578394" cy="2156069"/>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5069804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NS_3">
            <a:extLst>
              <a:ext uri="{FF2B5EF4-FFF2-40B4-BE49-F238E27FC236}">
                <a16:creationId xmlns:a16="http://schemas.microsoft.com/office/drawing/2014/main" id="{223402DD-44FB-4207-9124-1FD66CF581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088" y="891019"/>
            <a:ext cx="8347824" cy="534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10763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16B4A7-B893-4575-BC4C-3F2B995CCA87}"/>
              </a:ext>
            </a:extLst>
          </p:cNvPr>
          <p:cNvSpPr txBox="1"/>
          <p:nvPr/>
        </p:nvSpPr>
        <p:spPr>
          <a:xfrm>
            <a:off x="665018" y="1357745"/>
            <a:ext cx="7924800" cy="4832092"/>
          </a:xfrm>
          <a:prstGeom prst="rect">
            <a:avLst/>
          </a:prstGeom>
          <a:noFill/>
        </p:spPr>
        <p:txBody>
          <a:bodyPr wrap="square" rtlCol="0">
            <a:spAutoFit/>
          </a:bodyPr>
          <a:lstStyle/>
          <a:p>
            <a:pPr algn="just"/>
            <a:r>
              <a:rPr lang="en-IN" sz="2800" dirty="0">
                <a:latin typeface="Times New Roman" panose="02020603050405020304" pitchFamily="18" charset="0"/>
                <a:cs typeface="Times New Roman" panose="02020603050405020304" pitchFamily="18" charset="0"/>
              </a:rPr>
              <a:t>The client machine sends a request to the local name server, which , if root does not find the address in its database, sends a request to the root name server , which in turn, will route the query to an intermediate or authoritative name server. </a:t>
            </a:r>
          </a:p>
          <a:p>
            <a:pPr algn="just"/>
            <a:r>
              <a:rPr lang="en-IN" sz="2800" dirty="0">
                <a:latin typeface="Times New Roman" panose="02020603050405020304" pitchFamily="18" charset="0"/>
                <a:cs typeface="Times New Roman" panose="02020603050405020304" pitchFamily="18" charset="0"/>
              </a:rPr>
              <a:t>The root name server can also contain some host Name to IP address mappings. The intermediate name server always knows who the authoritative name server is. So finally the IP address is returned to the local name server which in turn returns the IP address to the host.</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9126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2509" y="702622"/>
            <a:ext cx="7808976" cy="1088136"/>
          </a:xfrm>
        </p:spPr>
        <p:txBody>
          <a:bodyPr>
            <a:normAutofit/>
          </a:bodyPr>
          <a:lstStyle/>
          <a:p>
            <a:r>
              <a:rPr lang="en-US" sz="4000" spc="-175" dirty="0"/>
              <a:t>Different </a:t>
            </a:r>
            <a:r>
              <a:rPr lang="en-US" sz="4000" spc="-254" dirty="0"/>
              <a:t>types </a:t>
            </a:r>
            <a:r>
              <a:rPr lang="en-US" sz="4000" spc="-60" dirty="0"/>
              <a:t>of </a:t>
            </a:r>
            <a:r>
              <a:rPr lang="en-US" sz="4000" spc="-700" dirty="0"/>
              <a:t>D    N    S</a:t>
            </a:r>
            <a:r>
              <a:rPr lang="en-US" sz="4000" spc="-944" dirty="0"/>
              <a:t>                             </a:t>
            </a:r>
            <a:r>
              <a:rPr lang="en-US" sz="4000" spc="-250" dirty="0"/>
              <a:t>   queries</a:t>
            </a:r>
            <a:endParaRPr lang="en-US" sz="4000" dirty="0"/>
          </a:p>
        </p:txBody>
      </p:sp>
      <p:sp>
        <p:nvSpPr>
          <p:cNvPr id="5" name="object 6"/>
          <p:cNvSpPr txBox="1"/>
          <p:nvPr/>
        </p:nvSpPr>
        <p:spPr>
          <a:xfrm>
            <a:off x="101212" y="2289175"/>
            <a:ext cx="8724134" cy="3737305"/>
          </a:xfrm>
          <a:prstGeom prst="rect">
            <a:avLst/>
          </a:prstGeom>
        </p:spPr>
        <p:txBody>
          <a:bodyPr vert="horz" wrap="square" lIns="0" tIns="47625" rIns="0" bIns="0" rtlCol="0">
            <a:spAutoFit/>
          </a:bodyPr>
          <a:lstStyle/>
          <a:p>
            <a:pPr marL="103505" marR="177165">
              <a:lnSpc>
                <a:spcPts val="2160"/>
              </a:lnSpc>
              <a:spcBef>
                <a:spcPts val="375"/>
              </a:spcBef>
            </a:pPr>
            <a:r>
              <a:rPr sz="2000" spc="-265" dirty="0">
                <a:latin typeface="Arial"/>
                <a:cs typeface="Arial"/>
              </a:rPr>
              <a:t>DNS </a:t>
            </a:r>
            <a:r>
              <a:rPr sz="2000" spc="-80" dirty="0">
                <a:latin typeface="Arial"/>
                <a:cs typeface="Arial"/>
              </a:rPr>
              <a:t>queries </a:t>
            </a:r>
            <a:r>
              <a:rPr sz="2000" spc="-125" dirty="0">
                <a:latin typeface="Arial"/>
                <a:cs typeface="Arial"/>
              </a:rPr>
              <a:t>can </a:t>
            </a:r>
            <a:r>
              <a:rPr sz="2000" spc="-90" dirty="0">
                <a:latin typeface="Arial"/>
                <a:cs typeface="Arial"/>
              </a:rPr>
              <a:t>be </a:t>
            </a:r>
            <a:r>
              <a:rPr sz="2000" spc="-85" dirty="0">
                <a:latin typeface="Arial"/>
                <a:cs typeface="Arial"/>
              </a:rPr>
              <a:t>classified </a:t>
            </a:r>
            <a:r>
              <a:rPr sz="2000" spc="-90" dirty="0">
                <a:latin typeface="Arial"/>
                <a:cs typeface="Arial"/>
              </a:rPr>
              <a:t>according </a:t>
            </a:r>
            <a:r>
              <a:rPr sz="2000" spc="-20" dirty="0">
                <a:latin typeface="Arial"/>
                <a:cs typeface="Arial"/>
              </a:rPr>
              <a:t>the </a:t>
            </a:r>
            <a:r>
              <a:rPr sz="2000" spc="-70" dirty="0">
                <a:latin typeface="Arial"/>
                <a:cs typeface="Arial"/>
              </a:rPr>
              <a:t>manner </a:t>
            </a:r>
            <a:r>
              <a:rPr sz="2000" spc="-25" dirty="0">
                <a:latin typeface="Arial"/>
                <a:cs typeface="Arial"/>
              </a:rPr>
              <a:t>in </a:t>
            </a:r>
            <a:r>
              <a:rPr sz="2000" spc="-55" dirty="0">
                <a:latin typeface="Arial"/>
                <a:cs typeface="Arial"/>
              </a:rPr>
              <a:t>which </a:t>
            </a:r>
            <a:r>
              <a:rPr sz="2000" spc="-155" dirty="0">
                <a:latin typeface="Arial"/>
                <a:cs typeface="Arial"/>
              </a:rPr>
              <a:t>a </a:t>
            </a:r>
            <a:r>
              <a:rPr sz="2000" spc="-65" dirty="0">
                <a:latin typeface="Arial"/>
                <a:cs typeface="Arial"/>
              </a:rPr>
              <a:t>complete </a:t>
            </a:r>
            <a:r>
              <a:rPr sz="2000" spc="-70" dirty="0">
                <a:latin typeface="Arial"/>
                <a:cs typeface="Arial"/>
              </a:rPr>
              <a:t>request </a:t>
            </a:r>
            <a:r>
              <a:rPr sz="2000" spc="-105" dirty="0">
                <a:latin typeface="Arial"/>
                <a:cs typeface="Arial"/>
              </a:rPr>
              <a:t>is</a:t>
            </a:r>
            <a:r>
              <a:rPr sz="2000" spc="-295" dirty="0">
                <a:latin typeface="Arial"/>
                <a:cs typeface="Arial"/>
              </a:rPr>
              <a:t> </a:t>
            </a:r>
            <a:r>
              <a:rPr sz="2000" spc="-110" dirty="0">
                <a:latin typeface="Arial"/>
                <a:cs typeface="Arial"/>
              </a:rPr>
              <a:t>processed.  </a:t>
            </a:r>
            <a:r>
              <a:rPr sz="2000" spc="-95" dirty="0">
                <a:latin typeface="Arial"/>
                <a:cs typeface="Arial"/>
              </a:rPr>
              <a:t>Generally </a:t>
            </a:r>
            <a:r>
              <a:rPr sz="2000" spc="-80" dirty="0">
                <a:latin typeface="Arial"/>
                <a:cs typeface="Arial"/>
              </a:rPr>
              <a:t>queries </a:t>
            </a:r>
            <a:r>
              <a:rPr sz="2000" spc="-125" dirty="0">
                <a:latin typeface="Arial"/>
                <a:cs typeface="Arial"/>
              </a:rPr>
              <a:t>can </a:t>
            </a:r>
            <a:r>
              <a:rPr sz="2000" spc="-90" dirty="0">
                <a:latin typeface="Arial"/>
                <a:cs typeface="Arial"/>
              </a:rPr>
              <a:t>be </a:t>
            </a:r>
            <a:r>
              <a:rPr sz="2000" spc="-85" dirty="0">
                <a:latin typeface="Arial"/>
                <a:cs typeface="Arial"/>
              </a:rPr>
              <a:t>classified </a:t>
            </a:r>
            <a:r>
              <a:rPr sz="2000" spc="-185" dirty="0">
                <a:latin typeface="Arial"/>
                <a:cs typeface="Arial"/>
              </a:rPr>
              <a:t>as</a:t>
            </a:r>
            <a:r>
              <a:rPr sz="2000" spc="-135" dirty="0">
                <a:latin typeface="Arial"/>
                <a:cs typeface="Arial"/>
              </a:rPr>
              <a:t> </a:t>
            </a:r>
            <a:r>
              <a:rPr sz="2000" spc="-55" dirty="0">
                <a:latin typeface="Arial"/>
                <a:cs typeface="Arial"/>
              </a:rPr>
              <a:t>follows.</a:t>
            </a:r>
            <a:endParaRPr sz="2000" dirty="0">
              <a:latin typeface="Arial"/>
              <a:cs typeface="Arial"/>
            </a:endParaRPr>
          </a:p>
          <a:p>
            <a:pPr marL="469265" indent="-456565">
              <a:lnSpc>
                <a:spcPts val="2280"/>
              </a:lnSpc>
              <a:spcBef>
                <a:spcPts val="1130"/>
              </a:spcBef>
              <a:buClr>
                <a:srgbClr val="9DBEBD"/>
              </a:buClr>
              <a:buAutoNum type="arabicPeriod"/>
              <a:tabLst>
                <a:tab pos="469265" algn="l"/>
                <a:tab pos="469900" algn="l"/>
              </a:tabLst>
            </a:pPr>
            <a:r>
              <a:rPr sz="2400" b="1" spc="-135" dirty="0">
                <a:latin typeface="Times New Roman" panose="02020603050405020304" pitchFamily="18" charset="0"/>
                <a:cs typeface="Times New Roman" panose="02020603050405020304" pitchFamily="18" charset="0"/>
              </a:rPr>
              <a:t>Recursive </a:t>
            </a:r>
            <a:r>
              <a:rPr sz="2400" b="1" spc="-130" dirty="0">
                <a:latin typeface="Times New Roman" panose="02020603050405020304" pitchFamily="18" charset="0"/>
                <a:cs typeface="Times New Roman" panose="02020603050405020304" pitchFamily="18" charset="0"/>
              </a:rPr>
              <a:t>query: </a:t>
            </a:r>
            <a:r>
              <a:rPr sz="2400" spc="-175" dirty="0">
                <a:latin typeface="Times New Roman" panose="02020603050405020304" pitchFamily="18" charset="0"/>
                <a:cs typeface="Times New Roman" panose="02020603050405020304" pitchFamily="18" charset="0"/>
              </a:rPr>
              <a:t>A </a:t>
            </a:r>
            <a:r>
              <a:rPr sz="2400" spc="-90" dirty="0">
                <a:latin typeface="Times New Roman" panose="02020603050405020304" pitchFamily="18" charset="0"/>
                <a:cs typeface="Times New Roman" panose="02020603050405020304" pitchFamily="18" charset="0"/>
              </a:rPr>
              <a:t>recursive </a:t>
            </a:r>
            <a:r>
              <a:rPr sz="2400" spc="-60" dirty="0">
                <a:latin typeface="Times New Roman" panose="02020603050405020304" pitchFamily="18" charset="0"/>
                <a:cs typeface="Times New Roman" panose="02020603050405020304" pitchFamily="18" charset="0"/>
              </a:rPr>
              <a:t>query </a:t>
            </a:r>
            <a:r>
              <a:rPr sz="2400" spc="-100" dirty="0">
                <a:latin typeface="Times New Roman" panose="02020603050405020304" pitchFamily="18" charset="0"/>
                <a:cs typeface="Times New Roman" panose="02020603050405020304" pitchFamily="18" charset="0"/>
              </a:rPr>
              <a:t>is </a:t>
            </a:r>
            <a:r>
              <a:rPr sz="2400" spc="-155" dirty="0">
                <a:latin typeface="Times New Roman" panose="02020603050405020304" pitchFamily="18" charset="0"/>
                <a:cs typeface="Times New Roman" panose="02020603050405020304" pitchFamily="18" charset="0"/>
              </a:rPr>
              <a:t>a </a:t>
            </a:r>
            <a:r>
              <a:rPr sz="2400" spc="-50" dirty="0">
                <a:latin typeface="Times New Roman" panose="02020603050405020304" pitchFamily="18" charset="0"/>
                <a:cs typeface="Times New Roman" panose="02020603050405020304" pitchFamily="18" charset="0"/>
              </a:rPr>
              <a:t>kind </a:t>
            </a:r>
            <a:r>
              <a:rPr sz="2400" spc="-5" dirty="0">
                <a:latin typeface="Times New Roman" panose="02020603050405020304" pitchFamily="18" charset="0"/>
                <a:cs typeface="Times New Roman" panose="02020603050405020304" pitchFamily="18" charset="0"/>
              </a:rPr>
              <a:t>of </a:t>
            </a:r>
            <a:r>
              <a:rPr sz="2400" spc="-85" dirty="0">
                <a:latin typeface="Times New Roman" panose="02020603050405020304" pitchFamily="18" charset="0"/>
                <a:cs typeface="Times New Roman" panose="02020603050405020304" pitchFamily="18" charset="0"/>
              </a:rPr>
              <a:t>query, </a:t>
            </a:r>
            <a:r>
              <a:rPr sz="2400" spc="-25" dirty="0">
                <a:latin typeface="Times New Roman" panose="02020603050405020304" pitchFamily="18" charset="0"/>
                <a:cs typeface="Times New Roman" panose="02020603050405020304" pitchFamily="18" charset="0"/>
              </a:rPr>
              <a:t>in </a:t>
            </a:r>
            <a:r>
              <a:rPr sz="2400" spc="-60" dirty="0">
                <a:latin typeface="Times New Roman" panose="02020603050405020304" pitchFamily="18" charset="0"/>
                <a:cs typeface="Times New Roman" panose="02020603050405020304" pitchFamily="18" charset="0"/>
              </a:rPr>
              <a:t>which </a:t>
            </a:r>
            <a:r>
              <a:rPr sz="2400" spc="-20" dirty="0">
                <a:latin typeface="Times New Roman" panose="02020603050405020304" pitchFamily="18" charset="0"/>
                <a:cs typeface="Times New Roman" panose="02020603050405020304" pitchFamily="18" charset="0"/>
              </a:rPr>
              <a:t>the </a:t>
            </a:r>
            <a:r>
              <a:rPr sz="2400" spc="-265" dirty="0">
                <a:latin typeface="Times New Roman" panose="02020603050405020304" pitchFamily="18" charset="0"/>
                <a:cs typeface="Times New Roman" panose="02020603050405020304" pitchFamily="18" charset="0"/>
              </a:rPr>
              <a:t>DNS </a:t>
            </a:r>
            <a:r>
              <a:rPr sz="2400" spc="-105" dirty="0">
                <a:latin typeface="Times New Roman" panose="02020603050405020304" pitchFamily="18" charset="0"/>
                <a:cs typeface="Times New Roman" panose="02020603050405020304" pitchFamily="18" charset="0"/>
              </a:rPr>
              <a:t>server, </a:t>
            </a:r>
            <a:r>
              <a:rPr sz="2400" spc="-50" dirty="0">
                <a:latin typeface="Times New Roman" panose="02020603050405020304" pitchFamily="18" charset="0"/>
                <a:cs typeface="Times New Roman" panose="02020603050405020304" pitchFamily="18" charset="0"/>
              </a:rPr>
              <a:t>who</a:t>
            </a:r>
            <a:r>
              <a:rPr sz="2400" spc="-320" dirty="0">
                <a:latin typeface="Times New Roman" panose="02020603050405020304" pitchFamily="18" charset="0"/>
                <a:cs typeface="Times New Roman" panose="02020603050405020304" pitchFamily="18" charset="0"/>
              </a:rPr>
              <a:t> </a:t>
            </a:r>
            <a:r>
              <a:rPr sz="2400" spc="-85" dirty="0">
                <a:latin typeface="Times New Roman" panose="02020603050405020304" pitchFamily="18" charset="0"/>
                <a:cs typeface="Times New Roman" panose="02020603050405020304" pitchFamily="18" charset="0"/>
              </a:rPr>
              <a:t>received</a:t>
            </a:r>
            <a:r>
              <a:rPr lang="en-US" sz="2400" spc="-8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the</a:t>
            </a:r>
            <a:r>
              <a:rPr sz="2400" spc="-105" dirty="0">
                <a:latin typeface="Times New Roman" panose="02020603050405020304" pitchFamily="18" charset="0"/>
                <a:cs typeface="Times New Roman" panose="02020603050405020304" pitchFamily="18" charset="0"/>
              </a:rPr>
              <a:t> </a:t>
            </a:r>
            <a:r>
              <a:rPr sz="2400" spc="-95" dirty="0">
                <a:latin typeface="Times New Roman" panose="02020603050405020304" pitchFamily="18" charset="0"/>
                <a:cs typeface="Times New Roman" panose="02020603050405020304" pitchFamily="18" charset="0"/>
              </a:rPr>
              <a:t>sender’s</a:t>
            </a:r>
            <a:r>
              <a:rPr sz="2400" spc="-105" dirty="0">
                <a:latin typeface="Times New Roman" panose="02020603050405020304" pitchFamily="18" charset="0"/>
                <a:cs typeface="Times New Roman" panose="02020603050405020304" pitchFamily="18" charset="0"/>
              </a:rPr>
              <a:t> </a:t>
            </a:r>
            <a:r>
              <a:rPr sz="2400" spc="-60" dirty="0">
                <a:latin typeface="Times New Roman" panose="02020603050405020304" pitchFamily="18" charset="0"/>
                <a:cs typeface="Times New Roman" panose="02020603050405020304" pitchFamily="18" charset="0"/>
              </a:rPr>
              <a:t>query</a:t>
            </a:r>
            <a:r>
              <a:rPr sz="2400" spc="-114"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will</a:t>
            </a:r>
            <a:r>
              <a:rPr sz="2400" spc="-100" dirty="0">
                <a:latin typeface="Times New Roman" panose="02020603050405020304" pitchFamily="18" charset="0"/>
                <a:cs typeface="Times New Roman" panose="02020603050405020304" pitchFamily="18" charset="0"/>
              </a:rPr>
              <a:t> </a:t>
            </a:r>
            <a:r>
              <a:rPr sz="2400" spc="-60" dirty="0">
                <a:latin typeface="Times New Roman" panose="02020603050405020304" pitchFamily="18" charset="0"/>
                <a:cs typeface="Times New Roman" panose="02020603050405020304" pitchFamily="18" charset="0"/>
              </a:rPr>
              <a:t>do</a:t>
            </a:r>
            <a:r>
              <a:rPr sz="2400" spc="-105" dirty="0">
                <a:latin typeface="Times New Roman" panose="02020603050405020304" pitchFamily="18" charset="0"/>
                <a:cs typeface="Times New Roman" panose="02020603050405020304" pitchFamily="18" charset="0"/>
              </a:rPr>
              <a:t> </a:t>
            </a:r>
            <a:r>
              <a:rPr sz="2400" spc="-45" dirty="0">
                <a:latin typeface="Times New Roman" panose="02020603050405020304" pitchFamily="18" charset="0"/>
                <a:cs typeface="Times New Roman" panose="02020603050405020304" pitchFamily="18" charset="0"/>
              </a:rPr>
              <a:t>all</a:t>
            </a:r>
            <a:r>
              <a:rPr sz="2400" spc="-100"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the</a:t>
            </a:r>
            <a:r>
              <a:rPr sz="2400" spc="-105" dirty="0">
                <a:latin typeface="Times New Roman" panose="02020603050405020304" pitchFamily="18" charset="0"/>
                <a:cs typeface="Times New Roman" panose="02020603050405020304" pitchFamily="18" charset="0"/>
              </a:rPr>
              <a:t> </a:t>
            </a:r>
            <a:r>
              <a:rPr sz="2400" spc="-30" dirty="0">
                <a:latin typeface="Times New Roman" panose="02020603050405020304" pitchFamily="18" charset="0"/>
                <a:cs typeface="Times New Roman" panose="02020603050405020304" pitchFamily="18" charset="0"/>
              </a:rPr>
              <a:t>job</a:t>
            </a:r>
            <a:r>
              <a:rPr sz="2400" spc="-114"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of</a:t>
            </a:r>
            <a:r>
              <a:rPr sz="2400" spc="-114" dirty="0">
                <a:latin typeface="Times New Roman" panose="02020603050405020304" pitchFamily="18" charset="0"/>
                <a:cs typeface="Times New Roman" panose="02020603050405020304" pitchFamily="18" charset="0"/>
              </a:rPr>
              <a:t> </a:t>
            </a:r>
            <a:r>
              <a:rPr sz="2400" spc="-60" dirty="0">
                <a:latin typeface="Times New Roman" panose="02020603050405020304" pitchFamily="18" charset="0"/>
                <a:cs typeface="Times New Roman" panose="02020603050405020304" pitchFamily="18" charset="0"/>
              </a:rPr>
              <a:t>fetching</a:t>
            </a:r>
            <a:r>
              <a:rPr sz="2400" spc="-10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the</a:t>
            </a:r>
            <a:r>
              <a:rPr sz="2400" spc="-110" dirty="0">
                <a:latin typeface="Times New Roman" panose="02020603050405020304" pitchFamily="18" charset="0"/>
                <a:cs typeface="Times New Roman" panose="02020603050405020304" pitchFamily="18" charset="0"/>
              </a:rPr>
              <a:t> </a:t>
            </a:r>
            <a:r>
              <a:rPr sz="2400" spc="-114" dirty="0">
                <a:latin typeface="Times New Roman" panose="02020603050405020304" pitchFamily="18" charset="0"/>
                <a:cs typeface="Times New Roman" panose="02020603050405020304" pitchFamily="18" charset="0"/>
              </a:rPr>
              <a:t>answer,</a:t>
            </a:r>
            <a:r>
              <a:rPr sz="2400" spc="-100" dirty="0">
                <a:latin typeface="Times New Roman" panose="02020603050405020304" pitchFamily="18" charset="0"/>
                <a:cs typeface="Times New Roman" panose="02020603050405020304" pitchFamily="18" charset="0"/>
              </a:rPr>
              <a:t> </a:t>
            </a:r>
            <a:r>
              <a:rPr sz="2400" spc="-95" dirty="0">
                <a:latin typeface="Times New Roman" panose="02020603050405020304" pitchFamily="18" charset="0"/>
                <a:cs typeface="Times New Roman" panose="02020603050405020304" pitchFamily="18" charset="0"/>
              </a:rPr>
              <a:t>and</a:t>
            </a:r>
            <a:r>
              <a:rPr sz="2400" spc="-114" dirty="0">
                <a:latin typeface="Times New Roman" panose="02020603050405020304" pitchFamily="18" charset="0"/>
                <a:cs typeface="Times New Roman" panose="02020603050405020304" pitchFamily="18" charset="0"/>
              </a:rPr>
              <a:t> </a:t>
            </a:r>
            <a:r>
              <a:rPr sz="2400" spc="-80" dirty="0">
                <a:latin typeface="Times New Roman" panose="02020603050405020304" pitchFamily="18" charset="0"/>
                <a:cs typeface="Times New Roman" panose="02020603050405020304" pitchFamily="18" charset="0"/>
              </a:rPr>
              <a:t>giving</a:t>
            </a:r>
            <a:r>
              <a:rPr sz="2400" spc="-105" dirty="0">
                <a:latin typeface="Times New Roman" panose="02020603050405020304" pitchFamily="18" charset="0"/>
                <a:cs typeface="Times New Roman" panose="02020603050405020304" pitchFamily="18" charset="0"/>
              </a:rPr>
              <a:t> </a:t>
            </a:r>
            <a:r>
              <a:rPr sz="2400" spc="60" dirty="0">
                <a:latin typeface="Times New Roman" panose="02020603050405020304" pitchFamily="18" charset="0"/>
                <a:cs typeface="Times New Roman" panose="02020603050405020304" pitchFamily="18" charset="0"/>
              </a:rPr>
              <a:t>it</a:t>
            </a:r>
            <a:r>
              <a:rPr sz="2400" spc="-105" dirty="0">
                <a:latin typeface="Times New Roman" panose="02020603050405020304" pitchFamily="18" charset="0"/>
                <a:cs typeface="Times New Roman" panose="02020603050405020304" pitchFamily="18" charset="0"/>
              </a:rPr>
              <a:t> </a:t>
            </a:r>
            <a:r>
              <a:rPr sz="2400" spc="-114" dirty="0">
                <a:latin typeface="Times New Roman" panose="02020603050405020304" pitchFamily="18" charset="0"/>
                <a:cs typeface="Times New Roman" panose="02020603050405020304" pitchFamily="18" charset="0"/>
              </a:rPr>
              <a:t>back</a:t>
            </a:r>
            <a:r>
              <a:rPr sz="2400" spc="-10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to</a:t>
            </a:r>
            <a:r>
              <a:rPr sz="2400" spc="-90"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the</a:t>
            </a:r>
            <a:r>
              <a:rPr sz="2400" spc="-105" dirty="0">
                <a:latin typeface="Times New Roman" panose="02020603050405020304" pitchFamily="18" charset="0"/>
                <a:cs typeface="Times New Roman" panose="02020603050405020304" pitchFamily="18" charset="0"/>
              </a:rPr>
              <a:t> </a:t>
            </a:r>
            <a:r>
              <a:rPr sz="2400" spc="-120" dirty="0">
                <a:latin typeface="Times New Roman" panose="02020603050405020304" pitchFamily="18" charset="0"/>
                <a:cs typeface="Times New Roman" panose="02020603050405020304" pitchFamily="18" charset="0"/>
              </a:rPr>
              <a:t>sender.</a:t>
            </a:r>
            <a:endParaRPr sz="2400" dirty="0">
              <a:latin typeface="Times New Roman" panose="02020603050405020304" pitchFamily="18" charset="0"/>
              <a:cs typeface="Times New Roman" panose="02020603050405020304" pitchFamily="18" charset="0"/>
            </a:endParaRPr>
          </a:p>
          <a:p>
            <a:pPr marL="469265" marR="285115">
              <a:lnSpc>
                <a:spcPts val="2160"/>
              </a:lnSpc>
              <a:spcBef>
                <a:spcPts val="155"/>
              </a:spcBef>
            </a:pPr>
            <a:r>
              <a:rPr sz="2400" spc="-80" dirty="0">
                <a:latin typeface="Times New Roman" panose="02020603050405020304" pitchFamily="18" charset="0"/>
                <a:cs typeface="Times New Roman" panose="02020603050405020304" pitchFamily="18" charset="0"/>
              </a:rPr>
              <a:t>During </a:t>
            </a:r>
            <a:r>
              <a:rPr sz="2400" spc="-40" dirty="0">
                <a:latin typeface="Times New Roman" panose="02020603050405020304" pitchFamily="18" charset="0"/>
                <a:cs typeface="Times New Roman" panose="02020603050405020304" pitchFamily="18" charset="0"/>
              </a:rPr>
              <a:t>this </a:t>
            </a:r>
            <a:r>
              <a:rPr sz="2400" spc="-114" dirty="0">
                <a:latin typeface="Times New Roman" panose="02020603050405020304" pitchFamily="18" charset="0"/>
                <a:cs typeface="Times New Roman" panose="02020603050405020304" pitchFamily="18" charset="0"/>
              </a:rPr>
              <a:t>process, </a:t>
            </a:r>
            <a:r>
              <a:rPr sz="2400" spc="-20" dirty="0">
                <a:latin typeface="Times New Roman" panose="02020603050405020304" pitchFamily="18" charset="0"/>
                <a:cs typeface="Times New Roman" panose="02020603050405020304" pitchFamily="18" charset="0"/>
              </a:rPr>
              <a:t>the </a:t>
            </a:r>
            <a:r>
              <a:rPr sz="2400" spc="-265" dirty="0">
                <a:latin typeface="Times New Roman" panose="02020603050405020304" pitchFamily="18" charset="0"/>
                <a:cs typeface="Times New Roman" panose="02020603050405020304" pitchFamily="18" charset="0"/>
              </a:rPr>
              <a:t>DNS </a:t>
            </a:r>
            <a:r>
              <a:rPr sz="2400" spc="-85" dirty="0">
                <a:latin typeface="Times New Roman" panose="02020603050405020304" pitchFamily="18" charset="0"/>
                <a:cs typeface="Times New Roman" panose="02020603050405020304" pitchFamily="18" charset="0"/>
              </a:rPr>
              <a:t>server </a:t>
            </a:r>
            <a:r>
              <a:rPr sz="2400" spc="-40" dirty="0">
                <a:latin typeface="Times New Roman" panose="02020603050405020304" pitchFamily="18" charset="0"/>
                <a:cs typeface="Times New Roman" panose="02020603050405020304" pitchFamily="18" charset="0"/>
              </a:rPr>
              <a:t>might </a:t>
            </a:r>
            <a:r>
              <a:rPr sz="2400" spc="-105" dirty="0">
                <a:latin typeface="Times New Roman" panose="02020603050405020304" pitchFamily="18" charset="0"/>
                <a:cs typeface="Times New Roman" panose="02020603050405020304" pitchFamily="18" charset="0"/>
              </a:rPr>
              <a:t>also </a:t>
            </a:r>
            <a:r>
              <a:rPr sz="2400" spc="-60" dirty="0">
                <a:latin typeface="Times New Roman" panose="02020603050405020304" pitchFamily="18" charset="0"/>
                <a:cs typeface="Times New Roman" panose="02020603050405020304" pitchFamily="18" charset="0"/>
              </a:rPr>
              <a:t>query </a:t>
            </a:r>
            <a:r>
              <a:rPr sz="2400" spc="-25" dirty="0">
                <a:latin typeface="Times New Roman" panose="02020603050405020304" pitchFamily="18" charset="0"/>
                <a:cs typeface="Times New Roman" panose="02020603050405020304" pitchFamily="18" charset="0"/>
              </a:rPr>
              <a:t>other </a:t>
            </a:r>
            <a:r>
              <a:rPr sz="2400" spc="-260" dirty="0">
                <a:latin typeface="Times New Roman" panose="02020603050405020304" pitchFamily="18" charset="0"/>
                <a:cs typeface="Times New Roman" panose="02020603050405020304" pitchFamily="18" charset="0"/>
              </a:rPr>
              <a:t>DNS </a:t>
            </a:r>
            <a:r>
              <a:rPr sz="2400" spc="-85" dirty="0">
                <a:latin typeface="Times New Roman" panose="02020603050405020304" pitchFamily="18" charset="0"/>
                <a:cs typeface="Times New Roman" panose="02020603050405020304" pitchFamily="18" charset="0"/>
              </a:rPr>
              <a:t>server's </a:t>
            </a:r>
            <a:r>
              <a:rPr sz="2400" spc="-25" dirty="0">
                <a:latin typeface="Times New Roman" panose="02020603050405020304" pitchFamily="18" charset="0"/>
                <a:cs typeface="Times New Roman" panose="02020603050405020304" pitchFamily="18" charset="0"/>
              </a:rPr>
              <a:t>in </a:t>
            </a:r>
            <a:r>
              <a:rPr sz="2400" spc="-20" dirty="0">
                <a:latin typeface="Times New Roman" panose="02020603050405020304" pitchFamily="18" charset="0"/>
                <a:cs typeface="Times New Roman" panose="02020603050405020304" pitchFamily="18" charset="0"/>
              </a:rPr>
              <a:t>the internet</a:t>
            </a:r>
            <a:r>
              <a:rPr sz="2400" spc="-29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of  </a:t>
            </a:r>
            <a:r>
              <a:rPr sz="2400" spc="-20" dirty="0">
                <a:latin typeface="Times New Roman" panose="02020603050405020304" pitchFamily="18" charset="0"/>
                <a:cs typeface="Times New Roman" panose="02020603050405020304" pitchFamily="18" charset="0"/>
              </a:rPr>
              <a:t>the </a:t>
            </a:r>
            <a:r>
              <a:rPr sz="2400" spc="-95" dirty="0">
                <a:latin typeface="Times New Roman" panose="02020603050405020304" pitchFamily="18" charset="0"/>
                <a:cs typeface="Times New Roman" panose="02020603050405020304" pitchFamily="18" charset="0"/>
              </a:rPr>
              <a:t>sender’s </a:t>
            </a:r>
            <a:r>
              <a:rPr sz="2400" spc="-75" dirty="0">
                <a:latin typeface="Times New Roman" panose="02020603050405020304" pitchFamily="18" charset="0"/>
                <a:cs typeface="Times New Roman" panose="02020603050405020304" pitchFamily="18" charset="0"/>
              </a:rPr>
              <a:t>behalf, </a:t>
            </a:r>
            <a:r>
              <a:rPr sz="2400" spc="-10" dirty="0">
                <a:latin typeface="Times New Roman" panose="02020603050405020304" pitchFamily="18" charset="0"/>
                <a:cs typeface="Times New Roman" panose="02020603050405020304" pitchFamily="18" charset="0"/>
              </a:rPr>
              <a:t>for </a:t>
            </a:r>
            <a:r>
              <a:rPr sz="2400" spc="-20" dirty="0">
                <a:latin typeface="Times New Roman" panose="02020603050405020304" pitchFamily="18" charset="0"/>
                <a:cs typeface="Times New Roman" panose="02020603050405020304" pitchFamily="18" charset="0"/>
              </a:rPr>
              <a:t>the</a:t>
            </a:r>
            <a:r>
              <a:rPr sz="2400" spc="-345" dirty="0">
                <a:latin typeface="Times New Roman" panose="02020603050405020304" pitchFamily="18" charset="0"/>
                <a:cs typeface="Times New Roman" panose="02020603050405020304" pitchFamily="18" charset="0"/>
              </a:rPr>
              <a:t> </a:t>
            </a:r>
            <a:r>
              <a:rPr sz="2400" spc="-120" dirty="0">
                <a:latin typeface="Times New Roman" panose="02020603050405020304" pitchFamily="18" charset="0"/>
                <a:cs typeface="Times New Roman" panose="02020603050405020304" pitchFamily="18" charset="0"/>
              </a:rPr>
              <a:t>answer.</a:t>
            </a:r>
            <a:endParaRPr sz="2400" dirty="0">
              <a:latin typeface="Times New Roman" panose="02020603050405020304" pitchFamily="18" charset="0"/>
              <a:cs typeface="Times New Roman" panose="02020603050405020304" pitchFamily="18" charset="0"/>
            </a:endParaRPr>
          </a:p>
          <a:p>
            <a:pPr marL="469265" marR="173990" indent="-456565">
              <a:lnSpc>
                <a:spcPct val="90100"/>
              </a:lnSpc>
              <a:spcBef>
                <a:spcPts val="1355"/>
              </a:spcBef>
              <a:buClr>
                <a:srgbClr val="9DBEBD"/>
              </a:buClr>
              <a:buAutoNum type="arabicPeriod" startAt="2"/>
              <a:tabLst>
                <a:tab pos="469265" algn="l"/>
                <a:tab pos="469900" algn="l"/>
              </a:tabLst>
            </a:pPr>
            <a:r>
              <a:rPr sz="2400" b="1" spc="-120" dirty="0">
                <a:latin typeface="Times New Roman" panose="02020603050405020304" pitchFamily="18" charset="0"/>
                <a:cs typeface="Times New Roman" panose="02020603050405020304" pitchFamily="18" charset="0"/>
              </a:rPr>
              <a:t>Iterative query </a:t>
            </a:r>
            <a:r>
              <a:rPr sz="2400" b="1" spc="-75" dirty="0">
                <a:latin typeface="Times New Roman" panose="02020603050405020304" pitchFamily="18" charset="0"/>
                <a:cs typeface="Times New Roman" panose="02020603050405020304" pitchFamily="18" charset="0"/>
              </a:rPr>
              <a:t>OR </a:t>
            </a:r>
            <a:r>
              <a:rPr sz="2400" b="1" spc="-120" dirty="0">
                <a:latin typeface="Times New Roman" panose="02020603050405020304" pitchFamily="18" charset="0"/>
                <a:cs typeface="Times New Roman" panose="02020603050405020304" pitchFamily="18" charset="0"/>
              </a:rPr>
              <a:t>Nonrecursive </a:t>
            </a:r>
            <a:r>
              <a:rPr sz="2400" b="1" spc="-130" dirty="0">
                <a:latin typeface="Times New Roman" panose="02020603050405020304" pitchFamily="18" charset="0"/>
                <a:cs typeface="Times New Roman" panose="02020603050405020304" pitchFamily="18" charset="0"/>
              </a:rPr>
              <a:t>query: </a:t>
            </a:r>
            <a:r>
              <a:rPr sz="2400" spc="-60" dirty="0">
                <a:latin typeface="Times New Roman" panose="02020603050405020304" pitchFamily="18" charset="0"/>
                <a:cs typeface="Times New Roman" panose="02020603050405020304" pitchFamily="18" charset="0"/>
              </a:rPr>
              <a:t>In </a:t>
            </a:r>
            <a:r>
              <a:rPr sz="2400" spc="-110" dirty="0">
                <a:latin typeface="Times New Roman" panose="02020603050405020304" pitchFamily="18" charset="0"/>
                <a:cs typeface="Times New Roman" panose="02020603050405020304" pitchFamily="18" charset="0"/>
              </a:rPr>
              <a:t>an </a:t>
            </a:r>
            <a:r>
              <a:rPr sz="2400" spc="-40" dirty="0">
                <a:latin typeface="Times New Roman" panose="02020603050405020304" pitchFamily="18" charset="0"/>
                <a:cs typeface="Times New Roman" panose="02020603050405020304" pitchFamily="18" charset="0"/>
              </a:rPr>
              <a:t>iterative </a:t>
            </a:r>
            <a:r>
              <a:rPr sz="2400" spc="-85" dirty="0">
                <a:latin typeface="Times New Roman" panose="02020603050405020304" pitchFamily="18" charset="0"/>
                <a:cs typeface="Times New Roman" panose="02020603050405020304" pitchFamily="18" charset="0"/>
              </a:rPr>
              <a:t>query, </a:t>
            </a:r>
            <a:r>
              <a:rPr sz="2400" spc="-20" dirty="0">
                <a:latin typeface="Times New Roman" panose="02020603050405020304" pitchFamily="18" charset="0"/>
                <a:cs typeface="Times New Roman" panose="02020603050405020304" pitchFamily="18" charset="0"/>
              </a:rPr>
              <a:t>the </a:t>
            </a:r>
            <a:r>
              <a:rPr sz="2400" spc="-100" dirty="0">
                <a:latin typeface="Times New Roman" panose="02020603050405020304" pitchFamily="18" charset="0"/>
                <a:cs typeface="Times New Roman" panose="02020603050405020304" pitchFamily="18" charset="0"/>
              </a:rPr>
              <a:t>name </a:t>
            </a:r>
            <a:r>
              <a:rPr sz="2400" spc="-105" dirty="0">
                <a:latin typeface="Times New Roman" panose="02020603050405020304" pitchFamily="18" charset="0"/>
                <a:cs typeface="Times New Roman" panose="02020603050405020304" pitchFamily="18" charset="0"/>
              </a:rPr>
              <a:t>server, </a:t>
            </a:r>
            <a:r>
              <a:rPr sz="2400" spc="5" dirty="0">
                <a:latin typeface="Times New Roman" panose="02020603050405020304" pitchFamily="18" charset="0"/>
                <a:cs typeface="Times New Roman" panose="02020603050405020304" pitchFamily="18" charset="0"/>
              </a:rPr>
              <a:t>will </a:t>
            </a:r>
            <a:r>
              <a:rPr sz="2400" spc="-5" dirty="0">
                <a:latin typeface="Times New Roman" panose="02020603050405020304" pitchFamily="18" charset="0"/>
                <a:cs typeface="Times New Roman" panose="02020603050405020304" pitchFamily="18" charset="0"/>
              </a:rPr>
              <a:t>not </a:t>
            </a:r>
            <a:r>
              <a:rPr sz="2400" spc="-120" dirty="0">
                <a:latin typeface="Times New Roman" panose="02020603050405020304" pitchFamily="18" charset="0"/>
                <a:cs typeface="Times New Roman" panose="02020603050405020304" pitchFamily="18" charset="0"/>
              </a:rPr>
              <a:t>go  </a:t>
            </a:r>
            <a:r>
              <a:rPr sz="2400" spc="-95" dirty="0">
                <a:latin typeface="Times New Roman" panose="02020603050405020304" pitchFamily="18" charset="0"/>
                <a:cs typeface="Times New Roman" panose="02020603050405020304" pitchFamily="18" charset="0"/>
              </a:rPr>
              <a:t>and</a:t>
            </a:r>
            <a:r>
              <a:rPr sz="2400" spc="-100" dirty="0">
                <a:latin typeface="Times New Roman" panose="02020603050405020304" pitchFamily="18" charset="0"/>
                <a:cs typeface="Times New Roman" panose="02020603050405020304" pitchFamily="18" charset="0"/>
              </a:rPr>
              <a:t> </a:t>
            </a:r>
            <a:r>
              <a:rPr sz="2400" spc="-50" dirty="0">
                <a:latin typeface="Times New Roman" panose="02020603050405020304" pitchFamily="18" charset="0"/>
                <a:cs typeface="Times New Roman" panose="02020603050405020304" pitchFamily="18" charset="0"/>
              </a:rPr>
              <a:t>fetch</a:t>
            </a:r>
            <a:r>
              <a:rPr sz="2400" spc="-100"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the</a:t>
            </a:r>
            <a:r>
              <a:rPr sz="2400" spc="-100" dirty="0">
                <a:latin typeface="Times New Roman" panose="02020603050405020304" pitchFamily="18" charset="0"/>
                <a:cs typeface="Times New Roman" panose="02020603050405020304" pitchFamily="18" charset="0"/>
              </a:rPr>
              <a:t> </a:t>
            </a:r>
            <a:r>
              <a:rPr sz="2400" spc="-65" dirty="0">
                <a:latin typeface="Times New Roman" panose="02020603050405020304" pitchFamily="18" charset="0"/>
                <a:cs typeface="Times New Roman" panose="02020603050405020304" pitchFamily="18" charset="0"/>
              </a:rPr>
              <a:t>complete</a:t>
            </a:r>
            <a:r>
              <a:rPr sz="2400" spc="-100" dirty="0">
                <a:latin typeface="Times New Roman" panose="02020603050405020304" pitchFamily="18" charset="0"/>
                <a:cs typeface="Times New Roman" panose="02020603050405020304" pitchFamily="18" charset="0"/>
              </a:rPr>
              <a:t> </a:t>
            </a:r>
            <a:r>
              <a:rPr sz="2400" spc="-95" dirty="0">
                <a:latin typeface="Times New Roman" panose="02020603050405020304" pitchFamily="18" charset="0"/>
                <a:cs typeface="Times New Roman" panose="02020603050405020304" pitchFamily="18" charset="0"/>
              </a:rPr>
              <a:t>answer</a:t>
            </a:r>
            <a:r>
              <a:rPr sz="2400" spc="-1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for</a:t>
            </a:r>
            <a:r>
              <a:rPr sz="2400" spc="-110"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the</a:t>
            </a:r>
            <a:r>
              <a:rPr sz="2400" spc="-105" dirty="0">
                <a:latin typeface="Times New Roman" panose="02020603050405020304" pitchFamily="18" charset="0"/>
                <a:cs typeface="Times New Roman" panose="02020603050405020304" pitchFamily="18" charset="0"/>
              </a:rPr>
              <a:t> </a:t>
            </a:r>
            <a:r>
              <a:rPr sz="2400" spc="-100" dirty="0">
                <a:latin typeface="Times New Roman" panose="02020603050405020304" pitchFamily="18" charset="0"/>
                <a:cs typeface="Times New Roman" panose="02020603050405020304" pitchFamily="18" charset="0"/>
              </a:rPr>
              <a:t>sender’s</a:t>
            </a:r>
            <a:r>
              <a:rPr sz="2400" spc="-85" dirty="0">
                <a:latin typeface="Times New Roman" panose="02020603050405020304" pitchFamily="18" charset="0"/>
                <a:cs typeface="Times New Roman" panose="02020603050405020304" pitchFamily="18" charset="0"/>
              </a:rPr>
              <a:t> query,</a:t>
            </a:r>
            <a:r>
              <a:rPr sz="2400" spc="-114"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but</a:t>
            </a:r>
            <a:r>
              <a:rPr sz="2400" spc="-12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will</a:t>
            </a:r>
            <a:r>
              <a:rPr sz="2400" spc="-95" dirty="0">
                <a:latin typeface="Times New Roman" panose="02020603050405020304" pitchFamily="18" charset="0"/>
                <a:cs typeface="Times New Roman" panose="02020603050405020304" pitchFamily="18" charset="0"/>
              </a:rPr>
              <a:t> </a:t>
            </a:r>
            <a:r>
              <a:rPr sz="2400" spc="-100" dirty="0">
                <a:latin typeface="Times New Roman" panose="02020603050405020304" pitchFamily="18" charset="0"/>
                <a:cs typeface="Times New Roman" panose="02020603050405020304" pitchFamily="18" charset="0"/>
              </a:rPr>
              <a:t>give </a:t>
            </a:r>
            <a:r>
              <a:rPr sz="2400" spc="-114" dirty="0">
                <a:latin typeface="Times New Roman" panose="02020603050405020304" pitchFamily="18" charset="0"/>
                <a:cs typeface="Times New Roman" panose="02020603050405020304" pitchFamily="18" charset="0"/>
              </a:rPr>
              <a:t>back</a:t>
            </a:r>
            <a:r>
              <a:rPr sz="2400" spc="-105" dirty="0">
                <a:latin typeface="Times New Roman" panose="02020603050405020304" pitchFamily="18" charset="0"/>
                <a:cs typeface="Times New Roman" panose="02020603050405020304" pitchFamily="18" charset="0"/>
              </a:rPr>
              <a:t> </a:t>
            </a:r>
            <a:r>
              <a:rPr sz="2400" spc="-155" dirty="0">
                <a:latin typeface="Times New Roman" panose="02020603050405020304" pitchFamily="18" charset="0"/>
                <a:cs typeface="Times New Roman" panose="02020603050405020304" pitchFamily="18" charset="0"/>
              </a:rPr>
              <a:t>a</a:t>
            </a:r>
            <a:r>
              <a:rPr sz="2400" spc="-100" dirty="0">
                <a:latin typeface="Times New Roman" panose="02020603050405020304" pitchFamily="18" charset="0"/>
                <a:cs typeface="Times New Roman" panose="02020603050405020304" pitchFamily="18" charset="0"/>
              </a:rPr>
              <a:t> </a:t>
            </a:r>
            <a:r>
              <a:rPr sz="2400" spc="-45" dirty="0">
                <a:latin typeface="Times New Roman" panose="02020603050405020304" pitchFamily="18" charset="0"/>
                <a:cs typeface="Times New Roman" panose="02020603050405020304" pitchFamily="18" charset="0"/>
              </a:rPr>
              <a:t>referral</a:t>
            </a:r>
            <a:r>
              <a:rPr sz="2400" spc="-85"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to</a:t>
            </a:r>
            <a:r>
              <a:rPr sz="2400" spc="-11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other  </a:t>
            </a:r>
            <a:r>
              <a:rPr sz="2400" spc="-265" dirty="0">
                <a:latin typeface="Times New Roman" panose="02020603050405020304" pitchFamily="18" charset="0"/>
                <a:cs typeface="Times New Roman" panose="02020603050405020304" pitchFamily="18" charset="0"/>
              </a:rPr>
              <a:t>DNS </a:t>
            </a:r>
            <a:r>
              <a:rPr sz="2400" spc="-85" dirty="0">
                <a:latin typeface="Times New Roman" panose="02020603050405020304" pitchFamily="18" charset="0"/>
                <a:cs typeface="Times New Roman" panose="02020603050405020304" pitchFamily="18" charset="0"/>
              </a:rPr>
              <a:t>server's, </a:t>
            </a:r>
            <a:r>
              <a:rPr sz="2400" spc="-55" dirty="0">
                <a:latin typeface="Times New Roman" panose="02020603050405020304" pitchFamily="18" charset="0"/>
                <a:cs typeface="Times New Roman" panose="02020603050405020304" pitchFamily="18" charset="0"/>
              </a:rPr>
              <a:t>which </a:t>
            </a:r>
            <a:r>
              <a:rPr sz="2400" spc="-40" dirty="0">
                <a:latin typeface="Times New Roman" panose="02020603050405020304" pitchFamily="18" charset="0"/>
                <a:cs typeface="Times New Roman" panose="02020603050405020304" pitchFamily="18" charset="0"/>
              </a:rPr>
              <a:t>might </a:t>
            </a:r>
            <a:r>
              <a:rPr sz="2400" spc="-125" dirty="0">
                <a:latin typeface="Times New Roman" panose="02020603050405020304" pitchFamily="18" charset="0"/>
                <a:cs typeface="Times New Roman" panose="02020603050405020304" pitchFamily="18" charset="0"/>
              </a:rPr>
              <a:t>have </a:t>
            </a:r>
            <a:r>
              <a:rPr sz="2400" spc="-20" dirty="0">
                <a:latin typeface="Times New Roman" panose="02020603050405020304" pitchFamily="18" charset="0"/>
                <a:cs typeface="Times New Roman" panose="02020603050405020304" pitchFamily="18" charset="0"/>
              </a:rPr>
              <a:t>the</a:t>
            </a:r>
            <a:r>
              <a:rPr sz="2400" spc="-355" dirty="0">
                <a:latin typeface="Times New Roman" panose="02020603050405020304" pitchFamily="18" charset="0"/>
                <a:cs typeface="Times New Roman" panose="02020603050405020304" pitchFamily="18" charset="0"/>
              </a:rPr>
              <a:t> </a:t>
            </a:r>
            <a:r>
              <a:rPr sz="2400" spc="-120" dirty="0">
                <a:latin typeface="Times New Roman" panose="02020603050405020304" pitchFamily="18" charset="0"/>
                <a:cs typeface="Times New Roman" panose="02020603050405020304" pitchFamily="18" charset="0"/>
              </a:rPr>
              <a:t>answer.</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27929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2509" y="702622"/>
            <a:ext cx="7808976" cy="1088136"/>
          </a:xfrm>
        </p:spPr>
        <p:txBody>
          <a:bodyPr>
            <a:normAutofit/>
          </a:bodyPr>
          <a:lstStyle/>
          <a:p>
            <a:r>
              <a:rPr lang="en-US" sz="4000" spc="-390" dirty="0"/>
              <a:t>Recursive </a:t>
            </a:r>
            <a:r>
              <a:rPr lang="en-US" sz="4000" spc="-120" dirty="0"/>
              <a:t>query/ </a:t>
            </a:r>
            <a:r>
              <a:rPr lang="en-US" sz="4000" spc="-175" dirty="0"/>
              <a:t>Iterative</a:t>
            </a:r>
            <a:r>
              <a:rPr lang="en-US" sz="4000" spc="-575" dirty="0"/>
              <a:t>  </a:t>
            </a:r>
            <a:r>
              <a:rPr lang="en-US" sz="4000" spc="-210" dirty="0"/>
              <a:t>query</a:t>
            </a:r>
            <a:endParaRPr lang="en-US" sz="4000" dirty="0"/>
          </a:p>
        </p:txBody>
      </p:sp>
      <p:sp>
        <p:nvSpPr>
          <p:cNvPr id="4" name="object 8"/>
          <p:cNvSpPr/>
          <p:nvPr/>
        </p:nvSpPr>
        <p:spPr>
          <a:xfrm>
            <a:off x="224444" y="2069869"/>
            <a:ext cx="3867912" cy="3760124"/>
          </a:xfrm>
          <a:prstGeom prst="rect">
            <a:avLst/>
          </a:prstGeom>
          <a:blipFill>
            <a:blip r:embed="rId3" cstate="print"/>
            <a:stretch>
              <a:fillRect/>
            </a:stretch>
          </a:blipFill>
        </p:spPr>
        <p:txBody>
          <a:bodyPr wrap="square" lIns="0" tIns="0" rIns="0" bIns="0" rtlCol="0"/>
          <a:lstStyle/>
          <a:p>
            <a:endParaRPr/>
          </a:p>
        </p:txBody>
      </p:sp>
      <p:sp>
        <p:nvSpPr>
          <p:cNvPr id="6" name="object 9"/>
          <p:cNvSpPr/>
          <p:nvPr/>
        </p:nvSpPr>
        <p:spPr>
          <a:xfrm>
            <a:off x="5033633" y="2069869"/>
            <a:ext cx="3599688" cy="3798224"/>
          </a:xfrm>
          <a:prstGeom prst="rect">
            <a:avLst/>
          </a:prstGeom>
          <a:blipFill>
            <a:blip r:embed="rId4" cstate="print"/>
            <a:stretch>
              <a:fillRect/>
            </a:stretch>
          </a:blipFill>
        </p:spPr>
        <p:txBody>
          <a:bodyPr wrap="square" lIns="0" tIns="0" rIns="0" bIns="0" rtlCol="0"/>
          <a:lstStyle/>
          <a:p>
            <a:endParaRPr/>
          </a:p>
        </p:txBody>
      </p:sp>
      <p:sp>
        <p:nvSpPr>
          <p:cNvPr id="7" name="object 6"/>
          <p:cNvSpPr txBox="1"/>
          <p:nvPr/>
        </p:nvSpPr>
        <p:spPr>
          <a:xfrm>
            <a:off x="808401" y="5869709"/>
            <a:ext cx="3043555" cy="228268"/>
          </a:xfrm>
          <a:prstGeom prst="rect">
            <a:avLst/>
          </a:prstGeom>
        </p:spPr>
        <p:txBody>
          <a:bodyPr vert="horz" wrap="square" lIns="0" tIns="12700" rIns="0" bIns="0" rtlCol="0">
            <a:spAutoFit/>
          </a:bodyPr>
          <a:lstStyle/>
          <a:p>
            <a:pPr marL="12700">
              <a:lnSpc>
                <a:spcPct val="100000"/>
              </a:lnSpc>
              <a:spcBef>
                <a:spcPts val="100"/>
              </a:spcBef>
            </a:pPr>
            <a:r>
              <a:rPr sz="1400" b="1" spc="-105" dirty="0">
                <a:latin typeface="Trebuchet MS"/>
                <a:cs typeface="Trebuchet MS"/>
              </a:rPr>
              <a:t>Fig: </a:t>
            </a:r>
            <a:r>
              <a:rPr sz="1400" b="1" spc="-40" dirty="0">
                <a:latin typeface="Trebuchet MS"/>
                <a:cs typeface="Trebuchet MS"/>
              </a:rPr>
              <a:t>A </a:t>
            </a:r>
            <a:r>
              <a:rPr sz="1400" b="1" spc="-85" dirty="0">
                <a:latin typeface="Trebuchet MS"/>
                <a:cs typeface="Trebuchet MS"/>
              </a:rPr>
              <a:t>query chain </a:t>
            </a:r>
            <a:r>
              <a:rPr sz="1400" b="1" spc="-70" dirty="0">
                <a:latin typeface="Trebuchet MS"/>
                <a:cs typeface="Trebuchet MS"/>
              </a:rPr>
              <a:t>with</a:t>
            </a:r>
            <a:r>
              <a:rPr lang="en-US" sz="1400" b="1" spc="-70" dirty="0">
                <a:latin typeface="Trebuchet MS"/>
                <a:cs typeface="Trebuchet MS"/>
              </a:rPr>
              <a:t> </a:t>
            </a:r>
            <a:r>
              <a:rPr sz="1400" b="1" spc="-330" dirty="0">
                <a:latin typeface="Trebuchet MS"/>
                <a:cs typeface="Trebuchet MS"/>
              </a:rPr>
              <a:t> </a:t>
            </a:r>
            <a:r>
              <a:rPr sz="1400" b="1" spc="-90" dirty="0">
                <a:latin typeface="Trebuchet MS"/>
                <a:cs typeface="Trebuchet MS"/>
              </a:rPr>
              <a:t>iterative queries.</a:t>
            </a:r>
            <a:endParaRPr sz="1400" dirty="0">
              <a:latin typeface="Trebuchet MS"/>
              <a:cs typeface="Trebuchet MS"/>
            </a:endParaRPr>
          </a:p>
        </p:txBody>
      </p:sp>
      <p:sp>
        <p:nvSpPr>
          <p:cNvPr id="8" name="object 7"/>
          <p:cNvSpPr txBox="1"/>
          <p:nvPr/>
        </p:nvSpPr>
        <p:spPr>
          <a:xfrm>
            <a:off x="5282807" y="5897852"/>
            <a:ext cx="3101340" cy="228268"/>
          </a:xfrm>
          <a:prstGeom prst="rect">
            <a:avLst/>
          </a:prstGeom>
        </p:spPr>
        <p:txBody>
          <a:bodyPr vert="horz" wrap="square" lIns="0" tIns="12700" rIns="0" bIns="0" rtlCol="0">
            <a:spAutoFit/>
          </a:bodyPr>
          <a:lstStyle/>
          <a:p>
            <a:pPr marL="12700">
              <a:lnSpc>
                <a:spcPct val="100000"/>
              </a:lnSpc>
              <a:spcBef>
                <a:spcPts val="100"/>
              </a:spcBef>
            </a:pPr>
            <a:r>
              <a:rPr sz="1400" b="1" spc="-105" dirty="0">
                <a:latin typeface="Trebuchet MS"/>
                <a:cs typeface="Trebuchet MS"/>
              </a:rPr>
              <a:t>Fig: </a:t>
            </a:r>
            <a:r>
              <a:rPr sz="1400" b="1" spc="-40" dirty="0">
                <a:latin typeface="Trebuchet MS"/>
                <a:cs typeface="Trebuchet MS"/>
              </a:rPr>
              <a:t>A </a:t>
            </a:r>
            <a:r>
              <a:rPr sz="1400" b="1" spc="-85" dirty="0">
                <a:latin typeface="Trebuchet MS"/>
                <a:cs typeface="Trebuchet MS"/>
              </a:rPr>
              <a:t>query chain </a:t>
            </a:r>
            <a:r>
              <a:rPr sz="1400" b="1" spc="-70" dirty="0">
                <a:latin typeface="Trebuchet MS"/>
                <a:cs typeface="Trebuchet MS"/>
              </a:rPr>
              <a:t>with </a:t>
            </a:r>
            <a:r>
              <a:rPr sz="1400" b="1" spc="-95" dirty="0">
                <a:latin typeface="Trebuchet MS"/>
                <a:cs typeface="Trebuchet MS"/>
              </a:rPr>
              <a:t>recursive</a:t>
            </a:r>
            <a:r>
              <a:rPr sz="1400" b="1" spc="-335" dirty="0">
                <a:latin typeface="Trebuchet MS"/>
                <a:cs typeface="Trebuchet MS"/>
              </a:rPr>
              <a:t> </a:t>
            </a:r>
            <a:r>
              <a:rPr lang="en-US" sz="1400" b="1" spc="-335" dirty="0">
                <a:latin typeface="Trebuchet MS"/>
                <a:cs typeface="Trebuchet MS"/>
              </a:rPr>
              <a:t> </a:t>
            </a:r>
            <a:r>
              <a:rPr sz="1400" b="1" spc="-90" dirty="0">
                <a:latin typeface="Trebuchet MS"/>
                <a:cs typeface="Trebuchet MS"/>
              </a:rPr>
              <a:t>queries.</a:t>
            </a:r>
            <a:endParaRPr sz="1400" dirty="0">
              <a:latin typeface="Trebuchet MS"/>
              <a:cs typeface="Trebuchet MS"/>
            </a:endParaRPr>
          </a:p>
        </p:txBody>
      </p:sp>
    </p:spTree>
    <p:extLst>
      <p:ext uri="{BB962C8B-B14F-4D97-AF65-F5344CB8AC3E}">
        <p14:creationId xmlns:p14="http://schemas.microsoft.com/office/powerpoint/2010/main" val="40471819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6" name="Rectangle 5"/>
          <p:cNvSpPr/>
          <p:nvPr/>
        </p:nvSpPr>
        <p:spPr>
          <a:xfrm>
            <a:off x="335494" y="2105561"/>
            <a:ext cx="7589306" cy="1631216"/>
          </a:xfrm>
          <a:prstGeom prst="rect">
            <a:avLst/>
          </a:prstGeom>
        </p:spPr>
        <p:txBody>
          <a:bodyPr wrap="square">
            <a:spAutoFit/>
          </a:bodyPr>
          <a:lstStyle/>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Data Communications and Networking</a:t>
            </a:r>
            <a:r>
              <a:rPr lang="en-US" sz="20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B. A. </a:t>
            </a:r>
            <a:r>
              <a:rPr lang="en-US" sz="2000" i="1" dirty="0" err="1">
                <a:latin typeface="Times New Roman" panose="02020603050405020304" pitchFamily="18" charset="0"/>
                <a:cs typeface="Times New Roman" panose="02020603050405020304" pitchFamily="18" charset="0"/>
              </a:rPr>
              <a:t>Forouzan</a:t>
            </a:r>
            <a:r>
              <a:rPr lang="en-US" sz="2000" dirty="0">
                <a:latin typeface="Times New Roman" panose="02020603050405020304" pitchFamily="18" charset="0"/>
                <a:cs typeface="Times New Roman" panose="02020603050405020304" pitchFamily="18" charset="0"/>
              </a:rPr>
              <a:t>, McGraw-Hill, Inc., Fourth Edition, 2007, USA.</a:t>
            </a:r>
          </a:p>
          <a:p>
            <a:pPr marL="971550" lvl="1" indent="-514350" algn="just">
              <a:buFont typeface="+mj-lt"/>
              <a:buAutoNum type="arabicPeriod"/>
            </a:pPr>
            <a:r>
              <a:rPr lang="en-US" sz="2000" dirty="0">
                <a:hlinkClick r:id="rId2"/>
              </a:rPr>
              <a:t>https://www.geeksforgeeks.org/basics-computer-networking/</a:t>
            </a:r>
            <a:endParaRPr lang="en-US" sz="2000" dirty="0"/>
          </a:p>
          <a:p>
            <a:pPr marL="971550" lvl="1" indent="-514350" algn="just">
              <a:buFont typeface="+mj-lt"/>
              <a:buAutoNum type="arabicPeriod"/>
            </a:pPr>
            <a:r>
              <a:rPr lang="en-US" sz="2000" dirty="0">
                <a:hlinkClick r:id="rId3"/>
              </a:rPr>
              <a:t>https://www.tutorialspoint.com/computer_fundamentals/computer_networking.htm</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49698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Content Placeholder 2">
            <a:extLst>
              <a:ext uri="{FF2B5EF4-FFF2-40B4-BE49-F238E27FC236}">
                <a16:creationId xmlns:a16="http://schemas.microsoft.com/office/drawing/2014/main" id="{73A389DD-4CDA-4C45-A68C-DC9EEB6DC9BD}"/>
              </a:ext>
            </a:extLst>
          </p:cNvPr>
          <p:cNvSpPr txBox="1">
            <a:spLocks/>
          </p:cNvSpPr>
          <p:nvPr/>
        </p:nvSpPr>
        <p:spPr>
          <a:xfrm>
            <a:off x="-284019" y="1271443"/>
            <a:ext cx="9289474" cy="4351338"/>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endParaRPr lang="en-US" dirty="0"/>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Data Communications and Networking</a:t>
            </a:r>
            <a:r>
              <a:rPr lang="en-US" sz="20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B. A. </a:t>
            </a:r>
            <a:r>
              <a:rPr lang="en-US" sz="2000" i="1" dirty="0" err="1">
                <a:latin typeface="Times New Roman" panose="02020603050405020304" pitchFamily="18" charset="0"/>
                <a:cs typeface="Times New Roman" panose="02020603050405020304" pitchFamily="18" charset="0"/>
              </a:rPr>
              <a:t>Forouzan</a:t>
            </a:r>
            <a:r>
              <a:rPr lang="en-US" sz="2000" dirty="0">
                <a:latin typeface="Times New Roman" panose="02020603050405020304" pitchFamily="18" charset="0"/>
                <a:cs typeface="Times New Roman" panose="02020603050405020304" pitchFamily="18" charset="0"/>
              </a:rPr>
              <a:t>, McGraw-Hill, Inc., Fourth Edition, 2007, USA.</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Computer Networking: A Top-Down Approach</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J. F., Kurose, K. W. Ross</a:t>
            </a:r>
            <a:r>
              <a:rPr lang="en-US" sz="2000" dirty="0">
                <a:latin typeface="Times New Roman" panose="02020603050405020304" pitchFamily="18" charset="0"/>
                <a:cs typeface="Times New Roman" panose="02020603050405020304" pitchFamily="18" charset="0"/>
              </a:rPr>
              <a:t>, Pearson Education, Inc., Sixth Edition, USA.</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Official Cert Guide CCNA 200-301 , vol. 1</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W. Odom</a:t>
            </a:r>
            <a:r>
              <a:rPr lang="en-US" sz="2000" dirty="0">
                <a:latin typeface="Times New Roman" panose="02020603050405020304" pitchFamily="18" charset="0"/>
                <a:cs typeface="Times New Roman" panose="02020603050405020304" pitchFamily="18" charset="0"/>
              </a:rPr>
              <a:t>, Cisco Press, First Edition, 2019, USA.</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CCNA Routing and Switching</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T. </a:t>
            </a:r>
            <a:r>
              <a:rPr lang="en-US" sz="2000" i="1" dirty="0" err="1">
                <a:latin typeface="Times New Roman" panose="02020603050405020304" pitchFamily="18" charset="0"/>
                <a:cs typeface="Times New Roman" panose="02020603050405020304" pitchFamily="18" charset="0"/>
              </a:rPr>
              <a:t>Lammle</a:t>
            </a:r>
            <a:r>
              <a:rPr lang="en-US" sz="2000" dirty="0">
                <a:latin typeface="Times New Roman" panose="02020603050405020304" pitchFamily="18" charset="0"/>
                <a:cs typeface="Times New Roman" panose="02020603050405020304" pitchFamily="18" charset="0"/>
              </a:rPr>
              <a:t>, John Wily &amp; Sons, Second Edition, 2016, USA.</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TCP/IP Protocol Suite</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B. A. </a:t>
            </a:r>
            <a:r>
              <a:rPr lang="en-US" sz="2000" i="1" dirty="0" err="1">
                <a:latin typeface="Times New Roman" panose="02020603050405020304" pitchFamily="18" charset="0"/>
                <a:cs typeface="Times New Roman" panose="02020603050405020304" pitchFamily="18" charset="0"/>
              </a:rPr>
              <a:t>Forouzan</a:t>
            </a:r>
            <a:r>
              <a:rPr lang="en-US" sz="2000" dirty="0">
                <a:latin typeface="Times New Roman" panose="02020603050405020304" pitchFamily="18" charset="0"/>
                <a:cs typeface="Times New Roman" panose="02020603050405020304" pitchFamily="18" charset="0"/>
              </a:rPr>
              <a:t>, McGraw-Hill, Inc., Fourth Edition, 2009, USA. </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Data and Computer Communication</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W. Stallings</a:t>
            </a:r>
            <a:r>
              <a:rPr lang="en-US" sz="2000" dirty="0">
                <a:latin typeface="Times New Roman" panose="02020603050405020304" pitchFamily="18" charset="0"/>
                <a:cs typeface="Times New Roman" panose="02020603050405020304" pitchFamily="18" charset="0"/>
              </a:rPr>
              <a:t>, Pearson Education, Inc., 10</a:t>
            </a:r>
            <a:r>
              <a:rPr lang="en-US" sz="2000" baseline="30000" dirty="0">
                <a:latin typeface="Times New Roman" panose="02020603050405020304" pitchFamily="18" charset="0"/>
                <a:cs typeface="Times New Roman" panose="02020603050405020304" pitchFamily="18" charset="0"/>
              </a:rPr>
              <a:t>th</a:t>
            </a:r>
            <a:r>
              <a:rPr lang="en-US" sz="2000" dirty="0">
                <a:latin typeface="Times New Roman" panose="02020603050405020304" pitchFamily="18" charset="0"/>
                <a:cs typeface="Times New Roman" panose="02020603050405020304" pitchFamily="18" charset="0"/>
              </a:rPr>
              <a:t> Education, 2013, USA.</a:t>
            </a:r>
          </a:p>
        </p:txBody>
      </p:sp>
    </p:spTree>
    <p:extLst>
      <p:ext uri="{BB962C8B-B14F-4D97-AF65-F5344CB8AC3E}">
        <p14:creationId xmlns:p14="http://schemas.microsoft.com/office/powerpoint/2010/main" val="1923382373"/>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7C1B08CE58D0E4DB7DCF78F42E3FEBF" ma:contentTypeVersion="0" ma:contentTypeDescription="Create a new document." ma:contentTypeScope="" ma:versionID="4ee3c3012e66d01170a3114f1b2e7174">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BE308BC-B779-4DA0-B4E0-646BBB20439B}"/>
</file>

<file path=customXml/itemProps2.xml><?xml version="1.0" encoding="utf-8"?>
<ds:datastoreItem xmlns:ds="http://schemas.openxmlformats.org/officeDocument/2006/customXml" ds:itemID="{41C64599-73DB-43A5-9867-1DE1CAD11435}"/>
</file>

<file path=customXml/itemProps3.xml><?xml version="1.0" encoding="utf-8"?>
<ds:datastoreItem xmlns:ds="http://schemas.openxmlformats.org/officeDocument/2006/customXml" ds:itemID="{580DAFBE-A2CB-422B-8F16-22EF2C83FF79}"/>
</file>

<file path=docProps/app.xml><?xml version="1.0" encoding="utf-8"?>
<Properties xmlns="http://schemas.openxmlformats.org/officeDocument/2006/extended-properties" xmlns:vt="http://schemas.openxmlformats.org/officeDocument/2006/docPropsVTypes">
  <TotalTime>2100</TotalTime>
  <Words>1631</Words>
  <Application>Microsoft Office PowerPoint</Application>
  <PresentationFormat>On-screen Show (4:3)</PresentationFormat>
  <Paragraphs>130</Paragraphs>
  <Slides>24</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Corbel</vt:lpstr>
      <vt:lpstr>Times New Roman</vt:lpstr>
      <vt:lpstr>Trebuchet MS</vt:lpstr>
      <vt:lpstr>Wingdings</vt:lpstr>
      <vt:lpstr>Spectrum</vt:lpstr>
      <vt:lpstr>Application Layer Protocols</vt:lpstr>
      <vt:lpstr>Lecture Outline</vt:lpstr>
      <vt:lpstr>What is  Protocol? </vt:lpstr>
      <vt:lpstr>Different Layers  Protocol</vt:lpstr>
      <vt:lpstr>Protocol  Types </vt:lpstr>
      <vt:lpstr>PULL protocol:</vt:lpstr>
      <vt:lpstr>Application Layer  Protocol: HTTP</vt:lpstr>
      <vt:lpstr>Application Layer  Protocol: HTTP     (c  o  n  t   .) </vt:lpstr>
      <vt:lpstr> </vt:lpstr>
      <vt:lpstr>Application Layer  Protocol: HTTP     (c  o  n  t   .) </vt:lpstr>
      <vt:lpstr>Application Layer  Protocol: HTTP       runs on  T C       P </vt:lpstr>
      <vt:lpstr>Application Layer  Protocol: D   N    S </vt:lpstr>
      <vt:lpstr>DNS Contd..</vt:lpstr>
      <vt:lpstr>D    N     S  Hierarchy </vt:lpstr>
      <vt:lpstr>PowerPoint Presentation</vt:lpstr>
      <vt:lpstr>PowerPoint Presentation</vt:lpstr>
      <vt:lpstr>Internet Domain  Names </vt:lpstr>
      <vt:lpstr>Internet Domain Names  (cont .)</vt:lpstr>
      <vt:lpstr>PowerPoint Presentation</vt:lpstr>
      <vt:lpstr>PowerPoint Presentation</vt:lpstr>
      <vt:lpstr>Different types of D    N    S                                queries</vt:lpstr>
      <vt:lpstr>Recursive query/ Iterative  query</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Layer Protocols</dc:title>
  <dc:creator>Md. Sohidul Islam</dc:creator>
  <cp:lastModifiedBy>Afsah Sharmin</cp:lastModifiedBy>
  <cp:revision>8</cp:revision>
  <dcterms:created xsi:type="dcterms:W3CDTF">2020-10-17T12:16:20Z</dcterms:created>
  <dcterms:modified xsi:type="dcterms:W3CDTF">2022-09-27T05:01:08Z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0x010100D7C1B08CE58D0E4DB7DCF78F42E3FEBF</vt:lpwstr>
  </property>
</Properties>
</file>