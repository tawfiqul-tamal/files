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86" r:id="rId6"/>
    <p:sldId id="296" r:id="rId7"/>
    <p:sldId id="297" r:id="rId8"/>
    <p:sldId id="295" r:id="rId9"/>
    <p:sldId id="294" r:id="rId10"/>
    <p:sldId id="293" r:id="rId11"/>
    <p:sldId id="291" r:id="rId12"/>
    <p:sldId id="290" r:id="rId13"/>
    <p:sldId id="289" r:id="rId14"/>
    <p:sldId id="288" r:id="rId15"/>
    <p:sldId id="287" r:id="rId16"/>
    <p:sldId id="279" r:id="rId17"/>
    <p:sldId id="285" r:id="rId18"/>
    <p:sldId id="280" r:id="rId19"/>
    <p:sldId id="281" r:id="rId20"/>
    <p:sldId id="282" r:id="rId21"/>
    <p:sldId id="283" r:id="rId22"/>
    <p:sldId id="298" r:id="rId23"/>
    <p:sldId id="299" r:id="rId24"/>
    <p:sldId id="265" r:id="rId25"/>
    <p:sldId id="27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1FEC5-2C7A-4ABC-B51A-E65FD486D597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B9584-DF69-400B-A7CE-348FE89F8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2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Trivial File Transfer Protocol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Network Management Protocol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B9584-DF69-400B-A7CE-348FE89F8D3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stands for "teletype network". Historically,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provided access to a command-line interface on a remote host. However, because of serious security concerns when using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Telnet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over an open network such as the Internet, its use for this purpose has waned significantly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B9584-DF69-400B-A7CE-348FE89F8D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1676-E0C9-4BF4-994B-0DF35B499DAE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B7E2-BB22-4FC7-BE72-34B9D302F123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D9D2-E02F-4BCF-9994-8BD7355E2D98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7A3A-EBE8-4941-B6FB-E490045CB2F4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E44B-1207-41A4-B5D6-93C82B89060F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CB71-F9D2-441E-9E8F-FE2467B8D94F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FAE6-BACA-4E24-B8D8-E5279DE681E6}" type="datetime1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C070-673A-4F0B-8DFC-D47B1266481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A10A-C00B-4A71-B8CD-8F377551EF5D}" type="datetime1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E492-13C4-46BA-9D59-EDB4768BB037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6CAA-AA01-49A9-8947-9DE472F88F64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1F55-04BA-4BDB-9648-416F4BC644EC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94016-F0D1-4E92-A2E8-A6E271C3476D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7B65-5078-41DE-8994-C0D6019134A0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7267-8334-40EE-8DDF-975E581C582F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0BC1-DF0B-44DC-99A4-35266399E1BD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13B0465-9394-402D-8ACF-C97BBB6A17F3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MSI CN UG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 Protocols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66CE7B-3766-44DC-AA91-5F6BF1FC3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7701"/>
              </p:ext>
            </p:extLst>
          </p:nvPr>
        </p:nvGraphicFramePr>
        <p:xfrm>
          <a:off x="476205" y="5186042"/>
          <a:ext cx="8335798" cy="3787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0C15F-FC69-4946-9EAC-21D33246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C7866-F5CF-40DA-A3BA-4DE5D39FE679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36A4-1AB8-47DB-A48D-E126BDFD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59B93F-757F-46CC-8796-99840B75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Introduction to transport layer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Types of services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User datagram protocol (UDP)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Transmission control protocol (TCP)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TCP Three-way handshaking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TCP error control scenarios</a:t>
            </a:r>
          </a:p>
          <a:p>
            <a:pPr lvl="1"/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F894-FEAE-4448-BF68-8AF054EF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DF83-DA82-401A-96A7-DE15BCA934E9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34222-94BC-4DE4-B77E-351E175B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0CA1F-4CF2-446A-8A35-FE117254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FI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33F0262-5E57-4D90-A7E1-B2097391C9D2}"/>
              </a:ext>
            </a:extLst>
          </p:cNvPr>
          <p:cNvSpPr txBox="1">
            <a:spLocks/>
          </p:cNvSpPr>
          <p:nvPr/>
        </p:nvSpPr>
        <p:spPr>
          <a:xfrm>
            <a:off x="356714" y="2125895"/>
            <a:ext cx="8386594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transport layer is located between the network layer and the application layer. The transport layer is responsible for providing services to the application layer; it receives services from the network layer.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layer, ensures that the whole message arrives intact and in order, overseeing both error control and flow control at the source-to-destination level.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transport layer is responsible for the delivery of a message from one process to another.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02E25-981B-44DE-9B0B-522994CD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08CB-E70B-4B2D-BC63-C3F414BEA5F7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18685-C72B-4C18-8FBE-9115D2E1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E395-8CEA-4B13-9BA8-7C65BB1F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Types of Services</a:t>
            </a:r>
            <a:endParaRPr lang="en-FI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75DBA2-E79F-43C6-B11E-8324E7D605BB}"/>
              </a:ext>
            </a:extLst>
          </p:cNvPr>
          <p:cNvSpPr txBox="1">
            <a:spLocks/>
          </p:cNvSpPr>
          <p:nvPr/>
        </p:nvSpPr>
        <p:spPr>
          <a:xfrm>
            <a:off x="421341" y="2254114"/>
            <a:ext cx="8596668" cy="3880773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D34817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transport layer protocol can either be connectionless or connection-oriented.</a:t>
            </a:r>
          </a:p>
          <a:p>
            <a:pPr lvl="0">
              <a:buClr>
                <a:srgbClr val="D34817"/>
              </a:buClr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does connection mean?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permanent connection (or session) between source and destination devices established prior to forwarding any traffic.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establishment prepares the devices to communicate with one another.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session establishment, the devices negotiate the amount of traffic that can be forwarded at a given time</a:t>
            </a:r>
          </a:p>
          <a:p>
            <a:pPr lvl="1">
              <a:buClr>
                <a:srgbClr val="D34817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session is terminated only after all communication is completed.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DFF69-E293-43A5-A522-525D1BA0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46B3A-434F-4A3E-AD96-53092835550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CF369-EA74-424C-8AF6-94F10BAB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96B1CF-0B7B-42AA-9B47-BAC38250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Transport Layer Services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130118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366478" y="2017059"/>
            <a:ext cx="830131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</a:rPr>
              <a:t>Connectionless Service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connectionless service, the packets are sent from one party to another with no need for connection establishment or connection release.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packets are </a:t>
            </a:r>
            <a:r>
              <a:rPr 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numbered; they may be delayed or lost or may arrive out of sequence.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acknowledgment either.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connectionless.</a:t>
            </a:r>
            <a:endParaRPr lang="en-US" sz="2000" dirty="0"/>
          </a:p>
          <a:p>
            <a:pPr marL="342900" indent="-342900">
              <a:buClr>
                <a:srgbClr val="C00000"/>
              </a:buClr>
              <a:buSzPct val="110000"/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Connection Oriented </a:t>
            </a:r>
            <a:r>
              <a:rPr lang="en-US" sz="2200" i="1" dirty="0">
                <a:solidFill>
                  <a:srgbClr val="C00000"/>
                </a:solidFill>
              </a:rPr>
              <a:t>Service</a:t>
            </a: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connection-oriented service, a connection is first established between the sender and the receiver before data are transferred. </a:t>
            </a:r>
          </a:p>
          <a:p>
            <a:pPr marL="800100" lvl="1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 the end, the connection is released [1].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A0271-6ED4-4C66-A032-717E12D8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AC897-704C-467A-8839-BD0B28680FDD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A188-5F46-462E-A705-A9424B24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68C23-845F-4B9E-8D7D-CC6E99F6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7970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366478" y="2139948"/>
            <a:ext cx="830131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connectionless, unreliable transport protocol.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add anything to the services of IP except to provide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process-to­ process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instead of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host-to-host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very limited error checking.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Neither the client nor the server is obligated to keep track of the state of the communication session.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UDP is not concerned with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reliability or flow control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854B8-859A-4DC6-A165-7BEF4BB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66665-339B-4220-A8A9-A509E000F52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C2129-E9B6-455A-AC5D-0060113F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F6E8D-2BCD-48C6-A4AD-0137CCAA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88321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25E88-10A5-4930-8155-AED909183103}"/>
              </a:ext>
            </a:extLst>
          </p:cNvPr>
          <p:cNvSpPr/>
          <p:nvPr/>
        </p:nvSpPr>
        <p:spPr>
          <a:xfrm>
            <a:off x="421341" y="2195366"/>
            <a:ext cx="8301317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may be lost or received out of sequence without any UDP mechanisms to recover or reorder the data. 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reliability is required when using UDP as the transport protocol, it must be handled by the application [2].</a:t>
            </a:r>
          </a:p>
          <a:p>
            <a:pPr marL="457200" lvl="0" indent="-45720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low control overhead, limited error control and no flow control, it is faster.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89D9E-DA00-43B9-8741-A936FB50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9D8-DBDB-494C-8A78-D59EF649ECD9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2818-4297-4352-B108-1F367844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CFF04-DA2D-42B0-983A-1812EFC7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55525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User Datagram Protocol (UDP)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F24BD-B526-4735-A28B-A59CAAD01652}"/>
              </a:ext>
            </a:extLst>
          </p:cNvPr>
          <p:cNvSpPr/>
          <p:nvPr/>
        </p:nvSpPr>
        <p:spPr>
          <a:xfrm>
            <a:off x="476205" y="2144033"/>
            <a:ext cx="8191590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600" dirty="0">
                <a:solidFill>
                  <a:prstClr val="black"/>
                </a:solidFill>
                <a:latin typeface="Perpetua"/>
              </a:rPr>
              <a:t>Why UDP? </a:t>
            </a:r>
          </a:p>
          <a:p>
            <a:pPr marL="731520" lvl="1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dirty="0">
                <a:solidFill>
                  <a:prstClr val="black"/>
                </a:solidFill>
                <a:latin typeface="Perpetua"/>
              </a:rPr>
              <a:t>UDP is a very simple protocol using a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Perpetua"/>
              </a:rPr>
              <a:t>minimum of overhead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. If a process wants to send a small message and </a:t>
            </a:r>
            <a:r>
              <a:rPr lang="en-US" sz="2800" dirty="0">
                <a:solidFill>
                  <a:prstClr val="black"/>
                </a:solidFill>
                <a:highlight>
                  <a:srgbClr val="00FFFF"/>
                </a:highlight>
                <a:latin typeface="Perpetua"/>
              </a:rPr>
              <a:t>does not care much about reliability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, it can use UDP. Sending a small message by using UDP takes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much less interaction between the sender</a:t>
            </a:r>
            <a:r>
              <a:rPr lang="en-US" sz="2800" dirty="0">
                <a:solidFill>
                  <a:prstClr val="black"/>
                </a:solidFill>
                <a:latin typeface="Perpetua"/>
              </a:rPr>
              <a:t> and receiver than using TCP [2].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85095-E0AE-4FBD-87B8-D97C6818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EAB2-1A27-4162-8E39-8A8A1379243E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3E11-DEC8-418E-A32B-8F4ADDE0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5E3CA1-8CF2-4200-BA99-354E11F6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4272254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2963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A6045F-DA2E-4D14-A04C-6BFE9EE40067}"/>
              </a:ext>
            </a:extLst>
          </p:cNvPr>
          <p:cNvSpPr/>
          <p:nvPr/>
        </p:nvSpPr>
        <p:spPr>
          <a:xfrm>
            <a:off x="296650" y="2017059"/>
            <a:ext cx="8343686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TCP, like UDP, is a process-to-process (program-to-program) protocol.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TCP uses port numbers.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Unlike UDP, TCP is a </a:t>
            </a:r>
            <a:r>
              <a:rPr lang="en-US" sz="2800" dirty="0">
                <a:highlight>
                  <a:srgbClr val="FFFF00"/>
                </a:highlight>
                <a:latin typeface="Perpetua" panose="02020502060401020303" pitchFamily="18" charset="0"/>
              </a:rPr>
              <a:t>connection­ oriented protocol</a:t>
            </a:r>
            <a:r>
              <a:rPr lang="en-US" sz="2800" dirty="0">
                <a:latin typeface="Perpetua" panose="02020502060401020303" pitchFamily="18" charset="0"/>
              </a:rPr>
              <a:t>; it creates a virtual connection between two TCPs to send data.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Uses </a:t>
            </a:r>
            <a:r>
              <a:rPr lang="en-US" sz="2800" dirty="0">
                <a:highlight>
                  <a:srgbClr val="FFFF00"/>
                </a:highlight>
                <a:latin typeface="Perpetua" panose="02020502060401020303" pitchFamily="18" charset="0"/>
              </a:rPr>
              <a:t>extensive flow and error control </a:t>
            </a:r>
            <a:r>
              <a:rPr lang="en-US" sz="2800" dirty="0">
                <a:latin typeface="Perpetua" panose="02020502060401020303" pitchFamily="18" charset="0"/>
              </a:rPr>
              <a:t>mechanisms at the transport level. 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Perpetua" panose="02020502060401020303" pitchFamily="18" charset="0"/>
              </a:rPr>
              <a:t>Slower compared to UDP because of flow and error control mechanism</a:t>
            </a:r>
          </a:p>
          <a:p>
            <a:pPr marL="342900" indent="-34290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highlight>
                  <a:srgbClr val="00FF00"/>
                </a:highlight>
                <a:latin typeface="Perpetua" panose="02020502060401020303" pitchFamily="18" charset="0"/>
              </a:rPr>
              <a:t>Delivery of data is guaranteed</a:t>
            </a:r>
          </a:p>
          <a:p>
            <a:pPr algn="just">
              <a:buClr>
                <a:srgbClr val="C00000"/>
              </a:buClr>
            </a:pPr>
            <a:endParaRPr lang="en-US" sz="2200" dirty="0">
              <a:latin typeface="Perpetua" panose="02020502060401020303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AFAA3-6ADB-488F-95D2-20A83DF6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B571-7534-48FE-8D81-4CDD92B655CE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9C9F8-AA63-4877-B888-EA5426B2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7BD2E-C7C0-4F09-8C74-BB1F3BD4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101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73DA02-59D0-4F7C-98E1-E6E726747FAC}"/>
              </a:ext>
            </a:extLst>
          </p:cNvPr>
          <p:cNvSpPr/>
          <p:nvPr/>
        </p:nvSpPr>
        <p:spPr>
          <a:xfrm>
            <a:off x="122560" y="2077740"/>
            <a:ext cx="846140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Numbering System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software keeps track of the segments being transmitted or received, there are two fields called the </a:t>
            </a:r>
            <a:r>
              <a:rPr lang="en-US" sz="2000" dirty="0"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 number and the acknowledgment number.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two fields refer to the byte number and not the segment number. The numbering does not necessarily start from O. Instead, TCP generates a random number between 0 and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32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for the num­ber of the first byte.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bytes of data being transferred in each connection are numbered by TCP. The numbering starts with a randomly generated number.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example, if the random number happens to be 1057 and the total data to be sent are 6000 bytes, the bytes are numbered from 1057 to 7056.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605DA-8E0B-4D5C-946B-CADAB3B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A2BC-5E36-4D03-A132-C7C84B4B15A3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FFA81-AC1A-4D98-BDA0-062EA768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10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5B4CA0-801B-4A9E-884D-2444D03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65631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FC3F3-E20E-4E87-9979-27565FB724B9}"/>
              </a:ext>
            </a:extLst>
          </p:cNvPr>
          <p:cNvSpPr/>
          <p:nvPr/>
        </p:nvSpPr>
        <p:spPr>
          <a:xfrm>
            <a:off x="421341" y="2064360"/>
            <a:ext cx="8069081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4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Sequence: 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After the bytes have been numbered, TCP assigns a sequence number to each segment that is being sent. The sequence number for each segment is the number of the first byte carried in that segment.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4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Control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TCP, unlike UDP, provides </a:t>
            </a:r>
            <a:r>
              <a:rPr lang="en-US" sz="2400" i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control. 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receiver of the data controls the amount of data that are to be sent by the sender. This is done to prevent the receiver from being </a:t>
            </a:r>
            <a:r>
              <a:rPr lang="en-US" sz="2400" dirty="0">
                <a:solidFill>
                  <a:prstClr val="black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submerged with data</a:t>
            </a:r>
            <a:r>
              <a:rPr lang="en-US" sz="24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 numbering system allows TCP to use a </a:t>
            </a:r>
            <a:r>
              <a:rPr lang="en-US" sz="2400" dirty="0">
                <a:solidFill>
                  <a:prstClr val="black"/>
                </a:solidFill>
                <a:highlight>
                  <a:srgbClr val="00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byte-oriented flow control.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ACAA9-E59B-4113-826C-89F3B275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7DC7-AAE2-42A2-82B4-0E6FC95FC918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F7C83-A8EF-40D6-8CC3-3D089AD9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0790A9-6A59-470E-9E34-928CC61E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84729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4686F-4694-4B30-B34B-246D3DA3BF6C}"/>
              </a:ext>
            </a:extLst>
          </p:cNvPr>
          <p:cNvSpPr/>
          <p:nvPr/>
        </p:nvSpPr>
        <p:spPr>
          <a:xfrm>
            <a:off x="423159" y="1955382"/>
            <a:ext cx="8297681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Control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reliable service, TCP implements an error control mechanism. Although 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control </a:t>
            </a:r>
            <a:r>
              <a:rPr lang="es-E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considers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s-E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unit of data for error detection (loss or corrupted segments), error control is byte-oriented.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 Control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TCP, unlike UDP, takes into account congestion in the network. The amount of data sent by a sender is not only controlled by the receiver (flow control), but is 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sz="2800" dirty="0" err="1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detennined</a:t>
            </a:r>
            <a:r>
              <a:rPr lang="en-US" sz="2800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by the level of congestion in the network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AE56-05F2-4772-8C45-972703CB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F1D3-4A15-4662-887C-73AB418D7E36}" type="datetime1">
              <a:rPr lang="en-US" smtClean="0"/>
              <a:t>10/12/2022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B3482-34AC-4CA5-8636-ABABE0B2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C97CB9B-3C0C-49BE-9782-25F594EA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37847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Features</a:t>
            </a:r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8B1EE-2B7C-4C4A-B8E9-0038C3CEB401}"/>
              </a:ext>
            </a:extLst>
          </p:cNvPr>
          <p:cNvSpPr txBox="1"/>
          <p:nvPr/>
        </p:nvSpPr>
        <p:spPr>
          <a:xfrm>
            <a:off x="2728068" y="6388552"/>
            <a:ext cx="275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Fig. 1 TCP Segment Format [2]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460E07-1EF3-4BE5-B458-DA0BDF33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56" y="1797754"/>
            <a:ext cx="6736088" cy="452228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B8D62-896E-4B0D-8468-0B28791A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AA4D-3E66-442B-8108-21772C0BA34F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5028B-BC13-44D3-9485-BC46AD10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23DA8-C965-4194-B4AD-796A3352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698" y="6575322"/>
            <a:ext cx="6124902" cy="365125"/>
          </a:xfrm>
        </p:spPr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5979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</a:rPr>
              <a:t>TCP Three-Way Handshaking</a:t>
            </a:r>
            <a:endParaRPr lang="en-FI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9060C-709E-4AE5-9E23-3680F2B030C5}"/>
              </a:ext>
            </a:extLst>
          </p:cNvPr>
          <p:cNvSpPr/>
          <p:nvPr/>
        </p:nvSpPr>
        <p:spPr>
          <a:xfrm>
            <a:off x="346510" y="2685598"/>
            <a:ext cx="768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steps in this phase are as follows: </a:t>
            </a:r>
          </a:p>
          <a:p>
            <a:pPr algn="just">
              <a:buClr>
                <a:srgbClr val="C0000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 sends the first segment, a SYN segment, in which only the SYN flag is set. 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segment is for synchronization of sequence numbers.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consumes one sequence number. When the data transfer starts, the sequence number is </a:t>
            </a:r>
            <a:r>
              <a:rPr lang="en-US" sz="24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incremented by 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CFFB5-9A3E-43A4-8B1B-C0F86A6D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1009A-A813-4F69-8894-7805F98D92BC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9C44-0B12-476F-A957-4B5C3114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BBD43C-B88E-47A7-B70C-0DA50933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95916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Transmission Control Protocol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Three-Way Handshaking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9060C-709E-4AE5-9E23-3680F2B030C5}"/>
              </a:ext>
            </a:extLst>
          </p:cNvPr>
          <p:cNvSpPr/>
          <p:nvPr/>
        </p:nvSpPr>
        <p:spPr>
          <a:xfrm>
            <a:off x="476205" y="2406465"/>
            <a:ext cx="768096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The server sends the second segment,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a SYN + ACK segment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, with two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flag bits set: SYN and ACK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. This segment has a dual purpose. It is a SYN segment for commu­nication in the other direction and serves as the acknowledgment for the SYN segment. It consumes one sequence number.</a:t>
            </a:r>
          </a:p>
          <a:p>
            <a:pPr algn="just">
              <a:buClr>
                <a:srgbClr val="C00000"/>
              </a:buClr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The client sends the third segment. This is just an ACK segment. It acknowledges the receipt of the second segment with the ACK flag and acknowledgment number field. </a:t>
            </a:r>
            <a:r>
              <a:rPr lang="en-US" sz="2200" dirty="0">
                <a:highlight>
                  <a:srgbClr val="00FF00"/>
                </a:highlight>
                <a:latin typeface="Perpetua" panose="02020502060401020303" pitchFamily="18" charset="0"/>
                <a:cs typeface="Calibri" panose="020F0502020204030204" pitchFamily="34" charset="0"/>
              </a:rPr>
              <a:t>Note that the sequence number in this segment is the same as the one in the SYN segment</a:t>
            </a:r>
            <a:r>
              <a:rPr lang="en-US" sz="2200" dirty="0">
                <a:latin typeface="Perpetua" panose="02020502060401020303" pitchFamily="18" charset="0"/>
                <a:cs typeface="Calibri" panose="020F0502020204030204" pitchFamily="34" charset="0"/>
              </a:rPr>
              <a:t>; the ACK segment does not consume any sequence numbers [2].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3D8E-BCC7-470C-B666-7CCAB78F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A4480-5749-46FF-BBBB-A733B5E0CF77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1C152-71B7-44CE-BAB7-145F2B8B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87E0D0-6164-4ECD-BDD6-A5C9337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013825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TCP Three-Way Handshaking</a:t>
            </a:r>
            <a:endParaRPr lang="en-FI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192D2F-856D-40ED-B2EA-9DECFF69A8A2}"/>
              </a:ext>
            </a:extLst>
          </p:cNvPr>
          <p:cNvSpPr txBox="1"/>
          <p:nvPr/>
        </p:nvSpPr>
        <p:spPr>
          <a:xfrm>
            <a:off x="3009559" y="5665498"/>
            <a:ext cx="410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 Illustration of TCP three-way handshaking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FB9900-3863-4209-B4C4-6D98D623EADC}"/>
              </a:ext>
            </a:extLst>
          </p:cNvPr>
          <p:cNvGrpSpPr/>
          <p:nvPr/>
        </p:nvGrpSpPr>
        <p:grpSpPr>
          <a:xfrm>
            <a:off x="1055416" y="2130622"/>
            <a:ext cx="6946477" cy="3634911"/>
            <a:chOff x="657481" y="1620483"/>
            <a:chExt cx="7829038" cy="424298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FBCBD19-3660-4FE9-95D0-C3ED10C69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481" y="1620483"/>
              <a:ext cx="7829038" cy="424298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06CA05-5CE9-495E-836A-3E58FA298404}"/>
                </a:ext>
              </a:extLst>
            </p:cNvPr>
            <p:cNvSpPr/>
            <p:nvPr/>
          </p:nvSpPr>
          <p:spPr>
            <a:xfrm rot="21273520">
              <a:off x="5477795" y="4346546"/>
              <a:ext cx="1155032" cy="1961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5D0944-DC6B-4861-A37F-263C0EFF7DD9}"/>
                </a:ext>
              </a:extLst>
            </p:cNvPr>
            <p:cNvSpPr/>
            <p:nvPr/>
          </p:nvSpPr>
          <p:spPr>
            <a:xfrm rot="382073">
              <a:off x="3782144" y="5206091"/>
              <a:ext cx="1155032" cy="1961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12BE3-08C4-4ABC-B31B-B2957C10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BB16-2BFB-40F2-A0AC-913D8C7C5E6B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41DA8-7AC9-420D-80CB-5ECDEC53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A91A9-0556-4838-899E-D4E751D5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1531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Lost acknowledgment</a:t>
            </a:r>
            <a:endParaRPr lang="en-FI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77554" y="2485748"/>
            <a:ext cx="5734974" cy="3132790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Host A sends one segment to host B.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Suppose that this segment has sequence number 92 and contains 8 bytes of data.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After sending this segment, host A waits for a segment from B with acknowledgment number 100. Although the segment from A is received at B, the acknowledgment from B to A gets lost.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F4706-5A2E-46C5-90F3-6CDBFF64FE92}"/>
              </a:ext>
            </a:extLst>
          </p:cNvPr>
          <p:cNvSpPr txBox="1"/>
          <p:nvPr/>
        </p:nvSpPr>
        <p:spPr>
          <a:xfrm>
            <a:off x="6232765" y="4706947"/>
            <a:ext cx="269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 3: Retransmission due to a</a:t>
            </a:r>
          </a:p>
          <a:p>
            <a:r>
              <a:rPr lang="en-US" dirty="0">
                <a:latin typeface="Perpetua" panose="02020502060401020303" pitchFamily="18" charset="0"/>
              </a:rPr>
              <a:t> lost acknowledgment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7032DE7-C95C-46C8-9DD5-588F41391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0555" y="2429960"/>
            <a:ext cx="3161529" cy="227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42453-B88C-46BA-B26F-0FA426E0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D444-BFD4-46E2-AF65-453810C9473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1AB25-3532-46A2-9B89-23DFD2F5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A082-9B18-46A4-A34D-DD4D4446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8775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Lost acknowledgment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6" y="2512380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highlight>
                  <a:srgbClr val="00FF00"/>
                </a:highlight>
                <a:latin typeface="Perpetua"/>
              </a:rPr>
              <a:t>In this case, the timer expires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, and  host A retransmits the same segment. Of course, when host B receives the retransmission, it will observe that the bytes in the </a:t>
            </a: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segment duplicate 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bytes it has already deposited in its receive buffer.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dirty="0">
                <a:solidFill>
                  <a:prstClr val="black"/>
                </a:solidFill>
                <a:latin typeface="Perpetua"/>
              </a:rPr>
              <a:t> Thus TCP in </a:t>
            </a:r>
            <a:r>
              <a:rPr lang="en-US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host B will discard</a:t>
            </a:r>
            <a:r>
              <a:rPr lang="en-US" dirty="0">
                <a:solidFill>
                  <a:prstClr val="black"/>
                </a:solidFill>
                <a:latin typeface="Perpetua"/>
              </a:rPr>
              <a:t> the bytes in the retransmitted segment [3].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19A7ABC-FE11-4586-ADF1-C666B84E6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0555" y="2429960"/>
            <a:ext cx="3161529" cy="227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8A61F1-E187-431E-B79C-FA54C5A9BFB9}"/>
              </a:ext>
            </a:extLst>
          </p:cNvPr>
          <p:cNvSpPr txBox="1"/>
          <p:nvPr/>
        </p:nvSpPr>
        <p:spPr>
          <a:xfrm>
            <a:off x="6093413" y="4600382"/>
            <a:ext cx="269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Fig 3: Retransmission due to a</a:t>
            </a:r>
          </a:p>
          <a:p>
            <a:r>
              <a:rPr lang="en-US" dirty="0">
                <a:latin typeface="Perpetua" panose="02020502060401020303" pitchFamily="18" charset="0"/>
              </a:rPr>
              <a:t> lost acknowledgment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FE912-6485-4EDA-823E-4A5CA89A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5530-5E7B-4ED6-8441-FF44B21ECAA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B238-CA16-408A-9E9F-784F90E5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E11C8-54D8-4B9D-B7F6-BECEC7DC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7772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Acknowledgment arrives before the timeout</a:t>
            </a:r>
            <a:endParaRPr lang="en-FI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-9006" y="2512380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sends two segments back to back. The first segment has sequence number 55 and 5 bytes of data, and the second segment has sequence number 60 and 20 bytes of data.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Suppose that both segments arrive intact at B, and B sends two separate acknowledgements (60, 80) for each of these segments.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Suppose now that neither of the acknowledgements arrive at host A before the timeout of the first segment. 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6961891D-65C5-47F3-9F67-68EFECE41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5968" y="2203700"/>
            <a:ext cx="3276116" cy="243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B81BD1-32A4-4C1A-8FF4-028CA3B255FA}"/>
              </a:ext>
            </a:extLst>
          </p:cNvPr>
          <p:cNvSpPr txBox="1"/>
          <p:nvPr/>
        </p:nvSpPr>
        <p:spPr>
          <a:xfrm>
            <a:off x="6098959" y="4714043"/>
            <a:ext cx="3045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 4 Segment is not retransmitted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Because  its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arrives before the timeout.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E7F5D-D71E-46F4-B77F-E67A7D07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1115-2459-4E5E-93D2-20966901C246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C5DEA-DAC8-42BE-9323-602A9F4F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74241-267B-4783-9D8E-B12E708C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57249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Acknowledgment arrives before the timeout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-9006" y="2461549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When the timer expires, host A resends the first segment with sequence number 55.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Now host A resends the segment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only if the timer expires before the arrival of an acknowledgment 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with an acknowledgment number of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80 or greater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.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 Thus, as shown in figure, if the second acknowledgment </a:t>
            </a:r>
            <a:r>
              <a:rPr lang="en-US" sz="2200" dirty="0">
                <a:solidFill>
                  <a:prstClr val="black"/>
                </a:solidFill>
                <a:highlight>
                  <a:srgbClr val="FFFF00"/>
                </a:highlight>
                <a:latin typeface="Perpetua"/>
              </a:rPr>
              <a:t>does not get lost and arrives before the timeout </a:t>
            </a:r>
            <a:r>
              <a:rPr lang="en-US" sz="2200" dirty="0">
                <a:solidFill>
                  <a:prstClr val="black"/>
                </a:solidFill>
                <a:latin typeface="Perpetua"/>
              </a:rPr>
              <a:t>of the second segment, A does not resend the second segment [3]. 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88816309-EC8D-43A9-A30D-501E94F24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5968" y="2203700"/>
            <a:ext cx="3276116" cy="243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E6A286-F7C5-4575-B7CA-59CBADF0E821}"/>
              </a:ext>
            </a:extLst>
          </p:cNvPr>
          <p:cNvSpPr txBox="1"/>
          <p:nvPr/>
        </p:nvSpPr>
        <p:spPr>
          <a:xfrm>
            <a:off x="6098959" y="4714043"/>
            <a:ext cx="3045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 4 Segment is not retransmitted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Because  its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arrives before the timeout.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5102-8E41-4112-A332-B903F7A6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DCA3-C0F2-40D7-84C6-D3F3DC7BB44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E8041-9B52-4285-8948-635239EF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D01B-5DD9-4750-B4D6-15D7E193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69176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Scenarios of Error Control Mechanisms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Cumulative acknowledgment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6" y="2139518"/>
            <a:ext cx="5734974" cy="4057835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sends the two segments, exactly as in the second example.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The acknowledgment of the first segment is lost in the network, but just before the timeout of the first segment, host A receives an acknowledgment with acknowledgment number 80. </a:t>
            </a:r>
          </a:p>
          <a:p>
            <a:pPr marL="274320" lvl="0" indent="-274320" algn="just">
              <a:spcBef>
                <a:spcPts val="580"/>
              </a:spcBef>
              <a:buClr>
                <a:srgbClr val="D34817"/>
              </a:buClr>
              <a:buSzPct val="85000"/>
              <a:buFont typeface="Wingdings 2"/>
              <a:buChar char=""/>
            </a:pPr>
            <a:r>
              <a:rPr lang="en-US" sz="2200" dirty="0">
                <a:solidFill>
                  <a:prstClr val="black"/>
                </a:solidFill>
                <a:latin typeface="Perpetua"/>
              </a:rPr>
              <a:t>Host A therefore knows that host B has received everything up through byte 79; so host A does not resend either of the two segments.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7474D4C-0654-47C4-BBC5-E074B226E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76890" y="2213156"/>
            <a:ext cx="3253057" cy="214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00BD2-77D4-41F6-8516-9359205A3BAE}"/>
              </a:ext>
            </a:extLst>
          </p:cNvPr>
          <p:cNvSpPr txBox="1"/>
          <p:nvPr/>
        </p:nvSpPr>
        <p:spPr>
          <a:xfrm>
            <a:off x="5986466" y="4731267"/>
            <a:ext cx="30026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Perpetua" panose="02020502060401020303" pitchFamily="18" charset="0"/>
              </a:rPr>
              <a:t>Fig: A cumulative acknowledgment </a:t>
            </a:r>
          </a:p>
          <a:p>
            <a:r>
              <a:rPr lang="en-US" sz="1600" dirty="0">
                <a:latin typeface="Perpetua" panose="02020502060401020303" pitchFamily="18" charset="0"/>
              </a:rPr>
              <a:t>avoids  retransmission of first segment</a:t>
            </a:r>
          </a:p>
          <a:p>
            <a:endParaRPr lang="en-US" sz="1600" dirty="0">
              <a:latin typeface="Perpetua" panose="02020502060401020303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256E8-3F15-4CA6-AC13-166B4B47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D25E-F11F-49B2-84FB-1138A9D1B782}" type="datetime1">
              <a:rPr lang="en-US" smtClean="0"/>
              <a:t>10/12/2022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AB80-D107-47BC-8827-F28B18BE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0F56D-B173-4906-A482-860128CD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2103038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5" y="2139519"/>
            <a:ext cx="8646977" cy="2379216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v"/>
            </a:pPr>
            <a:endParaRPr lang="en-US" sz="2200" dirty="0">
              <a:solidFill>
                <a:prstClr val="black"/>
              </a:solidFill>
              <a:latin typeface="Perpetu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9AE00-8FBA-47BF-99F6-05C637FF068B}"/>
              </a:ext>
            </a:extLst>
          </p:cNvPr>
          <p:cNvSpPr/>
          <p:nvPr/>
        </p:nvSpPr>
        <p:spPr>
          <a:xfrm>
            <a:off x="421341" y="2186252"/>
            <a:ext cx="864697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use UDP?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that can tolerate some data loss, but require little or no delay 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with simple request and reply transactions 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 communications where reliability is not required or can be handled by the application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audio and video transmission (VoIP, IPTV)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DNS (may also use TCP) 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 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TFTP (has own control mechanism, that TCP is not required)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BEC2A-1B9E-4F49-B768-FD3D3822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74B97-63B1-4B1E-BD67-6D125C1E4C15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6E17-F4FE-4283-8A31-00D06CF9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0F3E2-5B73-4053-83B9-21C17E00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115618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Applications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A93D78-FB16-4869-8E61-2E01C4FF86F9}"/>
              </a:ext>
            </a:extLst>
          </p:cNvPr>
          <p:cNvSpPr txBox="1">
            <a:spLocks/>
          </p:cNvSpPr>
          <p:nvPr/>
        </p:nvSpPr>
        <p:spPr>
          <a:xfrm>
            <a:off x="141915" y="2139519"/>
            <a:ext cx="8646977" cy="2379216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Bef>
                <a:spcPts val="580"/>
              </a:spcBef>
              <a:buClr>
                <a:srgbClr val="D34817"/>
              </a:buClr>
              <a:buSzPct val="85000"/>
              <a:buFont typeface="Wingdings" panose="05000000000000000000" pitchFamily="2" charset="2"/>
              <a:buChar char="v"/>
            </a:pPr>
            <a:endParaRPr lang="en-US" sz="2200" dirty="0">
              <a:solidFill>
                <a:prstClr val="black"/>
              </a:solidFill>
              <a:latin typeface="Perpetu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9AE00-8FBA-47BF-99F6-05C637FF068B}"/>
              </a:ext>
            </a:extLst>
          </p:cNvPr>
          <p:cNvSpPr/>
          <p:nvPr/>
        </p:nvSpPr>
        <p:spPr>
          <a:xfrm>
            <a:off x="421341" y="2186252"/>
            <a:ext cx="86469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use TCP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that requires reliable data transfer and can tolerate delay</a:t>
            </a:r>
          </a:p>
          <a:p>
            <a:pPr marL="742950" lvl="1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</a:p>
          <a:p>
            <a:pPr marL="1200150" lvl="2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7C16-8EBA-445A-9764-C2921C6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4B94-9891-440D-BAE7-334B0F9D3EDA}" type="datetime1">
              <a:rPr lang="en-US" smtClean="0"/>
              <a:t>10/12/2022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0E285-6534-43C2-BAB2-8659CB55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A3444-8AB2-4478-B518-515A5730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758699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237017" y="1949733"/>
            <a:ext cx="91021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[1]  My  Reading Room, “Process-to-Process Delivery Concepts ,” http://www.myreadingroom...</a:t>
            </a:r>
          </a:p>
          <a:p>
            <a:pPr lvl="0"/>
            <a:r>
              <a:rPr lang="en-US" dirty="0"/>
              <a:t>       co.in/notes-and-</a:t>
            </a:r>
            <a:r>
              <a:rPr lang="en-US" dirty="0" err="1"/>
              <a:t>studymaterial</a:t>
            </a:r>
            <a:r>
              <a:rPr lang="en-US" dirty="0"/>
              <a:t>/68-dcn/847-process-to-process-delivery-concepts.html”, </a:t>
            </a:r>
          </a:p>
          <a:p>
            <a:pPr lvl="0"/>
            <a:r>
              <a:rPr lang="en-US" dirty="0"/>
              <a:t>       [Accessed: April. 22, 2020]. </a:t>
            </a:r>
          </a:p>
          <a:p>
            <a:r>
              <a:rPr lang="en-US" dirty="0"/>
              <a:t>[2]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TCP/IP Protocol Suite,  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McGraw Hill  Companies,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Inc., USA, 2010, pp.  415-441.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F., Kurose, K. W. Ross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Computer Networking: A Top-Down Approach,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Pearson Education, Inc.,  USA, 2017, pp. 274-277.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71532-2E3B-42CF-8BEF-9F3C6E4C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4BEB-0754-40D4-A28D-7C55C67383A0}" type="datetime1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B648A-3C4A-4C99-B66F-86A6231D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7845C-B05F-468E-91F8-193CB366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8EC53-DB72-4C36-A396-F2577387B6BE}" type="datetime1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39BF-238C-4628-9444-7F0F534B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MSI CN UG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505091-D7CA-4866-978B-1DF467748A23}"/>
</file>

<file path=customXml/itemProps2.xml><?xml version="1.0" encoding="utf-8"?>
<ds:datastoreItem xmlns:ds="http://schemas.openxmlformats.org/officeDocument/2006/customXml" ds:itemID="{69544334-7B67-44E7-8F81-2FB9C4AD8ECD}"/>
</file>

<file path=customXml/itemProps3.xml><?xml version="1.0" encoding="utf-8"?>
<ds:datastoreItem xmlns:ds="http://schemas.openxmlformats.org/officeDocument/2006/customXml" ds:itemID="{3239DF4F-BB40-4A5B-B042-B761A6D404AD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3735</TotalTime>
  <Words>2137</Words>
  <Application>Microsoft Office PowerPoint</Application>
  <PresentationFormat>On-screen Show (4:3)</PresentationFormat>
  <Paragraphs>249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Corbel</vt:lpstr>
      <vt:lpstr>Perpetua</vt:lpstr>
      <vt:lpstr>Tahoma</vt:lpstr>
      <vt:lpstr>Times New Roman</vt:lpstr>
      <vt:lpstr>Wingdings</vt:lpstr>
      <vt:lpstr>Wingdings 2</vt:lpstr>
      <vt:lpstr>Spectrum</vt:lpstr>
      <vt:lpstr>Transport Layer Protocols I</vt:lpstr>
      <vt:lpstr>Lecture Outline</vt:lpstr>
      <vt:lpstr>Transport Layer </vt:lpstr>
      <vt:lpstr>Transport Layer</vt:lpstr>
      <vt:lpstr>Transport Layer Services</vt:lpstr>
      <vt:lpstr>User Datagram Protocol (UDP)</vt:lpstr>
      <vt:lpstr>User Datagram Protocol (UDP)</vt:lpstr>
      <vt:lpstr>User Datagram Protocol (UDP)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Transmission Control Protocol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Scenarios of Error Control Mechanisms</vt:lpstr>
      <vt:lpstr>Applications</vt:lpstr>
      <vt:lpstr>Applications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62</cp:revision>
  <dcterms:created xsi:type="dcterms:W3CDTF">2018-12-10T17:20:29Z</dcterms:created>
  <dcterms:modified xsi:type="dcterms:W3CDTF">2022-10-12T08:31:43Z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