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0" r:id="rId2"/>
    <p:sldId id="257" r:id="rId3"/>
    <p:sldId id="283" r:id="rId4"/>
    <p:sldId id="284" r:id="rId5"/>
    <p:sldId id="286" r:id="rId6"/>
    <p:sldId id="287" r:id="rId7"/>
    <p:sldId id="289" r:id="rId8"/>
    <p:sldId id="282" r:id="rId9"/>
    <p:sldId id="281" r:id="rId10"/>
    <p:sldId id="280" r:id="rId11"/>
    <p:sldId id="293" r:id="rId12"/>
    <p:sldId id="292" r:id="rId13"/>
    <p:sldId id="276" r:id="rId14"/>
    <p:sldId id="291" r:id="rId15"/>
    <p:sldId id="275" r:id="rId16"/>
    <p:sldId id="294" r:id="rId17"/>
    <p:sldId id="274" r:id="rId18"/>
    <p:sldId id="265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724"/>
  </p:normalViewPr>
  <p:slideViewPr>
    <p:cSldViewPr snapToGrid="0" snapToObjects="1">
      <p:cViewPr varScale="1">
        <p:scale>
          <a:sx n="86" d="100"/>
          <a:sy n="86" d="100"/>
        </p:scale>
        <p:origin x="1382" y="5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networkingnotes.com/ccna" TargetMode="External"/><Relationship Id="rId2" Type="http://schemas.openxmlformats.org/officeDocument/2006/relationships/hyperlink" Target="https://computernetworkingclass.blogspot.com/" TargetMode="Externa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06207"/>
              </p:ext>
            </p:extLst>
          </p:nvPr>
        </p:nvGraphicFramePr>
        <p:xfrm>
          <a:off x="476205" y="5186042"/>
          <a:ext cx="8335798" cy="3787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0428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280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560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Lab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Fall 2021-22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113471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Metric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Neighbor Discovery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EIGRP Tables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EIGRP Tables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EIGRP Configuration</a:t>
            </a:r>
            <a:endParaRPr lang="en-US" dirty="0">
              <a:solidFill>
                <a:schemeClr val="tx1"/>
              </a:solidFill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RIP-</a:t>
            </a:r>
            <a:r>
              <a:rPr lang="en-US" dirty="0" err="1"/>
              <a:t>vs_EIGRP</a:t>
            </a:r>
            <a:endParaRPr lang="en-FI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4265E8D-EA9E-47BE-BBCF-940D20C5E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623606"/>
              </p:ext>
            </p:extLst>
          </p:nvPr>
        </p:nvGraphicFramePr>
        <p:xfrm>
          <a:off x="476205" y="2137954"/>
          <a:ext cx="8491646" cy="396536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49568">
                  <a:extLst>
                    <a:ext uri="{9D8B030D-6E8A-4147-A177-3AD203B41FA5}">
                      <a16:colId xmlns:a16="http://schemas.microsoft.com/office/drawing/2014/main" val="3363469748"/>
                    </a:ext>
                  </a:extLst>
                </a:gridCol>
                <a:gridCol w="4166206">
                  <a:extLst>
                    <a:ext uri="{9D8B030D-6E8A-4147-A177-3AD203B41FA5}">
                      <a16:colId xmlns:a16="http://schemas.microsoft.com/office/drawing/2014/main" val="1766646121"/>
                    </a:ext>
                  </a:extLst>
                </a:gridCol>
                <a:gridCol w="3975872">
                  <a:extLst>
                    <a:ext uri="{9D8B030D-6E8A-4147-A177-3AD203B41FA5}">
                      <a16:colId xmlns:a16="http://schemas.microsoft.com/office/drawing/2014/main" val="31165691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RIP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EIGRP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2422437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support maximum 15 routers in the network. 16 router is unreachable.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supports maximum 255 routers in the network. However, the default is 100 routers. (highly scalable)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218409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Slow convergence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Fast convergence due to feasible successor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2111212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In RIP routing protocol, we cannot create a separate administrative boundary in the network.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 In EIGRP routing protocol we can create a separate administrative boundary in the  network with the help of autonomous system No. Less routing Table exchange is required.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66298868"/>
                  </a:ext>
                </a:extLst>
              </a:tr>
              <a:tr h="498263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calculates the metric In terms of Hop Count from source network to destination network. 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calculates the metric In terms of bandwidth and delay (default).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0202568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RIP  works on Bellman Ford algorithm.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EIGRP works on DUAL(Diffusing Update Algorithm) Algorithm.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6639051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It only maintains the best route to each destination.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maintains the best route and some other alternative routes for each destination.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6453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is basically use for smaller size organization.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is basically use for medium to lager size organization in the network [1].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02726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93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00A9BE-6D7F-4FEF-8CBA-E4375436B3A2}"/>
              </a:ext>
            </a:extLst>
          </p:cNvPr>
          <p:cNvSpPr/>
          <p:nvPr/>
        </p:nvSpPr>
        <p:spPr>
          <a:xfrm>
            <a:off x="583746" y="2378792"/>
            <a:ext cx="7976507" cy="1908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Combination of different factors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Bandwidth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Delay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Load 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Reliability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0A64069-3548-4EC7-9E4E-AA886507FCA2}"/>
              </a:ext>
            </a:extLst>
          </p:cNvPr>
          <p:cNvSpPr/>
          <p:nvPr/>
        </p:nvSpPr>
        <p:spPr>
          <a:xfrm>
            <a:off x="2598234" y="2858710"/>
            <a:ext cx="155448" cy="6746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7D55F-42B4-45CE-94C4-95AF1CDEC959}"/>
              </a:ext>
            </a:extLst>
          </p:cNvPr>
          <p:cNvSpPr txBox="1"/>
          <p:nvPr/>
        </p:nvSpPr>
        <p:spPr>
          <a:xfrm>
            <a:off x="2888166" y="3011368"/>
            <a:ext cx="803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Default</a:t>
            </a:r>
          </a:p>
        </p:txBody>
      </p:sp>
    </p:spTree>
    <p:extLst>
      <p:ext uri="{BB962C8B-B14F-4D97-AF65-F5344CB8AC3E}">
        <p14:creationId xmlns:p14="http://schemas.microsoft.com/office/powerpoint/2010/main" val="415475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Bandwidth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4495B6-730A-4819-9ADA-5EA027E46041}"/>
              </a:ext>
            </a:extLst>
          </p:cNvPr>
          <p:cNvSpPr/>
          <p:nvPr/>
        </p:nvSpPr>
        <p:spPr>
          <a:xfrm>
            <a:off x="359229" y="2357020"/>
            <a:ext cx="8308566" cy="292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No. of bits that can be sent over a link (kbps)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Depends on interface type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Use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bandwidth  &lt;1-10,000,000&gt; 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command to set bandwidth in kbps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This is not real bandwidth; real bandwidth depends on clock rate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The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bandwidth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 command only influence route selection by routing protocol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If no bandwidth is set, the default bandwidth of an interface is considered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Calculated as the lowest bandwidth among all links in a route</a:t>
            </a:r>
          </a:p>
        </p:txBody>
      </p:sp>
    </p:spTree>
    <p:extLst>
      <p:ext uri="{BB962C8B-B14F-4D97-AF65-F5344CB8AC3E}">
        <p14:creationId xmlns:p14="http://schemas.microsoft.com/office/powerpoint/2010/main" val="366180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DEEEDC-4BF9-46CD-992E-179C5C6C0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253863"/>
              </p:ext>
            </p:extLst>
          </p:nvPr>
        </p:nvGraphicFramePr>
        <p:xfrm>
          <a:off x="421341" y="3129280"/>
          <a:ext cx="8127999" cy="2560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022701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600059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73129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200" i="1" dirty="0">
                          <a:latin typeface="Perpetua" panose="02020502060401020303" pitchFamily="18" charset="0"/>
                        </a:rP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latin typeface="Perpetua" panose="02020502060401020303" pitchFamily="18" charset="0"/>
                        </a:rPr>
                        <a:t>Bandwdith</a:t>
                      </a:r>
                      <a:endParaRPr lang="en-US" sz="2200" i="1" dirty="0">
                        <a:latin typeface="Perpetua" panose="0202050206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latin typeface="Perpetua" panose="02020502060401020303" pitchFamily="18" charset="0"/>
                        </a:rPr>
                        <a:t>Delay (microseconds)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775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Serial (T1)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1544  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8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982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Fast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33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Perpetua" panose="02020502060401020303" pitchFamily="18" charset="0"/>
                        </a:rPr>
                        <a:t>Gigbit</a:t>
                      </a:r>
                      <a:r>
                        <a:rPr lang="en-US" sz="2200" dirty="0">
                          <a:latin typeface="Perpetua" panose="02020502060401020303" pitchFamily="18" charset="0"/>
                        </a:rPr>
                        <a:t>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61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10 </a:t>
                      </a:r>
                      <a:r>
                        <a:rPr lang="en-US" sz="2200" dirty="0" err="1">
                          <a:latin typeface="Perpetua" panose="02020502060401020303" pitchFamily="18" charset="0"/>
                        </a:rPr>
                        <a:t>Gigbit</a:t>
                      </a:r>
                      <a:r>
                        <a:rPr lang="en-US" sz="2200" dirty="0">
                          <a:latin typeface="Perpetua" panose="02020502060401020303" pitchFamily="18" charset="0"/>
                        </a:rPr>
                        <a:t>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4212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013A8A-4A97-4F16-B1FF-197757F8BD76}"/>
              </a:ext>
            </a:extLst>
          </p:cNvPr>
          <p:cNvSpPr txBox="1"/>
          <p:nvPr/>
        </p:nvSpPr>
        <p:spPr>
          <a:xfrm>
            <a:off x="2217423" y="2620563"/>
            <a:ext cx="4547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Table II    Default bandwidth and delay</a:t>
            </a:r>
          </a:p>
        </p:txBody>
      </p:sp>
    </p:spTree>
    <p:extLst>
      <p:ext uri="{BB962C8B-B14F-4D97-AF65-F5344CB8AC3E}">
        <p14:creationId xmlns:p14="http://schemas.microsoft.com/office/powerpoint/2010/main" val="1487985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Delay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2BB11B-C9EC-4D1B-B20C-0EF93CE09746}"/>
              </a:ext>
            </a:extLst>
          </p:cNvPr>
          <p:cNvSpPr/>
          <p:nvPr/>
        </p:nvSpPr>
        <p:spPr>
          <a:xfrm>
            <a:off x="202602" y="2318142"/>
            <a:ext cx="8246454" cy="285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Delay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is a measure of the time for a packet to reach its destination over a route (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 panose="02020502060401020303" pitchFamily="18" charset="0"/>
              </a:rPr>
              <a:t>In theory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)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In practice, it is a constant set by the network engineer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To set delay for an interface, use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delay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&lt;value&gt;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command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The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value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 can be anything  between 10 to 167,772,140 microseconds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If it is not set, the default value (Table II) of each interface comes into effect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Calculated as sum of delays in exit interfaces of all routers in a route.</a:t>
            </a:r>
          </a:p>
        </p:txBody>
      </p:sp>
    </p:spTree>
    <p:extLst>
      <p:ext uri="{BB962C8B-B14F-4D97-AF65-F5344CB8AC3E}">
        <p14:creationId xmlns:p14="http://schemas.microsoft.com/office/powerpoint/2010/main" val="347750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Metric calculation</a:t>
            </a:r>
            <a:endParaRPr lang="en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94EE5-1605-4071-A116-4A012F21F3C4}"/>
                  </a:ext>
                </a:extLst>
              </p:cNvPr>
              <p:cNvSpPr/>
              <p:nvPr/>
            </p:nvSpPr>
            <p:spPr>
              <a:xfrm>
                <a:off x="591015" y="2620563"/>
                <a:ext cx="5029454" cy="715709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𝑀𝑒𝑡𝑟𝑖𝑐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𝑏𝑎𝑛𝑑𝑤𝑖𝑑𝑡h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𝑑𝑒𝑙𝑎𝑦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94EE5-1605-4071-A116-4A012F21F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5" y="2620563"/>
                <a:ext cx="5029454" cy="7157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232FEB-AE63-495F-A22E-A0DC67822C5F}"/>
                  </a:ext>
                </a:extLst>
              </p:cNvPr>
              <p:cNvSpPr txBox="1"/>
              <p:nvPr/>
            </p:nvSpPr>
            <p:spPr>
              <a:xfrm>
                <a:off x="591015" y="3939776"/>
                <a:ext cx="576457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u="sng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Units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Bandwidth: </a:t>
                </a:r>
                <a:r>
                  <a:rPr lang="en-US" sz="2000" dirty="0">
                    <a:latin typeface="Perpetua" panose="02020502060401020303" pitchFamily="18" charset="0"/>
                  </a:rPr>
                  <a:t>kbps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Delay: </a:t>
                </a:r>
                <a:r>
                  <a:rPr lang="en-US" sz="2000" dirty="0">
                    <a:latin typeface="Perpetua" panose="02020502060401020303" pitchFamily="18" charset="0"/>
                  </a:rPr>
                  <a:t>tens of microsecond If the total delay is 30 seconds,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𝑑𝑒𝑙𝑎𝑦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sz="2000" dirty="0">
                    <a:latin typeface="Perpetua" panose="02020502060401020303" pitchFamily="18" charset="0"/>
                  </a:rPr>
                  <a:t>=30/10=3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232FEB-AE63-495F-A22E-A0DC67822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5" y="3939776"/>
                <a:ext cx="5764579" cy="1323439"/>
              </a:xfrm>
              <a:prstGeom prst="rect">
                <a:avLst/>
              </a:prstGeom>
              <a:blipFill>
                <a:blip r:embed="rId3"/>
                <a:stretch>
                  <a:fillRect l="-1163" t="-1843" b="-8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9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Metric calculation</a:t>
            </a:r>
            <a:endParaRPr lang="en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EB7F037-B219-4239-98AF-68F6C07A28E7}"/>
                  </a:ext>
                </a:extLst>
              </p:cNvPr>
              <p:cNvSpPr/>
              <p:nvPr/>
            </p:nvSpPr>
            <p:spPr>
              <a:xfrm>
                <a:off x="710767" y="2227942"/>
                <a:ext cx="3822970" cy="559961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𝑀𝑒𝑡𝑟𝑖𝑐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𝑏𝑎𝑛𝑑𝑤𝑖𝑑𝑡h</m:t>
                              </m:r>
                            </m:den>
                          </m:f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𝑑𝑒𝑙𝑎𝑦</m:t>
                              </m:r>
                            </m:e>
                            <m:sub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×256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EB7F037-B219-4239-98AF-68F6C07A28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67" y="2227942"/>
                <a:ext cx="3822970" cy="559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B828D8-D4C6-4F2E-9E45-6BEFC794ADC4}"/>
                  </a:ext>
                </a:extLst>
              </p:cNvPr>
              <p:cNvSpPr txBox="1"/>
              <p:nvPr/>
            </p:nvSpPr>
            <p:spPr>
              <a:xfrm>
                <a:off x="779612" y="3228722"/>
                <a:ext cx="161589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𝐿𝑒𝑎𝑠𝑡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𝐵𝑊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=56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𝑘𝑏𝑝𝑠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B828D8-D4C6-4F2E-9E45-6BEFC794A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12" y="3228722"/>
                <a:ext cx="1615892" cy="207749"/>
              </a:xfrm>
              <a:prstGeom prst="rect">
                <a:avLst/>
              </a:prstGeom>
              <a:blipFill>
                <a:blip r:embed="rId3"/>
                <a:stretch>
                  <a:fillRect l="-2264" t="-2941" r="-3019" b="-3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492026-73A5-46C8-A15F-39DF3DEDC597}"/>
                  </a:ext>
                </a:extLst>
              </p:cNvPr>
              <p:cNvSpPr txBox="1"/>
              <p:nvPr/>
            </p:nvSpPr>
            <p:spPr>
              <a:xfrm>
                <a:off x="737418" y="3600993"/>
                <a:ext cx="388292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𝑑𝑒𝑙𝑎𝑦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=100/10+100/10+2000/10=220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492026-73A5-46C8-A15F-39DF3DEDC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8" y="3600993"/>
                <a:ext cx="3882922" cy="207749"/>
              </a:xfrm>
              <a:prstGeom prst="rect">
                <a:avLst/>
              </a:prstGeom>
              <a:blipFill>
                <a:blip r:embed="rId4"/>
                <a:stretch>
                  <a:fillRect l="-785" t="-2941" r="-785" b="-3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27414E5-6B13-4293-B710-A2E2A46BF0CC}"/>
                  </a:ext>
                </a:extLst>
              </p:cNvPr>
              <p:cNvSpPr/>
              <p:nvPr/>
            </p:nvSpPr>
            <p:spPr>
              <a:xfrm>
                <a:off x="668216" y="3790504"/>
                <a:ext cx="3343544" cy="419602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𝑀𝑒𝑡𝑟𝑖𝑐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</m:t>
                            </m:r>
                          </m:den>
                        </m:f>
                        <m:r>
                          <a:rPr lang="en-US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+220</m:t>
                        </m:r>
                      </m:e>
                    </m:d>
                    <m:r>
                      <a:rPr lang="en-US" sz="13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×256=45770496</m:t>
                    </m:r>
                  </m:oMath>
                </a14:m>
                <a:r>
                  <a:rPr lang="en-US" sz="1350" dirty="0"/>
                  <a:t>*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27414E5-6B13-4293-B710-A2E2A46BF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16" y="3790504"/>
                <a:ext cx="3343544" cy="419602"/>
              </a:xfrm>
              <a:prstGeom prst="rect">
                <a:avLst/>
              </a:prstGeom>
              <a:blipFill>
                <a:blip r:embed="rId5"/>
                <a:stretch>
                  <a:fillRect b="-2899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2799EA-8644-4066-94E9-B28238381902}"/>
                  </a:ext>
                </a:extLst>
              </p:cNvPr>
              <p:cNvSpPr txBox="1"/>
              <p:nvPr/>
            </p:nvSpPr>
            <p:spPr>
              <a:xfrm>
                <a:off x="710768" y="4572227"/>
                <a:ext cx="171207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𝐿𝑒𝑎𝑠𝑡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𝐵𝑊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=128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𝑘𝑏𝑝𝑠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2799EA-8644-4066-94E9-B28238381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68" y="4572227"/>
                <a:ext cx="1712072" cy="207749"/>
              </a:xfrm>
              <a:prstGeom prst="rect">
                <a:avLst/>
              </a:prstGeom>
              <a:blipFill>
                <a:blip r:embed="rId6"/>
                <a:stretch>
                  <a:fillRect l="-2143" t="-2941" r="-3214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35D21E-422F-4C37-9416-EF5828953BFF}"/>
                  </a:ext>
                </a:extLst>
              </p:cNvPr>
              <p:cNvSpPr txBox="1"/>
              <p:nvPr/>
            </p:nvSpPr>
            <p:spPr>
              <a:xfrm>
                <a:off x="668573" y="4944498"/>
                <a:ext cx="388292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𝑑𝑒𝑙𝑎𝑦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=100/10+100/10+1000/10=120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35D21E-422F-4C37-9416-EF5828953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73" y="4944498"/>
                <a:ext cx="3882922" cy="207749"/>
              </a:xfrm>
              <a:prstGeom prst="rect">
                <a:avLst/>
              </a:prstGeom>
              <a:blipFill>
                <a:blip r:embed="rId7"/>
                <a:stretch>
                  <a:fillRect l="-785" t="-2941" r="-785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7025677-B70D-40A0-8B70-E2C5DAD08F34}"/>
                  </a:ext>
                </a:extLst>
              </p:cNvPr>
              <p:cNvSpPr/>
              <p:nvPr/>
            </p:nvSpPr>
            <p:spPr>
              <a:xfrm>
                <a:off x="599371" y="5134009"/>
                <a:ext cx="3150734" cy="419602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𝑀𝑒𝑡𝑟𝑖𝑐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128</m:t>
                            </m:r>
                          </m:den>
                        </m:f>
                        <m:r>
                          <a:rPr lang="en-US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+120</m:t>
                        </m:r>
                      </m:e>
                    </m:d>
                    <m:r>
                      <a:rPr lang="en-US" sz="13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×256=</m:t>
                    </m:r>
                  </m:oMath>
                </a14:m>
                <a:r>
                  <a:rPr lang="en-US" sz="1350" dirty="0"/>
                  <a:t>20030720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7025677-B70D-40A0-8B70-E2C5DAD08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71" y="5134009"/>
                <a:ext cx="3150734" cy="419602"/>
              </a:xfrm>
              <a:prstGeom prst="rect">
                <a:avLst/>
              </a:prstGeom>
              <a:blipFill>
                <a:blip r:embed="rId8"/>
                <a:stretch>
                  <a:fillRect b="-2899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4712E93-2426-422D-ADF7-B8FBCF21E21B}"/>
              </a:ext>
            </a:extLst>
          </p:cNvPr>
          <p:cNvSpPr txBox="1"/>
          <p:nvPr/>
        </p:nvSpPr>
        <p:spPr>
          <a:xfrm>
            <a:off x="336431" y="5709608"/>
            <a:ext cx="2329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>
                <a:solidFill>
                  <a:srgbClr val="00B050"/>
                </a:solidFill>
              </a:rPr>
              <a:t>Perform rounding in every steps of calculation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A9F2F5-BBB2-4895-BB0B-7930F2A5BD00}"/>
              </a:ext>
            </a:extLst>
          </p:cNvPr>
          <p:cNvSpPr txBox="1"/>
          <p:nvPr/>
        </p:nvSpPr>
        <p:spPr>
          <a:xfrm>
            <a:off x="779613" y="2862427"/>
            <a:ext cx="12035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00B0F0"/>
                </a:solidFill>
              </a:rPr>
              <a:t>Route: 1-4-2-B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E2B9F7-818E-4CFD-B95D-C87ABC25790E}"/>
              </a:ext>
            </a:extLst>
          </p:cNvPr>
          <p:cNvSpPr txBox="1"/>
          <p:nvPr/>
        </p:nvSpPr>
        <p:spPr>
          <a:xfrm>
            <a:off x="710768" y="4212836"/>
            <a:ext cx="12035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00B0F0"/>
                </a:solidFill>
              </a:rPr>
              <a:t>Route: 1-3-2-B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D0898B-A241-4D73-9333-E1C72FF877F0}"/>
              </a:ext>
            </a:extLst>
          </p:cNvPr>
          <p:cNvGrpSpPr/>
          <p:nvPr/>
        </p:nvGrpSpPr>
        <p:grpSpPr>
          <a:xfrm>
            <a:off x="4689543" y="3073166"/>
            <a:ext cx="4331794" cy="2347920"/>
            <a:chOff x="6794676" y="4268860"/>
            <a:chExt cx="4622032" cy="247236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9EDE3D0-E573-48C2-9187-8AF85821ED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24652" r="54682" b="32253"/>
            <a:stretch/>
          </p:blipFill>
          <p:spPr>
            <a:xfrm>
              <a:off x="6794676" y="4268860"/>
              <a:ext cx="4622032" cy="2472369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A168E28-374B-4A66-A24A-96145B10D818}"/>
                </a:ext>
              </a:extLst>
            </p:cNvPr>
            <p:cNvSpPr/>
            <p:nvPr/>
          </p:nvSpPr>
          <p:spPr>
            <a:xfrm>
              <a:off x="7004649" y="6314536"/>
              <a:ext cx="741872" cy="3536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2A89C7A-5410-4EA9-B54E-624B05476390}"/>
              </a:ext>
            </a:extLst>
          </p:cNvPr>
          <p:cNvSpPr txBox="1"/>
          <p:nvPr/>
        </p:nvSpPr>
        <p:spPr>
          <a:xfrm>
            <a:off x="5675971" y="5325573"/>
            <a:ext cx="2739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 A sample network [2]</a:t>
            </a:r>
          </a:p>
        </p:txBody>
      </p:sp>
    </p:spTree>
    <p:extLst>
      <p:ext uri="{BB962C8B-B14F-4D97-AF65-F5344CB8AC3E}">
        <p14:creationId xmlns:p14="http://schemas.microsoft.com/office/powerpoint/2010/main" val="633354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982E3-96E3-445B-B940-E1A118538016}"/>
              </a:ext>
            </a:extLst>
          </p:cNvPr>
          <p:cNvSpPr txBox="1"/>
          <p:nvPr/>
        </p:nvSpPr>
        <p:spPr>
          <a:xfrm>
            <a:off x="581292" y="2156604"/>
            <a:ext cx="7541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erpetua" panose="02020502060401020303" pitchFamily="18" charset="0"/>
                <a:cs typeface="Times New Roman" panose="02020603050405020304" pitchFamily="18" charset="0"/>
              </a:rPr>
              <a:t>Calculate metric for all possible routes  from router ONE to network 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B3B06-79FB-4E10-AB53-3C1F0B501E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1" t="23232" r="39091" b="33131"/>
          <a:stretch/>
        </p:blipFill>
        <p:spPr>
          <a:xfrm>
            <a:off x="1329315" y="2987601"/>
            <a:ext cx="6485369" cy="2757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482F69-A706-4514-BC0D-C1D9B6F9B411}"/>
              </a:ext>
            </a:extLst>
          </p:cNvPr>
          <p:cNvSpPr txBox="1"/>
          <p:nvPr/>
        </p:nvSpPr>
        <p:spPr>
          <a:xfrm>
            <a:off x="3490332" y="5745160"/>
            <a:ext cx="2739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2 A sample network [2]</a:t>
            </a:r>
          </a:p>
        </p:txBody>
      </p:sp>
    </p:spTree>
    <p:extLst>
      <p:ext uri="{BB962C8B-B14F-4D97-AF65-F5344CB8AC3E}">
        <p14:creationId xmlns:p14="http://schemas.microsoft.com/office/powerpoint/2010/main" val="2909440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Neighbor discovery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B473A5-F4E8-402F-9BA0-A101FC451B4F}"/>
              </a:ext>
            </a:extLst>
          </p:cNvPr>
          <p:cNvGrpSpPr/>
          <p:nvPr/>
        </p:nvGrpSpPr>
        <p:grpSpPr>
          <a:xfrm>
            <a:off x="476205" y="2264349"/>
            <a:ext cx="7599551" cy="3599596"/>
            <a:chOff x="628650" y="2125266"/>
            <a:chExt cx="7599551" cy="3599596"/>
          </a:xfrm>
        </p:grpSpPr>
        <p:pic>
          <p:nvPicPr>
            <p:cNvPr id="19" name="Content Placeholder 3">
              <a:extLst>
                <a:ext uri="{FF2B5EF4-FFF2-40B4-BE49-F238E27FC236}">
                  <a16:creationId xmlns:a16="http://schemas.microsoft.com/office/drawing/2014/main" id="{5AB08EA0-43EF-4A52-A734-B4EB6E149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2125266"/>
              <a:ext cx="7599551" cy="359959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134DF0-7557-49F1-BAFD-C4147DDCFEFA}"/>
                </a:ext>
              </a:extLst>
            </p:cNvPr>
            <p:cNvSpPr txBox="1"/>
            <p:nvPr/>
          </p:nvSpPr>
          <p:spPr>
            <a:xfrm>
              <a:off x="2866279" y="2775990"/>
              <a:ext cx="2507418" cy="41549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Hello, how are you? Can we be neighbors?</a:t>
              </a:r>
            </a:p>
            <a:p>
              <a:r>
                <a:rPr lang="en-US" sz="1050" dirty="0"/>
                <a:t>My AS No. and K-values are so and so….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084CD8-7DC3-4566-830D-9636BA385876}"/>
                </a:ext>
              </a:extLst>
            </p:cNvPr>
            <p:cNvSpPr txBox="1"/>
            <p:nvPr/>
          </p:nvSpPr>
          <p:spPr>
            <a:xfrm>
              <a:off x="3708336" y="3393760"/>
              <a:ext cx="2351926" cy="41549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Our AS no. and k-values have matched?</a:t>
              </a:r>
            </a:p>
            <a:p>
              <a:r>
                <a:rPr lang="en-US" sz="1050" dirty="0"/>
                <a:t>Here is my full routing table.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BF31DF-0ADB-4806-A623-72E8DA4846BC}"/>
                </a:ext>
              </a:extLst>
            </p:cNvPr>
            <p:cNvSpPr txBox="1"/>
            <p:nvPr/>
          </p:nvSpPr>
          <p:spPr>
            <a:xfrm>
              <a:off x="2899365" y="4064147"/>
              <a:ext cx="2443298" cy="25391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I have received  our routing table. Thanks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5F5D28-3DC0-4BDB-93CA-7A6BD5AA0281}"/>
                </a:ext>
              </a:extLst>
            </p:cNvPr>
            <p:cNvSpPr txBox="1"/>
            <p:nvPr/>
          </p:nvSpPr>
          <p:spPr>
            <a:xfrm>
              <a:off x="3171097" y="4624929"/>
              <a:ext cx="1734770" cy="25391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Here is my full routing table.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C315AD-7C78-4FA6-B0D7-ADBECBBC95B7}"/>
                </a:ext>
              </a:extLst>
            </p:cNvPr>
            <p:cNvSpPr txBox="1"/>
            <p:nvPr/>
          </p:nvSpPr>
          <p:spPr>
            <a:xfrm>
              <a:off x="3708336" y="5070295"/>
              <a:ext cx="2443298" cy="2539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I have received  our routing table. Thanks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583439-2976-4F8F-B781-9300A6E747A5}"/>
                </a:ext>
              </a:extLst>
            </p:cNvPr>
            <p:cNvSpPr txBox="1"/>
            <p:nvPr/>
          </p:nvSpPr>
          <p:spPr>
            <a:xfrm>
              <a:off x="1393882" y="2914290"/>
              <a:ext cx="75533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10.1.1.1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C7ECEE-6196-4584-9CAC-C66DC256A888}"/>
                </a:ext>
              </a:extLst>
            </p:cNvPr>
            <p:cNvSpPr txBox="1"/>
            <p:nvPr/>
          </p:nvSpPr>
          <p:spPr>
            <a:xfrm>
              <a:off x="6824138" y="2940128"/>
              <a:ext cx="75533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10.1.1.2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F5A35A-C86D-4DDE-8702-BE4F5A5FC1F2}"/>
                </a:ext>
              </a:extLst>
            </p:cNvPr>
            <p:cNvSpPr txBox="1"/>
            <p:nvPr/>
          </p:nvSpPr>
          <p:spPr>
            <a:xfrm>
              <a:off x="5276911" y="2719237"/>
              <a:ext cx="93166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224.0.0.10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77ACA44-70EE-42B8-9533-5B850A16B4CD}"/>
                </a:ext>
              </a:extLst>
            </p:cNvPr>
            <p:cNvSpPr txBox="1"/>
            <p:nvPr/>
          </p:nvSpPr>
          <p:spPr>
            <a:xfrm>
              <a:off x="2929658" y="3338776"/>
              <a:ext cx="75533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6618B2E-1D2D-4089-8B22-CE0864E65A68}"/>
                </a:ext>
              </a:extLst>
            </p:cNvPr>
            <p:cNvSpPr txBox="1"/>
            <p:nvPr/>
          </p:nvSpPr>
          <p:spPr>
            <a:xfrm>
              <a:off x="5364675" y="3855208"/>
              <a:ext cx="75533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526B7FB-C9DC-4194-9695-733BF7EA54E0}"/>
                </a:ext>
              </a:extLst>
            </p:cNvPr>
            <p:cNvSpPr txBox="1"/>
            <p:nvPr/>
          </p:nvSpPr>
          <p:spPr>
            <a:xfrm>
              <a:off x="5011092" y="4464912"/>
              <a:ext cx="75533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A94BF36-C33A-4427-9E38-D97AF689E4D0}"/>
                </a:ext>
              </a:extLst>
            </p:cNvPr>
            <p:cNvSpPr txBox="1"/>
            <p:nvPr/>
          </p:nvSpPr>
          <p:spPr>
            <a:xfrm>
              <a:off x="2924843" y="4934575"/>
              <a:ext cx="755335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10.1.1.1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2D67507-87D4-49A4-BF1E-9A87BDF00B46}"/>
              </a:ext>
            </a:extLst>
          </p:cNvPr>
          <p:cNvSpPr txBox="1"/>
          <p:nvPr/>
        </p:nvSpPr>
        <p:spPr>
          <a:xfrm>
            <a:off x="2750126" y="5623971"/>
            <a:ext cx="285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3 Neighbor discovery [3]</a:t>
            </a:r>
          </a:p>
        </p:txBody>
      </p:sp>
    </p:spTree>
    <p:extLst>
      <p:ext uri="{BB962C8B-B14F-4D97-AF65-F5344CB8AC3E}">
        <p14:creationId xmlns:p14="http://schemas.microsoft.com/office/powerpoint/2010/main" val="2300266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Neighbor maintenance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360D86-BD63-44CB-8BE6-37796E82F051}"/>
              </a:ext>
            </a:extLst>
          </p:cNvPr>
          <p:cNvSpPr/>
          <p:nvPr/>
        </p:nvSpPr>
        <p:spPr>
          <a:xfrm>
            <a:off x="421341" y="2228932"/>
            <a:ext cx="8301318" cy="2874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In neighbor discovery process, full routing table is sent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Otherwise, only the change in routing table is sent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After a neighbor discovery, the Hello packet is sent in every 5 second</a:t>
            </a:r>
          </a:p>
          <a:p>
            <a:pPr marR="0" lvl="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tabLst/>
              <a:defRPr/>
            </a:pPr>
            <a:r>
              <a:rPr lang="en-US" sz="2200" kern="0" dirty="0">
                <a:solidFill>
                  <a:prstClr val="black"/>
                </a:solidFill>
                <a:latin typeface="Perpetua" panose="02020502060401020303" pitchFamily="18" charset="0"/>
              </a:rPr>
              <a:t>	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to know if the neighbor is still alive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If a router does not </a:t>
            </a:r>
            <a:r>
              <a:rPr lang="en-US" sz="2200" kern="0" dirty="0">
                <a:solidFill>
                  <a:prstClr val="black"/>
                </a:solidFill>
                <a:latin typeface="Perpetua" panose="02020502060401020303" pitchFamily="18" charset="0"/>
              </a:rPr>
              <a:t>receive any Hello packet from a neighbor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within 15 seconds (called hold time), the neighbor is considered dead.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For low-bandwidth link (e.g., T1), the periods are 60 sec and 180 sec.</a:t>
            </a:r>
          </a:p>
        </p:txBody>
      </p:sp>
    </p:spTree>
    <p:extLst>
      <p:ext uri="{BB962C8B-B14F-4D97-AF65-F5344CB8AC3E}">
        <p14:creationId xmlns:p14="http://schemas.microsoft.com/office/powerpoint/2010/main" val="2374765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 Tables….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80CE9F-28F1-4FC9-98DC-663EC70AAC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00" t="59688" r="52603" b="17366"/>
          <a:stretch/>
        </p:blipFill>
        <p:spPr>
          <a:xfrm>
            <a:off x="606100" y="4610282"/>
            <a:ext cx="4404997" cy="17549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8405C3-10CE-4745-B6C3-9D6B17A93C48}"/>
              </a:ext>
            </a:extLst>
          </p:cNvPr>
          <p:cNvSpPr txBox="1"/>
          <p:nvPr/>
        </p:nvSpPr>
        <p:spPr>
          <a:xfrm>
            <a:off x="5346504" y="2171463"/>
            <a:ext cx="3055067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Reported distance:</a:t>
            </a:r>
          </a:p>
          <a:p>
            <a:r>
              <a:rPr lang="en-US" dirty="0">
                <a:latin typeface="Perpetua" panose="02020502060401020303" pitchFamily="18" charset="0"/>
              </a:rPr>
              <a:t>Distance advertised from neighbor</a:t>
            </a:r>
          </a:p>
          <a:p>
            <a:r>
              <a:rPr lang="en-US" dirty="0">
                <a:latin typeface="Perpetua" panose="02020502060401020303" pitchFamily="18" charset="0"/>
              </a:rPr>
              <a:t>as the distance between the </a:t>
            </a:r>
          </a:p>
          <a:p>
            <a:r>
              <a:rPr lang="en-US" dirty="0">
                <a:latin typeface="Perpetua" panose="02020502060401020303" pitchFamily="18" charset="0"/>
              </a:rPr>
              <a:t>Neighbor and the destination.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0444F4-7CF5-489A-B7AA-4885944042AB}"/>
              </a:ext>
            </a:extLst>
          </p:cNvPr>
          <p:cNvSpPr txBox="1"/>
          <p:nvPr/>
        </p:nvSpPr>
        <p:spPr>
          <a:xfrm>
            <a:off x="5382230" y="3526196"/>
            <a:ext cx="2848087" cy="1477328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Feasible  distance (FD):</a:t>
            </a:r>
          </a:p>
          <a:p>
            <a:r>
              <a:rPr lang="en-US" dirty="0">
                <a:latin typeface="Perpetua" panose="02020502060401020303" pitchFamily="18" charset="0"/>
              </a:rPr>
              <a:t>Sum of Reported distance and</a:t>
            </a:r>
          </a:p>
          <a:p>
            <a:r>
              <a:rPr lang="en-US" dirty="0">
                <a:latin typeface="Perpetua" panose="02020502060401020303" pitchFamily="18" charset="0"/>
              </a:rPr>
              <a:t>distance between the router and</a:t>
            </a:r>
          </a:p>
          <a:p>
            <a:r>
              <a:rPr lang="en-US" dirty="0">
                <a:latin typeface="Perpetua" panose="02020502060401020303" pitchFamily="18" charset="0"/>
              </a:rPr>
              <a:t>the neighbor which reports </a:t>
            </a:r>
          </a:p>
          <a:p>
            <a:r>
              <a:rPr lang="en-US" dirty="0">
                <a:latin typeface="Perpetua" panose="02020502060401020303" pitchFamily="18" charset="0"/>
              </a:rPr>
              <a:t>the distance.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02F4B7-A5E3-48A9-B5EA-14E1EB86DC8C}"/>
              </a:ext>
            </a:extLst>
          </p:cNvPr>
          <p:cNvSpPr txBox="1"/>
          <p:nvPr/>
        </p:nvSpPr>
        <p:spPr>
          <a:xfrm>
            <a:off x="5382230" y="5157928"/>
            <a:ext cx="3431452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erpetua" panose="02020502060401020303" pitchFamily="18" charset="0"/>
              </a:rPr>
              <a:t>A feasible successor is the route whose </a:t>
            </a:r>
          </a:p>
          <a:p>
            <a:r>
              <a:rPr lang="en-US" dirty="0">
                <a:solidFill>
                  <a:schemeClr val="bg1"/>
                </a:solidFill>
                <a:latin typeface="Perpetua" panose="02020502060401020303" pitchFamily="18" charset="0"/>
              </a:rPr>
              <a:t>reported distance is less than the</a:t>
            </a:r>
          </a:p>
          <a:p>
            <a:r>
              <a:rPr lang="en-US" dirty="0">
                <a:solidFill>
                  <a:schemeClr val="bg1"/>
                </a:solidFill>
                <a:latin typeface="Perpetua" panose="02020502060401020303" pitchFamily="18" charset="0"/>
              </a:rPr>
              <a:t> feasible distance  of the  best path.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5E34E-AFE6-4C07-BBAC-6809C1B7CF0E}"/>
              </a:ext>
            </a:extLst>
          </p:cNvPr>
          <p:cNvSpPr txBox="1"/>
          <p:nvPr/>
        </p:nvSpPr>
        <p:spPr>
          <a:xfrm>
            <a:off x="332509" y="2020996"/>
            <a:ext cx="4678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Feasibility condition: </a:t>
            </a:r>
            <a:r>
              <a:rPr lang="en-US" dirty="0">
                <a:latin typeface="Perpetua" panose="02020502060401020303" pitchFamily="18" charset="0"/>
              </a:rPr>
              <a:t>reported distance must</a:t>
            </a:r>
          </a:p>
          <a:p>
            <a:r>
              <a:rPr lang="en-US" dirty="0">
                <a:latin typeface="Perpetua" panose="02020502060401020303" pitchFamily="18" charset="0"/>
              </a:rPr>
              <a:t>be less than the feasible distance through the successor</a:t>
            </a:r>
          </a:p>
        </p:txBody>
      </p:sp>
      <p:grpSp>
        <p:nvGrpSpPr>
          <p:cNvPr id="2048" name="Group 2047">
            <a:extLst>
              <a:ext uri="{FF2B5EF4-FFF2-40B4-BE49-F238E27FC236}">
                <a16:creationId xmlns:a16="http://schemas.microsoft.com/office/drawing/2014/main" id="{21DA526F-7284-4D37-9201-61A7054C3E42}"/>
              </a:ext>
            </a:extLst>
          </p:cNvPr>
          <p:cNvGrpSpPr/>
          <p:nvPr/>
        </p:nvGrpSpPr>
        <p:grpSpPr>
          <a:xfrm>
            <a:off x="884695" y="2664100"/>
            <a:ext cx="3687305" cy="2176842"/>
            <a:chOff x="884695" y="2664100"/>
            <a:chExt cx="3687305" cy="217684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05E3B3A-2C31-4311-B522-7C3E81C10B3E}"/>
                </a:ext>
              </a:extLst>
            </p:cNvPr>
            <p:cNvGrpSpPr/>
            <p:nvPr/>
          </p:nvGrpSpPr>
          <p:grpSpPr>
            <a:xfrm>
              <a:off x="884695" y="2664100"/>
              <a:ext cx="3687305" cy="2176842"/>
              <a:chOff x="884695" y="2664100"/>
              <a:chExt cx="3687305" cy="2176842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46FE428-1ED5-41F4-8F5A-1CFB5EAB05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5523" t="10853" r="41047" b="43566"/>
              <a:stretch/>
            </p:blipFill>
            <p:spPr>
              <a:xfrm>
                <a:off x="884695" y="2664100"/>
                <a:ext cx="3687305" cy="2176842"/>
              </a:xfrm>
              <a:prstGeom prst="rect">
                <a:avLst/>
              </a:prstGeom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A1AA8B3-C937-4AE7-AE73-D6D2037E5AF8}"/>
                  </a:ext>
                </a:extLst>
              </p:cNvPr>
              <p:cNvGrpSpPr/>
              <p:nvPr/>
            </p:nvGrpSpPr>
            <p:grpSpPr>
              <a:xfrm>
                <a:off x="2593975" y="2722873"/>
                <a:ext cx="1174750" cy="856617"/>
                <a:chOff x="0" y="0"/>
                <a:chExt cx="1175115" cy="857178"/>
              </a:xfrm>
            </p:grpSpPr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CEDE01CC-F6DB-4BB6-8D95-34278DD9CF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5527" t="71326" r="69687" b="23797"/>
                <a:stretch/>
              </p:blipFill>
              <p:spPr bwMode="auto">
                <a:xfrm>
                  <a:off x="596630" y="0"/>
                  <a:ext cx="578485" cy="331470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3EB8C5C3-B0C6-444C-9EFA-91A6872AA878}"/>
                    </a:ext>
                  </a:extLst>
                </p:cNvPr>
                <p:cNvGrpSpPr/>
                <p:nvPr/>
              </p:nvGrpSpPr>
              <p:grpSpPr>
                <a:xfrm>
                  <a:off x="0" y="188068"/>
                  <a:ext cx="616085" cy="45719"/>
                  <a:chOff x="0" y="0"/>
                  <a:chExt cx="1162275" cy="88053"/>
                </a:xfrm>
              </p:grpSpPr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A79CF078-6C32-4DAD-B885-1B0112741AD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12323" y="0"/>
                    <a:ext cx="142240" cy="88053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77D8E3E4-9F1A-4046-8F49-0F08CF49BDB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18809" y="77821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94510830-892F-4807-82B5-96E9962D962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0" y="0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D6C40E3-2FA5-48F0-AEDE-13898A9E964E}"/>
                    </a:ext>
                  </a:extLst>
                </p:cNvPr>
                <p:cNvGrpSpPr/>
                <p:nvPr/>
              </p:nvGrpSpPr>
              <p:grpSpPr>
                <a:xfrm rot="4615459">
                  <a:off x="651233" y="559632"/>
                  <a:ext cx="548012" cy="47079"/>
                  <a:chOff x="0" y="0"/>
                  <a:chExt cx="1162275" cy="88053"/>
                </a:xfrm>
              </p:grpSpPr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2CA63F6F-8089-4B50-A33A-9D449C998CF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12323" y="0"/>
                    <a:ext cx="142240" cy="88053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B40A2D57-DCB6-436C-BFC3-2239B94E256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18809" y="77821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9472C64A-2EBA-46A7-B049-F37E08110E7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0" y="0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F4A6DB-26BE-44B8-84C5-458B3076277D}"/>
                </a:ext>
              </a:extLst>
            </p:cNvPr>
            <p:cNvSpPr txBox="1"/>
            <p:nvPr/>
          </p:nvSpPr>
          <p:spPr>
            <a:xfrm>
              <a:off x="2706578" y="2688934"/>
              <a:ext cx="4154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1000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26807B3-6B4D-41DE-8F4C-648C1A63A947}"/>
                </a:ext>
              </a:extLst>
            </p:cNvPr>
            <p:cNvSpPr txBox="1"/>
            <p:nvPr/>
          </p:nvSpPr>
          <p:spPr>
            <a:xfrm rot="4284602">
              <a:off x="3473968" y="3127921"/>
              <a:ext cx="4154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3000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2790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 Tables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1D087-995C-4F8C-B285-F061DC0E64AC}"/>
              </a:ext>
            </a:extLst>
          </p:cNvPr>
          <p:cNvSpPr/>
          <p:nvPr/>
        </p:nvSpPr>
        <p:spPr>
          <a:xfrm>
            <a:off x="321599" y="2017059"/>
            <a:ext cx="8389015" cy="3318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Neighbor Table</a:t>
            </a:r>
          </a:p>
          <a:p>
            <a:pPr lvl="1" algn="just">
              <a:lnSpc>
                <a:spcPct val="90000"/>
              </a:lnSpc>
              <a:spcBef>
                <a:spcPts val="500"/>
              </a:spcBef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EIGRP shares routing information only with neighbors. To know who the neighbors are, it uses neighbor table. When a new neighbor is discovered, EIGRP would add its address and interface on which neighbor is connected in neighbor table [4]. 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Topology Table</a:t>
            </a:r>
          </a:p>
          <a:p>
            <a:pPr lvl="1" algn="just">
              <a:lnSpc>
                <a:spcPct val="90000"/>
              </a:lnSpc>
              <a:spcBef>
                <a:spcPts val="500"/>
              </a:spcBef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Stores all feasible successors along with the successor (best route) for each destination network. EIGRP can store up to 32 feasible successors.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Routing Table</a:t>
            </a:r>
          </a:p>
          <a:p>
            <a:pPr lvl="1" algn="just">
              <a:lnSpc>
                <a:spcPct val="90000"/>
              </a:lnSpc>
              <a:spcBef>
                <a:spcPts val="500"/>
              </a:spcBef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EIGRP stores single best route for each destination in this table. Router uses this table to forward the packet. </a:t>
            </a:r>
          </a:p>
        </p:txBody>
      </p:sp>
    </p:spTree>
    <p:extLst>
      <p:ext uri="{BB962C8B-B14F-4D97-AF65-F5344CB8AC3E}">
        <p14:creationId xmlns:p14="http://schemas.microsoft.com/office/powerpoint/2010/main" val="35372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 Configuration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29F5B3-6BDB-4EE2-9C6E-FC68C244EC78}"/>
              </a:ext>
            </a:extLst>
          </p:cNvPr>
          <p:cNvGrpSpPr/>
          <p:nvPr/>
        </p:nvGrpSpPr>
        <p:grpSpPr>
          <a:xfrm>
            <a:off x="2226317" y="2132349"/>
            <a:ext cx="5007188" cy="1709531"/>
            <a:chOff x="2843151" y="536713"/>
            <a:chExt cx="5007188" cy="1709531"/>
          </a:xfrm>
        </p:grpSpPr>
        <p:pic>
          <p:nvPicPr>
            <p:cNvPr id="6" name="Picture 2" descr="Cisco Network Topology Icons 3015 | ATM Router">
              <a:extLst>
                <a:ext uri="{FF2B5EF4-FFF2-40B4-BE49-F238E27FC236}">
                  <a16:creationId xmlns:a16="http://schemas.microsoft.com/office/drawing/2014/main" id="{F969F61B-6D49-452E-8B35-F2F482D9BE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218" y="750296"/>
              <a:ext cx="1197985" cy="83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892565C-C9B8-4DC5-86BD-F0B59FD7D07F}"/>
                </a:ext>
              </a:extLst>
            </p:cNvPr>
            <p:cNvCxnSpPr>
              <a:cxnSpLocks/>
            </p:cNvCxnSpPr>
            <p:nvPr/>
          </p:nvCxnSpPr>
          <p:spPr>
            <a:xfrm>
              <a:off x="5627055" y="1166696"/>
              <a:ext cx="121106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A944B1A-6023-40A9-B61E-7FE4ACCF6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16017" y="1351688"/>
              <a:ext cx="740316" cy="8945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BBB98D-F16C-4465-8CA1-E4FD16D5466C}"/>
                </a:ext>
              </a:extLst>
            </p:cNvPr>
            <p:cNvCxnSpPr>
              <a:cxnSpLocks/>
            </p:cNvCxnSpPr>
            <p:nvPr/>
          </p:nvCxnSpPr>
          <p:spPr>
            <a:xfrm>
              <a:off x="3413942" y="1001044"/>
              <a:ext cx="1211067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9E6DDB-8938-4A0F-BA12-319C891526CF}"/>
                </a:ext>
              </a:extLst>
            </p:cNvPr>
            <p:cNvSpPr txBox="1"/>
            <p:nvPr/>
          </p:nvSpPr>
          <p:spPr>
            <a:xfrm>
              <a:off x="3101009" y="536713"/>
              <a:ext cx="1500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172.16.1.0/30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FC6E36-2C11-487C-ADDB-69089818E530}"/>
                </a:ext>
              </a:extLst>
            </p:cNvPr>
            <p:cNvSpPr txBox="1"/>
            <p:nvPr/>
          </p:nvSpPr>
          <p:spPr>
            <a:xfrm>
              <a:off x="2843151" y="1552147"/>
              <a:ext cx="1500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172.16.1.4/30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10964F-2174-4A7C-AAFB-4B86CC209C6F}"/>
                </a:ext>
              </a:extLst>
            </p:cNvPr>
            <p:cNvSpPr txBox="1"/>
            <p:nvPr/>
          </p:nvSpPr>
          <p:spPr>
            <a:xfrm>
              <a:off x="6232588" y="721379"/>
              <a:ext cx="1617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192.168.2.0/24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5CD8969-6935-4AB2-8602-460B3D4F57F2}"/>
              </a:ext>
            </a:extLst>
          </p:cNvPr>
          <p:cNvSpPr txBox="1"/>
          <p:nvPr/>
        </p:nvSpPr>
        <p:spPr>
          <a:xfrm>
            <a:off x="0" y="3956941"/>
            <a:ext cx="364535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RIP v2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R1(config)# router rip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 version 2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R1(config-router)#network 172.16.1.0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R1(config-router)#network 172.16.1.4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R1(config-router)#network 192.168.2.0</a:t>
            </a:r>
          </a:p>
          <a:p>
            <a:r>
              <a:rPr lang="en-US" sz="2000" i="1" dirty="0">
                <a:latin typeface="Perpetua" panose="02020502060401020303" pitchFamily="18" charset="0"/>
              </a:rPr>
              <a:t>R1(config-router)#no auto-summary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433300-D915-457B-8A43-8C6FEC953F85}"/>
              </a:ext>
            </a:extLst>
          </p:cNvPr>
          <p:cNvSpPr txBox="1"/>
          <p:nvPr/>
        </p:nvSpPr>
        <p:spPr>
          <a:xfrm>
            <a:off x="3601741" y="4168851"/>
            <a:ext cx="5645776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EIGRP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R1(config)# router </a:t>
            </a:r>
            <a:r>
              <a:rPr lang="en-US" sz="2000" dirty="0" err="1">
                <a:solidFill>
                  <a:srgbClr val="0070C0"/>
                </a:solidFill>
                <a:latin typeface="Perpetua" panose="02020502060401020303" pitchFamily="18" charset="0"/>
              </a:rPr>
              <a:t>eigrp</a:t>
            </a:r>
            <a:r>
              <a:rPr lang="en-US" sz="2000" dirty="0">
                <a:solidFill>
                  <a:srgbClr val="0070C0"/>
                </a:solidFill>
                <a:latin typeface="Perpetua" panose="02020502060401020303" pitchFamily="18" charset="0"/>
              </a:rPr>
              <a:t> &lt;1 -65535&gt; 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R1(config-router)#network 172.16.1.0  </a:t>
            </a:r>
            <a:r>
              <a:rPr lang="en-US" sz="2000" dirty="0">
                <a:solidFill>
                  <a:schemeClr val="accent1"/>
                </a:solidFill>
                <a:latin typeface="Perpetua" panose="02020502060401020303" pitchFamily="18" charset="0"/>
              </a:rPr>
              <a:t>255.255.255.252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R1(config-router)#network 172.16.1.4 </a:t>
            </a:r>
            <a:r>
              <a:rPr lang="en-US" sz="2000" dirty="0">
                <a:solidFill>
                  <a:schemeClr val="accent1"/>
                </a:solidFill>
                <a:latin typeface="Perpetua" panose="02020502060401020303" pitchFamily="18" charset="0"/>
              </a:rPr>
              <a:t>255.255.255.252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R1(config-router)#network 192.168.2.0 </a:t>
            </a:r>
            <a:r>
              <a:rPr lang="en-US" sz="2000" dirty="0">
                <a:solidFill>
                  <a:schemeClr val="accent1"/>
                </a:solidFill>
                <a:latin typeface="Perpetua" panose="02020502060401020303" pitchFamily="18" charset="0"/>
              </a:rPr>
              <a:t>255.255.255.0</a:t>
            </a:r>
          </a:p>
          <a:p>
            <a:r>
              <a:rPr lang="en-US" sz="2000" dirty="0">
                <a:latin typeface="Perpetua" panose="02020502060401020303" pitchFamily="18" charset="0"/>
              </a:rPr>
              <a:t>R1(config-router)#no auto-summary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1616F-3D7B-4BB3-9059-38D0C666435D}"/>
              </a:ext>
            </a:extLst>
          </p:cNvPr>
          <p:cNvSpPr txBox="1"/>
          <p:nvPr/>
        </p:nvSpPr>
        <p:spPr>
          <a:xfrm>
            <a:off x="6139543" y="3517115"/>
            <a:ext cx="2194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Autonomous system no.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BF7EA3-2918-4830-83FD-30E4266951D7}"/>
              </a:ext>
            </a:extLst>
          </p:cNvPr>
          <p:cNvCxnSpPr>
            <a:stCxn id="3" idx="2"/>
          </p:cNvCxnSpPr>
          <p:nvPr/>
        </p:nvCxnSpPr>
        <p:spPr>
          <a:xfrm flipH="1">
            <a:off x="6778171" y="3886447"/>
            <a:ext cx="458436" cy="569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588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AF003-B643-61D4-5E01-F28CE80B8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33EDCEF-E1F9-DDFF-13D3-E0C1CABC3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60" t="16031" r="44711" b="9409"/>
          <a:stretch/>
        </p:blipFill>
        <p:spPr>
          <a:xfrm>
            <a:off x="-1" y="1857247"/>
            <a:ext cx="8953315" cy="4543553"/>
          </a:xfrm>
        </p:spPr>
      </p:pic>
    </p:spTree>
    <p:extLst>
      <p:ext uri="{BB962C8B-B14F-4D97-AF65-F5344CB8AC3E}">
        <p14:creationId xmlns:p14="http://schemas.microsoft.com/office/powerpoint/2010/main" val="3596971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 Configuration….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0D0FD-B44A-47D9-8B41-B70AA9419DFD}"/>
              </a:ext>
            </a:extLst>
          </p:cNvPr>
          <p:cNvSpPr/>
          <p:nvPr/>
        </p:nvSpPr>
        <p:spPr>
          <a:xfrm>
            <a:off x="334536" y="2694524"/>
            <a:ext cx="342342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show protocol properties</a:t>
            </a: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show </a:t>
            </a:r>
            <a:r>
              <a:rPr lang="en-US" sz="2200" i="1" dirty="0" err="1">
                <a:latin typeface="Perpetua" panose="02020502060401020303" pitchFamily="18" charset="0"/>
              </a:rPr>
              <a:t>ip</a:t>
            </a:r>
            <a:r>
              <a:rPr lang="en-US" sz="2200" i="1" dirty="0">
                <a:latin typeface="Perpetua" panose="02020502060401020303" pitchFamily="18" charset="0"/>
              </a:rPr>
              <a:t> protocols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show neighbor table</a:t>
            </a: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show </a:t>
            </a:r>
            <a:r>
              <a:rPr lang="en-US" sz="2200" i="1" dirty="0" err="1">
                <a:latin typeface="Perpetua" panose="02020502060401020303" pitchFamily="18" charset="0"/>
              </a:rPr>
              <a:t>ip</a:t>
            </a:r>
            <a:r>
              <a:rPr lang="en-US" sz="2200" i="1" dirty="0">
                <a:latin typeface="Perpetua" panose="02020502060401020303" pitchFamily="18" charset="0"/>
              </a:rPr>
              <a:t> </a:t>
            </a:r>
            <a:r>
              <a:rPr lang="en-US" sz="2200" i="1" dirty="0" err="1">
                <a:latin typeface="Perpetua" panose="02020502060401020303" pitchFamily="18" charset="0"/>
              </a:rPr>
              <a:t>eigrp</a:t>
            </a:r>
            <a:r>
              <a:rPr lang="en-US" sz="2200" i="1" dirty="0">
                <a:latin typeface="Perpetua" panose="02020502060401020303" pitchFamily="18" charset="0"/>
              </a:rPr>
              <a:t> neighbor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show topology table</a:t>
            </a: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show </a:t>
            </a:r>
            <a:r>
              <a:rPr lang="en-US" sz="2200" i="1" dirty="0" err="1">
                <a:latin typeface="Perpetua" panose="02020502060401020303" pitchFamily="18" charset="0"/>
              </a:rPr>
              <a:t>ip</a:t>
            </a:r>
            <a:r>
              <a:rPr lang="en-US" sz="2200" i="1" dirty="0">
                <a:latin typeface="Perpetua" panose="02020502060401020303" pitchFamily="18" charset="0"/>
              </a:rPr>
              <a:t> </a:t>
            </a:r>
            <a:r>
              <a:rPr lang="en-US" sz="2200" i="1" dirty="0" err="1">
                <a:latin typeface="Perpetua" panose="02020502060401020303" pitchFamily="18" charset="0"/>
              </a:rPr>
              <a:t>eigrp</a:t>
            </a:r>
            <a:r>
              <a:rPr lang="en-US" sz="2200" i="1" dirty="0">
                <a:latin typeface="Perpetua" panose="02020502060401020303" pitchFamily="18" charset="0"/>
              </a:rPr>
              <a:t> topology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F1D569-6D20-4FAB-8D04-B0C14B81AFB2}"/>
              </a:ext>
            </a:extLst>
          </p:cNvPr>
          <p:cNvSpPr/>
          <p:nvPr/>
        </p:nvSpPr>
        <p:spPr>
          <a:xfrm>
            <a:off x="4353261" y="2757402"/>
            <a:ext cx="4572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show routes made by </a:t>
            </a:r>
            <a:r>
              <a:rPr lang="en-US" sz="2200" dirty="0" err="1">
                <a:latin typeface="Perpetua" panose="02020502060401020303" pitchFamily="18" charset="0"/>
              </a:rPr>
              <a:t>eigrp</a:t>
            </a:r>
            <a:endParaRPr lang="en-US" sz="2200" dirty="0">
              <a:latin typeface="Perpetua" panose="02020502060401020303" pitchFamily="18" charset="0"/>
            </a:endParaRP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show </a:t>
            </a:r>
            <a:r>
              <a:rPr lang="en-US" sz="2200" i="1" dirty="0" err="1">
                <a:latin typeface="Perpetua" panose="02020502060401020303" pitchFamily="18" charset="0"/>
              </a:rPr>
              <a:t>ip</a:t>
            </a:r>
            <a:r>
              <a:rPr lang="en-US" sz="2200" i="1" dirty="0">
                <a:latin typeface="Perpetua" panose="02020502060401020303" pitchFamily="18" charset="0"/>
              </a:rPr>
              <a:t> route </a:t>
            </a:r>
            <a:r>
              <a:rPr lang="en-US" sz="2200" i="1" dirty="0" err="1">
                <a:latin typeface="Perpetua" panose="02020502060401020303" pitchFamily="18" charset="0"/>
              </a:rPr>
              <a:t>eigrp</a:t>
            </a:r>
            <a:endParaRPr lang="en-US" sz="2200" i="1" dirty="0">
              <a:latin typeface="Perpetua" panose="02020502060401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set maximum hops</a:t>
            </a: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metric maximum-hops  &lt;1-255&gt;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To set the number of feasible successors</a:t>
            </a:r>
          </a:p>
          <a:p>
            <a:pPr lvl="1"/>
            <a:r>
              <a:rPr lang="en-US" sz="2200" i="1" dirty="0">
                <a:latin typeface="Perpetua" panose="02020502060401020303" pitchFamily="18" charset="0"/>
              </a:rPr>
              <a:t>maximum-paths  </a:t>
            </a:r>
            <a:r>
              <a:rPr lang="en-US" sz="2200" i="1">
                <a:latin typeface="Perpetua" panose="02020502060401020303" pitchFamily="18" charset="0"/>
              </a:rPr>
              <a:t>&lt;0-32&gt;</a:t>
            </a:r>
            <a:endParaRPr lang="en-US" sz="2200" i="1" dirty="0"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441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96467" y="1644161"/>
            <a:ext cx="854753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[1] Computer Networking Class, </a:t>
            </a:r>
            <a:r>
              <a:rPr lang="en-US" dirty="0">
                <a:hlinkClick r:id="rId2"/>
              </a:rPr>
              <a:t>https://computernetworkingclass.blogspot.com</a:t>
            </a:r>
            <a:r>
              <a:rPr lang="en-US" dirty="0"/>
              <a:t>...</a:t>
            </a:r>
          </a:p>
          <a:p>
            <a:r>
              <a:rPr lang="en-US" dirty="0"/>
              <a:t>      /2016/08/comparison-between-rip-eigrp-igrp-and.html, [Accessed: April. 27, 2020]. </a:t>
            </a:r>
          </a:p>
          <a:p>
            <a:r>
              <a:rPr lang="en-US" dirty="0"/>
              <a:t>[2] Cisco, “https://www.cisco.com/c/</a:t>
            </a:r>
            <a:r>
              <a:rPr lang="en-US" dirty="0" err="1"/>
              <a:t>en</a:t>
            </a:r>
            <a:r>
              <a:rPr lang="en-US" dirty="0"/>
              <a:t>/us/support/docs/</a:t>
            </a:r>
            <a:r>
              <a:rPr lang="en-US" dirty="0" err="1"/>
              <a:t>ip</a:t>
            </a:r>
            <a:r>
              <a:rPr lang="en-US" dirty="0"/>
              <a:t>/enhanced-interior...</a:t>
            </a:r>
          </a:p>
          <a:p>
            <a:r>
              <a:rPr lang="en-US" dirty="0"/>
              <a:t>     -gateway-routing-protocol-</a:t>
            </a:r>
            <a:r>
              <a:rPr lang="en-US" dirty="0" err="1"/>
              <a:t>eigrp</a:t>
            </a:r>
            <a:r>
              <a:rPr lang="en-US" dirty="0"/>
              <a:t>/16406-eigrp-toc.html, [Accessed: April. 27, 2020]. </a:t>
            </a:r>
          </a:p>
          <a:p>
            <a:r>
              <a:rPr lang="en-US" dirty="0"/>
              <a:t>[3] P. Browning, F. </a:t>
            </a:r>
            <a:r>
              <a:rPr lang="en-US" dirty="0" err="1"/>
              <a:t>Tafa</a:t>
            </a:r>
            <a:r>
              <a:rPr lang="en-US" dirty="0"/>
              <a:t>, D. Gheorghe, and D. </a:t>
            </a:r>
            <a:r>
              <a:rPr lang="en-US" dirty="0" err="1"/>
              <a:t>Barinic</a:t>
            </a:r>
            <a:r>
              <a:rPr lang="en-US" dirty="0"/>
              <a:t>, </a:t>
            </a:r>
            <a:r>
              <a:rPr lang="en-US" i="1" dirty="0"/>
              <a:t>Cisco CCNA in 60 Days</a:t>
            </a:r>
            <a:r>
              <a:rPr lang="en-US" dirty="0"/>
              <a:t>,  </a:t>
            </a:r>
          </a:p>
          <a:p>
            <a:r>
              <a:rPr lang="en-US" dirty="0"/>
              <a:t>       Reality Press Ltd., UK, 2014, pp. 581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Computer Networking Notes,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https://www.computernetworkingnotes.com/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ccna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-study-guide/eigrp-tutorial-basic-concept-explained.html, </a:t>
            </a:r>
            <a:r>
              <a:rPr lang="en-US" dirty="0"/>
              <a:t>[Accessed: April. 27, 2020].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D90A38-0417-4618-AF01-2FABAEE89A54}"/>
              </a:ext>
            </a:extLst>
          </p:cNvPr>
          <p:cNvSpPr txBox="1">
            <a:spLocks/>
          </p:cNvSpPr>
          <p:nvPr/>
        </p:nvSpPr>
        <p:spPr>
          <a:xfrm>
            <a:off x="234014" y="1373238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</p:txBody>
      </p:sp>
    </p:spTree>
    <p:extLst>
      <p:ext uri="{BB962C8B-B14F-4D97-AF65-F5344CB8AC3E}">
        <p14:creationId xmlns:p14="http://schemas.microsoft.com/office/powerpoint/2010/main" val="324693386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FA24E6-C496-4261-9680-B43B91A416CC}"/>
</file>

<file path=customXml/itemProps2.xml><?xml version="1.0" encoding="utf-8"?>
<ds:datastoreItem xmlns:ds="http://schemas.openxmlformats.org/officeDocument/2006/customXml" ds:itemID="{8376CDDD-FCB1-4851-A8E4-44C662290A47}"/>
</file>

<file path=customXml/itemProps3.xml><?xml version="1.0" encoding="utf-8"?>
<ds:datastoreItem xmlns:ds="http://schemas.openxmlformats.org/officeDocument/2006/customXml" ds:itemID="{92FD58A8-02F1-4360-9238-DBD31DDB7FB7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5434</TotalTime>
  <Words>1284</Words>
  <Application>Microsoft Office PowerPoint</Application>
  <PresentationFormat>On-screen Show (4:3)</PresentationFormat>
  <Paragraphs>215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Corbel</vt:lpstr>
      <vt:lpstr>Perpetua</vt:lpstr>
      <vt:lpstr>Times New Roman</vt:lpstr>
      <vt:lpstr>Wingdings</vt:lpstr>
      <vt:lpstr>Spectrum</vt:lpstr>
      <vt:lpstr>EIGRP</vt:lpstr>
      <vt:lpstr>Lecture Outline</vt:lpstr>
      <vt:lpstr>Introduction</vt:lpstr>
      <vt:lpstr>Metric</vt:lpstr>
      <vt:lpstr>Metric….</vt:lpstr>
      <vt:lpstr>Metric….</vt:lpstr>
      <vt:lpstr>Metric….</vt:lpstr>
      <vt:lpstr>Metric….</vt:lpstr>
      <vt:lpstr>Metric….</vt:lpstr>
      <vt:lpstr>Homework</vt:lpstr>
      <vt:lpstr>Neighbor discovery</vt:lpstr>
      <vt:lpstr>Neighbor maintenance</vt:lpstr>
      <vt:lpstr>EIGRP Tables….</vt:lpstr>
      <vt:lpstr>EIGRP Tables</vt:lpstr>
      <vt:lpstr>EIGRP Configuration</vt:lpstr>
      <vt:lpstr>PowerPoint Presentation</vt:lpstr>
      <vt:lpstr>EIGRP Configuration….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Afsah Sharmin</cp:lastModifiedBy>
  <cp:revision>65</cp:revision>
  <dcterms:created xsi:type="dcterms:W3CDTF">2018-12-10T17:20:29Z</dcterms:created>
  <dcterms:modified xsi:type="dcterms:W3CDTF">2022-11-06T05:35:35Z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