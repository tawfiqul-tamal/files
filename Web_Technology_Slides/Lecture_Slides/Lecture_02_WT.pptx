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11" d="100"/>
          <a:sy n="111" d="100"/>
        </p:scale>
        <p:origin x="158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5/24/2021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5/24/2021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5/24/2021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836403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 xmlns:a16="http://schemas.microsoft.com/office/drawing/2014/main" val="3905988420"/>
                    </a:ext>
                  </a:extLst>
                </a:gridCol>
                <a:gridCol w="1397725">
                  <a:extLst>
                    <a:ext uri="{9D8B030D-6E8A-4147-A177-3AD203B41FA5}">
                      <a16:colId xmlns="" xmlns:a16="http://schemas.microsoft.com/office/drawing/2014/main" val="2889894460"/>
                    </a:ext>
                  </a:extLst>
                </a:gridCol>
                <a:gridCol w="1227909">
                  <a:extLst>
                    <a:ext uri="{9D8B030D-6E8A-4147-A177-3AD203B41FA5}">
                      <a16:colId xmlns="" xmlns:a16="http://schemas.microsoft.com/office/drawing/2014/main" val="3023211198"/>
                    </a:ext>
                  </a:extLst>
                </a:gridCol>
                <a:gridCol w="841516">
                  <a:extLst>
                    <a:ext uri="{9D8B030D-6E8A-4147-A177-3AD203B41FA5}">
                      <a16:colId xmlns="" xmlns:a16="http://schemas.microsoft.com/office/drawing/2014/main" val="1762131981"/>
                    </a:ext>
                  </a:extLst>
                </a:gridCol>
                <a:gridCol w="1298961">
                  <a:extLst>
                    <a:ext uri="{9D8B030D-6E8A-4147-A177-3AD203B41FA5}">
                      <a16:colId xmlns="" xmlns:a16="http://schemas.microsoft.com/office/drawing/2014/main" val="445458238"/>
                    </a:ext>
                  </a:extLst>
                </a:gridCol>
                <a:gridCol w="2086463">
                  <a:extLst>
                    <a:ext uri="{9D8B030D-6E8A-4147-A177-3AD203B41FA5}">
                      <a16:colId xmlns=""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r>
                        <a:rPr lang="en-US" dirty="0" smtClean="0"/>
                        <a:t>Summer 19-20</a:t>
                      </a:r>
                      <a:endParaRPr lang="en-US" dirty="0"/>
                    </a:p>
                  </a:txBody>
                  <a:tcPr/>
                </a:tc>
                <a:extLst>
                  <a:ext uri="{0D108BD9-81ED-4DB2-BD59-A6C34878D82A}">
                    <a16:rowId xmlns=""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smtClean="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 xmlns:a16="http://schemas.microsoft.com/office/drawing/2014/main" val="2091734565"/>
                  </a:ext>
                </a:extLst>
              </a:tr>
            </a:tbl>
          </a:graphicData>
        </a:graphic>
      </p:graphicFrame>
      <p:sp>
        <p:nvSpPr>
          <p:cNvPr id="8" name="Subtitle 2">
            <a:extLst>
              <a:ext uri="{FF2B5EF4-FFF2-40B4-BE49-F238E27FC236}">
                <a16:creationId xmlns=""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r>
              <a:rPr kumimoji="0" lang="en-US" altLang="en-US" b="0" i="0" u="none" strike="noStrike" cap="none" normalizeH="0" baseline="0" dirty="0">
                <a:ln>
                  <a:noFill/>
                </a:ln>
                <a:solidFill>
                  <a:srgbClr val="000000"/>
                </a:solidFill>
                <a:effectLst/>
                <a:latin typeface="Verdana" panose="020B0604030504040204" pitchFamily="34" charset="0"/>
              </a:rPr>
              <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t>The CSS rule below will be applied to the HTML element with id="</a:t>
            </a:r>
            <a:r>
              <a:rPr lang="en-US" sz="2400" dirty="0">
                <a:solidFill>
                  <a:schemeClr val="bg2">
                    <a:lumMod val="50000"/>
                  </a:schemeClr>
                </a:solidFill>
              </a:rPr>
              <a:t>para1</a:t>
            </a:r>
            <a:r>
              <a:rPr lang="en-US" sz="2400" dirty="0"/>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5324535"/>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t>External CSS</a:t>
            </a:r>
          </a:p>
          <a:p>
            <a:pPr marL="285750" indent="-285750">
              <a:buFont typeface="Arial" panose="020B0604020202020204" pitchFamily="34" charset="0"/>
              <a:buChar char="•"/>
            </a:pPr>
            <a:r>
              <a:rPr lang="en-US" sz="2800" dirty="0"/>
              <a:t>Internal CSS</a:t>
            </a:r>
          </a:p>
          <a:p>
            <a:pPr marL="285750" indent="-285750">
              <a:buFont typeface="Arial" panose="020B0604020202020204" pitchFamily="34" charset="0"/>
              <a:buChar char="•"/>
            </a:pPr>
            <a:r>
              <a:rPr lang="en-US" sz="2800" dirty="0"/>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r>
              <a:rPr lang="en-US" dirty="0"/>
              <a:t/>
            </a:r>
            <a:br>
              <a:rPr lang="en-US" dirty="0"/>
            </a:br>
            <a:r>
              <a:rPr lang="en-US" dirty="0"/>
              <a:t>h1 {</a:t>
            </a:r>
            <a:br>
              <a:rPr lang="en-US" dirty="0"/>
            </a:br>
            <a:r>
              <a:rPr lang="en-US" dirty="0"/>
              <a:t>  color: navy;</a:t>
            </a:r>
            <a:br>
              <a:rPr lang="en-US" dirty="0"/>
            </a:br>
            <a:r>
              <a:rPr lang="en-US" dirty="0"/>
              <a:t>  margin-left: 20px;</a:t>
            </a:r>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r>
              <a:rPr lang="en-US" sz="1400" dirty="0"/>
              <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r>
              <a:rPr lang="en-US" dirty="0"/>
              <a:t/>
            </a: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r>
              <a:rPr lang="en-US" dirty="0"/>
              <a:t/>
            </a:r>
            <a:br>
              <a:rPr lang="en-US" dirty="0"/>
            </a:br>
            <a:r>
              <a:rPr lang="en-US" dirty="0"/>
              <a:t>&lt;/body&gt;</a:t>
            </a:r>
            <a:br>
              <a:rPr lang="en-US" dirty="0"/>
            </a:br>
            <a:r>
              <a:rPr lang="en-US" dirty="0"/>
              <a:t>&lt;/html&gt;</a:t>
            </a:r>
          </a:p>
          <a:p>
            <a:r>
              <a:rPr lang="en-US" dirty="0"/>
              <a:t/>
            </a:r>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endParaRPr lang="en-US" dirty="0"/>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dirty="0"/>
          </a:p>
          <a:p>
            <a:endParaRPr lang="en-US" dirty="0"/>
          </a:p>
          <a:p>
            <a:r>
              <a:rPr lang="en-US" dirty="0"/>
              <a:t>The </a:t>
            </a:r>
            <a:r>
              <a:rPr lang="en-US" dirty="0">
                <a:solidFill>
                  <a:schemeClr val="bg2">
                    <a:lumMod val="50000"/>
                  </a:schemeClr>
                </a:solidFill>
              </a:rPr>
              <a:t>&lt;div&gt; </a:t>
            </a:r>
            <a:r>
              <a:rPr lang="en-US" dirty="0"/>
              <a:t>tag defines a division or a section in an HTML document.</a:t>
            </a:r>
          </a:p>
          <a:p>
            <a:r>
              <a:rPr lang="en-US" dirty="0"/>
              <a:t>The </a:t>
            </a:r>
            <a:r>
              <a:rPr lang="en-US" dirty="0">
                <a:solidFill>
                  <a:schemeClr val="bg2">
                    <a:lumMod val="50000"/>
                  </a:schemeClr>
                </a:solidFill>
              </a:rPr>
              <a:t>&lt;div&gt; </a:t>
            </a:r>
            <a:r>
              <a:rPr lang="en-US" dirty="0"/>
              <a:t>element is often used as a container for other HTML elements to style them with CSS or to perform certain tasks with JavaScript.</a:t>
            </a:r>
          </a:p>
        </p:txBody>
      </p:sp>
      <p:pic>
        <p:nvPicPr>
          <p:cNvPr id="5" name="Picture 4">
            <a:extLst>
              <a:ext uri="{FF2B5EF4-FFF2-40B4-BE49-F238E27FC236}">
                <a16:creationId xmlns=""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r>
              <a:rPr lang="en-US"/>
              <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1b0ca7fcc65f8213906d5dacc1748a9d">
  <xsd:schema xmlns:xsd="http://www.w3.org/2001/XMLSchema" xmlns:xs="http://www.w3.org/2001/XMLSchema" xmlns:p="http://schemas.microsoft.com/office/2006/metadata/properties" targetNamespace="http://schemas.microsoft.com/office/2006/metadata/properties" ma:root="true" ma:fieldsID="8b6f26e0866668d9836acec43b37ef0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CD44D9-F195-4F9D-975D-7184CA0A9EB5}"/>
</file>

<file path=customXml/itemProps2.xml><?xml version="1.0" encoding="utf-8"?>
<ds:datastoreItem xmlns:ds="http://schemas.openxmlformats.org/officeDocument/2006/customXml" ds:itemID="{EB4A47C7-19F6-4F7A-93E8-0611060C74D3}"/>
</file>

<file path=customXml/itemProps3.xml><?xml version="1.0" encoding="utf-8"?>
<ds:datastoreItem xmlns:ds="http://schemas.openxmlformats.org/officeDocument/2006/customXml" ds:itemID="{AA1ACA72-EF6C-4CEB-A966-97D04CF0C2A2}"/>
</file>

<file path=docProps/app.xml><?xml version="1.0" encoding="utf-8"?>
<Properties xmlns="http://schemas.openxmlformats.org/officeDocument/2006/extended-properties" xmlns:vt="http://schemas.openxmlformats.org/officeDocument/2006/docPropsVTypes">
  <Template>Spectrum.thmx</Template>
  <TotalTime>4453</TotalTime>
  <Words>1801</Words>
  <Application>Microsoft Office PowerPoint</Application>
  <PresentationFormat>On-screen Show (4:3)</PresentationFormat>
  <Paragraphs>326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User</cp:lastModifiedBy>
  <cp:revision>319</cp:revision>
  <dcterms:created xsi:type="dcterms:W3CDTF">2018-12-10T17:20:29Z</dcterms:created>
  <dcterms:modified xsi:type="dcterms:W3CDTF">2021-05-24T03:18:11Z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